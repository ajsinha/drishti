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8"/>
    <p:sldId id="257" r:id="rId9"/>
    <p:sldId id="258" r:id="rId7"/>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3.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edition of the AWS Delta lake deck, brought up to Drishti 2.9.4 and updated for 2.9.5 (CHANGELOG.md '2.9.5 (unreleased)': hierarchies by columns and the limit letters, airtight connector upgrades, Iceberg as a full alternative to Delta, official results to Delta or Iceberg in a folder or on s3://).</a:t>
            </a:r>
          </a:p>
          <a:p/>
          <a:p>
            <a:r>
              <a:t>Sources: docs/architecture/AWS_DELTA_LAKE.md (unchanged in substance since 2.6.7 apart from the image tags), AWS_DEPLOYMENT.md, SCALE_STRATEGY.md, SUPER_SCALE.md, docs/connectors/DELTA_CONNECTOR.md, docs/admin/LAKE_MAINTENANCE.md, docs/admin/NET.md, docs/guides/DATA_FORMATS.md, docs/guides/VAR_GUIDE.md, docs/guides/EXPOSURE_GUIDE.md and the CHANGELOG from 2.6.0 to 2.9.4 (read from the local branch release-2.9.4 and the 2.9.4 VaR branch).</a:t>
            </a:r>
          </a:p>
          <a:p/>
          <a:p>
            <a:r>
              <a:t>Status words used throughout: BUILT = in the code and tested, shipped in a release up to 2.9.5; DESIGNED = cluster scale-out and sharding only (SUPER_SCALE.md, VAR_GUIDE.md section 28); 2.9.6 = planned for release 2.9.6 (10-day and stressed VaR, sharding, the 2.3M benchmark, Delta in-place schema evolution, Delta-Iceberg conversion, the Glue and S3 Tables runs); PROPOSED = a recommendation of this deck, not yet in the docs. MEASURED and ESTIMATED mark numbers. Nothing in this deck is 'in progress'.</a:t>
            </a:r>
          </a:p>
          <a:p/>
          <a:p>
            <a:r>
              <a:t>No customer or bank is named; example account names (acme-…) are the docs' placeholders.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Twenty sections. 1 to 7 and 9, 11, 14, 15, 17 to 19 follow AWS_DELTA_LAKE.md section by section, updated to 2.9.5. New in this edition: Delta or Iceberg (1), the status of everything (3), JSON Lines as the data standard (8), S3 correctness and the simulators (10), the risk lake for VaR and exposure (12), bank scale at 2.3 million positions and 15,000 portfolios (13), the demo lake, public data and DATAMAP (16).</a:t>
            </a:r>
          </a:p>
          <a:p/>
          <a:p>
            <a:r>
              <a:t>A companion deck covers Apache Iceberg on AWS; this deck only points to it (slides 9 and 11).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Unchanged since the first edition and still the rule in 2.9.4 (AWS_DELTA_LAKE.md section 1; AWS_DEPLOYMENT.md section 8.1). What is new is what lives in the lake: the risk domains risk/ and risk-results/ (VAR_GUIDE.md 15.1, EXPOSURE_GUIDE.md 15.1), the public-data domains (us-equities, gleif, funds) and, since 2.9.4, JSON Lines copies of the official results beside the Delta tables (DATA_FORMATS.md section 4).</a:t>
            </a:r>
          </a:p>
          <a:p/>
          <a:p>
            <a:r>
              <a:t>Why S3: the product owner's requirement is super scalability and high performance. S3 gives request-rate scaling per prefix, tiered cost at 200 TB+, eleven-nines durability and Athena/Spark interop; EFS would cost 10–40x more and share one throughput budget (section 2).</a:t>
            </a:r>
          </a:p>
          <a:p/>
          <a:p>
            <a:r>
              <a:t>New in 2.9.5: the official results (risk-results) are written straight to an s3:// root by the server that captures them, in Delta (the default) or Iceberg, each Delta commit an exclusive create (VAR_GUIDE.md section 19; AWS_DEPLOYMENT.md section 22). The one writer that still needs a local or EFS root is the Kafka intraday stream's (LakeAppends; section 12 shows how its windows reach S3).</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CHANGELOG.md 2.6.5 to 2.9.4 on release-2.9.4 and the 2.9.4 VaR branch: history queries H1–H14 (2.6.5); mixed Delta and Iceberg storage, gossip on its own port, HTTP/2 between nodes, lake maintain lays out the per-source tables, lake build one commit per business date (2.6.7); the content store with an s3 backend, S3 on three simulators, lake publish checks the store it commits to, us-equities and gleif on Delta, layout.&lt;kind&gt;.type-ahead, public-data refresh scripts (2.7.0); VaR computed for any scope, vector columns, the 7-year floor, published official results (2.8.0); exposure computed for any scope, exposure-path vectors, VaR and exposure in BI from the published results (2.9.0); the funds pack (2.9.2); DATAMAP (2.9.3); JSON Lines as the data standard, CSV input deprecated, official results as JSONL too, scenario PVs, intraday batches and Kafka micro-batches, the 84-table demo lake (2.9.4); hierarchies by columns and the var-limit kind (the demo lake 85 tables), airtight connector upgrades, Iceberg a full alternative (VaR, intraday and exposure from Iceberg; deploy/aws/iceberg/), official results to Delta or Iceberg in a folder or on s3:// (2.9.5).</a:t>
            </a:r>
          </a:p>
          <a:p/>
          <a:p>
            <a:r>
              <a:t>Every row is BUILT. The slide numbers say where each is covered.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status words are those of the VaR engine deck (Drishti-VaR-Engine.pptx) so the two decks agree. The product owner's rule: everything shipped up to 2.9.5 is BUILT; only cluster scale-out and sharding are DESIGNED (SUPER_SCALE.md, the super-scale architecture across many nodes; VAR_GUIDE.md section 28, VaR sharding, planned for 2.9.6). 2.9.6 marks what that release ships: 10-day and stressed VaR, sharding, editions, the 2.3M benchmark, Delta in-place schema evolution, Delta-Iceberg conversion, the Glue and S3 Tables runs. The bank-scale vector layout of VAR_GUIDE.md 29.2 (planned, no release) is listed with this deck's PROPOSED items.</a:t>
            </a:r>
          </a:p>
          <a:p/>
          <a:p>
            <a:r>
              <a:t>Testing: tools/test_deploy_aws.py runs every deploy/aws script with --help and --dry-run against a fake settings file and an aws command that fails the test if called, renders all JSON templates, checks the lifecycle rules and that deploy/aws/env is git-ignored; tools/lake/test_publish.py; tools/lake/test_s3_simulators.py runs Delta on S3 and lake publish on moto 5.2.3 (new table, a day restated, a missing file refused, three publishes at once); the content store and the Iceberg engine on S3Mock and MinIO (TOOLS.md 4.12, CONTENT_STORE.md section 7); 2.9.5: official results to S3 on S3Mock (OfficialS3Test: both formats, two writers in sequence, the exclusive create), Delta = Iceberg for VaR and exposure (VarFormatEqualityTest, ExposureFormatEqualityTest), the deploy/aws/iceberg scripts with --help and --dry-run (test_deploy_aws.py), the connector upgrade from 2.9.4's files (ConnectorUpgradeTest). The first run in a real AWS account is still to do (AWS_DELTA_LAKE.md section 15); the Glue and S3 Tables runs are 2.9.6.</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source systems' JSON Lines dumps to a trader's screen: landing bucket → loader task → the lake in S3 → Drishti servers → EFS for state; Delta by default, or Iceberg, with the same Drishti above</a:t>
            </a:r>
          </a:p>
          <a:p/>
          <a:p>
            <a:r>
              <a:t>Section 1: AWS_DELTA_LAKE.md section 1 (the picture), updated to 2.9.5; and the three slides on Delta or Iceberg.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section 1, as in the first edition, with what 2.9.4 adds. Sources send JSON Lines (DATA_FORMATS.md: JSON Lines is the data standard since 2.9.4; CSV input is deprecated). The loader task runs load-day.sh per table under the table's EFS lock: sync the dumps to EFS scratch, lake build into a scratch Delta table, sync the data files to S3, lake publish one commit with an S3 conditional PUT, then CloudWatch metrics (Drishti/Lake).</a:t>
            </a:r>
          </a:p>
          <a:p/>
          <a:p>
            <a:r>
              <a:t>The servers read the lake with the native Delta engine (drishti-deltalake on drishti-lakeio: ranged GETs, footers cached) from DRISHTI_DELTA_ROOT=s3://…/lake; the VaR and exposure engines read the risk domain the same way (VAR_GUIDE.md 15.1). Drishti*net joins the servers: gossip on its own port and peer data over HTTP/2 since 2.6.7 (NET.md sections 4 and 7). EFS holds per-node state and caches, the loader's scratch and the table locks; never lake data.</a:t>
            </a:r>
          </a:p>
          <a:p/>
          <a:p>
            <a:r>
              <a:t>The risk lake's own flow (morning run, intraday batches, Kafka, official results) is drawn on slide 65.</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section 1 table, updated: the sources' dumps are JSON Lines (DATA_FORMATS.md); the servers also run the VaR engine (VAR_GUIDE.md section 24) and the exposure engine (EXPOSURE_GUIDE.md section 25) over the risk domain; Drishti*net has a gossip port and HTTP/2 (NET.md). The maintenance task applies the 7-year floor of the risk domains automatically (LAKE_MAINTENANCE.md: retention-floor).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product owner's decision of 2026-10-20 (DEMO_DATA.md, Mixed Delta and Iceberg storage): each source system's trades can be stored in Delta Lake or Apache Iceberg, chosen per system, so one installation proves that the connectors, history, search, the grouped pages and BI answer the same whatever the storage. Built in 2.6.7: tools/build_demo_lakes.py --store &lt;system&gt;=delta|iceberg; the connector file switches plugin (delta or iceberg) and keeps its name; the equality test tools/lake/stores_equality.py (five days of 1,000 trades a system, all-Delta against mixed) gives 18 answers the same: six trade pages, a 10-day history for each, two counterparty-trades pages, three searches and a BI model query.</a:t>
            </a:r>
          </a:p>
          <a:p/>
          <a:p>
            <a:r>
              <a:t>Both engines share drishti-lakeio (2.6.0): local disk and S3, byte ranges, the Parquet codecs and footer cache, an exclusive create on local disk and an S3 conditional PUT (If-None-Match: *) with a start-up probe.</a:t>
            </a:r>
          </a:p>
          <a:p/>
          <a:p>
            <a:r>
              <a:t>2.9.5 (CHANGELOG 'Iceberg'): the Iceberg plugin answers as the Delta plugin on the same rows: vector columns read in bulk by vectors() (both engines, bit for bit), a date's documents in one pass, table identity, inventory, disk caches (IcebergParityTest, IcebergVectorsTest, IcebergDiskCacheTest); so VaR, intraday and exposure read an Iceberg risk lake. Delta stays the default everywhere; Iceberg is chosen by configuration only. Each format has its own AWS scripts: deploy/aws/delta-lake/ and deploy/aws/iceberg/ (AWS_DEPLOYMENT.md section 22). The next slide compares them; the companion deck covers Iceberg in depth.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CHANGELOG.md 2.9.5 'Iceberg' (Delta stays the default lake format everywhere; Iceberg is chosen only by configuration: a connector file, lake build --format iceberg, build_demo_lakes.py --store …=iceberg, deploy/aws/iceberg/). ICEBERG_CONNECTOR.md section 18 (parity: vector columns, a date's documents, identity, inventory, disk caches; VaR and exposure on an Iceberg risk lake; intraday batches as Iceberg appends; official results in Iceberg), section 19 (Glue, S3 Tables, IAM); AWS_DEPLOYMENT.md section 22 (deploy/aws/iceberg/ scripts, dry-run tested; official results to S3 in either format); VAR_GUIDE.md section 19 (a table keeps the format it was created in; BI's var-results and exposure-results follow the format by themselves, OfficialReaders).</a:t>
            </a:r>
          </a:p>
          <a:p/>
          <a:p>
            <a:r>
              <a:t>Evidence: VarFormatEqualityTest (the same day written from the same lines to Delta and to Iceberg, read by one connector switched from plugin delta to plugin iceberg: VaR, ES, component and incremental VaR, worst scenarios, limits and limit-letter nodes, USD and EUR, intraday file batches applied live, official records published to Iceberg, equal to the cent) and ExposureFormatEqualityTest (EE, PFE, EPE, profiles, contributions, official records). On the demo data VAR BANK is USD 112,041,646 on both formats (the bank on 2026-09-30, VAR_GUIDE.md). Run for real: 14 risk tables, 955,124 rows, moved into Iceberg in 579 s (CHANGELOG; MEASURED, demo): demo figures, not a sizing rule; the 2.3M benchmark on both formats is 2.9.6.</a:t>
            </a:r>
          </a:p>
          <a:p/>
          <a:p>
            <a:r>
              <a:t>2.9.6: Delta in-place schema evolution (a nullable column added), Delta-Iceberg conversion, the Glue and S3 Tables runs (GlueLiveTest, written; no AWS account for the build: the product owner runs it, AWS_DEPLOYMENT.md section 22).</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Iceberg counterpart of this deck is a separate deck, Drishti-AWS-Iceberg.pptx ('Drishti on AWS with Apache Iceberg', docs/publications/ once published). It mirrors this deck section by section where Iceberg has a counterpart and adds the side-by-side comparison and a decision guide. This deck deliberately does not repeat its content.</a:t>
            </a:r>
          </a:p>
          <a:p/>
          <a:p>
            <a:r>
              <a:t>Sources for what Iceberg has, as built: DRISHTI_ICEBERG.md (built in 2.6.0, native engine the default, no Hadoop, conditional PUT on S3, REST catalogs with SigV4 for Glue), ICEBERG_CONNECTOR.md sections 18 and 19 (2.9.5: parity with Delta, VaR and exposure on Iceberg, Glue and S3 Tables written, their live runs 2.9.6), section 17 (10,000 trades a day: connector started in 0.6 s against 1.8 s for the library; a trade read in 54 ms median against 75 ms), ICEBERG_EXTERNAL_CONNECTOR.md (read-only for tables Spark, Flink, Trino, Snowflake, Glue or dbt write).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Cost, request rate, latency, durability, tiers, other readers and writers, compared at 200 TB</a:t>
            </a:r>
          </a:p>
          <a:p/>
          <a:p>
            <a:r>
              <a:t>Section 2: AWS_DELTA_LAKE.md section 2. Unchanged in substance since the first edition.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section 2, unchanged. List prices, one Region, estimates. At 200 TB+ EFS costs 10–40x more and shares one throughput budget. Drishti's reads are built for object storage: one day's files, one row group of one file, by byte ranges (DELTA_CONNECTOR.md section 2: never load a day). The same answer holds for Iceberg (the companion deck) and for the risk lake: its reads are whole columns of one date, streamed (VAR_GUIDE.md 29.3).</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runs today (everything up to 2.9.5), what is designed (cluster scale-out and sharding), what 2.9.6 ships and what this deck proposes</a:t>
            </a:r>
          </a:p>
          <a:p/>
          <a:p>
            <a:r>
              <a:t>Section 3: AWS_DELTA_LAKE.md section 3, rewritten for 2.9.4 and updated for 2.9.5 with the status words of slide 5.</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section 3 'built' rows, all still true in 2.9.4, plus the 2.6.7 fix to lake maintain (CHANGELOG 2.6.7: 'lake maintain lays out the per-source trade tables': it now finds the layout of the connector whose table it is, and relayout keeps business_date and PRODUCT_TYPE partitions; test_maintain.py). AWS_DELTA_LAKE.md 9.3 still describes the lookup before that fix; see slide 59. The scripts are built and dry-run tested; the first run in a real AWS account is still to do.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row is in the CHANGELOG between 2.6.5 and 2.9.4 and is built. Sources per row: HISTORY_QUERIES.md and DELTA_CONNECTOR.md section 8; DEMO_DATA.md mixed storage; NET.md sections 4 and 7; CONTENT_STORE.md section 7 and TOOLS.md 4.12; VAR_GUIDE.md 15.1, 19, 29.3 and 8.4; EXPOSURE_GUIDE.md 15 and 20; DATA_FORMATS.md; USER_GUIDE.md 'The data map'. 2.9.5: CHANGELOG.md '2.9.5 (unreleased)': official results to Delta or Iceberg in a folder or on s3:// (OfficialSinkTest, OfficialS3Test); Iceberg a full alternative (VarFormatEqualityTest, ExposureFormatEqualityTest, deploy/aws/iceberg/); airtight connector upgrades (ConnectorUpgradeTest, CONNECTOR_FILES.md 'Upgrades'); hierarchies by columns and the var-limit kind (VAR_GUIDE.md 5.2, 15.15).</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cluster scale-out and sharding are DESIGNED (product owner). SUPER_SCALE.md is the scale-out architecture across many nodes ('one code path that scales down and up'); it opens with 'Status: design' and 'Release not decided (product owner, 2026-10-20)'; its steps S1–S8 are section 22. VaR sharding: VAR_GUIDE.md section 28 ('each server holds whole dates'), planned for 2.9.6. The bank-scale vector layout (VAR_GUIDE.md 29.2: sort by hierarchy, ZSTD, byte-stream split, ~512 MB files; planned, file sizing open question 7) is not scale-out: it is listed with this deck's proposals (slide 18).</a:t>
            </a:r>
          </a:p>
          <a:p/>
          <a:p>
            <a:r>
              <a:t>AWS_DELTA_LAKE.md relies on S1, S2 and S5–S6 as 'planned'; this deck labels them DESIGNED to match SUPER_SCALE.md.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row is this deck's recommendation, derived from facts in the docs:</a:t>
            </a:r>
          </a:p>
          <a:p>
            <a:r>
              <a:t>1. NET.md section 4 'The firewall': with gossip-port auto the port changes at each start; between machines behind a firewall set a number and open it. AWS_DEPLOYMENT.md's security groups open only 18480 between nodes, so on ECS gossip falls back to the server port and loses the isolation 2.6.7 added.</a:t>
            </a:r>
          </a:p>
          <a:p>
            <a:r>
              <a:t>2. VAR_GUIDE.md 8.4 and LakeAppends (2.9.5): the Kafka PV stream appends its windows to a lake path (Delta or Iceberg), not to s3://. Keeping that lake on EFS and copying each window with lake publish --mode append keeps S3 the single lake. (The first edition's proposal for the official results is no longer needed: 2.9.5 writes them to s3:// itself.)</a:t>
            </a:r>
          </a:p>
          <a:p>
            <a:r>
              <a:t>3. The 2.6.7 relayout fix makes compaction safe for the per-source tables; AWS_DELTA_LAKE.md 9.3 and lake-maintenance.s3.yaml still say compact: false.</a:t>
            </a:r>
          </a:p>
          <a:p>
            <a:r>
              <a:t>4. EXPOSURE_GUIDE.md 15.3 calls its sort and partition 'proposed'; VAR deck slide 13 proposed the node and portfolio vector table and the change data feed.</a:t>
            </a:r>
          </a:p>
          <a:p>
            <a:r>
              <a:t>7. VAR_GUIDE.md 29.2: the bank-scale vector layout is planned there with no release; this deck recommends it for 2.3M positions.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Twelve steps (0–11). Each: the script, the exact command, what you should see. Always --dry-run first, read it, then run</a:t>
            </a:r>
          </a:p>
          <a:p/>
          <a:p>
            <a:r>
              <a:t>Section 4: AWS_DELTA_LAKE.md section 4. The scripts have not changed since the first edition apart from the image version; what 2.9.4 and 2.9.5 change around them is noted on steps 3, 7, 8, 9 and 10.</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section 4. Every script is bash with the AWS CLI v2, reads deploy/aws/env (git-ignored; env.example has placeholders only), has --help and --dry-run, and is safe to run again. Steps 0 to 11 in order; steps 6 to 9 are the ECS part (AWS_DEPLOYMENT.md).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section 4, step 0; AWS_DEPLOYMENT.md section 11.3 for the four secrets. The platform team builds these with its own CloudFormation or Terraform; the Drishti scripts take their ids from deploy/aws/env. New since 2.6.0: if the content store's s3 backend is chosen (CONTENT_STORE.md, config/store/store.yaml), its bucket or prefix needs the same conditional-write guarantee as the lake (step 4).</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section 4, step 1. deploy/aws/env is git-ignored and holds account ids and names, never a secret; a script run with a placeholder left names it and stops. The tables file has seven fields per line. The risk tables (risk/pnl-vector, risk/scenario-pv, …) come from the bank's risk batch (VAR_GUIDE.md 15.8) and can be listed the same way when the batch drops JSON Lines in the landing bucket.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section 4 step 2 and section 5.1. Idempotent: run again, it says the bucket exists, keeps it and applies the same settings. --dry-run prints each changing call as '+ aws …' and each read as '? aws …', none made.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section 4 step 3; deploy/aws/delta-lake/iam/. Trust policies: iam/ecs-tasks-trust.json (task roles), iam/scheduler-trust.json (the scheduler role). A policy that exists gets a new default version.</a:t>
            </a:r>
          </a:p>
          <a:p/>
          <a:p>
            <a:r>
              <a:t>The risk lake (2.9.5): the server can write the official results straight to s3:// (AWS_DEPLOYMENT.md section 22): its task role then needs s3:GetObject, s3:PutObject and s3:ListBucket on that prefix, no delete (the tables are append-only). The shipped deploy/aws/delta-lake/iam/server-policy.json grants read only (ListBucket, GetObject, kms:Decrypt), so add a statement for the official prefix; with SSE-KMS a PutObject also needs kms:GenerateDataKey on the lake key (AWS's rule). The Kafka intraday windows still go to a local or EFS lake (slide 66).</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section 4 step 4 and section 8.2. A Delta commit is the creation of _delta_log/&lt;version&gt;.json; two writers must never both create the same version. deltalake 1.x writes commits with a conditional PUT and has no DynamoDB lock store.</a:t>
            </a:r>
          </a:p>
          <a:p/>
          <a:p>
            <a:r>
              <a:t>New since 2.6.0: the same guarantee is used by drishti-lakeio's S3 conditional PUT (with a start-up probe) for the native Iceberg engine, and by the content store's s3 backend (If-None-Match for a create, If-Match on the ETag for an update; 412 or 409 becomes DRS-5057). The simulators that test this are on slide 55.</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section 4 step 5 and 9.4. The 129 rules: three tables from 2019, one rule per table per month still moving, one per table per year already in Glacier IR, three base rules. S3 allows 1,000 rules and the script refuses more (about 30 tables over seven years).</a:t>
            </a:r>
          </a:p>
          <a:p/>
          <a:p>
            <a:r>
              <a:t>Risk lake (this deck): the risk tables keep 7 years of dates and time travel (LAKE_MAINTENANCE.md), so their old months are in Glacier Instant Retrieval: millisecond reads, so an old official number can still be recomputed. The lifecycle rules are generated from the tables file, so risk tables added there get rules like any other table.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section 4 step 6; AWS_DEPLOYMENT.md's identical-path rule: every path a container writes maps to the identical path on EFS. Every access point runs as uid/gid 10001 (the image's user); 3 × 3 + 3 + 1 + 1 = 14. Idempotent: the access point's name is its client token, so running again returns the same ids.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section 4 step 7 (Cloud Map), NET.md sections 2, 4 and 7 (2.6.7).</a:t>
            </a:r>
          </a:p>
          <a:p/>
          <a:p>
            <a:r>
              <a:t>Address rule (2.6.0): advertise-url and seed urls that are localhost, 127.x, ::1, 0.0.0.0 or :: are refused; without advertise-url a node advertises the machine's primary IPv4 (on ECS the task's own address).</a:t>
            </a:r>
          </a:p>
          <a:p/>
          <a:p>
            <a:r>
              <a:t>Gossip port (2.6.7): node.yaml gossip-port auto (default), a number, or off; a second Tomcat connector with its own acceptor and eight platform threads serving only gossip, probes and digests. NetGossipBusyTest: with every node's request threads saturated for 12 s, no suspicion (with gossip-port off every node suspected both peers); a node that died was suspect after 3.0 s and dead after 7.0 s. A gossip port that cannot be reached falls back to the server port for 5 minutes with one warning.</a:t>
            </a:r>
          </a:p>
          <a:p/>
          <a:p>
            <a:r>
              <a:t>HTTP/2 (2.6.7): routing.yaml peer-protocol http2 (default) multiplexes forwarded views, peer documents, scatter-gather, peer history, state sync and the live relay over one connection per peer (h2c on plain HTTP, ALPN on TLS). NetPeerProtocolBench (64 users, forwarded views, warm): 1 connection instead of 227, p99 117 ms instead of 370 ms.</a:t>
            </a:r>
          </a:p>
          <a:p/>
          <a:p>
            <a:r>
              <a:t>The proposal (fixed gossip port and a security-group rule) is this deck's: AWS_DEPLOYMENT.md's drishti-node group opens only 18480 between nodes.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section 4 step 8 (its example tags still say 2.9.2; this deck shows the current release, 2.9.5). Java 25: --build-arg BASE_IMAGE=eclipse-temurin:25-jre (AWS_DEPLOYMENT.md). Loader tasks read the same settings (DRISHTI_AWS_ENV=/opt/drishti/app/deploy/aws/env); rebuild the loader image when the settings change. The build context is the repository root.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section 4 step 9. Every shipped Delta connector's root is ${DRISHTI_DELTA_ROOT:…}; that includes the market-risk pack's risk-store (VAR_GUIDE.md 15.1), the counterparty-risk pack's exposure-store (EXPOSURE_GUIDE.md 15.3) and the BI connectors over risk-results (var-results, exposure-results). So the node task's DRISHTI_DELTA_ROOT=s3://&lt;lake bucket&gt;/lake points every reader at the lake in S3 with no edit. The publishers' root (drishti.var.official.root, the exposure equivalent) defaults to the same root; since 2.9.5 an s3:// root is written (Delta by default, or Iceberg with ….official.format), and BI's var-results and exposure-results follow the format by themselves (slide 66).</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section 4 step 10 and 8.1. Since 2.9.4 the dumps are JSON Lines (one object a line, UTF-8, .jsonl or .jsonl.gz; DATA_FORMATS.md); lake build still reads JSON arrays, and a CSV export is converted first with drishti.py convert. The same runs on ECS as the loader task.</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section 4 step 11, sections 11.3 and 11.4. 17 alarms for three tables: four per table, two for the bucket and EFS, one per node. All notify ALARM_SNS_TOPIC_ARN. report.sh is scheduled daily and sends its numbers to CloudWatch.</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Buckets, prefixes, tables and partitions: what goes where in S3, and why; the risk lake's domains beside the documents</a:t>
            </a:r>
          </a:p>
          <a:p/>
          <a:p>
            <a:r>
              <a:t>Section 5: AWS_DELTA_LAKE.md section 5, with the 2.9.4 domains (VAR_GUIDE.md 15.1, EXPOSURE_GUIDE.md 15.1, DEMO_DATA.md).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5.1. Versioning on, with a short noncurrent window: Delta keeps its own history (time travel back to the vacuum window), so versions are a safety net, not history. A file deleted by mistake stays recoverable for NONCURRENT_KEEP_DAYS (14).</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5.2 for the documents' tables; VAR_GUIDE.md 15.1 and EXPOSURE_GUIDE.md 15.1 for the risk lake (one table per kind under domain risk, partitioned by business_date; exposure-path also by run_id in the guide's tree, RUN_ID a column as built); DATA_FORMATS.md section 4 for risk-results/jsonl. 2.9.5 adds risk/var-limit (the limits of a hierarchy configured by columns, such as the limit letters: HIERARCHY, NODE_ID, LIMIT_VAR in USD; VAR_GUIDE.md 15.15). Tables by year (S2) are DESIGNED (SUPER_SCALE.md, the scale-out design).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5.3. Risk lake (VAR_GUIDE.md 15.1 as built): business_date only, rows sorted by id per batch of at most 50,000 (--batch-rows); the design's partition by scenario set and sort by hierarchy are planned (VAR_GUIDE.md 29.2; PROPOSED in this deck). Exposure paths: business_date only as built, RUN_ID a column; partition by run and sort by netting set PROPOSED in EXPOSURE_GUIDE.md 15.3.</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id, the promoted columns, the vector columns and the statistics: what each kind of read needs from the table</a:t>
            </a:r>
          </a:p>
          <a:p/>
          <a:p>
            <a:r>
              <a:t>Section 6: AWS_DELTA_LAKE.md section 6 and DELTA_CONNECTOR.md section 4, with the vector columns of 2.8.0 and the type-ahead columns of 2.7.0.</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section 6; VAR_GUIDE.md 15.1 'The physical table' (tools/lake/writers.py): id STRING, doc STRING, business_date DATE, the promoted columns (DOUBLE when every value is a number, else STRING) and the vector columns of layout.&lt;kind&gt;.vectors (list&lt;double&gt;; the document keeps the marker {"$vector": "PNL"} in their place). Since 2.9.0 the lake writer also writes float32 vector columns (vector32) and the Delta reader reads list&lt;float&gt;, widened exactly (EXPOSURE_GUIDE.md 15.3). layout.&lt;kind&gt;.type-ahead (2.7.0, DELTA_CONNECTOR.md section 4): promoted paths the type-ahead also matches. A promoted column added to a Delta table: today a new table and a backfill (slide 95); Delta in-place schema evolution (a nullable column added) is planned for 2.9.6; Iceberg evolves in place by field id.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section 6 table, updated: history queries (2.6.5, DELTA_CONNECTOR.md section 8: days() lists the snapshot's business_date partitions whose id map holds the entity; only those days are read, eight at once); type-ahead names (2.7.0); vector streaming (2.8.0, VAR_GUIDE.md 29.3: SourcePlugin.vectors streams a date's vectors one buffer per read, reused for every row; through Delta Kernel's list reader).</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Sizes, row groups, compression, statistics, checkpoints, retention, sorting by id, and one commit per day per table</a:t>
            </a:r>
          </a:p>
          <a:p/>
          <a:p>
            <a:r>
              <a:t>Section 7: AWS_DELTA_LAKE.md section 7, unchanged; lake build's one commit per business date (2.6.7) added.</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7.1. Risk domains: lake build creates their tables with delta.logRetentionDuration and delta.deletedFileRetentionDuration of 2,557 days (7 years), and lake maintain never vacuums them below that (LAKE_MAINTENANCE.md; VAR_GUIDE.md 15.1).</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7.2. lake build sorts each partition (date × product type) that fits one batch (--batch-rows, LAKE_BATCH_ROWS, 250,000); a larger one is written in the dumps' order and load-day.sh warns. Memory: about rows × average document size × 3; 250,000 trades of 10 KB need about 8 GB; the loader task has 30 GB. Since 2.9.4 bulk_trades.py writes each day's JSONL in id order (DELTA_CONNECTOR.md section 5), which is remedy 1 for the demo's scale tests. S1 is DESIGNED (SUPER_SCALE.md).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7.3. One commit per table per day means about 1,500 commits a year per table including maintenance (section 12.1). CHANGELOG 2.6.7: lake build and lake demo with the deltalake writer make one commit per business date (every partition of the date in it; one per partition only with overwrite-partitions) and a checkpoint every ten commits; sixty days of trade_endur (five product types) were 300 commits replaying the whole log (98 s on Linux), now 60 commits. Intraday risk batches are the exception: one appended commit per batch (slide 65).</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Since 2.9.4 JSON Lines is Drishti's data format: generate JSON Lines, then load it into Delta. CSV input is deprecated; every export offers JSON Lines</a:t>
            </a:r>
          </a:p>
          <a:p/>
          <a:p>
            <a:r>
              <a:t>Section 8 is new: docs/guides/DATA_FORMATS.md (new in 2.9.4) and the CHANGELOG entries 'JSON Lines is the data standard: the generators', 'CSV input deprecated; drishti.py convert', 'JSON Lines on every server export', 'JSON Lines in every console download and CLI export', 'Official results as JSON Lines too', 'The guard of the data standard'.</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DATA_FORMATS.md sections 1 and 2. One JSON object per line, UTF-8, .jsonl or .jsonl.gz; no array, no commas, a blank line skipped; a document may be as deep as it likes on its line. Generating and loading are separate steps: make_trades.py writes trades-&lt;date&gt;.jsonl.gz, then lake build loads them. make_data.py --lake, samplegen/lake.py and the pack generators write dated lake rows (&lt;name&gt;-history.jsonl and the restatement &lt;name&gt;-restated.jsonl) and load_rows.py loads them; the lake is byte-for-byte the same data as before (every table's rows and Delta versions compared, CHANGELOG 2.9.4). bulk_trades.py writes one JSONL file a day in id order and loads each with lake build.</a:t>
            </a:r>
          </a:p>
          <a:p/>
          <a:p>
            <a:r>
              <a:t>On AWS this is exactly the landing bucket's contract: the sources write &lt;date&gt;/&lt;source&gt;/*.jsonl.gz and load-day.sh loads them.</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DATA_FORMATS.md sections 3 to 5. Readers keep what they accept: lake build, build_demo_lakes.py, data ingest and the Java loaders read JSON Lines and JSON arrays (gzipped or not). CSV input is deprecated and will be removed in a later release; today only the file connector reads CSV feed files, logging one warning per file and naming them in Admin → Health. drishti.py convert FILE [--out X.jsonl] [--rows-document] turns CSV, a JSON array (streamed), one object, gzip or a folder of &lt;id&gt;.json into JSON Lines.</a:t>
            </a:r>
          </a:p>
          <a:p/>
          <a:p>
            <a:r>
              <a:t>Out: every export offers JSON Lines beside CSV, Excel, PDF and PNG (server API, console, CLI); media type application/jsonl. Since 2.9.5 a console panel has one download button (↓) with a small menu, CSV or JSON Lines, instead of two icons (CHANGELOG 2.9.5, USER_GUIDE). The guard: tools/test_generators_write_jsonl.py and tools/test_exports_offer_jsonl.py run in the drill. Storage internals stay as they are: Delta and Iceberg Parquet, the BI store, the hot files, Arrow between server and Python.</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DATA_FORMATS.md section 4; CHANGELOG 2.9.4 'Official results as JSON Lines too': VaR and exposure still publish to Delta (risk-results/var-official, exposure-official, exposure-official-cpty) and also write each published date as JSON Lines beside the tables: &lt;root&gt;/risk-results/jsonl/&lt;table&gt;/&lt;date&gt;/&lt;table&gt;-v&lt;table version&gt;.jsonl, one row a line, one file per commit (a restatement is a new file). Settings drishti.var.official.jsonl and drishti.ccr.exposure.official.jsonl, on by default. In the content store the row lists are JSONL too (var/official/&lt;date&gt;-membership-v&lt;n&gt;.jsonl, exposure/official/&lt;date&gt;-trades-v&lt;n&gt;.jsonl); records written before 2.9.4 keep their .json and are read as they are (append-only).</a:t>
            </a:r>
          </a:p>
          <a:p/>
          <a:p>
            <a:r>
              <a:t>On AWS (2.9.5): the JSON Lines go beside the tables on the same storage, a folder or s3:// (VAR_GUIDE.md section 19; AWS_DEPLOYMENT.md section 22); drishti.var.official.format and drishti.ccr.exposure.official.format choose delta (the default) or iceberg, and ….official.storage holds the s3.* settings (slide 66).</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daily load, the data-load signal, why concurrent commits are safe, backfill and restatement</a:t>
            </a:r>
          </a:p>
          <a:p/>
          <a:p>
            <a:r>
              <a:t>Section 9: AWS_DELTA_LAKE.md section 8, unchanged in substance; the dumps are JSON Lines since 2.9.4.</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8.1. The date defaults to today in LOAD_SCHEDULE_ZONE: an evening load in New York is already the next day in UTC. Exit codes: 0 every table published; 2 published with rejected documents (the summary says which); 1 a table failed, its S3 table unchanged; 3 a table was locked.</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8.1; DATA_LOADS.md. With DRISHTI_SIGNAL_URL (a node's Cloud Map name) and DRISHTI_TOKEN_SECRET_ID (an API token with loads:write in Secrets Manager, read into a 0600 file for the run), lake publish sends POST /api/v1/packs/{pack}/loads per date. Since 2.8.0 the signal of a risk input kind (pnl-vector, scenario-set, risk-hierarchy, portfolio, scenario-pv, or trade) also drops the date from the VaR engine and captures it officially; an exposure-path signal reloads the exposure engine (VAR_GUIDE.md 15.8, EXPOSURE_GUIDE.md 15.4). An intraday batch's signal is applied on top of the loaded date (VAR_GUIDE.md 8.4). Since 2.6.7 a storm of signals no longer drives the server out of memory (QA3A-01) and reads queue at most max-queued-reads (4096).</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8.2. lake publish and lake maintain use Python deltalake 1.x: a conditional PUT of the commit file (If-None-Match: *); the second writer gets 412, re-reads the log and retries (--commit-retries, 20). AWS_S3_ALLOW_UNSAFE_RENAME=true is refused. Drishti's Java writer commits on local disk and EFS by a hard link of a finished commit file (lake build, the Kafka stream's windows); since 2.9.5 the official-results publisher (DeltaSink) also commits on s3:// through drishti-lakeio, each commit file an exclusive create (If-None-Match: *), so two servers publishing at once both land, the second on the next version (OfficialS3Test on S3Mock: both formats, two writers in sequence, the exclusive create; not yet run against a real bucket). The native Iceberg writer (drishti-lakeio) uses the same conditional PUT with a start-up probe. CHANGELOG 2.7.0: with --storage-option AWS_ENDPOINT_URL=… (MinIO, another S3-compatible store) lake publish now checks the files on that endpoint, as the commit does; it used to ask AWS S3 and fail (ACCESS_DENIED). moto's test: three publishes at once, one winner per version (TOOLS.md 4.12).</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8.3 and 8.4. Restatement: readers switch to the restated day at the commit; known at before the commit still shows the day as it was, for LAKE_VACUUM_HOURS (7 years for risk). Data files of an old restated day move to its tier at the next lifecycle run (rules are by date). DATA_FORMATS.md: a restatement is a second file of lake rows (&lt;name&gt;-restated.jsonl) whose rows replace the rows of the same id on their date, as a second commit, so known at shows the correction. Risk: a restated VaR date gets the next RESULT_VERSION in the official results, the earlier kept (VAR_GUIDE.md section 19).</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content store on S3, the conditional writes each piece relies on, and how they are tested without an AWS account (2.7.0)</a:t>
            </a:r>
          </a:p>
          <a:p/>
          <a:p>
            <a:r>
              <a:t>Section 10 is new: CONTENT_STORE.md (sections 2 and 7), TOOLS.md 4.11 and 4.12, CHANGELOG 2.7.0 'Tests: S3 on three simulators, no Docker', 'Fix: lake publish checked the files on AWS, not on the store it commits to', 'New: the content store, and Designs on every node of a cluster', 'New: BI content and BI runs on every node of a cluster'.</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CONTENT_STORE.md: one small interface (get, compare-and-set put, list, delete, changes) with four backends chosen in config/store/store.yaml: filesystem (default, data/fstore; a shared mount on a cluster), sqlite and postgres (table drishti_content, in the two complete schema files) and s3 (objects &lt;prefix&gt;/items/&lt;key&gt;; the version is the ETag; create with If-None-Match: *, update with If-Match: &lt;etag&gt;; 412 or 409 answers DRS-5057; a delete compares the ETag and writes a tombstone; changes lists by LastModified). Works with AWS S3 and stores that honour the headers, such as MinIO.</a:t>
            </a:r>
          </a:p>
          <a:p/>
          <a:p>
            <a:r>
              <a:t>What lives there (2.7.0 to 2.9.4): Build workbench Designs, BI workspaces, items, versions and BI runs (a dead node's unfinished run adopted by exactly one node through a compare-and-set lease), data-load overrides, connector edits, collaboration, the VaR and exposure captures and official records (VAR_GUIDE.md section 19). On ECS: s3 or postgres need no shared disk; filesystem needs EFS mounted at the same path on every node.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TOOLS.md 4.12 and CONTENT_STORE.md section 7. Each suite first probes its simulator (com.ash.drishti.testkit.s3.ConditionalWrites: a second If-None-Match create, a stale If-Match put, a stale If-Match delete, then eight racing creates five times) and prints one line, then skips what it does not honour. Results so far: S3Mock honours create-only, update-if-match and delete-if-match but lets two racing creates both win; moto honours all three and its racing creates have one winner. MinIO no longer serves its community binaries (410 Gone), so the MinIO tests skip saying so unless DRISHTI_MINIO_BIN points at a binary. The drill runs all three (Java in verify, Python with uv).</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Checkpoints, retention and the risk lake's 7-year floor, vacuum, compaction now that relayout knows the per-source tables, the lifecycle rules, and Admin → Lakes</a:t>
            </a:r>
          </a:p>
          <a:p/>
          <a:p>
            <a:r>
              <a:t>Section 11: AWS_DELTA_LAKE.md section 9 and LAKE_MAINTENANCE.md, updated for the 2.6.7 relayout fix and the 2.8.0 retention floor.</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9.1 and deploy/aws/delta-lake/lake-maintenance.s3.yaml. --force-foreign: lake maintain maintains only tables lake build built in that location and treats every s3:// table as foreign; the S3 tables are Drishti's (lake publish wrote them from lake build's output), so the script overrides the rule, prints its warning and marks the runs forced.</a:t>
            </a:r>
          </a:p>
          <a:p/>
          <a:p>
            <a:r>
              <a:t>The 7-year floor (2.8.0, LAKE_MAINTENANCE.md): tables of the domains risk and risk-results keep 7 years of business dates and time travel whatever their settings say: a lower vacuum-hours or keep-business-days is raised to 61,368 hours and 1,827 business days and reported as retention-floor; retain-years per domain changes it. Note: LAKE_KEEP_BUSINESS_DAYS defaults to 1,800, so on the risk domains the floor (1,827) applies.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9.2 and DELTA_CONNECTOR.md section 10. Never Glacier Flexible Retrieval or Deep Archive: their objects need a restore of hours before a read; never an S3 expiry of current lake objects (removing a file a table version still names breaks the table). Only lake maintain removes table files; S3 then keeps the noncurrent versions 14 days. The risk domains' floor keeps 7 years of dates and of removed files, so their time travel reaches back 7 years (VAR_GUIDE.md 15.1).</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9.3 says compact is off because lake maintain found no layout for the per-source tables (trade_endur) and would run a plain compaction out of id order. CHANGELOG 2.6.7 'Fixed: lake maintain lays out the per-source trade tables': it now finds the layout of the connector whose table it is, and relayout keeps a table's own partitions (business_date and PRODUCT_TYPE) and checks each of them (test_maintain.py). AWS_DELTA_LAKE.md 9.3 and lake-maintenance.s3.yaml (compact: false) were not updated after the fix: a documentation follow-up.</a:t>
            </a:r>
          </a:p>
          <a:p/>
          <a:p>
            <a:r>
              <a:t>This replaces the first edition's 'open finding' (decision 3 of its last slide), which is done. Re-enabling compaction on S3 after a relayout test there is this deck's proposal.</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9.4. Costs to know: Standard-IA keeps an object at least 30 days, Glacier IR 90 days; a restatement of a tiered day pays the rest of that minimum on the files it replaces. Reads from Standard-IA about USD 0.01/GB, from Glacier IR about USD 0.03/GB.</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LAKE_MAINTENANCE.md: one engine, tools/lake/maintain.py; Admin → Data loads → Lakes (/admin/lakes) runs it in the console and drishti.py lake maintain from a terminal, cron or a container; both read and write &lt;data&gt;/lakes/lake-maintenance.yaml and keep the same history (maintenance-history.jsonl, the last 2,000 runs). The ownership rule: Drishti maintains only the tables its own lake build built (&lt;lake&gt;/_drishti-lake/tables-built.json); a foreign table is listed read-only and refused unless --force-foreign (the page never offers it). One run at a time per lake; each run takes the lake tool's lock exclusively. After a run each changed table built for a pack sends the data-load signal. Schedules: at a time (cron in the schedule zone) or after every build of the table; a missed run runs once at the next start.</a:t>
            </a:r>
          </a:p>
          <a:p/>
          <a:p>
            <a:r>
              <a:t>On AWS the EventBridge schedule runs maintain.sh; run schedules in one place only (DRISHTI_LAKE_MAINTENANCE_SCHEDULES=false on the console when the daemon or EventBridge runs them).</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Inputs as vectors in Delta, computed for any scope when asked, official results published append-only with JSON Lines beside them; morning runs, intraday batches and Kafka micro-batches</a:t>
            </a:r>
          </a:p>
          <a:p/>
          <a:p>
            <a:r>
              <a:t>Section 12 is new, updated for 2.9.5 (hierarchies by columns and var-limit, PNL- ids, official results to s3://, Iceberg as an alternative risk lake). Sources: VAR_GUIDE.md sections 5.2, 8.4, 15, 19, 26, 29; EXPOSURE_GUIDE.md sections 15, 20, 27; LAKE_MAINTENANCE.md (7-year floor); DATA_FORMATS.md section 4; the VaR engine deck (Drishti-VaR-Engine.pptx) slides 5, 8, 11 to 13, whose status words and sizing this section follows.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VAR_GUIDE.md 15.1 (the market-risk pack's connector risk-store, plugin delta, root ${DRISHTI_DELTA_ROOT:…}, domain risk; one table per kind; promoted columns: pnl-vector 23, scenario-pv 24; vector columns PNL and SCENARIO_PV; fx-scenario keeps RATES in the document); 15.9 (scenario-pv and fx-scenario, 2.9.4); EXPOSURE_GUIDE.md 15.1 to 15.3 (simulation-run, exposure-path with the vector column MTM, served by exposure-store); section 19 and EXPOSURE_GUIDE.md 20 (the published tables, read only by the BI connectors var-results and exposure-results as the computed kinds var-official VOFF and exposure-official-cpty XOFC).</a:t>
            </a:r>
          </a:p>
          <a:p/>
          <a:p>
            <a:r>
              <a:t>Positions are not a table: Drishti derives them when it loads a date (VAR_GUIDE.md 15.6). The guard test tools/test_contracts.py fails the build when anything but a read-only connector of computed kinds points at risk-results (since 2.9.5 an Iceberg reader is allowed as the Delta one).</a:t>
            </a:r>
          </a:p>
          <a:p/>
          <a:p>
            <a:r>
              <a:t>2.9.5: P&amp;L-vector ids are PNL-&lt;trade or position&gt;-&lt;set&gt; (earlier PV- ids still read); every P&amp;L-vector, scenario-PV and exposure-path row carries LIMIT_LETTER, the column of the limit-letter hierarchy LL (LIMIT_LETTER &gt; DESK) configured by columns; the new dated kind var-limit (VLIM, key LIMIT_ID VL-&lt;NODE_ID&gt;; HIERARCHY, NODE_ID, LIMIT_VAR in USD) holds the limits of such a hierarchy (VAR_GUIDE.md 5.2, 15.14, 15.15). A source written before the column skips that hierarchy alone with a DRS-5211 warning; MGMT, LEGAL and exposure answer as before.</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VAR_GUIDE.md 29.1 to 29.3. The design compared four layouts for 2 million rows × 509: long (a row per position × scenario, about 9–11 GB a date, a group-by over hundreds of millions of rows), wide (509 columns, schema coupled to the scenario count, footer bloat), vector (list&lt;double&gt;, chosen) and blob (opaque bytes, unreadable by other tools). As built: lake build --vector and both writers write list&lt;double&gt; (pyarrow pa.list_(pa.float64()); type vector in the Java LakeWriter), the document keeps {"$vector": "PNL"}; the Delta plugin streams a date's vectors (SourcePlugin.vectors, VectorSink) one buffer per read, reused for every row, through Delta Kernel's list reader; Snappy and default encodings. Before 2.8.0 the arrays were in the doc JSON: about 5 KB of text per vector, 10 GB of JSON a date at bank scale. Test: DeltaVectorColumnTest and tools/lake/test_vectors.py (JSON Lines → Delta → double[] → document equal to the bit). Exposure (2.9.0): list&lt;float&gt; read too, widened exactly; vector32 written. Since 2.9.5 the Iceberg plugin implements vectors() too (both engines, bit for bit: IcebergVectorsTest, IcebergParityTest), so VaR and exposure read an Iceberg risk lake equal to Delta to the cent (VarFormatEqualityTest, ExposureFormatEqualityTest). The bank-scale layout (VAR_GUIDE.md 29.2) is planned with no release; this deck proposes it.</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VAR_GUIDE.md 15.8 (cadence and the load signal), 8.4 'Intraday updates, as built (2.9.4)' and 'Intraday updates from Kafka, as built (2.9.4)'. Morning: RUN_KIND FULL, every live trade, one BATCH_ID; lake build replaces the date; the signal reloads the date and the official capture follows. Intraday files: only changed trades, RUN_KIND INTRADAY, own BATCH_ID, a later COMPUTED_AT, appended (lake build --mode append; drishti.py var intraday --load FILE); the row id is the morning id with the batch. Kafka: the market-risk pack's connector pv-updates (plugin var-pv-stream, off by default, DRISHTI_VAR_PV_STREAM=true) reads the PV topic; each message is JSONL text; everything received in drishti.var.intraday.kafka.window (5m) keeps the latest COMPUTED_AT per trade and is appended to the lake as ONE intraday batch (BATCH_ID K-&lt;date&gt;-&lt;time&gt;-&lt;n&gt;) by Drishti's lake writer, then applied after one data-load signal; earlier at max-trades (500) or an administrator's Apply now. Since 2.9.5 a window goes to the lake in its own format: one Delta commit, or one Iceberg append when the table is Iceberg (LakeAppends). The lake is the record: a restart rebuilds the intraday layer from the lake; replaying the topic writes nothing twice. Measured: VarIntradayApiTest, 200 batches of 3 trades: equal to the same data loaded as one run, to the cent, on every node; batch time does not grow; the lake's 1-second refresh dominates. Sizing from the guide: a record is 4–8 KB, so 10,000 updates a day are 40–80 MB on the topic.</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Facts: lake build and Drishti's Java writer write local disk or EFS; lake publish commits a built table into S3 with --mode overwrite-dates (default), overwrite-partitions or append, creating a new table with --log-retention-days (30) and --deleted-file-retention-days (7) unless told otherwise (TOOLS.md 4.11).</a:t>
            </a:r>
          </a:p>
          <a:p/>
          <a:p>
            <a:r>
              <a:t>Official results (2.9.5, VAR_GUIDE.md section 19, EXPOSURE_GUIDE.md section 20, AWS_DEPLOYMENT.md section 22): drishti.var.official.root and drishti.ccr.exposure.official.root may be s3://; ….official.format delta (the default) or iceberg; ….official.storage the s3.* settings (no keys: the task role). The tables stay append-only (delta.appendOnly; Iceberg append commits only) with 7 years of history, the JSON Lines beside them on the same storage. Each Delta commit file is an exclusive create (a conditional PUT through drishti-lakeio), so two servers publishing at once both land. Before 2.9.5 an s3:// root always ended in publishError. A failed publish names the format and the table; a format changed with the root not is refused in words. BI's var-results and exposure-results follow the format by themselves (OfficialReaders). Tested on S3Mock (OfficialS3Test); not yet run against a real bucket. The task role needs s3:GetObject, s3:PutObject, s3:ListBucket on that prefix, no delete.</a:t>
            </a:r>
          </a:p>
          <a:p/>
          <a:p>
            <a:r>
              <a:t>The Kafka stream's windows are appended to its lake path (Delta or Iceberg, LakeAppends), not to s3://: the box on the right is this deck's proposal, using only built tools (lake publish --mode append with its retention options).</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VAR_GUIDE.md section 19: official captures of every node of every configured hierarchy (2.9.5: MGMT, LEGAL and the limit letters LL, 131 nodes on the test data, 88 + 43; before 2.9.5 MGMT and LEGAL only) after the data-load signal of an input kind, at start for the newest date without a record, or by an administrator; one capture at a time; unchanged inputs not captured again; a restatement gets the next result version, the earlier kept. Published by VarPublisher, one Delta commit per run, created delta.appendOnly with 7 years of log and removed files (interval 2557 days). Columns: business_date (partition), id, doc, HIERARCHY, NODE_ID, NODE_NAME, PARENT_ID, LEVEL, CAPTURE_ID, RESULT_VERSION, INPUT_VERSIONS, COMPUTED_AT, CONTRACT_VERSION, VAR, ES, CONFIDENCE, ES_CONFIDENCE, SCENARIO_SET_ID, STANDALONE_SUM, DIVERSIFICATION, HYPO_PNL, LIMIT, LIMIT_USE, TRADE_COUNT, POSITION_COUNT, EXCEPTIONS_250, TRAFFIC_LIGHT. No vectors and no trade or position rows are published. Exposure (EXPOSURE_GUIDE.md 20): exposure-official (hierarchy nodes) and exposure-official-cpty (netting sets, counterparties, groups) with CE, EPE, EEPE, PEAK_EE, PEAK_PFE_95/99, EAD_IMM and the profile as JSON text. BI (2.9.0): var-official (VOFF) and exposure-official-cpty (XOFC), the reports Market risk: VaR and Counterparty risk; no measure sums VaR. 2.9.5: the tables in Delta (default) or Iceberg, in a folder or on s3://; Iceberg keeps 7 years by history.expire.max-snapshot-age-ms with every metadata file kept.</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EXPOSURE_GUIDE.md 27.2 (sizes) and 27.3 (seven-year retention: the product owner decided 7 years for VaR's input vectors; for exposure paths that is about 3.5 PB at a large bank; the tiers proposed were accepted on 2026-10-26 and built in 2.9.0 as the settings drishti.ccr.exposure.retention: trade-paths-days 20, trade-paths-month-end-years 1, set-matrices-years 1, set-matrices-month-end-years 7, statistics-years 7, trade-contributions-years 7). Under the tiers the standing storage is about 150 TB at full size instead of 3.5 PB; at P = 2,000 and G = 50 every number is a fifth. The trade paths are the lake owner's: GET /api/v1/exposure/retention lists each date held and whether its paths are beyond their window. Partition by run and sort by netting set, 512 MB files, BYTE_STREAM_SPLIT + ZSTD: proposed in EXPOSURE_GUIDE.md 15.3.</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a bank of that size puts in the lake each day, where Delta matters, what is measured and what is estimated</a:t>
            </a:r>
          </a:p>
          <a:p/>
          <a:p>
            <a:r>
              <a:t>Section 13 is new. Bank scale set by the product owner: 2.3 million positions and 15,000 portfolios. It uses the VaR engine deck's method (Drishti-VaR-Engine.pptx slides 11 to 13): first-principles arithmetic, the measured 100,000-trade points of VAR_GUIDE.md 27.3, and the same status words. ESTIMATED means scaled linearly from the measured 100,000-trade figures (× 23 for 2.3 million) or computed from the formula shown; nothing here is measured at 2.3 million.</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Arithmetic (all decimal units). Vectors: 2,300,000 × 509 × 8 bytes = 9,367,600,000 B = 9.37 GB per date per currency in float64; float32 halves it: 4.68 GB. Parquet about 0.75 × raw (the design's estimate, VAR_GUIDE.md 27.4: 'about 70–80% of raw'): 9.37 × 0.75 = 7.03 GB a date; × 252 business dates = 1,771 GB ≈ 1.77 TB a year; × 7 years ≈ 12.4 TB kept (the 7-year floor). Partitions: business_date only as built, so one partition of about 7 GB per date per table. Files: as built the writers' defaults; at the design's ~512 MB files (planned in VAR_GUIDE.md 29.2; PROPOSED here) 7.03 GB / 0.512 GB ≈ 14 files a date. Reads: a whole date is one streamed pass over one vector column; if the risk tables are loaded by load-day.sh with its 1 MB row groups (LAKE_ROW_GROUP_KB=1024), a cold pass is about 7.03 GB / 1 MB ≈ 7,000 ranged GETs (arithmetic on that assumption). A system sending scenario PVs instead sends one 509-vector per row as well (plus the base PV), so the size order is the same; one system sends one form and grain per date (DRS-5210). Portfolios: 15,000 definitions are 15,000 small rows a date in risk/portfolio, well under the 100,000-row read limit of VAR_GUIDE.md section 20; storing every portfolio's vector would be 15,000 × 509 × 8 B = 61,080,000 B ≈ 61 MB a date a currency (≈ 305 MB for five currencies; half in float32) — PROPOSED in the VaR deck; today only captures keep a vector. Intraday: a 5-minute Kafka window is at most 12 appended commits an hour on a risk table; a record is 4–8 KB, so 10,000 updates a day are 40–80 MB (VAR_GUIDE.md 8.4). Official results: one row per hierarchy node per date and version. The documents' lake past 200 TB is AWS_DELTA_LAKE.md 12.1 (slide 89).</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grid as the VaR deck slide 13, restricted to the lake. BUILT: partition by business_date with whole-date replace and intraday appends (VAR_GUIDE.md 15.1, 8.4); the vector column (29.3); 7-year time travel and restatement as a new commit (15.1, 29.2); checkpoints and lake maintain (LAKE_MAINTENANCE.md); append-only official results with JSONL beside (19; DATA_FORMATS.md 4); reading Delta from S3 (AWS_DELTA_LAKE.md); official results written to s3:// (2.9.5, VAR_GUIDE.md 19). DESIGNED: VaR sharding (28), planned for 2.9.6. PROPOSED: the bank-scale layout (sort by legal entity, desk, book; ZSTD and byte-stream split; ~512 MB files; partition by scenario set: planned in VAR_GUIDE.md 29.2 with no release); (VaR deck) Z-order or liquid clustering by book and portfolio; a published node and portfolio vector table; the change data feed.</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DELTA_CONNECTOR.md section 11: measured by hand on 2026-10-01 on a developer workstation (24 cores, server heap limit 15.6 GB), the trading pack's lake with 1,000,000 trades a day over three business days, over HTTP from the same machine. The search figures were measured in 2.2 with camel-case fields; today's equivalents use UPPER_SNAKE fields; not re-measured for 2.3. Section 8: a table of 1,800 business days and 7,200 files: start-up 729 ms; a trade on 2019-12-05 22 ms; on 2022-06-15 13 ms; the file list re-read 84 ms; an old day's columns 13 ms.</a:t>
            </a:r>
          </a:p>
          <a:p/>
          <a:p>
            <a:r>
              <a:t>Why it matters at 2.3 million positions: the trades behind the positions are read with the same paths; the measured million-a-day figures are the closest real points. Above that the SUPER_SCALE scale-out design (DESIGNED) takes over.</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Method of the VaR deck slide 12; bases VAR_GUIDE.md 27.3, 27.4, 26 and 12. Measured (VarTierBenchmark, 100,000 trades × 5 dates, one workstation: 24 threads, 61 GB, JDK 25, NVMe): first load 0.8–1.2 s per date after the lake read; reopening a date from its hot file 23 ms; a node 0.48 ms; the whole bank from float32 rows 3.4 ms (≈ 60 GB/s); hot file 237.7 MB per 100,000; heap ≈ 80 MB per open date. Scaled × 23 for 2.3 million: hot file 237.7 MB × 23 = 5,467 MB ≈ 5.5 GB a date; heap 80 MB × 23 ≈ 1.84 GB per open date (≈ 3.7 GB with hot-dates 2); first load (0.8–1.2 s) × 23 ≈ 18–28 s; reopen 23 ms × 23 ≈ 0.53 s; whole bank resident 4.68 GB of float32 at ≈ 60 GB/s ≈ 78 ms; cold from NVMe at about 3 GB/s ≈ 1.6 s; USD hot files for disk-dates 60: 5.5 GB × 60 ≈ 328 GB of local disk (lower disk-dates to need less). The cold lake read: the VaR deck takes the guide's 10–40 s for a whole-bank pass over about 4 GB of Parquet on one server (decoding at roughly 0.5–1 GB/s per core); scaled to ≈ 7.0 GB that is ≈ 18–70 s. A node stays ≈ 0.5 ms at any size (its float64 aggregate). drishti.var.tier.dir: 'put it on fast local disk' (VAR_GUIDE.md section 12); exposure's hot-folder likewise. The full 1 M × 50 benchmark has not been run (a million-trade run once took the workstation down); the 2.3M benchmark on a server, on both formats, is planned for 2.9.6. Measured in 2.9.5 (ColumnHierarchyBenchmark, 10,000 trades): 700 limit letters build in the same time as none (65-99 ms against 53-197 ms) and the VaR of all 1,412 nodes takes about 30 ms.</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small, bounded structures each server keeps, where they live, and the one decision for the product owner, now with the VaR and exposure hot files</a:t>
            </a:r>
          </a:p>
          <a:p/>
          <a:p>
            <a:r>
              <a:t>Section 14: AWS_DELTA_LAKE.md section 10, with the history cache (2.6.5–2.6.7) and the risk engines' hot files (2.8.0, 2.9.0).</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10 and DELTA_CONNECTOR.md 9 (one memory budget: id maps 20 %, column sets 20 %, documents 5 %, whole small tables 5 % of the heap, shared by every Delta connector that does not set its own). History cache: drishti.history.cache-mb, default 256 MB since 2.6.7 (counted in real heap; SOAK3-02, SOAK4-02). VaR: drishti.var.tier.dir (DRISHTI_VAR_HOT_DIR), hot-dates 2, disk-dates 60, keep-on-shutdown false (VAR_GUIDE.md 12, 26). Exposure: hot-folder (DRISHTI_EXPOSURE_HOT_DIR), EXPOSURE_GUIDE.md 12 and 26.2. The disk caches default to &lt;data dir&gt;/cache/&lt;connector&gt;/…, on ECS /opt/drishti/data/cache/… on EFS.</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section 10. Recommendation there: start on EFS (warm after any restart, no host affinity); move the document cache to NVMe if Admin → Caches shows cold reads dominate and EFS latency shows in p99Ms. NVMe breaks the identical-path rule; allowed only for rebuildable caches, by the product owner's decision.</a:t>
            </a:r>
          </a:p>
          <a:p/>
          <a:p>
            <a:r>
              <a:t>New for 2.9.4: VAR_GUIDE.md section 12 says to put drishti.var.tier.dir on fast local disk and EXPOSURE_GUIDE.md section 26.2 the same for the exposure hot files: they are memory-mapped, one file a date (≈ 5.5 GB at 2.3 million positions, estimated), rebuilt from the lake. They are the clearest case for the NVMe exception (decision 1 on slide 104).</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never scans the whole lake, history over the lake, spreading the work over Drishti*net, the numbers to watch and the alarms</a:t>
            </a:r>
          </a:p>
          <a:p/>
          <a:p>
            <a:r>
              <a:t>Section 15: AWS_DELTA_LAKE.md section 11, with history queries (2.6.5) and the Drishti*net transport (2.6.7).</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11.1, plus: history (DELTA_CONNECTOR.md 8: days() from the snapshot's partitions and the id maps; one read per day held, eight at once); a VaR date (VAR_GUIDE.md 25, 26: one streamed read of the date's vectors, then memory); vacuum lists the table's prefix (≈ 1,000 objects per LIST). Questions over all of history are not interactive: Athena, Trino or Spark on the same tables.</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HISTORY_QUERIES.md (built in 2.6.5) and DELTA_CONNECTOR.md section 8. GET /api/v1/history/{kind}/{id}?days=30 | range=3M | from=&amp;to= answers the entity over the business days it has data: one row per day with its top-level fields, the fields that changed, list counts, versions; diff=true adds each day's changes; knownAt reads as the store stood then (time travel). Every day is masked for the caller first. The Delta fast path (H5): days() lists the snapshot's business_date partitions whose id map holds the entity; only those days are read. Across Drishti*net (H4): a node with the pack but not the data reads the history from the peer that holds it in one call (GET /api/v1/net/history/{kind}/~), masked there and again here. drishti.py history KIND ID and the Python client's history(); the history cache (256 MB). Not yet built: reading only promoted columns when every field asked is promoted; the number of versions of a day. The soak (2.6.7) asks histories under node kills: only complete answers or partial ones naming the dead node.</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11.2; DRISHTI_NET.md section 10; NET.md section 7. Nodes whose connectors read different tables of a kind are shards: a search asks every one; a read goes to the node that holds the table. Nodes that read the same table are replicas: a search asks one; a forwarded read goes to the same node for the same entity (stable hash of its id). Every node can read every table from S3: a failed node costs speed, never answers. 2.6.7: peer data over HTTP/2 (one connection per peer) and gossip on its own port; history across the cluster. VaR: each server that reads the risk lake loads whole dates and answers on its own; sharding one date is DESIGNED (VAR_GUIDE.md 28), planned for 2.9.6. S5, S6 (slice ownership) are DESIGNED (SUPER_SCALE.md).</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11.3. Illustrative numbers for a lake of about 200 TB. report.sh is scheduled daily (REPORT_SCHEDULE), prints these and sends them to CloudWatch. The risk tables appear in the same report when listed in the tables file; their behind and file counts grow with intraday commits (a Kafka window is at most 12 commits an hour), which checkpoints every 10 commits keep short.</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11.3 table; NET.md section 12 for the gossip line (Admin → Health gossipPort; 0 means gossip shares the server port); DELTA_CONNECTOR.md 14 for max-queued-reads.</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11.4. All notify ALARM_SNS_TOPIC_ARN. The AWS_DEPLOYMENT.md alarms (heap, Drishti*net member dead, backup failed) come with the platform's Prometheus or CloudWatch agent; drishti_net_gossip_exchange_seconds (2.6.7) is a Prometheus metric for gossip latency.</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85 Delta tables from committed JSON Lines, the public-data packs on the same pattern, and the data map that checks every join against the lake</a:t>
            </a:r>
          </a:p>
          <a:p/>
          <a:p>
            <a:r>
              <a:t>Section 16 is new: DEMO_DATA.md (84 tables in 2.9.4, 85 with var-limit in 2.9.5), PUBLIC_DATA.md and the pack CHANGELOG entries (us-equities, gleif 2.7.0; funds 2.9.2), USER_GUIDE.md 'The data map' (2.9.3).</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DEMO_DATA.md (2.9.5): drishti.py lake demo (or tools/build_demo_lakes.py) builds sixty business days ending today from the committed test data (about 120 MB of .jsonl.gz): measured 943 s (about 15 minutes), 85 tables, about 2.7 GB. Domains (the Windows QA guide): trading, reference, legal, collateral, credit, risk, market, macro, news, civic, us-equities, gleif and funds. Trades: one table per source system, partitioned by business date and PRODUCT_TYPE; 15,000 trades on the last day. The count grew from 64 (2.6.5) to 66, 77 (us-equities and gleif, 2.7.0), 82 (release-2.9.4), 84 with the 2.9.4 risk inputs (scenario-pv, fx-scenario) and 85 with var-limit (2.9.5). build_demo_lakes.py --store risk=iceberg moves the whole risk domain into Iceberg and switches risk-store.yaml and exposure-store.yaml with it (2.9.5); Delta stays the default. The data pattern (product owner): data/testdata/&lt;domain&gt;/&lt;kind&gt;/*.jsonl.gz → build_demo_lakes → Delta → the pack's Delta connector, tested with the demo connector off (PacksServedWithoutDemoTest). The demo lake has exposure for 22 of 24 counterparties (73 netting sets, 9,000 trades, 200 paths). config/demo/names.yaml renames the demo's bank and legal entities as they load (2.9.4).</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PUBLIC_DATA.md and the CHANGELOG: us-equities (2.7.0: 479 companies of the Dow 30, Nasdaq-100 and S&amp;P 500 with SEC filings; kinds us-company, filing, financial-fact, index-membership, sic-sector; prices internal only and off), gleif (2.7.0: about 9,500 legal entities in 540 ownership groups across 132 countries), funds (2.9.2: the 200 largest US mutual funds and ETFs with their holdings from SEC N-PORT, N-CEN and prospectus data). Each kind is one committed snapshot, data/testdata/&lt;pack&gt;/&lt;kind&gt;/snapshot-&lt;date&gt;.jsonl.gz, built into &lt;pack&gt;/&lt;kind&gt; on every demo day and served by the pack's Delta connector. One refresh script per pack in tools/publicdata/ (status, refresh, --dry-run, --offline, --internal-ok) with .sh and .ps1 wrappers; a polite, cached, checksummed download; data marked internal-only (IMF, Yahoo, news) never goes into a committed folder without --internal-ok. Sources' licences: SEC EDGAR public domain, GLEIF and Wikidata CC0. The type-ahead on names (USEQ Ford finds F) is layout.&lt;kind&gt;.type-ahead.</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USER_GUIDE.md 'The data map' and CHANGELOG 2.9.3. Views → Data map (/datamap, DATAMAP &lt;GO&gt;, DATAMAP trade): every kind the user's packs hold, how much on the business date and how the kinds join. Inferred, never drawn by hand: kinds from the enabled packs and their contracts (computed kinds dashed), joins from the contracts' links, fields' link: and graph.fields, each checked against the lake (15,000 of 15,000 ids match; under 95 % a finding); counts read at request time and kept per business date (drishti.datamap.ttl, 15 minutes). On the default demo lake (10 packs): 96 kinds, 226 joins, 176 checked in about 1.5 s, 11 findings to fix in the contracts or the data. API GET /api/v1/datamap (only kinds the caller may open). Counts and join checks read the day's column sets (id and promoted columns), never documents. The screenshot is from the USER_GUIDE (7 packs).</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200 TB of documents is, the deployment that serves it, and the monthly bill (list prices, one Region, estimates); the risk lake's share from section 13</a:t>
            </a:r>
          </a:p>
          <a:p/>
          <a:p>
            <a:r>
              <a:t>Section 17: AWS_DELTA_LAKE.md section 12, unchanged; the risk lake's sizes are on slides of section 13.</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12.1: estimates, to be replaced by the measurements of SUPER_SCALE step S8 (DESIGNED). The risk lake adds about 12.4 TB of VaR vectors over 7 years at 2.3 million positions (slide 70) and the exposure paths under their decided tiers (slide 68).</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12.2. The VaR server's sizing at bank scale is in the VaR deck (slide 12): heap ≈ 1.8 GB per open date at 2.3M (estimated, 80 MB × 23), 2 dates open; hot files ≈ 5.5 GB a date on local disk (estimated, 237.7 MB × 23).</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12.3, unchanged. For comparison: the same 200 TB on EFS: USD 60,000 a month in Standard; about USD 3,200 in Infrequent Access plus USD 0.03 per GB read.</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daily load, a backfill, a restatement, a slow table, a restated risk date, an upgrade, and disaster recovery</a:t>
            </a:r>
          </a:p>
          <a:p/>
          <a:p>
            <a:r>
              <a:t>Section 18: AWS_DELTA_LAKE.md section 13, plus a risk-date runbook from VAR_GUIDE.md 15.8 and 19 and an upgrade runbook from CONNECTOR_FILES.md 'Upgrades (2.9.5)'.</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13.1.</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13.2 and 13.3; DATA_FORMATS.md (a restatement is a second JSONL file).</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13.4; DELTA_CONNECTOR.md 12. warm-dates (3) warms the newest days at start. A promoted column added changes the table's columns, so publish refuses the next day: write the new layout into a new folder (trade_endur_v2) with backfill.sh, then switch the connector's table.trade. Delta in-place schema evolution (a nullable column added to the table) is planned for 2.9.6; Iceberg evolves in place by field id today.</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VAR_GUIDE.md 15.8 (restatement: rewrite the whole date, RESTATEMENT + 1, a new BATCH_ID; the signal reloads the date, a new hot file is built, its name the digest of the new inputs, and the official capture is taken again with the next result version, the earlier kept), 8.4 (a full run of the date drops the intraday layer), 19 (append-only publication, to a folder or s3:// since 2.9.5; a failed publish is publishError naming the format and the table), 20 (DRS-5203: mixed runs or scenario sets answer the date before with a warning). EXPOSURE_GUIDE.md 15.4 (a new RUN_ID, or the same rewritten whole).</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CONNECTOR_FILES.md 'Upgrades (2.9.5)'; OPERATIONS.md; CHANGELOG 2.9.5 'Connector upgrades are airtight' (after the 2.9.4 drill met a var-whatif file without ccy). Every file Drishti writes from a pack template carries a stamp in its own text (# drishti-template: pack=… template=… text=…), so it survives the content-store overlay, the history and a copy to another server. At start and at every template check: a file whose text still has its hash was never edited and is replaced in full by the new template (changed values included); the file before is kept as &lt;name&gt;.yaml.before-upgrade-&lt;time&gt;.bak and in the history; one log line; audited as connector-template-upgrade. An edited file gets every key the template has at any depth (settings, kinds, layout lists such as LIMIT_LETTER in layout.&lt;kind&gt;.columns, description, a reactive connector's params, result, reads, engine, triggers, coalesce, cache, limits, history); its values are never overwritten; lists keep their order and gain the missing items. Conflicts are listed in Admin → Connectors → Template updates with Use the pack's value per key (POST /api/v1/admin/connectors/template-updates/&lt;name&gt;/use-template-value). Reset to pack default and Regenerate write a stamped file again.</a:t>
            </a:r>
          </a:p>
          <a:p/>
          <a:p>
            <a:r>
              <a:t>The upgrade drill: ConnectorUpgradeTest starts a server on the connector files release 2.9.4's server generated (tools/connector_upgrade_fixture.py), with an edited risk-store and the edited 2.9.3 var-whatif: every unedited file equals the current template, the edits stay, var-result, var-whatif with ccy and exposure-result answer. HierarchyUpgradeWithoutLettersTest: data written before the letters skips the LL hierarchy alone with a DRS-5211 warning.</a:t>
            </a:r>
          </a:p>
          <a:p/>
          <a:p>
            <a:r>
              <a:t>On ECS the connector files live on EFS (config) or in the content store: a new image is all the upgrade needs.</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13.5. The content store's s3 backend (if chosen) is replicated with the lake bucket's settings or its own; a filesystem content store on EFS is covered by AWS Backup and EFS replication.</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file under deploy/, the lake tools beside them, and the conventions every script follows</a:t>
            </a:r>
          </a:p>
          <a:p/>
          <a:p>
            <a:r>
              <a:t>Section 19: AWS_DELTA_LAKE.md section 14, with the lake tools added since 2.6.0 (tools/lake/).</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section 14; TOOLS.md sections 4.9 to 4.12 and 7. New in tools/lake since the first edition: stores.py and stores_equality.py (mixed Delta and Iceberg, 2.6.7), s3sim.py and test_s3_simulators.py (2.7.0), test_vectors.py (2.8.0), test_retention.py (the 7-year floor), test_names.py (2.9.4); tools/samplegen/load_rows.py and tools/convertcmd.py (2.9.4). 2.9.5: deploy/aws/iceberg/ (load-day, backfill, maintain, setup-lifecycle, setup-alarms, report, setup-iam with iam/*.json, tables.example, check-conditional-writes, check-glue; AWS_DEPLOYMENT.md section 22), the Iceberg settings in env.example, and the Delta setup-lifecycle.sh keeping the Iceberg rules in the bucket's one configuration.</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AWS_DELTA_LAKE.md section 14 conventions; tools/test_deploy_aws.py (7 tests); both test files run in the drill.</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is not yet proven, known limits with their sources, what 2.9.6 ships, the decisions to take, and the documents behind every slide</a:t>
            </a:r>
          </a:p>
          <a:p/>
          <a:p>
            <a:r>
              <a:t>Section 20: AWS_DELTA_LAKE.md section 15, rewritten for 2.9.4 and updated for 2.9.5.</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AWS_DELTA_LAKE.md 15 (not yet run in AWS; a bucket without conditional writes; sorting only within a batch; one table for every year until S2); VAR_GUIDE.md 8.4 (the Kafka stream's lake path), 20 (only the first 100,000 hierarchy nodes or portfolios read from a connector that cannot list a date whole), 27.3 (the 1 M × 50 benchmark not run; the 2.3M benchmark is 2.9.6), 28 (VaR sharding designed, 2.9.6), 29.2 (the bank-scale layout planned); AWS_DEPLOYMENT.md 22 and ICEBERG_CONNECTOR.md 19 (Glue and S3 Tables: code written, live runs 2.9.6). No longer limits in 2.9.5: official results to s3:// (VAR_GUIDE.md 19) and VaR and exposure inputs on Iceberg (ICEBERG_CONNECTOR.md 18). The first edition's open finding on lake maintain's layout lookup is fixed (2.6.7).</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Decision 1 and 2 carried over from the first edition, with the hot files added to 1. The first edition's decision 3 (fix lake maintain's layout lookup) is done in 2.6.7; its decisions 4 and 5 (S2; S1, S5, S6) remain DESIGNED and are now decision 6. Decisions 3 to 5 are new and follow from this deck's proposals (slide 18); decision 3 changed in 2.9.5: official results go to s3:// themselves (VAR_GUIDE.md 19), so only the Kafka windows still need the copy.</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documents read for this edition from the local branch release-2.9.4 (and, for the 2.9.4 VaR material, the 2.9.4 VaR branch); the 2.9.5 update from develop (CHANGELOG.md '2.9.5 (unreleased)', AWS_DEPLOYMENT.md section 22, CONNECTOR_FILES.md, ICEBERG_CONNECTOR.md sections 18 and 19, VAR_GUIDE.md section 19). The companion decks: Drishti-AWS-Iceberg.pptx (Iceberg on AWS) and Drishti-VaR-Engine.pptx (the VaR engine, whose sizing and status words section 13 follows).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 Id="rId3" Type="http://schemas.openxmlformats.org/officeDocument/2006/relationships/image" Target="../media/image1.jp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Cover rule"/>
          <p:cNvSpPr/>
          <p:nvPr/>
        </p:nvSpPr>
        <p:spPr>
          <a:xfrm>
            <a:off x="0" y="4754880"/>
            <a:ext cx="12191695" cy="73152"/>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extBox 3"/>
          <p:cNvSpPr txBox="1"/>
          <p:nvPr/>
        </p:nvSpPr>
        <p:spPr>
          <a:xfrm>
            <a:off x="731520" y="1051560"/>
            <a:ext cx="10789920" cy="1463040"/>
          </a:xfrm>
          <a:prstGeom prst="rect">
            <a:avLst/>
          </a:prstGeom>
          <a:noFill/>
        </p:spPr>
        <p:txBody>
          <a:bodyPr wrap="square" lIns="0" rIns="0" tIns="0" bIns="0" anchor="b">
            <a:spAutoFit/>
          </a:bodyPr>
          <a:lstStyle/>
          <a:p>
            <a:pPr algn="l">
              <a:spcAft>
                <a:spcPts val="600"/>
              </a:spcAft>
              <a:buNone/>
            </a:pPr>
            <a:r>
              <a:rPr sz="4400" b="1" i="0">
                <a:solidFill>
                  <a:srgbClr val="FFFFFF"/>
                </a:solidFill>
                <a:latin typeface="Calibri"/>
              </a:rPr>
              <a:t>A high-performance Delta lake for Drishti on AWS</a:t>
            </a:r>
          </a:p>
        </p:txBody>
      </p:sp>
      <p:sp>
        <p:nvSpPr>
          <p:cNvPr id="5" name="TextBox 4"/>
          <p:cNvSpPr txBox="1"/>
          <p:nvPr/>
        </p:nvSpPr>
        <p:spPr>
          <a:xfrm>
            <a:off x="731520" y="2606040"/>
            <a:ext cx="10789920" cy="822960"/>
          </a:xfrm>
          <a:prstGeom prst="rect">
            <a:avLst/>
          </a:prstGeom>
          <a:noFill/>
        </p:spPr>
        <p:txBody>
          <a:bodyPr wrap="square" lIns="0" rIns="0" tIns="0" bIns="0" anchor="t">
            <a:spAutoFit/>
          </a:bodyPr>
          <a:lstStyle/>
          <a:p>
            <a:pPr algn="l">
              <a:spcAft>
                <a:spcPts val="600"/>
              </a:spcAft>
              <a:buNone/>
            </a:pPr>
            <a:r>
              <a:rPr sz="2000" b="0" i="0">
                <a:solidFill>
                  <a:srgbClr val="C9D3E3"/>
                </a:solidFill>
                <a:latin typeface="Calibri"/>
              </a:rPr>
              <a:t>Past 200 TB and at bank scale: the lake in S3, the risk lake, JSON Lines in, the scripts, the keys, the partitions and every optimisation</a:t>
            </a:r>
          </a:p>
        </p:txBody>
      </p:sp>
      <p:sp>
        <p:nvSpPr>
          <p:cNvPr id="6" name="TextBox 5"/>
          <p:cNvSpPr txBox="1"/>
          <p:nvPr/>
        </p:nvSpPr>
        <p:spPr>
          <a:xfrm>
            <a:off x="731520" y="3566160"/>
            <a:ext cx="10789920" cy="1097280"/>
          </a:xfrm>
          <a:prstGeom prst="rect">
            <a:avLst/>
          </a:prstGeom>
          <a:noFill/>
        </p:spPr>
        <p:txBody>
          <a:bodyPr wrap="square" lIns="0" rIns="0" tIns="0" bIns="0" anchor="t">
            <a:spAutoFit/>
          </a:bodyPr>
          <a:lstStyle/>
          <a:p>
            <a:pPr algn="l">
              <a:spcAft>
                <a:spcPts val="400"/>
              </a:spcAft>
              <a:buNone/>
            </a:pPr>
            <a:r>
              <a:rPr sz="1300" b="0" i="0">
                <a:solidFill>
                  <a:srgbClr val="A9B6CB"/>
                </a:solidFill>
                <a:latin typeface="Calibri"/>
              </a:rPr>
              <a:t>Drishti 2.9.5 · everything shipped up to 2.9.5 is built · Delta is the default, Iceberg a full alternative · only cluster scale-out and sharding are designed</a:t>
            </a:r>
          </a:p>
          <a:p>
            <a:pPr algn="l">
              <a:spcAft>
                <a:spcPts val="400"/>
              </a:spcAft>
              <a:buNone/>
            </a:pPr>
            <a:r>
              <a:rPr sz="1300" b="0" i="0">
                <a:solidFill>
                  <a:srgbClr val="A9B6CB"/>
                </a:solidFill>
                <a:latin typeface="Calibri"/>
              </a:rPr>
              <a:t>AWS scripts tested with --help and --dry-run; Delta on S3, lake publish and official results to S3 tested on S3 simulators; first run in a real AWS account still to do</a:t>
            </a:r>
          </a:p>
        </p:txBody>
      </p:sp>
      <p:sp>
        <p:nvSpPr>
          <p:cNvPr id="7" name="TextBox 6"/>
          <p:cNvSpPr txBox="1"/>
          <p:nvPr/>
        </p:nvSpPr>
        <p:spPr>
          <a:xfrm>
            <a:off x="731520" y="5029200"/>
            <a:ext cx="10789920" cy="548640"/>
          </a:xfrm>
          <a:prstGeom prst="rect">
            <a:avLst/>
          </a:prstGeom>
          <a:noFill/>
        </p:spPr>
        <p:txBody>
          <a:bodyPr wrap="square" lIns="0" rIns="0" tIns="0" bIns="0" anchor="t">
            <a:spAutoFit/>
          </a:bodyPr>
          <a:lstStyle/>
          <a:p>
            <a:pPr algn="l">
              <a:spcAft>
                <a:spcPts val="600"/>
              </a:spcAft>
              <a:buNone/>
            </a:pPr>
            <a:r>
              <a:rPr sz="1600" b="1" i="0">
                <a:solidFill>
                  <a:srgbClr val="E87A1E"/>
                </a:solidFill>
                <a:latin typeface="Calibri"/>
              </a:rPr>
              <a:t>Drishti · Any data. Any domain. One grammar.</a:t>
            </a:r>
          </a:p>
        </p:txBody>
      </p:sp>
      <p:sp>
        <p:nvSpPr>
          <p:cNvPr id="8" name="TextBox 7"/>
          <p:cNvSpPr txBox="1"/>
          <p:nvPr/>
        </p:nvSpPr>
        <p:spPr>
          <a:xfrm>
            <a:off x="731520" y="5623560"/>
            <a:ext cx="10789920" cy="365760"/>
          </a:xfrm>
          <a:prstGeom prst="rect">
            <a:avLst/>
          </a:prstGeom>
          <a:noFill/>
        </p:spPr>
        <p:txBody>
          <a:bodyPr wrap="square" lIns="0" rIns="0" tIns="0" bIns="0" anchor="t">
            <a:spAutoFit/>
          </a:bodyPr>
          <a:lstStyle/>
          <a:p>
            <a:pPr algn="l">
              <a:spcAft>
                <a:spcPts val="600"/>
              </a:spcAft>
              <a:buNone/>
            </a:pPr>
            <a:r>
              <a:rPr sz="1200" b="0" i="0">
                <a:solidFill>
                  <a:srgbClr val="A9B6CB"/>
                </a:solidFill>
                <a:latin typeface="Calibri"/>
              </a:rPr>
              <a:t>Second edition, updated 2026-10-28 for Drishti 2.9.5 (first edition 2026-10-20, Drishti 2.6.5)</a:t>
            </a:r>
          </a:p>
        </p:txBody>
      </p:sp>
      <p:sp>
        <p:nvSpPr>
          <p:cNvPr id="9" name="TextBox 8"/>
          <p:cNvSpPr txBox="1"/>
          <p:nvPr/>
        </p:nvSpPr>
        <p:spPr>
          <a:xfrm>
            <a:off x="731520" y="6035040"/>
            <a:ext cx="10789920" cy="457200"/>
          </a:xfrm>
          <a:prstGeom prst="rect">
            <a:avLst/>
          </a:prstGeom>
          <a:noFill/>
        </p:spPr>
        <p:txBody>
          <a:bodyPr wrap="square" lIns="0" rIns="0" tIns="0" bIns="0" anchor="t">
            <a:spAutoFit/>
          </a:bodyPr>
          <a:lstStyle/>
          <a:p>
            <a:pPr algn="l">
              <a:spcAft>
                <a:spcPts val="600"/>
              </a:spcAft>
              <a:buNone/>
            </a:pPr>
            <a:r>
              <a:rPr sz="1000" b="0" i="0">
                <a:solidFill>
                  <a:srgbClr val="8A96A8"/>
                </a:solidFill>
                <a:latin typeface="Calibri"/>
              </a:rPr>
              <a:t>Copyright © 2026 Ashutosh Sinha. All rights reserved. Proprietary and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What this deck covers</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contents</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2</a:t>
            </a:r>
          </a:p>
        </p:txBody>
      </p:sp>
      <p:sp>
        <p:nvSpPr>
          <p:cNvPr id="9" name="TextBox 8"/>
          <p:cNvSpPr txBox="1"/>
          <p:nvPr/>
        </p:nvSpPr>
        <p:spPr>
          <a:xfrm>
            <a:off x="548640" y="1234440"/>
            <a:ext cx="5577840" cy="5029200"/>
          </a:xfrm>
          <a:prstGeom prst="rect">
            <a:avLst/>
          </a:prstGeom>
          <a:noFill/>
        </p:spPr>
        <p:txBody>
          <a:bodyPr wrap="square" lIns="0" rIns="0" tIns="0" bIns="0" anchor="t">
            <a:spAutoFit/>
          </a:bodyPr>
          <a:lstStyle/>
          <a:p>
            <a:pPr algn="l">
              <a:spcAft>
                <a:spcPts val="900"/>
              </a:spcAft>
              <a:buNone/>
            </a:pPr>
            <a:r>
              <a:rPr sz="1600" b="0" i="0">
                <a:solidFill>
                  <a:srgbClr val="1C2433"/>
                </a:solidFill>
                <a:latin typeface="Calibri"/>
              </a:rPr>
              <a:t>1  The picture; Delta (default) or Iceberg</a:t>
            </a:r>
          </a:p>
          <a:p>
            <a:pPr algn="l">
              <a:spcAft>
                <a:spcPts val="900"/>
              </a:spcAft>
              <a:buNone/>
            </a:pPr>
            <a:r>
              <a:rPr sz="1600" b="0" i="0">
                <a:solidFill>
                  <a:srgbClr val="1C2433"/>
                </a:solidFill>
                <a:latin typeface="Calibri"/>
              </a:rPr>
              <a:t>2  Why S3 and not EFS for the lake</a:t>
            </a:r>
          </a:p>
          <a:p>
            <a:pPr algn="l">
              <a:spcAft>
                <a:spcPts val="900"/>
              </a:spcAft>
              <a:buNone/>
            </a:pPr>
            <a:r>
              <a:rPr sz="1600" b="0" i="0">
                <a:solidFill>
                  <a:srgbClr val="1C2433"/>
                </a:solidFill>
                <a:latin typeface="Calibri"/>
              </a:rPr>
              <a:t>3  Built, designed, proposed</a:t>
            </a:r>
          </a:p>
          <a:p>
            <a:pPr algn="l">
              <a:spcAft>
                <a:spcPts val="900"/>
              </a:spcAft>
              <a:buNone/>
            </a:pPr>
            <a:r>
              <a:rPr sz="1600" b="0" i="0">
                <a:solidFill>
                  <a:srgbClr val="1C2433"/>
                </a:solidFill>
                <a:latin typeface="Calibri"/>
              </a:rPr>
              <a:t>4  First-time setup, steps 0–11</a:t>
            </a:r>
          </a:p>
          <a:p>
            <a:pPr algn="l">
              <a:spcAft>
                <a:spcPts val="900"/>
              </a:spcAft>
              <a:buNone/>
            </a:pPr>
            <a:r>
              <a:rPr sz="1600" b="0" i="0">
                <a:solidFill>
                  <a:srgbClr val="1C2433"/>
                </a:solidFill>
                <a:latin typeface="Calibri"/>
              </a:rPr>
              <a:t>5  The layout: buckets, prefixes, partitions</a:t>
            </a:r>
          </a:p>
          <a:p>
            <a:pPr algn="l">
              <a:spcAft>
                <a:spcPts val="900"/>
              </a:spcAft>
              <a:buNone/>
            </a:pPr>
            <a:r>
              <a:rPr sz="1600" b="0" i="0">
                <a:solidFill>
                  <a:srgbClr val="1C2433"/>
                </a:solidFill>
                <a:latin typeface="Calibri"/>
              </a:rPr>
              <a:t>6  Keys: id, promoted, vectors</a:t>
            </a:r>
          </a:p>
          <a:p>
            <a:pPr algn="l">
              <a:spcAft>
                <a:spcPts val="900"/>
              </a:spcAft>
              <a:buNone/>
            </a:pPr>
            <a:r>
              <a:rPr sz="1600" b="0" i="0">
                <a:solidFill>
                  <a:srgbClr val="1C2433"/>
                </a:solidFill>
                <a:latin typeface="Calibri"/>
              </a:rPr>
              <a:t>7  Files: sizes, row groups, sorting</a:t>
            </a:r>
          </a:p>
          <a:p>
            <a:pPr algn="l">
              <a:spcAft>
                <a:spcPts val="900"/>
              </a:spcAft>
              <a:buNone/>
            </a:pPr>
            <a:r>
              <a:rPr sz="1600" b="0" i="0">
                <a:solidFill>
                  <a:srgbClr val="1C2433"/>
                </a:solidFill>
                <a:latin typeface="Calibri"/>
              </a:rPr>
              <a:t>8  Data in: JSON Lines, then Delta</a:t>
            </a:r>
          </a:p>
          <a:p>
            <a:pPr algn="l">
              <a:spcAft>
                <a:spcPts val="900"/>
              </a:spcAft>
              <a:buNone/>
            </a:pPr>
            <a:r>
              <a:rPr sz="1600" b="0" i="0">
                <a:solidFill>
                  <a:srgbClr val="1C2433"/>
                </a:solidFill>
                <a:latin typeface="Calibri"/>
              </a:rPr>
              <a:t>9  Loading: daily, backfill, restatement</a:t>
            </a:r>
          </a:p>
          <a:p>
            <a:pPr algn="l">
              <a:spcAft>
                <a:spcPts val="900"/>
              </a:spcAft>
              <a:buNone/>
            </a:pPr>
            <a:r>
              <a:rPr sz="1600" b="0" i="0">
                <a:solidFill>
                  <a:srgbClr val="1C2433"/>
                </a:solidFill>
                <a:latin typeface="Calibri"/>
              </a:rPr>
              <a:t>10  S3: safe commits and three simulators</a:t>
            </a:r>
          </a:p>
        </p:txBody>
      </p:sp>
      <p:sp>
        <p:nvSpPr>
          <p:cNvPr id="10" name="TextBox 9"/>
          <p:cNvSpPr txBox="1"/>
          <p:nvPr/>
        </p:nvSpPr>
        <p:spPr>
          <a:xfrm>
            <a:off x="6309360" y="1234440"/>
            <a:ext cx="5577840" cy="5029200"/>
          </a:xfrm>
          <a:prstGeom prst="rect">
            <a:avLst/>
          </a:prstGeom>
          <a:noFill/>
        </p:spPr>
        <p:txBody>
          <a:bodyPr wrap="square" lIns="0" rIns="0" tIns="0" bIns="0" anchor="t">
            <a:spAutoFit/>
          </a:bodyPr>
          <a:lstStyle/>
          <a:p>
            <a:pPr algn="l">
              <a:spcAft>
                <a:spcPts val="900"/>
              </a:spcAft>
              <a:buNone/>
            </a:pPr>
            <a:r>
              <a:rPr sz="1600" b="0" i="0">
                <a:solidFill>
                  <a:srgbClr val="1C2433"/>
                </a:solidFill>
                <a:latin typeface="Calibri"/>
              </a:rPr>
              <a:t>11  Maintenance: retention, 7-year floor, tiers</a:t>
            </a:r>
          </a:p>
          <a:p>
            <a:pPr algn="l">
              <a:spcAft>
                <a:spcPts val="900"/>
              </a:spcAft>
              <a:buNone/>
            </a:pPr>
            <a:r>
              <a:rPr sz="1600" b="0" i="0">
                <a:solidFill>
                  <a:srgbClr val="1C2433"/>
                </a:solidFill>
                <a:latin typeface="Calibri"/>
              </a:rPr>
              <a:t>12  The risk lake: VaR and exposure</a:t>
            </a:r>
          </a:p>
          <a:p>
            <a:pPr algn="l">
              <a:spcAft>
                <a:spcPts val="900"/>
              </a:spcAft>
              <a:buNone/>
            </a:pPr>
            <a:r>
              <a:rPr sz="1600" b="0" i="0">
                <a:solidFill>
                  <a:srgbClr val="1C2433"/>
                </a:solidFill>
                <a:latin typeface="Calibri"/>
              </a:rPr>
              <a:t>13  Bank scale: 2.3M positions, 15k portfolios</a:t>
            </a:r>
          </a:p>
          <a:p>
            <a:pPr algn="l">
              <a:spcAft>
                <a:spcPts val="900"/>
              </a:spcAft>
              <a:buNone/>
            </a:pPr>
            <a:r>
              <a:rPr sz="1600" b="0" i="0">
                <a:solidFill>
                  <a:srgbClr val="1C2433"/>
                </a:solidFill>
                <a:latin typeface="Calibri"/>
              </a:rPr>
              <a:t>14  Caches: EFS or local NVMe</a:t>
            </a:r>
          </a:p>
          <a:p>
            <a:pPr algn="l">
              <a:spcAft>
                <a:spcPts val="900"/>
              </a:spcAft>
              <a:buNone/>
            </a:pPr>
            <a:r>
              <a:rPr sz="1600" b="0" i="0">
                <a:solidFill>
                  <a:srgbClr val="1C2433"/>
                </a:solidFill>
                <a:latin typeface="Calibri"/>
              </a:rPr>
              <a:t>15  Staying fast: history, Drishti*net, alarms</a:t>
            </a:r>
          </a:p>
          <a:p>
            <a:pPr algn="l">
              <a:spcAft>
                <a:spcPts val="900"/>
              </a:spcAft>
              <a:buNone/>
            </a:pPr>
            <a:r>
              <a:rPr sz="1600" b="0" i="0">
                <a:solidFill>
                  <a:srgbClr val="1C2433"/>
                </a:solidFill>
                <a:latin typeface="Calibri"/>
              </a:rPr>
              <a:t>16  The demo lake, public data, DATAMAP</a:t>
            </a:r>
          </a:p>
          <a:p>
            <a:pPr algn="l">
              <a:spcAft>
                <a:spcPts val="900"/>
              </a:spcAft>
              <a:buNone/>
            </a:pPr>
            <a:r>
              <a:rPr sz="1600" b="0" i="0">
                <a:solidFill>
                  <a:srgbClr val="1C2433"/>
                </a:solidFill>
                <a:latin typeface="Calibri"/>
              </a:rPr>
              <a:t>17  Sizing and cost</a:t>
            </a:r>
          </a:p>
          <a:p>
            <a:pPr algn="l">
              <a:spcAft>
                <a:spcPts val="900"/>
              </a:spcAft>
              <a:buNone/>
            </a:pPr>
            <a:r>
              <a:rPr sz="1600" b="0" i="0">
                <a:solidFill>
                  <a:srgbClr val="1C2433"/>
                </a:solidFill>
                <a:latin typeface="Calibri"/>
              </a:rPr>
              <a:t>18  Runbooks</a:t>
            </a:r>
          </a:p>
          <a:p>
            <a:pPr algn="l">
              <a:spcAft>
                <a:spcPts val="900"/>
              </a:spcAft>
              <a:buNone/>
            </a:pPr>
            <a:r>
              <a:rPr sz="1600" b="0" i="0">
                <a:solidFill>
                  <a:srgbClr val="1C2433"/>
                </a:solidFill>
                <a:latin typeface="Calibri"/>
              </a:rPr>
              <a:t>19  The scripts</a:t>
            </a:r>
          </a:p>
          <a:p>
            <a:pPr algn="l">
              <a:spcAft>
                <a:spcPts val="900"/>
              </a:spcAft>
              <a:buNone/>
            </a:pPr>
            <a:r>
              <a:rPr sz="1600" b="0" i="0">
                <a:solidFill>
                  <a:srgbClr val="1C2433"/>
                </a:solidFill>
                <a:latin typeface="Calibri"/>
              </a:rPr>
              <a:t>20  Limits, decisions, related documents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The one rule: the lake lives in Amazon S3</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read this first</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3</a:t>
            </a:r>
          </a:p>
        </p:txBody>
      </p:sp>
      <p:sp>
        <p:nvSpPr>
          <p:cNvPr id="9" name="Callout"/>
          <p:cNvSpPr/>
          <p:nvPr/>
        </p:nvSpPr>
        <p:spPr>
          <a:xfrm>
            <a:off x="411480" y="1188720"/>
            <a:ext cx="11365992" cy="1143000"/>
          </a:xfrm>
          <a:prstGeom prst="roundRect">
            <a:avLst>
              <a:gd name="adj" fmla="val 6000"/>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allout edge"/>
          <p:cNvSpPr/>
          <p:nvPr/>
        </p:nvSpPr>
        <p:spPr>
          <a:xfrm>
            <a:off x="411480" y="1207008"/>
            <a:ext cx="82296" cy="1106424"/>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640080" y="1261872"/>
            <a:ext cx="11000232" cy="996696"/>
          </a:xfrm>
          <a:prstGeom prst="rect">
            <a:avLst/>
          </a:prstGeom>
          <a:noFill/>
        </p:spPr>
        <p:txBody>
          <a:bodyPr wrap="square" lIns="0" rIns="0" tIns="0" bIns="0" anchor="ctr">
            <a:spAutoFit/>
          </a:bodyPr>
          <a:lstStyle/>
          <a:p>
            <a:pPr algn="l">
              <a:spcAft>
                <a:spcPts val="600"/>
              </a:spcAft>
              <a:buNone/>
            </a:pPr>
            <a:r>
              <a:rPr sz="1600" b="1" i="0">
                <a:solidFill>
                  <a:srgbClr val="1C2433"/>
                </a:solidFill>
                <a:latin typeface="Calibri"/>
              </a:rPr>
              <a:t>Every table's Parquet data files AND its _delta_log are in S3. Nothing of the lake is on EFS.</a:t>
            </a:r>
          </a:p>
          <a:p>
            <a:pPr algn="l">
              <a:spcAft>
                <a:spcPts val="600"/>
              </a:spcAft>
              <a:buNone/>
            </a:pPr>
            <a:r>
              <a:rPr sz="1400" b="0" i="0">
                <a:solidFill>
                  <a:srgbClr val="1C2433"/>
                </a:solidFill>
                <a:latin typeface="Calibri"/>
              </a:rPr>
              <a:t>EFS holds only what a node must find again after a restart: configuration, users and tokens, Drishti*net state, the content store's filesystem backend if chosen, and the caches that should be warm after a restart.</a:t>
            </a:r>
          </a:p>
        </p:txBody>
      </p:sp>
      <p:sp>
        <p:nvSpPr>
          <p:cNvPr id="12" name="TextBox 11"/>
          <p:cNvSpPr txBox="1"/>
          <p:nvPr/>
        </p:nvSpPr>
        <p:spPr>
          <a:xfrm>
            <a:off x="411480" y="2560320"/>
            <a:ext cx="11365992" cy="3749039"/>
          </a:xfrm>
          <a:prstGeom prst="rect">
            <a:avLst/>
          </a:prstGeom>
          <a:noFill/>
        </p:spPr>
        <p:txBody>
          <a:bodyPr wrap="square" lIns="0" rIns="0" tIns="0" bIns="0" anchor="t">
            <a:spAutoFit/>
          </a:bodyPr>
          <a:lstStyle/>
          <a:p>
            <a:pPr algn="l" marL="201168" indent="-201168">
              <a:spcAft>
                <a:spcPts val="700"/>
              </a:spcAft>
              <a:buClr>
                <a:srgbClr val="E87A1E"/>
              </a:buClr>
              <a:buSzPct val="100000"/>
              <a:buFont typeface="Arial"/>
              <a:buChar char="•"/>
            </a:pPr>
            <a:r>
              <a:rPr sz="1400" b="1" i="0">
                <a:solidFill>
                  <a:srgbClr val="1C2433"/>
                </a:solidFill>
                <a:latin typeface="Calibri"/>
              </a:rPr>
              <a:t>S3 (the lake):</a:t>
            </a:r>
            <a:r>
              <a:rPr sz="1400" b="0" i="0">
                <a:solidFill>
                  <a:srgbClr val="1C2433"/>
                </a:solidFill>
                <a:latin typeface="Calibri"/>
              </a:rPr>
              <a:t> </a:t>
            </a:r>
            <a:r>
              <a:rPr sz="1300" b="0" i="0">
                <a:solidFill>
                  <a:srgbClr val="0E7C86"/>
                </a:solidFill>
                <a:latin typeface="Consolas"/>
              </a:rPr>
              <a:t>s3://&lt;org&gt;-drishti-&lt;env&gt;-lake/lake/&lt;domain&gt;/&lt;table&gt;/</a:t>
            </a:r>
            <a:r>
              <a:rPr sz="1400" b="0" i="0">
                <a:solidFill>
                  <a:srgbClr val="1C2433"/>
                </a:solidFill>
                <a:latin typeface="Calibri"/>
              </a:rPr>
              <a:t> with </a:t>
            </a:r>
            <a:r>
              <a:rPr sz="1300" b="0" i="0">
                <a:solidFill>
                  <a:srgbClr val="0E7C86"/>
                </a:solidFill>
                <a:latin typeface="Consolas"/>
              </a:rPr>
              <a:t>business_date=…/PRODUCT_TYPE=…/part-….snappy.parquet</a:t>
            </a:r>
            <a:r>
              <a:rPr sz="1400" b="0" i="0">
                <a:solidFill>
                  <a:srgbClr val="1C2433"/>
                </a:solidFill>
                <a:latin typeface="Calibri"/>
              </a:rPr>
              <a:t> and </a:t>
            </a:r>
            <a:r>
              <a:rPr sz="1300" b="0" i="0">
                <a:solidFill>
                  <a:srgbClr val="0E7C86"/>
                </a:solidFill>
                <a:latin typeface="Consolas"/>
              </a:rPr>
              <a:t>_delta_log/</a:t>
            </a:r>
          </a:p>
          <a:p>
            <a:pPr algn="l" marL="201168" indent="-201168">
              <a:spcAft>
                <a:spcPts val="700"/>
              </a:spcAft>
              <a:buClr>
                <a:srgbClr val="E87A1E"/>
              </a:buClr>
              <a:buSzPct val="100000"/>
              <a:buFont typeface="Arial"/>
              <a:buChar char="•"/>
            </a:pPr>
            <a:r>
              <a:rPr sz="1400" b="1" i="0">
                <a:solidFill>
                  <a:srgbClr val="1C2433"/>
                </a:solidFill>
                <a:latin typeface="Calibri"/>
              </a:rPr>
              <a:t>Domains in 2.9.5:</a:t>
            </a:r>
            <a:r>
              <a:rPr sz="1400" b="0" i="0">
                <a:solidFill>
                  <a:srgbClr val="1C2433"/>
                </a:solidFill>
                <a:latin typeface="Calibri"/>
              </a:rPr>
              <a:t> trading, reference, legal, collateral, credit, market, macro, news, civic, </a:t>
            </a:r>
            <a:r>
              <a:rPr sz="1400" b="1" i="0">
                <a:solidFill>
                  <a:srgbClr val="1C2433"/>
                </a:solidFill>
                <a:latin typeface="Calibri"/>
              </a:rPr>
              <a:t>risk</a:t>
            </a:r>
            <a:r>
              <a:rPr sz="1400" b="0" i="0">
                <a:solidFill>
                  <a:srgbClr val="1C2433"/>
                </a:solidFill>
                <a:latin typeface="Calibri"/>
              </a:rPr>
              <a:t> (VaR and exposure inputs), </a:t>
            </a:r>
            <a:r>
              <a:rPr sz="1400" b="1" i="0">
                <a:solidFill>
                  <a:srgbClr val="1C2433"/>
                </a:solidFill>
                <a:latin typeface="Calibri"/>
              </a:rPr>
              <a:t>risk-results</a:t>
            </a:r>
            <a:r>
              <a:rPr sz="1400" b="0" i="0">
                <a:solidFill>
                  <a:srgbClr val="1C2433"/>
                </a:solidFill>
                <a:latin typeface="Calibri"/>
              </a:rPr>
              <a:t> (official results, append-only), us-equities, gleif, funds</a:t>
            </a:r>
          </a:p>
          <a:p>
            <a:pPr algn="l" marL="201168" indent="-201168">
              <a:spcAft>
                <a:spcPts val="700"/>
              </a:spcAft>
              <a:buClr>
                <a:srgbClr val="E87A1E"/>
              </a:buClr>
              <a:buSzPct val="100000"/>
              <a:buFont typeface="Arial"/>
              <a:buChar char="•"/>
            </a:pPr>
            <a:r>
              <a:rPr sz="1400" b="1" i="0">
                <a:solidFill>
                  <a:srgbClr val="1C2433"/>
                </a:solidFill>
                <a:latin typeface="Calibri"/>
              </a:rPr>
              <a:t>S3 (landing):</a:t>
            </a:r>
            <a:r>
              <a:rPr sz="1400" b="0" i="0">
                <a:solidFill>
                  <a:srgbClr val="1C2433"/>
                </a:solidFill>
                <a:latin typeface="Calibri"/>
              </a:rPr>
              <a:t> the sources' dumps as JSON Lines, </a:t>
            </a:r>
            <a:r>
              <a:rPr sz="1300" b="0" i="0">
                <a:solidFill>
                  <a:srgbClr val="0E7C86"/>
                </a:solidFill>
                <a:latin typeface="Consolas"/>
              </a:rPr>
              <a:t>&lt;date&gt;/&lt;source&gt;/*.jsonl.gz</a:t>
            </a:r>
            <a:r>
              <a:rPr sz="1400" b="0" i="0">
                <a:solidFill>
                  <a:srgbClr val="1C2433"/>
                </a:solidFill>
                <a:latin typeface="Calibri"/>
              </a:rPr>
              <a:t>, kept 30 days (</a:t>
            </a:r>
            <a:r>
              <a:rPr sz="1300" b="0" i="0">
                <a:solidFill>
                  <a:srgbClr val="0E7C86"/>
                </a:solidFill>
                <a:latin typeface="Consolas"/>
              </a:rPr>
              <a:t>LANDING_KEEP_DAYS</a:t>
            </a:r>
            <a:r>
              <a:rPr sz="1400" b="0" i="0">
                <a:solidFill>
                  <a:srgbClr val="1C2433"/>
                </a:solidFill>
                <a:latin typeface="Calibri"/>
              </a:rPr>
              <a:t>)</a:t>
            </a:r>
          </a:p>
          <a:p>
            <a:pPr algn="l" marL="201168" indent="-201168">
              <a:spcAft>
                <a:spcPts val="700"/>
              </a:spcAft>
              <a:buClr>
                <a:srgbClr val="E87A1E"/>
              </a:buClr>
              <a:buSzPct val="100000"/>
              <a:buFont typeface="Arial"/>
              <a:buChar char="•"/>
            </a:pPr>
            <a:r>
              <a:rPr sz="1400" b="1" i="0">
                <a:solidFill>
                  <a:srgbClr val="1C2433"/>
                </a:solidFill>
                <a:latin typeface="Calibri"/>
              </a:rPr>
              <a:t>S3 (logs):</a:t>
            </a:r>
            <a:r>
              <a:rPr sz="1400" b="0" i="0">
                <a:solidFill>
                  <a:srgbClr val="1C2433"/>
                </a:solidFill>
                <a:latin typeface="Calibri"/>
              </a:rPr>
              <a:t> access logs, SSE-S3, expire after 400 days</a:t>
            </a:r>
          </a:p>
          <a:p>
            <a:pPr algn="l" marL="201168" indent="-201168">
              <a:spcAft>
                <a:spcPts val="700"/>
              </a:spcAft>
              <a:buClr>
                <a:srgbClr val="E87A1E"/>
              </a:buClr>
              <a:buSzPct val="100000"/>
              <a:buFont typeface="Arial"/>
              <a:buChar char="•"/>
            </a:pPr>
            <a:r>
              <a:rPr sz="1400" b="1" i="0">
                <a:solidFill>
                  <a:srgbClr val="1C2433"/>
                </a:solidFill>
                <a:latin typeface="Calibri"/>
              </a:rPr>
              <a:t>EFS (state):</a:t>
            </a:r>
            <a:r>
              <a:rPr sz="1400" b="0" i="0">
                <a:solidFill>
                  <a:srgbClr val="1C2433"/>
                </a:solidFill>
                <a:latin typeface="Calibri"/>
              </a:rPr>
              <a:t> </a:t>
            </a:r>
            <a:r>
              <a:rPr sz="1300" b="0" i="0">
                <a:solidFill>
                  <a:srgbClr val="0E7C86"/>
                </a:solidFill>
                <a:latin typeface="Consolas"/>
              </a:rPr>
              <a:t>/drishti/&lt;env&gt;/&lt;node&gt;/opt/drishti/{data,config,sutras}</a:t>
            </a:r>
            <a:r>
              <a:rPr sz="1400" b="0" i="0">
                <a:solidFill>
                  <a:srgbClr val="1C2433"/>
                </a:solidFill>
                <a:latin typeface="Calibri"/>
              </a:rPr>
              <a:t>, one access point per node per path, identical path inside the container</a:t>
            </a:r>
          </a:p>
          <a:p>
            <a:pPr algn="l" marL="201168" indent="-201168">
              <a:spcAft>
                <a:spcPts val="700"/>
              </a:spcAft>
              <a:buClr>
                <a:srgbClr val="E87A1E"/>
              </a:buClr>
              <a:buSzPct val="100000"/>
              <a:buFont typeface="Arial"/>
              <a:buChar char="•"/>
            </a:pPr>
            <a:r>
              <a:rPr sz="1400" b="1" i="0">
                <a:solidFill>
                  <a:srgbClr val="1C2433"/>
                </a:solidFill>
                <a:latin typeface="Calibri"/>
              </a:rPr>
              <a:t>EFS (loader scratch):</a:t>
            </a:r>
            <a:r>
              <a:rPr sz="1400" b="0" i="0">
                <a:solidFill>
                  <a:srgbClr val="1C2433"/>
                </a:solidFill>
                <a:latin typeface="Calibri"/>
              </a:rPr>
              <a:t> one day of one table for the minutes of a load, then removed; the per-table lock files</a:t>
            </a:r>
          </a:p>
          <a:p>
            <a:pPr algn="l" marL="201168" indent="-201168">
              <a:spcAft>
                <a:spcPts val="700"/>
              </a:spcAft>
              <a:buClr>
                <a:srgbClr val="E87A1E"/>
              </a:buClr>
              <a:buSzPct val="100000"/>
              <a:buFont typeface="Arial"/>
              <a:buChar char="•"/>
            </a:pPr>
            <a:r>
              <a:rPr sz="1400" b="1" i="0">
                <a:solidFill>
                  <a:srgbClr val="1C2433"/>
                </a:solidFill>
                <a:latin typeface="Calibri"/>
              </a:rPr>
              <a:t>Never on EFS:</a:t>
            </a:r>
            <a:r>
              <a:rPr sz="1400" b="0" i="0">
                <a:solidFill>
                  <a:srgbClr val="1C2433"/>
                </a:solidFill>
                <a:latin typeface="Calibri"/>
              </a:rPr>
              <a:t> lake data, </a:t>
            </a:r>
            <a:r>
              <a:rPr sz="1300" b="0" i="0">
                <a:solidFill>
                  <a:srgbClr val="0E7C86"/>
                </a:solidFill>
                <a:latin typeface="Consolas"/>
              </a:rPr>
              <a:t>_delta_log</a:t>
            </a:r>
            <a:r>
              <a:rPr sz="1400" b="0" i="0">
                <a:solidFill>
                  <a:srgbClr val="1C2433"/>
                </a:solidFill>
                <a:latin typeface="Calibri"/>
              </a:rPr>
              <a:t> (EFS is a staging place only: the loader's scratch, the Kafka stream's windows)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What changed for Delta and AWS since 2.6.0</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new in this edition</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4</a:t>
            </a:r>
          </a:p>
        </p:txBody>
      </p:sp>
      <p:graphicFrame>
        <p:nvGraphicFramePr>
          <p:cNvPr id="9" name="Table"/>
          <p:cNvGraphicFramePr>
            <a:graphicFrameLocks noGrp="1"/>
          </p:cNvGraphicFramePr>
          <p:nvPr/>
        </p:nvGraphicFramePr>
        <p:xfrm>
          <a:off x="411480" y="1188720"/>
          <a:ext cx="11365990" cy="4608576"/>
        </p:xfrm>
        <a:graphic>
          <a:graphicData uri="http://schemas.openxmlformats.org/drawingml/2006/table">
            <a:tbl>
              <a:tblPr firstRow="0" bandRow="0">
                <a:tableStyleId>{5940675A-B579-460E-94D1-54222C63F5DA}</a:tableStyleId>
              </a:tblPr>
              <a:tblGrid>
                <a:gridCol w="1099934"/>
                <a:gridCol w="8799477"/>
                <a:gridCol w="1466579"/>
              </a:tblGrid>
              <a:tr h="512064">
                <a:tc>
                  <a:txBody>
                    <a:bodyPr wrap="square"/>
                    <a:lstStyle/>
                    <a:p>
                      <a:r>
                        <a:rPr sz="1200" b="1" i="0">
                          <a:solidFill>
                            <a:srgbClr val="FFFFFF"/>
                          </a:solidFill>
                          <a:latin typeface="Calibri"/>
                        </a:rPr>
                        <a:t>Release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What changed for the lake and AWS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Slides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512064">
                <a:tc>
                  <a:txBody>
                    <a:bodyPr wrap="square"/>
                    <a:lstStyle/>
                    <a:p>
                      <a:r>
                        <a:rPr sz="1200" b="1" i="0">
                          <a:solidFill>
                            <a:srgbClr val="1C2433"/>
                          </a:solidFill>
                          <a:latin typeface="Calibri"/>
                        </a:rPr>
                        <a:t>2.6.5</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History queries over the lake: </a:t>
                      </a:r>
                      <a:r>
                        <a:rPr sz="1100" b="0" i="0">
                          <a:solidFill>
                            <a:srgbClr val="0E7C86"/>
                          </a:solidFill>
                          <a:latin typeface="Consolas"/>
                        </a:rPr>
                        <a:t>TRD &lt;id&gt; 30</a:t>
                      </a:r>
                      <a:r>
                        <a:rPr sz="1200" b="0" i="0">
                          <a:solidFill>
                            <a:srgbClr val="1C2433"/>
                          </a:solidFill>
                          <a:latin typeface="Calibri"/>
                        </a:rPr>
                        <a:t>; the Delta fast path lists an entity's days from partitions and id maps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79</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12064">
                <a:tc>
                  <a:txBody>
                    <a:bodyPr wrap="square"/>
                    <a:lstStyle/>
                    <a:p>
                      <a:r>
                        <a:rPr sz="1200" b="1" i="0">
                          <a:solidFill>
                            <a:srgbClr val="1C2433"/>
                          </a:solidFill>
                          <a:latin typeface="Calibri"/>
                        </a:rPr>
                        <a:t>2.6.7</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Delta and Iceberg side by side (</a:t>
                      </a:r>
                      <a:r>
                        <a:rPr sz="1100" b="0" i="0">
                          <a:solidFill>
                            <a:srgbClr val="0E7C86"/>
                          </a:solidFill>
                          <a:latin typeface="Consolas"/>
                        </a:rPr>
                        <a:t>--store calypso=iceberg</a:t>
                      </a:r>
                      <a:r>
                        <a:rPr sz="1200" b="0" i="0">
                          <a:solidFill>
                            <a:srgbClr val="1C2433"/>
                          </a:solidFill>
                          <a:latin typeface="Calibri"/>
                        </a:rPr>
                        <a:t>); Drishti*net gossip on its own port and HTTP/2 between nodes; </a:t>
                      </a:r>
                      <a:r>
                        <a:rPr sz="1100" b="0" i="0">
                          <a:solidFill>
                            <a:srgbClr val="0E7C86"/>
                          </a:solidFill>
                          <a:latin typeface="Consolas"/>
                        </a:rPr>
                        <a:t>lake maintain</a:t>
                      </a:r>
                      <a:r>
                        <a:rPr sz="1200" b="0" i="0">
                          <a:solidFill>
                            <a:srgbClr val="1C2433"/>
                          </a:solidFill>
                          <a:latin typeface="Calibri"/>
                        </a:rPr>
                        <a:t> lays out the per-source trade tables; </a:t>
                      </a:r>
                      <a:r>
                        <a:rPr sz="1100" b="0" i="0">
                          <a:solidFill>
                            <a:srgbClr val="0E7C86"/>
                          </a:solidFill>
                          <a:latin typeface="Consolas"/>
                        </a:rPr>
                        <a:t>lake build</a:t>
                      </a:r>
                      <a:r>
                        <a:rPr sz="1200" b="0" i="0">
                          <a:solidFill>
                            <a:srgbClr val="1C2433"/>
                          </a:solidFill>
                          <a:latin typeface="Calibri"/>
                        </a:rPr>
                        <a:t> one commit per business date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9, 28, 59</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12064">
                <a:tc>
                  <a:txBody>
                    <a:bodyPr wrap="square"/>
                    <a:lstStyle/>
                    <a:p>
                      <a:r>
                        <a:rPr sz="1200" b="1" i="0">
                          <a:solidFill>
                            <a:srgbClr val="1C2433"/>
                          </a:solidFill>
                          <a:latin typeface="Calibri"/>
                        </a:rPr>
                        <a:t>2.7.0</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The content store (filesystem, sqlite, postgres, </a:t>
                      </a:r>
                      <a:r>
                        <a:rPr sz="1200" b="1" i="0">
                          <a:solidFill>
                            <a:srgbClr val="1C2433"/>
                          </a:solidFill>
                          <a:latin typeface="Calibri"/>
                        </a:rPr>
                        <a:t>s3</a:t>
                      </a:r>
                      <a:r>
                        <a:rPr sz="1200" b="0" i="0">
                          <a:solidFill>
                            <a:srgbClr val="1C2433"/>
                          </a:solidFill>
                          <a:latin typeface="Calibri"/>
                        </a:rPr>
                        <a:t> with conditional PUT); S3 tested on S3Mock, moto and MinIO; </a:t>
                      </a:r>
                      <a:r>
                        <a:rPr sz="1100" b="0" i="0">
                          <a:solidFill>
                            <a:srgbClr val="0E7C86"/>
                          </a:solidFill>
                          <a:latin typeface="Consolas"/>
                        </a:rPr>
                        <a:t>lake publish</a:t>
                      </a:r>
                      <a:r>
                        <a:rPr sz="1200" b="0" i="0">
                          <a:solidFill>
                            <a:srgbClr val="1C2433"/>
                          </a:solidFill>
                          <a:latin typeface="Calibri"/>
                        </a:rPr>
                        <a:t> checks the store it commits to; us-equities and gleif served from Delta</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54, 55, 86</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12064">
                <a:tc>
                  <a:txBody>
                    <a:bodyPr wrap="square"/>
                    <a:lstStyle/>
                    <a:p>
                      <a:r>
                        <a:rPr sz="1200" b="1" i="0">
                          <a:solidFill>
                            <a:srgbClr val="1C2433"/>
                          </a:solidFill>
                          <a:latin typeface="Calibri"/>
                        </a:rPr>
                        <a:t>2.8.0</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VaR computed for any scope from P&amp;L vectors in Delta (</a:t>
                      </a:r>
                      <a:r>
                        <a:rPr sz="1100" b="0" i="0">
                          <a:solidFill>
                            <a:srgbClr val="0E7C86"/>
                          </a:solidFill>
                          <a:latin typeface="Consolas"/>
                        </a:rPr>
                        <a:t>list&lt;double&gt;</a:t>
                      </a:r>
                      <a:r>
                        <a:rPr sz="1200" b="0" i="0">
                          <a:solidFill>
                            <a:srgbClr val="1C2433"/>
                          </a:solidFill>
                          <a:latin typeface="Calibri"/>
                        </a:rPr>
                        <a:t> columns); risk lake kept 7 years; official VaR published append-only to </a:t>
                      </a:r>
                      <a:r>
                        <a:rPr sz="1100" b="0" i="0">
                          <a:solidFill>
                            <a:srgbClr val="0E7C86"/>
                          </a:solidFill>
                          <a:latin typeface="Consolas"/>
                        </a:rPr>
                        <a:t>risk-results/var-official</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63, 64, 66</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12064">
                <a:tc>
                  <a:txBody>
                    <a:bodyPr wrap="square"/>
                    <a:lstStyle/>
                    <a:p>
                      <a:r>
                        <a:rPr sz="1200" b="1" i="0">
                          <a:solidFill>
                            <a:srgbClr val="1C2433"/>
                          </a:solidFill>
                          <a:latin typeface="Calibri"/>
                        </a:rPr>
                        <a:t>2.9.0</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Exposure computed for any scope from </a:t>
                      </a:r>
                      <a:r>
                        <a:rPr sz="1100" b="0" i="0">
                          <a:solidFill>
                            <a:srgbClr val="0E7C86"/>
                          </a:solidFill>
                          <a:latin typeface="Consolas"/>
                        </a:rPr>
                        <a:t>exposure-path</a:t>
                      </a:r>
                      <a:r>
                        <a:rPr sz="1200" b="0" i="0">
                          <a:solidFill>
                            <a:srgbClr val="1C2433"/>
                          </a:solidFill>
                          <a:latin typeface="Calibri"/>
                        </a:rPr>
                        <a:t> vectors; official exposure published; VaR and exposure in BI read the published results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68</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12064">
                <a:tc>
                  <a:txBody>
                    <a:bodyPr wrap="square"/>
                    <a:lstStyle/>
                    <a:p>
                      <a:r>
                        <a:rPr sz="1200" b="1" i="0">
                          <a:solidFill>
                            <a:srgbClr val="1C2433"/>
                          </a:solidFill>
                          <a:latin typeface="Calibri"/>
                        </a:rPr>
                        <a:t>2.9.2–2.9.3</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The funds pack (SEC public data, on Delta); DATAMAP: every kind, count and join checked against the lake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86, 87</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12064">
                <a:tc>
                  <a:txBody>
                    <a:bodyPr wrap="square"/>
                    <a:lstStyle/>
                    <a:p>
                      <a:r>
                        <a:rPr sz="1200" b="1" i="0">
                          <a:solidFill>
                            <a:srgbClr val="1C2433"/>
                          </a:solidFill>
                          <a:latin typeface="Calibri"/>
                        </a:rPr>
                        <a:t>2.9.4</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JSON Lines is the data standard (generate, then load); CSV input deprecated; official results also as JSONL beside Delta; scenario PVs, intraday batches and Kafka micro-batches appended to the lake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45, 65</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12064">
                <a:tc>
                  <a:txBody>
                    <a:bodyPr wrap="square"/>
                    <a:lstStyle/>
                    <a:p>
                      <a:r>
                        <a:rPr sz="1200" b="1" i="0">
                          <a:solidFill>
                            <a:srgbClr val="1C2433"/>
                          </a:solidFill>
                          <a:latin typeface="Calibri"/>
                        </a:rPr>
                        <a:t>2.9.5</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Official results written to </a:t>
                      </a:r>
                      <a:r>
                        <a:rPr sz="1100" b="0" i="0">
                          <a:solidFill>
                            <a:srgbClr val="0E7C86"/>
                          </a:solidFill>
                          <a:latin typeface="Consolas"/>
                        </a:rPr>
                        <a:t>s3://</a:t>
                      </a:r>
                      <a:r>
                        <a:rPr sz="1200" b="0" i="0">
                          <a:solidFill>
                            <a:srgbClr val="1C2433"/>
                          </a:solidFill>
                          <a:latin typeface="Calibri"/>
                        </a:rPr>
                        <a:t> (Delta default, or Iceberg); Iceberg a full alternative for VaR and exposure inputs; airtight connector upgrades; hierarchies by columns, </a:t>
                      </a:r>
                      <a:r>
                        <a:rPr sz="1100" b="0" i="0">
                          <a:solidFill>
                            <a:srgbClr val="0E7C86"/>
                          </a:solidFill>
                          <a:latin typeface="Consolas"/>
                        </a:rPr>
                        <a:t>var-limit</a:t>
                      </a:r>
                      <a:r>
                        <a:rPr sz="1200" b="0" i="0">
                          <a:solidFill>
                            <a:srgbClr val="1C2433"/>
                          </a:solidFill>
                          <a:latin typeface="Calibri"/>
                        </a:rPr>
                        <a:t>; the demo lake has 85 tables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10, 66, 97, 85</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Status: what exists today, and how it was tested</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read this first</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5</a:t>
            </a:r>
          </a:p>
        </p:txBody>
      </p:sp>
      <p:sp>
        <p:nvSpPr>
          <p:cNvPr id="9" name="Status BUILT"/>
          <p:cNvSpPr/>
          <p:nvPr/>
        </p:nvSpPr>
        <p:spPr>
          <a:xfrm>
            <a:off x="411480" y="1197864"/>
            <a:ext cx="1234440" cy="292608"/>
          </a:xfrm>
          <a:prstGeom prst="roundRect">
            <a:avLst>
              <a:gd name="adj" fmla="val 50000"/>
            </a:avLst>
          </a:prstGeom>
          <a:solidFill>
            <a:srgbClr val="0E7C86"/>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100" b="1" i="0">
                <a:solidFill>
                  <a:srgbClr val="FFFFFF"/>
                </a:solidFill>
                <a:latin typeface="Calibri"/>
              </a:rPr>
              <a:t>BUILT</a:t>
            </a:r>
          </a:p>
        </p:txBody>
      </p:sp>
      <p:sp>
        <p:nvSpPr>
          <p:cNvPr id="10" name="TextBox 9"/>
          <p:cNvSpPr txBox="1"/>
          <p:nvPr/>
        </p:nvSpPr>
        <p:spPr>
          <a:xfrm>
            <a:off x="1874520" y="1143000"/>
            <a:ext cx="9875520" cy="457200"/>
          </a:xfrm>
          <a:prstGeom prst="rect">
            <a:avLst/>
          </a:prstGeom>
          <a:noFill/>
        </p:spPr>
        <p:txBody>
          <a:bodyPr wrap="square" lIns="0" rIns="0" tIns="0" bIns="0" anchor="ctr">
            <a:spAutoFit/>
          </a:bodyPr>
          <a:lstStyle/>
          <a:p>
            <a:pPr algn="l">
              <a:spcAft>
                <a:spcPts val="600"/>
              </a:spcAft>
              <a:buNone/>
            </a:pPr>
            <a:r>
              <a:rPr sz="1300" b="0" i="0">
                <a:solidFill>
                  <a:srgbClr val="1C2433"/>
                </a:solidFill>
                <a:latin typeface="Calibri"/>
              </a:rPr>
              <a:t>In the code and tested; shipped in a release up to 2.9.5. Everything on the AWS lake, the risk lake, JSON Lines, the S3 work, official results to S3, Iceberg as an alternative and Drishti*net in this deck is built.</a:t>
            </a:r>
          </a:p>
        </p:txBody>
      </p:sp>
      <p:sp>
        <p:nvSpPr>
          <p:cNvPr id="11" name="Status DESIGNED"/>
          <p:cNvSpPr/>
          <p:nvPr/>
        </p:nvSpPr>
        <p:spPr>
          <a:xfrm>
            <a:off x="411480" y="1709928"/>
            <a:ext cx="1234440" cy="292608"/>
          </a:xfrm>
          <a:prstGeom prst="roundRect">
            <a:avLst>
              <a:gd name="adj" fmla="val 50000"/>
            </a:avLst>
          </a:prstGeom>
          <a:solidFill>
            <a:srgbClr val="FFFFFF"/>
          </a:solidFill>
          <a:ln w="15875">
            <a:solidFill>
              <a:srgbClr val="0B1E3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100" b="1" i="0">
                <a:solidFill>
                  <a:srgbClr val="0B1E3B"/>
                </a:solidFill>
                <a:latin typeface="Calibri"/>
              </a:rPr>
              <a:t>DESIGNED</a:t>
            </a:r>
          </a:p>
        </p:txBody>
      </p:sp>
      <p:sp>
        <p:nvSpPr>
          <p:cNvPr id="12" name="TextBox 11"/>
          <p:cNvSpPr txBox="1"/>
          <p:nvPr/>
        </p:nvSpPr>
        <p:spPr>
          <a:xfrm>
            <a:off x="1874520" y="1655064"/>
            <a:ext cx="9875520" cy="457200"/>
          </a:xfrm>
          <a:prstGeom prst="rect">
            <a:avLst/>
          </a:prstGeom>
          <a:noFill/>
        </p:spPr>
        <p:txBody>
          <a:bodyPr wrap="square" lIns="0" rIns="0" tIns="0" bIns="0" anchor="ctr">
            <a:spAutoFit/>
          </a:bodyPr>
          <a:lstStyle/>
          <a:p>
            <a:pPr algn="l">
              <a:spcAft>
                <a:spcPts val="600"/>
              </a:spcAft>
              <a:buNone/>
            </a:pPr>
            <a:r>
              <a:rPr sz="1300" b="0" i="0">
                <a:solidFill>
                  <a:srgbClr val="1C2433"/>
                </a:solidFill>
                <a:latin typeface="Calibri"/>
              </a:rPr>
              <a:t>Cluster scale-out and sharding only: the super-scale design (SUPER_SCALE S1–S8) and VaR sharding across Drishti servers (planned for 2.9.6).</a:t>
            </a:r>
          </a:p>
        </p:txBody>
      </p:sp>
      <p:sp>
        <p:nvSpPr>
          <p:cNvPr id="13" name="Status 2.9.6"/>
          <p:cNvSpPr/>
          <p:nvPr/>
        </p:nvSpPr>
        <p:spPr>
          <a:xfrm>
            <a:off x="411480" y="2221992"/>
            <a:ext cx="1234440" cy="292608"/>
          </a:xfrm>
          <a:prstGeom prst="roundRect">
            <a:avLst>
              <a:gd name="adj" fmla="val 50000"/>
            </a:avLst>
          </a:prstGeom>
          <a:solidFill>
            <a:srgbClr val="FFFFFF"/>
          </a:solidFill>
          <a:ln w="15875">
            <a:solidFill>
              <a:srgbClr val="0E7C8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100" b="1" i="0">
                <a:solidFill>
                  <a:srgbClr val="0E7C86"/>
                </a:solidFill>
                <a:latin typeface="Calibri"/>
              </a:rPr>
              <a:t>2.9.6</a:t>
            </a:r>
          </a:p>
        </p:txBody>
      </p:sp>
      <p:sp>
        <p:nvSpPr>
          <p:cNvPr id="14" name="TextBox 13"/>
          <p:cNvSpPr txBox="1"/>
          <p:nvPr/>
        </p:nvSpPr>
        <p:spPr>
          <a:xfrm>
            <a:off x="1874520" y="2167128"/>
            <a:ext cx="9875520" cy="457200"/>
          </a:xfrm>
          <a:prstGeom prst="rect">
            <a:avLst/>
          </a:prstGeom>
          <a:noFill/>
        </p:spPr>
        <p:txBody>
          <a:bodyPr wrap="square" lIns="0" rIns="0" tIns="0" bIns="0" anchor="ctr">
            <a:spAutoFit/>
          </a:bodyPr>
          <a:lstStyle/>
          <a:p>
            <a:pPr algn="l">
              <a:spcAft>
                <a:spcPts val="600"/>
              </a:spcAft>
              <a:buNone/>
            </a:pPr>
            <a:r>
              <a:rPr sz="1300" b="0" i="0">
                <a:solidFill>
                  <a:srgbClr val="1C2433"/>
                </a:solidFill>
                <a:latin typeface="Calibri"/>
              </a:rPr>
              <a:t>Ships in 2.9.6: Delta in-place schema evolution, Delta↔Iceberg conversion, the 2.3M benchmark, the Glue and S3 Tables runs, sharding, 10-day and stressed VaR.</a:t>
            </a:r>
          </a:p>
        </p:txBody>
      </p:sp>
      <p:sp>
        <p:nvSpPr>
          <p:cNvPr id="15" name="Status PROPOSED"/>
          <p:cNvSpPr/>
          <p:nvPr/>
        </p:nvSpPr>
        <p:spPr>
          <a:xfrm>
            <a:off x="411480" y="2734056"/>
            <a:ext cx="1234440" cy="292608"/>
          </a:xfrm>
          <a:prstGeom prst="roundRect">
            <a:avLst>
              <a:gd name="adj" fmla="val 50000"/>
            </a:avLst>
          </a:prstGeom>
          <a:solidFill>
            <a:srgbClr val="FFFFFF"/>
          </a:solidFill>
          <a:ln w="15875">
            <a:solidFill>
              <a:srgbClr val="E87A1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100" b="1" i="0">
                <a:solidFill>
                  <a:srgbClr val="E87A1E"/>
                </a:solidFill>
                <a:latin typeface="Calibri"/>
              </a:rPr>
              <a:t>PROPOSED</a:t>
            </a:r>
          </a:p>
        </p:txBody>
      </p:sp>
      <p:sp>
        <p:nvSpPr>
          <p:cNvPr id="16" name="TextBox 15"/>
          <p:cNvSpPr txBox="1"/>
          <p:nvPr/>
        </p:nvSpPr>
        <p:spPr>
          <a:xfrm>
            <a:off x="1874520" y="2679192"/>
            <a:ext cx="9875520" cy="457200"/>
          </a:xfrm>
          <a:prstGeom prst="rect">
            <a:avLst/>
          </a:prstGeom>
          <a:noFill/>
        </p:spPr>
        <p:txBody>
          <a:bodyPr wrap="square" lIns="0" rIns="0" tIns="0" bIns="0" anchor="ctr">
            <a:spAutoFit/>
          </a:bodyPr>
          <a:lstStyle/>
          <a:p>
            <a:pPr algn="l">
              <a:spcAft>
                <a:spcPts val="600"/>
              </a:spcAft>
              <a:buNone/>
            </a:pPr>
            <a:r>
              <a:rPr sz="1300" b="0" i="0">
                <a:solidFill>
                  <a:srgbClr val="1C2433"/>
                </a:solidFill>
                <a:latin typeface="Calibri"/>
              </a:rPr>
              <a:t>This deck's recommendation, not yet in the docs (each one is marked where it appears).</a:t>
            </a:r>
          </a:p>
        </p:txBody>
      </p:sp>
      <p:sp>
        <p:nvSpPr>
          <p:cNvPr id="17" name="Status MEASURED"/>
          <p:cNvSpPr/>
          <p:nvPr/>
        </p:nvSpPr>
        <p:spPr>
          <a:xfrm>
            <a:off x="411480" y="3246120"/>
            <a:ext cx="1234440" cy="292608"/>
          </a:xfrm>
          <a:prstGeom prst="roundRect">
            <a:avLst>
              <a:gd name="adj" fmla="val 50000"/>
            </a:avLst>
          </a:prstGeom>
          <a:solidFill>
            <a:srgbClr val="0B1E3B"/>
          </a:solidFill>
          <a:ln w="15875">
            <a:solidFill>
              <a:srgbClr val="0B1E3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100" b="1" i="0">
                <a:solidFill>
                  <a:srgbClr val="FFFFFF"/>
                </a:solidFill>
                <a:latin typeface="Calibri"/>
              </a:rPr>
              <a:t>MEASURED</a:t>
            </a:r>
          </a:p>
        </p:txBody>
      </p:sp>
      <p:sp>
        <p:nvSpPr>
          <p:cNvPr id="18" name="TextBox 17"/>
          <p:cNvSpPr txBox="1"/>
          <p:nvPr/>
        </p:nvSpPr>
        <p:spPr>
          <a:xfrm>
            <a:off x="1874520" y="3191256"/>
            <a:ext cx="9875520" cy="457200"/>
          </a:xfrm>
          <a:prstGeom prst="rect">
            <a:avLst/>
          </a:prstGeom>
          <a:noFill/>
        </p:spPr>
        <p:txBody>
          <a:bodyPr wrap="square" lIns="0" rIns="0" tIns="0" bIns="0" anchor="ctr">
            <a:spAutoFit/>
          </a:bodyPr>
          <a:lstStyle/>
          <a:p>
            <a:pPr algn="l">
              <a:spcAft>
                <a:spcPts val="600"/>
              </a:spcAft>
              <a:buNone/>
            </a:pPr>
            <a:r>
              <a:rPr sz="1300" b="0" i="0">
                <a:solidFill>
                  <a:srgbClr val="1C2433"/>
                </a:solidFill>
                <a:latin typeface="Calibri"/>
              </a:rPr>
              <a:t>A number measured on Drishti (the doc names the test or benchmark).</a:t>
            </a:r>
          </a:p>
        </p:txBody>
      </p:sp>
      <p:sp>
        <p:nvSpPr>
          <p:cNvPr id="19" name="Status ESTIMATED"/>
          <p:cNvSpPr/>
          <p:nvPr/>
        </p:nvSpPr>
        <p:spPr>
          <a:xfrm>
            <a:off x="411480" y="3758184"/>
            <a:ext cx="1234440" cy="292608"/>
          </a:xfrm>
          <a:prstGeom prst="roundRect">
            <a:avLst>
              <a:gd name="adj" fmla="val 50000"/>
            </a:avLst>
          </a:prstGeom>
          <a:solidFill>
            <a:srgbClr val="FFFFFF"/>
          </a:solidFill>
          <a:ln w="15875">
            <a:solidFill>
              <a:srgbClr val="5B677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100" b="1" i="0">
                <a:solidFill>
                  <a:srgbClr val="5B677A"/>
                </a:solidFill>
                <a:latin typeface="Calibri"/>
              </a:rPr>
              <a:t>ESTIMATED</a:t>
            </a:r>
          </a:p>
        </p:txBody>
      </p:sp>
      <p:sp>
        <p:nvSpPr>
          <p:cNvPr id="20" name="TextBox 19"/>
          <p:cNvSpPr txBox="1"/>
          <p:nvPr/>
        </p:nvSpPr>
        <p:spPr>
          <a:xfrm>
            <a:off x="1874520" y="3703320"/>
            <a:ext cx="9875520" cy="457200"/>
          </a:xfrm>
          <a:prstGeom prst="rect">
            <a:avLst/>
          </a:prstGeom>
          <a:noFill/>
        </p:spPr>
        <p:txBody>
          <a:bodyPr wrap="square" lIns="0" rIns="0" tIns="0" bIns="0" anchor="ctr">
            <a:spAutoFit/>
          </a:bodyPr>
          <a:lstStyle/>
          <a:p>
            <a:pPr algn="l">
              <a:spcAft>
                <a:spcPts val="600"/>
              </a:spcAft>
              <a:buNone/>
            </a:pPr>
            <a:r>
              <a:rPr sz="1300" b="0" i="0">
                <a:solidFill>
                  <a:srgbClr val="1C2433"/>
                </a:solidFill>
                <a:latin typeface="Calibri"/>
              </a:rPr>
              <a:t>A number from arithmetic or a linear extrapolation of measured points; to be replaced by measurement.</a:t>
            </a:r>
          </a:p>
        </p:txBody>
      </p:sp>
      <p:sp>
        <p:nvSpPr>
          <p:cNvPr id="21" name="Callout"/>
          <p:cNvSpPr/>
          <p:nvPr/>
        </p:nvSpPr>
        <p:spPr>
          <a:xfrm>
            <a:off x="411480" y="4297680"/>
            <a:ext cx="11365992" cy="2011680"/>
          </a:xfrm>
          <a:prstGeom prst="roundRect">
            <a:avLst>
              <a:gd name="adj" fmla="val 6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Callout edge"/>
          <p:cNvSpPr/>
          <p:nvPr/>
        </p:nvSpPr>
        <p:spPr>
          <a:xfrm>
            <a:off x="411480" y="4315968"/>
            <a:ext cx="82296" cy="197510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xtBox 22"/>
          <p:cNvSpPr txBox="1"/>
          <p:nvPr/>
        </p:nvSpPr>
        <p:spPr>
          <a:xfrm>
            <a:off x="640080" y="4370832"/>
            <a:ext cx="11000232" cy="1865376"/>
          </a:xfrm>
          <a:prstGeom prst="rect">
            <a:avLst/>
          </a:prstGeom>
          <a:noFill/>
        </p:spPr>
        <p:txBody>
          <a:bodyPr wrap="square" lIns="0" rIns="0" tIns="0" bIns="0" anchor="ctr">
            <a:spAutoFit/>
          </a:bodyPr>
          <a:lstStyle/>
          <a:p>
            <a:pPr algn="l">
              <a:spcAft>
                <a:spcPts val="600"/>
              </a:spcAft>
              <a:buNone/>
            </a:pPr>
            <a:r>
              <a:rPr sz="1400" b="1" i="0">
                <a:solidFill>
                  <a:srgbClr val="1C2433"/>
                </a:solidFill>
                <a:latin typeface="Calibri"/>
              </a:rPr>
              <a:t>How it was tested</a:t>
            </a:r>
          </a:p>
          <a:p>
            <a:pPr algn="l">
              <a:spcAft>
                <a:spcPts val="600"/>
              </a:spcAft>
              <a:buNone/>
            </a:pPr>
            <a:r>
              <a:rPr sz="1200" b="0" i="0">
                <a:solidFill>
                  <a:srgbClr val="1C2433"/>
                </a:solidFill>
                <a:latin typeface="Calibri"/>
              </a:rPr>
              <a:t>Every AWS script, Delta and Iceberg, with --help and --dry-run (</a:t>
            </a:r>
            <a:r>
              <a:rPr sz="1100" b="0" i="0">
                <a:solidFill>
                  <a:srgbClr val="0E7C86"/>
                </a:solidFill>
                <a:latin typeface="Consolas"/>
              </a:rPr>
              <a:t>tools/test_deploy_aws.py</a:t>
            </a:r>
            <a:r>
              <a:rPr sz="1200" b="0" i="0">
                <a:solidFill>
                  <a:srgbClr val="1C2433"/>
                </a:solidFill>
                <a:latin typeface="Calibri"/>
              </a:rPr>
              <a:t>, an aws that fails if called). Delta on S3 and </a:t>
            </a:r>
            <a:r>
              <a:rPr sz="1100" b="0" i="0">
                <a:solidFill>
                  <a:srgbClr val="0E7C86"/>
                </a:solidFill>
                <a:latin typeface="Consolas"/>
              </a:rPr>
              <a:t>lake publish</a:t>
            </a:r>
            <a:r>
              <a:rPr sz="1200" b="0" i="0">
                <a:solidFill>
                  <a:srgbClr val="1C2433"/>
                </a:solidFill>
                <a:latin typeface="Calibri"/>
              </a:rPr>
              <a:t> on moto, three publishes at once; official results to S3 on S3Mock in both formats (</a:t>
            </a:r>
            <a:r>
              <a:rPr sz="1100" b="0" i="0">
                <a:solidFill>
                  <a:srgbClr val="0E7C86"/>
                </a:solidFill>
                <a:latin typeface="Consolas"/>
              </a:rPr>
              <a:t>OfficialS3Test</a:t>
            </a:r>
            <a:r>
              <a:rPr sz="1200" b="0" i="0">
                <a:solidFill>
                  <a:srgbClr val="1C2433"/>
                </a:solidFill>
                <a:latin typeface="Calibri"/>
              </a:rPr>
              <a:t>); VaR and exposure equal on Delta and Iceberg to the cent (</a:t>
            </a:r>
            <a:r>
              <a:rPr sz="1100" b="0" i="0">
                <a:solidFill>
                  <a:srgbClr val="0E7C86"/>
                </a:solidFill>
                <a:latin typeface="Consolas"/>
              </a:rPr>
              <a:t>VarFormatEqualityTest</a:t>
            </a:r>
            <a:r>
              <a:rPr sz="1200" b="0" i="0">
                <a:solidFill>
                  <a:srgbClr val="1C2433"/>
                </a:solidFill>
                <a:latin typeface="Calibri"/>
              </a:rPr>
              <a:t>, </a:t>
            </a:r>
            <a:r>
              <a:rPr sz="1100" b="0" i="0">
                <a:solidFill>
                  <a:srgbClr val="0E7C86"/>
                </a:solidFill>
                <a:latin typeface="Consolas"/>
              </a:rPr>
              <a:t>ExposureFormatEqualityTest</a:t>
            </a:r>
            <a:r>
              <a:rPr sz="1200" b="0" i="0">
                <a:solidFill>
                  <a:srgbClr val="1C2433"/>
                </a:solidFill>
                <a:latin typeface="Calibri"/>
              </a:rPr>
              <a:t>); the connector upgrade from 2.9.4's files (</a:t>
            </a:r>
            <a:r>
              <a:rPr sz="1100" b="0" i="0">
                <a:solidFill>
                  <a:srgbClr val="0E7C86"/>
                </a:solidFill>
                <a:latin typeface="Consolas"/>
              </a:rPr>
              <a:t>ConnectorUpgradeTest</a:t>
            </a:r>
            <a:r>
              <a:rPr sz="1200" b="0" i="0">
                <a:solidFill>
                  <a:srgbClr val="1C2433"/>
                </a:solidFill>
                <a:latin typeface="Calibri"/>
              </a:rPr>
              <a:t>).</a:t>
            </a:r>
          </a:p>
          <a:p>
            <a:pPr algn="l">
              <a:spcAft>
                <a:spcPts val="600"/>
              </a:spcAft>
              <a:buNone/>
            </a:pPr>
            <a:r>
              <a:rPr sz="1200" b="1" i="0">
                <a:solidFill>
                  <a:srgbClr val="1C2433"/>
                </a:solidFill>
                <a:latin typeface="Calibri"/>
              </a:rPr>
              <a:t>Not yet: the first run in a real AWS account (steps 0–11 and runbooks 18); the Glue and S3 Tables runs (2.9.6). Every number marked ESTIMATED waits for 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Number"/>
          <p:cNvSpPr txBox="1"/>
          <p:nvPr/>
        </p:nvSpPr>
        <p:spPr>
          <a:xfrm>
            <a:off x="4754880" y="-822960"/>
            <a:ext cx="7223760" cy="7863840"/>
          </a:xfrm>
          <a:prstGeom prst="rect">
            <a:avLst/>
          </a:prstGeom>
          <a:noFill/>
        </p:spPr>
        <p:txBody>
          <a:bodyPr wrap="square" lIns="0" rIns="0" tIns="0" bIns="0" anchor="ctr">
            <a:spAutoFit/>
          </a:bodyPr>
          <a:lstStyle/>
          <a:p>
            <a:pPr algn="r">
              <a:spcAft>
                <a:spcPts val="600"/>
              </a:spcAft>
              <a:buNone/>
            </a:pPr>
            <a:r>
              <a:rPr sz="42000" b="1" i="0">
                <a:solidFill>
                  <a:srgbClr val="1C3560"/>
                </a:solidFill>
                <a:latin typeface="Calibri"/>
              </a:rPr>
              <a:t>01</a:t>
            </a:r>
          </a:p>
        </p:txBody>
      </p:sp>
      <p:sp>
        <p:nvSpPr>
          <p:cNvPr id="4" name="Title"/>
          <p:cNvSpPr txBox="1"/>
          <p:nvPr/>
        </p:nvSpPr>
        <p:spPr>
          <a:xfrm>
            <a:off x="822960" y="2514600"/>
            <a:ext cx="6949440" cy="1828800"/>
          </a:xfrm>
          <a:prstGeom prst="rect">
            <a:avLst/>
          </a:prstGeom>
          <a:noFill/>
        </p:spPr>
        <p:txBody>
          <a:bodyPr wrap="square" lIns="0" rIns="0" tIns="0" bIns="0" anchor="ctr">
            <a:spAutoFit/>
          </a:bodyPr>
          <a:lstStyle/>
          <a:p>
            <a:pPr algn="l">
              <a:spcAft>
                <a:spcPts val="600"/>
              </a:spcAft>
              <a:buNone/>
            </a:pPr>
            <a:r>
              <a:rPr sz="4400" b="1" i="0">
                <a:solidFill>
                  <a:srgbClr val="FFFFFF"/>
                </a:solidFill>
                <a:latin typeface="Calibri"/>
              </a:rPr>
              <a:t>The picture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The picture: the whole flow on one page</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1</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7</a:t>
            </a:r>
          </a:p>
        </p:txBody>
      </p:sp>
      <p:sp>
        <p:nvSpPr>
          <p:cNvPr id="9" name="Rounded Rectangle 8"/>
          <p:cNvSpPr/>
          <p:nvPr/>
        </p:nvSpPr>
        <p:spPr>
          <a:xfrm>
            <a:off x="411480" y="1097280"/>
            <a:ext cx="2514600" cy="1188720"/>
          </a:xfrm>
          <a:prstGeom prst="roundRect">
            <a:avLst>
              <a:gd name="adj" fmla="val 6000"/>
            </a:avLst>
          </a:prstGeom>
          <a:solidFill>
            <a:srgbClr val="EEE6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TextBox 9"/>
          <p:cNvSpPr txBox="1"/>
          <p:nvPr/>
        </p:nvSpPr>
        <p:spPr>
          <a:xfrm>
            <a:off x="502920" y="1143000"/>
            <a:ext cx="233172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Sources</a:t>
            </a:r>
          </a:p>
        </p:txBody>
      </p:sp>
      <p:sp>
        <p:nvSpPr>
          <p:cNvPr id="11" name="TextBox 10"/>
          <p:cNvSpPr txBox="1"/>
          <p:nvPr/>
        </p:nvSpPr>
        <p:spPr>
          <a:xfrm>
            <a:off x="502920" y="1463040"/>
            <a:ext cx="2331720" cy="77724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ENDUR, CALYPSO, MUREX, reference, risk batch</a:t>
            </a:r>
          </a:p>
          <a:p>
            <a:pPr algn="l" marL="201168" indent="-201168">
              <a:spcAft>
                <a:spcPts val="200"/>
              </a:spcAft>
              <a:buClr>
                <a:srgbClr val="E87A1E"/>
              </a:buClr>
              <a:buSzPct val="100000"/>
              <a:buFont typeface="Arial"/>
              <a:buChar char="•"/>
            </a:pPr>
            <a:r>
              <a:rPr sz="1200" b="0" i="0">
                <a:solidFill>
                  <a:srgbClr val="1C2433"/>
                </a:solidFill>
                <a:latin typeface="Calibri"/>
              </a:rPr>
              <a:t>JSON Lines </a:t>
            </a:r>
            <a:r>
              <a:rPr sz="1100" b="0" i="0">
                <a:solidFill>
                  <a:srgbClr val="0E7C86"/>
                </a:solidFill>
                <a:latin typeface="Consolas"/>
              </a:rPr>
              <a:t>.jsonl(.gz)</a:t>
            </a:r>
            <a:r>
              <a:rPr sz="1200" b="0" i="0">
                <a:solidFill>
                  <a:srgbClr val="1C2433"/>
                </a:solidFill>
                <a:latin typeface="Calibri"/>
              </a:rPr>
              <a:t>; CSV deprecated</a:t>
            </a:r>
          </a:p>
        </p:txBody>
      </p:sp>
      <p:sp>
        <p:nvSpPr>
          <p:cNvPr id="12" name="Rounded Rectangle 11"/>
          <p:cNvSpPr/>
          <p:nvPr/>
        </p:nvSpPr>
        <p:spPr>
          <a:xfrm>
            <a:off x="3200400" y="1097280"/>
            <a:ext cx="4069080" cy="1188720"/>
          </a:xfrm>
          <a:prstGeom prst="roundRect">
            <a:avLst>
              <a:gd name="adj" fmla="val 6000"/>
            </a:avLst>
          </a:prstGeom>
          <a:solidFill>
            <a:srgbClr val="DDEE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TextBox 12"/>
          <p:cNvSpPr txBox="1"/>
          <p:nvPr/>
        </p:nvSpPr>
        <p:spPr>
          <a:xfrm>
            <a:off x="3291840" y="1143000"/>
            <a:ext cx="388620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S3 · &lt;org&gt;-drishti-&lt;env&gt;-landing</a:t>
            </a:r>
          </a:p>
        </p:txBody>
      </p:sp>
      <p:sp>
        <p:nvSpPr>
          <p:cNvPr id="14" name="TextBox 13"/>
          <p:cNvSpPr txBox="1"/>
          <p:nvPr/>
        </p:nvSpPr>
        <p:spPr>
          <a:xfrm>
            <a:off x="3291840" y="1463040"/>
            <a:ext cx="3886200" cy="77724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100" b="0" i="0">
                <a:solidFill>
                  <a:srgbClr val="0E7C86"/>
                </a:solidFill>
                <a:latin typeface="Consolas"/>
              </a:rPr>
              <a:t>2026-10-20/endur/*.jsonl.gz</a:t>
            </a:r>
            <a:r>
              <a:rPr sz="1200" b="0" i="0">
                <a:solidFill>
                  <a:srgbClr val="1C2433"/>
                </a:solidFill>
                <a:latin typeface="Calibri"/>
              </a:rPr>
              <a:t>, …/calypso/, …/murex/</a:t>
            </a:r>
          </a:p>
          <a:p>
            <a:pPr algn="l" marL="201168" indent="-201168">
              <a:spcAft>
                <a:spcPts val="200"/>
              </a:spcAft>
              <a:buClr>
                <a:srgbClr val="E87A1E"/>
              </a:buClr>
              <a:buSzPct val="100000"/>
              <a:buFont typeface="Arial"/>
              <a:buChar char="•"/>
            </a:pPr>
            <a:r>
              <a:rPr sz="1200" b="0" i="0">
                <a:solidFill>
                  <a:srgbClr val="1C2433"/>
                </a:solidFill>
                <a:latin typeface="Calibri"/>
              </a:rPr>
              <a:t>kept </a:t>
            </a:r>
            <a:r>
              <a:rPr sz="1100" b="0" i="0">
                <a:solidFill>
                  <a:srgbClr val="0E7C86"/>
                </a:solidFill>
                <a:latin typeface="Consolas"/>
              </a:rPr>
              <a:t>LANDING_KEEP_DAYS</a:t>
            </a:r>
            <a:r>
              <a:rPr sz="1200" b="0" i="0">
                <a:solidFill>
                  <a:srgbClr val="1C2433"/>
                </a:solidFill>
                <a:latin typeface="Calibri"/>
              </a:rPr>
              <a:t> (30), then expired</a:t>
            </a:r>
          </a:p>
        </p:txBody>
      </p:sp>
      <p:sp>
        <p:nvSpPr>
          <p:cNvPr id="15" name="Rounded Rectangle 14"/>
          <p:cNvSpPr/>
          <p:nvPr/>
        </p:nvSpPr>
        <p:spPr>
          <a:xfrm>
            <a:off x="7543800" y="1097280"/>
            <a:ext cx="4233672" cy="118872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TextBox 15"/>
          <p:cNvSpPr txBox="1"/>
          <p:nvPr/>
        </p:nvSpPr>
        <p:spPr>
          <a:xfrm>
            <a:off x="7635240" y="1143000"/>
            <a:ext cx="4050791"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EventBridge Scheduler</a:t>
            </a:r>
          </a:p>
        </p:txBody>
      </p:sp>
      <p:sp>
        <p:nvSpPr>
          <p:cNvPr id="17" name="TextBox 16"/>
          <p:cNvSpPr txBox="1"/>
          <p:nvPr/>
        </p:nvSpPr>
        <p:spPr>
          <a:xfrm>
            <a:off x="7635240" y="1463040"/>
            <a:ext cx="4050791" cy="77724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22:30 New York, Monday to Friday</a:t>
            </a:r>
          </a:p>
          <a:p>
            <a:pPr algn="l" marL="201168" indent="-201168">
              <a:spcAft>
                <a:spcPts val="200"/>
              </a:spcAft>
              <a:buClr>
                <a:srgbClr val="E87A1E"/>
              </a:buClr>
              <a:buSzPct val="100000"/>
              <a:buFont typeface="Arial"/>
              <a:buChar char="•"/>
            </a:pPr>
            <a:r>
              <a:rPr sz="1200" b="0" i="0">
                <a:solidFill>
                  <a:srgbClr val="1C2433"/>
                </a:solidFill>
                <a:latin typeface="Calibri"/>
              </a:rPr>
              <a:t>runs the loader task; nightly maintain, daily report</a:t>
            </a:r>
          </a:p>
        </p:txBody>
      </p:sp>
      <p:cxnSp>
        <p:nvCxnSpPr>
          <p:cNvPr id="18" name="Connector 17"/>
          <p:cNvCxnSpPr/>
          <p:nvPr/>
        </p:nvCxnSpPr>
        <p:spPr>
          <a:xfrm>
            <a:off x="2926080" y="1691640"/>
            <a:ext cx="274320" cy="0"/>
          </a:xfrm>
          <a:prstGeom prst="line">
            <a:avLst/>
          </a:prstGeom>
          <a:ln w="19050">
            <a:solidFill>
              <a:srgbClr val="5B677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7269480" y="1691640"/>
            <a:ext cx="274320" cy="0"/>
          </a:xfrm>
          <a:prstGeom prst="line">
            <a:avLst/>
          </a:prstGeom>
          <a:ln w="19050">
            <a:solidFill>
              <a:srgbClr val="5B67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11480" y="2514600"/>
            <a:ext cx="11365992" cy="114300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xtBox 20"/>
          <p:cNvSpPr txBox="1"/>
          <p:nvPr/>
        </p:nvSpPr>
        <p:spPr>
          <a:xfrm>
            <a:off x="502920" y="2560320"/>
            <a:ext cx="11183112"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ECS task · loader · load-day.sh, per table, under the table's lock (EFS)</a:t>
            </a:r>
          </a:p>
        </p:txBody>
      </p:sp>
      <p:sp>
        <p:nvSpPr>
          <p:cNvPr id="22" name="TextBox 21"/>
          <p:cNvSpPr txBox="1"/>
          <p:nvPr/>
        </p:nvSpPr>
        <p:spPr>
          <a:xfrm>
            <a:off x="502920" y="2880360"/>
            <a:ext cx="11183112" cy="73152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1 </a:t>
            </a:r>
            <a:r>
              <a:rPr sz="1100" b="0" i="0">
                <a:solidFill>
                  <a:srgbClr val="0E7C86"/>
                </a:solidFill>
                <a:latin typeface="Consolas"/>
              </a:rPr>
              <a:t>aws s3 sync</a:t>
            </a:r>
            <a:r>
              <a:rPr sz="1200" b="0" i="0">
                <a:solidFill>
                  <a:srgbClr val="1C2433"/>
                </a:solidFill>
                <a:latin typeface="Calibri"/>
              </a:rPr>
              <a:t> landing → EFS scratch   2 </a:t>
            </a:r>
            <a:r>
              <a:rPr sz="1100" b="0" i="0">
                <a:solidFill>
                  <a:srgbClr val="0E7C86"/>
                </a:solidFill>
                <a:latin typeface="Consolas"/>
              </a:rPr>
              <a:t>lake build</a:t>
            </a:r>
            <a:r>
              <a:rPr sz="1200" b="0" i="0">
                <a:solidFill>
                  <a:srgbClr val="1C2433"/>
                </a:solidFill>
                <a:latin typeface="Calibri"/>
              </a:rPr>
              <a:t> → scratch Delta table: promoted and vector columns, sorted by id, row groups 1 MB</a:t>
            </a:r>
          </a:p>
          <a:p>
            <a:pPr algn="l" marL="201168" indent="-201168">
              <a:spcAft>
                <a:spcPts val="200"/>
              </a:spcAft>
              <a:buClr>
                <a:srgbClr val="E87A1E"/>
              </a:buClr>
              <a:buSzPct val="100000"/>
              <a:buFont typeface="Arial"/>
              <a:buChar char="•"/>
            </a:pPr>
            <a:r>
              <a:rPr sz="1200" b="0" i="0">
                <a:solidFill>
                  <a:srgbClr val="1C2433"/>
                </a:solidFill>
                <a:latin typeface="Calibri"/>
              </a:rPr>
              <a:t>3 </a:t>
            </a:r>
            <a:r>
              <a:rPr sz="1100" b="0" i="0">
                <a:solidFill>
                  <a:srgbClr val="0E7C86"/>
                </a:solidFill>
                <a:latin typeface="Consolas"/>
              </a:rPr>
              <a:t>aws s3 sync</a:t>
            </a:r>
            <a:r>
              <a:rPr sz="1200" b="0" i="0">
                <a:solidFill>
                  <a:srgbClr val="1C2433"/>
                </a:solidFill>
                <a:latin typeface="Calibri"/>
              </a:rPr>
              <a:t> data files → S3 (new UUID names)   4 </a:t>
            </a:r>
            <a:r>
              <a:rPr sz="1100" b="0" i="0">
                <a:solidFill>
                  <a:srgbClr val="0E7C86"/>
                </a:solidFill>
                <a:latin typeface="Consolas"/>
              </a:rPr>
              <a:t>lake publish</a:t>
            </a:r>
            <a:r>
              <a:rPr sz="1200" b="0" i="0">
                <a:solidFill>
                  <a:srgbClr val="1C2433"/>
                </a:solidFill>
                <a:latin typeface="Calibri"/>
              </a:rPr>
              <a:t> ONE commit (conditional PUT)   5 metrics Drishti/Lake + data-load signal</a:t>
            </a:r>
          </a:p>
        </p:txBody>
      </p:sp>
      <p:cxnSp>
        <p:nvCxnSpPr>
          <p:cNvPr id="23" name="Connector 22"/>
          <p:cNvCxnSpPr/>
          <p:nvPr/>
        </p:nvCxnSpPr>
        <p:spPr>
          <a:xfrm>
            <a:off x="5212080" y="2286000"/>
            <a:ext cx="0" cy="228600"/>
          </a:xfrm>
          <a:prstGeom prst="line">
            <a:avLst/>
          </a:prstGeom>
          <a:ln w="19050">
            <a:solidFill>
              <a:srgbClr val="5B677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9601200" y="2286000"/>
            <a:ext cx="0" cy="228600"/>
          </a:xfrm>
          <a:prstGeom prst="line">
            <a:avLst/>
          </a:prstGeom>
          <a:ln w="19050">
            <a:solidFill>
              <a:srgbClr val="5B67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411480" y="3886200"/>
            <a:ext cx="5989320" cy="1417320"/>
          </a:xfrm>
          <a:prstGeom prst="roundRect">
            <a:avLst>
              <a:gd name="adj" fmla="val 6000"/>
            </a:avLst>
          </a:prstGeom>
          <a:solidFill>
            <a:srgbClr val="DDEE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xtBox 25"/>
          <p:cNvSpPr txBox="1"/>
          <p:nvPr/>
        </p:nvSpPr>
        <p:spPr>
          <a:xfrm>
            <a:off x="502920" y="3931920"/>
            <a:ext cx="580644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S3 · &lt;org&gt;-drishti-&lt;env&gt;-lake (THE LAKE)</a:t>
            </a:r>
          </a:p>
        </p:txBody>
      </p:sp>
      <p:sp>
        <p:nvSpPr>
          <p:cNvPr id="27" name="TextBox 26"/>
          <p:cNvSpPr txBox="1"/>
          <p:nvPr/>
        </p:nvSpPr>
        <p:spPr>
          <a:xfrm>
            <a:off x="502920" y="4251960"/>
            <a:ext cx="5806440" cy="100584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100" b="0" i="0">
                <a:solidFill>
                  <a:srgbClr val="0E7C86"/>
                </a:solidFill>
                <a:latin typeface="Consolas"/>
              </a:rPr>
              <a:t>lake/&lt;domain&gt;/&lt;table&gt;/_delta_log/</a:t>
            </a:r>
            <a:r>
              <a:rPr sz="1200" b="0" i="0">
                <a:solidFill>
                  <a:srgbClr val="1C2433"/>
                </a:solidFill>
                <a:latin typeface="Calibri"/>
              </a:rPr>
              <a:t> + </a:t>
            </a:r>
            <a:r>
              <a:rPr sz="1100" b="0" i="0">
                <a:solidFill>
                  <a:srgbClr val="0E7C86"/>
                </a:solidFill>
                <a:latin typeface="Consolas"/>
              </a:rPr>
              <a:t>business_date=…/</a:t>
            </a:r>
            <a:r>
              <a:rPr sz="1200" b="0" i="0">
                <a:solidFill>
                  <a:srgbClr val="1C2433"/>
                </a:solidFill>
                <a:latin typeface="Calibri"/>
              </a:rPr>
              <a:t> Parquet</a:t>
            </a:r>
          </a:p>
          <a:p>
            <a:pPr algn="l" marL="201168" indent="-201168">
              <a:spcAft>
                <a:spcPts val="200"/>
              </a:spcAft>
              <a:buClr>
                <a:srgbClr val="E87A1E"/>
              </a:buClr>
              <a:buSzPct val="100000"/>
              <a:buFont typeface="Arial"/>
              <a:buChar char="•"/>
            </a:pPr>
            <a:r>
              <a:rPr sz="1200" b="0" i="0">
                <a:solidFill>
                  <a:srgbClr val="1C2433"/>
                </a:solidFill>
                <a:latin typeface="Calibri"/>
              </a:rPr>
              <a:t>domains: trading … market, </a:t>
            </a:r>
            <a:r>
              <a:rPr sz="1200" b="1" i="0">
                <a:solidFill>
                  <a:srgbClr val="1C2433"/>
                </a:solidFill>
                <a:latin typeface="Calibri"/>
              </a:rPr>
              <a:t>risk</a:t>
            </a:r>
            <a:r>
              <a:rPr sz="1200" b="0" i="0">
                <a:solidFill>
                  <a:srgbClr val="1C2433"/>
                </a:solidFill>
                <a:latin typeface="Calibri"/>
              </a:rPr>
              <a:t>, </a:t>
            </a:r>
            <a:r>
              <a:rPr sz="1200" b="1" i="0">
                <a:solidFill>
                  <a:srgbClr val="1C2433"/>
                </a:solidFill>
                <a:latin typeface="Calibri"/>
              </a:rPr>
              <a:t>risk-results</a:t>
            </a:r>
            <a:r>
              <a:rPr sz="1200" b="0" i="0">
                <a:solidFill>
                  <a:srgbClr val="1C2433"/>
                </a:solidFill>
                <a:latin typeface="Calibri"/>
              </a:rPr>
              <a:t>, public data</a:t>
            </a:r>
          </a:p>
          <a:p>
            <a:pPr algn="l" marL="201168" indent="-201168">
              <a:spcAft>
                <a:spcPts val="200"/>
              </a:spcAft>
              <a:buClr>
                <a:srgbClr val="E87A1E"/>
              </a:buClr>
              <a:buSzPct val="100000"/>
              <a:buFont typeface="Arial"/>
              <a:buChar char="•"/>
            </a:pPr>
            <a:r>
              <a:rPr sz="1200" b="0" i="0">
                <a:solidFill>
                  <a:srgbClr val="1C2433"/>
                </a:solidFill>
                <a:latin typeface="Calibri"/>
              </a:rPr>
              <a:t>versioning · SSE-KMS · VPC endpoint only · tiers by business date</a:t>
            </a:r>
          </a:p>
        </p:txBody>
      </p:sp>
      <p:cxnSp>
        <p:nvCxnSpPr>
          <p:cNvPr id="28" name="Connector 27"/>
          <p:cNvCxnSpPr/>
          <p:nvPr/>
        </p:nvCxnSpPr>
        <p:spPr>
          <a:xfrm>
            <a:off x="3200400" y="3657600"/>
            <a:ext cx="0" cy="228600"/>
          </a:xfrm>
          <a:prstGeom prst="line">
            <a:avLst/>
          </a:prstGeom>
          <a:ln w="19050">
            <a:solidFill>
              <a:srgbClr val="5B67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720840" y="3886200"/>
            <a:ext cx="5056632" cy="141732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xtBox 29"/>
          <p:cNvSpPr txBox="1"/>
          <p:nvPr/>
        </p:nvSpPr>
        <p:spPr>
          <a:xfrm>
            <a:off x="6812279" y="3931920"/>
            <a:ext cx="4873752"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ECS services drishti-a, -b, -c (server + console)</a:t>
            </a:r>
          </a:p>
        </p:txBody>
      </p:sp>
      <p:sp>
        <p:nvSpPr>
          <p:cNvPr id="31" name="TextBox 30"/>
          <p:cNvSpPr txBox="1"/>
          <p:nvPr/>
        </p:nvSpPr>
        <p:spPr>
          <a:xfrm>
            <a:off x="6812279" y="4251960"/>
            <a:ext cx="4873752" cy="100584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Delta connectors, native engine, ranged GETs from </a:t>
            </a:r>
            <a:r>
              <a:rPr sz="1100" b="0" i="0">
                <a:solidFill>
                  <a:srgbClr val="0E7C86"/>
                </a:solidFill>
                <a:latin typeface="Consolas"/>
              </a:rPr>
              <a:t>DRISHTI_DELTA_ROOT</a:t>
            </a:r>
          </a:p>
          <a:p>
            <a:pPr algn="l" marL="201168" indent="-201168">
              <a:spcAft>
                <a:spcPts val="200"/>
              </a:spcAft>
              <a:buClr>
                <a:srgbClr val="E87A1E"/>
              </a:buClr>
              <a:buSzPct val="100000"/>
              <a:buFont typeface="Arial"/>
              <a:buChar char="•"/>
            </a:pPr>
            <a:r>
              <a:rPr sz="1200" b="0" i="0">
                <a:solidFill>
                  <a:srgbClr val="1C2433"/>
                </a:solidFill>
                <a:latin typeface="Calibri"/>
              </a:rPr>
              <a:t>VaR and exposure engines read </a:t>
            </a:r>
            <a:r>
              <a:rPr sz="1100" b="0" i="0">
                <a:solidFill>
                  <a:srgbClr val="0E7C86"/>
                </a:solidFill>
                <a:latin typeface="Consolas"/>
              </a:rPr>
              <a:t>risk/</a:t>
            </a:r>
            <a:r>
              <a:rPr sz="1200" b="0" i="0">
                <a:solidFill>
                  <a:srgbClr val="1C2433"/>
                </a:solidFill>
                <a:latin typeface="Calibri"/>
              </a:rPr>
              <a:t>; caches in heap and on disk</a:t>
            </a:r>
          </a:p>
          <a:p>
            <a:pPr algn="l" marL="201168" indent="-201168">
              <a:spcAft>
                <a:spcPts val="200"/>
              </a:spcAft>
              <a:buClr>
                <a:srgbClr val="E87A1E"/>
              </a:buClr>
              <a:buSzPct val="100000"/>
              <a:buFont typeface="Arial"/>
              <a:buChar char="•"/>
            </a:pPr>
            <a:r>
              <a:rPr sz="1200" b="0" i="0">
                <a:solidFill>
                  <a:srgbClr val="1C2433"/>
                </a:solidFill>
                <a:latin typeface="Calibri"/>
              </a:rPr>
              <a:t>Drishti*net: gossip port + HTTP/2 between task IPs</a:t>
            </a:r>
          </a:p>
        </p:txBody>
      </p:sp>
      <p:cxnSp>
        <p:nvCxnSpPr>
          <p:cNvPr id="32" name="Connector 31"/>
          <p:cNvCxnSpPr/>
          <p:nvPr/>
        </p:nvCxnSpPr>
        <p:spPr>
          <a:xfrm>
            <a:off x="6400800" y="4572000"/>
            <a:ext cx="320040" cy="0"/>
          </a:xfrm>
          <a:prstGeom prst="line">
            <a:avLst/>
          </a:prstGeom>
          <a:ln w="19050">
            <a:solidFill>
              <a:srgbClr val="5B67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411480" y="5486400"/>
            <a:ext cx="5989320" cy="86868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TextBox 33"/>
          <p:cNvSpPr txBox="1"/>
          <p:nvPr/>
        </p:nvSpPr>
        <p:spPr>
          <a:xfrm>
            <a:off x="502920" y="5532120"/>
            <a:ext cx="580644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ECS task · maintenance (nightly)</a:t>
            </a:r>
          </a:p>
        </p:txBody>
      </p:sp>
      <p:sp>
        <p:nvSpPr>
          <p:cNvPr id="35" name="TextBox 34"/>
          <p:cNvSpPr txBox="1"/>
          <p:nvPr/>
        </p:nvSpPr>
        <p:spPr>
          <a:xfrm>
            <a:off x="502920" y="5852160"/>
            <a:ext cx="5806440" cy="457199"/>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checkpoint, retention (7-year floor on risk), vacuum; lifecycle rules</a:t>
            </a:r>
          </a:p>
        </p:txBody>
      </p:sp>
      <p:sp>
        <p:nvSpPr>
          <p:cNvPr id="36" name="Rounded Rectangle 35"/>
          <p:cNvSpPr/>
          <p:nvPr/>
        </p:nvSpPr>
        <p:spPr>
          <a:xfrm>
            <a:off x="6720840" y="5486400"/>
            <a:ext cx="5056632" cy="868680"/>
          </a:xfrm>
          <a:prstGeom prst="roundRect">
            <a:avLst>
              <a:gd name="adj" fmla="val 6000"/>
            </a:avLst>
          </a:prstGeom>
          <a:solidFill>
            <a:srgbClr val="FCE8D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7" name="TextBox 36"/>
          <p:cNvSpPr txBox="1"/>
          <p:nvPr/>
        </p:nvSpPr>
        <p:spPr>
          <a:xfrm>
            <a:off x="6812279" y="5532120"/>
            <a:ext cx="4873752"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EFS (Regional, encrypted, Elastic)</a:t>
            </a:r>
          </a:p>
        </p:txBody>
      </p:sp>
      <p:sp>
        <p:nvSpPr>
          <p:cNvPr id="38" name="TextBox 37"/>
          <p:cNvSpPr txBox="1"/>
          <p:nvPr/>
        </p:nvSpPr>
        <p:spPr>
          <a:xfrm>
            <a:off x="6812279" y="5852160"/>
            <a:ext cx="4873752" cy="457199"/>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state, caches, loader scratch, locks; NO lake data</a:t>
            </a:r>
          </a:p>
        </p:txBody>
      </p:sp>
      <p:cxnSp>
        <p:nvCxnSpPr>
          <p:cNvPr id="39" name="Connector 38"/>
          <p:cNvCxnSpPr/>
          <p:nvPr/>
        </p:nvCxnSpPr>
        <p:spPr>
          <a:xfrm>
            <a:off x="3200400" y="5303520"/>
            <a:ext cx="0" cy="182880"/>
          </a:xfrm>
          <a:prstGeom prst="line">
            <a:avLst/>
          </a:prstGeom>
          <a:ln w="19050">
            <a:solidFill>
              <a:srgbClr val="5B677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9235440" y="5303520"/>
            <a:ext cx="0" cy="182880"/>
          </a:xfrm>
          <a:prstGeom prst="line">
            <a:avLst/>
          </a:prstGeom>
          <a:ln w="19050">
            <a:solidFill>
              <a:srgbClr val="5B677A"/>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The picture, in words: each box</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1</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8</a:t>
            </a:r>
          </a:p>
        </p:txBody>
      </p:sp>
      <p:graphicFrame>
        <p:nvGraphicFramePr>
          <p:cNvPr id="9" name="Table"/>
          <p:cNvGraphicFramePr>
            <a:graphicFrameLocks noGrp="1"/>
          </p:cNvGraphicFramePr>
          <p:nvPr/>
        </p:nvGraphicFramePr>
        <p:xfrm>
          <a:off x="411480" y="1188720"/>
          <a:ext cx="11365990" cy="4937760"/>
        </p:xfrm>
        <a:graphic>
          <a:graphicData uri="http://schemas.openxmlformats.org/drawingml/2006/table">
            <a:tbl>
              <a:tblPr firstRow="0" bandRow="0">
                <a:tableStyleId>{5940675A-B579-460E-94D1-54222C63F5DA}</a:tableStyleId>
              </a:tblPr>
              <a:tblGrid>
                <a:gridCol w="1558240"/>
                <a:gridCol w="3208142"/>
                <a:gridCol w="6599608"/>
              </a:tblGrid>
              <a:tr h="548640">
                <a:tc>
                  <a:txBody>
                    <a:bodyPr wrap="square"/>
                    <a:lstStyle/>
                    <a:p>
                      <a:r>
                        <a:rPr sz="1200" b="1" i="0">
                          <a:solidFill>
                            <a:srgbClr val="FFFFFF"/>
                          </a:solidFill>
                          <a:latin typeface="Calibri"/>
                        </a:rPr>
                        <a:t>Box</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What it is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Key facts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548640">
                <a:tc>
                  <a:txBody>
                    <a:bodyPr wrap="square"/>
                    <a:lstStyle/>
                    <a:p>
                      <a:r>
                        <a:rPr sz="1200" b="1" i="0">
                          <a:solidFill>
                            <a:srgbClr val="1C2433"/>
                          </a:solidFill>
                          <a:latin typeface="Calibri"/>
                        </a:rPr>
                        <a:t>Sources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ENDUR, CALYPSO, MUREX, reference systems, the risk batch</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send JSON Lines, gzipped or not; one folder per date and source; CSV input deprecated in 2.9.4</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48640">
                <a:tc>
                  <a:txBody>
                    <a:bodyPr wrap="square"/>
                    <a:lstStyle/>
                    <a:p>
                      <a:r>
                        <a:rPr sz="1200" b="1" i="0">
                          <a:solidFill>
                            <a:srgbClr val="1C2433"/>
                          </a:solidFill>
                          <a:latin typeface="Calibri"/>
                        </a:rPr>
                        <a:t>Landing bucket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&lt;org&gt;-drishti-&lt;env&gt;-landing</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&lt;date&gt;/&lt;source&gt;/…</a:t>
                      </a:r>
                      <a:r>
                        <a:rPr sz="1200" b="0" i="0">
                          <a:solidFill>
                            <a:srgbClr val="1C2433"/>
                          </a:solidFill>
                          <a:latin typeface="Calibri"/>
                        </a:rPr>
                        <a:t>; dumps expire after 30 days (</a:t>
                      </a:r>
                      <a:r>
                        <a:rPr sz="1100" b="0" i="0">
                          <a:solidFill>
                            <a:srgbClr val="0E7C86"/>
                          </a:solidFill>
                          <a:latin typeface="Consolas"/>
                        </a:rPr>
                        <a:t>LANDING_KEEP_DAYS</a:t>
                      </a:r>
                      <a:r>
                        <a:rPr sz="1200" b="0" i="0">
                          <a:solidFill>
                            <a:srgbClr val="1C2433"/>
                          </a:solidFill>
                          <a:latin typeface="Calibri"/>
                        </a:rPr>
                        <a:t>); same protections as the lake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48640">
                <a:tc>
                  <a:txBody>
                    <a:bodyPr wrap="square"/>
                    <a:lstStyle/>
                    <a:p>
                      <a:r>
                        <a:rPr sz="1200" b="1" i="0">
                          <a:solidFill>
                            <a:srgbClr val="1C2433"/>
                          </a:solidFill>
                          <a:latin typeface="Calibri"/>
                        </a:rPr>
                        <a:t>Scheduler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EventBridge Scheduler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LOAD_SCHEDULE</a:t>
                      </a:r>
                      <a:r>
                        <a:rPr sz="1200" b="0" i="0">
                          <a:solidFill>
                            <a:srgbClr val="1C2433"/>
                          </a:solidFill>
                          <a:latin typeface="Calibri"/>
                        </a:rPr>
                        <a:t> 22:30 in </a:t>
                      </a:r>
                      <a:r>
                        <a:rPr sz="1100" b="0" i="0">
                          <a:solidFill>
                            <a:srgbClr val="0E7C86"/>
                          </a:solidFill>
                          <a:latin typeface="Consolas"/>
                        </a:rPr>
                        <a:t>LOAD_SCHEDULE_ZONE</a:t>
                      </a:r>
                      <a:r>
                        <a:rPr sz="1200" b="0" i="0">
                          <a:solidFill>
                            <a:srgbClr val="1C2433"/>
                          </a:solidFill>
                          <a:latin typeface="Calibri"/>
                        </a:rPr>
                        <a:t> (New York), Mon–Fri; also -maintain and -report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48640">
                <a:tc>
                  <a:txBody>
                    <a:bodyPr wrap="square"/>
                    <a:lstStyle/>
                    <a:p>
                      <a:r>
                        <a:rPr sz="1200" b="1" i="0">
                          <a:solidFill>
                            <a:srgbClr val="1C2433"/>
                          </a:solidFill>
                          <a:latin typeface="Calibri"/>
                        </a:rPr>
                        <a:t>Loader task</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ECS task </a:t>
                      </a:r>
                      <a:r>
                        <a:rPr sz="1100" b="0" i="0">
                          <a:solidFill>
                            <a:srgbClr val="0E7C86"/>
                          </a:solidFill>
                          <a:latin typeface="Consolas"/>
                        </a:rPr>
                        <a:t>drishti-&lt;env&gt;-loader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load-day.sh: sync → build → sync → publish → metrics, per table, under the table's EFS lock; scratch always removed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48640">
                <a:tc>
                  <a:txBody>
                    <a:bodyPr wrap="square"/>
                    <a:lstStyle/>
                    <a:p>
                      <a:r>
                        <a:rPr sz="1200" b="1" i="0">
                          <a:solidFill>
                            <a:srgbClr val="1C2433"/>
                          </a:solidFill>
                          <a:latin typeface="Calibri"/>
                        </a:rPr>
                        <a:t>The lake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&lt;org&gt;-drishti-&lt;env&gt;-lake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Delta tables: Parquet + </a:t>
                      </a:r>
                      <a:r>
                        <a:rPr sz="1100" b="0" i="0">
                          <a:solidFill>
                            <a:srgbClr val="0E7C86"/>
                          </a:solidFill>
                          <a:latin typeface="Consolas"/>
                        </a:rPr>
                        <a:t>_delta_log</a:t>
                      </a:r>
                      <a:r>
                        <a:rPr sz="1200" b="0" i="0">
                          <a:solidFill>
                            <a:srgbClr val="1C2433"/>
                          </a:solidFill>
                          <a:latin typeface="Calibri"/>
                        </a:rPr>
                        <a:t>; versioning, SSE-KMS, VPC endpoint only, tiers by business date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48640">
                <a:tc>
                  <a:txBody>
                    <a:bodyPr wrap="square"/>
                    <a:lstStyle/>
                    <a:p>
                      <a:r>
                        <a:rPr sz="1200" b="1" i="0">
                          <a:solidFill>
                            <a:srgbClr val="1C2433"/>
                          </a:solidFill>
                          <a:latin typeface="Calibri"/>
                        </a:rPr>
                        <a:t>Server nodes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ECS services </a:t>
                      </a:r>
                      <a:r>
                        <a:rPr sz="1100" b="0" i="0">
                          <a:solidFill>
                            <a:srgbClr val="0E7C86"/>
                          </a:solidFill>
                          <a:latin typeface="Consolas"/>
                        </a:rPr>
                        <a:t>drishti-a/-b/-c</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server + console per task; ranged GETs; VaR and exposure engines; Drishti*net gossip port + HTTP/2</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48640">
                <a:tc>
                  <a:txBody>
                    <a:bodyPr wrap="square"/>
                    <a:lstStyle/>
                    <a:p>
                      <a:r>
                        <a:rPr sz="1200" b="1" i="0">
                          <a:solidFill>
                            <a:srgbClr val="1C2433"/>
                          </a:solidFill>
                          <a:latin typeface="Calibri"/>
                        </a:rPr>
                        <a:t>Maintenance task</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ECS task, nightly (</a:t>
                      </a:r>
                      <a:r>
                        <a:rPr sz="1100" b="0" i="0">
                          <a:solidFill>
                            <a:srgbClr val="0E7C86"/>
                          </a:solidFill>
                          <a:latin typeface="Consolas"/>
                        </a:rPr>
                        <a:t>MAINTAIN_SCHEDULE</a:t>
                      </a:r>
                      <a:r>
                        <a:rPr sz="1200" b="0" i="0">
                          <a:solidFill>
                            <a:srgbClr val="1C2433"/>
                          </a:solidFill>
                          <a:latin typeface="Calibri"/>
                        </a:rPr>
                        <a: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lake maintain</a:t>
                      </a:r>
                      <a:r>
                        <a:rPr sz="1200" b="0" i="0">
                          <a:solidFill>
                            <a:srgbClr val="1C2433"/>
                          </a:solidFill>
                          <a:latin typeface="Calibri"/>
                        </a:rPr>
                        <a:t> per table under its lock (risk domains never below 7 years), then setup-lifecycle.sh</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48640">
                <a:tc>
                  <a:txBody>
                    <a:bodyPr wrap="square"/>
                    <a:lstStyle/>
                    <a:p>
                      <a:r>
                        <a:rPr sz="1200" b="1" i="0">
                          <a:solidFill>
                            <a:srgbClr val="1C2433"/>
                          </a:solidFill>
                          <a:latin typeface="Calibri"/>
                        </a:rPr>
                        <a:t>EFS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Regional, encrypted, Elastic throughput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/drishti/&lt;env&gt;/&lt;node&gt;/opt/drishti/{data,config,sutras}</a:t>
                      </a:r>
                      <a:r>
                        <a:rPr sz="1200" b="0" i="0">
                          <a:solidFill>
                            <a:srgbClr val="1C2433"/>
                          </a:solidFill>
                          <a:latin typeface="Calibri"/>
                        </a:rPr>
                        <a:t>; scratch and locks; never lake data</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Delta or Iceberg: the architecture above storage is identical</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1</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9</a:t>
            </a:r>
          </a:p>
        </p:txBody>
      </p:sp>
      <p:sp>
        <p:nvSpPr>
          <p:cNvPr id="9" name="Rounded Rectangle 8"/>
          <p:cNvSpPr/>
          <p:nvPr/>
        </p:nvSpPr>
        <p:spPr>
          <a:xfrm>
            <a:off x="411480" y="1143000"/>
            <a:ext cx="7315200" cy="914400"/>
          </a:xfrm>
          <a:prstGeom prst="roundRect">
            <a:avLst>
              <a:gd name="adj" fmla="val 6000"/>
            </a:avLst>
          </a:prstGeom>
          <a:solidFill>
            <a:srgbClr val="EEE6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TextBox 9"/>
          <p:cNvSpPr txBox="1"/>
          <p:nvPr/>
        </p:nvSpPr>
        <p:spPr>
          <a:xfrm>
            <a:off x="502920" y="1188720"/>
            <a:ext cx="713232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Everything a user or another system touches: identical</a:t>
            </a:r>
          </a:p>
        </p:txBody>
      </p:sp>
      <p:sp>
        <p:nvSpPr>
          <p:cNvPr id="11" name="TextBox 10"/>
          <p:cNvSpPr txBox="1"/>
          <p:nvPr/>
        </p:nvSpPr>
        <p:spPr>
          <a:xfrm>
            <a:off x="502920" y="1508760"/>
            <a:ext cx="7132320" cy="50292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console, commands, history, search, BI, DATAMAP, REST, CLI, Drishti*net routing</a:t>
            </a:r>
          </a:p>
        </p:txBody>
      </p:sp>
      <p:sp>
        <p:nvSpPr>
          <p:cNvPr id="12" name="Rounded Rectangle 11"/>
          <p:cNvSpPr/>
          <p:nvPr/>
        </p:nvSpPr>
        <p:spPr>
          <a:xfrm>
            <a:off x="411480" y="2286000"/>
            <a:ext cx="7315200" cy="86868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TextBox 12"/>
          <p:cNvSpPr txBox="1"/>
          <p:nvPr/>
        </p:nvSpPr>
        <p:spPr>
          <a:xfrm>
            <a:off x="502920" y="2331720"/>
            <a:ext cx="713232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The connector contract: SourcePlugin, SourceRouter</a:t>
            </a:r>
          </a:p>
        </p:txBody>
      </p:sp>
      <p:sp>
        <p:nvSpPr>
          <p:cNvPr id="14" name="TextBox 13"/>
          <p:cNvSpPr txBox="1"/>
          <p:nvPr/>
        </p:nvSpPr>
        <p:spPr>
          <a:xfrm>
            <a:off x="502920" y="2651760"/>
            <a:ext cx="7132320" cy="457199"/>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one connector file per table: </a:t>
            </a:r>
            <a:r>
              <a:rPr sz="1100" b="0" i="0">
                <a:solidFill>
                  <a:srgbClr val="0E7C86"/>
                </a:solidFill>
                <a:latin typeface="Consolas"/>
              </a:rPr>
              <a:t>plugin: delta</a:t>
            </a:r>
            <a:r>
              <a:rPr sz="1200" b="0" i="0">
                <a:solidFill>
                  <a:srgbClr val="1C2433"/>
                </a:solidFill>
                <a:latin typeface="Calibri"/>
              </a:rPr>
              <a:t> or </a:t>
            </a:r>
            <a:r>
              <a:rPr sz="1100" b="0" i="0">
                <a:solidFill>
                  <a:srgbClr val="0E7C86"/>
                </a:solidFill>
                <a:latin typeface="Consolas"/>
              </a:rPr>
              <a:t>plugin: iceberg</a:t>
            </a:r>
            <a:r>
              <a:rPr sz="1200" b="0" i="0">
                <a:solidFill>
                  <a:srgbClr val="1C2433"/>
                </a:solidFill>
                <a:latin typeface="Calibri"/>
              </a:rPr>
              <a:t>; its name and kinds stay</a:t>
            </a:r>
          </a:p>
        </p:txBody>
      </p:sp>
      <p:cxnSp>
        <p:nvCxnSpPr>
          <p:cNvPr id="15" name="Connector 14"/>
          <p:cNvCxnSpPr/>
          <p:nvPr/>
        </p:nvCxnSpPr>
        <p:spPr>
          <a:xfrm>
            <a:off x="4069080" y="2057400"/>
            <a:ext cx="0" cy="228600"/>
          </a:xfrm>
          <a:prstGeom prst="line">
            <a:avLst/>
          </a:prstGeom>
          <a:ln w="19050">
            <a:solidFill>
              <a:srgbClr val="5B67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11480" y="3383280"/>
            <a:ext cx="3520440" cy="1143000"/>
          </a:xfrm>
          <a:prstGeom prst="roundRect">
            <a:avLst>
              <a:gd name="adj" fmla="val 6000"/>
            </a:avLst>
          </a:prstGeom>
          <a:solidFill>
            <a:srgbClr val="DDEE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xtBox 16"/>
          <p:cNvSpPr txBox="1"/>
          <p:nvPr/>
        </p:nvSpPr>
        <p:spPr>
          <a:xfrm>
            <a:off x="502920" y="3429000"/>
            <a:ext cx="333756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Delta plugin (default)</a:t>
            </a:r>
          </a:p>
        </p:txBody>
      </p:sp>
      <p:sp>
        <p:nvSpPr>
          <p:cNvPr id="18" name="TextBox 17"/>
          <p:cNvSpPr txBox="1"/>
          <p:nvPr/>
        </p:nvSpPr>
        <p:spPr>
          <a:xfrm>
            <a:off x="502920" y="3749040"/>
            <a:ext cx="3337560" cy="73152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drishti-deltalake (native)</a:t>
            </a:r>
          </a:p>
          <a:p>
            <a:pPr algn="l" marL="201168" indent="-201168">
              <a:spcAft>
                <a:spcPts val="200"/>
              </a:spcAft>
              <a:buClr>
                <a:srgbClr val="E87A1E"/>
              </a:buClr>
              <a:buSzPct val="100000"/>
              <a:buFont typeface="Arial"/>
              <a:buChar char="•"/>
            </a:pPr>
            <a:r>
              <a:rPr sz="1200" b="0" i="0">
                <a:solidFill>
                  <a:srgbClr val="1C2433"/>
                </a:solidFill>
                <a:latin typeface="Calibri"/>
              </a:rPr>
              <a:t>vectors streamed (risk lake)</a:t>
            </a:r>
          </a:p>
        </p:txBody>
      </p:sp>
      <p:sp>
        <p:nvSpPr>
          <p:cNvPr id="19" name="Rounded Rectangle 18"/>
          <p:cNvSpPr/>
          <p:nvPr/>
        </p:nvSpPr>
        <p:spPr>
          <a:xfrm>
            <a:off x="4206240" y="3383280"/>
            <a:ext cx="3520440" cy="1143000"/>
          </a:xfrm>
          <a:prstGeom prst="roundRect">
            <a:avLst>
              <a:gd name="adj" fmla="val 6000"/>
            </a:avLst>
          </a:prstGeom>
          <a:solidFill>
            <a:srgbClr val="DDEE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xtBox 19"/>
          <p:cNvSpPr txBox="1"/>
          <p:nvPr/>
        </p:nvSpPr>
        <p:spPr>
          <a:xfrm>
            <a:off x="4297679" y="3429000"/>
            <a:ext cx="333756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Iceberg plugin</a:t>
            </a:r>
          </a:p>
        </p:txBody>
      </p:sp>
      <p:sp>
        <p:nvSpPr>
          <p:cNvPr id="21" name="TextBox 20"/>
          <p:cNvSpPr txBox="1"/>
          <p:nvPr/>
        </p:nvSpPr>
        <p:spPr>
          <a:xfrm>
            <a:off x="4297679" y="3749040"/>
            <a:ext cx="3337560" cy="73152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drishti-iceberg (native, no Hadoop)</a:t>
            </a:r>
          </a:p>
          <a:p>
            <a:pPr algn="l" marL="201168" indent="-201168">
              <a:spcAft>
                <a:spcPts val="200"/>
              </a:spcAft>
              <a:buClr>
                <a:srgbClr val="E87A1E"/>
              </a:buClr>
              <a:buSzPct val="100000"/>
              <a:buFont typeface="Arial"/>
              <a:buChar char="•"/>
            </a:pPr>
            <a:r>
              <a:rPr sz="1200" b="0" i="0">
                <a:solidFill>
                  <a:srgbClr val="1C2433"/>
                </a:solidFill>
                <a:latin typeface="Calibri"/>
              </a:rPr>
              <a:t>vectors streamed too (2.9.5)</a:t>
            </a:r>
          </a:p>
        </p:txBody>
      </p:sp>
      <p:cxnSp>
        <p:nvCxnSpPr>
          <p:cNvPr id="22" name="Connector 21"/>
          <p:cNvCxnSpPr/>
          <p:nvPr/>
        </p:nvCxnSpPr>
        <p:spPr>
          <a:xfrm>
            <a:off x="2194560" y="3154680"/>
            <a:ext cx="0" cy="228600"/>
          </a:xfrm>
          <a:prstGeom prst="line">
            <a:avLst/>
          </a:prstGeom>
          <a:ln w="19050">
            <a:solidFill>
              <a:srgbClr val="5B677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943600" y="3154680"/>
            <a:ext cx="0" cy="228600"/>
          </a:xfrm>
          <a:prstGeom prst="line">
            <a:avLst/>
          </a:prstGeom>
          <a:ln w="19050">
            <a:solidFill>
              <a:srgbClr val="5B67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11480" y="4754880"/>
            <a:ext cx="7315200" cy="77724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TextBox 24"/>
          <p:cNvSpPr txBox="1"/>
          <p:nvPr/>
        </p:nvSpPr>
        <p:spPr>
          <a:xfrm>
            <a:off x="502920" y="4800600"/>
            <a:ext cx="713232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drishti-lakeio</a:t>
            </a:r>
          </a:p>
        </p:txBody>
      </p:sp>
      <p:sp>
        <p:nvSpPr>
          <p:cNvPr id="26" name="TextBox 25"/>
          <p:cNvSpPr txBox="1"/>
          <p:nvPr/>
        </p:nvSpPr>
        <p:spPr>
          <a:xfrm>
            <a:off x="502920" y="5120640"/>
            <a:ext cx="7132320" cy="365759"/>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local disk and S3, byte ranges, Parquet codecs, footer cache, conditional PUT</a:t>
            </a:r>
          </a:p>
        </p:txBody>
      </p:sp>
      <p:cxnSp>
        <p:nvCxnSpPr>
          <p:cNvPr id="27" name="Connector 26"/>
          <p:cNvCxnSpPr/>
          <p:nvPr/>
        </p:nvCxnSpPr>
        <p:spPr>
          <a:xfrm>
            <a:off x="2194560" y="4526280"/>
            <a:ext cx="0" cy="228600"/>
          </a:xfrm>
          <a:prstGeom prst="line">
            <a:avLst/>
          </a:prstGeom>
          <a:ln w="19050">
            <a:solidFill>
              <a:srgbClr val="5B677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943600" y="4526280"/>
            <a:ext cx="0" cy="228600"/>
          </a:xfrm>
          <a:prstGeom prst="line">
            <a:avLst/>
          </a:prstGeom>
          <a:ln w="19050">
            <a:solidFill>
              <a:srgbClr val="5B67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411480" y="5715000"/>
            <a:ext cx="7315200" cy="640080"/>
          </a:xfrm>
          <a:prstGeom prst="roundRect">
            <a:avLst>
              <a:gd name="adj" fmla="val 6000"/>
            </a:avLst>
          </a:prstGeom>
          <a:solidFill>
            <a:srgbClr val="FCE8D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xtBox 29"/>
          <p:cNvSpPr txBox="1"/>
          <p:nvPr/>
        </p:nvSpPr>
        <p:spPr>
          <a:xfrm>
            <a:off x="502920" y="5760720"/>
            <a:ext cx="713232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Amazon S3 (the lake) · EFS (state) · local disk</a:t>
            </a:r>
          </a:p>
        </p:txBody>
      </p:sp>
      <p:cxnSp>
        <p:nvCxnSpPr>
          <p:cNvPr id="31" name="Connector 30"/>
          <p:cNvCxnSpPr/>
          <p:nvPr/>
        </p:nvCxnSpPr>
        <p:spPr>
          <a:xfrm>
            <a:off x="4069080" y="5532120"/>
            <a:ext cx="0" cy="182880"/>
          </a:xfrm>
          <a:prstGeom prst="line">
            <a:avLst/>
          </a:prstGeom>
          <a:ln w="19050">
            <a:solidFill>
              <a:srgbClr val="5B67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Status BUILT"/>
          <p:cNvSpPr/>
          <p:nvPr/>
        </p:nvSpPr>
        <p:spPr>
          <a:xfrm>
            <a:off x="6583680" y="1234440"/>
            <a:ext cx="1051560" cy="237744"/>
          </a:xfrm>
          <a:prstGeom prst="roundRect">
            <a:avLst>
              <a:gd name="adj" fmla="val 50000"/>
            </a:avLst>
          </a:prstGeom>
          <a:solidFill>
            <a:srgbClr val="0E7C86"/>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000" b="1" i="0">
                <a:solidFill>
                  <a:srgbClr val="FFFFFF"/>
                </a:solidFill>
                <a:latin typeface="Calibri"/>
              </a:rPr>
              <a:t>BUILT</a:t>
            </a:r>
          </a:p>
        </p:txBody>
      </p:sp>
      <p:sp>
        <p:nvSpPr>
          <p:cNvPr id="33" name="TextBox 32"/>
          <p:cNvSpPr txBox="1"/>
          <p:nvPr/>
        </p:nvSpPr>
        <p:spPr>
          <a:xfrm>
            <a:off x="8092440" y="1143000"/>
            <a:ext cx="3657600" cy="365760"/>
          </a:xfrm>
          <a:prstGeom prst="rect">
            <a:avLst/>
          </a:prstGeom>
          <a:noFill/>
        </p:spPr>
        <p:txBody>
          <a:bodyPr wrap="square" lIns="0" rIns="0" tIns="0" bIns="0" anchor="t">
            <a:spAutoFit/>
          </a:bodyPr>
          <a:lstStyle/>
          <a:p>
            <a:pPr algn="l">
              <a:spcAft>
                <a:spcPts val="600"/>
              </a:spcAft>
              <a:buNone/>
            </a:pPr>
            <a:r>
              <a:rPr sz="1500" b="1" i="0">
                <a:solidFill>
                  <a:srgbClr val="0B1E3B"/>
                </a:solidFill>
                <a:latin typeface="Calibri"/>
              </a:rPr>
              <a:t>The same on both</a:t>
            </a:r>
          </a:p>
        </p:txBody>
      </p:sp>
      <p:sp>
        <p:nvSpPr>
          <p:cNvPr id="34" name="TextBox 33"/>
          <p:cNvSpPr txBox="1"/>
          <p:nvPr/>
        </p:nvSpPr>
        <p:spPr>
          <a:xfrm>
            <a:off x="8092440" y="1554480"/>
            <a:ext cx="3657600" cy="2103120"/>
          </a:xfrm>
          <a:prstGeom prst="rect">
            <a:avLst/>
          </a:prstGeom>
          <a:noFill/>
        </p:spPr>
        <p:txBody>
          <a:bodyPr wrap="square" lIns="0" rIns="0" tIns="0" bIns="0" anchor="t">
            <a:spAutoFit/>
          </a:bodyPr>
          <a:lstStyle/>
          <a:p>
            <a:pPr algn="l" marL="201168" indent="-201168">
              <a:spcAft>
                <a:spcPts val="400"/>
              </a:spcAft>
              <a:buClr>
                <a:srgbClr val="E87A1E"/>
              </a:buClr>
              <a:buSzPct val="100000"/>
              <a:buFont typeface="Arial"/>
              <a:buChar char="•"/>
            </a:pPr>
            <a:r>
              <a:rPr sz="1300" b="0" i="0">
                <a:solidFill>
                  <a:srgbClr val="1C2433"/>
                </a:solidFill>
                <a:latin typeface="Calibri"/>
              </a:rPr>
              <a:t>pages, searches, history, BI: 18 of 18 answers equal in the mixed-storage test</a:t>
            </a:r>
          </a:p>
          <a:p>
            <a:pPr algn="l" marL="201168" indent="-201168">
              <a:spcAft>
                <a:spcPts val="400"/>
              </a:spcAft>
              <a:buClr>
                <a:srgbClr val="E87A1E"/>
              </a:buClr>
              <a:buSzPct val="100000"/>
              <a:buFont typeface="Arial"/>
              <a:buChar char="•"/>
            </a:pPr>
            <a:r>
              <a:rPr sz="1300" b="0" i="0">
                <a:solidFill>
                  <a:srgbClr val="1C2433"/>
                </a:solidFill>
                <a:latin typeface="Calibri"/>
              </a:rPr>
              <a:t>VaR and exposure: equal to the cent (2.9.5)</a:t>
            </a:r>
          </a:p>
          <a:p>
            <a:pPr algn="l" marL="201168" indent="-201168">
              <a:spcAft>
                <a:spcPts val="400"/>
              </a:spcAft>
              <a:buClr>
                <a:srgbClr val="E87A1E"/>
              </a:buClr>
              <a:buSzPct val="100000"/>
              <a:buFont typeface="Arial"/>
              <a:buChar char="•"/>
            </a:pPr>
            <a:r>
              <a:rPr sz="1300" b="0" i="0">
                <a:solidFill>
                  <a:srgbClr val="1C2433"/>
                </a:solidFill>
                <a:latin typeface="Calibri"/>
              </a:rPr>
              <a:t>commits: S3 conditional PUT, probed at start</a:t>
            </a:r>
          </a:p>
          <a:p>
            <a:pPr algn="l" marL="201168" indent="-201168">
              <a:spcAft>
                <a:spcPts val="400"/>
              </a:spcAft>
              <a:buClr>
                <a:srgbClr val="E87A1E"/>
              </a:buClr>
              <a:buSzPct val="100000"/>
              <a:buFont typeface="Arial"/>
              <a:buChar char="•"/>
            </a:pPr>
            <a:r>
              <a:rPr sz="1300" b="0" i="0">
                <a:solidFill>
                  <a:srgbClr val="1C2433"/>
                </a:solidFill>
                <a:latin typeface="Calibri"/>
              </a:rPr>
              <a:t>S3, IAM, KMS, ECS, EFS and Cloud Map set-up</a:t>
            </a:r>
          </a:p>
        </p:txBody>
      </p:sp>
      <p:sp>
        <p:nvSpPr>
          <p:cNvPr id="35" name="TextBox 34"/>
          <p:cNvSpPr txBox="1"/>
          <p:nvPr/>
        </p:nvSpPr>
        <p:spPr>
          <a:xfrm>
            <a:off x="8092440" y="3749039"/>
            <a:ext cx="3657600" cy="365760"/>
          </a:xfrm>
          <a:prstGeom prst="rect">
            <a:avLst/>
          </a:prstGeom>
          <a:noFill/>
        </p:spPr>
        <p:txBody>
          <a:bodyPr wrap="square" lIns="0" rIns="0" tIns="0" bIns="0" anchor="t">
            <a:spAutoFit/>
          </a:bodyPr>
          <a:lstStyle/>
          <a:p>
            <a:pPr algn="l">
              <a:spcAft>
                <a:spcPts val="600"/>
              </a:spcAft>
              <a:buNone/>
            </a:pPr>
            <a:r>
              <a:rPr sz="1500" b="1" i="0">
                <a:solidFill>
                  <a:srgbClr val="0B1E3B"/>
                </a:solidFill>
                <a:latin typeface="Calibri"/>
              </a:rPr>
              <a:t>Where they differ</a:t>
            </a:r>
          </a:p>
        </p:txBody>
      </p:sp>
      <p:sp>
        <p:nvSpPr>
          <p:cNvPr id="36" name="TextBox 35"/>
          <p:cNvSpPr txBox="1"/>
          <p:nvPr/>
        </p:nvSpPr>
        <p:spPr>
          <a:xfrm>
            <a:off x="8092440" y="4160520"/>
            <a:ext cx="3657600" cy="2194560"/>
          </a:xfrm>
          <a:prstGeom prst="rect">
            <a:avLst/>
          </a:prstGeom>
          <a:noFill/>
        </p:spPr>
        <p:txBody>
          <a:bodyPr wrap="square" lIns="0" rIns="0" tIns="0" bIns="0" anchor="t">
            <a:spAutoFit/>
          </a:bodyPr>
          <a:lstStyle/>
          <a:p>
            <a:pPr algn="l" marL="201168" indent="-201168">
              <a:spcAft>
                <a:spcPts val="500"/>
              </a:spcAft>
              <a:buClr>
                <a:srgbClr val="E87A1E"/>
              </a:buClr>
              <a:buSzPct val="100000"/>
              <a:buFont typeface="Arial"/>
              <a:buChar char="•"/>
            </a:pPr>
            <a:r>
              <a:rPr sz="1300" b="0" i="0">
                <a:solidFill>
                  <a:srgbClr val="1C2433"/>
                </a:solidFill>
                <a:latin typeface="Calibri"/>
              </a:rPr>
              <a:t>Delta is the default; Iceberg chosen by configuration</a:t>
            </a:r>
          </a:p>
          <a:p>
            <a:pPr algn="l" marL="201168" indent="-201168">
              <a:spcAft>
                <a:spcPts val="500"/>
              </a:spcAft>
              <a:buClr>
                <a:srgbClr val="E87A1E"/>
              </a:buClr>
              <a:buSzPct val="100000"/>
              <a:buFont typeface="Arial"/>
              <a:buChar char="•"/>
            </a:pPr>
            <a:r>
              <a:rPr sz="1300" b="0" i="0">
                <a:solidFill>
                  <a:srgbClr val="1C2433"/>
                </a:solidFill>
                <a:latin typeface="Calibri"/>
              </a:rPr>
              <a:t>scripts: </a:t>
            </a:r>
            <a:r>
              <a:rPr sz="1200" b="0" i="0">
                <a:solidFill>
                  <a:srgbClr val="0E7C86"/>
                </a:solidFill>
                <a:latin typeface="Consolas"/>
              </a:rPr>
              <a:t>deploy/aws/delta-lake/</a:t>
            </a:r>
            <a:r>
              <a:rPr sz="1300" b="0" i="0">
                <a:solidFill>
                  <a:srgbClr val="1C2433"/>
                </a:solidFill>
                <a:latin typeface="Calibri"/>
              </a:rPr>
              <a:t> or </a:t>
            </a:r>
            <a:r>
              <a:rPr sz="1200" b="0" i="0">
                <a:solidFill>
                  <a:srgbClr val="0E7C86"/>
                </a:solidFill>
                <a:latin typeface="Consolas"/>
              </a:rPr>
              <a:t>deploy/aws/iceberg/</a:t>
            </a:r>
          </a:p>
          <a:p>
            <a:pPr algn="l" marL="201168" indent="-201168">
              <a:spcAft>
                <a:spcPts val="500"/>
              </a:spcAft>
              <a:buClr>
                <a:srgbClr val="E87A1E"/>
              </a:buClr>
              <a:buSzPct val="100000"/>
              <a:buFont typeface="Arial"/>
              <a:buChar char="•"/>
            </a:pPr>
            <a:r>
              <a:rPr sz="1300" b="0" i="0">
                <a:solidFill>
                  <a:srgbClr val="1C2433"/>
                </a:solidFill>
                <a:latin typeface="Calibri"/>
              </a:rPr>
              <a:t>Delta publishes a built day; Iceberg's loader commits 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Delta is the default; Iceberg is a full alternative (2.9.5)</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1</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10</a:t>
            </a:r>
          </a:p>
        </p:txBody>
      </p:sp>
      <p:graphicFrame>
        <p:nvGraphicFramePr>
          <p:cNvPr id="9" name="Table"/>
          <p:cNvGraphicFramePr>
            <a:graphicFrameLocks noGrp="1"/>
          </p:cNvGraphicFramePr>
          <p:nvPr/>
        </p:nvGraphicFramePr>
        <p:xfrm>
          <a:off x="411480" y="1143000"/>
          <a:ext cx="7406640" cy="4526280"/>
        </p:xfrm>
        <a:graphic>
          <a:graphicData uri="http://schemas.openxmlformats.org/drawingml/2006/table">
            <a:tbl>
              <a:tblPr firstRow="0" bandRow="0">
                <a:tableStyleId>{5940675A-B579-460E-94D1-54222C63F5DA}</a:tableStyleId>
              </a:tblPr>
              <a:tblGrid>
                <a:gridCol w="2651760"/>
                <a:gridCol w="2377440"/>
                <a:gridCol w="2377440"/>
              </a:tblGrid>
              <a:tr h="411480">
                <a:tc>
                  <a:txBody>
                    <a:bodyPr wrap="square"/>
                    <a:lstStyle/>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00" b="1" i="0">
                          <a:solidFill>
                            <a:srgbClr val="FFFFFF"/>
                          </a:solidFill>
                          <a:latin typeface="Calibri"/>
                        </a:rPr>
                        <a:t>Delta Lake (default)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00" b="1" i="0">
                          <a:solidFill>
                            <a:srgbClr val="FFFFFF"/>
                          </a:solidFill>
                          <a:latin typeface="Calibri"/>
                        </a:rPr>
                        <a:t>Iceberg</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411480">
                <a:tc>
                  <a:txBody>
                    <a:bodyPr wrap="square"/>
                    <a:lstStyle/>
                    <a:p>
                      <a:r>
                        <a:rPr sz="1100" b="1" i="0">
                          <a:solidFill>
                            <a:srgbClr val="1C2433"/>
                          </a:solidFill>
                          <a:latin typeface="Calibri"/>
                        </a:rPr>
                        <a:t>Documents: trades, reference, public data</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BUILT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BUILT (since 2.6.7)</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11480">
                <a:tc>
                  <a:txBody>
                    <a:bodyPr wrap="square"/>
                    <a:lstStyle/>
                    <a:p>
                      <a:r>
                        <a:rPr sz="1100" b="1" i="0">
                          <a:solidFill>
                            <a:srgbClr val="1C2433"/>
                          </a:solidFill>
                          <a:latin typeface="Calibri"/>
                        </a:rPr>
                        <a:t>VaR inputs, intraday files, Kafka windows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BUILT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BUILT · 2.9.5</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11480">
                <a:tc>
                  <a:txBody>
                    <a:bodyPr wrap="square"/>
                    <a:lstStyle/>
                    <a:p>
                      <a:r>
                        <a:rPr sz="1100" b="1" i="0">
                          <a:solidFill>
                            <a:srgbClr val="1C2433"/>
                          </a:solidFill>
                          <a:latin typeface="Calibri"/>
                        </a:rPr>
                        <a:t>Exposure inputs (</a:t>
                      </a:r>
                      <a:r>
                        <a:rPr sz="1100" b="1" i="0">
                          <a:solidFill>
                            <a:srgbClr val="0E7C86"/>
                          </a:solidFill>
                          <a:latin typeface="Consolas"/>
                        </a:rPr>
                        <a:t>exposure-path</a:t>
                      </a:r>
                      <a:r>
                        <a:rPr sz="1100" b="1" i="0">
                          <a:solidFill>
                            <a:srgbClr val="1C2433"/>
                          </a:solidFill>
                          <a:latin typeface="Calibri"/>
                        </a:rPr>
                        <a: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BUILT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BUILT · 2.9.5</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11480">
                <a:tc>
                  <a:txBody>
                    <a:bodyPr wrap="square"/>
                    <a:lstStyle/>
                    <a:p>
                      <a:r>
                        <a:rPr sz="1100" b="1" i="0">
                          <a:solidFill>
                            <a:srgbClr val="1C2433"/>
                          </a:solidFill>
                          <a:latin typeface="Calibri"/>
                        </a:rPr>
                        <a:t>Official results, folder or </a:t>
                      </a:r>
                      <a:r>
                        <a:rPr sz="1100" b="1" i="0">
                          <a:solidFill>
                            <a:srgbClr val="0E7C86"/>
                          </a:solidFill>
                          <a:latin typeface="Consolas"/>
                        </a:rPr>
                        <a:t>s3://</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BUILT · 2.9.5</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BUILT · 2.9.5</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11480">
                <a:tc>
                  <a:txBody>
                    <a:bodyPr wrap="square"/>
                    <a:lstStyle/>
                    <a:p>
                      <a:r>
                        <a:rPr sz="1100" b="1" i="0">
                          <a:solidFill>
                            <a:srgbClr val="1C2433"/>
                          </a:solidFill>
                          <a:latin typeface="Calibri"/>
                        </a:rPr>
                        <a:t>BI readers of the official results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follow the format by themselves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follow the format by themselves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11480">
                <a:tc>
                  <a:txBody>
                    <a:bodyPr wrap="square"/>
                    <a:lstStyle/>
                    <a:p>
                      <a:r>
                        <a:rPr sz="1100" b="1" i="0">
                          <a:solidFill>
                            <a:srgbClr val="1C2433"/>
                          </a:solidFill>
                          <a:latin typeface="Calibri"/>
                        </a:rPr>
                        <a:t>Load and maintain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lake build</a:t>
                      </a:r>
                      <a:r>
                        <a:rPr sz="1100" b="0" i="0">
                          <a:solidFill>
                            <a:srgbClr val="1C2433"/>
                          </a:solidFill>
                          <a:latin typeface="Calibri"/>
                        </a:rPr>
                        <a:t>, </a:t>
                      </a:r>
                      <a:r>
                        <a:rPr sz="1100" b="0" i="0">
                          <a:solidFill>
                            <a:srgbClr val="0E7C86"/>
                          </a:solidFill>
                          <a:latin typeface="Consolas"/>
                        </a:rPr>
                        <a:t>publish</a:t>
                      </a:r>
                      <a:r>
                        <a:rPr sz="1100" b="0" i="0">
                          <a:solidFill>
                            <a:srgbClr val="1C2433"/>
                          </a:solidFill>
                          <a:latin typeface="Calibri"/>
                        </a:rPr>
                        <a:t>, </a:t>
                      </a:r>
                      <a:r>
                        <a:rPr sz="1100" b="0" i="0">
                          <a:solidFill>
                            <a:srgbClr val="0E7C86"/>
                          </a:solidFill>
                          <a:latin typeface="Consolas"/>
                        </a:rPr>
                        <a:t>maintain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lake build --format iceberg</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11480">
                <a:tc>
                  <a:txBody>
                    <a:bodyPr wrap="square"/>
                    <a:lstStyle/>
                    <a:p>
                      <a:r>
                        <a:rPr sz="1100" b="1" i="0">
                          <a:solidFill>
                            <a:srgbClr val="1C2433"/>
                          </a:solidFill>
                          <a:latin typeface="Calibri"/>
                        </a:rPr>
                        <a:t>AWS scripts (dry-run tested)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deploy/aws/delta-lake/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deploy/aws/iceberg/</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11480">
                <a:tc>
                  <a:txBody>
                    <a:bodyPr wrap="square"/>
                    <a:lstStyle/>
                    <a:p>
                      <a:r>
                        <a:rPr sz="1100" b="1" i="0">
                          <a:solidFill>
                            <a:srgbClr val="1C2433"/>
                          </a:solidFill>
                          <a:latin typeface="Calibri"/>
                        </a:rPr>
                        <a:t>Catalog</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the table's log in S3</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path-based in S3, or Glue (run: 2.9.6)</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11480">
                <a:tc>
                  <a:txBody>
                    <a:bodyPr wrap="square"/>
                    <a:lstStyle/>
                    <a:p>
                      <a:r>
                        <a:rPr sz="1100" b="1" i="0">
                          <a:solidFill>
                            <a:srgbClr val="1C2433"/>
                          </a:solidFill>
                          <a:latin typeface="Calibri"/>
                        </a:rPr>
                        <a:t>A promoted column added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new table + backfill; in place: 2.9.6</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in place, by field id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11480">
                <a:tc>
                  <a:txBody>
                    <a:bodyPr wrap="square"/>
                    <a:lstStyle/>
                    <a:p>
                      <a:r>
                        <a:rPr sz="1100" b="1" i="0">
                          <a:solidFill>
                            <a:srgbClr val="1C2433"/>
                          </a:solidFill>
                          <a:latin typeface="Calibri"/>
                        </a:rPr>
                        <a:t>Conversion between the two</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2.9.6</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2.9.6</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bl>
          </a:graphicData>
        </a:graphic>
      </p:graphicFrame>
      <p:sp>
        <p:nvSpPr>
          <p:cNvPr id="10" name="Rounded Rectangle 9"/>
          <p:cNvSpPr/>
          <p:nvPr/>
        </p:nvSpPr>
        <p:spPr>
          <a:xfrm>
            <a:off x="8046720" y="1143000"/>
            <a:ext cx="3730752" cy="1783080"/>
          </a:xfrm>
          <a:prstGeom prst="roundRect">
            <a:avLst>
              <a:gd name="adj" fmla="val 6000"/>
            </a:avLst>
          </a:prstGeom>
          <a:solidFill>
            <a:srgbClr val="DDEE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8138160" y="1188720"/>
            <a:ext cx="3547872"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Equal to the cent</a:t>
            </a:r>
          </a:p>
        </p:txBody>
      </p:sp>
      <p:sp>
        <p:nvSpPr>
          <p:cNvPr id="12" name="TextBox 11"/>
          <p:cNvSpPr txBox="1"/>
          <p:nvPr/>
        </p:nvSpPr>
        <p:spPr>
          <a:xfrm>
            <a:off x="8138160" y="1508760"/>
            <a:ext cx="3547872" cy="137160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100" b="0" i="0">
                <a:solidFill>
                  <a:srgbClr val="0E7C86"/>
                </a:solidFill>
                <a:latin typeface="Consolas"/>
              </a:rPr>
              <a:t>VarFormatEqualityTest</a:t>
            </a:r>
            <a:r>
              <a:rPr sz="1100" b="0" i="0">
                <a:solidFill>
                  <a:srgbClr val="1C2433"/>
                </a:solidFill>
                <a:latin typeface="Calibri"/>
              </a:rPr>
              <a:t>: VaR, ES, components, limits, limit letters, intraday, official; USD and EUR</a:t>
            </a:r>
          </a:p>
          <a:p>
            <a:pPr algn="l" marL="201168" indent="-201168">
              <a:spcAft>
                <a:spcPts val="200"/>
              </a:spcAft>
              <a:buClr>
                <a:srgbClr val="E87A1E"/>
              </a:buClr>
              <a:buSzPct val="100000"/>
              <a:buFont typeface="Arial"/>
              <a:buChar char="•"/>
            </a:pPr>
            <a:r>
              <a:rPr sz="1100" b="0" i="0">
                <a:solidFill>
                  <a:srgbClr val="0E7C86"/>
                </a:solidFill>
                <a:latin typeface="Consolas"/>
              </a:rPr>
              <a:t>ExposureFormatEqualityTest</a:t>
            </a:r>
            <a:r>
              <a:rPr sz="1100" b="0" i="0">
                <a:solidFill>
                  <a:srgbClr val="1C2433"/>
                </a:solidFill>
                <a:latin typeface="Calibri"/>
              </a:rPr>
              <a:t>: EE, PFE, EPE, profiles</a:t>
            </a:r>
          </a:p>
          <a:p>
            <a:pPr algn="l" marL="201168" indent="-201168">
              <a:spcAft>
                <a:spcPts val="200"/>
              </a:spcAft>
              <a:buClr>
                <a:srgbClr val="E87A1E"/>
              </a:buClr>
              <a:buSzPct val="100000"/>
              <a:buFont typeface="Arial"/>
              <a:buChar char="•"/>
            </a:pPr>
            <a:r>
              <a:rPr sz="1100" b="0" i="0">
                <a:solidFill>
                  <a:srgbClr val="1C2433"/>
                </a:solidFill>
                <a:latin typeface="Calibri"/>
              </a:rPr>
              <a:t>demo: </a:t>
            </a:r>
            <a:r>
              <a:rPr sz="1100" b="0" i="0">
                <a:solidFill>
                  <a:srgbClr val="0E7C86"/>
                </a:solidFill>
                <a:latin typeface="Consolas"/>
              </a:rPr>
              <a:t>VAR BANK</a:t>
            </a:r>
            <a:r>
              <a:rPr sz="1100" b="0" i="0">
                <a:solidFill>
                  <a:srgbClr val="1C2433"/>
                </a:solidFill>
                <a:latin typeface="Calibri"/>
              </a:rPr>
              <a:t> USD 112,041,646 on both</a:t>
            </a:r>
          </a:p>
        </p:txBody>
      </p:sp>
      <p:sp>
        <p:nvSpPr>
          <p:cNvPr id="13" name="Status BUILT · 2.9.5"/>
          <p:cNvSpPr/>
          <p:nvPr/>
        </p:nvSpPr>
        <p:spPr>
          <a:xfrm>
            <a:off x="8156448" y="3017520"/>
            <a:ext cx="1188720" cy="237744"/>
          </a:xfrm>
          <a:prstGeom prst="roundRect">
            <a:avLst>
              <a:gd name="adj" fmla="val 50000"/>
            </a:avLst>
          </a:prstGeom>
          <a:solidFill>
            <a:srgbClr val="0E7C86"/>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000" b="1" i="0">
                <a:solidFill>
                  <a:srgbClr val="FFFFFF"/>
                </a:solidFill>
                <a:latin typeface="Calibri"/>
              </a:rPr>
              <a:t>BUILT · 2.9.5</a:t>
            </a:r>
          </a:p>
        </p:txBody>
      </p:sp>
      <p:sp>
        <p:nvSpPr>
          <p:cNvPr id="14" name="Rounded Rectangle 13"/>
          <p:cNvSpPr/>
          <p:nvPr/>
        </p:nvSpPr>
        <p:spPr>
          <a:xfrm>
            <a:off x="8046720" y="3474720"/>
            <a:ext cx="3730752" cy="123444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xtBox 14"/>
          <p:cNvSpPr txBox="1"/>
          <p:nvPr/>
        </p:nvSpPr>
        <p:spPr>
          <a:xfrm>
            <a:off x="8156448" y="3520440"/>
            <a:ext cx="3520440" cy="320040"/>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The demo risk domain, moved</a:t>
            </a:r>
          </a:p>
        </p:txBody>
      </p:sp>
      <p:sp>
        <p:nvSpPr>
          <p:cNvPr id="16" name="TextBox 15"/>
          <p:cNvSpPr txBox="1"/>
          <p:nvPr/>
        </p:nvSpPr>
        <p:spPr>
          <a:xfrm>
            <a:off x="8156448" y="3840480"/>
            <a:ext cx="3520440" cy="822960"/>
          </a:xfrm>
          <a:prstGeom prst="rect">
            <a:avLst/>
          </a:prstGeom>
          <a:noFill/>
        </p:spPr>
        <p:txBody>
          <a:bodyPr wrap="square" lIns="0" rIns="0" tIns="0" bIns="0" anchor="t">
            <a:spAutoFit/>
          </a:bodyPr>
          <a:lstStyle/>
          <a:p>
            <a:pPr algn="l">
              <a:spcAft>
                <a:spcPts val="600"/>
              </a:spcAft>
              <a:buNone/>
            </a:pPr>
            <a:r>
              <a:rPr sz="1200" b="1" i="0">
                <a:solidFill>
                  <a:srgbClr val="1C2433"/>
                </a:solidFill>
                <a:latin typeface="Calibri"/>
              </a:rPr>
              <a:t>14 tables</a:t>
            </a:r>
            <a:r>
              <a:rPr sz="1200" b="0" i="0">
                <a:solidFill>
                  <a:srgbClr val="1C2433"/>
                </a:solidFill>
                <a:latin typeface="Calibri"/>
              </a:rPr>
              <a:t>, </a:t>
            </a:r>
            <a:r>
              <a:rPr sz="1200" b="1" i="0">
                <a:solidFill>
                  <a:srgbClr val="1C2433"/>
                </a:solidFill>
                <a:latin typeface="Calibri"/>
              </a:rPr>
              <a:t>955,124 rows</a:t>
            </a:r>
            <a:r>
              <a:rPr sz="1200" b="0" i="0">
                <a:solidFill>
                  <a:srgbClr val="1C2433"/>
                </a:solidFill>
                <a:latin typeface="Calibri"/>
              </a:rPr>
              <a:t> moved into Iceberg in </a:t>
            </a:r>
            <a:r>
              <a:rPr sz="1200" b="1" i="0">
                <a:solidFill>
                  <a:srgbClr val="1C2433"/>
                </a:solidFill>
                <a:latin typeface="Calibri"/>
              </a:rPr>
              <a:t>579 s</a:t>
            </a:r>
            <a:r>
              <a:rPr sz="1200" b="0" i="0">
                <a:solidFill>
                  <a:srgbClr val="1C2433"/>
                </a:solidFill>
                <a:latin typeface="Calibri"/>
              </a:rPr>
              <a:t> (</a:t>
            </a:r>
            <a:r>
              <a:rPr sz="1100" b="0" i="0">
                <a:solidFill>
                  <a:srgbClr val="0E7C86"/>
                </a:solidFill>
                <a:latin typeface="Consolas"/>
              </a:rPr>
              <a:t>--store risk=iceberg</a:t>
            </a:r>
            <a:r>
              <a:rPr sz="1200" b="0" i="0">
                <a:solidFill>
                  <a:srgbClr val="1C2433"/>
                </a:solidFill>
                <a:latin typeface="Calibri"/>
              </a:rPr>
              <a:t>)</a:t>
            </a:r>
          </a:p>
        </p:txBody>
      </p:sp>
      <p:sp>
        <p:nvSpPr>
          <p:cNvPr id="17" name="Status MEASURED (demo)"/>
          <p:cNvSpPr/>
          <p:nvPr/>
        </p:nvSpPr>
        <p:spPr>
          <a:xfrm>
            <a:off x="8156448" y="4800600"/>
            <a:ext cx="1371600" cy="237744"/>
          </a:xfrm>
          <a:prstGeom prst="roundRect">
            <a:avLst>
              <a:gd name="adj" fmla="val 50000"/>
            </a:avLst>
          </a:prstGeom>
          <a:solidFill>
            <a:srgbClr val="0B1E3B"/>
          </a:solidFill>
          <a:ln w="15875">
            <a:solidFill>
              <a:srgbClr val="0B1E3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000" b="1" i="0">
                <a:solidFill>
                  <a:srgbClr val="FFFFFF"/>
                </a:solidFill>
                <a:latin typeface="Calibri"/>
              </a:rPr>
              <a:t>MEASURED (demo)</a:t>
            </a:r>
          </a:p>
        </p:txBody>
      </p:sp>
      <p:sp>
        <p:nvSpPr>
          <p:cNvPr id="18" name="TextBox 17"/>
          <p:cNvSpPr txBox="1"/>
          <p:nvPr/>
        </p:nvSpPr>
        <p:spPr>
          <a:xfrm>
            <a:off x="8046720" y="5166360"/>
            <a:ext cx="3730752" cy="640080"/>
          </a:xfrm>
          <a:prstGeom prst="rect">
            <a:avLst/>
          </a:prstGeom>
          <a:noFill/>
        </p:spPr>
        <p:txBody>
          <a:bodyPr wrap="square" lIns="0" rIns="0" tIns="0" bIns="0" anchor="t">
            <a:spAutoFit/>
          </a:bodyPr>
          <a:lstStyle/>
          <a:p>
            <a:pPr algn="l">
              <a:spcAft>
                <a:spcPts val="600"/>
              </a:spcAft>
              <a:buNone/>
            </a:pPr>
            <a:r>
              <a:rPr sz="1100" b="0" i="0">
                <a:solidFill>
                  <a:srgbClr val="5B677A"/>
                </a:solidFill>
                <a:latin typeface="Calibri"/>
              </a:rPr>
              <a:t>an observation on the demo data, not a sizing rule; the 2.3M benchmark on both is 2.9.6</a:t>
            </a:r>
          </a:p>
        </p:txBody>
      </p:sp>
      <p:sp>
        <p:nvSpPr>
          <p:cNvPr id="19" name="TextBox 18"/>
          <p:cNvSpPr txBox="1"/>
          <p:nvPr/>
        </p:nvSpPr>
        <p:spPr>
          <a:xfrm>
            <a:off x="411480" y="5943600"/>
            <a:ext cx="11338560" cy="411480"/>
          </a:xfrm>
          <a:prstGeom prst="rect">
            <a:avLst/>
          </a:prstGeom>
          <a:noFill/>
        </p:spPr>
        <p:txBody>
          <a:bodyPr wrap="square" lIns="0" rIns="0" tIns="0" bIns="0" anchor="t">
            <a:spAutoFit/>
          </a:bodyPr>
          <a:lstStyle/>
          <a:p>
            <a:pPr algn="l">
              <a:spcAft>
                <a:spcPts val="600"/>
              </a:spcAft>
              <a:buNone/>
            </a:pPr>
            <a:r>
              <a:rPr sz="1200" b="0" i="0">
                <a:solidFill>
                  <a:srgbClr val="5B677A"/>
                </a:solidFill>
                <a:latin typeface="Calibri"/>
              </a:rPr>
              <a:t>Choose per connector: nothing above the storage changes. Delta stays the default, and the scripts, sizing and runbooks of this deck are Delta's; the companion deck covers Iceberg.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The companion deck: Drishti on AWS with Apache Iceberg</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1</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11</a:t>
            </a:r>
          </a:p>
        </p:txBody>
      </p:sp>
      <p:sp>
        <p:nvSpPr>
          <p:cNvPr id="9" name="Rounded Rectangle 8"/>
          <p:cNvSpPr/>
          <p:nvPr/>
        </p:nvSpPr>
        <p:spPr>
          <a:xfrm>
            <a:off x="411480" y="1234440"/>
            <a:ext cx="4754880" cy="5029200"/>
          </a:xfrm>
          <a:prstGeom prst="roundRect">
            <a:avLst>
              <a:gd name="adj" fmla="val 4000"/>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TextBox 9"/>
          <p:cNvSpPr txBox="1"/>
          <p:nvPr/>
        </p:nvSpPr>
        <p:spPr>
          <a:xfrm>
            <a:off x="731520" y="1463040"/>
            <a:ext cx="4206240" cy="457200"/>
          </a:xfrm>
          <a:prstGeom prst="rect">
            <a:avLst/>
          </a:prstGeom>
          <a:noFill/>
        </p:spPr>
        <p:txBody>
          <a:bodyPr wrap="square" lIns="0" rIns="0" tIns="0" bIns="0" anchor="t">
            <a:spAutoFit/>
          </a:bodyPr>
          <a:lstStyle/>
          <a:p>
            <a:pPr algn="l">
              <a:spcAft>
                <a:spcPts val="600"/>
              </a:spcAft>
              <a:buNone/>
            </a:pPr>
            <a:r>
              <a:rPr sz="1300" b="1" i="0">
                <a:solidFill>
                  <a:srgbClr val="E87A1E"/>
                </a:solidFill>
                <a:latin typeface="Calibri"/>
              </a:rPr>
              <a:t>COMPANION DECK</a:t>
            </a:r>
          </a:p>
        </p:txBody>
      </p:sp>
      <p:sp>
        <p:nvSpPr>
          <p:cNvPr id="11" name="TextBox 10"/>
          <p:cNvSpPr txBox="1"/>
          <p:nvPr/>
        </p:nvSpPr>
        <p:spPr>
          <a:xfrm>
            <a:off x="731520" y="1920240"/>
            <a:ext cx="4206240" cy="1280160"/>
          </a:xfrm>
          <a:prstGeom prst="rect">
            <a:avLst/>
          </a:prstGeom>
          <a:noFill/>
        </p:spPr>
        <p:txBody>
          <a:bodyPr wrap="square" lIns="0" rIns="0" tIns="0" bIns="0" anchor="t">
            <a:spAutoFit/>
          </a:bodyPr>
          <a:lstStyle/>
          <a:p>
            <a:pPr algn="l">
              <a:spcAft>
                <a:spcPts val="600"/>
              </a:spcAft>
              <a:buNone/>
            </a:pPr>
            <a:r>
              <a:rPr sz="2800" b="1" i="0">
                <a:solidFill>
                  <a:srgbClr val="FFFFFF"/>
                </a:solidFill>
                <a:latin typeface="Calibri"/>
              </a:rPr>
              <a:t>Drishti on AWS with Apache Iceberg</a:t>
            </a:r>
          </a:p>
        </p:txBody>
      </p:sp>
      <p:sp>
        <p:nvSpPr>
          <p:cNvPr id="12" name="TextBox 11"/>
          <p:cNvSpPr txBox="1"/>
          <p:nvPr/>
        </p:nvSpPr>
        <p:spPr>
          <a:xfrm>
            <a:off x="731520" y="3337560"/>
            <a:ext cx="4206240" cy="457200"/>
          </a:xfrm>
          <a:prstGeom prst="rect">
            <a:avLst/>
          </a:prstGeom>
          <a:noFill/>
        </p:spPr>
        <p:txBody>
          <a:bodyPr wrap="square" lIns="0" rIns="0" tIns="0" bIns="0" anchor="t">
            <a:spAutoFit/>
          </a:bodyPr>
          <a:lstStyle/>
          <a:p>
            <a:pPr algn="l">
              <a:spcAft>
                <a:spcPts val="600"/>
              </a:spcAft>
              <a:buNone/>
            </a:pPr>
            <a:r>
              <a:rPr sz="1400" b="0" i="0">
                <a:solidFill>
                  <a:srgbClr val="C9D3E3"/>
                </a:solidFill>
                <a:latin typeface="Calibri"/>
              </a:rPr>
              <a:t>Drishti-AWS-Iceberg.pptx · 77 slides</a:t>
            </a:r>
          </a:p>
        </p:txBody>
      </p:sp>
      <p:sp>
        <p:nvSpPr>
          <p:cNvPr id="13" name="TextBox 12"/>
          <p:cNvSpPr txBox="1"/>
          <p:nvPr/>
        </p:nvSpPr>
        <p:spPr>
          <a:xfrm>
            <a:off x="731520" y="3931920"/>
            <a:ext cx="4206240" cy="2103120"/>
          </a:xfrm>
          <a:prstGeom prst="rect">
            <a:avLst/>
          </a:prstGeom>
          <a:noFill/>
        </p:spPr>
        <p:txBody>
          <a:bodyPr wrap="square" lIns="0" rIns="0" tIns="0" bIns="0" anchor="t">
            <a:spAutoFit/>
          </a:bodyPr>
          <a:lstStyle/>
          <a:p>
            <a:pPr algn="l">
              <a:spcAft>
                <a:spcPts val="600"/>
              </a:spcAft>
              <a:buNone/>
            </a:pPr>
            <a:r>
              <a:rPr sz="1400" b="0" i="0">
                <a:solidFill>
                  <a:srgbClr val="C9D3E3"/>
                </a:solidFill>
                <a:latin typeface="Calibri"/>
              </a:rPr>
              <a:t>Read it with this deck: the same picture, the same S3-not-EFS answer, the same Drishti above the storage; Iceberg's own catalog, files, maintenance and a guide to choosing.</a:t>
            </a:r>
          </a:p>
        </p:txBody>
      </p:sp>
      <p:sp>
        <p:nvSpPr>
          <p:cNvPr id="14" name="TextBox 13"/>
          <p:cNvSpPr txBox="1"/>
          <p:nvPr/>
        </p:nvSpPr>
        <p:spPr>
          <a:xfrm>
            <a:off x="5486400" y="1234440"/>
            <a:ext cx="6309360" cy="411480"/>
          </a:xfrm>
          <a:prstGeom prst="rect">
            <a:avLst/>
          </a:prstGeom>
          <a:noFill/>
        </p:spPr>
        <p:txBody>
          <a:bodyPr wrap="square" lIns="0" rIns="0" tIns="0" bIns="0" anchor="t">
            <a:spAutoFit/>
          </a:bodyPr>
          <a:lstStyle/>
          <a:p>
            <a:pPr algn="l">
              <a:spcAft>
                <a:spcPts val="600"/>
              </a:spcAft>
              <a:buNone/>
            </a:pPr>
            <a:r>
              <a:rPr sz="1700" b="1" i="0">
                <a:solidFill>
                  <a:srgbClr val="0B1E3B"/>
                </a:solidFill>
                <a:latin typeface="Calibri"/>
              </a:rPr>
              <a:t>What it covers</a:t>
            </a:r>
          </a:p>
        </p:txBody>
      </p:sp>
      <p:sp>
        <p:nvSpPr>
          <p:cNvPr id="15" name="TextBox 14"/>
          <p:cNvSpPr txBox="1"/>
          <p:nvPr/>
        </p:nvSpPr>
        <p:spPr>
          <a:xfrm>
            <a:off x="5486400" y="1691640"/>
            <a:ext cx="6309360" cy="3291840"/>
          </a:xfrm>
          <a:prstGeom prst="rect">
            <a:avLst/>
          </a:prstGeom>
          <a:noFill/>
        </p:spPr>
        <p:txBody>
          <a:bodyPr wrap="square" lIns="0" rIns="0" tIns="0" bIns="0" anchor="t">
            <a:spAutoFit/>
          </a:bodyPr>
          <a:lstStyle/>
          <a:p>
            <a:pPr algn="l" marL="201168" indent="-201168">
              <a:spcAft>
                <a:spcPts val="700"/>
              </a:spcAft>
              <a:buClr>
                <a:srgbClr val="E87A1E"/>
              </a:buClr>
              <a:buSzPct val="100000"/>
              <a:buFont typeface="Arial"/>
              <a:buChar char="•"/>
            </a:pPr>
            <a:r>
              <a:rPr sz="1400" b="0" i="0">
                <a:solidFill>
                  <a:srgbClr val="1C2433"/>
                </a:solidFill>
                <a:latin typeface="Calibri"/>
              </a:rPr>
              <a:t>drishti-iceberg as built: native engine, no Hadoop; path-based tables and REST catalogs (SigV4 for Glue; live run 2.9.6)</a:t>
            </a:r>
          </a:p>
          <a:p>
            <a:pPr algn="l" marL="201168" indent="-201168">
              <a:spcAft>
                <a:spcPts val="700"/>
              </a:spcAft>
              <a:buClr>
                <a:srgbClr val="E87A1E"/>
              </a:buClr>
              <a:buSzPct val="100000"/>
              <a:buFont typeface="Arial"/>
              <a:buChar char="•"/>
            </a:pPr>
            <a:r>
              <a:rPr sz="1400" b="0" i="0">
                <a:solidFill>
                  <a:srgbClr val="1C2433"/>
                </a:solidFill>
                <a:latin typeface="Calibri"/>
              </a:rPr>
              <a:t>deploying on AWS with Iceberg: catalog, IAM, KMS, network</a:t>
            </a:r>
          </a:p>
          <a:p>
            <a:pPr algn="l" marL="201168" indent="-201168">
              <a:spcAft>
                <a:spcPts val="700"/>
              </a:spcAft>
              <a:buClr>
                <a:srgbClr val="E87A1E"/>
              </a:buClr>
              <a:buSzPct val="100000"/>
              <a:buFont typeface="Arial"/>
              <a:buChar char="•"/>
            </a:pPr>
            <a:r>
              <a:rPr sz="1400" b="0" i="0">
                <a:solidFill>
                  <a:srgbClr val="1C2433"/>
                </a:solidFill>
                <a:latin typeface="Calibri"/>
              </a:rPr>
              <a:t>layout, files, loading and maintenance in Iceberg terms</a:t>
            </a:r>
          </a:p>
          <a:p>
            <a:pPr algn="l" marL="201168" indent="-201168">
              <a:spcAft>
                <a:spcPts val="700"/>
              </a:spcAft>
              <a:buClr>
                <a:srgbClr val="E87A1E"/>
              </a:buClr>
              <a:buSzPct val="100000"/>
              <a:buFont typeface="Arial"/>
              <a:buChar char="•"/>
            </a:pPr>
            <a:r>
              <a:rPr sz="1400" b="1" i="0">
                <a:solidFill>
                  <a:srgbClr val="1C2433"/>
                </a:solidFill>
                <a:latin typeface="Calibri"/>
              </a:rPr>
              <a:t>Delta Lake and Iceberg side by side</a:t>
            </a:r>
            <a:r>
              <a:rPr sz="1400" b="0" i="0">
                <a:solidFill>
                  <a:srgbClr val="1C2433"/>
                </a:solidFill>
                <a:latin typeface="Calibri"/>
              </a:rPr>
              <a:t>, and </a:t>
            </a:r>
            <a:r>
              <a:rPr sz="1400" b="1" i="0">
                <a:solidFill>
                  <a:srgbClr val="1C2433"/>
                </a:solidFill>
                <a:latin typeface="Calibri"/>
              </a:rPr>
              <a:t>which to choose: a guide for a bank</a:t>
            </a:r>
          </a:p>
          <a:p>
            <a:pPr algn="l" marL="201168" indent="-201168">
              <a:spcAft>
                <a:spcPts val="700"/>
              </a:spcAft>
              <a:buClr>
                <a:srgbClr val="E87A1E"/>
              </a:buClr>
              <a:buSzPct val="100000"/>
              <a:buFont typeface="Arial"/>
              <a:buChar char="•"/>
            </a:pPr>
            <a:r>
              <a:rPr sz="1400" b="0" i="0">
                <a:solidFill>
                  <a:srgbClr val="1C2433"/>
                </a:solidFill>
                <a:latin typeface="Calibri"/>
              </a:rPr>
              <a:t>risk workloads on Iceberg (2.9.5, BUILT): VaR, intraday, exposure; official results to S3 in either format</a:t>
            </a:r>
          </a:p>
          <a:p>
            <a:pPr algn="l" marL="201168" indent="-201168">
              <a:spcAft>
                <a:spcPts val="700"/>
              </a:spcAft>
              <a:buClr>
                <a:srgbClr val="E87A1E"/>
              </a:buClr>
              <a:buSzPct val="100000"/>
              <a:buFont typeface="Arial"/>
              <a:buChar char="•"/>
            </a:pPr>
            <a:r>
              <a:rPr sz="1400" b="0" i="0">
                <a:solidFill>
                  <a:srgbClr val="1C2433"/>
                </a:solidFill>
                <a:latin typeface="Calibri"/>
              </a:rPr>
              <a:t>migration and coexistence</a:t>
            </a:r>
          </a:p>
          <a:p>
            <a:pPr algn="l" marL="201168" indent="-201168">
              <a:spcAft>
                <a:spcPts val="700"/>
              </a:spcAft>
              <a:buClr>
                <a:srgbClr val="E87A1E"/>
              </a:buClr>
              <a:buSzPct val="100000"/>
              <a:buFont typeface="Arial"/>
              <a:buChar char="•"/>
            </a:pPr>
            <a:r>
              <a:rPr sz="1300" b="0" i="0">
                <a:solidFill>
                  <a:srgbClr val="0E7C86"/>
                </a:solidFill>
                <a:latin typeface="Consolas"/>
              </a:rPr>
              <a:t>iceberg-external</a:t>
            </a:r>
            <a:r>
              <a:rPr sz="1400" b="0" i="0">
                <a:solidFill>
                  <a:srgbClr val="1C2433"/>
                </a:solidFill>
                <a:latin typeface="Calibri"/>
              </a:rPr>
              <a:t>: reading tables Spark, Flink, Trino or Glue write</a:t>
            </a:r>
          </a:p>
        </p:txBody>
      </p:sp>
      <p:sp>
        <p:nvSpPr>
          <p:cNvPr id="16" name="Callout"/>
          <p:cNvSpPr/>
          <p:nvPr/>
        </p:nvSpPr>
        <p:spPr>
          <a:xfrm>
            <a:off x="5486400" y="5120640"/>
            <a:ext cx="6291072" cy="1143000"/>
          </a:xfrm>
          <a:prstGeom prst="roundRect">
            <a:avLst>
              <a:gd name="adj" fmla="val 6000"/>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Callout edge"/>
          <p:cNvSpPr/>
          <p:nvPr/>
        </p:nvSpPr>
        <p:spPr>
          <a:xfrm>
            <a:off x="5486400" y="5138927"/>
            <a:ext cx="82296" cy="1106424"/>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xtBox 17"/>
          <p:cNvSpPr txBox="1"/>
          <p:nvPr/>
        </p:nvSpPr>
        <p:spPr>
          <a:xfrm>
            <a:off x="5715000" y="5193792"/>
            <a:ext cx="5925312" cy="996696"/>
          </a:xfrm>
          <a:prstGeom prst="rect">
            <a:avLst/>
          </a:prstGeom>
          <a:noFill/>
        </p:spPr>
        <p:txBody>
          <a:bodyPr wrap="square" lIns="0" rIns="0" tIns="0" bIns="0" anchor="ctr">
            <a:spAutoFit/>
          </a:bodyPr>
          <a:lstStyle/>
          <a:p>
            <a:pPr algn="l">
              <a:spcAft>
                <a:spcPts val="600"/>
              </a:spcAft>
              <a:buNone/>
            </a:pPr>
            <a:r>
              <a:rPr sz="1300" b="0" i="0">
                <a:solidFill>
                  <a:srgbClr val="1C2433"/>
                </a:solidFill>
                <a:latin typeface="Calibri"/>
              </a:rPr>
              <a:t>This deck stays on Delta, the default: its scripts, risk lake and sizing are Delta's. Choose the format per connector; slides 9 and 10 show why nothing above it changes.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Number"/>
          <p:cNvSpPr txBox="1"/>
          <p:nvPr/>
        </p:nvSpPr>
        <p:spPr>
          <a:xfrm>
            <a:off x="4754880" y="-822960"/>
            <a:ext cx="7223760" cy="7863840"/>
          </a:xfrm>
          <a:prstGeom prst="rect">
            <a:avLst/>
          </a:prstGeom>
          <a:noFill/>
        </p:spPr>
        <p:txBody>
          <a:bodyPr wrap="square" lIns="0" rIns="0" tIns="0" bIns="0" anchor="ctr">
            <a:spAutoFit/>
          </a:bodyPr>
          <a:lstStyle/>
          <a:p>
            <a:pPr algn="r">
              <a:spcAft>
                <a:spcPts val="600"/>
              </a:spcAft>
              <a:buNone/>
            </a:pPr>
            <a:r>
              <a:rPr sz="42000" b="1" i="0">
                <a:solidFill>
                  <a:srgbClr val="1C3560"/>
                </a:solidFill>
                <a:latin typeface="Calibri"/>
              </a:rPr>
              <a:t>02</a:t>
            </a:r>
          </a:p>
        </p:txBody>
      </p:sp>
      <p:sp>
        <p:nvSpPr>
          <p:cNvPr id="4" name="Title"/>
          <p:cNvSpPr txBox="1"/>
          <p:nvPr/>
        </p:nvSpPr>
        <p:spPr>
          <a:xfrm>
            <a:off x="822960" y="2514600"/>
            <a:ext cx="6949440" cy="1828800"/>
          </a:xfrm>
          <a:prstGeom prst="rect">
            <a:avLst/>
          </a:prstGeom>
          <a:noFill/>
        </p:spPr>
        <p:txBody>
          <a:bodyPr wrap="square" lIns="0" rIns="0" tIns="0" bIns="0" anchor="ctr">
            <a:spAutoFit/>
          </a:bodyPr>
          <a:lstStyle/>
          <a:p>
            <a:pPr algn="l">
              <a:spcAft>
                <a:spcPts val="600"/>
              </a:spcAft>
              <a:buNone/>
            </a:pPr>
            <a:r>
              <a:rPr sz="4400" b="1" i="0">
                <a:solidFill>
                  <a:srgbClr val="FFFFFF"/>
                </a:solidFill>
                <a:latin typeface="Calibri"/>
              </a:rPr>
              <a:t>Why S3 and not EFS for the lake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Why S3 and not EFS: the comparison</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2</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13</a:t>
            </a:r>
          </a:p>
        </p:txBody>
      </p:sp>
      <p:graphicFrame>
        <p:nvGraphicFramePr>
          <p:cNvPr id="9" name="Table"/>
          <p:cNvGraphicFramePr>
            <a:graphicFrameLocks noGrp="1"/>
          </p:cNvGraphicFramePr>
          <p:nvPr/>
        </p:nvGraphicFramePr>
        <p:xfrm>
          <a:off x="411480" y="1143000"/>
          <a:ext cx="11365992" cy="4023360"/>
        </p:xfrm>
        <a:graphic>
          <a:graphicData uri="http://schemas.openxmlformats.org/drawingml/2006/table">
            <a:tbl>
              <a:tblPr firstRow="0" bandRow="0">
                <a:tableStyleId>{5940675A-B579-460E-94D1-54222C63F5DA}</a:tableStyleId>
              </a:tblPr>
              <a:tblGrid>
                <a:gridCol w="2377440"/>
                <a:gridCol w="4572000"/>
                <a:gridCol w="4416552"/>
              </a:tblGrid>
              <a:tr h="502920">
                <a:tc>
                  <a:txBody>
                    <a:bodyPr wrap="square"/>
                    <a:lstStyle/>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Amazon S3</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Amazon EFS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502920">
                <a:tc>
                  <a:txBody>
                    <a:bodyPr wrap="square"/>
                    <a:lstStyle/>
                    <a:p>
                      <a:r>
                        <a:rPr sz="1200" b="1" i="0">
                          <a:solidFill>
                            <a:srgbClr val="1C2433"/>
                          </a:solidFill>
                          <a:latin typeface="Calibri"/>
                        </a:rPr>
                        <a:t>Cost of 200 TB (list prices, one Region)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about </a:t>
                      </a:r>
                      <a:r>
                        <a:rPr sz="1200" b="1" i="0">
                          <a:solidFill>
                            <a:srgbClr val="1C2433"/>
                          </a:solidFill>
                          <a:latin typeface="Calibri"/>
                        </a:rPr>
                        <a:t>USD 1,400 a month</a:t>
                      </a:r>
                      <a:r>
                        <a:rPr sz="1200" b="0" i="0">
                          <a:solidFill>
                            <a:srgbClr val="1C2433"/>
                          </a:solidFill>
                          <a:latin typeface="Calibri"/>
                        </a:rPr>
                        <a:t> tiered by business date; USD 4,600 all in Standard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1" i="0">
                          <a:solidFill>
                            <a:srgbClr val="1C2433"/>
                          </a:solidFill>
                          <a:latin typeface="Calibri"/>
                        </a:rPr>
                        <a:t>USD 60,000 a month</a:t>
                      </a:r>
                      <a:r>
                        <a:rPr sz="1200" b="0" i="0">
                          <a:solidFill>
                            <a:srgbClr val="1C2433"/>
                          </a:solidFill>
                          <a:latin typeface="Calibri"/>
                        </a:rPr>
                        <a:t> in EFS Standard; USD 3,200 in Infrequent Access plus a charge on every byte read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02920">
                <a:tc>
                  <a:txBody>
                    <a:bodyPr wrap="square"/>
                    <a:lstStyle/>
                    <a:p>
                      <a:r>
                        <a:rPr sz="1200" b="1" i="0">
                          <a:solidFill>
                            <a:srgbClr val="1C2433"/>
                          </a:solidFill>
                          <a:latin typeface="Calibri"/>
                        </a:rPr>
                        <a:t>Request rate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at least 3,500 writes and 5,500 reads a second per prefix; every </a:t>
                      </a:r>
                      <a:r>
                        <a:rPr sz="1100" b="0" i="0">
                          <a:solidFill>
                            <a:srgbClr val="0E7C86"/>
                          </a:solidFill>
                          <a:latin typeface="Consolas"/>
                        </a:rPr>
                        <a:t>business_date=…/PRODUCT_TYPE=…/</a:t>
                      </a:r>
                      <a:r>
                        <a:rPr sz="1200" b="0" i="0">
                          <a:solidFill>
                            <a:srgbClr val="1C2433"/>
                          </a:solidFill>
                          <a:latin typeface="Calibri"/>
                        </a:rPr>
                        <a:t> folder is a prefix</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one file system's limits, shared by every node, loader and maintenance job</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02920">
                <a:tc>
                  <a:txBody>
                    <a:bodyPr wrap="square"/>
                    <a:lstStyle/>
                    <a:p>
                      <a:r>
                        <a:rPr sz="1200" b="1" i="0">
                          <a:solidFill>
                            <a:srgbClr val="1C2433"/>
                          </a:solidFill>
                          <a:latin typeface="Calibri"/>
                        </a:rPr>
                        <a:t>Latency of a single read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10–30 ms to the first byte in-Region; Drishti reads one row group</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about 1 ms for hot data in Standard; tens of ms in IA</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02920">
                <a:tc>
                  <a:txBody>
                    <a:bodyPr wrap="square"/>
                    <a:lstStyle/>
                    <a:p>
                      <a:r>
                        <a:rPr sz="1200" b="1" i="0">
                          <a:solidFill>
                            <a:srgbClr val="1C2433"/>
                          </a:solidFill>
                          <a:latin typeface="Calibri"/>
                        </a:rPr>
                        <a:t>Durability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eleven nines, ≥ 3 AZs, versioning, Cross-Region Replication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Regional (three zones); backup by AWS Backup</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02920">
                <a:tc>
                  <a:txBody>
                    <a:bodyPr wrap="square"/>
                    <a:lstStyle/>
                    <a:p>
                      <a:r>
                        <a:rPr sz="1200" b="1" i="0">
                          <a:solidFill>
                            <a:srgbClr val="1C2433"/>
                          </a:solidFill>
                          <a:latin typeface="Calibri"/>
                        </a:rPr>
                        <a:t>Tiers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Standard → Standard-IA → Glacier Instant Retrieval (still ms), by date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Standard → IA → Archive by last access only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02920">
                <a:tc>
                  <a:txBody>
                    <a:bodyPr wrap="square"/>
                    <a:lstStyle/>
                    <a:p>
                      <a:r>
                        <a:rPr sz="1200" b="1" i="0">
                          <a:solidFill>
                            <a:srgbClr val="1C2433"/>
                          </a:solidFill>
                          <a:latin typeface="Calibri"/>
                        </a:rPr>
                        <a:t>Other readers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Athena, Trino, Spark, EMR, Glue read the same Delta tables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only something that mounts the file system</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02920">
                <a:tc>
                  <a:txBody>
                    <a:bodyPr wrap="square"/>
                    <a:lstStyle/>
                    <a:p>
                      <a:r>
                        <a:rPr sz="1200" b="1" i="0">
                          <a:solidFill>
                            <a:srgbClr val="1C2433"/>
                          </a:solidFill>
                          <a:latin typeface="Calibri"/>
                        </a:rPr>
                        <a:t>Writers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conditional writes make concurrent commits safe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a hard link on a POSIX file system</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bl>
          </a:graphicData>
        </a:graphic>
      </p:graphicFrame>
      <p:sp>
        <p:nvSpPr>
          <p:cNvPr id="10" name="Callout"/>
          <p:cNvSpPr/>
          <p:nvPr/>
        </p:nvSpPr>
        <p:spPr>
          <a:xfrm>
            <a:off x="411480" y="5532120"/>
            <a:ext cx="11365992" cy="777240"/>
          </a:xfrm>
          <a:prstGeom prst="roundRect">
            <a:avLst>
              <a:gd name="adj" fmla="val 6000"/>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allout edge"/>
          <p:cNvSpPr/>
          <p:nvPr/>
        </p:nvSpPr>
        <p:spPr>
          <a:xfrm>
            <a:off x="411480" y="5550407"/>
            <a:ext cx="82296" cy="740664"/>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640080" y="5605272"/>
            <a:ext cx="11000232" cy="630936"/>
          </a:xfrm>
          <a:prstGeom prst="rect">
            <a:avLst/>
          </a:prstGeom>
          <a:noFill/>
        </p:spPr>
        <p:txBody>
          <a:bodyPr wrap="square" lIns="0" rIns="0" tIns="0" bIns="0" anchor="ctr">
            <a:spAutoFit/>
          </a:bodyPr>
          <a:lstStyle/>
          <a:p>
            <a:pPr algn="l">
              <a:spcAft>
                <a:spcPts val="600"/>
              </a:spcAft>
              <a:buNone/>
            </a:pPr>
            <a:r>
              <a:rPr sz="1300" b="0" i="0">
                <a:solidFill>
                  <a:srgbClr val="1C2433"/>
                </a:solidFill>
                <a:latin typeface="Calibri"/>
              </a:rPr>
              <a:t>At 200 TB+ EFS costs 10–40× more and shares one throughput budget. Drishti reads one day's files, one row group of one file, by byte ranges: built for object storage. </a:t>
            </a:r>
            <a:r>
              <a:rPr sz="1300" b="1" i="0">
                <a:solidFill>
                  <a:srgbClr val="1C2433"/>
                </a:solidFill>
                <a:latin typeface="Calibri"/>
              </a:rPr>
              <a:t>The lake is in S3; EFS keeps the small, hot, per-node state.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Number"/>
          <p:cNvSpPr txBox="1"/>
          <p:nvPr/>
        </p:nvSpPr>
        <p:spPr>
          <a:xfrm>
            <a:off x="4754880" y="-822960"/>
            <a:ext cx="7223760" cy="7863840"/>
          </a:xfrm>
          <a:prstGeom prst="rect">
            <a:avLst/>
          </a:prstGeom>
          <a:noFill/>
        </p:spPr>
        <p:txBody>
          <a:bodyPr wrap="square" lIns="0" rIns="0" tIns="0" bIns="0" anchor="ctr">
            <a:spAutoFit/>
          </a:bodyPr>
          <a:lstStyle/>
          <a:p>
            <a:pPr algn="r">
              <a:spcAft>
                <a:spcPts val="600"/>
              </a:spcAft>
              <a:buNone/>
            </a:pPr>
            <a:r>
              <a:rPr sz="42000" b="1" i="0">
                <a:solidFill>
                  <a:srgbClr val="1C3560"/>
                </a:solidFill>
                <a:latin typeface="Calibri"/>
              </a:rPr>
              <a:t>03</a:t>
            </a:r>
          </a:p>
        </p:txBody>
      </p:sp>
      <p:sp>
        <p:nvSpPr>
          <p:cNvPr id="4" name="Title"/>
          <p:cNvSpPr txBox="1"/>
          <p:nvPr/>
        </p:nvSpPr>
        <p:spPr>
          <a:xfrm>
            <a:off x="822960" y="2514600"/>
            <a:ext cx="6949440" cy="1828800"/>
          </a:xfrm>
          <a:prstGeom prst="rect">
            <a:avLst/>
          </a:prstGeom>
          <a:noFill/>
        </p:spPr>
        <p:txBody>
          <a:bodyPr wrap="square" lIns="0" rIns="0" tIns="0" bIns="0" anchor="ctr">
            <a:spAutoFit/>
          </a:bodyPr>
          <a:lstStyle/>
          <a:p>
            <a:pPr algn="l">
              <a:spcAft>
                <a:spcPts val="600"/>
              </a:spcAft>
              <a:buNone/>
            </a:pPr>
            <a:r>
              <a:rPr sz="4400" b="1" i="0">
                <a:solidFill>
                  <a:srgbClr val="FFFFFF"/>
                </a:solidFill>
                <a:latin typeface="Calibri"/>
              </a:rPr>
              <a:t>Built, designed, proposed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Built (1/2): the lake on S3, as in the first edition</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3</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15</a:t>
            </a:r>
          </a:p>
        </p:txBody>
      </p:sp>
      <p:graphicFrame>
        <p:nvGraphicFramePr>
          <p:cNvPr id="9" name="Table"/>
          <p:cNvGraphicFramePr>
            <a:graphicFrameLocks noGrp="1"/>
          </p:cNvGraphicFramePr>
          <p:nvPr/>
        </p:nvGraphicFramePr>
        <p:xfrm>
          <a:off x="411480" y="1143000"/>
          <a:ext cx="11365991" cy="4535424"/>
        </p:xfrm>
        <a:graphic>
          <a:graphicData uri="http://schemas.openxmlformats.org/drawingml/2006/table">
            <a:tbl>
              <a:tblPr firstRow="0" bandRow="0">
                <a:tableStyleId>{5940675A-B579-460E-94D1-54222C63F5DA}</a:tableStyleId>
              </a:tblPr>
              <a:tblGrid>
                <a:gridCol w="6400799"/>
                <a:gridCol w="1737360"/>
                <a:gridCol w="3227832"/>
              </a:tblGrid>
              <a:tr h="566928">
                <a:tc>
                  <a:txBody>
                    <a:bodyPr wrap="square"/>
                    <a:lstStyle/>
                    <a:p>
                      <a:r>
                        <a:rPr sz="1200" b="1" i="0">
                          <a:solidFill>
                            <a:srgbClr val="FFFFFF"/>
                          </a:solidFill>
                          <a:latin typeface="Calibri"/>
                        </a:rPr>
                        <a:t>Capability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Status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Where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566928">
                <a:tc>
                  <a:txBody>
                    <a:bodyPr wrap="square"/>
                    <a:lstStyle/>
                    <a:p>
                      <a:r>
                        <a:rPr sz="1200" b="1" i="0">
                          <a:solidFill>
                            <a:srgbClr val="1C2433"/>
                          </a:solidFill>
                          <a:latin typeface="Calibri"/>
                        </a:rPr>
                        <a:t>Reading Delta tables in S3: file lists from the last checkpoint, id maps, one row group per read, footers cached, documents cached on disk</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0E7C86"/>
                          </a:solidFill>
                          <a:latin typeface="Calibri"/>
                        </a:rPr>
                        <a:t>BUILT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drishti-deltalake, drishti-lakeio, plugins/drishti-plugin-delta</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66928">
                <a:tc>
                  <a:txBody>
                    <a:bodyPr wrap="square"/>
                    <a:lstStyle/>
                    <a:p>
                      <a:r>
                        <a:rPr sz="1100" b="1" i="0">
                          <a:solidFill>
                            <a:srgbClr val="0E7C86"/>
                          </a:solidFill>
                          <a:latin typeface="Consolas"/>
                        </a:rPr>
                        <a:t>lake build</a:t>
                      </a:r>
                      <a:r>
                        <a:rPr sz="1200" b="1" i="0">
                          <a:solidFill>
                            <a:srgbClr val="1C2433"/>
                          </a:solidFill>
                          <a:latin typeface="Calibri"/>
                        </a:rPr>
                        <a:t>: JSON Lines into a Delta table on local disk or EFS: promoted and vector columns, partitions, sorted by id per batch</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0E7C86"/>
                          </a:solidFill>
                          <a:latin typeface="Calibri"/>
                        </a:rPr>
                        <a:t>BUILT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tools/lake/build.py, the Java writer in the server jar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66928">
                <a:tc>
                  <a:txBody>
                    <a:bodyPr wrap="square"/>
                    <a:lstStyle/>
                    <a:p>
                      <a:r>
                        <a:rPr sz="1100" b="1" i="0">
                          <a:solidFill>
                            <a:srgbClr val="0E7C86"/>
                          </a:solidFill>
                          <a:latin typeface="Consolas"/>
                        </a:rPr>
                        <a:t>lake publish</a:t>
                      </a:r>
                      <a:r>
                        <a:rPr sz="1200" b="1" i="0">
                          <a:solidFill>
                            <a:srgbClr val="1C2433"/>
                          </a:solidFill>
                          <a:latin typeface="Calibri"/>
                        </a:rPr>
                        <a:t>: a built table committed into an S3 table as ONE commit (S3 conditional writes)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0E7C86"/>
                          </a:solidFill>
                          <a:latin typeface="Calibri"/>
                        </a:rPr>
                        <a:t>BUILT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tools/lake/publish.py, test_publish.py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66928">
                <a:tc>
                  <a:txBody>
                    <a:bodyPr wrap="square"/>
                    <a:lstStyle/>
                    <a:p>
                      <a:r>
                        <a:rPr sz="1100" b="1" i="0">
                          <a:solidFill>
                            <a:srgbClr val="0E7C86"/>
                          </a:solidFill>
                          <a:latin typeface="Consolas"/>
                        </a:rPr>
                        <a:t>lake maintain</a:t>
                      </a:r>
                      <a:r>
                        <a:rPr sz="1200" b="1" i="0">
                          <a:solidFill>
                            <a:srgbClr val="1C2433"/>
                          </a:solidFill>
                          <a:latin typeface="Calibri"/>
                        </a:rPr>
                        <a:t> on </a:t>
                      </a:r>
                      <a:r>
                        <a:rPr sz="1100" b="1" i="0">
                          <a:solidFill>
                            <a:srgbClr val="0E7C86"/>
                          </a:solidFill>
                          <a:latin typeface="Consolas"/>
                        </a:rPr>
                        <a:t>s3://</a:t>
                      </a:r>
                      <a:r>
                        <a:rPr sz="1200" b="1" i="0">
                          <a:solidFill>
                            <a:srgbClr val="1C2433"/>
                          </a:solidFill>
                          <a:latin typeface="Calibri"/>
                        </a:rPr>
                        <a:t>: retention, checkpoint, vacuum; relayout of the per-source trade tables (fixed in 2.6.7)</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0E7C86"/>
                          </a:solidFill>
                          <a:latin typeface="Calibri"/>
                        </a:rPr>
                        <a:t>BUILT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tools/lake/maintain.py (</a:t>
                      </a:r>
                      <a:r>
                        <a:rPr sz="1100" b="0" i="0">
                          <a:solidFill>
                            <a:srgbClr val="0E7C86"/>
                          </a:solidFill>
                          <a:latin typeface="Consolas"/>
                        </a:rPr>
                        <a:t>--force-foreign</a:t>
                      </a:r>
                      <a:r>
                        <a:rPr sz="1200" b="0" i="0">
                          <a:solidFill>
                            <a:srgbClr val="1C2433"/>
                          </a:solidFill>
                          <a:latin typeface="Calibri"/>
                        </a:rPr>
                        <a: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66928">
                <a:tc>
                  <a:txBody>
                    <a:bodyPr wrap="square"/>
                    <a:lstStyle/>
                    <a:p>
                      <a:r>
                        <a:rPr sz="1200" b="1" i="0">
                          <a:solidFill>
                            <a:srgbClr val="1C2433"/>
                          </a:solidFill>
                          <a:latin typeface="Calibri"/>
                        </a:rPr>
                        <a:t>Buckets, IAM, conditional-write check, lifecycle tiers, alarms, report, load, backfill, maintenance, EFS, Cloud Map, task definitions, schedules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0E7C86"/>
                          </a:solidFill>
                          <a:latin typeface="Calibri"/>
                        </a:rPr>
                        <a:t>BUILT · dry-run tested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deploy/aws/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66928">
                <a:tc>
                  <a:txBody>
                    <a:bodyPr wrap="square"/>
                    <a:lstStyle/>
                    <a:p>
                      <a:r>
                        <a:rPr sz="1200" b="1" i="0">
                          <a:solidFill>
                            <a:srgbClr val="1C2433"/>
                          </a:solidFill>
                          <a:latin typeface="Calibri"/>
                        </a:rPr>
                        <a:t>ECS images (server, console, loader) and entry points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0E7C86"/>
                          </a:solidFill>
                          <a:latin typeface="Calibri"/>
                        </a:rPr>
                        <a:t>BUILT · files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deploy/docker/ecs/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66928">
                <a:tc>
                  <a:txBody>
                    <a:bodyPr wrap="square"/>
                    <a:lstStyle/>
                    <a:p>
                      <a:r>
                        <a:rPr sz="1200" b="1" i="0">
                          <a:solidFill>
                            <a:srgbClr val="1C2433"/>
                          </a:solidFill>
                          <a:latin typeface="Calibri"/>
                        </a:rPr>
                        <a:t>Drishti*net shards by table; replicas send one entity to the same node by a hash of its id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0E7C86"/>
                          </a:solidFill>
                          <a:latin typeface="Calibri"/>
                        </a:rPr>
                        <a:t>BUILT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DRISHTI_NET.md §7, §10</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Built (2/2): added since 2.6.0</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3</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16</a:t>
            </a:r>
          </a:p>
        </p:txBody>
      </p:sp>
      <p:graphicFrame>
        <p:nvGraphicFramePr>
          <p:cNvPr id="9" name="Table"/>
          <p:cNvGraphicFramePr>
            <a:graphicFrameLocks noGrp="1"/>
          </p:cNvGraphicFramePr>
          <p:nvPr/>
        </p:nvGraphicFramePr>
        <p:xfrm>
          <a:off x="411480" y="1143000"/>
          <a:ext cx="11365992" cy="5266944"/>
        </p:xfrm>
        <a:graphic>
          <a:graphicData uri="http://schemas.openxmlformats.org/drawingml/2006/table">
            <a:tbl>
              <a:tblPr firstRow="0" bandRow="0">
                <a:tableStyleId>{5940675A-B579-460E-94D1-54222C63F5DA}</a:tableStyleId>
              </a:tblPr>
              <a:tblGrid>
                <a:gridCol w="7223760"/>
                <a:gridCol w="822960"/>
                <a:gridCol w="3319272"/>
              </a:tblGrid>
              <a:tr h="438912">
                <a:tc>
                  <a:txBody>
                    <a:bodyPr wrap="square"/>
                    <a:lstStyle/>
                    <a:p>
                      <a:r>
                        <a:rPr sz="1100" b="1" i="0">
                          <a:solidFill>
                            <a:srgbClr val="FFFFFF"/>
                          </a:solidFill>
                          <a:latin typeface="Calibri"/>
                        </a:rPr>
                        <a:t>Capability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00" b="1" i="0">
                          <a:solidFill>
                            <a:srgbClr val="FFFFFF"/>
                          </a:solidFill>
                          <a:latin typeface="Calibri"/>
                        </a:rPr>
                        <a:t>Release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00" b="1" i="0">
                          <a:solidFill>
                            <a:srgbClr val="FFFFFF"/>
                          </a:solidFill>
                          <a:latin typeface="Calibri"/>
                        </a:rPr>
                        <a:t>Where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438912">
                <a:tc>
                  <a:txBody>
                    <a:bodyPr wrap="square"/>
                    <a:lstStyle/>
                    <a:p>
                      <a:r>
                        <a:rPr sz="1100" b="1" i="0">
                          <a:solidFill>
                            <a:srgbClr val="1C2433"/>
                          </a:solidFill>
                          <a:latin typeface="Calibri"/>
                        </a:rPr>
                        <a:t>History queries over the lake (</a:t>
                      </a:r>
                      <a:r>
                        <a:rPr sz="1100" b="1" i="0">
                          <a:solidFill>
                            <a:srgbClr val="0E7C86"/>
                          </a:solidFill>
                          <a:latin typeface="Consolas"/>
                        </a:rPr>
                        <a:t>TRD &lt;id&gt; 30</a:t>
                      </a:r>
                      <a:r>
                        <a:rPr sz="1100" b="1" i="0">
                          <a:solidFill>
                            <a:srgbClr val="1C2433"/>
                          </a:solidFill>
                          <a:latin typeface="Calibri"/>
                        </a:rPr>
                        <a:t>, </a:t>
                      </a:r>
                      <a:r>
                        <a:rPr sz="1100" b="1" i="0">
                          <a:solidFill>
                            <a:srgbClr val="0E7C86"/>
                          </a:solidFill>
                          <a:latin typeface="Consolas"/>
                        </a:rPr>
                        <a:t>knownAt</a:t>
                      </a:r>
                      <a:r>
                        <a:rPr sz="1100" b="1" i="0">
                          <a:solidFill>
                            <a:srgbClr val="1C2433"/>
                          </a:solidFill>
                          <a:latin typeface="Calibri"/>
                        </a:rPr>
                        <a:t>), the Delta fast path, across Drishti*net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2.6.5</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HISTORY_QUERIES.md, DELTA_CONNECTOR.md §8</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38912">
                <a:tc>
                  <a:txBody>
                    <a:bodyPr wrap="square"/>
                    <a:lstStyle/>
                    <a:p>
                      <a:r>
                        <a:rPr sz="1100" b="1" i="0">
                          <a:solidFill>
                            <a:srgbClr val="1C2433"/>
                          </a:solidFill>
                          <a:latin typeface="Calibri"/>
                        </a:rPr>
                        <a:t>Delta and Iceberg side by side, per source system; one connector per system</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2.6.7</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build_demo_lakes.py </a:t>
                      </a:r>
                      <a:r>
                        <a:rPr sz="1100" b="0" i="0">
                          <a:solidFill>
                            <a:srgbClr val="0E7C86"/>
                          </a:solidFill>
                          <a:latin typeface="Consolas"/>
                        </a:rPr>
                        <a:t>--store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38912">
                <a:tc>
                  <a:txBody>
                    <a:bodyPr wrap="square"/>
                    <a:lstStyle/>
                    <a:p>
                      <a:r>
                        <a:rPr sz="1100" b="1" i="0">
                          <a:solidFill>
                            <a:srgbClr val="1C2433"/>
                          </a:solidFill>
                          <a:latin typeface="Calibri"/>
                        </a:rPr>
                        <a:t>Drishti*net gossip on its own port; peer data over HTTP/2</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2.6.7</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NET.md §4, §7</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38912">
                <a:tc>
                  <a:txBody>
                    <a:bodyPr wrap="square"/>
                    <a:lstStyle/>
                    <a:p>
                      <a:r>
                        <a:rPr sz="1100" b="1" i="0">
                          <a:solidFill>
                            <a:srgbClr val="1C2433"/>
                          </a:solidFill>
                          <a:latin typeface="Calibri"/>
                        </a:rPr>
                        <a:t>Content store with an S3 backend (conditional PUT, ETag); S3 on S3Mock, moto, MinIO</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2.7.0</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CONTENT_STORE.md, TOOLS.md §4.12</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38912">
                <a:tc>
                  <a:txBody>
                    <a:bodyPr wrap="square"/>
                    <a:lstStyle/>
                    <a:p>
                      <a:r>
                        <a:rPr sz="1100" b="1" i="0">
                          <a:solidFill>
                            <a:srgbClr val="1C2433"/>
                          </a:solidFill>
                          <a:latin typeface="Calibri"/>
                        </a:rPr>
                        <a:t>Vector columns </a:t>
                      </a:r>
                      <a:r>
                        <a:rPr sz="1100" b="1" i="0">
                          <a:solidFill>
                            <a:srgbClr val="0E7C86"/>
                          </a:solidFill>
                          <a:latin typeface="Consolas"/>
                        </a:rPr>
                        <a:t>list&lt;double&gt;</a:t>
                      </a:r>
                      <a:r>
                        <a:rPr sz="1100" b="1" i="0">
                          <a:solidFill>
                            <a:srgbClr val="1C2433"/>
                          </a:solidFill>
                          <a:latin typeface="Calibri"/>
                        </a:rPr>
                        <a:t>; VaR inputs in </a:t>
                      </a:r>
                      <a:r>
                        <a:rPr sz="1100" b="1" i="0">
                          <a:solidFill>
                            <a:srgbClr val="0E7C86"/>
                          </a:solidFill>
                          <a:latin typeface="Consolas"/>
                        </a:rPr>
                        <a:t>risk/</a:t>
                      </a:r>
                      <a:r>
                        <a:rPr sz="1100" b="1" i="0">
                          <a:solidFill>
                            <a:srgbClr val="1C2433"/>
                          </a:solidFill>
                          <a:latin typeface="Calibri"/>
                        </a:rPr>
                        <a:t>; 7-year floor; official VaR append-only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2.8.0</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VAR_GUIDE.md §15, §19, §29</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38912">
                <a:tc>
                  <a:txBody>
                    <a:bodyPr wrap="square"/>
                    <a:lstStyle/>
                    <a:p>
                      <a:r>
                        <a:rPr sz="1100" b="1" i="0">
                          <a:solidFill>
                            <a:srgbClr val="0E7C86"/>
                          </a:solidFill>
                          <a:latin typeface="Consolas"/>
                        </a:rPr>
                        <a:t>exposure-path</a:t>
                      </a:r>
                      <a:r>
                        <a:rPr sz="1100" b="1" i="0">
                          <a:solidFill>
                            <a:srgbClr val="1C2433"/>
                          </a:solidFill>
                          <a:latin typeface="Calibri"/>
                        </a:rPr>
                        <a:t> vectors; official exposure; VaR and exposure in BI from the published results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2.9.0</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EXPOSURE_GUIDE.md §15, §20</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38912">
                <a:tc>
                  <a:txBody>
                    <a:bodyPr wrap="square"/>
                    <a:lstStyle/>
                    <a:p>
                      <a:r>
                        <a:rPr sz="1100" b="1" i="0">
                          <a:solidFill>
                            <a:srgbClr val="1C2433"/>
                          </a:solidFill>
                          <a:latin typeface="Calibri"/>
                        </a:rPr>
                        <a:t>DATAMAP: kinds, counts and joins checked against the lake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2.9.3</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USER_GUIDE.md, </a:t>
                      </a:r>
                      <a:r>
                        <a:rPr sz="1100" b="0" i="0">
                          <a:solidFill>
                            <a:srgbClr val="0E7C86"/>
                          </a:solidFill>
                          <a:latin typeface="Consolas"/>
                        </a:rPr>
                        <a:t>/api/v1/datamap</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38912">
                <a:tc>
                  <a:txBody>
                    <a:bodyPr wrap="square"/>
                    <a:lstStyle/>
                    <a:p>
                      <a:r>
                        <a:rPr sz="1100" b="1" i="0">
                          <a:solidFill>
                            <a:srgbClr val="1C2433"/>
                          </a:solidFill>
                          <a:latin typeface="Calibri"/>
                        </a:rPr>
                        <a:t>JSON Lines standard; CSV deprecated; official results as JSONL; scenario PVs; intraday and Kafka batches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2.9.4</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DATA_FORMATS.md, VAR_GUIDE.md §8.4, §15.9</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38912">
                <a:tc>
                  <a:txBody>
                    <a:bodyPr wrap="square"/>
                    <a:lstStyle/>
                    <a:p>
                      <a:r>
                        <a:rPr sz="1100" b="1" i="0">
                          <a:solidFill>
                            <a:srgbClr val="1C2433"/>
                          </a:solidFill>
                          <a:latin typeface="Calibri"/>
                        </a:rPr>
                        <a:t>Official results straight to </a:t>
                      </a:r>
                      <a:r>
                        <a:rPr sz="1100" b="1" i="0">
                          <a:solidFill>
                            <a:srgbClr val="0E7C86"/>
                          </a:solidFill>
                          <a:latin typeface="Consolas"/>
                        </a:rPr>
                        <a:t>s3://</a:t>
                      </a:r>
                      <a:r>
                        <a:rPr sz="1100" b="1" i="0">
                          <a:solidFill>
                            <a:srgbClr val="1C2433"/>
                          </a:solidFill>
                          <a:latin typeface="Calibri"/>
                        </a:rPr>
                        <a:t>, Delta (default) or Iceberg; each Delta commit an exclusive create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2.9.5</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VAR_GUIDE.md §19, AWS_DEPLOYMENT.md §22</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38912">
                <a:tc>
                  <a:txBody>
                    <a:bodyPr wrap="square"/>
                    <a:lstStyle/>
                    <a:p>
                      <a:r>
                        <a:rPr sz="1100" b="1" i="0">
                          <a:solidFill>
                            <a:srgbClr val="1C2433"/>
                          </a:solidFill>
                          <a:latin typeface="Calibri"/>
                        </a:rPr>
                        <a:t>Iceberg a full alternative: VaR, intraday, exposure, official; </a:t>
                      </a:r>
                      <a:r>
                        <a:rPr sz="1100" b="1" i="0">
                          <a:solidFill>
                            <a:srgbClr val="0E7C86"/>
                          </a:solidFill>
                          <a:latin typeface="Consolas"/>
                        </a:rPr>
                        <a:t>deploy/aws/iceberg/</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2.9.5</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ICEBERG_CONNECTOR.md §18–19</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38912">
                <a:tc>
                  <a:txBody>
                    <a:bodyPr wrap="square"/>
                    <a:lstStyle/>
                    <a:p>
                      <a:r>
                        <a:rPr sz="1100" b="1" i="0">
                          <a:solidFill>
                            <a:srgbClr val="1C2433"/>
                          </a:solidFill>
                          <a:latin typeface="Calibri"/>
                        </a:rPr>
                        <a:t>Connector upgrades: unedited files follow the pack, edited ones gain keys; hierarchies by columns, </a:t>
                      </a:r>
                      <a:r>
                        <a:rPr sz="1100" b="1" i="0">
                          <a:solidFill>
                            <a:srgbClr val="0E7C86"/>
                          </a:solidFill>
                          <a:latin typeface="Consolas"/>
                        </a:rPr>
                        <a:t>var-limit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2.9.5</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CONNECTOR_FILES.md, VAR_GUIDE.md §5.2</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Designed: cluster scale-out and sharding</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3</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17</a:t>
            </a:r>
          </a:p>
        </p:txBody>
      </p:sp>
      <p:graphicFrame>
        <p:nvGraphicFramePr>
          <p:cNvPr id="9" name="Table"/>
          <p:cNvGraphicFramePr>
            <a:graphicFrameLocks noGrp="1"/>
          </p:cNvGraphicFramePr>
          <p:nvPr/>
        </p:nvGraphicFramePr>
        <p:xfrm>
          <a:off x="411480" y="1143000"/>
          <a:ext cx="11365992" cy="4389120"/>
        </p:xfrm>
        <a:graphic>
          <a:graphicData uri="http://schemas.openxmlformats.org/drawingml/2006/table">
            <a:tbl>
              <a:tblPr firstRow="0" bandRow="0">
                <a:tableStyleId>{5940675A-B579-460E-94D1-54222C63F5DA}</a:tableStyleId>
              </a:tblPr>
              <a:tblGrid>
                <a:gridCol w="1737360"/>
                <a:gridCol w="5486400"/>
                <a:gridCol w="4142232"/>
              </a:tblGrid>
              <a:tr h="548640">
                <a:tc>
                  <a:txBody>
                    <a:bodyPr wrap="square"/>
                    <a:lstStyle/>
                    <a:p>
                      <a:r>
                        <a:rPr sz="1200" b="1" i="0">
                          <a:solidFill>
                            <a:srgbClr val="FFFFFF"/>
                          </a:solidFill>
                          <a:latin typeface="Calibri"/>
                        </a:rPr>
                        <a:t>Item</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What it adds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Why it matters at scale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548640">
                <a:tc>
                  <a:txBody>
                    <a:bodyPr wrap="square"/>
                    <a:lstStyle/>
                    <a:p>
                      <a:r>
                        <a:rPr sz="1200" b="1" i="0">
                          <a:solidFill>
                            <a:srgbClr val="1C2433"/>
                          </a:solidFill>
                          <a:latin typeface="Calibri"/>
                        </a:rPr>
                        <a:t>S1</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Range maps from the log's per-file id statistics; Parquet Bloom filters on id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find an id without building a day's id map</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48640">
                <a:tc>
                  <a:txBody>
                    <a:bodyPr wrap="square"/>
                    <a:lstStyle/>
                    <a:p>
                      <a:r>
                        <a:rPr sz="1200" b="1" i="0">
                          <a:solidFill>
                            <a:srgbClr val="1C2433"/>
                          </a:solidFill>
                          <a:latin typeface="Calibri"/>
                        </a:rPr>
                        <a:t>S2</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Tables by year (</a:t>
                      </a:r>
                      <a:r>
                        <a:rPr sz="1100" b="0" i="0">
                          <a:solidFill>
                            <a:srgbClr val="0E7C86"/>
                          </a:solidFill>
                          <a:latin typeface="Consolas"/>
                        </a:rPr>
                        <a:t>root: …/{year}</a:t>
                      </a:r>
                      <a:r>
                        <a:rPr sz="1200" b="0" i="0">
                          <a:solidFill>
                            <a:srgbClr val="1C2433"/>
                          </a:solidFill>
                          <a:latin typeface="Calibri"/>
                        </a:rPr>
                        <a:t>), closing a year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a table's checkpoint stops growing with seven years of live files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48640">
                <a:tc>
                  <a:txBody>
                    <a:bodyPr wrap="square"/>
                    <a:lstStyle/>
                    <a:p>
                      <a:r>
                        <a:rPr sz="1200" b="1" i="0">
                          <a:solidFill>
                            <a:srgbClr val="1C2433"/>
                          </a:solidFill>
                          <a:latin typeface="Calibri"/>
                        </a:rPr>
                        <a:t>S3</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A loader fleet writing slices of one table at once; a day register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loads of very large days finish in the window</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48640">
                <a:tc>
                  <a:txBody>
                    <a:bodyPr wrap="square"/>
                    <a:lstStyle/>
                    <a:p>
                      <a:r>
                        <a:rPr sz="1200" b="1" i="0">
                          <a:solidFill>
                            <a:srgbClr val="1C2433"/>
                          </a:solidFill>
                          <a:latin typeface="Calibri"/>
                        </a:rPr>
                        <a:t>S4</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Products (link indexes, group totals, rollups, id lists) written with the data</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aggregates and links without scanning</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48640">
                <a:tc>
                  <a:txBody>
                    <a:bodyPr wrap="square"/>
                    <a:lstStyle/>
                    <a:p>
                      <a:r>
                        <a:rPr sz="1200" b="1" i="0">
                          <a:solidFill>
                            <a:srgbClr val="1C2433"/>
                          </a:solidFill>
                          <a:latin typeface="Calibri"/>
                        </a:rPr>
                        <a:t>S5, S6</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Each server owns a share of (table, day) slices on the ring</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N servers hold N × one server's working set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48640">
                <a:tc>
                  <a:txBody>
                    <a:bodyPr wrap="square"/>
                    <a:lstStyle/>
                    <a:p>
                      <a:r>
                        <a:rPr sz="1200" b="1" i="0">
                          <a:solidFill>
                            <a:srgbClr val="1C2433"/>
                          </a:solidFill>
                          <a:latin typeface="Calibri"/>
                        </a:rPr>
                        <a:t>S7, S8</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Warm tier of memory-mapped column files; benchmark at scale in AWS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hot days from memory; measured numbers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48640">
                <a:tc>
                  <a:txBody>
                    <a:bodyPr wrap="square"/>
                    <a:lstStyle/>
                    <a:p>
                      <a:r>
                        <a:rPr sz="1200" b="1" i="0">
                          <a:solidFill>
                            <a:srgbClr val="1C2433"/>
                          </a:solidFill>
                          <a:latin typeface="Calibri"/>
                        </a:rPr>
                        <a:t>VaR sharding (2.9.6)</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Each server maps only its ranges of a VaR date; partial vectors added in a fixed order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one VaR date larger than one server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bl>
          </a:graphicData>
        </a:graphic>
      </p:graphicFrame>
      <p:sp>
        <p:nvSpPr>
          <p:cNvPr id="10" name="Status DESIGNED · 2.9.6"/>
          <p:cNvSpPr/>
          <p:nvPr/>
        </p:nvSpPr>
        <p:spPr>
          <a:xfrm>
            <a:off x="10241280" y="5897880"/>
            <a:ext cx="1508760" cy="237744"/>
          </a:xfrm>
          <a:prstGeom prst="roundRect">
            <a:avLst>
              <a:gd name="adj" fmla="val 50000"/>
            </a:avLst>
          </a:prstGeom>
          <a:solidFill>
            <a:srgbClr val="FFFFFF"/>
          </a:solidFill>
          <a:ln w="15875">
            <a:solidFill>
              <a:srgbClr val="0B1E3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000" b="1" i="0">
                <a:solidFill>
                  <a:srgbClr val="0B1E3B"/>
                </a:solidFill>
                <a:latin typeface="Calibri"/>
              </a:rPr>
              <a:t>DESIGNED · 2.9.6</a:t>
            </a:r>
          </a:p>
        </p:txBody>
      </p:sp>
      <p:sp>
        <p:nvSpPr>
          <p:cNvPr id="11" name="Status DESIGNED"/>
          <p:cNvSpPr/>
          <p:nvPr/>
        </p:nvSpPr>
        <p:spPr>
          <a:xfrm>
            <a:off x="9098280" y="5897880"/>
            <a:ext cx="1051560" cy="237744"/>
          </a:xfrm>
          <a:prstGeom prst="roundRect">
            <a:avLst>
              <a:gd name="adj" fmla="val 50000"/>
            </a:avLst>
          </a:prstGeom>
          <a:solidFill>
            <a:srgbClr val="FFFFFF"/>
          </a:solidFill>
          <a:ln w="15875">
            <a:solidFill>
              <a:srgbClr val="0B1E3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000" b="1" i="0">
                <a:solidFill>
                  <a:srgbClr val="0B1E3B"/>
                </a:solidFill>
                <a:latin typeface="Calibri"/>
              </a:rPr>
              <a:t>DESIGNED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Proposed by this deck: not yet in the docs</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3</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18</a:t>
            </a:r>
          </a:p>
        </p:txBody>
      </p:sp>
      <p:graphicFrame>
        <p:nvGraphicFramePr>
          <p:cNvPr id="9" name="Table"/>
          <p:cNvGraphicFramePr>
            <a:graphicFrameLocks noGrp="1"/>
          </p:cNvGraphicFramePr>
          <p:nvPr/>
        </p:nvGraphicFramePr>
        <p:xfrm>
          <a:off x="411480" y="1143000"/>
          <a:ext cx="11365991" cy="4389120"/>
        </p:xfrm>
        <a:graphic>
          <a:graphicData uri="http://schemas.openxmlformats.org/drawingml/2006/table">
            <a:tbl>
              <a:tblPr firstRow="0" bandRow="0">
                <a:tableStyleId>{5940675A-B579-460E-94D1-54222C63F5DA}</a:tableStyleId>
              </a:tblPr>
              <a:tblGrid>
                <a:gridCol w="457200"/>
                <a:gridCol w="6309359"/>
                <a:gridCol w="4599432"/>
              </a:tblGrid>
              <a:tr h="548640">
                <a:tc>
                  <a:txBody>
                    <a:bodyPr wrap="square"/>
                    <a:lstStyle/>
                    <a:p>
                      <a:r>
                        <a:rPr sz="1200" b="1" i="0">
                          <a:solidFill>
                            <a:srgbClr val="FFFFFF"/>
                          </a:solidFill>
                          <a:latin typeface="Calibri"/>
                        </a:rPr>
                        <a: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Proposal</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Why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548640">
                <a:tc>
                  <a:txBody>
                    <a:bodyPr wrap="square"/>
                    <a:lstStyle/>
                    <a:p>
                      <a:r>
                        <a:rPr sz="1200" b="1" i="0">
                          <a:solidFill>
                            <a:srgbClr val="1C2433"/>
                          </a:solidFill>
                          <a:latin typeface="Calibri"/>
                        </a:rPr>
                        <a:t>1</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Set node.yaml </a:t>
                      </a:r>
                      <a:r>
                        <a:rPr sz="1100" b="0" i="0">
                          <a:solidFill>
                            <a:srgbClr val="0E7C86"/>
                          </a:solidFill>
                          <a:latin typeface="Consolas"/>
                        </a:rPr>
                        <a:t>gossip-port</a:t>
                      </a:r>
                      <a:r>
                        <a:rPr sz="1200" b="0" i="0">
                          <a:solidFill>
                            <a:srgbClr val="1C2433"/>
                          </a:solidFill>
                          <a:latin typeface="Calibri"/>
                        </a:rPr>
                        <a:t> to a fixed number on ECS and open it in the </a:t>
                      </a:r>
                      <a:r>
                        <a:rPr sz="1100" b="0" i="0">
                          <a:solidFill>
                            <a:srgbClr val="0E7C86"/>
                          </a:solidFill>
                          <a:latin typeface="Consolas"/>
                        </a:rPr>
                        <a:t>drishti-node</a:t>
                      </a:r>
                      <a:r>
                        <a:rPr sz="1200" b="0" i="0">
                          <a:solidFill>
                            <a:srgbClr val="1C2433"/>
                          </a:solidFill>
                          <a:latin typeface="Calibri"/>
                        </a:rPr>
                        <a:t> security group</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auto</a:t>
                      </a:r>
                      <a:r>
                        <a:rPr sz="1200" b="0" i="0">
                          <a:solidFill>
                            <a:srgbClr val="1C2433"/>
                          </a:solidFill>
                          <a:latin typeface="Calibri"/>
                        </a:rPr>
                        <a:t> changes the port at each start; behind a security group gossip falls back to 18480</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48640">
                <a:tc>
                  <a:txBody>
                    <a:bodyPr wrap="square"/>
                    <a:lstStyle/>
                    <a:p>
                      <a:r>
                        <a:rPr sz="1200" b="1" i="0">
                          <a:solidFill>
                            <a:srgbClr val="1C2433"/>
                          </a:solidFill>
                          <a:latin typeface="Calibri"/>
                        </a:rPr>
                        <a:t>2</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Kafka windows written to an EFS lake, then copied to S3 by </a:t>
                      </a:r>
                      <a:r>
                        <a:rPr sz="1100" b="0" i="0">
                          <a:solidFill>
                            <a:srgbClr val="0E7C86"/>
                          </a:solidFill>
                          <a:latin typeface="Consolas"/>
                        </a:rPr>
                        <a:t>lake publish --mode append</a:t>
                      </a:r>
                      <a:r>
                        <a:rPr sz="1200" b="0" i="0">
                          <a:solidFill>
                            <a:srgbClr val="1C2433"/>
                          </a:solidFill>
                          <a:latin typeface="Calibri"/>
                        </a:rPr>
                        <a:t> after each window</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the stream appends to a lake path, not </a:t>
                      </a:r>
                      <a:r>
                        <a:rPr sz="1100" b="0" i="0">
                          <a:solidFill>
                            <a:srgbClr val="0E7C86"/>
                          </a:solidFill>
                          <a:latin typeface="Consolas"/>
                        </a:rPr>
                        <a:t>s3://</a:t>
                      </a:r>
                      <a:r>
                        <a:rPr sz="1200" b="0" i="0">
                          <a:solidFill>
                            <a:srgbClr val="1C2433"/>
                          </a:solidFill>
                          <a:latin typeface="Calibri"/>
                        </a:rPr>
                        <a:t> (official results go to S3 themselves since 2.9.5)</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48640">
                <a:tc>
                  <a:txBody>
                    <a:bodyPr wrap="square"/>
                    <a:lstStyle/>
                    <a:p>
                      <a:r>
                        <a:rPr sz="1200" b="1" i="0">
                          <a:solidFill>
                            <a:srgbClr val="1C2433"/>
                          </a:solidFill>
                          <a:latin typeface="Calibri"/>
                        </a:rPr>
                        <a:t>3</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Re-enable </a:t>
                      </a:r>
                      <a:r>
                        <a:rPr sz="1100" b="0" i="0">
                          <a:solidFill>
                            <a:srgbClr val="0E7C86"/>
                          </a:solidFill>
                          <a:latin typeface="Consolas"/>
                        </a:rPr>
                        <a:t>compact</a:t>
                      </a:r>
                      <a:r>
                        <a:rPr sz="1200" b="0" i="0">
                          <a:solidFill>
                            <a:srgbClr val="1C2433"/>
                          </a:solidFill>
                          <a:latin typeface="Calibri"/>
                        </a:rPr>
                        <a:t> for the S3 trade tables after a relayout test on S3</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the 2.6.7 fix lays out per-source tables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48640">
                <a:tc>
                  <a:txBody>
                    <a:bodyPr wrap="square"/>
                    <a:lstStyle/>
                    <a:p>
                      <a:r>
                        <a:rPr sz="1200" b="1" i="0">
                          <a:solidFill>
                            <a:srgbClr val="1C2433"/>
                          </a:solidFill>
                          <a:latin typeface="Calibri"/>
                        </a:rPr>
                        <a:t>4</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exposure-path</a:t>
                      </a:r>
                      <a:r>
                        <a:rPr sz="1200" b="0" i="0">
                          <a:solidFill>
                            <a:srgbClr val="1C2433"/>
                          </a:solidFill>
                          <a:latin typeface="Calibri"/>
                        </a:rPr>
                        <a:t> partitioned by date and run, sorted by netting set (as EXPOSURE_GUIDE.md proposes)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a netting set in one streaming pass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48640">
                <a:tc>
                  <a:txBody>
                    <a:bodyPr wrap="square"/>
                    <a:lstStyle/>
                    <a:p>
                      <a:r>
                        <a:rPr sz="1200" b="1" i="0">
                          <a:solidFill>
                            <a:srgbClr val="1C2433"/>
                          </a:solidFill>
                          <a:latin typeface="Calibri"/>
                        </a:rPr>
                        <a:t>5</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A published Delta table of node and portfolio vectors per currency (from the VaR deck)</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BI and peers read sums, not 2.3M rows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48640">
                <a:tc>
                  <a:txBody>
                    <a:bodyPr wrap="square"/>
                    <a:lstStyle/>
                    <a:p>
                      <a:r>
                        <a:rPr sz="1200" b="1" i="0">
                          <a:solidFill>
                            <a:srgbClr val="1C2433"/>
                          </a:solidFill>
                          <a:latin typeface="Calibri"/>
                        </a:rPr>
                        <a:t>6</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Change data feed on the risk input tables (from the VaR deck)</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followers see intraday deltas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48640">
                <a:tc>
                  <a:txBody>
                    <a:bodyPr wrap="square"/>
                    <a:lstStyle/>
                    <a:p>
                      <a:r>
                        <a:rPr sz="1200" b="1" i="0">
                          <a:solidFill>
                            <a:srgbClr val="1C2433"/>
                          </a:solidFill>
                          <a:latin typeface="Calibri"/>
                        </a:rPr>
                        <a:t>7</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The bank-scale vector layout: sort by legal entity, desk, book; ZSTD + byte-stream split; ~512 MB files (VAR_GUIDE.md 29.2)</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a node is a contiguous run of rows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bl>
          </a:graphicData>
        </a:graphic>
      </p:graphicFrame>
      <p:sp>
        <p:nvSpPr>
          <p:cNvPr id="10" name="Status PROPOSED"/>
          <p:cNvSpPr/>
          <p:nvPr/>
        </p:nvSpPr>
        <p:spPr>
          <a:xfrm>
            <a:off x="10698480" y="5897880"/>
            <a:ext cx="1051560" cy="237744"/>
          </a:xfrm>
          <a:prstGeom prst="roundRect">
            <a:avLst>
              <a:gd name="adj" fmla="val 50000"/>
            </a:avLst>
          </a:prstGeom>
          <a:solidFill>
            <a:srgbClr val="FFFFFF"/>
          </a:solidFill>
          <a:ln w="15875">
            <a:solidFill>
              <a:srgbClr val="E87A1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000" b="1" i="0">
                <a:solidFill>
                  <a:srgbClr val="E87A1E"/>
                </a:solidFill>
                <a:latin typeface="Calibri"/>
              </a:rPr>
              <a:t>PROPOSED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Number"/>
          <p:cNvSpPr txBox="1"/>
          <p:nvPr/>
        </p:nvSpPr>
        <p:spPr>
          <a:xfrm>
            <a:off x="4754880" y="-822960"/>
            <a:ext cx="7223760" cy="7863840"/>
          </a:xfrm>
          <a:prstGeom prst="rect">
            <a:avLst/>
          </a:prstGeom>
          <a:noFill/>
        </p:spPr>
        <p:txBody>
          <a:bodyPr wrap="square" lIns="0" rIns="0" tIns="0" bIns="0" anchor="ctr">
            <a:spAutoFit/>
          </a:bodyPr>
          <a:lstStyle/>
          <a:p>
            <a:pPr algn="r">
              <a:spcAft>
                <a:spcPts val="600"/>
              </a:spcAft>
              <a:buNone/>
            </a:pPr>
            <a:r>
              <a:rPr sz="42000" b="1" i="0">
                <a:solidFill>
                  <a:srgbClr val="1C3560"/>
                </a:solidFill>
                <a:latin typeface="Calibri"/>
              </a:rPr>
              <a:t>04</a:t>
            </a:r>
          </a:p>
        </p:txBody>
      </p:sp>
      <p:sp>
        <p:nvSpPr>
          <p:cNvPr id="4" name="Title"/>
          <p:cNvSpPr txBox="1"/>
          <p:nvPr/>
        </p:nvSpPr>
        <p:spPr>
          <a:xfrm>
            <a:off x="822960" y="2514600"/>
            <a:ext cx="6949440" cy="1828800"/>
          </a:xfrm>
          <a:prstGeom prst="rect">
            <a:avLst/>
          </a:prstGeom>
          <a:noFill/>
        </p:spPr>
        <p:txBody>
          <a:bodyPr wrap="square" lIns="0" rIns="0" tIns="0" bIns="0" anchor="ctr">
            <a:spAutoFit/>
          </a:bodyPr>
          <a:lstStyle/>
          <a:p>
            <a:pPr algn="l">
              <a:spcAft>
                <a:spcPts val="600"/>
              </a:spcAft>
              <a:buNone/>
            </a:pPr>
            <a:r>
              <a:rPr sz="4400" b="1" i="0">
                <a:solidFill>
                  <a:srgbClr val="FFFFFF"/>
                </a:solidFill>
                <a:latin typeface="Calibri"/>
              </a:rPr>
              <a:t>First-time setup, step by step</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Setup at a glance: steps 0 to 11</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4</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20</a:t>
            </a:r>
          </a:p>
        </p:txBody>
      </p:sp>
      <p:sp>
        <p:nvSpPr>
          <p:cNvPr id="9" name="Rounded Rectangle 8"/>
          <p:cNvSpPr/>
          <p:nvPr/>
        </p:nvSpPr>
        <p:spPr>
          <a:xfrm>
            <a:off x="411480" y="1234440"/>
            <a:ext cx="2606040" cy="1325880"/>
          </a:xfrm>
          <a:prstGeom prst="roundRect">
            <a:avLst>
              <a:gd name="adj" fmla="val 8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Oval 9"/>
          <p:cNvSpPr/>
          <p:nvPr/>
        </p:nvSpPr>
        <p:spPr>
          <a:xfrm>
            <a:off x="521208" y="1362456"/>
            <a:ext cx="457200" cy="457200"/>
          </a:xfrm>
          <a:prstGeom prst="ellipse">
            <a:avLst/>
          </a:prstGeom>
          <a:solidFill>
            <a:srgbClr val="0B1E3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spcAft>
                <a:spcPts val="0"/>
              </a:spcAft>
              <a:buNone/>
            </a:pPr>
            <a:r>
              <a:rPr sz="1400" b="1" i="0">
                <a:solidFill>
                  <a:srgbClr val="FFFFFF"/>
                </a:solidFill>
                <a:latin typeface="Calibri"/>
              </a:rPr>
              <a:t>0</a:t>
            </a:r>
          </a:p>
        </p:txBody>
      </p:sp>
      <p:sp>
        <p:nvSpPr>
          <p:cNvPr id="11" name="TextBox 10"/>
          <p:cNvSpPr txBox="1"/>
          <p:nvPr/>
        </p:nvSpPr>
        <p:spPr>
          <a:xfrm>
            <a:off x="1069848" y="1344168"/>
            <a:ext cx="1874519" cy="502920"/>
          </a:xfrm>
          <a:prstGeom prst="rect">
            <a:avLst/>
          </a:prstGeom>
          <a:noFill/>
        </p:spPr>
        <p:txBody>
          <a:bodyPr wrap="square" lIns="0" rIns="0" tIns="0" bIns="0" anchor="ctr">
            <a:spAutoFit/>
          </a:bodyPr>
          <a:lstStyle/>
          <a:p>
            <a:pPr algn="l">
              <a:spcAft>
                <a:spcPts val="600"/>
              </a:spcAft>
              <a:buNone/>
            </a:pPr>
            <a:r>
              <a:rPr sz="1400" b="1" i="0">
                <a:solidFill>
                  <a:srgbClr val="0B1E3B"/>
                </a:solidFill>
                <a:latin typeface="Calibri"/>
              </a:rPr>
              <a:t>Prerequisites</a:t>
            </a:r>
          </a:p>
        </p:txBody>
      </p:sp>
      <p:sp>
        <p:nvSpPr>
          <p:cNvPr id="12" name="TextBox 11"/>
          <p:cNvSpPr txBox="1"/>
          <p:nvPr/>
        </p:nvSpPr>
        <p:spPr>
          <a:xfrm>
            <a:off x="548640" y="1920240"/>
            <a:ext cx="2331720" cy="548640"/>
          </a:xfrm>
          <a:prstGeom prst="rect">
            <a:avLst/>
          </a:prstGeom>
          <a:noFill/>
        </p:spPr>
        <p:txBody>
          <a:bodyPr wrap="square" lIns="0" rIns="0" tIns="0" bIns="0" anchor="t">
            <a:spAutoFit/>
          </a:bodyPr>
          <a:lstStyle/>
          <a:p>
            <a:pPr algn="l">
              <a:spcAft>
                <a:spcPts val="600"/>
              </a:spcAft>
              <a:buNone/>
            </a:pPr>
            <a:r>
              <a:rPr sz="1200" b="0" i="0">
                <a:solidFill>
                  <a:srgbClr val="1C2433"/>
                </a:solidFill>
                <a:latin typeface="Calibri"/>
              </a:rPr>
              <a:t>VPC, endpoints, EFS, KMS, ECS, ALB, SNS, secrets</a:t>
            </a:r>
          </a:p>
        </p:txBody>
      </p:sp>
      <p:cxnSp>
        <p:nvCxnSpPr>
          <p:cNvPr id="13" name="Connector 12"/>
          <p:cNvCxnSpPr/>
          <p:nvPr/>
        </p:nvCxnSpPr>
        <p:spPr>
          <a:xfrm>
            <a:off x="3017520" y="1897380"/>
            <a:ext cx="310896" cy="0"/>
          </a:xfrm>
          <a:prstGeom prst="line">
            <a:avLst/>
          </a:prstGeom>
          <a:ln w="19050">
            <a:solidFill>
              <a:srgbClr val="E87A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328416" y="1234440"/>
            <a:ext cx="2606040" cy="1325880"/>
          </a:xfrm>
          <a:prstGeom prst="roundRect">
            <a:avLst>
              <a:gd name="adj" fmla="val 8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val 14"/>
          <p:cNvSpPr/>
          <p:nvPr/>
        </p:nvSpPr>
        <p:spPr>
          <a:xfrm>
            <a:off x="3438144" y="1362456"/>
            <a:ext cx="457200" cy="457200"/>
          </a:xfrm>
          <a:prstGeom prst="ellipse">
            <a:avLst/>
          </a:prstGeom>
          <a:solidFill>
            <a:srgbClr val="0B1E3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spcAft>
                <a:spcPts val="0"/>
              </a:spcAft>
              <a:buNone/>
            </a:pPr>
            <a:r>
              <a:rPr sz="1400" b="1" i="0">
                <a:solidFill>
                  <a:srgbClr val="FFFFFF"/>
                </a:solidFill>
                <a:latin typeface="Calibri"/>
              </a:rPr>
              <a:t>1</a:t>
            </a:r>
          </a:p>
        </p:txBody>
      </p:sp>
      <p:sp>
        <p:nvSpPr>
          <p:cNvPr id="16" name="TextBox 15"/>
          <p:cNvSpPr txBox="1"/>
          <p:nvPr/>
        </p:nvSpPr>
        <p:spPr>
          <a:xfrm>
            <a:off x="3986784" y="1344168"/>
            <a:ext cx="1874519" cy="502920"/>
          </a:xfrm>
          <a:prstGeom prst="rect">
            <a:avLst/>
          </a:prstGeom>
          <a:noFill/>
        </p:spPr>
        <p:txBody>
          <a:bodyPr wrap="square" lIns="0" rIns="0" tIns="0" bIns="0" anchor="ctr">
            <a:spAutoFit/>
          </a:bodyPr>
          <a:lstStyle/>
          <a:p>
            <a:pPr algn="l">
              <a:spcAft>
                <a:spcPts val="600"/>
              </a:spcAft>
              <a:buNone/>
            </a:pPr>
            <a:r>
              <a:rPr sz="1400" b="1" i="0">
                <a:solidFill>
                  <a:srgbClr val="0B1E3B"/>
                </a:solidFill>
                <a:latin typeface="Calibri"/>
              </a:rPr>
              <a:t>Settings</a:t>
            </a:r>
          </a:p>
        </p:txBody>
      </p:sp>
      <p:sp>
        <p:nvSpPr>
          <p:cNvPr id="17" name="TextBox 16"/>
          <p:cNvSpPr txBox="1"/>
          <p:nvPr/>
        </p:nvSpPr>
        <p:spPr>
          <a:xfrm>
            <a:off x="3465576" y="1920240"/>
            <a:ext cx="2331720" cy="548640"/>
          </a:xfrm>
          <a:prstGeom prst="rect">
            <a:avLst/>
          </a:prstGeom>
          <a:noFill/>
        </p:spPr>
        <p:txBody>
          <a:bodyPr wrap="square" lIns="0" rIns="0" tIns="0" bIns="0" anchor="t">
            <a:spAutoFit/>
          </a:bodyPr>
          <a:lstStyle/>
          <a:p>
            <a:pPr algn="l">
              <a:spcAft>
                <a:spcPts val="600"/>
              </a:spcAft>
              <a:buNone/>
            </a:pPr>
            <a:r>
              <a:rPr sz="1100" b="0" i="0">
                <a:solidFill>
                  <a:srgbClr val="0E7C86"/>
                </a:solidFill>
                <a:latin typeface="Consolas"/>
              </a:rPr>
              <a:t>deploy/aws/env from env.example</a:t>
            </a:r>
          </a:p>
        </p:txBody>
      </p:sp>
      <p:cxnSp>
        <p:nvCxnSpPr>
          <p:cNvPr id="18" name="Connector 17"/>
          <p:cNvCxnSpPr/>
          <p:nvPr/>
        </p:nvCxnSpPr>
        <p:spPr>
          <a:xfrm>
            <a:off x="5934456" y="1897380"/>
            <a:ext cx="310896" cy="0"/>
          </a:xfrm>
          <a:prstGeom prst="line">
            <a:avLst/>
          </a:prstGeom>
          <a:ln w="19050">
            <a:solidFill>
              <a:srgbClr val="E87A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45352" y="1234440"/>
            <a:ext cx="2606040" cy="1325880"/>
          </a:xfrm>
          <a:prstGeom prst="roundRect">
            <a:avLst>
              <a:gd name="adj" fmla="val 8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Oval 19"/>
          <p:cNvSpPr/>
          <p:nvPr/>
        </p:nvSpPr>
        <p:spPr>
          <a:xfrm>
            <a:off x="6355080" y="1362456"/>
            <a:ext cx="457200" cy="457200"/>
          </a:xfrm>
          <a:prstGeom prst="ellipse">
            <a:avLst/>
          </a:prstGeom>
          <a:solidFill>
            <a:srgbClr val="0B1E3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spcAft>
                <a:spcPts val="0"/>
              </a:spcAft>
              <a:buNone/>
            </a:pPr>
            <a:r>
              <a:rPr sz="1400" b="1" i="0">
                <a:solidFill>
                  <a:srgbClr val="FFFFFF"/>
                </a:solidFill>
                <a:latin typeface="Calibri"/>
              </a:rPr>
              <a:t>2</a:t>
            </a:r>
          </a:p>
        </p:txBody>
      </p:sp>
      <p:sp>
        <p:nvSpPr>
          <p:cNvPr id="21" name="TextBox 20"/>
          <p:cNvSpPr txBox="1"/>
          <p:nvPr/>
        </p:nvSpPr>
        <p:spPr>
          <a:xfrm>
            <a:off x="6903720" y="1344168"/>
            <a:ext cx="1874519" cy="502920"/>
          </a:xfrm>
          <a:prstGeom prst="rect">
            <a:avLst/>
          </a:prstGeom>
          <a:noFill/>
        </p:spPr>
        <p:txBody>
          <a:bodyPr wrap="square" lIns="0" rIns="0" tIns="0" bIns="0" anchor="ctr">
            <a:spAutoFit/>
          </a:bodyPr>
          <a:lstStyle/>
          <a:p>
            <a:pPr algn="l">
              <a:spcAft>
                <a:spcPts val="600"/>
              </a:spcAft>
              <a:buNone/>
            </a:pPr>
            <a:r>
              <a:rPr sz="1400" b="1" i="0">
                <a:solidFill>
                  <a:srgbClr val="0B1E3B"/>
                </a:solidFill>
                <a:latin typeface="Calibri"/>
              </a:rPr>
              <a:t>Buckets</a:t>
            </a:r>
          </a:p>
        </p:txBody>
      </p:sp>
      <p:sp>
        <p:nvSpPr>
          <p:cNvPr id="22" name="TextBox 21"/>
          <p:cNvSpPr txBox="1"/>
          <p:nvPr/>
        </p:nvSpPr>
        <p:spPr>
          <a:xfrm>
            <a:off x="6382512" y="1920240"/>
            <a:ext cx="2331720" cy="548640"/>
          </a:xfrm>
          <a:prstGeom prst="rect">
            <a:avLst/>
          </a:prstGeom>
          <a:noFill/>
        </p:spPr>
        <p:txBody>
          <a:bodyPr wrap="square" lIns="0" rIns="0" tIns="0" bIns="0" anchor="t">
            <a:spAutoFit/>
          </a:bodyPr>
          <a:lstStyle/>
          <a:p>
            <a:pPr algn="l">
              <a:spcAft>
                <a:spcPts val="600"/>
              </a:spcAft>
              <a:buNone/>
            </a:pPr>
            <a:r>
              <a:rPr sz="1100" b="0" i="0">
                <a:solidFill>
                  <a:srgbClr val="0E7C86"/>
                </a:solidFill>
                <a:latin typeface="Consolas"/>
              </a:rPr>
              <a:t>setup-buckets.sh</a:t>
            </a:r>
          </a:p>
        </p:txBody>
      </p:sp>
      <p:cxnSp>
        <p:nvCxnSpPr>
          <p:cNvPr id="23" name="Connector 22"/>
          <p:cNvCxnSpPr/>
          <p:nvPr/>
        </p:nvCxnSpPr>
        <p:spPr>
          <a:xfrm>
            <a:off x="8851392" y="1897380"/>
            <a:ext cx="310896" cy="0"/>
          </a:xfrm>
          <a:prstGeom prst="line">
            <a:avLst/>
          </a:prstGeom>
          <a:ln w="19050">
            <a:solidFill>
              <a:srgbClr val="E87A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162288" y="1234440"/>
            <a:ext cx="2606040" cy="1325880"/>
          </a:xfrm>
          <a:prstGeom prst="roundRect">
            <a:avLst>
              <a:gd name="adj" fmla="val 8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Oval 24"/>
          <p:cNvSpPr/>
          <p:nvPr/>
        </p:nvSpPr>
        <p:spPr>
          <a:xfrm>
            <a:off x="9272015" y="1362456"/>
            <a:ext cx="457200" cy="457200"/>
          </a:xfrm>
          <a:prstGeom prst="ellipse">
            <a:avLst/>
          </a:prstGeom>
          <a:solidFill>
            <a:srgbClr val="0B1E3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spcAft>
                <a:spcPts val="0"/>
              </a:spcAft>
              <a:buNone/>
            </a:pPr>
            <a:r>
              <a:rPr sz="1400" b="1" i="0">
                <a:solidFill>
                  <a:srgbClr val="FFFFFF"/>
                </a:solidFill>
                <a:latin typeface="Calibri"/>
              </a:rPr>
              <a:t>3</a:t>
            </a:r>
          </a:p>
        </p:txBody>
      </p:sp>
      <p:sp>
        <p:nvSpPr>
          <p:cNvPr id="26" name="TextBox 25"/>
          <p:cNvSpPr txBox="1"/>
          <p:nvPr/>
        </p:nvSpPr>
        <p:spPr>
          <a:xfrm>
            <a:off x="9820656" y="1344168"/>
            <a:ext cx="1874519" cy="502920"/>
          </a:xfrm>
          <a:prstGeom prst="rect">
            <a:avLst/>
          </a:prstGeom>
          <a:noFill/>
        </p:spPr>
        <p:txBody>
          <a:bodyPr wrap="square" lIns="0" rIns="0" tIns="0" bIns="0" anchor="ctr">
            <a:spAutoFit/>
          </a:bodyPr>
          <a:lstStyle/>
          <a:p>
            <a:pPr algn="l">
              <a:spcAft>
                <a:spcPts val="600"/>
              </a:spcAft>
              <a:buNone/>
            </a:pPr>
            <a:r>
              <a:rPr sz="1400" b="1" i="0">
                <a:solidFill>
                  <a:srgbClr val="0B1E3B"/>
                </a:solidFill>
                <a:latin typeface="Calibri"/>
              </a:rPr>
              <a:t>IAM</a:t>
            </a:r>
          </a:p>
        </p:txBody>
      </p:sp>
      <p:sp>
        <p:nvSpPr>
          <p:cNvPr id="27" name="TextBox 26"/>
          <p:cNvSpPr txBox="1"/>
          <p:nvPr/>
        </p:nvSpPr>
        <p:spPr>
          <a:xfrm>
            <a:off x="9299448" y="1920240"/>
            <a:ext cx="2331720" cy="548640"/>
          </a:xfrm>
          <a:prstGeom prst="rect">
            <a:avLst/>
          </a:prstGeom>
          <a:noFill/>
        </p:spPr>
        <p:txBody>
          <a:bodyPr wrap="square" lIns="0" rIns="0" tIns="0" bIns="0" anchor="t">
            <a:spAutoFit/>
          </a:bodyPr>
          <a:lstStyle/>
          <a:p>
            <a:pPr algn="l">
              <a:spcAft>
                <a:spcPts val="600"/>
              </a:spcAft>
              <a:buNone/>
            </a:pPr>
            <a:r>
              <a:rPr sz="1100" b="0" i="0">
                <a:solidFill>
                  <a:srgbClr val="0E7C86"/>
                </a:solidFill>
                <a:latin typeface="Consolas"/>
              </a:rPr>
              <a:t>setup-iam.sh</a:t>
            </a:r>
          </a:p>
        </p:txBody>
      </p:sp>
      <p:sp>
        <p:nvSpPr>
          <p:cNvPr id="28" name="Rounded Rectangle 27"/>
          <p:cNvSpPr/>
          <p:nvPr/>
        </p:nvSpPr>
        <p:spPr>
          <a:xfrm>
            <a:off x="411480" y="2926080"/>
            <a:ext cx="2606040" cy="1325880"/>
          </a:xfrm>
          <a:prstGeom prst="roundRect">
            <a:avLst>
              <a:gd name="adj" fmla="val 8000"/>
            </a:avLst>
          </a:prstGeom>
          <a:solidFill>
            <a:srgbClr val="DDEE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Oval 28"/>
          <p:cNvSpPr/>
          <p:nvPr/>
        </p:nvSpPr>
        <p:spPr>
          <a:xfrm>
            <a:off x="521208" y="3054096"/>
            <a:ext cx="457200" cy="457200"/>
          </a:xfrm>
          <a:prstGeom prst="ellipse">
            <a:avLst/>
          </a:prstGeom>
          <a:solidFill>
            <a:srgbClr val="0B1E3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spcAft>
                <a:spcPts val="0"/>
              </a:spcAft>
              <a:buNone/>
            </a:pPr>
            <a:r>
              <a:rPr sz="1400" b="1" i="0">
                <a:solidFill>
                  <a:srgbClr val="FFFFFF"/>
                </a:solidFill>
                <a:latin typeface="Calibri"/>
              </a:rPr>
              <a:t>4</a:t>
            </a:r>
          </a:p>
        </p:txBody>
      </p:sp>
      <p:sp>
        <p:nvSpPr>
          <p:cNvPr id="30" name="TextBox 29"/>
          <p:cNvSpPr txBox="1"/>
          <p:nvPr/>
        </p:nvSpPr>
        <p:spPr>
          <a:xfrm>
            <a:off x="1069848" y="3035808"/>
            <a:ext cx="1874519" cy="502920"/>
          </a:xfrm>
          <a:prstGeom prst="rect">
            <a:avLst/>
          </a:prstGeom>
          <a:noFill/>
        </p:spPr>
        <p:txBody>
          <a:bodyPr wrap="square" lIns="0" rIns="0" tIns="0" bIns="0" anchor="ctr">
            <a:spAutoFit/>
          </a:bodyPr>
          <a:lstStyle/>
          <a:p>
            <a:pPr algn="l">
              <a:spcAft>
                <a:spcPts val="600"/>
              </a:spcAft>
              <a:buNone/>
            </a:pPr>
            <a:r>
              <a:rPr sz="1400" b="1" i="0">
                <a:solidFill>
                  <a:srgbClr val="0B1E3B"/>
                </a:solidFill>
                <a:latin typeface="Calibri"/>
              </a:rPr>
              <a:t>Prove commits safe</a:t>
            </a:r>
          </a:p>
        </p:txBody>
      </p:sp>
      <p:sp>
        <p:nvSpPr>
          <p:cNvPr id="31" name="TextBox 30"/>
          <p:cNvSpPr txBox="1"/>
          <p:nvPr/>
        </p:nvSpPr>
        <p:spPr>
          <a:xfrm>
            <a:off x="548640" y="3611880"/>
            <a:ext cx="2331720" cy="548640"/>
          </a:xfrm>
          <a:prstGeom prst="rect">
            <a:avLst/>
          </a:prstGeom>
          <a:noFill/>
        </p:spPr>
        <p:txBody>
          <a:bodyPr wrap="square" lIns="0" rIns="0" tIns="0" bIns="0" anchor="t">
            <a:spAutoFit/>
          </a:bodyPr>
          <a:lstStyle/>
          <a:p>
            <a:pPr algn="l">
              <a:spcAft>
                <a:spcPts val="600"/>
              </a:spcAft>
              <a:buNone/>
            </a:pPr>
            <a:r>
              <a:rPr sz="1100" b="0" i="0">
                <a:solidFill>
                  <a:srgbClr val="0E7C86"/>
                </a:solidFill>
                <a:latin typeface="Consolas"/>
              </a:rPr>
              <a:t>check-conditional-writes.sh</a:t>
            </a:r>
          </a:p>
        </p:txBody>
      </p:sp>
      <p:cxnSp>
        <p:nvCxnSpPr>
          <p:cNvPr id="32" name="Connector 31"/>
          <p:cNvCxnSpPr/>
          <p:nvPr/>
        </p:nvCxnSpPr>
        <p:spPr>
          <a:xfrm>
            <a:off x="3017520" y="3589020"/>
            <a:ext cx="310896" cy="0"/>
          </a:xfrm>
          <a:prstGeom prst="line">
            <a:avLst/>
          </a:prstGeom>
          <a:ln w="19050">
            <a:solidFill>
              <a:srgbClr val="E87A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3328416" y="2926080"/>
            <a:ext cx="2606040" cy="1325880"/>
          </a:xfrm>
          <a:prstGeom prst="roundRect">
            <a:avLst>
              <a:gd name="adj" fmla="val 8000"/>
            </a:avLst>
          </a:prstGeom>
          <a:solidFill>
            <a:srgbClr val="DDEE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Oval 33"/>
          <p:cNvSpPr/>
          <p:nvPr/>
        </p:nvSpPr>
        <p:spPr>
          <a:xfrm>
            <a:off x="3438144" y="3054096"/>
            <a:ext cx="457200" cy="457200"/>
          </a:xfrm>
          <a:prstGeom prst="ellipse">
            <a:avLst/>
          </a:prstGeom>
          <a:solidFill>
            <a:srgbClr val="0B1E3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spcAft>
                <a:spcPts val="0"/>
              </a:spcAft>
              <a:buNone/>
            </a:pPr>
            <a:r>
              <a:rPr sz="1400" b="1" i="0">
                <a:solidFill>
                  <a:srgbClr val="FFFFFF"/>
                </a:solidFill>
                <a:latin typeface="Calibri"/>
              </a:rPr>
              <a:t>5</a:t>
            </a:r>
          </a:p>
        </p:txBody>
      </p:sp>
      <p:sp>
        <p:nvSpPr>
          <p:cNvPr id="35" name="TextBox 34"/>
          <p:cNvSpPr txBox="1"/>
          <p:nvPr/>
        </p:nvSpPr>
        <p:spPr>
          <a:xfrm>
            <a:off x="3986784" y="3035808"/>
            <a:ext cx="1874519" cy="502920"/>
          </a:xfrm>
          <a:prstGeom prst="rect">
            <a:avLst/>
          </a:prstGeom>
          <a:noFill/>
        </p:spPr>
        <p:txBody>
          <a:bodyPr wrap="square" lIns="0" rIns="0" tIns="0" bIns="0" anchor="ctr">
            <a:spAutoFit/>
          </a:bodyPr>
          <a:lstStyle/>
          <a:p>
            <a:pPr algn="l">
              <a:spcAft>
                <a:spcPts val="600"/>
              </a:spcAft>
              <a:buNone/>
            </a:pPr>
            <a:r>
              <a:rPr sz="1400" b="1" i="0">
                <a:solidFill>
                  <a:srgbClr val="0B1E3B"/>
                </a:solidFill>
                <a:latin typeface="Calibri"/>
              </a:rPr>
              <a:t>Storage tiers</a:t>
            </a:r>
          </a:p>
        </p:txBody>
      </p:sp>
      <p:sp>
        <p:nvSpPr>
          <p:cNvPr id="36" name="TextBox 35"/>
          <p:cNvSpPr txBox="1"/>
          <p:nvPr/>
        </p:nvSpPr>
        <p:spPr>
          <a:xfrm>
            <a:off x="3465576" y="3611880"/>
            <a:ext cx="2331720" cy="548640"/>
          </a:xfrm>
          <a:prstGeom prst="rect">
            <a:avLst/>
          </a:prstGeom>
          <a:noFill/>
        </p:spPr>
        <p:txBody>
          <a:bodyPr wrap="square" lIns="0" rIns="0" tIns="0" bIns="0" anchor="t">
            <a:spAutoFit/>
          </a:bodyPr>
          <a:lstStyle/>
          <a:p>
            <a:pPr algn="l">
              <a:spcAft>
                <a:spcPts val="600"/>
              </a:spcAft>
              <a:buNone/>
            </a:pPr>
            <a:r>
              <a:rPr sz="1100" b="0" i="0">
                <a:solidFill>
                  <a:srgbClr val="0E7C86"/>
                </a:solidFill>
                <a:latin typeface="Consolas"/>
              </a:rPr>
              <a:t>setup-lifecycle.sh</a:t>
            </a:r>
          </a:p>
        </p:txBody>
      </p:sp>
      <p:cxnSp>
        <p:nvCxnSpPr>
          <p:cNvPr id="37" name="Connector 36"/>
          <p:cNvCxnSpPr/>
          <p:nvPr/>
        </p:nvCxnSpPr>
        <p:spPr>
          <a:xfrm>
            <a:off x="5934456" y="3589020"/>
            <a:ext cx="310896" cy="0"/>
          </a:xfrm>
          <a:prstGeom prst="line">
            <a:avLst/>
          </a:prstGeom>
          <a:ln w="19050">
            <a:solidFill>
              <a:srgbClr val="E87A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6245352" y="2926080"/>
            <a:ext cx="2606040" cy="1325880"/>
          </a:xfrm>
          <a:prstGeom prst="roundRect">
            <a:avLst>
              <a:gd name="adj" fmla="val 8000"/>
            </a:avLst>
          </a:prstGeom>
          <a:solidFill>
            <a:srgbClr val="DDEE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Oval 38"/>
          <p:cNvSpPr/>
          <p:nvPr/>
        </p:nvSpPr>
        <p:spPr>
          <a:xfrm>
            <a:off x="6355080" y="3054096"/>
            <a:ext cx="457200" cy="457200"/>
          </a:xfrm>
          <a:prstGeom prst="ellipse">
            <a:avLst/>
          </a:prstGeom>
          <a:solidFill>
            <a:srgbClr val="0B1E3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spcAft>
                <a:spcPts val="0"/>
              </a:spcAft>
              <a:buNone/>
            </a:pPr>
            <a:r>
              <a:rPr sz="1400" b="1" i="0">
                <a:solidFill>
                  <a:srgbClr val="FFFFFF"/>
                </a:solidFill>
                <a:latin typeface="Calibri"/>
              </a:rPr>
              <a:t>6</a:t>
            </a:r>
          </a:p>
        </p:txBody>
      </p:sp>
      <p:sp>
        <p:nvSpPr>
          <p:cNvPr id="40" name="TextBox 39"/>
          <p:cNvSpPr txBox="1"/>
          <p:nvPr/>
        </p:nvSpPr>
        <p:spPr>
          <a:xfrm>
            <a:off x="6903720" y="3035808"/>
            <a:ext cx="1874519" cy="502920"/>
          </a:xfrm>
          <a:prstGeom prst="rect">
            <a:avLst/>
          </a:prstGeom>
          <a:noFill/>
        </p:spPr>
        <p:txBody>
          <a:bodyPr wrap="square" lIns="0" rIns="0" tIns="0" bIns="0" anchor="ctr">
            <a:spAutoFit/>
          </a:bodyPr>
          <a:lstStyle/>
          <a:p>
            <a:pPr algn="l">
              <a:spcAft>
                <a:spcPts val="600"/>
              </a:spcAft>
              <a:buNone/>
            </a:pPr>
            <a:r>
              <a:rPr sz="1400" b="1" i="0">
                <a:solidFill>
                  <a:srgbClr val="0B1E3B"/>
                </a:solidFill>
                <a:latin typeface="Calibri"/>
              </a:rPr>
              <a:t>EFS access points</a:t>
            </a:r>
          </a:p>
        </p:txBody>
      </p:sp>
      <p:sp>
        <p:nvSpPr>
          <p:cNvPr id="41" name="TextBox 40"/>
          <p:cNvSpPr txBox="1"/>
          <p:nvPr/>
        </p:nvSpPr>
        <p:spPr>
          <a:xfrm>
            <a:off x="6382512" y="3611880"/>
            <a:ext cx="2331720" cy="548640"/>
          </a:xfrm>
          <a:prstGeom prst="rect">
            <a:avLst/>
          </a:prstGeom>
          <a:noFill/>
        </p:spPr>
        <p:txBody>
          <a:bodyPr wrap="square" lIns="0" rIns="0" tIns="0" bIns="0" anchor="t">
            <a:spAutoFit/>
          </a:bodyPr>
          <a:lstStyle/>
          <a:p>
            <a:pPr algn="l">
              <a:spcAft>
                <a:spcPts val="600"/>
              </a:spcAft>
              <a:buNone/>
            </a:pPr>
            <a:r>
              <a:rPr sz="1100" b="0" i="0">
                <a:solidFill>
                  <a:srgbClr val="0E7C86"/>
                </a:solidFill>
                <a:latin typeface="Consolas"/>
              </a:rPr>
              <a:t>ecs/setup-efs.sh</a:t>
            </a:r>
          </a:p>
        </p:txBody>
      </p:sp>
      <p:cxnSp>
        <p:nvCxnSpPr>
          <p:cNvPr id="42" name="Connector 41"/>
          <p:cNvCxnSpPr/>
          <p:nvPr/>
        </p:nvCxnSpPr>
        <p:spPr>
          <a:xfrm>
            <a:off x="8851392" y="3589020"/>
            <a:ext cx="310896" cy="0"/>
          </a:xfrm>
          <a:prstGeom prst="line">
            <a:avLst/>
          </a:prstGeom>
          <a:ln w="19050">
            <a:solidFill>
              <a:srgbClr val="E87A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9162288" y="2926080"/>
            <a:ext cx="2606040" cy="1325880"/>
          </a:xfrm>
          <a:prstGeom prst="roundRect">
            <a:avLst>
              <a:gd name="adj" fmla="val 8000"/>
            </a:avLst>
          </a:prstGeom>
          <a:solidFill>
            <a:srgbClr val="DDEE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Oval 43"/>
          <p:cNvSpPr/>
          <p:nvPr/>
        </p:nvSpPr>
        <p:spPr>
          <a:xfrm>
            <a:off x="9272015" y="3054096"/>
            <a:ext cx="457200" cy="457200"/>
          </a:xfrm>
          <a:prstGeom prst="ellipse">
            <a:avLst/>
          </a:prstGeom>
          <a:solidFill>
            <a:srgbClr val="0B1E3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spcAft>
                <a:spcPts val="0"/>
              </a:spcAft>
              <a:buNone/>
            </a:pPr>
            <a:r>
              <a:rPr sz="1400" b="1" i="0">
                <a:solidFill>
                  <a:srgbClr val="FFFFFF"/>
                </a:solidFill>
                <a:latin typeface="Calibri"/>
              </a:rPr>
              <a:t>7</a:t>
            </a:r>
          </a:p>
        </p:txBody>
      </p:sp>
      <p:sp>
        <p:nvSpPr>
          <p:cNvPr id="45" name="TextBox 44"/>
          <p:cNvSpPr txBox="1"/>
          <p:nvPr/>
        </p:nvSpPr>
        <p:spPr>
          <a:xfrm>
            <a:off x="9820656" y="3035808"/>
            <a:ext cx="1874519" cy="502920"/>
          </a:xfrm>
          <a:prstGeom prst="rect">
            <a:avLst/>
          </a:prstGeom>
          <a:noFill/>
        </p:spPr>
        <p:txBody>
          <a:bodyPr wrap="square" lIns="0" rIns="0" tIns="0" bIns="0" anchor="ctr">
            <a:spAutoFit/>
          </a:bodyPr>
          <a:lstStyle/>
          <a:p>
            <a:pPr algn="l">
              <a:spcAft>
                <a:spcPts val="600"/>
              </a:spcAft>
              <a:buNone/>
            </a:pPr>
            <a:r>
              <a:rPr sz="1400" b="1" i="0">
                <a:solidFill>
                  <a:srgbClr val="0B1E3B"/>
                </a:solidFill>
                <a:latin typeface="Calibri"/>
              </a:rPr>
              <a:t>Cloud Map seeds</a:t>
            </a:r>
          </a:p>
        </p:txBody>
      </p:sp>
      <p:sp>
        <p:nvSpPr>
          <p:cNvPr id="46" name="TextBox 45"/>
          <p:cNvSpPr txBox="1"/>
          <p:nvPr/>
        </p:nvSpPr>
        <p:spPr>
          <a:xfrm>
            <a:off x="9299448" y="3611880"/>
            <a:ext cx="2331720" cy="548640"/>
          </a:xfrm>
          <a:prstGeom prst="rect">
            <a:avLst/>
          </a:prstGeom>
          <a:noFill/>
        </p:spPr>
        <p:txBody>
          <a:bodyPr wrap="square" lIns="0" rIns="0" tIns="0" bIns="0" anchor="t">
            <a:spAutoFit/>
          </a:bodyPr>
          <a:lstStyle/>
          <a:p>
            <a:pPr algn="l">
              <a:spcAft>
                <a:spcPts val="600"/>
              </a:spcAft>
              <a:buNone/>
            </a:pPr>
            <a:r>
              <a:rPr sz="1100" b="0" i="0">
                <a:solidFill>
                  <a:srgbClr val="0E7C86"/>
                </a:solidFill>
                <a:latin typeface="Consolas"/>
              </a:rPr>
              <a:t>ecs/setup-cloud-map.sh (twice)</a:t>
            </a:r>
          </a:p>
        </p:txBody>
      </p:sp>
      <p:sp>
        <p:nvSpPr>
          <p:cNvPr id="47" name="Rounded Rectangle 46"/>
          <p:cNvSpPr/>
          <p:nvPr/>
        </p:nvSpPr>
        <p:spPr>
          <a:xfrm>
            <a:off x="411480" y="4617720"/>
            <a:ext cx="2606040" cy="1325880"/>
          </a:xfrm>
          <a:prstGeom prst="roundRect">
            <a:avLst>
              <a:gd name="adj" fmla="val 8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Oval 47"/>
          <p:cNvSpPr/>
          <p:nvPr/>
        </p:nvSpPr>
        <p:spPr>
          <a:xfrm>
            <a:off x="521208" y="4745736"/>
            <a:ext cx="457200" cy="457200"/>
          </a:xfrm>
          <a:prstGeom prst="ellipse">
            <a:avLst/>
          </a:prstGeom>
          <a:solidFill>
            <a:srgbClr val="0B1E3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spcAft>
                <a:spcPts val="0"/>
              </a:spcAft>
              <a:buNone/>
            </a:pPr>
            <a:r>
              <a:rPr sz="1400" b="1" i="0">
                <a:solidFill>
                  <a:srgbClr val="FFFFFF"/>
                </a:solidFill>
                <a:latin typeface="Calibri"/>
              </a:rPr>
              <a:t>8</a:t>
            </a:r>
          </a:p>
        </p:txBody>
      </p:sp>
      <p:sp>
        <p:nvSpPr>
          <p:cNvPr id="49" name="TextBox 48"/>
          <p:cNvSpPr txBox="1"/>
          <p:nvPr/>
        </p:nvSpPr>
        <p:spPr>
          <a:xfrm>
            <a:off x="1069848" y="4727448"/>
            <a:ext cx="1874519" cy="502920"/>
          </a:xfrm>
          <a:prstGeom prst="rect">
            <a:avLst/>
          </a:prstGeom>
          <a:noFill/>
        </p:spPr>
        <p:txBody>
          <a:bodyPr wrap="square" lIns="0" rIns="0" tIns="0" bIns="0" anchor="ctr">
            <a:spAutoFit/>
          </a:bodyPr>
          <a:lstStyle/>
          <a:p>
            <a:pPr algn="l">
              <a:spcAft>
                <a:spcPts val="600"/>
              </a:spcAft>
              <a:buNone/>
            </a:pPr>
            <a:r>
              <a:rPr sz="1400" b="1" i="0">
                <a:solidFill>
                  <a:srgbClr val="0B1E3B"/>
                </a:solidFill>
                <a:latin typeface="Calibri"/>
              </a:rPr>
              <a:t>Images</a:t>
            </a:r>
          </a:p>
        </p:txBody>
      </p:sp>
      <p:sp>
        <p:nvSpPr>
          <p:cNvPr id="50" name="TextBox 49"/>
          <p:cNvSpPr txBox="1"/>
          <p:nvPr/>
        </p:nvSpPr>
        <p:spPr>
          <a:xfrm>
            <a:off x="548640" y="5303520"/>
            <a:ext cx="2331720" cy="548640"/>
          </a:xfrm>
          <a:prstGeom prst="rect">
            <a:avLst/>
          </a:prstGeom>
          <a:noFill/>
        </p:spPr>
        <p:txBody>
          <a:bodyPr wrap="square" lIns="0" rIns="0" tIns="0" bIns="0" anchor="t">
            <a:spAutoFit/>
          </a:bodyPr>
          <a:lstStyle/>
          <a:p>
            <a:pPr algn="l">
              <a:spcAft>
                <a:spcPts val="600"/>
              </a:spcAft>
              <a:buNone/>
            </a:pPr>
            <a:r>
              <a:rPr sz="1200" b="0" i="0">
                <a:solidFill>
                  <a:srgbClr val="1C2433"/>
                </a:solidFill>
                <a:latin typeface="Calibri"/>
              </a:rPr>
              <a:t>docker build ×3, push to ECR</a:t>
            </a:r>
          </a:p>
        </p:txBody>
      </p:sp>
      <p:cxnSp>
        <p:nvCxnSpPr>
          <p:cNvPr id="51" name="Connector 50"/>
          <p:cNvCxnSpPr/>
          <p:nvPr/>
        </p:nvCxnSpPr>
        <p:spPr>
          <a:xfrm>
            <a:off x="3017520" y="5280660"/>
            <a:ext cx="310896" cy="0"/>
          </a:xfrm>
          <a:prstGeom prst="line">
            <a:avLst/>
          </a:prstGeom>
          <a:ln w="19050">
            <a:solidFill>
              <a:srgbClr val="E87A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52" name="Rounded Rectangle 51"/>
          <p:cNvSpPr/>
          <p:nvPr/>
        </p:nvSpPr>
        <p:spPr>
          <a:xfrm>
            <a:off x="3328416" y="4617720"/>
            <a:ext cx="2606040" cy="1325880"/>
          </a:xfrm>
          <a:prstGeom prst="roundRect">
            <a:avLst>
              <a:gd name="adj" fmla="val 8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3" name="Oval 52"/>
          <p:cNvSpPr/>
          <p:nvPr/>
        </p:nvSpPr>
        <p:spPr>
          <a:xfrm>
            <a:off x="3438144" y="4745736"/>
            <a:ext cx="457200" cy="457200"/>
          </a:xfrm>
          <a:prstGeom prst="ellipse">
            <a:avLst/>
          </a:prstGeom>
          <a:solidFill>
            <a:srgbClr val="0B1E3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spcAft>
                <a:spcPts val="0"/>
              </a:spcAft>
              <a:buNone/>
            </a:pPr>
            <a:r>
              <a:rPr sz="1400" b="1" i="0">
                <a:solidFill>
                  <a:srgbClr val="FFFFFF"/>
                </a:solidFill>
                <a:latin typeface="Calibri"/>
              </a:rPr>
              <a:t>9</a:t>
            </a:r>
          </a:p>
        </p:txBody>
      </p:sp>
      <p:sp>
        <p:nvSpPr>
          <p:cNvPr id="54" name="TextBox 53"/>
          <p:cNvSpPr txBox="1"/>
          <p:nvPr/>
        </p:nvSpPr>
        <p:spPr>
          <a:xfrm>
            <a:off x="3986784" y="4727448"/>
            <a:ext cx="1874519" cy="502920"/>
          </a:xfrm>
          <a:prstGeom prst="rect">
            <a:avLst/>
          </a:prstGeom>
          <a:noFill/>
        </p:spPr>
        <p:txBody>
          <a:bodyPr wrap="square" lIns="0" rIns="0" tIns="0" bIns="0" anchor="ctr">
            <a:spAutoFit/>
          </a:bodyPr>
          <a:lstStyle/>
          <a:p>
            <a:pPr algn="l">
              <a:spcAft>
                <a:spcPts val="600"/>
              </a:spcAft>
              <a:buNone/>
            </a:pPr>
            <a:r>
              <a:rPr sz="1400" b="1" i="0">
                <a:solidFill>
                  <a:srgbClr val="0B1E3B"/>
                </a:solidFill>
                <a:latin typeface="Calibri"/>
              </a:rPr>
              <a:t>Tasks, services, schedules</a:t>
            </a:r>
          </a:p>
        </p:txBody>
      </p:sp>
      <p:sp>
        <p:nvSpPr>
          <p:cNvPr id="55" name="TextBox 54"/>
          <p:cNvSpPr txBox="1"/>
          <p:nvPr/>
        </p:nvSpPr>
        <p:spPr>
          <a:xfrm>
            <a:off x="3465576" y="5303520"/>
            <a:ext cx="2331720" cy="548640"/>
          </a:xfrm>
          <a:prstGeom prst="rect">
            <a:avLst/>
          </a:prstGeom>
          <a:noFill/>
        </p:spPr>
        <p:txBody>
          <a:bodyPr wrap="square" lIns="0" rIns="0" tIns="0" bIns="0" anchor="t">
            <a:spAutoFit/>
          </a:bodyPr>
          <a:lstStyle/>
          <a:p>
            <a:pPr algn="l">
              <a:spcAft>
                <a:spcPts val="600"/>
              </a:spcAft>
              <a:buNone/>
            </a:pPr>
            <a:r>
              <a:rPr sz="1100" b="0" i="0">
                <a:solidFill>
                  <a:srgbClr val="0E7C86"/>
                </a:solidFill>
                <a:latin typeface="Consolas"/>
              </a:rPr>
              <a:t>ecs/register.sh</a:t>
            </a:r>
          </a:p>
        </p:txBody>
      </p:sp>
      <p:cxnSp>
        <p:nvCxnSpPr>
          <p:cNvPr id="56" name="Connector 55"/>
          <p:cNvCxnSpPr/>
          <p:nvPr/>
        </p:nvCxnSpPr>
        <p:spPr>
          <a:xfrm>
            <a:off x="5934456" y="5280660"/>
            <a:ext cx="310896" cy="0"/>
          </a:xfrm>
          <a:prstGeom prst="line">
            <a:avLst/>
          </a:prstGeom>
          <a:ln w="19050">
            <a:solidFill>
              <a:srgbClr val="E87A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57" name="Rounded Rectangle 56"/>
          <p:cNvSpPr/>
          <p:nvPr/>
        </p:nvSpPr>
        <p:spPr>
          <a:xfrm>
            <a:off x="6245352" y="4617720"/>
            <a:ext cx="2606040" cy="1325880"/>
          </a:xfrm>
          <a:prstGeom prst="roundRect">
            <a:avLst>
              <a:gd name="adj" fmla="val 8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Oval 57"/>
          <p:cNvSpPr/>
          <p:nvPr/>
        </p:nvSpPr>
        <p:spPr>
          <a:xfrm>
            <a:off x="6355080" y="4745736"/>
            <a:ext cx="457200" cy="457200"/>
          </a:xfrm>
          <a:prstGeom prst="ellipse">
            <a:avLst/>
          </a:prstGeom>
          <a:solidFill>
            <a:srgbClr val="0B1E3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spcAft>
                <a:spcPts val="0"/>
              </a:spcAft>
              <a:buNone/>
            </a:pPr>
            <a:r>
              <a:rPr sz="1400" b="1" i="0">
                <a:solidFill>
                  <a:srgbClr val="FFFFFF"/>
                </a:solidFill>
                <a:latin typeface="Calibri"/>
              </a:rPr>
              <a:t>10</a:t>
            </a:r>
          </a:p>
        </p:txBody>
      </p:sp>
      <p:sp>
        <p:nvSpPr>
          <p:cNvPr id="59" name="TextBox 58"/>
          <p:cNvSpPr txBox="1"/>
          <p:nvPr/>
        </p:nvSpPr>
        <p:spPr>
          <a:xfrm>
            <a:off x="6903720" y="4727448"/>
            <a:ext cx="1874519" cy="502920"/>
          </a:xfrm>
          <a:prstGeom prst="rect">
            <a:avLst/>
          </a:prstGeom>
          <a:noFill/>
        </p:spPr>
        <p:txBody>
          <a:bodyPr wrap="square" lIns="0" rIns="0" tIns="0" bIns="0" anchor="ctr">
            <a:spAutoFit/>
          </a:bodyPr>
          <a:lstStyle/>
          <a:p>
            <a:pPr algn="l">
              <a:spcAft>
                <a:spcPts val="600"/>
              </a:spcAft>
              <a:buNone/>
            </a:pPr>
            <a:r>
              <a:rPr sz="1400" b="1" i="0">
                <a:solidFill>
                  <a:srgbClr val="0B1E3B"/>
                </a:solidFill>
                <a:latin typeface="Calibri"/>
              </a:rPr>
              <a:t>First load</a:t>
            </a:r>
          </a:p>
        </p:txBody>
      </p:sp>
      <p:sp>
        <p:nvSpPr>
          <p:cNvPr id="60" name="TextBox 59"/>
          <p:cNvSpPr txBox="1"/>
          <p:nvPr/>
        </p:nvSpPr>
        <p:spPr>
          <a:xfrm>
            <a:off x="6382512" y="5303520"/>
            <a:ext cx="2331720" cy="548640"/>
          </a:xfrm>
          <a:prstGeom prst="rect">
            <a:avLst/>
          </a:prstGeom>
          <a:noFill/>
        </p:spPr>
        <p:txBody>
          <a:bodyPr wrap="square" lIns="0" rIns="0" tIns="0" bIns="0" anchor="t">
            <a:spAutoFit/>
          </a:bodyPr>
          <a:lstStyle/>
          <a:p>
            <a:pPr algn="l">
              <a:spcAft>
                <a:spcPts val="600"/>
              </a:spcAft>
              <a:buNone/>
            </a:pPr>
            <a:r>
              <a:rPr sz="1100" b="0" i="0">
                <a:solidFill>
                  <a:srgbClr val="0E7C86"/>
                </a:solidFill>
                <a:latin typeface="Consolas"/>
              </a:rPr>
              <a:t>load-day.sh --date …</a:t>
            </a:r>
          </a:p>
        </p:txBody>
      </p:sp>
      <p:cxnSp>
        <p:nvCxnSpPr>
          <p:cNvPr id="61" name="Connector 60"/>
          <p:cNvCxnSpPr/>
          <p:nvPr/>
        </p:nvCxnSpPr>
        <p:spPr>
          <a:xfrm>
            <a:off x="8851392" y="5280660"/>
            <a:ext cx="310896" cy="0"/>
          </a:xfrm>
          <a:prstGeom prst="line">
            <a:avLst/>
          </a:prstGeom>
          <a:ln w="19050">
            <a:solidFill>
              <a:srgbClr val="E87A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62" name="Rounded Rectangle 61"/>
          <p:cNvSpPr/>
          <p:nvPr/>
        </p:nvSpPr>
        <p:spPr>
          <a:xfrm>
            <a:off x="9162288" y="4617720"/>
            <a:ext cx="2606040" cy="1325880"/>
          </a:xfrm>
          <a:prstGeom prst="roundRect">
            <a:avLst>
              <a:gd name="adj" fmla="val 8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3" name="Oval 62"/>
          <p:cNvSpPr/>
          <p:nvPr/>
        </p:nvSpPr>
        <p:spPr>
          <a:xfrm>
            <a:off x="9272015" y="4745736"/>
            <a:ext cx="457200" cy="457200"/>
          </a:xfrm>
          <a:prstGeom prst="ellipse">
            <a:avLst/>
          </a:prstGeom>
          <a:solidFill>
            <a:srgbClr val="0B1E3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spcAft>
                <a:spcPts val="0"/>
              </a:spcAft>
              <a:buNone/>
            </a:pPr>
            <a:r>
              <a:rPr sz="1400" b="1" i="0">
                <a:solidFill>
                  <a:srgbClr val="FFFFFF"/>
                </a:solidFill>
                <a:latin typeface="Calibri"/>
              </a:rPr>
              <a:t>11</a:t>
            </a:r>
          </a:p>
        </p:txBody>
      </p:sp>
      <p:sp>
        <p:nvSpPr>
          <p:cNvPr id="64" name="TextBox 63"/>
          <p:cNvSpPr txBox="1"/>
          <p:nvPr/>
        </p:nvSpPr>
        <p:spPr>
          <a:xfrm>
            <a:off x="9820656" y="4727448"/>
            <a:ext cx="1874519" cy="502920"/>
          </a:xfrm>
          <a:prstGeom prst="rect">
            <a:avLst/>
          </a:prstGeom>
          <a:noFill/>
        </p:spPr>
        <p:txBody>
          <a:bodyPr wrap="square" lIns="0" rIns="0" tIns="0" bIns="0" anchor="ctr">
            <a:spAutoFit/>
          </a:bodyPr>
          <a:lstStyle/>
          <a:p>
            <a:pPr algn="l">
              <a:spcAft>
                <a:spcPts val="600"/>
              </a:spcAft>
              <a:buNone/>
            </a:pPr>
            <a:r>
              <a:rPr sz="1400" b="1" i="0">
                <a:solidFill>
                  <a:srgbClr val="0B1E3B"/>
                </a:solidFill>
                <a:latin typeface="Calibri"/>
              </a:rPr>
              <a:t>Alarms and report</a:t>
            </a:r>
          </a:p>
        </p:txBody>
      </p:sp>
      <p:sp>
        <p:nvSpPr>
          <p:cNvPr id="65" name="TextBox 64"/>
          <p:cNvSpPr txBox="1"/>
          <p:nvPr/>
        </p:nvSpPr>
        <p:spPr>
          <a:xfrm>
            <a:off x="9299448" y="5303520"/>
            <a:ext cx="2331720" cy="548640"/>
          </a:xfrm>
          <a:prstGeom prst="rect">
            <a:avLst/>
          </a:prstGeom>
          <a:noFill/>
        </p:spPr>
        <p:txBody>
          <a:bodyPr wrap="square" lIns="0" rIns="0" tIns="0" bIns="0" anchor="t">
            <a:spAutoFit/>
          </a:bodyPr>
          <a:lstStyle/>
          <a:p>
            <a:pPr algn="l">
              <a:spcAft>
                <a:spcPts val="600"/>
              </a:spcAft>
              <a:buNone/>
            </a:pPr>
            <a:r>
              <a:rPr sz="1100" b="0" i="0">
                <a:solidFill>
                  <a:srgbClr val="0E7C86"/>
                </a:solidFill>
                <a:latin typeface="Consolas"/>
              </a:rPr>
              <a:t>setup-alarms.sh, report.sh</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Step 0: prerequisites (the platform team's templates)</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4 · step 0</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21</a:t>
            </a:r>
          </a:p>
        </p:txBody>
      </p:sp>
      <p:sp>
        <p:nvSpPr>
          <p:cNvPr id="9" name="TextBox 8"/>
          <p:cNvSpPr txBox="1"/>
          <p:nvPr/>
        </p:nvSpPr>
        <p:spPr>
          <a:xfrm>
            <a:off x="411480" y="1188720"/>
            <a:ext cx="6949440" cy="5120640"/>
          </a:xfrm>
          <a:prstGeom prst="rect">
            <a:avLst/>
          </a:prstGeom>
          <a:noFill/>
        </p:spPr>
        <p:txBody>
          <a:bodyPr wrap="square" lIns="0" rIns="0" tIns="0" bIns="0" anchor="t">
            <a:spAutoFit/>
          </a:bodyPr>
          <a:lstStyle/>
          <a:p>
            <a:pPr algn="l" marL="201168" indent="-201168">
              <a:spcAft>
                <a:spcPts val="700"/>
              </a:spcAft>
              <a:buClr>
                <a:srgbClr val="E87A1E"/>
              </a:buClr>
              <a:buSzPct val="100000"/>
              <a:buFont typeface="Arial"/>
              <a:buChar char="•"/>
            </a:pPr>
            <a:r>
              <a:rPr sz="1400" b="0" i="0">
                <a:solidFill>
                  <a:srgbClr val="1C2433"/>
                </a:solidFill>
                <a:latin typeface="Calibri"/>
              </a:rPr>
              <a:t>A VPC with private subnets in three Availability Zones</a:t>
            </a:r>
          </a:p>
          <a:p>
            <a:pPr algn="l" marL="201168" indent="-201168">
              <a:spcAft>
                <a:spcPts val="700"/>
              </a:spcAft>
              <a:buClr>
                <a:srgbClr val="E87A1E"/>
              </a:buClr>
              <a:buSzPct val="100000"/>
              <a:buFont typeface="Arial"/>
              <a:buChar char="•"/>
            </a:pPr>
            <a:r>
              <a:rPr sz="1400" b="0" i="0">
                <a:solidFill>
                  <a:srgbClr val="1C2433"/>
                </a:solidFill>
                <a:latin typeface="Calibri"/>
              </a:rPr>
              <a:t>A gateway VPC endpoint for S3 on their route tables (lake traffic never leaves the VPC; the bucket policy requires it)</a:t>
            </a:r>
          </a:p>
          <a:p>
            <a:pPr algn="l" marL="201168" indent="-201168">
              <a:spcAft>
                <a:spcPts val="700"/>
              </a:spcAft>
              <a:buClr>
                <a:srgbClr val="E87A1E"/>
              </a:buClr>
              <a:buSzPct val="100000"/>
              <a:buFont typeface="Arial"/>
              <a:buChar char="•"/>
            </a:pPr>
            <a:r>
              <a:rPr sz="1400" b="0" i="0">
                <a:solidFill>
                  <a:srgbClr val="1C2433"/>
                </a:solidFill>
                <a:latin typeface="Calibri"/>
              </a:rPr>
              <a:t>Interface endpoints for ECR, CloudWatch Logs, Secrets Manager and STS</a:t>
            </a:r>
          </a:p>
          <a:p>
            <a:pPr algn="l" marL="201168" indent="-201168">
              <a:spcAft>
                <a:spcPts val="700"/>
              </a:spcAft>
              <a:buClr>
                <a:srgbClr val="E87A1E"/>
              </a:buClr>
              <a:buSzPct val="100000"/>
              <a:buFont typeface="Arial"/>
              <a:buChar char="•"/>
            </a:pPr>
            <a:r>
              <a:rPr sz="1400" b="0" i="0">
                <a:solidFill>
                  <a:srgbClr val="1C2433"/>
                </a:solidFill>
                <a:latin typeface="Calibri"/>
              </a:rPr>
              <a:t>An EFS file system: Regional, encrypted, Elastic throughput, a mount target per subnet</a:t>
            </a:r>
          </a:p>
          <a:p>
            <a:pPr algn="l" marL="201168" indent="-201168">
              <a:spcAft>
                <a:spcPts val="700"/>
              </a:spcAft>
              <a:buClr>
                <a:srgbClr val="E87A1E"/>
              </a:buClr>
              <a:buSzPct val="100000"/>
              <a:buFont typeface="Arial"/>
              <a:buChar char="•"/>
            </a:pPr>
            <a:r>
              <a:rPr sz="1400" b="0" i="0">
                <a:solidFill>
                  <a:srgbClr val="1C2433"/>
                </a:solidFill>
                <a:latin typeface="Calibri"/>
              </a:rPr>
              <a:t>A KMS key for the lake; its key policy allows the roles of step 3</a:t>
            </a:r>
          </a:p>
          <a:p>
            <a:pPr algn="l" marL="201168" indent="-201168">
              <a:spcAft>
                <a:spcPts val="700"/>
              </a:spcAft>
              <a:buClr>
                <a:srgbClr val="E87A1E"/>
              </a:buClr>
              <a:buSzPct val="100000"/>
              <a:buFont typeface="Arial"/>
              <a:buChar char="•"/>
            </a:pPr>
            <a:r>
              <a:rPr sz="1400" b="0" i="0">
                <a:solidFill>
                  <a:srgbClr val="1C2433"/>
                </a:solidFill>
                <a:latin typeface="Calibri"/>
              </a:rPr>
              <a:t>An ECS cluster</a:t>
            </a:r>
          </a:p>
          <a:p>
            <a:pPr algn="l" marL="201168" indent="-201168">
              <a:spcAft>
                <a:spcPts val="700"/>
              </a:spcAft>
              <a:buClr>
                <a:srgbClr val="E87A1E"/>
              </a:buClr>
              <a:buSzPct val="100000"/>
              <a:buFont typeface="Arial"/>
              <a:buChar char="•"/>
            </a:pPr>
            <a:r>
              <a:rPr sz="1400" b="0" i="0">
                <a:solidFill>
                  <a:srgbClr val="1C2433"/>
                </a:solidFill>
                <a:latin typeface="Calibri"/>
              </a:rPr>
              <a:t>An Application Load Balancer with a target group for the consoles on port 17480</a:t>
            </a:r>
          </a:p>
          <a:p>
            <a:pPr algn="l" marL="201168" indent="-201168">
              <a:spcAft>
                <a:spcPts val="700"/>
              </a:spcAft>
              <a:buClr>
                <a:srgbClr val="E87A1E"/>
              </a:buClr>
              <a:buSzPct val="100000"/>
              <a:buFont typeface="Arial"/>
              <a:buChar char="•"/>
            </a:pPr>
            <a:r>
              <a:rPr sz="1400" b="0" i="0">
                <a:solidFill>
                  <a:srgbClr val="1C2433"/>
                </a:solidFill>
                <a:latin typeface="Calibri"/>
              </a:rPr>
              <a:t>An SNS topic for alarms</a:t>
            </a:r>
          </a:p>
          <a:p>
            <a:pPr algn="l" marL="201168" indent="-201168">
              <a:spcAft>
                <a:spcPts val="700"/>
              </a:spcAft>
              <a:buClr>
                <a:srgbClr val="E87A1E"/>
              </a:buClr>
              <a:buSzPct val="100000"/>
              <a:buFont typeface="Arial"/>
              <a:buChar char="•"/>
            </a:pPr>
            <a:r>
              <a:rPr sz="1400" b="0" i="0">
                <a:solidFill>
                  <a:srgbClr val="1C2433"/>
                </a:solidFill>
                <a:latin typeface="Calibri"/>
              </a:rPr>
              <a:t>The four secrets of AWS_DEPLOYMENT.md §11.3 (token secret, session secret, cluster key, admin seed)</a:t>
            </a:r>
          </a:p>
        </p:txBody>
      </p:sp>
      <p:sp>
        <p:nvSpPr>
          <p:cNvPr id="10" name="Callout"/>
          <p:cNvSpPr/>
          <p:nvPr/>
        </p:nvSpPr>
        <p:spPr>
          <a:xfrm>
            <a:off x="7635240" y="1188720"/>
            <a:ext cx="4142232" cy="2377440"/>
          </a:xfrm>
          <a:prstGeom prst="roundRect">
            <a:avLst>
              <a:gd name="adj" fmla="val 6000"/>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allout edge"/>
          <p:cNvSpPr/>
          <p:nvPr/>
        </p:nvSpPr>
        <p:spPr>
          <a:xfrm>
            <a:off x="7635240" y="1207008"/>
            <a:ext cx="82296" cy="2340864"/>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7863840" y="1261872"/>
            <a:ext cx="3776472" cy="2231136"/>
          </a:xfrm>
          <a:prstGeom prst="rect">
            <a:avLst/>
          </a:prstGeom>
          <a:noFill/>
        </p:spPr>
        <p:txBody>
          <a:bodyPr wrap="square" lIns="0" rIns="0" tIns="0" bIns="0" anchor="t">
            <a:spAutoFit/>
          </a:bodyPr>
          <a:lstStyle/>
          <a:p>
            <a:pPr algn="l">
              <a:spcAft>
                <a:spcPts val="600"/>
              </a:spcAft>
              <a:buNone/>
            </a:pPr>
            <a:r>
              <a:rPr sz="1300" b="1" i="0">
                <a:solidFill>
                  <a:srgbClr val="1C2433"/>
                </a:solidFill>
                <a:latin typeface="Calibri"/>
              </a:rPr>
              <a:t>Who builds these?</a:t>
            </a:r>
          </a:p>
          <a:p>
            <a:pPr algn="l">
              <a:spcAft>
                <a:spcPts val="600"/>
              </a:spcAft>
              <a:buNone/>
            </a:pPr>
            <a:r>
              <a:rPr sz="1300" b="0" i="0">
                <a:solidFill>
                  <a:srgbClr val="1C2433"/>
                </a:solidFill>
                <a:latin typeface="Calibri"/>
              </a:rPr>
              <a:t>The platform team, with its own CloudFormation or Terraform templates. The Drishti scripts take their ids (subnets, file system, key ARN, cluster, target group, topic) from </a:t>
            </a:r>
            <a:r>
              <a:rPr sz="1200" b="0" i="0">
                <a:solidFill>
                  <a:srgbClr val="0E7C86"/>
                </a:solidFill>
                <a:latin typeface="Consolas"/>
              </a:rPr>
              <a:t>deploy/aws/env</a:t>
            </a:r>
            <a:r>
              <a:rPr sz="1300" b="0" i="0">
                <a:solidFill>
                  <a:srgbClr val="1C2433"/>
                </a:solidFill>
                <a:latin typeface="Calibri"/>
              </a:rPr>
              <a:t>.</a:t>
            </a:r>
          </a:p>
        </p:txBody>
      </p:sp>
      <p:sp>
        <p:nvSpPr>
          <p:cNvPr id="13" name="Callout"/>
          <p:cNvSpPr/>
          <p:nvPr/>
        </p:nvSpPr>
        <p:spPr>
          <a:xfrm>
            <a:off x="7635240" y="3794760"/>
            <a:ext cx="4142232" cy="2514600"/>
          </a:xfrm>
          <a:prstGeom prst="roundRect">
            <a:avLst>
              <a:gd name="adj" fmla="val 6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Callout edge"/>
          <p:cNvSpPr/>
          <p:nvPr/>
        </p:nvSpPr>
        <p:spPr>
          <a:xfrm>
            <a:off x="7635240" y="3813048"/>
            <a:ext cx="82296" cy="247802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xtBox 14"/>
          <p:cNvSpPr txBox="1"/>
          <p:nvPr/>
        </p:nvSpPr>
        <p:spPr>
          <a:xfrm>
            <a:off x="7863840" y="3867912"/>
            <a:ext cx="3776472" cy="2368296"/>
          </a:xfrm>
          <a:prstGeom prst="rect">
            <a:avLst/>
          </a:prstGeom>
          <a:noFill/>
        </p:spPr>
        <p:txBody>
          <a:bodyPr wrap="square" lIns="0" rIns="0" tIns="0" bIns="0" anchor="t">
            <a:spAutoFit/>
          </a:bodyPr>
          <a:lstStyle/>
          <a:p>
            <a:pPr algn="l">
              <a:spcAft>
                <a:spcPts val="600"/>
              </a:spcAft>
              <a:buNone/>
            </a:pPr>
            <a:r>
              <a:rPr sz="1300" b="1" i="0">
                <a:solidFill>
                  <a:srgbClr val="1C2433"/>
                </a:solidFill>
                <a:latin typeface="Calibri"/>
              </a:rPr>
              <a:t>Run the scripts from</a:t>
            </a:r>
          </a:p>
          <a:p>
            <a:pPr algn="l">
              <a:spcAft>
                <a:spcPts val="600"/>
              </a:spcAft>
              <a:buNone/>
            </a:pPr>
            <a:r>
              <a:rPr sz="1300" b="0" i="0">
                <a:solidFill>
                  <a:srgbClr val="1C2433"/>
                </a:solidFill>
                <a:latin typeface="Calibri"/>
              </a:rPr>
              <a:t>a workstation or admin host with AWS CLI v2, the repository, Java 21 and </a:t>
            </a:r>
            <a:r>
              <a:rPr sz="1200" b="0" i="0">
                <a:solidFill>
                  <a:srgbClr val="0E7C86"/>
                </a:solidFill>
                <a:latin typeface="Consolas"/>
              </a:rPr>
              <a:t>drishti-console/.venv</a:t>
            </a:r>
            <a:r>
              <a:rPr sz="1300" b="0" i="0">
                <a:solidFill>
                  <a:srgbClr val="1C2433"/>
                </a:solidFill>
                <a:latin typeface="Calibri"/>
              </a:rPr>
              <a:t>.</a:t>
            </a:r>
          </a:p>
          <a:p>
            <a:pPr algn="l">
              <a:spcAft>
                <a:spcPts val="600"/>
              </a:spcAft>
              <a:buNone/>
            </a:pPr>
            <a:r>
              <a:rPr sz="1300" b="0" i="0">
                <a:solidFill>
                  <a:srgbClr val="1C2433"/>
                </a:solidFill>
                <a:latin typeface="Calibri"/>
              </a:rPr>
              <a:t>Content store on S3 (optional, 2.7.0): its bucket needs conditional writes too (step 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Step 1: the settings file</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4 · step 1</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22</a:t>
            </a:r>
          </a:p>
        </p:txBody>
      </p:sp>
      <p:sp>
        <p:nvSpPr>
          <p:cNvPr id="9" name="Code block"/>
          <p:cNvSpPr/>
          <p:nvPr/>
        </p:nvSpPr>
        <p:spPr>
          <a:xfrm>
            <a:off x="411480" y="1188720"/>
            <a:ext cx="11365992" cy="914400"/>
          </a:xfrm>
          <a:prstGeom prst="roundRect">
            <a:avLst>
              <a:gd name="adj" fmla="val 4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
          <p:cNvSpPr txBox="1"/>
          <p:nvPr/>
        </p:nvSpPr>
        <p:spPr>
          <a:xfrm>
            <a:off x="521208" y="1252728"/>
            <a:ext cx="11146536" cy="786384"/>
          </a:xfrm>
          <a:prstGeom prst="rect">
            <a:avLst/>
          </a:prstGeom>
          <a:noFill/>
        </p:spPr>
        <p:txBody>
          <a:bodyPr wrap="square" lIns="0" rIns="0" tIns="0" bIns="0" anchor="ctr">
            <a:spAutoFit/>
          </a:bodyPr>
          <a:lstStyle/>
          <a:p>
            <a:pPr>
              <a:spcAft>
                <a:spcPts val="0"/>
              </a:spcAft>
              <a:buNone/>
            </a:pPr>
            <a:r>
              <a:rPr sz="1100" b="0" i="0">
                <a:solidFill>
                  <a:srgbClr val="E6EDF3"/>
                </a:solidFill>
                <a:latin typeface="Consolas"/>
              </a:rPr>
              <a:t>cp deploy/aws/env.example deploy/aws/env      </a:t>
            </a:r>
            <a:r>
              <a:rPr sz="1100" b="0" i="0">
                <a:solidFill>
                  <a:srgbClr val="8B9BB4"/>
                </a:solidFill>
                <a:latin typeface="Consolas"/>
              </a:rPr>
              <a:t>  # git-ignored; holds account ids and names, never a secret</a:t>
            </a:r>
          </a:p>
          <a:p>
            <a:pPr>
              <a:spcAft>
                <a:spcPts val="0"/>
              </a:spcAft>
              <a:buNone/>
            </a:pPr>
            <a:r>
              <a:rPr sz="1100" b="0" i="0">
                <a:solidFill>
                  <a:srgbClr val="E6EDF3"/>
                </a:solidFill>
                <a:latin typeface="Consolas"/>
              </a:rPr>
              <a:t>$EDITOR deploy/aws/env                        </a:t>
            </a:r>
            <a:r>
              <a:rPr sz="1100" b="0" i="0">
                <a:solidFill>
                  <a:srgbClr val="8B9BB4"/>
                </a:solidFill>
                <a:latin typeface="Consolas"/>
              </a:rPr>
              <a:t>  # replace every &lt;placeholder&gt;</a:t>
            </a:r>
          </a:p>
          <a:p>
            <a:pPr>
              <a:spcAft>
                <a:spcPts val="0"/>
              </a:spcAft>
              <a:buNone/>
            </a:pPr>
            <a:r>
              <a:rPr sz="1100" b="0" i="0">
                <a:solidFill>
                  <a:srgbClr val="E6EDF3"/>
                </a:solidFill>
                <a:latin typeface="Consolas"/>
              </a:rPr>
              <a:t>cp deploy/aws/delta-lake/tables.example deploy/aws/delta-lake/tables.conf </a:t>
            </a:r>
            <a:r>
              <a:rPr sz="1100" b="0" i="0">
                <a:solidFill>
                  <a:srgbClr val="8B9BB4"/>
                </a:solidFill>
                <a:latin typeface="Consolas"/>
              </a:rPr>
              <a:t>  # your tables; set LAKE_TABLES_FILE</a:t>
            </a:r>
          </a:p>
        </p:txBody>
      </p:sp>
      <p:sp>
        <p:nvSpPr>
          <p:cNvPr id="11" name="TextBox 10"/>
          <p:cNvSpPr txBox="1"/>
          <p:nvPr/>
        </p:nvSpPr>
        <p:spPr>
          <a:xfrm>
            <a:off x="411480" y="2240280"/>
            <a:ext cx="11365992" cy="640080"/>
          </a:xfrm>
          <a:prstGeom prst="rect">
            <a:avLst/>
          </a:prstGeom>
          <a:noFill/>
        </p:spPr>
        <p:txBody>
          <a:bodyPr wrap="square" lIns="0" rIns="0" tIns="0" bIns="0" anchor="t">
            <a:spAutoFit/>
          </a:bodyPr>
          <a:lstStyle/>
          <a:p>
            <a:pPr algn="l">
              <a:spcAft>
                <a:spcPts val="600"/>
              </a:spcAft>
              <a:buNone/>
            </a:pPr>
            <a:r>
              <a:rPr sz="1300" b="1" i="0">
                <a:solidFill>
                  <a:srgbClr val="1C2433"/>
                </a:solidFill>
                <a:latin typeface="Calibri"/>
              </a:rPr>
              <a:t>You should see:</a:t>
            </a:r>
            <a:r>
              <a:rPr sz="1300" b="0" i="0">
                <a:solidFill>
                  <a:srgbClr val="1C2433"/>
                </a:solidFill>
                <a:latin typeface="Calibri"/>
              </a:rPr>
              <a:t> nothing yet. A script run with a placeholder left names it: </a:t>
            </a:r>
            <a:r>
              <a:rPr sz="1200" b="0" i="0">
                <a:solidFill>
                  <a:srgbClr val="0E7C86"/>
                </a:solidFill>
                <a:latin typeface="Consolas"/>
              </a:rPr>
              <a:t>setup-buckets.sh: LAKE_KMS_KEY_ARN is still a placeholder (&lt;arn:aws:kms:…&gt;) in deploy/aws/env</a:t>
            </a:r>
          </a:p>
        </p:txBody>
      </p:sp>
      <p:sp>
        <p:nvSpPr>
          <p:cNvPr id="12" name="Code block"/>
          <p:cNvSpPr/>
          <p:nvPr/>
        </p:nvSpPr>
        <p:spPr>
          <a:xfrm>
            <a:off x="411480" y="2926080"/>
            <a:ext cx="11365992" cy="411480"/>
          </a:xfrm>
          <a:prstGeom prst="roundRect">
            <a:avLst>
              <a:gd name="adj" fmla="val 4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
          <p:cNvSpPr txBox="1"/>
          <p:nvPr/>
        </p:nvSpPr>
        <p:spPr>
          <a:xfrm>
            <a:off x="521208" y="2990088"/>
            <a:ext cx="11146536" cy="283464"/>
          </a:xfrm>
          <a:prstGeom prst="rect">
            <a:avLst/>
          </a:prstGeom>
          <a:noFill/>
        </p:spPr>
        <p:txBody>
          <a:bodyPr wrap="square" lIns="0" rIns="0" tIns="0" bIns="0" anchor="ctr">
            <a:spAutoFit/>
          </a:bodyPr>
          <a:lstStyle/>
          <a:p>
            <a:pPr>
              <a:spcAft>
                <a:spcPts val="0"/>
              </a:spcAft>
              <a:buNone/>
            </a:pPr>
            <a:r>
              <a:rPr sz="1100" b="0" i="0">
                <a:solidFill>
                  <a:srgbClr val="E6EDF3"/>
                </a:solidFill>
                <a:latin typeface="Consolas"/>
              </a:rPr>
              <a:t>trading/trade_endur      trade   config/packs/trading   trade-endur     {date}/endur/           -      PRODUCT_TYPE</a:t>
            </a:r>
          </a:p>
        </p:txBody>
      </p:sp>
      <p:graphicFrame>
        <p:nvGraphicFramePr>
          <p:cNvPr id="14" name="Table"/>
          <p:cNvGraphicFramePr>
            <a:graphicFrameLocks noGrp="1"/>
          </p:cNvGraphicFramePr>
          <p:nvPr/>
        </p:nvGraphicFramePr>
        <p:xfrm>
          <a:off x="411480" y="3474720"/>
          <a:ext cx="11365990" cy="2852928"/>
        </p:xfrm>
        <a:graphic>
          <a:graphicData uri="http://schemas.openxmlformats.org/drawingml/2006/table">
            <a:tbl>
              <a:tblPr firstRow="0" bandRow="0">
                <a:tableStyleId>{5940675A-B579-460E-94D1-54222C63F5DA}</a:tableStyleId>
              </a:tblPr>
              <a:tblGrid>
                <a:gridCol w="2016546"/>
                <a:gridCol w="2933159"/>
                <a:gridCol w="6416285"/>
              </a:tblGrid>
              <a:tr h="356616">
                <a:tc>
                  <a:txBody>
                    <a:bodyPr wrap="square"/>
                    <a:lstStyle/>
                    <a:p>
                      <a:r>
                        <a:rPr sz="1200" b="1" i="0">
                          <a:solidFill>
                            <a:srgbClr val="FFFFFF"/>
                          </a:solidFill>
                          <a:latin typeface="Calibri"/>
                        </a:rPr>
                        <a:t>Field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Example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Meaning</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356616">
                <a:tc>
                  <a:txBody>
                    <a:bodyPr wrap="square"/>
                    <a:lstStyle/>
                    <a:p>
                      <a:r>
                        <a:rPr sz="1200" b="1" i="0">
                          <a:solidFill>
                            <a:srgbClr val="1C2433"/>
                          </a:solidFill>
                          <a:latin typeface="Calibri"/>
                        </a:rPr>
                        <a:t>folder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trading/trade_endur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the table's folder under the lake prefix (domain / table)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356616">
                <a:tc>
                  <a:txBody>
                    <a:bodyPr wrap="square"/>
                    <a:lstStyle/>
                    <a:p>
                      <a:r>
                        <a:rPr sz="1200" b="1" i="0">
                          <a:solidFill>
                            <a:srgbClr val="1C2433"/>
                          </a:solidFill>
                          <a:latin typeface="Calibri"/>
                        </a:rPr>
                        <a:t>kind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trade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the Drishti kind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356616">
                <a:tc>
                  <a:txBody>
                    <a:bodyPr wrap="square"/>
                    <a:lstStyle/>
                    <a:p>
                      <a:r>
                        <a:rPr sz="1200" b="1" i="0">
                          <a:solidFill>
                            <a:srgbClr val="1C2433"/>
                          </a:solidFill>
                          <a:latin typeface="Calibri"/>
                        </a:rPr>
                        <a:t>pack</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config/packs/trading</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the pack whose layout (key, promoted and vector columns) is used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356616">
                <a:tc>
                  <a:txBody>
                    <a:bodyPr wrap="square"/>
                    <a:lstStyle/>
                    <a:p>
                      <a:r>
                        <a:rPr sz="1200" b="1" i="0">
                          <a:solidFill>
                            <a:srgbClr val="1C2433"/>
                          </a:solidFill>
                          <a:latin typeface="Calibri"/>
                        </a:rPr>
                        <a:t>connector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trade-endur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the pack's connector that reads this table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356616">
                <a:tc>
                  <a:txBody>
                    <a:bodyPr wrap="square"/>
                    <a:lstStyle/>
                    <a:p>
                      <a:r>
                        <a:rPr sz="1200" b="1" i="0">
                          <a:solidFill>
                            <a:srgbClr val="1C2433"/>
                          </a:solidFill>
                          <a:latin typeface="Calibri"/>
                        </a:rPr>
                        <a:t>landing prefix</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{date}/endur/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where the JSON Lines dumps are; </a:t>
                      </a:r>
                      <a:r>
                        <a:rPr sz="1100" b="0" i="0">
                          <a:solidFill>
                            <a:srgbClr val="0E7C86"/>
                          </a:solidFill>
                          <a:latin typeface="Consolas"/>
                        </a:rPr>
                        <a:t>{date}</a:t>
                      </a:r>
                      <a:r>
                        <a:rPr sz="1200" b="0" i="0">
                          <a:solidFill>
                            <a:srgbClr val="1C2433"/>
                          </a:solidFill>
                          <a:latin typeface="Calibri"/>
                        </a:rPr>
                        <a:t> is the business date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356616">
                <a:tc>
                  <a:txBody>
                    <a:bodyPr wrap="square"/>
                    <a:lstStyle/>
                    <a:p>
                      <a:r>
                        <a:rPr sz="1200" b="1" i="0">
                          <a:solidFill>
                            <a:srgbClr val="1C2433"/>
                          </a:solidFill>
                          <a:latin typeface="Calibri"/>
                        </a:rPr>
                        <a:t>business-date field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the field holding the date, or - for the day being loaded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356616">
                <a:tc>
                  <a:txBody>
                    <a:bodyPr wrap="square"/>
                    <a:lstStyle/>
                    <a:p>
                      <a:r>
                        <a:rPr sz="1200" b="1" i="0">
                          <a:solidFill>
                            <a:srgbClr val="1C2433"/>
                          </a:solidFill>
                          <a:latin typeface="Calibri"/>
                        </a:rPr>
                        <a:t>partition column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PRODUCT_TYPE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the second partition key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Step 2: the buckets</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4 · step 2</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23</a:t>
            </a:r>
          </a:p>
        </p:txBody>
      </p:sp>
      <p:sp>
        <p:nvSpPr>
          <p:cNvPr id="9" name="Code block"/>
          <p:cNvSpPr/>
          <p:nvPr/>
        </p:nvSpPr>
        <p:spPr>
          <a:xfrm>
            <a:off x="411480" y="1188720"/>
            <a:ext cx="11365992" cy="1965960"/>
          </a:xfrm>
          <a:prstGeom prst="roundRect">
            <a:avLst>
              <a:gd name="adj" fmla="val 4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
          <p:cNvSpPr txBox="1"/>
          <p:nvPr/>
        </p:nvSpPr>
        <p:spPr>
          <a:xfrm>
            <a:off x="521208" y="1252728"/>
            <a:ext cx="11146536" cy="1837943"/>
          </a:xfrm>
          <a:prstGeom prst="rect">
            <a:avLst/>
          </a:prstGeom>
          <a:noFill/>
        </p:spPr>
        <p:txBody>
          <a:bodyPr wrap="square" lIns="0" rIns="0" tIns="0" bIns="0" anchor="ctr">
            <a:spAutoFit/>
          </a:bodyPr>
          <a:lstStyle/>
          <a:p>
            <a:pPr>
              <a:spcAft>
                <a:spcPts val="0"/>
              </a:spcAft>
              <a:buNone/>
            </a:pPr>
            <a:r>
              <a:rPr sz="1100" b="0" i="0">
                <a:solidFill>
                  <a:srgbClr val="E6EDF3"/>
                </a:solidFill>
                <a:latin typeface="Consolas"/>
              </a:rPr>
              <a:t>deploy/aws/delta-lake/setup-buckets.sh --dry-run</a:t>
            </a:r>
          </a:p>
          <a:p>
            <a:pPr>
              <a:spcAft>
                <a:spcPts val="0"/>
              </a:spcAft>
              <a:buNone/>
            </a:pPr>
            <a:r>
              <a:rPr sz="1100" b="0" i="0">
                <a:solidFill>
                  <a:srgbClr val="E6EDF3"/>
                </a:solidFill>
                <a:latin typeface="Consolas"/>
              </a:rPr>
              <a:t>deploy/aws/delta-lake/setup-buckets.sh</a:t>
            </a:r>
          </a:p>
          <a:p>
            <a:pPr>
              <a:spcAft>
                <a:spcPts val="0"/>
              </a:spcAft>
              <a:buNone/>
            </a:pPr>
            <a:r>
              <a:rPr sz="1100" b="0" i="0">
                <a:solidFill>
                  <a:srgbClr val="E6EDF3"/>
                </a:solidFill>
                <a:latin typeface="Consolas"/>
              </a:rPr>
              <a:t>+ aws s3api create-bucket --bucket acme-drishti-prod-lake --object-ownership BucketOwnerEnforced \</a:t>
            </a:r>
          </a:p>
          <a:p>
            <a:pPr>
              <a:spcAft>
                <a:spcPts val="0"/>
              </a:spcAft>
              <a:buNone/>
            </a:pPr>
            <a:r>
              <a:rPr sz="1100" b="0" i="0">
                <a:solidFill>
                  <a:srgbClr val="E6EDF3"/>
                </a:solidFill>
                <a:latin typeface="Consolas"/>
              </a:rPr>
              <a:t>      --create-bucket-configuration LocationConstraint=eu-west-2</a:t>
            </a:r>
          </a:p>
          <a:p>
            <a:pPr>
              <a:spcAft>
                <a:spcPts val="0"/>
              </a:spcAft>
              <a:buNone/>
            </a:pPr>
            <a:r>
              <a:rPr sz="1100" b="0" i="0">
                <a:solidFill>
                  <a:srgbClr val="E6EDF3"/>
                </a:solidFill>
                <a:latin typeface="Consolas"/>
              </a:rPr>
              <a:t>+ aws s3api put-bucket-versioning --bucket acme-drishti-prod-lake --versioning-configuration Status=Enabled</a:t>
            </a:r>
          </a:p>
          <a:p>
            <a:pPr>
              <a:spcAft>
                <a:spcPts val="0"/>
              </a:spcAft>
              <a:buNone/>
            </a:pPr>
            <a:r>
              <a:rPr sz="1100" b="0" i="0">
                <a:solidFill>
                  <a:srgbClr val="E6EDF3"/>
                </a:solidFill>
                <a:latin typeface="Consolas"/>
              </a:rPr>
              <a:t>+ aws s3api put-bucket-encryption --bucket acme-drishti-prod-lake --server-side-encryption-configuration file://…</a:t>
            </a:r>
          </a:p>
          <a:p>
            <a:pPr>
              <a:spcAft>
                <a:spcPts val="0"/>
              </a:spcAft>
              <a:buNone/>
            </a:pPr>
            <a:r>
              <a:rPr sz="1100" b="0" i="0">
                <a:solidFill>
                  <a:srgbClr val="E6EDF3"/>
                </a:solidFill>
                <a:latin typeface="Consolas"/>
              </a:rPr>
              <a:t>+ aws s3api put-bucket-policy --bucket acme-drishti-prod-lake --policy file://…/policy-….json</a:t>
            </a:r>
          </a:p>
          <a:p>
            <a:pPr>
              <a:spcAft>
                <a:spcPts val="0"/>
              </a:spcAft>
              <a:buNone/>
            </a:pPr>
            <a:r>
              <a:rPr sz="1100" b="0" i="0">
                <a:solidFill>
                  <a:srgbClr val="E6EDF3"/>
                </a:solidFill>
                <a:latin typeface="Consolas"/>
              </a:rPr>
              <a:t>setup-buckets.sh: done: acme-drishti-prod-lake, acme-drishti-prod-landing, acme-drishti-prod-logs</a:t>
            </a:r>
          </a:p>
        </p:txBody>
      </p:sp>
      <p:sp>
        <p:nvSpPr>
          <p:cNvPr id="11" name="TextBox 10"/>
          <p:cNvSpPr txBox="1"/>
          <p:nvPr/>
        </p:nvSpPr>
        <p:spPr>
          <a:xfrm>
            <a:off x="411480" y="3337560"/>
            <a:ext cx="11365992" cy="3017520"/>
          </a:xfrm>
          <a:prstGeom prst="rect">
            <a:avLst/>
          </a:prstGeom>
          <a:noFill/>
        </p:spPr>
        <p:txBody>
          <a:bodyPr wrap="square" lIns="0" rIns="0" tIns="0" bIns="0" anchor="t">
            <a:spAutoFit/>
          </a:bodyPr>
          <a:lstStyle/>
          <a:p>
            <a:pPr algn="l" marL="201168" indent="-201168">
              <a:spcAft>
                <a:spcPts val="700"/>
              </a:spcAft>
              <a:buClr>
                <a:srgbClr val="E87A1E"/>
              </a:buClr>
              <a:buSzPct val="100000"/>
              <a:buFont typeface="Arial"/>
              <a:buChar char="•"/>
            </a:pPr>
            <a:r>
              <a:rPr sz="1400" b="1" i="0">
                <a:solidFill>
                  <a:srgbClr val="1C2433"/>
                </a:solidFill>
                <a:latin typeface="Calibri"/>
              </a:rPr>
              <a:t>Three buckets:</a:t>
            </a:r>
            <a:r>
              <a:rPr sz="1400" b="0" i="0">
                <a:solidFill>
                  <a:srgbClr val="1C2433"/>
                </a:solidFill>
                <a:latin typeface="Calibri"/>
              </a:rPr>
              <a:t> </a:t>
            </a:r>
            <a:r>
              <a:rPr sz="1300" b="0" i="0">
                <a:solidFill>
                  <a:srgbClr val="0E7C86"/>
                </a:solidFill>
                <a:latin typeface="Consolas"/>
              </a:rPr>
              <a:t>-lake</a:t>
            </a:r>
            <a:r>
              <a:rPr sz="1400" b="0" i="0">
                <a:solidFill>
                  <a:srgbClr val="1C2433"/>
                </a:solidFill>
                <a:latin typeface="Calibri"/>
              </a:rPr>
              <a:t> (every Delta table, the risk lake included), </a:t>
            </a:r>
            <a:r>
              <a:rPr sz="1300" b="0" i="0">
                <a:solidFill>
                  <a:srgbClr val="0E7C86"/>
                </a:solidFill>
                <a:latin typeface="Consolas"/>
              </a:rPr>
              <a:t>-landing</a:t>
            </a:r>
            <a:r>
              <a:rPr sz="1400" b="0" i="0">
                <a:solidFill>
                  <a:srgbClr val="1C2433"/>
                </a:solidFill>
                <a:latin typeface="Calibri"/>
              </a:rPr>
              <a:t> (JSON Lines dumps, 30 days), </a:t>
            </a:r>
            <a:r>
              <a:rPr sz="1300" b="0" i="0">
                <a:solidFill>
                  <a:srgbClr val="0E7C86"/>
                </a:solidFill>
                <a:latin typeface="Consolas"/>
              </a:rPr>
              <a:t>-logs</a:t>
            </a:r>
            <a:r>
              <a:rPr sz="1400" b="0" i="0">
                <a:solidFill>
                  <a:srgbClr val="1C2433"/>
                </a:solidFill>
                <a:latin typeface="Calibri"/>
              </a:rPr>
              <a:t> (access logs, 400 days)</a:t>
            </a:r>
          </a:p>
          <a:p>
            <a:pPr algn="l" marL="201168" indent="-201168">
              <a:spcAft>
                <a:spcPts val="700"/>
              </a:spcAft>
              <a:buClr>
                <a:srgbClr val="E87A1E"/>
              </a:buClr>
              <a:buSzPct val="100000"/>
              <a:buFont typeface="Arial"/>
              <a:buChar char="•"/>
            </a:pPr>
            <a:r>
              <a:rPr sz="1400" b="1" i="0">
                <a:solidFill>
                  <a:srgbClr val="1C2433"/>
                </a:solidFill>
                <a:latin typeface="Calibri"/>
              </a:rPr>
              <a:t>On the lake:</a:t>
            </a:r>
            <a:r>
              <a:rPr sz="1400" b="0" i="0">
                <a:solidFill>
                  <a:srgbClr val="1C2433"/>
                </a:solidFill>
                <a:latin typeface="Calibri"/>
              </a:rPr>
              <a:t> versioning on; SSE-KMS with S3 Bucket Keys; Block Public Access; bucket-owner-enforced ownership; TLS only; VPC endpoint only (plus </a:t>
            </a:r>
            <a:r>
              <a:rPr sz="1300" b="0" i="0">
                <a:solidFill>
                  <a:srgbClr val="0E7C86"/>
                </a:solidFill>
                <a:latin typeface="Consolas"/>
              </a:rPr>
              <a:t>drishti-&lt;env&gt;-admin*</a:t>
            </a:r>
            <a:r>
              <a:rPr sz="1400" b="0" i="0">
                <a:solidFill>
                  <a:srgbClr val="1C2433"/>
                </a:solidFill>
                <a:latin typeface="Calibri"/>
              </a:rPr>
              <a:t> roles); access logs; request metrics on </a:t>
            </a:r>
            <a:r>
              <a:rPr sz="1300" b="0" i="0">
                <a:solidFill>
                  <a:srgbClr val="0E7C86"/>
                </a:solidFill>
                <a:latin typeface="Consolas"/>
              </a:rPr>
              <a:t>lake/</a:t>
            </a:r>
          </a:p>
          <a:p>
            <a:pPr algn="l" marL="201168" indent="-201168">
              <a:spcAft>
                <a:spcPts val="700"/>
              </a:spcAft>
              <a:buClr>
                <a:srgbClr val="E87A1E"/>
              </a:buClr>
              <a:buSzPct val="100000"/>
              <a:buFont typeface="Arial"/>
              <a:buChar char="•"/>
            </a:pPr>
            <a:r>
              <a:rPr sz="1400" b="1" i="0">
                <a:solidFill>
                  <a:srgbClr val="1C2433"/>
                </a:solidFill>
                <a:latin typeface="Calibri"/>
              </a:rPr>
              <a:t>Safety net:</a:t>
            </a:r>
            <a:r>
              <a:rPr sz="1400" b="0" i="0">
                <a:solidFill>
                  <a:srgbClr val="1C2433"/>
                </a:solidFill>
                <a:latin typeface="Calibri"/>
              </a:rPr>
              <a:t> noncurrent versions expire after 14 days; incomplete multipart uploads abort after 2 days</a:t>
            </a:r>
          </a:p>
          <a:p>
            <a:pPr algn="l" marL="201168" indent="-201168">
              <a:spcAft>
                <a:spcPts val="700"/>
              </a:spcAft>
              <a:buClr>
                <a:srgbClr val="E87A1E"/>
              </a:buClr>
              <a:buSzPct val="100000"/>
              <a:buFont typeface="Arial"/>
              <a:buChar char="•"/>
            </a:pPr>
            <a:r>
              <a:rPr sz="1400" b="1" i="0">
                <a:solidFill>
                  <a:srgbClr val="1C2433"/>
                </a:solidFill>
                <a:latin typeface="Calibri"/>
              </a:rPr>
              <a:t>Idempotent:</a:t>
            </a:r>
            <a:r>
              <a:rPr sz="1400" b="0" i="0">
                <a:solidFill>
                  <a:srgbClr val="1C2433"/>
                </a:solidFill>
                <a:latin typeface="Calibri"/>
              </a:rPr>
              <a:t> run again, it says </a:t>
            </a:r>
            <a:r>
              <a:rPr sz="1300" b="0" i="0">
                <a:solidFill>
                  <a:srgbClr val="0E7C86"/>
                </a:solidFill>
                <a:latin typeface="Consolas"/>
              </a:rPr>
              <a:t>acme-drishti-prod-lake exists: kept, settings applied again</a:t>
            </a:r>
          </a:p>
          <a:p>
            <a:pPr algn="l" marL="201168" indent="-201168">
              <a:spcAft>
                <a:spcPts val="700"/>
              </a:spcAft>
              <a:buClr>
                <a:srgbClr val="E87A1E"/>
              </a:buClr>
              <a:buSzPct val="100000"/>
              <a:buFont typeface="Arial"/>
              <a:buChar char="•"/>
            </a:pPr>
            <a:r>
              <a:rPr sz="1300" b="0" i="0">
                <a:solidFill>
                  <a:srgbClr val="0E7C86"/>
                </a:solidFill>
                <a:latin typeface="Consolas"/>
              </a:rPr>
              <a:t>--dry-run</a:t>
            </a:r>
            <a:r>
              <a:rPr sz="1400" b="0" i="0">
                <a:solidFill>
                  <a:srgbClr val="1C2433"/>
                </a:solidFill>
                <a:latin typeface="Calibri"/>
              </a:rPr>
              <a:t> prints each changing call as </a:t>
            </a:r>
            <a:r>
              <a:rPr sz="1300" b="0" i="0">
                <a:solidFill>
                  <a:srgbClr val="0E7C86"/>
                </a:solidFill>
                <a:latin typeface="Consolas"/>
              </a:rPr>
              <a:t>+ aws …</a:t>
            </a:r>
            <a:r>
              <a:rPr sz="1400" b="0" i="0">
                <a:solidFill>
                  <a:srgbClr val="1C2433"/>
                </a:solidFill>
                <a:latin typeface="Calibri"/>
              </a:rPr>
              <a:t> and each read as </a:t>
            </a:r>
            <a:r>
              <a:rPr sz="1300" b="0" i="0">
                <a:solidFill>
                  <a:srgbClr val="0E7C86"/>
                </a:solidFill>
                <a:latin typeface="Consolas"/>
              </a:rPr>
              <a:t>? aws …</a:t>
            </a:r>
            <a:r>
              <a:rPr sz="1400" b="0" i="0">
                <a:solidFill>
                  <a:srgbClr val="1C2433"/>
                </a:solidFill>
                <a:latin typeface="Calibri"/>
              </a:rPr>
              <a:t>; none is made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Step 3: who may do what (IAM)</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4 · step 3</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24</a:t>
            </a:r>
          </a:p>
        </p:txBody>
      </p:sp>
      <p:sp>
        <p:nvSpPr>
          <p:cNvPr id="9" name="Code block"/>
          <p:cNvSpPr/>
          <p:nvPr/>
        </p:nvSpPr>
        <p:spPr>
          <a:xfrm>
            <a:off x="411480" y="1188720"/>
            <a:ext cx="11365992" cy="548640"/>
          </a:xfrm>
          <a:prstGeom prst="roundRect">
            <a:avLst>
              <a:gd name="adj" fmla="val 4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
          <p:cNvSpPr txBox="1"/>
          <p:nvPr/>
        </p:nvSpPr>
        <p:spPr>
          <a:xfrm>
            <a:off x="521208" y="1252728"/>
            <a:ext cx="11146536" cy="420623"/>
          </a:xfrm>
          <a:prstGeom prst="rect">
            <a:avLst/>
          </a:prstGeom>
          <a:noFill/>
        </p:spPr>
        <p:txBody>
          <a:bodyPr wrap="square" lIns="0" rIns="0" tIns="0" bIns="0" anchor="ctr">
            <a:spAutoFit/>
          </a:bodyPr>
          <a:lstStyle/>
          <a:p>
            <a:pPr>
              <a:spcAft>
                <a:spcPts val="0"/>
              </a:spcAft>
              <a:buNone/>
            </a:pPr>
            <a:r>
              <a:rPr sz="1100" b="0" i="0">
                <a:solidFill>
                  <a:srgbClr val="E6EDF3"/>
                </a:solidFill>
                <a:latin typeface="Consolas"/>
              </a:rPr>
              <a:t>deploy/aws/delta-lake/setup-iam.sh --dry-run</a:t>
            </a:r>
          </a:p>
          <a:p>
            <a:pPr>
              <a:spcAft>
                <a:spcPts val="0"/>
              </a:spcAft>
              <a:buNone/>
            </a:pPr>
            <a:r>
              <a:rPr sz="1100" b="0" i="0">
                <a:solidFill>
                  <a:srgbClr val="E6EDF3"/>
                </a:solidFill>
                <a:latin typeface="Consolas"/>
              </a:rPr>
              <a:t>deploy/aws/delta-lake/setup-iam.sh</a:t>
            </a:r>
          </a:p>
        </p:txBody>
      </p:sp>
      <p:graphicFrame>
        <p:nvGraphicFramePr>
          <p:cNvPr id="11" name="Table"/>
          <p:cNvGraphicFramePr>
            <a:graphicFrameLocks noGrp="1"/>
          </p:cNvGraphicFramePr>
          <p:nvPr/>
        </p:nvGraphicFramePr>
        <p:xfrm>
          <a:off x="411480" y="1920240"/>
          <a:ext cx="11365990" cy="3401568"/>
        </p:xfrm>
        <a:graphic>
          <a:graphicData uri="http://schemas.openxmlformats.org/drawingml/2006/table">
            <a:tbl>
              <a:tblPr firstRow="0" bandRow="0">
                <a:tableStyleId>{5940675A-B579-460E-94D1-54222C63F5DA}</a:tableStyleId>
              </a:tblPr>
              <a:tblGrid>
                <a:gridCol w="2933159"/>
                <a:gridCol w="3574787"/>
                <a:gridCol w="4858044"/>
              </a:tblGrid>
              <a:tr h="566928">
                <a:tc>
                  <a:txBody>
                    <a:bodyPr wrap="square"/>
                    <a:lstStyle/>
                    <a:p>
                      <a:r>
                        <a:rPr sz="1200" b="1" i="0">
                          <a:solidFill>
                            <a:srgbClr val="FFFFFF"/>
                          </a:solidFill>
                          <a:latin typeface="Calibri"/>
                        </a:rPr>
                        <a:t>Role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Policy (deploy/aws/delta-lake/iam/)</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May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566928">
                <a:tc>
                  <a:txBody>
                    <a:bodyPr wrap="square"/>
                    <a:lstStyle/>
                    <a:p>
                      <a:r>
                        <a:rPr sz="1100" b="0" i="0">
                          <a:solidFill>
                            <a:srgbClr val="0E7C86"/>
                          </a:solidFill>
                          <a:latin typeface="Consolas"/>
                        </a:rPr>
                        <a:t>drishti-&lt;env&gt;-server-task</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server-policy.json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read the lake prefix (GET, LIST), decrypt; mount EFS through access points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66928">
                <a:tc>
                  <a:txBody>
                    <a:bodyPr wrap="square"/>
                    <a:lstStyle/>
                    <a:p>
                      <a:r>
                        <a:rPr sz="1100" b="0" i="0">
                          <a:solidFill>
                            <a:srgbClr val="0E7C86"/>
                          </a:solidFill>
                          <a:latin typeface="Consolas"/>
                        </a:rPr>
                        <a:t>drishti-&lt;env&gt;-loader-task</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loader-policy.json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read the landing bucket; write data files and commits; never delete (an explicit deny)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66928">
                <a:tc>
                  <a:txBody>
                    <a:bodyPr wrap="square"/>
                    <a:lstStyle/>
                    <a:p>
                      <a:r>
                        <a:rPr sz="1100" b="0" i="0">
                          <a:solidFill>
                            <a:srgbClr val="0E7C86"/>
                          </a:solidFill>
                          <a:latin typeface="Consolas"/>
                        </a:rPr>
                        <a:t>drishti-&lt;env&gt;-maintenance-task</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maintenance-policy.json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checkpoints, retention and vacuum: the only role that deletes; the lifecycle rules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66928">
                <a:tc>
                  <a:txBody>
                    <a:bodyPr wrap="square"/>
                    <a:lstStyle/>
                    <a:p>
                      <a:r>
                        <a:rPr sz="1100" b="0" i="0">
                          <a:solidFill>
                            <a:srgbClr val="0E7C86"/>
                          </a:solidFill>
                          <a:latin typeface="Consolas"/>
                        </a:rPr>
                        <a:t>drishti-&lt;env&gt;-execution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AmazonECSTaskExecutionRolePolicy + </a:t>
                      </a:r>
                      <a:r>
                        <a:rPr sz="1100" b="0" i="0">
                          <a:solidFill>
                            <a:srgbClr val="0E7C86"/>
                          </a:solidFill>
                          <a:latin typeface="Consolas"/>
                        </a:rPr>
                        <a:t>drishti/&lt;env&gt;/*</a:t>
                      </a:r>
                      <a:r>
                        <a:rPr sz="1200" b="0" i="0">
                          <a:solidFill>
                            <a:srgbClr val="1C2433"/>
                          </a:solidFill>
                          <a:latin typeface="Calibri"/>
                        </a:rPr>
                        <a:t> secrets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ECS pulls images, writes logs, injects secrets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66928">
                <a:tc>
                  <a:txBody>
                    <a:bodyPr wrap="square"/>
                    <a:lstStyle/>
                    <a:p>
                      <a:r>
                        <a:rPr sz="1100" b="0" i="0">
                          <a:solidFill>
                            <a:srgbClr val="0E7C86"/>
                          </a:solidFill>
                          <a:latin typeface="Consolas"/>
                        </a:rPr>
                        <a:t>drishti-&lt;env&gt;-scheduler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inline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EventBridge Scheduler runs the lake tasks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bl>
          </a:graphicData>
        </a:graphic>
      </p:graphicFrame>
      <p:sp>
        <p:nvSpPr>
          <p:cNvPr id="12" name="Callout"/>
          <p:cNvSpPr/>
          <p:nvPr/>
        </p:nvSpPr>
        <p:spPr>
          <a:xfrm>
            <a:off x="411480" y="5486400"/>
            <a:ext cx="11365992" cy="822960"/>
          </a:xfrm>
          <a:prstGeom prst="roundRect">
            <a:avLst>
              <a:gd name="adj" fmla="val 6000"/>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allout edge"/>
          <p:cNvSpPr/>
          <p:nvPr/>
        </p:nvSpPr>
        <p:spPr>
          <a:xfrm>
            <a:off x="411480" y="5504688"/>
            <a:ext cx="82296" cy="786384"/>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640080" y="5559552"/>
            <a:ext cx="11000232" cy="676656"/>
          </a:xfrm>
          <a:prstGeom prst="rect">
            <a:avLst/>
          </a:prstGeom>
          <a:noFill/>
        </p:spPr>
        <p:txBody>
          <a:bodyPr wrap="square" lIns="0" rIns="0" tIns="0" bIns="0" anchor="ctr">
            <a:spAutoFit/>
          </a:bodyPr>
          <a:lstStyle/>
          <a:p>
            <a:pPr algn="l">
              <a:spcAft>
                <a:spcPts val="600"/>
              </a:spcAft>
              <a:buNone/>
            </a:pPr>
            <a:r>
              <a:rPr sz="1300" b="1" i="0">
                <a:solidFill>
                  <a:srgbClr val="1C2433"/>
                </a:solidFill>
                <a:latin typeface="Calibri"/>
              </a:rPr>
              <a:t>You should see</a:t>
            </a:r>
            <a:r>
              <a:rPr sz="1300" b="0" i="0">
                <a:solidFill>
                  <a:srgbClr val="1C2433"/>
                </a:solidFill>
                <a:latin typeface="Calibri"/>
              </a:rPr>
              <a:t> </a:t>
            </a:r>
            <a:r>
              <a:rPr sz="1200" b="0" i="0">
                <a:solidFill>
                  <a:srgbClr val="0E7C86"/>
                </a:solidFill>
                <a:latin typeface="Consolas"/>
              </a:rPr>
              <a:t>setup-iam.sh: done: three policies, five roles (…)</a:t>
            </a:r>
            <a:r>
              <a:rPr sz="1300" b="0" i="0">
                <a:solidFill>
                  <a:srgbClr val="1C2433"/>
                </a:solidFill>
                <a:latin typeface="Calibri"/>
              </a:rPr>
              <a:t>. The shipped server policy only reads; for official results to S3 (2.9.5) add </a:t>
            </a:r>
            <a:r>
              <a:rPr sz="1200" b="0" i="0">
                <a:solidFill>
                  <a:srgbClr val="0E7C86"/>
                </a:solidFill>
                <a:latin typeface="Consolas"/>
              </a:rPr>
              <a:t>s3:PutObject</a:t>
            </a:r>
            <a:r>
              <a:rPr sz="1300" b="0" i="0">
                <a:solidFill>
                  <a:srgbClr val="1C2433"/>
                </a:solidFill>
                <a:latin typeface="Calibri"/>
              </a:rPr>
              <a:t> on their prefix, no delete (AWS_DEPLOYMENT.md §22; slide 66).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Step 4: prove that commits are safe</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4 · step 4</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25</a:t>
            </a:r>
          </a:p>
        </p:txBody>
      </p:sp>
      <p:sp>
        <p:nvSpPr>
          <p:cNvPr id="9" name="Code block"/>
          <p:cNvSpPr/>
          <p:nvPr/>
        </p:nvSpPr>
        <p:spPr>
          <a:xfrm>
            <a:off x="411480" y="1188720"/>
            <a:ext cx="11365992" cy="685800"/>
          </a:xfrm>
          <a:prstGeom prst="roundRect">
            <a:avLst>
              <a:gd name="adj" fmla="val 4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
          <p:cNvSpPr txBox="1"/>
          <p:nvPr/>
        </p:nvSpPr>
        <p:spPr>
          <a:xfrm>
            <a:off x="521208" y="1252728"/>
            <a:ext cx="11146536" cy="557784"/>
          </a:xfrm>
          <a:prstGeom prst="rect">
            <a:avLst/>
          </a:prstGeom>
          <a:noFill/>
        </p:spPr>
        <p:txBody>
          <a:bodyPr wrap="square" lIns="0" rIns="0" tIns="0" bIns="0" anchor="ctr">
            <a:spAutoFit/>
          </a:bodyPr>
          <a:lstStyle/>
          <a:p>
            <a:pPr>
              <a:spcAft>
                <a:spcPts val="0"/>
              </a:spcAft>
              <a:buNone/>
            </a:pPr>
            <a:r>
              <a:rPr sz="1100" b="0" i="0">
                <a:solidFill>
                  <a:srgbClr val="E6EDF3"/>
                </a:solidFill>
                <a:latin typeface="Consolas"/>
              </a:rPr>
              <a:t>deploy/aws/delta-lake/check-conditional-writes.sh</a:t>
            </a:r>
          </a:p>
          <a:p>
            <a:pPr>
              <a:spcAft>
                <a:spcPts val="0"/>
              </a:spcAft>
              <a:buNone/>
            </a:pPr>
            <a:r>
              <a:rPr sz="1100" b="0" i="0">
                <a:solidFill>
                  <a:srgbClr val="E6EDF3"/>
                </a:solidFill>
                <a:latin typeface="Consolas"/>
              </a:rPr>
              <a:t>check-conditional-writes.sh: ok: the second create was refused (412 PreconditionFailed): concurrent commits are safe</a:t>
            </a:r>
          </a:p>
        </p:txBody>
      </p:sp>
      <p:sp>
        <p:nvSpPr>
          <p:cNvPr id="11" name="TextBox 10"/>
          <p:cNvSpPr txBox="1"/>
          <p:nvPr/>
        </p:nvSpPr>
        <p:spPr>
          <a:xfrm>
            <a:off x="411480" y="2103120"/>
            <a:ext cx="6949440" cy="4206240"/>
          </a:xfrm>
          <a:prstGeom prst="rect">
            <a:avLst/>
          </a:prstGeom>
          <a:noFill/>
        </p:spPr>
        <p:txBody>
          <a:bodyPr wrap="square" lIns="0" rIns="0" tIns="0" bIns="0" anchor="t">
            <a:spAutoFit/>
          </a:bodyPr>
          <a:lstStyle/>
          <a:p>
            <a:pPr algn="l" marL="201168" indent="-201168">
              <a:spcAft>
                <a:spcPts val="800"/>
              </a:spcAft>
              <a:buClr>
                <a:srgbClr val="E87A1E"/>
              </a:buClr>
              <a:buSzPct val="100000"/>
              <a:buFont typeface="Arial"/>
              <a:buChar char="•"/>
            </a:pPr>
            <a:r>
              <a:rPr sz="1400" b="1" i="0">
                <a:solidFill>
                  <a:srgbClr val="1C2433"/>
                </a:solidFill>
                <a:latin typeface="Calibri"/>
              </a:rPr>
              <a:t>What it does:</a:t>
            </a:r>
            <a:r>
              <a:rPr sz="1400" b="0" i="0">
                <a:solidFill>
                  <a:srgbClr val="1C2433"/>
                </a:solidFill>
                <a:latin typeface="Calibri"/>
              </a:rPr>
              <a:t> creates a test object with </a:t>
            </a:r>
            <a:r>
              <a:rPr sz="1300" b="0" i="0">
                <a:solidFill>
                  <a:srgbClr val="0E7C86"/>
                </a:solidFill>
                <a:latin typeface="Consolas"/>
              </a:rPr>
              <a:t>If-None-Match: *</a:t>
            </a:r>
            <a:r>
              <a:rPr sz="1400" b="0" i="0">
                <a:solidFill>
                  <a:srgbClr val="1C2433"/>
                </a:solidFill>
                <a:latin typeface="Calibri"/>
              </a:rPr>
              <a:t>, then tries again; S3 must refuse the second with 412</a:t>
            </a:r>
          </a:p>
          <a:p>
            <a:pPr algn="l" marL="201168" indent="-201168">
              <a:spcAft>
                <a:spcPts val="800"/>
              </a:spcAft>
              <a:buClr>
                <a:srgbClr val="E87A1E"/>
              </a:buClr>
              <a:buSzPct val="100000"/>
              <a:buFont typeface="Arial"/>
              <a:buChar char="•"/>
            </a:pPr>
            <a:r>
              <a:rPr sz="1400" b="1" i="0">
                <a:solidFill>
                  <a:srgbClr val="1C2433"/>
                </a:solidFill>
                <a:latin typeface="Calibri"/>
              </a:rPr>
              <a:t>Why it matters:</a:t>
            </a:r>
            <a:r>
              <a:rPr sz="1400" b="0" i="0">
                <a:solidFill>
                  <a:srgbClr val="1C2433"/>
                </a:solidFill>
                <a:latin typeface="Calibri"/>
              </a:rPr>
              <a:t> a Delta commit is the creation of </a:t>
            </a:r>
            <a:r>
              <a:rPr sz="1300" b="0" i="0">
                <a:solidFill>
                  <a:srgbClr val="0E7C86"/>
                </a:solidFill>
                <a:latin typeface="Consolas"/>
              </a:rPr>
              <a:t>_delta_log/&lt;version&gt;.json</a:t>
            </a:r>
            <a:r>
              <a:rPr sz="1400" b="0" i="0">
                <a:solidFill>
                  <a:srgbClr val="1C2433"/>
                </a:solidFill>
                <a:latin typeface="Calibri"/>
              </a:rPr>
              <a:t>; two writers must never both create one version</a:t>
            </a:r>
          </a:p>
          <a:p>
            <a:pPr algn="l" marL="201168" indent="-201168">
              <a:spcAft>
                <a:spcPts val="800"/>
              </a:spcAft>
              <a:buClr>
                <a:srgbClr val="E87A1E"/>
              </a:buClr>
              <a:buSzPct val="100000"/>
              <a:buFont typeface="Arial"/>
              <a:buChar char="•"/>
            </a:pPr>
            <a:r>
              <a:rPr sz="1400" b="1" i="0">
                <a:solidFill>
                  <a:srgbClr val="1C2433"/>
                </a:solidFill>
                <a:latin typeface="Calibri"/>
              </a:rPr>
              <a:t>Any other answer: stop.</a:t>
            </a:r>
            <a:r>
              <a:rPr sz="1400" b="0" i="0">
                <a:solidFill>
                  <a:srgbClr val="1C2433"/>
                </a:solidFill>
                <a:latin typeface="Calibri"/>
              </a:rPr>
              <a:t> A store or proxy that drops the header cannot guarantee safe concurrent commits; then only one writer per table (the scripts' per-table locks give that if nothing else writes)</a:t>
            </a:r>
          </a:p>
          <a:p>
            <a:pPr algn="l" marL="201168" indent="-201168">
              <a:spcAft>
                <a:spcPts val="800"/>
              </a:spcAft>
              <a:buClr>
                <a:srgbClr val="E87A1E"/>
              </a:buClr>
              <a:buSzPct val="100000"/>
              <a:buFont typeface="Arial"/>
              <a:buChar char="•"/>
            </a:pPr>
            <a:r>
              <a:rPr sz="1400" b="1" i="0">
                <a:solidFill>
                  <a:srgbClr val="1C2433"/>
                </a:solidFill>
                <a:latin typeface="Calibri"/>
              </a:rPr>
              <a:t>No DynamoDB lock table:</a:t>
            </a:r>
            <a:r>
              <a:rPr sz="1400" b="0" i="0">
                <a:solidFill>
                  <a:srgbClr val="1C2433"/>
                </a:solidFill>
                <a:latin typeface="Calibri"/>
              </a:rPr>
              <a:t> deltalake 1.x commits with conditional PUT</a:t>
            </a:r>
          </a:p>
        </p:txBody>
      </p:sp>
      <p:sp>
        <p:nvSpPr>
          <p:cNvPr id="12" name="Callout"/>
          <p:cNvSpPr/>
          <p:nvPr/>
        </p:nvSpPr>
        <p:spPr>
          <a:xfrm>
            <a:off x="7635240" y="2103120"/>
            <a:ext cx="4142232" cy="4206240"/>
          </a:xfrm>
          <a:prstGeom prst="roundRect">
            <a:avLst>
              <a:gd name="adj" fmla="val 6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allout edge"/>
          <p:cNvSpPr/>
          <p:nvPr/>
        </p:nvSpPr>
        <p:spPr>
          <a:xfrm>
            <a:off x="7635240" y="2121408"/>
            <a:ext cx="82296" cy="4169663"/>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7863840" y="2176272"/>
            <a:ext cx="3776472" cy="4059935"/>
          </a:xfrm>
          <a:prstGeom prst="rect">
            <a:avLst/>
          </a:prstGeom>
          <a:noFill/>
        </p:spPr>
        <p:txBody>
          <a:bodyPr wrap="square" lIns="0" rIns="0" tIns="0" bIns="0" anchor="t">
            <a:spAutoFit/>
          </a:bodyPr>
          <a:lstStyle/>
          <a:p>
            <a:pPr algn="l">
              <a:spcAft>
                <a:spcPts val="600"/>
              </a:spcAft>
              <a:buNone/>
            </a:pPr>
            <a:r>
              <a:rPr sz="1400" b="1" i="0">
                <a:solidFill>
                  <a:srgbClr val="1C2433"/>
                </a:solidFill>
                <a:latin typeface="Calibri"/>
              </a:rPr>
              <a:t>The same guarantee, used three times</a:t>
            </a:r>
          </a:p>
          <a:p>
            <a:pPr algn="l" marL="201168" indent="-201168">
              <a:spcAft>
                <a:spcPts val="600"/>
              </a:spcAft>
              <a:buClr>
                <a:srgbClr val="E87A1E"/>
              </a:buClr>
              <a:buSzPct val="100000"/>
              <a:buFont typeface="Arial"/>
              <a:buChar char="•"/>
            </a:pPr>
            <a:r>
              <a:rPr sz="1300" b="1" i="0">
                <a:solidFill>
                  <a:srgbClr val="1C2433"/>
                </a:solidFill>
                <a:latin typeface="Calibri"/>
              </a:rPr>
              <a:t>Delta commits:</a:t>
            </a:r>
            <a:r>
              <a:rPr sz="1300" b="0" i="0">
                <a:solidFill>
                  <a:srgbClr val="1C2433"/>
                </a:solidFill>
                <a:latin typeface="Calibri"/>
              </a:rPr>
              <a:t> </a:t>
            </a:r>
            <a:r>
              <a:rPr sz="1200" b="0" i="0">
                <a:solidFill>
                  <a:srgbClr val="0E7C86"/>
                </a:solidFill>
                <a:latin typeface="Consolas"/>
              </a:rPr>
              <a:t>lake publish</a:t>
            </a:r>
            <a:r>
              <a:rPr sz="1300" b="0" i="0">
                <a:solidFill>
                  <a:srgbClr val="1C2433"/>
                </a:solidFill>
                <a:latin typeface="Calibri"/>
              </a:rPr>
              <a:t>, </a:t>
            </a:r>
            <a:r>
              <a:rPr sz="1200" b="0" i="0">
                <a:solidFill>
                  <a:srgbClr val="0E7C86"/>
                </a:solidFill>
                <a:latin typeface="Consolas"/>
              </a:rPr>
              <a:t>lake maintain</a:t>
            </a:r>
            <a:r>
              <a:rPr sz="1300" b="0" i="0">
                <a:solidFill>
                  <a:srgbClr val="1C2433"/>
                </a:solidFill>
                <a:latin typeface="Calibri"/>
              </a:rPr>
              <a:t> (deltalake 1.x)</a:t>
            </a:r>
          </a:p>
          <a:p>
            <a:pPr algn="l" marL="201168" indent="-201168">
              <a:spcAft>
                <a:spcPts val="600"/>
              </a:spcAft>
              <a:buClr>
                <a:srgbClr val="E87A1E"/>
              </a:buClr>
              <a:buSzPct val="100000"/>
              <a:buFont typeface="Arial"/>
              <a:buChar char="•"/>
            </a:pPr>
            <a:r>
              <a:rPr sz="1300" b="1" i="0">
                <a:solidFill>
                  <a:srgbClr val="1C2433"/>
                </a:solidFill>
                <a:latin typeface="Calibri"/>
              </a:rPr>
              <a:t>Iceberg commits:</a:t>
            </a:r>
            <a:r>
              <a:rPr sz="1300" b="0" i="0">
                <a:solidFill>
                  <a:srgbClr val="1C2433"/>
                </a:solidFill>
                <a:latin typeface="Calibri"/>
              </a:rPr>
              <a:t> drishti-lakeio's conditional PUT, probed at start (a store without it: single writer)</a:t>
            </a:r>
          </a:p>
          <a:p>
            <a:pPr algn="l" marL="201168" indent="-201168">
              <a:spcAft>
                <a:spcPts val="600"/>
              </a:spcAft>
              <a:buClr>
                <a:srgbClr val="E87A1E"/>
              </a:buClr>
              <a:buSzPct val="100000"/>
              <a:buFont typeface="Arial"/>
              <a:buChar char="•"/>
            </a:pPr>
            <a:r>
              <a:rPr sz="1300" b="1" i="0">
                <a:solidFill>
                  <a:srgbClr val="1C2433"/>
                </a:solidFill>
                <a:latin typeface="Calibri"/>
              </a:rPr>
              <a:t>Content store on S3:</a:t>
            </a:r>
            <a:r>
              <a:rPr sz="1300" b="0" i="0">
                <a:solidFill>
                  <a:srgbClr val="1C2433"/>
                </a:solidFill>
                <a:latin typeface="Calibri"/>
              </a:rPr>
              <a:t> create </a:t>
            </a:r>
            <a:r>
              <a:rPr sz="1200" b="0" i="0">
                <a:solidFill>
                  <a:srgbClr val="0E7C86"/>
                </a:solidFill>
                <a:latin typeface="Consolas"/>
              </a:rPr>
              <a:t>If-None-Match: *</a:t>
            </a:r>
            <a:r>
              <a:rPr sz="1300" b="0" i="0">
                <a:solidFill>
                  <a:srgbClr val="1C2433"/>
                </a:solidFill>
                <a:latin typeface="Calibri"/>
              </a:rPr>
              <a:t>, update </a:t>
            </a:r>
            <a:r>
              <a:rPr sz="1200" b="0" i="0">
                <a:solidFill>
                  <a:srgbClr val="0E7C86"/>
                </a:solidFill>
                <a:latin typeface="Consolas"/>
              </a:rPr>
              <a:t>If-Match: &lt;ETag&gt;</a:t>
            </a:r>
            <a:r>
              <a:rPr sz="1300" b="0" i="0">
                <a:solidFill>
                  <a:srgbClr val="1C2433"/>
                </a:solidFill>
                <a:latin typeface="Calibri"/>
              </a:rPr>
              <a:t>; a lost race is </a:t>
            </a:r>
            <a:r>
              <a:rPr sz="1200" b="0" i="0">
                <a:solidFill>
                  <a:srgbClr val="0E7C86"/>
                </a:solidFill>
                <a:latin typeface="Consolas"/>
              </a:rPr>
              <a:t>409 DRS-5057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Step 5: storage tiers by business date</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4 · step 5</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26</a:t>
            </a:r>
          </a:p>
        </p:txBody>
      </p:sp>
      <p:sp>
        <p:nvSpPr>
          <p:cNvPr id="9" name="Code block"/>
          <p:cNvSpPr/>
          <p:nvPr/>
        </p:nvSpPr>
        <p:spPr>
          <a:xfrm>
            <a:off x="411480" y="1188720"/>
            <a:ext cx="11365992" cy="594360"/>
          </a:xfrm>
          <a:prstGeom prst="roundRect">
            <a:avLst>
              <a:gd name="adj" fmla="val 4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
          <p:cNvSpPr txBox="1"/>
          <p:nvPr/>
        </p:nvSpPr>
        <p:spPr>
          <a:xfrm>
            <a:off x="521208" y="1252728"/>
            <a:ext cx="11146536" cy="466344"/>
          </a:xfrm>
          <a:prstGeom prst="rect">
            <a:avLst/>
          </a:prstGeom>
          <a:noFill/>
        </p:spPr>
        <p:txBody>
          <a:bodyPr wrap="square" lIns="0" rIns="0" tIns="0" bIns="0" anchor="ctr">
            <a:spAutoFit/>
          </a:bodyPr>
          <a:lstStyle/>
          <a:p>
            <a:pPr>
              <a:spcAft>
                <a:spcPts val="0"/>
              </a:spcAft>
              <a:buNone/>
            </a:pPr>
            <a:r>
              <a:rPr sz="1100" b="0" i="0">
                <a:solidFill>
                  <a:srgbClr val="E6EDF3"/>
                </a:solidFill>
                <a:latin typeface="Consolas"/>
              </a:rPr>
              <a:t>deploy/aws/delta-lake/setup-lifecycle.sh --print | head -20   </a:t>
            </a:r>
            <a:r>
              <a:rPr sz="1100" b="0" i="0">
                <a:solidFill>
                  <a:srgbClr val="8B9BB4"/>
                </a:solidFill>
                <a:latin typeface="Consolas"/>
              </a:rPr>
              <a:t>  # the rules, no AWS call</a:t>
            </a:r>
          </a:p>
          <a:p>
            <a:pPr>
              <a:spcAft>
                <a:spcPts val="0"/>
              </a:spcAft>
              <a:buNone/>
            </a:pPr>
            <a:r>
              <a:rPr sz="1100" b="0" i="0">
                <a:solidFill>
                  <a:srgbClr val="E6EDF3"/>
                </a:solidFill>
                <a:latin typeface="Consolas"/>
              </a:rPr>
              <a:t>deploy/aws/delta-lake/setup-lifecycle.sh</a:t>
            </a:r>
          </a:p>
        </p:txBody>
      </p:sp>
      <p:sp>
        <p:nvSpPr>
          <p:cNvPr id="11" name="TextBox 10"/>
          <p:cNvSpPr txBox="1"/>
          <p:nvPr/>
        </p:nvSpPr>
        <p:spPr>
          <a:xfrm>
            <a:off x="411480" y="1920240"/>
            <a:ext cx="11365992" cy="411480"/>
          </a:xfrm>
          <a:prstGeom prst="rect">
            <a:avLst/>
          </a:prstGeom>
          <a:noFill/>
        </p:spPr>
        <p:txBody>
          <a:bodyPr wrap="square" lIns="0" rIns="0" tIns="0" bIns="0" anchor="t">
            <a:spAutoFit/>
          </a:bodyPr>
          <a:lstStyle/>
          <a:p>
            <a:pPr algn="l">
              <a:spcAft>
                <a:spcPts val="600"/>
              </a:spcAft>
              <a:buNone/>
            </a:pPr>
            <a:r>
              <a:rPr sz="1300" b="1" i="0">
                <a:solidFill>
                  <a:srgbClr val="1C2433"/>
                </a:solidFill>
                <a:latin typeface="Calibri"/>
              </a:rPr>
              <a:t>You should see</a:t>
            </a:r>
            <a:r>
              <a:rPr sz="1300" b="0" i="0">
                <a:solidFill>
                  <a:srgbClr val="1C2433"/>
                </a:solidFill>
                <a:latin typeface="Calibri"/>
              </a:rPr>
              <a:t> </a:t>
            </a:r>
            <a:r>
              <a:rPr sz="1200" b="0" i="0">
                <a:solidFill>
                  <a:srgbClr val="0E7C86"/>
                </a:solidFill>
                <a:latin typeface="Consolas"/>
              </a:rPr>
              <a:t>setup-lifecycle.sh: 129 rules for acme-drishti-prod-lake</a:t>
            </a:r>
            <a:r>
              <a:rPr sz="1300" b="0" i="0">
                <a:solidFill>
                  <a:srgbClr val="1C2433"/>
                </a:solidFill>
                <a:latin typeface="Calibri"/>
              </a:rPr>
              <a:t> (three tables from 2019).</a:t>
            </a:r>
          </a:p>
        </p:txBody>
      </p:sp>
      <p:sp>
        <p:nvSpPr>
          <p:cNvPr id="12" name="TextBox 11"/>
          <p:cNvSpPr txBox="1"/>
          <p:nvPr/>
        </p:nvSpPr>
        <p:spPr>
          <a:xfrm>
            <a:off x="411480" y="2423160"/>
            <a:ext cx="11365992" cy="3931920"/>
          </a:xfrm>
          <a:prstGeom prst="rect">
            <a:avLst/>
          </a:prstGeom>
          <a:noFill/>
        </p:spPr>
        <p:txBody>
          <a:bodyPr wrap="square" lIns="0" rIns="0" tIns="0" bIns="0" anchor="t">
            <a:spAutoFit/>
          </a:bodyPr>
          <a:lstStyle/>
          <a:p>
            <a:pPr algn="l" marL="201168" indent="-201168">
              <a:spcAft>
                <a:spcPts val="700"/>
              </a:spcAft>
              <a:buClr>
                <a:srgbClr val="E87A1E"/>
              </a:buClr>
              <a:buSzPct val="100000"/>
              <a:buFont typeface="Arial"/>
              <a:buChar char="•"/>
            </a:pPr>
            <a:r>
              <a:rPr sz="1400" b="1" i="0">
                <a:solidFill>
                  <a:srgbClr val="1C2433"/>
                </a:solidFill>
                <a:latin typeface="Calibri"/>
              </a:rPr>
              <a:t>By date, not by age:</a:t>
            </a:r>
            <a:r>
              <a:rPr sz="1400" b="0" i="0">
                <a:solidFill>
                  <a:srgbClr val="1C2433"/>
                </a:solidFill>
                <a:latin typeface="Calibri"/>
              </a:rPr>
              <a:t> age is the time since an object was written, wrong for a restated or backfilled day; one rule per table per business month, with transition dates</a:t>
            </a:r>
          </a:p>
          <a:p>
            <a:pPr algn="l" marL="201168" indent="-201168">
              <a:spcAft>
                <a:spcPts val="700"/>
              </a:spcAft>
              <a:buClr>
                <a:srgbClr val="E87A1E"/>
              </a:buClr>
              <a:buSzPct val="100000"/>
              <a:buFont typeface="Arial"/>
              <a:buChar char="•"/>
            </a:pPr>
            <a:r>
              <a:rPr sz="1400" b="0" i="0">
                <a:solidFill>
                  <a:srgbClr val="1C2433"/>
                </a:solidFill>
                <a:latin typeface="Calibri"/>
              </a:rPr>
              <a:t>Standard → Standard-IA when the month's last day is 90 days old (</a:t>
            </a:r>
            <a:r>
              <a:rPr sz="1300" b="0" i="0">
                <a:solidFill>
                  <a:srgbClr val="0E7C86"/>
                </a:solidFill>
                <a:latin typeface="Consolas"/>
              </a:rPr>
              <a:t>TIER_IA_AFTER_DAYS</a:t>
            </a:r>
            <a:r>
              <a:rPr sz="1400" b="0" i="0">
                <a:solidFill>
                  <a:srgbClr val="1C2433"/>
                </a:solidFill>
                <a:latin typeface="Calibri"/>
              </a:rPr>
              <a:t>); → Glacier Instant Retrieval at two years (</a:t>
            </a:r>
            <a:r>
              <a:rPr sz="1300" b="0" i="0">
                <a:solidFill>
                  <a:srgbClr val="0E7C86"/>
                </a:solidFill>
                <a:latin typeface="Consolas"/>
              </a:rPr>
              <a:t>TIER_GLACIER_IR_AFTER_DAYS</a:t>
            </a:r>
            <a:r>
              <a:rPr sz="1400" b="0" i="0">
                <a:solidFill>
                  <a:srgbClr val="1C2433"/>
                </a:solidFill>
                <a:latin typeface="Calibri"/>
              </a:rPr>
              <a:t>)</a:t>
            </a:r>
          </a:p>
          <a:p>
            <a:pPr algn="l" marL="201168" indent="-201168">
              <a:spcAft>
                <a:spcPts val="700"/>
              </a:spcAft>
              <a:buClr>
                <a:srgbClr val="E87A1E"/>
              </a:buClr>
              <a:buSzPct val="100000"/>
              <a:buFont typeface="Arial"/>
              <a:buChar char="•"/>
            </a:pPr>
            <a:r>
              <a:rPr sz="1400" b="0" i="0">
                <a:solidFill>
                  <a:srgbClr val="1C2433"/>
                </a:solidFill>
                <a:latin typeface="Calibri"/>
              </a:rPr>
              <a:t>Never Glacier Flexible Retrieval or Deep Archive (hours to restore); never an S3 expiry of current lake objects</a:t>
            </a:r>
          </a:p>
          <a:p>
            <a:pPr algn="l" marL="201168" indent="-201168">
              <a:spcAft>
                <a:spcPts val="700"/>
              </a:spcAft>
              <a:buClr>
                <a:srgbClr val="E87A1E"/>
              </a:buClr>
              <a:buSzPct val="100000"/>
              <a:buFont typeface="Arial"/>
              <a:buChar char="•"/>
            </a:pPr>
            <a:r>
              <a:rPr sz="1300" b="0" i="0">
                <a:solidFill>
                  <a:srgbClr val="0E7C86"/>
                </a:solidFill>
                <a:latin typeface="Consolas"/>
              </a:rPr>
              <a:t>_delta_log/</a:t>
            </a:r>
            <a:r>
              <a:rPr sz="1400" b="0" i="0">
                <a:solidFill>
                  <a:srgbClr val="1C2433"/>
                </a:solidFill>
                <a:latin typeface="Calibri"/>
              </a:rPr>
              <a:t> never matches: commits and checkpoints stay in Standard; objects under 128 KB stay where they are</a:t>
            </a:r>
          </a:p>
          <a:p>
            <a:pPr algn="l" marL="201168" indent="-201168">
              <a:spcAft>
                <a:spcPts val="700"/>
              </a:spcAft>
              <a:buClr>
                <a:srgbClr val="E87A1E"/>
              </a:buClr>
              <a:buSzPct val="100000"/>
              <a:buFont typeface="Arial"/>
              <a:buChar char="•"/>
            </a:pPr>
            <a:r>
              <a:rPr sz="1400" b="0" i="0">
                <a:solidFill>
                  <a:srgbClr val="1C2433"/>
                </a:solidFill>
                <a:latin typeface="Calibri"/>
              </a:rPr>
              <a:t>Rules exist three months ahead; maintain.sh rewrites them nightly; S3 allows 1,000 rules and the script refuses more</a:t>
            </a:r>
          </a:p>
          <a:p>
            <a:pPr algn="l" marL="201168" indent="-201168">
              <a:spcAft>
                <a:spcPts val="700"/>
              </a:spcAft>
              <a:buClr>
                <a:srgbClr val="E87A1E"/>
              </a:buClr>
              <a:buSzPct val="100000"/>
              <a:buFont typeface="Arial"/>
              <a:buChar char="•"/>
            </a:pPr>
            <a:r>
              <a:rPr sz="1400" b="1" i="0">
                <a:solidFill>
                  <a:srgbClr val="1C2433"/>
                </a:solidFill>
                <a:latin typeface="Calibri"/>
              </a:rPr>
              <a:t>Risk tables:</a:t>
            </a:r>
            <a:r>
              <a:rPr sz="1400" b="0" i="0">
                <a:solidFill>
                  <a:srgbClr val="1C2433"/>
                </a:solidFill>
                <a:latin typeface="Calibri"/>
              </a:rPr>
              <a:t> 7 years kept, old months in Glacier IR, still read in milliseconds (official numbers stay reproducible)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Step 6: EFS access points, one per node per path</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4 · step 6</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27</a:t>
            </a:r>
          </a:p>
        </p:txBody>
      </p:sp>
      <p:sp>
        <p:nvSpPr>
          <p:cNvPr id="9" name="Code block"/>
          <p:cNvSpPr/>
          <p:nvPr/>
        </p:nvSpPr>
        <p:spPr>
          <a:xfrm>
            <a:off x="411480" y="1188720"/>
            <a:ext cx="11365992" cy="548640"/>
          </a:xfrm>
          <a:prstGeom prst="roundRect">
            <a:avLst>
              <a:gd name="adj" fmla="val 4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
          <p:cNvSpPr txBox="1"/>
          <p:nvPr/>
        </p:nvSpPr>
        <p:spPr>
          <a:xfrm>
            <a:off x="521208" y="1252728"/>
            <a:ext cx="11146536" cy="420623"/>
          </a:xfrm>
          <a:prstGeom prst="rect">
            <a:avLst/>
          </a:prstGeom>
          <a:noFill/>
        </p:spPr>
        <p:txBody>
          <a:bodyPr wrap="square" lIns="0" rIns="0" tIns="0" bIns="0" anchor="ctr">
            <a:spAutoFit/>
          </a:bodyPr>
          <a:lstStyle/>
          <a:p>
            <a:pPr>
              <a:spcAft>
                <a:spcPts val="0"/>
              </a:spcAft>
              <a:buNone/>
            </a:pPr>
            <a:r>
              <a:rPr sz="1100" b="0" i="0">
                <a:solidFill>
                  <a:srgbClr val="E6EDF3"/>
                </a:solidFill>
                <a:latin typeface="Consolas"/>
              </a:rPr>
              <a:t>deploy/aws/ecs/setup-efs.sh --dry-run</a:t>
            </a:r>
          </a:p>
          <a:p>
            <a:pPr>
              <a:spcAft>
                <a:spcPts val="0"/>
              </a:spcAft>
              <a:buNone/>
            </a:pPr>
            <a:r>
              <a:rPr sz="1100" b="0" i="0">
                <a:solidFill>
                  <a:srgbClr val="E6EDF3"/>
                </a:solidFill>
                <a:latin typeface="Consolas"/>
              </a:rPr>
              <a:t>deploy/aws/ecs/setup-efs.sh</a:t>
            </a:r>
          </a:p>
        </p:txBody>
      </p:sp>
      <p:sp>
        <p:nvSpPr>
          <p:cNvPr id="11" name="TextBox 10"/>
          <p:cNvSpPr txBox="1"/>
          <p:nvPr/>
        </p:nvSpPr>
        <p:spPr>
          <a:xfrm>
            <a:off x="411480" y="1874519"/>
            <a:ext cx="11365992" cy="411480"/>
          </a:xfrm>
          <a:prstGeom prst="rect">
            <a:avLst/>
          </a:prstGeom>
          <a:noFill/>
        </p:spPr>
        <p:txBody>
          <a:bodyPr wrap="square" lIns="0" rIns="0" tIns="0" bIns="0" anchor="t">
            <a:spAutoFit/>
          </a:bodyPr>
          <a:lstStyle/>
          <a:p>
            <a:pPr algn="l">
              <a:spcAft>
                <a:spcPts val="600"/>
              </a:spcAft>
              <a:buNone/>
            </a:pPr>
            <a:r>
              <a:rPr sz="1300" b="1" i="0">
                <a:solidFill>
                  <a:srgbClr val="1C2433"/>
                </a:solidFill>
                <a:latin typeface="Calibri"/>
              </a:rPr>
              <a:t>You should see</a:t>
            </a:r>
            <a:r>
              <a:rPr sz="1300" b="0" i="0">
                <a:solidFill>
                  <a:srgbClr val="1C2433"/>
                </a:solidFill>
                <a:latin typeface="Calibri"/>
              </a:rPr>
              <a:t> one access point id per line (</a:t>
            </a:r>
            <a:r>
              <a:rPr sz="1200" b="0" i="0">
                <a:solidFill>
                  <a:srgbClr val="0E7C86"/>
                </a:solidFill>
                <a:latin typeface="Consolas"/>
              </a:rPr>
              <a:t>fsap-0a1b…</a:t>
            </a:r>
            <a:r>
              <a:rPr sz="1300" b="0" i="0">
                <a:solidFill>
                  <a:srgbClr val="1C2433"/>
                </a:solidFill>
                <a:latin typeface="Calibri"/>
              </a:rPr>
              <a:t>) and </a:t>
            </a:r>
            <a:r>
              <a:rPr sz="1200" b="0" i="0">
                <a:solidFill>
                  <a:srgbClr val="0E7C86"/>
                </a:solidFill>
                <a:latin typeface="Consolas"/>
              </a:rPr>
              <a:t>setup-efs.sh: 14 access points on fs-… for three nodes</a:t>
            </a:r>
            <a:r>
              <a:rPr sz="1300" b="0" i="0">
                <a:solidFill>
                  <a:srgbClr val="1C2433"/>
                </a:solidFill>
                <a:latin typeface="Calibri"/>
              </a:rPr>
              <a:t>.</a:t>
            </a:r>
          </a:p>
        </p:txBody>
      </p:sp>
      <p:graphicFrame>
        <p:nvGraphicFramePr>
          <p:cNvPr id="12" name="Table"/>
          <p:cNvGraphicFramePr>
            <a:graphicFrameLocks noGrp="1"/>
          </p:cNvGraphicFramePr>
          <p:nvPr/>
        </p:nvGraphicFramePr>
        <p:xfrm>
          <a:off x="411480" y="2423160"/>
          <a:ext cx="11365990" cy="2286000"/>
        </p:xfrm>
        <a:graphic>
          <a:graphicData uri="http://schemas.openxmlformats.org/drawingml/2006/table">
            <a:tbl>
              <a:tblPr firstRow="0" bandRow="0">
                <a:tableStyleId>{5940675A-B579-460E-94D1-54222C63F5DA}</a:tableStyleId>
              </a:tblPr>
              <a:tblGrid>
                <a:gridCol w="2749836"/>
                <a:gridCol w="2199869"/>
                <a:gridCol w="6416285"/>
              </a:tblGrid>
              <a:tr h="457200">
                <a:tc>
                  <a:txBody>
                    <a:bodyPr wrap="square"/>
                    <a:lstStyle/>
                    <a:p>
                      <a:r>
                        <a:rPr sz="1200" b="1" i="0">
                          <a:solidFill>
                            <a:srgbClr val="FFFFFF"/>
                          </a:solidFill>
                          <a:latin typeface="Calibri"/>
                        </a:rPr>
                        <a:t>Owner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Access points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Root (identical path inside the container)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457200">
                <a:tc>
                  <a:txBody>
                    <a:bodyPr wrap="square"/>
                    <a:lstStyle/>
                    <a:p>
                      <a:r>
                        <a:rPr sz="1200" b="1" i="0">
                          <a:solidFill>
                            <a:srgbClr val="1C2433"/>
                          </a:solidFill>
                          <a:latin typeface="Calibri"/>
                        </a:rPr>
                        <a:t>each node (drishti-a, -b, -c)</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data, config, sutras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/drishti/&lt;env&gt;/&lt;node&gt;/opt/drishti/&lt;path&gt;</a:t>
                      </a:r>
                      <a:r>
                        <a:rPr sz="1200" b="0" i="0">
                          <a:solidFill>
                            <a:srgbClr val="1C2433"/>
                          </a:solidFill>
                          <a:latin typeface="Calibri"/>
                        </a:rPr>
                        <a:t> → </a:t>
                      </a:r>
                      <a:r>
                        <a:rPr sz="1100" b="0" i="0">
                          <a:solidFill>
                            <a:srgbClr val="0E7C86"/>
                          </a:solidFill>
                          <a:latin typeface="Consolas"/>
                        </a:rPr>
                        <a:t>/opt/drishti/&lt;path&gt;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57200">
                <a:tc>
                  <a:txBody>
                    <a:bodyPr wrap="square"/>
                    <a:lstStyle/>
                    <a:p>
                      <a:r>
                        <a:rPr sz="1200" b="1" i="0">
                          <a:solidFill>
                            <a:srgbClr val="1C2433"/>
                          </a:solidFill>
                          <a:latin typeface="Calibri"/>
                        </a:rPr>
                        <a:t>consoles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data, config, sutras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/drishti/&lt;env&gt;/consoles/opt/drishti/&lt;path&gt;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57200">
                <a:tc>
                  <a:txBody>
                    <a:bodyPr wrap="square"/>
                    <a:lstStyle/>
                    <a:p>
                      <a:r>
                        <a:rPr sz="1200" b="1" i="0">
                          <a:solidFill>
                            <a:srgbClr val="1C2433"/>
                          </a:solidFill>
                          <a:latin typeface="Calibri"/>
                        </a:rPr>
                        <a:t>loader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data</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/drishti/&lt;env&gt;/loader/opt/drishti/data</a:t>
                      </a:r>
                      <a:r>
                        <a:rPr sz="1200" b="0" i="0">
                          <a:solidFill>
                            <a:srgbClr val="1C2433"/>
                          </a:solidFill>
                          <a:latin typeface="Calibri"/>
                        </a:rPr>
                        <a:t> (scratch lakes, table locks)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57200">
                <a:tc>
                  <a:txBody>
                    <a:bodyPr wrap="square"/>
                    <a:lstStyle/>
                    <a:p>
                      <a:r>
                        <a:rPr sz="1200" b="1" i="0">
                          <a:solidFill>
                            <a:srgbClr val="1C2433"/>
                          </a:solidFill>
                          <a:latin typeface="Calibri"/>
                        </a:rPr>
                        <a:t>maintenance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data</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/drishti/&lt;env&gt;/maintenance/opt/drishti/data</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bl>
          </a:graphicData>
        </a:graphic>
      </p:graphicFrame>
      <p:sp>
        <p:nvSpPr>
          <p:cNvPr id="13" name="TextBox 12"/>
          <p:cNvSpPr txBox="1"/>
          <p:nvPr/>
        </p:nvSpPr>
        <p:spPr>
          <a:xfrm>
            <a:off x="411480" y="4892040"/>
            <a:ext cx="11365992" cy="1463040"/>
          </a:xfrm>
          <a:prstGeom prst="rect">
            <a:avLst/>
          </a:prstGeom>
          <a:noFill/>
        </p:spPr>
        <p:txBody>
          <a:bodyPr wrap="square" lIns="0" rIns="0" tIns="0" bIns="0" anchor="t">
            <a:spAutoFit/>
          </a:bodyPr>
          <a:lstStyle/>
          <a:p>
            <a:pPr algn="l" marL="201168" indent="-201168">
              <a:spcAft>
                <a:spcPts val="500"/>
              </a:spcAft>
              <a:buClr>
                <a:srgbClr val="E87A1E"/>
              </a:buClr>
              <a:buSzPct val="100000"/>
              <a:buFont typeface="Arial"/>
              <a:buChar char="•"/>
            </a:pPr>
            <a:r>
              <a:rPr sz="1400" b="0" i="0">
                <a:solidFill>
                  <a:srgbClr val="1C2433"/>
                </a:solidFill>
                <a:latin typeface="Calibri"/>
              </a:rPr>
              <a:t>Every access point runs as uid/gid 10001 (the image's user); 3 × 3 + 3 + 1 + 1 = 14</a:t>
            </a:r>
          </a:p>
          <a:p>
            <a:pPr algn="l" marL="201168" indent="-201168">
              <a:spcAft>
                <a:spcPts val="500"/>
              </a:spcAft>
              <a:buClr>
                <a:srgbClr val="E87A1E"/>
              </a:buClr>
              <a:buSzPct val="100000"/>
              <a:buFont typeface="Arial"/>
              <a:buChar char="•"/>
            </a:pPr>
            <a:r>
              <a:rPr sz="1400" b="0" i="0">
                <a:solidFill>
                  <a:srgbClr val="1C2433"/>
                </a:solidFill>
                <a:latin typeface="Calibri"/>
              </a:rPr>
              <a:t>Idempotent: the access point's name is its client token, so running again returns the same ids</a:t>
            </a:r>
          </a:p>
          <a:p>
            <a:pPr algn="l" marL="201168" indent="-201168">
              <a:spcAft>
                <a:spcPts val="500"/>
              </a:spcAft>
              <a:buClr>
                <a:srgbClr val="E87A1E"/>
              </a:buClr>
              <a:buSzPct val="100000"/>
              <a:buFont typeface="Arial"/>
              <a:buChar char="•"/>
            </a:pPr>
            <a:r>
              <a:rPr sz="1400" b="0" i="0">
                <a:solidFill>
                  <a:srgbClr val="1C2433"/>
                </a:solidFill>
                <a:latin typeface="Calibri"/>
              </a:rPr>
              <a:t>The rule from AWS_DEPLOYMENT.md: every path a container writes maps to the identical path on EFS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Step 7: Cloud Map seeds and the Drishti*net transport</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4 · step 7</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28</a:t>
            </a:r>
          </a:p>
        </p:txBody>
      </p:sp>
      <p:sp>
        <p:nvSpPr>
          <p:cNvPr id="9" name="Code block"/>
          <p:cNvSpPr/>
          <p:nvPr/>
        </p:nvSpPr>
        <p:spPr>
          <a:xfrm>
            <a:off x="411480" y="1188720"/>
            <a:ext cx="11365992" cy="548640"/>
          </a:xfrm>
          <a:prstGeom prst="roundRect">
            <a:avLst>
              <a:gd name="adj" fmla="val 4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
          <p:cNvSpPr txBox="1"/>
          <p:nvPr/>
        </p:nvSpPr>
        <p:spPr>
          <a:xfrm>
            <a:off x="521208" y="1252728"/>
            <a:ext cx="11146536" cy="420623"/>
          </a:xfrm>
          <a:prstGeom prst="rect">
            <a:avLst/>
          </a:prstGeom>
          <a:noFill/>
        </p:spPr>
        <p:txBody>
          <a:bodyPr wrap="square" lIns="0" rIns="0" tIns="0" bIns="0" anchor="ctr">
            <a:spAutoFit/>
          </a:bodyPr>
          <a:lstStyle/>
          <a:p>
            <a:pPr>
              <a:spcAft>
                <a:spcPts val="0"/>
              </a:spcAft>
              <a:buNone/>
            </a:pPr>
            <a:r>
              <a:rPr sz="1100" b="0" i="0">
                <a:solidFill>
                  <a:srgbClr val="E6EDF3"/>
                </a:solidFill>
                <a:latin typeface="Consolas"/>
              </a:rPr>
              <a:t>deploy/aws/ecs/setup-cloud-map.sh      </a:t>
            </a:r>
            <a:r>
              <a:rPr sz="1100" b="0" i="0">
                <a:solidFill>
                  <a:srgbClr val="8B9BB4"/>
                </a:solidFill>
                <a:latin typeface="Consolas"/>
              </a:rPr>
              <a:t>  # once for the namespace (it takes a minute) …</a:t>
            </a:r>
          </a:p>
          <a:p>
            <a:pPr>
              <a:spcAft>
                <a:spcPts val="0"/>
              </a:spcAft>
              <a:buNone/>
            </a:pPr>
            <a:r>
              <a:rPr sz="1100" b="0" i="0">
                <a:solidFill>
                  <a:srgbClr val="E6EDF3"/>
                </a:solidFill>
                <a:latin typeface="Consolas"/>
              </a:rPr>
              <a:t>deploy/aws/ecs/setup-cloud-map.sh      </a:t>
            </a:r>
            <a:r>
              <a:rPr sz="1100" b="0" i="0">
                <a:solidFill>
                  <a:srgbClr val="8B9BB4"/>
                </a:solidFill>
                <a:latin typeface="Consolas"/>
              </a:rPr>
              <a:t>  # … and again for one service per node</a:t>
            </a:r>
          </a:p>
        </p:txBody>
      </p:sp>
      <p:sp>
        <p:nvSpPr>
          <p:cNvPr id="11" name="TextBox 10"/>
          <p:cNvSpPr txBox="1"/>
          <p:nvPr/>
        </p:nvSpPr>
        <p:spPr>
          <a:xfrm>
            <a:off x="411480" y="1920240"/>
            <a:ext cx="5669280" cy="4389120"/>
          </a:xfrm>
          <a:prstGeom prst="rect">
            <a:avLst/>
          </a:prstGeom>
          <a:noFill/>
        </p:spPr>
        <p:txBody>
          <a:bodyPr wrap="square" lIns="0" rIns="0" tIns="0" bIns="0" anchor="t">
            <a:spAutoFit/>
          </a:bodyPr>
          <a:lstStyle/>
          <a:p>
            <a:pPr algn="l" marL="201168" indent="-201168">
              <a:spcAft>
                <a:spcPts val="800"/>
              </a:spcAft>
              <a:buClr>
                <a:srgbClr val="E87A1E"/>
              </a:buClr>
              <a:buSzPct val="100000"/>
              <a:buFont typeface="Arial"/>
              <a:buChar char="•"/>
            </a:pPr>
            <a:r>
              <a:rPr sz="1400" b="0" i="0">
                <a:solidFill>
                  <a:srgbClr val="1C2433"/>
                </a:solidFill>
                <a:latin typeface="Calibri"/>
              </a:rPr>
              <a:t>ECS registers each node's task under </a:t>
            </a:r>
            <a:r>
              <a:rPr sz="1300" b="0" i="0">
                <a:solidFill>
                  <a:srgbClr val="0E7C86"/>
                </a:solidFill>
                <a:latin typeface="Consolas"/>
              </a:rPr>
              <a:t>drishti-a.drishti.local</a:t>
            </a:r>
            <a:r>
              <a:rPr sz="1400" b="0" i="0">
                <a:solidFill>
                  <a:srgbClr val="1C2433"/>
                </a:solidFill>
                <a:latin typeface="Calibri"/>
              </a:rPr>
              <a:t> with the task's own address</a:t>
            </a:r>
          </a:p>
          <a:p>
            <a:pPr algn="l" marL="201168" indent="-201168">
              <a:spcAft>
                <a:spcPts val="800"/>
              </a:spcAft>
              <a:buClr>
                <a:srgbClr val="E87A1E"/>
              </a:buClr>
              <a:buSzPct val="100000"/>
              <a:buFont typeface="Arial"/>
              <a:buChar char="•"/>
            </a:pPr>
            <a:r>
              <a:rPr sz="1400" b="0" i="0">
                <a:solidFill>
                  <a:srgbClr val="1C2433"/>
                </a:solidFill>
                <a:latin typeface="Calibri"/>
              </a:rPr>
              <a:t>Servers advertise </a:t>
            </a:r>
            <a:r>
              <a:rPr sz="1300" b="0" i="0">
                <a:solidFill>
                  <a:srgbClr val="0E7C86"/>
                </a:solidFill>
                <a:latin typeface="Consolas"/>
              </a:rPr>
              <a:t>http://&lt;task IP&gt;:18480</a:t>
            </a:r>
            <a:r>
              <a:rPr sz="1400" b="0" i="0">
                <a:solidFill>
                  <a:srgbClr val="1C2433"/>
                </a:solidFill>
                <a:latin typeface="Calibri"/>
              </a:rPr>
              <a:t>, never loopback (refused since 2.6.0)</a:t>
            </a:r>
          </a:p>
          <a:p>
            <a:pPr algn="l" marL="201168" indent="-201168">
              <a:spcAft>
                <a:spcPts val="800"/>
              </a:spcAft>
              <a:buClr>
                <a:srgbClr val="E87A1E"/>
              </a:buClr>
              <a:buSzPct val="100000"/>
              <a:buFont typeface="Arial"/>
              <a:buChar char="•"/>
            </a:pPr>
            <a:r>
              <a:rPr sz="1400" b="0" i="0">
                <a:solidFill>
                  <a:srgbClr val="1C2433"/>
                </a:solidFill>
                <a:latin typeface="Calibri"/>
              </a:rPr>
              <a:t>A new node finds the cluster through its seed's Cloud Map name, then learns the rest by gossip</a:t>
            </a:r>
          </a:p>
          <a:p>
            <a:pPr algn="l" marL="201168" indent="-201168">
              <a:spcAft>
                <a:spcPts val="800"/>
              </a:spcAft>
              <a:buClr>
                <a:srgbClr val="E87A1E"/>
              </a:buClr>
              <a:buSzPct val="100000"/>
              <a:buFont typeface="Arial"/>
              <a:buChar char="•"/>
            </a:pPr>
            <a:r>
              <a:rPr sz="1400" b="0" i="0">
                <a:solidFill>
                  <a:srgbClr val="1C2433"/>
                </a:solidFill>
                <a:latin typeface="Calibri"/>
              </a:rPr>
              <a:t>The loader's data-load signal (</a:t>
            </a:r>
            <a:r>
              <a:rPr sz="1300" b="0" i="0">
                <a:solidFill>
                  <a:srgbClr val="0E7C86"/>
                </a:solidFill>
                <a:latin typeface="Consolas"/>
              </a:rPr>
              <a:t>DRISHTI_SIGNAL_URL</a:t>
            </a:r>
            <a:r>
              <a:rPr sz="1400" b="0" i="0">
                <a:solidFill>
                  <a:srgbClr val="1C2433"/>
                </a:solidFill>
                <a:latin typeface="Calibri"/>
              </a:rPr>
              <a:t>) also uses a node's Cloud Map name</a:t>
            </a:r>
          </a:p>
        </p:txBody>
      </p:sp>
      <p:sp>
        <p:nvSpPr>
          <p:cNvPr id="12" name="Rounded Rectangle 11"/>
          <p:cNvSpPr/>
          <p:nvPr/>
        </p:nvSpPr>
        <p:spPr>
          <a:xfrm>
            <a:off x="6355080" y="1920240"/>
            <a:ext cx="5422392" cy="137160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TextBox 12"/>
          <p:cNvSpPr txBox="1"/>
          <p:nvPr/>
        </p:nvSpPr>
        <p:spPr>
          <a:xfrm>
            <a:off x="6446520" y="1965960"/>
            <a:ext cx="4096511"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Gossip on its own port (2.6.7)</a:t>
            </a:r>
          </a:p>
        </p:txBody>
      </p:sp>
      <p:sp>
        <p:nvSpPr>
          <p:cNvPr id="14" name="Status BUILT"/>
          <p:cNvSpPr/>
          <p:nvPr/>
        </p:nvSpPr>
        <p:spPr>
          <a:xfrm>
            <a:off x="10634472" y="2011680"/>
            <a:ext cx="1051560" cy="237744"/>
          </a:xfrm>
          <a:prstGeom prst="roundRect">
            <a:avLst>
              <a:gd name="adj" fmla="val 50000"/>
            </a:avLst>
          </a:prstGeom>
          <a:solidFill>
            <a:srgbClr val="0E7C86"/>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000" b="1" i="0">
                <a:solidFill>
                  <a:srgbClr val="FFFFFF"/>
                </a:solidFill>
                <a:latin typeface="Calibri"/>
              </a:rPr>
              <a:t>BUILT</a:t>
            </a:r>
          </a:p>
        </p:txBody>
      </p:sp>
      <p:sp>
        <p:nvSpPr>
          <p:cNvPr id="15" name="TextBox 14"/>
          <p:cNvSpPr txBox="1"/>
          <p:nvPr/>
        </p:nvSpPr>
        <p:spPr>
          <a:xfrm>
            <a:off x="6446520" y="2286000"/>
            <a:ext cx="5239512" cy="96012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node.yaml </a:t>
            </a:r>
            <a:r>
              <a:rPr sz="1100" b="0" i="0">
                <a:solidFill>
                  <a:srgbClr val="0E7C86"/>
                </a:solidFill>
                <a:latin typeface="Consolas"/>
              </a:rPr>
              <a:t>gossip-port</a:t>
            </a:r>
            <a:r>
              <a:rPr sz="1200" b="0" i="0">
                <a:solidFill>
                  <a:srgbClr val="1C2433"/>
                </a:solidFill>
                <a:latin typeface="Calibri"/>
              </a:rPr>
              <a:t>: auto · a number · off</a:t>
            </a:r>
          </a:p>
          <a:p>
            <a:pPr algn="l" marL="201168" indent="-201168">
              <a:spcAft>
                <a:spcPts val="200"/>
              </a:spcAft>
              <a:buClr>
                <a:srgbClr val="E87A1E"/>
              </a:buClr>
              <a:buSzPct val="100000"/>
              <a:buFont typeface="Arial"/>
              <a:buChar char="•"/>
            </a:pPr>
            <a:r>
              <a:rPr sz="1200" b="0" i="0">
                <a:solidFill>
                  <a:srgbClr val="1C2433"/>
                </a:solidFill>
                <a:latin typeface="Calibri"/>
              </a:rPr>
              <a:t>busy nodes never suspected: 12 s saturated, no suspicion</a:t>
            </a:r>
          </a:p>
        </p:txBody>
      </p:sp>
      <p:sp>
        <p:nvSpPr>
          <p:cNvPr id="16" name="Rounded Rectangle 15"/>
          <p:cNvSpPr/>
          <p:nvPr/>
        </p:nvSpPr>
        <p:spPr>
          <a:xfrm>
            <a:off x="6355080" y="3429000"/>
            <a:ext cx="5422392" cy="137160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xtBox 16"/>
          <p:cNvSpPr txBox="1"/>
          <p:nvPr/>
        </p:nvSpPr>
        <p:spPr>
          <a:xfrm>
            <a:off x="6446520" y="3474720"/>
            <a:ext cx="4096511"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HTTP/2 between nodes (2.6.7)</a:t>
            </a:r>
          </a:p>
        </p:txBody>
      </p:sp>
      <p:sp>
        <p:nvSpPr>
          <p:cNvPr id="18" name="Status BUILT"/>
          <p:cNvSpPr/>
          <p:nvPr/>
        </p:nvSpPr>
        <p:spPr>
          <a:xfrm>
            <a:off x="10634472" y="3520440"/>
            <a:ext cx="1051560" cy="237744"/>
          </a:xfrm>
          <a:prstGeom prst="roundRect">
            <a:avLst>
              <a:gd name="adj" fmla="val 50000"/>
            </a:avLst>
          </a:prstGeom>
          <a:solidFill>
            <a:srgbClr val="0E7C86"/>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000" b="1" i="0">
                <a:solidFill>
                  <a:srgbClr val="FFFFFF"/>
                </a:solidFill>
                <a:latin typeface="Calibri"/>
              </a:rPr>
              <a:t>BUILT</a:t>
            </a:r>
          </a:p>
        </p:txBody>
      </p:sp>
      <p:sp>
        <p:nvSpPr>
          <p:cNvPr id="19" name="TextBox 18"/>
          <p:cNvSpPr txBox="1"/>
          <p:nvPr/>
        </p:nvSpPr>
        <p:spPr>
          <a:xfrm>
            <a:off x="6446520" y="3794760"/>
            <a:ext cx="5239512" cy="96012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routing.yaml </a:t>
            </a:r>
            <a:r>
              <a:rPr sz="1100" b="0" i="0">
                <a:solidFill>
                  <a:srgbClr val="0E7C86"/>
                </a:solidFill>
                <a:latin typeface="Consolas"/>
              </a:rPr>
              <a:t>peer-protocol: http2</a:t>
            </a:r>
            <a:r>
              <a:rPr sz="1200" b="0" i="0">
                <a:solidFill>
                  <a:srgbClr val="1C2433"/>
                </a:solidFill>
                <a:latin typeface="Calibri"/>
              </a:rPr>
              <a:t> (h2c), one connection per peer</a:t>
            </a:r>
          </a:p>
          <a:p>
            <a:pPr algn="l" marL="201168" indent="-201168">
              <a:spcAft>
                <a:spcPts val="200"/>
              </a:spcAft>
              <a:buClr>
                <a:srgbClr val="E87A1E"/>
              </a:buClr>
              <a:buSzPct val="100000"/>
              <a:buFont typeface="Arial"/>
              <a:buChar char="•"/>
            </a:pPr>
            <a:r>
              <a:rPr sz="1200" b="0" i="0">
                <a:solidFill>
                  <a:srgbClr val="1C2433"/>
                </a:solidFill>
                <a:latin typeface="Calibri"/>
              </a:rPr>
              <a:t>1 connection instead of 227; p99 117 ms vs 370 ms</a:t>
            </a:r>
          </a:p>
        </p:txBody>
      </p:sp>
      <p:sp>
        <p:nvSpPr>
          <p:cNvPr id="20" name="Rounded Rectangle 19"/>
          <p:cNvSpPr/>
          <p:nvPr/>
        </p:nvSpPr>
        <p:spPr>
          <a:xfrm>
            <a:off x="6355080" y="4937760"/>
            <a:ext cx="5422392" cy="1371600"/>
          </a:xfrm>
          <a:prstGeom prst="roundRect">
            <a:avLst>
              <a:gd name="adj" fmla="val 6000"/>
            </a:avLst>
          </a:prstGeom>
          <a:solidFill>
            <a:srgbClr val="FFF4E6"/>
          </a:solidFill>
          <a:ln w="9525">
            <a:solidFill>
              <a:srgbClr val="E87A1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xtBox 20"/>
          <p:cNvSpPr txBox="1"/>
          <p:nvPr/>
        </p:nvSpPr>
        <p:spPr>
          <a:xfrm>
            <a:off x="6446520" y="4983480"/>
            <a:ext cx="4096511"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On ECS: a fixed gossip port</a:t>
            </a:r>
          </a:p>
        </p:txBody>
      </p:sp>
      <p:sp>
        <p:nvSpPr>
          <p:cNvPr id="22" name="Status PROPOSED"/>
          <p:cNvSpPr/>
          <p:nvPr/>
        </p:nvSpPr>
        <p:spPr>
          <a:xfrm>
            <a:off x="10634472" y="5029200"/>
            <a:ext cx="1051560" cy="237744"/>
          </a:xfrm>
          <a:prstGeom prst="roundRect">
            <a:avLst>
              <a:gd name="adj" fmla="val 50000"/>
            </a:avLst>
          </a:prstGeom>
          <a:solidFill>
            <a:srgbClr val="FFFFFF"/>
          </a:solidFill>
          <a:ln w="15875">
            <a:solidFill>
              <a:srgbClr val="E87A1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000" b="1" i="0">
                <a:solidFill>
                  <a:srgbClr val="E87A1E"/>
                </a:solidFill>
                <a:latin typeface="Calibri"/>
              </a:rPr>
              <a:t>PROPOSED</a:t>
            </a:r>
          </a:p>
        </p:txBody>
      </p:sp>
      <p:sp>
        <p:nvSpPr>
          <p:cNvPr id="23" name="TextBox 22"/>
          <p:cNvSpPr txBox="1"/>
          <p:nvPr/>
        </p:nvSpPr>
        <p:spPr>
          <a:xfrm>
            <a:off x="6446520" y="5303520"/>
            <a:ext cx="5239512" cy="96012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set </a:t>
            </a:r>
            <a:r>
              <a:rPr sz="1100" b="0" i="0">
                <a:solidFill>
                  <a:srgbClr val="0E7C86"/>
                </a:solidFill>
                <a:latin typeface="Consolas"/>
              </a:rPr>
              <a:t>gossip-port</a:t>
            </a:r>
            <a:r>
              <a:rPr sz="1200" b="0" i="0">
                <a:solidFill>
                  <a:srgbClr val="1C2433"/>
                </a:solidFill>
                <a:latin typeface="Calibri"/>
              </a:rPr>
              <a:t> to a number (e.g. 18490) on every node</a:t>
            </a:r>
          </a:p>
          <a:p>
            <a:pPr algn="l" marL="201168" indent="-201168">
              <a:spcAft>
                <a:spcPts val="200"/>
              </a:spcAft>
              <a:buClr>
                <a:srgbClr val="E87A1E"/>
              </a:buClr>
              <a:buSzPct val="100000"/>
              <a:buFont typeface="Arial"/>
              <a:buChar char="•"/>
            </a:pPr>
            <a:r>
              <a:rPr sz="1200" b="0" i="0">
                <a:solidFill>
                  <a:srgbClr val="1C2433"/>
                </a:solidFill>
                <a:latin typeface="Calibri"/>
              </a:rPr>
              <a:t>open it node to node in the </a:t>
            </a:r>
            <a:r>
              <a:rPr sz="1100" b="0" i="0">
                <a:solidFill>
                  <a:srgbClr val="0E7C86"/>
                </a:solidFill>
                <a:latin typeface="Consolas"/>
              </a:rPr>
              <a:t>drishti-node</a:t>
            </a:r>
            <a:r>
              <a:rPr sz="1200" b="0" i="0">
                <a:solidFill>
                  <a:srgbClr val="1C2433"/>
                </a:solidFill>
                <a:latin typeface="Calibri"/>
              </a:rPr>
              <a:t> security group</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Step 8: the images</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4 · step 8</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29</a:t>
            </a:r>
          </a:p>
        </p:txBody>
      </p:sp>
      <p:sp>
        <p:nvSpPr>
          <p:cNvPr id="9" name="Code block"/>
          <p:cNvSpPr/>
          <p:nvPr/>
        </p:nvSpPr>
        <p:spPr>
          <a:xfrm>
            <a:off x="411480" y="1188720"/>
            <a:ext cx="11365992" cy="1143000"/>
          </a:xfrm>
          <a:prstGeom prst="roundRect">
            <a:avLst>
              <a:gd name="adj" fmla="val 4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
          <p:cNvSpPr txBox="1"/>
          <p:nvPr/>
        </p:nvSpPr>
        <p:spPr>
          <a:xfrm>
            <a:off x="521208" y="1252728"/>
            <a:ext cx="11146536" cy="1014983"/>
          </a:xfrm>
          <a:prstGeom prst="rect">
            <a:avLst/>
          </a:prstGeom>
          <a:noFill/>
        </p:spPr>
        <p:txBody>
          <a:bodyPr wrap="square" lIns="0" rIns="0" tIns="0" bIns="0" anchor="ctr">
            <a:spAutoFit/>
          </a:bodyPr>
          <a:lstStyle/>
          <a:p>
            <a:pPr>
              <a:spcAft>
                <a:spcPts val="0"/>
              </a:spcAft>
              <a:buNone/>
            </a:pPr>
            <a:r>
              <a:rPr sz="1100" b="0" i="0">
                <a:solidFill>
                  <a:srgbClr val="E6EDF3"/>
                </a:solidFill>
                <a:latin typeface="Consolas"/>
              </a:rPr>
              <a:t>./mvnw -q clean package -DskipTests</a:t>
            </a:r>
          </a:p>
          <a:p>
            <a:pPr>
              <a:spcAft>
                <a:spcPts val="0"/>
              </a:spcAft>
              <a:buNone/>
            </a:pPr>
            <a:r>
              <a:rPr sz="1100" b="0" i="0">
                <a:solidFill>
                  <a:srgbClr val="E6EDF3"/>
                </a:solidFill>
                <a:latin typeface="Consolas"/>
              </a:rPr>
              <a:t>docker build -f deploy/docker/ecs/server.Dockerfile  -t "$ECR_REGISTRY/drishti-server-ecs:2.9.5" .</a:t>
            </a:r>
          </a:p>
          <a:p>
            <a:pPr>
              <a:spcAft>
                <a:spcPts val="0"/>
              </a:spcAft>
              <a:buNone/>
            </a:pPr>
            <a:r>
              <a:rPr sz="1100" b="0" i="0">
                <a:solidFill>
                  <a:srgbClr val="E6EDF3"/>
                </a:solidFill>
                <a:latin typeface="Consolas"/>
              </a:rPr>
              <a:t>docker build -f deploy/docker/ecs/console.Dockerfile -t "$ECR_REGISTRY/drishti-console-ecs:2.9.5" .</a:t>
            </a:r>
          </a:p>
          <a:p>
            <a:pPr>
              <a:spcAft>
                <a:spcPts val="0"/>
              </a:spcAft>
              <a:buNone/>
            </a:pPr>
            <a:r>
              <a:rPr sz="1100" b="0" i="0">
                <a:solidFill>
                  <a:srgbClr val="E6EDF3"/>
                </a:solidFill>
                <a:latin typeface="Consolas"/>
              </a:rPr>
              <a:t>docker build -f deploy/docker/ecs/loader.Dockerfile  -t "$ECR_REGISTRY/drishti-loader-ecs:2.9.5" . </a:t>
            </a:r>
            <a:r>
              <a:rPr sz="1100" b="0" i="0">
                <a:solidFill>
                  <a:srgbClr val="8B9BB4"/>
                </a:solidFill>
                <a:latin typeface="Consolas"/>
              </a:rPr>
              <a:t>  # carries env</a:t>
            </a:r>
          </a:p>
          <a:p>
            <a:pPr>
              <a:spcAft>
                <a:spcPts val="0"/>
              </a:spcAft>
              <a:buNone/>
            </a:pPr>
            <a:r>
              <a:rPr sz="1100" b="0" i="0">
                <a:solidFill>
                  <a:srgbClr val="E6EDF3"/>
                </a:solidFill>
                <a:latin typeface="Consolas"/>
              </a:rPr>
              <a:t>docker push …                                       </a:t>
            </a:r>
            <a:r>
              <a:rPr sz="1100" b="0" i="0">
                <a:solidFill>
                  <a:srgbClr val="8B9BB4"/>
                </a:solidFill>
                <a:latin typeface="Consolas"/>
              </a:rPr>
              <a:t>  # each of the three, after aws ecr get-login-password</a:t>
            </a:r>
          </a:p>
        </p:txBody>
      </p:sp>
      <p:graphicFrame>
        <p:nvGraphicFramePr>
          <p:cNvPr id="11" name="Table"/>
          <p:cNvGraphicFramePr>
            <a:graphicFrameLocks noGrp="1"/>
          </p:cNvGraphicFramePr>
          <p:nvPr/>
        </p:nvGraphicFramePr>
        <p:xfrm>
          <a:off x="411480" y="2514600"/>
          <a:ext cx="11365991" cy="2267712"/>
        </p:xfrm>
        <a:graphic>
          <a:graphicData uri="http://schemas.openxmlformats.org/drawingml/2006/table">
            <a:tbl>
              <a:tblPr firstRow="0" bandRow="0">
                <a:tableStyleId>{5940675A-B579-460E-94D1-54222C63F5DA}</a:tableStyleId>
              </a:tblPr>
              <a:tblGrid>
                <a:gridCol w="2199869"/>
                <a:gridCol w="3299804"/>
                <a:gridCol w="5866318"/>
              </a:tblGrid>
              <a:tr h="566928">
                <a:tc>
                  <a:txBody>
                    <a:bodyPr wrap="square"/>
                    <a:lstStyle/>
                    <a:p>
                      <a:r>
                        <a:rPr sz="1200" b="1" i="0">
                          <a:solidFill>
                            <a:srgbClr val="FFFFFF"/>
                          </a:solidFill>
                          <a:latin typeface="Calibri"/>
                        </a:rPr>
                        <a:t>Image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Built from</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Entry point checks / role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566928">
                <a:tc>
                  <a:txBody>
                    <a:bodyPr wrap="square"/>
                    <a:lstStyle/>
                    <a:p>
                      <a:r>
                        <a:rPr sz="1100" b="0" i="0">
                          <a:solidFill>
                            <a:srgbClr val="0E7C86"/>
                          </a:solidFill>
                          <a:latin typeface="Consolas"/>
                        </a:rPr>
                        <a:t>drishti-server-ecs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deploy/docker/ecs/server.Dockerfile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server-entrypoint.sh: EFS mounted and writable, real IPv4 (never loopback), first-start node.yaml and peers; health check</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66928">
                <a:tc>
                  <a:txBody>
                    <a:bodyPr wrap="square"/>
                    <a:lstStyle/>
                    <a:p>
                      <a:r>
                        <a:rPr sz="1100" b="0" i="0">
                          <a:solidFill>
                            <a:srgbClr val="0E7C86"/>
                          </a:solidFill>
                          <a:latin typeface="Consolas"/>
                        </a:rPr>
                        <a:t>drishti-console-ecs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deploy/docker/ecs/console.Dockerfile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console-entrypoint.sh: the console, a separate container from the server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66928">
                <a:tc>
                  <a:txBody>
                    <a:bodyPr wrap="square"/>
                    <a:lstStyle/>
                    <a:p>
                      <a:r>
                        <a:rPr sz="1100" b="0" i="0">
                          <a:solidFill>
                            <a:srgbClr val="0E7C86"/>
                          </a:solidFill>
                          <a:latin typeface="Consolas"/>
                        </a:rPr>
                        <a:t>drishti-loader-ecs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deploy/docker/ecs/loader.Dockerfile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loader-entrypoint.sh: EFS mounted and writable; runs the lake scripts; copies deploy/aws/ with your env (no secret)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bl>
          </a:graphicData>
        </a:graphic>
      </p:graphicFrame>
      <p:sp>
        <p:nvSpPr>
          <p:cNvPr id="12" name="TextBox 11"/>
          <p:cNvSpPr txBox="1"/>
          <p:nvPr/>
        </p:nvSpPr>
        <p:spPr>
          <a:xfrm>
            <a:off x="411480" y="4983480"/>
            <a:ext cx="11365992" cy="1371600"/>
          </a:xfrm>
          <a:prstGeom prst="rect">
            <a:avLst/>
          </a:prstGeom>
          <a:noFill/>
        </p:spPr>
        <p:txBody>
          <a:bodyPr wrap="square" lIns="0" rIns="0" tIns="0" bIns="0" anchor="t">
            <a:spAutoFit/>
          </a:bodyPr>
          <a:lstStyle/>
          <a:p>
            <a:pPr algn="l" marL="201168" indent="-201168">
              <a:spcAft>
                <a:spcPts val="400"/>
              </a:spcAft>
              <a:buClr>
                <a:srgbClr val="E87A1E"/>
              </a:buClr>
              <a:buSzPct val="100000"/>
              <a:buFont typeface="Arial"/>
              <a:buChar char="•"/>
            </a:pPr>
            <a:r>
              <a:rPr sz="1300" b="0" i="0">
                <a:solidFill>
                  <a:srgbClr val="1C2433"/>
                </a:solidFill>
                <a:latin typeface="Calibri"/>
              </a:rPr>
              <a:t>Loader tasks read the same settings: </a:t>
            </a:r>
            <a:r>
              <a:rPr sz="1200" b="0" i="0">
                <a:solidFill>
                  <a:srgbClr val="0E7C86"/>
                </a:solidFill>
                <a:latin typeface="Consolas"/>
              </a:rPr>
              <a:t>DRISHTI_AWS_ENV=/opt/drishti/app/deploy/aws/env</a:t>
            </a:r>
            <a:r>
              <a:rPr sz="1300" b="0" i="0">
                <a:solidFill>
                  <a:srgbClr val="1C2433"/>
                </a:solidFill>
                <a:latin typeface="Calibri"/>
              </a:rPr>
              <a:t>; rebuild the loader image when they change</a:t>
            </a:r>
          </a:p>
          <a:p>
            <a:pPr algn="l" marL="201168" indent="-201168">
              <a:spcAft>
                <a:spcPts val="400"/>
              </a:spcAft>
              <a:buClr>
                <a:srgbClr val="E87A1E"/>
              </a:buClr>
              <a:buSzPct val="100000"/>
              <a:buFont typeface="Arial"/>
              <a:buChar char="•"/>
            </a:pPr>
            <a:r>
              <a:rPr sz="1300" b="0" i="0">
                <a:solidFill>
                  <a:srgbClr val="1C2433"/>
                </a:solidFill>
                <a:latin typeface="Calibri"/>
              </a:rPr>
              <a:t>The loader image carries the Python lake tools (</a:t>
            </a:r>
            <a:r>
              <a:rPr sz="1200" b="0" i="0">
                <a:solidFill>
                  <a:srgbClr val="0E7C86"/>
                </a:solidFill>
                <a:latin typeface="Consolas"/>
              </a:rPr>
              <a:t>lake build</a:t>
            </a:r>
            <a:r>
              <a:rPr sz="1300" b="0" i="0">
                <a:solidFill>
                  <a:srgbClr val="1C2433"/>
                </a:solidFill>
                <a:latin typeface="Calibri"/>
              </a:rPr>
              <a:t>, </a:t>
            </a:r>
            <a:r>
              <a:rPr sz="1200" b="0" i="0">
                <a:solidFill>
                  <a:srgbClr val="0E7C86"/>
                </a:solidFill>
                <a:latin typeface="Consolas"/>
              </a:rPr>
              <a:t>lake publish</a:t>
            </a:r>
            <a:r>
              <a:rPr sz="1300" b="0" i="0">
                <a:solidFill>
                  <a:srgbClr val="1C2433"/>
                </a:solidFill>
                <a:latin typeface="Calibri"/>
              </a:rPr>
              <a:t>, </a:t>
            </a:r>
            <a:r>
              <a:rPr sz="1200" b="0" i="0">
                <a:solidFill>
                  <a:srgbClr val="0E7C86"/>
                </a:solidFill>
                <a:latin typeface="Consolas"/>
              </a:rPr>
              <a:t>lake maintain</a:t>
            </a:r>
            <a:r>
              <a:rPr sz="1300" b="0" i="0">
                <a:solidFill>
                  <a:srgbClr val="1C2433"/>
                </a:solidFill>
                <a:latin typeface="Calibri"/>
              </a:rPr>
              <a:t>, </a:t>
            </a:r>
            <a:r>
              <a:rPr sz="1200" b="0" i="0">
                <a:solidFill>
                  <a:srgbClr val="0E7C86"/>
                </a:solidFill>
                <a:latin typeface="Consolas"/>
              </a:rPr>
              <a:t>drishti.py convert</a:t>
            </a:r>
            <a:r>
              <a:rPr sz="1300" b="0" i="0">
                <a:solidFill>
                  <a:srgbClr val="1C2433"/>
                </a:solidFill>
                <a:latin typeface="Calibri"/>
              </a:rPr>
              <a:t>)</a:t>
            </a:r>
          </a:p>
          <a:p>
            <a:pPr algn="l" marL="201168" indent="-201168">
              <a:spcAft>
                <a:spcPts val="400"/>
              </a:spcAft>
              <a:buClr>
                <a:srgbClr val="E87A1E"/>
              </a:buClr>
              <a:buSzPct val="100000"/>
              <a:buFont typeface="Arial"/>
              <a:buChar char="•"/>
            </a:pPr>
            <a:r>
              <a:rPr sz="1300" b="0" i="0">
                <a:solidFill>
                  <a:srgbClr val="1C2433"/>
                </a:solidFill>
                <a:latin typeface="Calibri"/>
              </a:rPr>
              <a:t>The build context is the repository root; nothing is built or run on a developer laptop by the scripts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Step 9: task definitions, services and schedules</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4 · step 9</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30</a:t>
            </a:r>
          </a:p>
        </p:txBody>
      </p:sp>
      <p:sp>
        <p:nvSpPr>
          <p:cNvPr id="9" name="Code block"/>
          <p:cNvSpPr/>
          <p:nvPr/>
        </p:nvSpPr>
        <p:spPr>
          <a:xfrm>
            <a:off x="411480" y="1188720"/>
            <a:ext cx="11365992" cy="868680"/>
          </a:xfrm>
          <a:prstGeom prst="roundRect">
            <a:avLst>
              <a:gd name="adj" fmla="val 4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
          <p:cNvSpPr txBox="1"/>
          <p:nvPr/>
        </p:nvSpPr>
        <p:spPr>
          <a:xfrm>
            <a:off x="521208" y="1252728"/>
            <a:ext cx="11146536" cy="740664"/>
          </a:xfrm>
          <a:prstGeom prst="rect">
            <a:avLst/>
          </a:prstGeom>
          <a:noFill/>
        </p:spPr>
        <p:txBody>
          <a:bodyPr wrap="square" lIns="0" rIns="0" tIns="0" bIns="0" anchor="ctr">
            <a:spAutoFit/>
          </a:bodyPr>
          <a:lstStyle/>
          <a:p>
            <a:pPr>
              <a:spcAft>
                <a:spcPts val="0"/>
              </a:spcAft>
              <a:buNone/>
            </a:pPr>
            <a:r>
              <a:rPr sz="1100" b="0" i="0">
                <a:solidFill>
                  <a:srgbClr val="E6EDF3"/>
                </a:solidFill>
                <a:latin typeface="Consolas"/>
              </a:rPr>
              <a:t>deploy/aws/ecs/register.sh --dry-run</a:t>
            </a:r>
          </a:p>
          <a:p>
            <a:pPr>
              <a:spcAft>
                <a:spcPts val="0"/>
              </a:spcAft>
              <a:buNone/>
            </a:pPr>
            <a:r>
              <a:rPr sz="1100" b="0" i="0">
                <a:solidFill>
                  <a:srgbClr val="E6EDF3"/>
                </a:solidFill>
                <a:latin typeface="Consolas"/>
              </a:rPr>
              <a:t>deploy/aws/ecs/register.sh                        </a:t>
            </a:r>
            <a:r>
              <a:rPr sz="1100" b="0" i="0">
                <a:solidFill>
                  <a:srgbClr val="8B9BB4"/>
                </a:solidFill>
                <a:latin typeface="Consolas"/>
              </a:rPr>
              <a:t>  # --nodes --lake-jobs</a:t>
            </a:r>
          </a:p>
          <a:p>
            <a:pPr>
              <a:spcAft>
                <a:spcPts val="0"/>
              </a:spcAft>
              <a:buNone/>
            </a:pPr>
            <a:r>
              <a:rPr sz="1100" b="0" i="0">
                <a:solidFill>
                  <a:srgbClr val="E6EDF3"/>
                </a:solidFill>
                <a:latin typeface="Consolas"/>
              </a:rPr>
              <a:t>deploy/aws/ecs/register.sh --consoles 4           </a:t>
            </a:r>
            <a:r>
              <a:rPr sz="1100" b="0" i="0">
                <a:solidFill>
                  <a:srgbClr val="8B9BB4"/>
                </a:solidFill>
                <a:latin typeface="Consolas"/>
              </a:rPr>
              <a:t>  # optional: a console service of its own</a:t>
            </a:r>
          </a:p>
        </p:txBody>
      </p:sp>
      <p:sp>
        <p:nvSpPr>
          <p:cNvPr id="11" name="TextBox 10"/>
          <p:cNvSpPr txBox="1"/>
          <p:nvPr/>
        </p:nvSpPr>
        <p:spPr>
          <a:xfrm>
            <a:off x="411480" y="2194560"/>
            <a:ext cx="11365992" cy="640080"/>
          </a:xfrm>
          <a:prstGeom prst="rect">
            <a:avLst/>
          </a:prstGeom>
          <a:noFill/>
        </p:spPr>
        <p:txBody>
          <a:bodyPr wrap="square" lIns="0" rIns="0" tIns="0" bIns="0" anchor="t">
            <a:spAutoFit/>
          </a:bodyPr>
          <a:lstStyle/>
          <a:p>
            <a:pPr algn="l">
              <a:spcAft>
                <a:spcPts val="600"/>
              </a:spcAft>
              <a:buNone/>
            </a:pPr>
            <a:r>
              <a:rPr sz="1300" b="1" i="0">
                <a:solidFill>
                  <a:srgbClr val="1C2433"/>
                </a:solidFill>
                <a:latin typeface="Calibri"/>
              </a:rPr>
              <a:t>You should see:</a:t>
            </a:r>
            <a:r>
              <a:rPr sz="1300" b="0" i="0">
                <a:solidFill>
                  <a:srgbClr val="1C2433"/>
                </a:solidFill>
                <a:latin typeface="Calibri"/>
              </a:rPr>
              <a:t> a task definition and a service per node (</a:t>
            </a:r>
            <a:r>
              <a:rPr sz="1200" b="0" i="0">
                <a:solidFill>
                  <a:srgbClr val="0E7C86"/>
                </a:solidFill>
                <a:latin typeface="Consolas"/>
              </a:rPr>
              <a:t>drishti-prod-drishti-a</a:t>
            </a:r>
            <a:r>
              <a:rPr sz="1300" b="0" i="0">
                <a:solidFill>
                  <a:srgbClr val="1C2433"/>
                </a:solidFill>
                <a:latin typeface="Calibri"/>
              </a:rPr>
              <a:t>, …), the loader, maintenance and report task definitions, three schedules (</a:t>
            </a:r>
            <a:r>
              <a:rPr sz="1200" b="0" i="0">
                <a:solidFill>
                  <a:srgbClr val="0E7C86"/>
                </a:solidFill>
                <a:latin typeface="Consolas"/>
              </a:rPr>
              <a:t>drishti-prod-load-day</a:t>
            </a:r>
            <a:r>
              <a:rPr sz="1300" b="0" i="0">
                <a:solidFill>
                  <a:srgbClr val="1C2433"/>
                </a:solidFill>
                <a:latin typeface="Calibri"/>
              </a:rPr>
              <a:t>, </a:t>
            </a:r>
            <a:r>
              <a:rPr sz="1200" b="0" i="0">
                <a:solidFill>
                  <a:srgbClr val="0E7C86"/>
                </a:solidFill>
                <a:latin typeface="Consolas"/>
              </a:rPr>
              <a:t>-maintain</a:t>
            </a:r>
            <a:r>
              <a:rPr sz="1300" b="0" i="0">
                <a:solidFill>
                  <a:srgbClr val="1C2433"/>
                </a:solidFill>
                <a:latin typeface="Calibri"/>
              </a:rPr>
              <a:t>, </a:t>
            </a:r>
            <a:r>
              <a:rPr sz="1200" b="0" i="0">
                <a:solidFill>
                  <a:srgbClr val="0E7C86"/>
                </a:solidFill>
                <a:latin typeface="Consolas"/>
              </a:rPr>
              <a:t>-report</a:t>
            </a:r>
            <a:r>
              <a:rPr sz="1300" b="0" i="0">
                <a:solidFill>
                  <a:srgbClr val="1C2433"/>
                </a:solidFill>
                <a:latin typeface="Calibri"/>
              </a:rPr>
              <a:t>), then </a:t>
            </a:r>
            <a:r>
              <a:rPr sz="1200" b="0" i="0">
                <a:solidFill>
                  <a:srgbClr val="0E7C86"/>
                </a:solidFill>
                <a:latin typeface="Consolas"/>
              </a:rPr>
              <a:t>register.sh: done</a:t>
            </a:r>
            <a:r>
              <a:rPr sz="1300" b="0" i="0">
                <a:solidFill>
                  <a:srgbClr val="1C2433"/>
                </a:solidFill>
                <a:latin typeface="Calibri"/>
              </a:rPr>
              <a:t>.</a:t>
            </a:r>
          </a:p>
        </p:txBody>
      </p:sp>
      <p:sp>
        <p:nvSpPr>
          <p:cNvPr id="12" name="TextBox 11"/>
          <p:cNvSpPr txBox="1"/>
          <p:nvPr/>
        </p:nvSpPr>
        <p:spPr>
          <a:xfrm>
            <a:off x="411480" y="2971800"/>
            <a:ext cx="11365992" cy="3383280"/>
          </a:xfrm>
          <a:prstGeom prst="rect">
            <a:avLst/>
          </a:prstGeom>
          <a:noFill/>
        </p:spPr>
        <p:txBody>
          <a:bodyPr wrap="square" lIns="0" rIns="0" tIns="0" bIns="0" anchor="t">
            <a:spAutoFit/>
          </a:bodyPr>
          <a:lstStyle/>
          <a:p>
            <a:pPr algn="l" marL="201168" indent="-201168">
              <a:spcAft>
                <a:spcPts val="700"/>
              </a:spcAft>
              <a:buClr>
                <a:srgbClr val="E87A1E"/>
              </a:buClr>
              <a:buSzPct val="100000"/>
              <a:buFont typeface="Arial"/>
              <a:buChar char="•"/>
            </a:pPr>
            <a:r>
              <a:rPr sz="1400" b="0" i="0">
                <a:solidFill>
                  <a:srgbClr val="1C2433"/>
                </a:solidFill>
                <a:latin typeface="Calibri"/>
              </a:rPr>
              <a:t>The node task sets </a:t>
            </a:r>
            <a:r>
              <a:rPr sz="1300" b="0" i="0">
                <a:solidFill>
                  <a:srgbClr val="0E7C86"/>
                </a:solidFill>
                <a:latin typeface="Consolas"/>
              </a:rPr>
              <a:t>DRISHTI_DELTA_ROOT=s3://&lt;lake bucket&gt;/lake</a:t>
            </a:r>
            <a:r>
              <a:rPr sz="1400" b="0" i="0">
                <a:solidFill>
                  <a:srgbClr val="1C2433"/>
                </a:solidFill>
                <a:latin typeface="Calibri"/>
              </a:rPr>
              <a:t>: every shipped Delta connector reads the lake in S3 with no edit, </a:t>
            </a:r>
            <a:r>
              <a:rPr sz="1400" b="1" i="0">
                <a:solidFill>
                  <a:srgbClr val="1C2433"/>
                </a:solidFill>
                <a:latin typeface="Calibri"/>
              </a:rPr>
              <a:t>the risk lake's</a:t>
            </a:r>
            <a:r>
              <a:rPr sz="1400" b="0" i="0">
                <a:solidFill>
                  <a:srgbClr val="1C2433"/>
                </a:solidFill>
                <a:latin typeface="Calibri"/>
              </a:rPr>
              <a:t> </a:t>
            </a:r>
            <a:r>
              <a:rPr sz="1300" b="0" i="0">
                <a:solidFill>
                  <a:srgbClr val="0E7C86"/>
                </a:solidFill>
                <a:latin typeface="Consolas"/>
              </a:rPr>
              <a:t>risk-store</a:t>
            </a:r>
            <a:r>
              <a:rPr sz="1400" b="0" i="0">
                <a:solidFill>
                  <a:srgbClr val="1C2433"/>
                </a:solidFill>
                <a:latin typeface="Calibri"/>
              </a:rPr>
              <a:t>, </a:t>
            </a:r>
            <a:r>
              <a:rPr sz="1300" b="0" i="0">
                <a:solidFill>
                  <a:srgbClr val="0E7C86"/>
                </a:solidFill>
                <a:latin typeface="Consolas"/>
              </a:rPr>
              <a:t>exposure-store</a:t>
            </a:r>
            <a:r>
              <a:rPr sz="1400" b="0" i="0">
                <a:solidFill>
                  <a:srgbClr val="1C2433"/>
                </a:solidFill>
                <a:latin typeface="Calibri"/>
              </a:rPr>
              <a:t>, </a:t>
            </a:r>
            <a:r>
              <a:rPr sz="1300" b="0" i="0">
                <a:solidFill>
                  <a:srgbClr val="0E7C86"/>
                </a:solidFill>
                <a:latin typeface="Consolas"/>
              </a:rPr>
              <a:t>var-results</a:t>
            </a:r>
            <a:r>
              <a:rPr sz="1400" b="0" i="0">
                <a:solidFill>
                  <a:srgbClr val="1C2433"/>
                </a:solidFill>
                <a:latin typeface="Calibri"/>
              </a:rPr>
              <a:t> and </a:t>
            </a:r>
            <a:r>
              <a:rPr sz="1300" b="0" i="0">
                <a:solidFill>
                  <a:srgbClr val="0E7C86"/>
                </a:solidFill>
                <a:latin typeface="Consolas"/>
              </a:rPr>
              <a:t>exposure-results</a:t>
            </a:r>
            <a:r>
              <a:rPr sz="1400" b="0" i="0">
                <a:solidFill>
                  <a:srgbClr val="1C2433"/>
                </a:solidFill>
                <a:latin typeface="Calibri"/>
              </a:rPr>
              <a:t> included</a:t>
            </a:r>
          </a:p>
          <a:p>
            <a:pPr algn="l" marL="201168" indent="-201168">
              <a:spcAft>
                <a:spcPts val="700"/>
              </a:spcAft>
              <a:buClr>
                <a:srgbClr val="E87A1E"/>
              </a:buClr>
              <a:buSzPct val="100000"/>
              <a:buFont typeface="Arial"/>
              <a:buChar char="•"/>
            </a:pPr>
            <a:r>
              <a:rPr sz="1400" b="0" i="0">
                <a:solidFill>
                  <a:srgbClr val="1C2433"/>
                </a:solidFill>
                <a:latin typeface="Calibri"/>
              </a:rPr>
              <a:t>The official-results publishers default to the same root and, since 2.9.5, write it on </a:t>
            </a:r>
            <a:r>
              <a:rPr sz="1300" b="0" i="0">
                <a:solidFill>
                  <a:srgbClr val="0E7C86"/>
                </a:solidFill>
                <a:latin typeface="Consolas"/>
              </a:rPr>
              <a:t>s3://</a:t>
            </a:r>
            <a:r>
              <a:rPr sz="1400" b="0" i="0">
                <a:solidFill>
                  <a:srgbClr val="1C2433"/>
                </a:solidFill>
                <a:latin typeface="Calibri"/>
              </a:rPr>
              <a:t> (Delta, or Iceberg); the task role needs </a:t>
            </a:r>
            <a:r>
              <a:rPr sz="1300" b="0" i="0">
                <a:solidFill>
                  <a:srgbClr val="0E7C86"/>
                </a:solidFill>
                <a:latin typeface="Consolas"/>
              </a:rPr>
              <a:t>s3:PutObject</a:t>
            </a:r>
            <a:r>
              <a:rPr sz="1400" b="0" i="0">
                <a:solidFill>
                  <a:srgbClr val="1C2433"/>
                </a:solidFill>
                <a:latin typeface="Calibri"/>
              </a:rPr>
              <a:t> there (slide 66)</a:t>
            </a:r>
          </a:p>
          <a:p>
            <a:pPr algn="l" marL="201168" indent="-201168">
              <a:spcAft>
                <a:spcPts val="700"/>
              </a:spcAft>
              <a:buClr>
                <a:srgbClr val="E87A1E"/>
              </a:buClr>
              <a:buSzPct val="100000"/>
              <a:buFont typeface="Arial"/>
              <a:buChar char="•"/>
            </a:pPr>
            <a:r>
              <a:rPr sz="1400" b="0" i="0">
                <a:solidFill>
                  <a:srgbClr val="1C2433"/>
                </a:solidFill>
                <a:latin typeface="Calibri"/>
              </a:rPr>
              <a:t>Templates: </a:t>
            </a:r>
            <a:r>
              <a:rPr sz="1300" b="0" i="0">
                <a:solidFill>
                  <a:srgbClr val="0E7C86"/>
                </a:solidFill>
                <a:latin typeface="Consolas"/>
              </a:rPr>
              <a:t>deploy/aws/ecs/templates/</a:t>
            </a:r>
            <a:r>
              <a:rPr sz="1400" b="0" i="0">
                <a:solidFill>
                  <a:srgbClr val="1C2433"/>
                </a:solidFill>
                <a:latin typeface="Calibri"/>
              </a:rPr>
              <a:t> → node-task, node-service, console-task, console-service, lake-task, schedule-target</a:t>
            </a:r>
          </a:p>
          <a:p>
            <a:pPr algn="l" marL="201168" indent="-201168">
              <a:spcAft>
                <a:spcPts val="700"/>
              </a:spcAft>
              <a:buClr>
                <a:srgbClr val="E87A1E"/>
              </a:buClr>
              <a:buSzPct val="100000"/>
              <a:buFont typeface="Arial"/>
              <a:buChar char="•"/>
            </a:pPr>
            <a:r>
              <a:rPr sz="1300" b="0" i="0">
                <a:solidFill>
                  <a:srgbClr val="0E7C86"/>
                </a:solidFill>
                <a:latin typeface="Consolas"/>
              </a:rPr>
              <a:t>--cache nvme</a:t>
            </a:r>
            <a:r>
              <a:rPr sz="1400" b="0" i="0">
                <a:solidFill>
                  <a:srgbClr val="1C2433"/>
                </a:solidFill>
                <a:latin typeface="Calibri"/>
              </a:rPr>
              <a:t> (EC2 launch type) mounts the host's </a:t>
            </a:r>
            <a:r>
              <a:rPr sz="1300" b="0" i="0">
                <a:solidFill>
                  <a:srgbClr val="0E7C86"/>
                </a:solidFill>
                <a:latin typeface="Consolas"/>
              </a:rPr>
              <a:t>/mnt/nvme/drishti/&lt;node&gt;</a:t>
            </a:r>
            <a:r>
              <a:rPr sz="1400" b="0" i="0">
                <a:solidFill>
                  <a:srgbClr val="1C2433"/>
                </a:solidFill>
                <a:latin typeface="Calibri"/>
              </a:rPr>
              <a:t> at </a:t>
            </a:r>
            <a:r>
              <a:rPr sz="1300" b="0" i="0">
                <a:solidFill>
                  <a:srgbClr val="0E7C86"/>
                </a:solidFill>
                <a:latin typeface="Consolas"/>
              </a:rPr>
              <a:t>/opt/drishti/nvme</a:t>
            </a:r>
            <a:r>
              <a:rPr sz="1400" b="0" i="0">
                <a:solidFill>
                  <a:srgbClr val="1C2433"/>
                </a:solidFill>
                <a:latin typeface="Calibri"/>
              </a:rPr>
              <a:t> (section 14)</a:t>
            </a:r>
          </a:p>
          <a:p>
            <a:pPr algn="l" marL="201168" indent="-201168">
              <a:spcAft>
                <a:spcPts val="700"/>
              </a:spcAft>
              <a:buClr>
                <a:srgbClr val="E87A1E"/>
              </a:buClr>
              <a:buSzPct val="100000"/>
              <a:buFont typeface="Arial"/>
              <a:buChar char="•"/>
            </a:pPr>
            <a:r>
              <a:rPr sz="1400" b="0" i="0">
                <a:solidFill>
                  <a:srgbClr val="1C2433"/>
                </a:solidFill>
                <a:latin typeface="Calibri"/>
              </a:rPr>
              <a:t>Schedules: </a:t>
            </a:r>
            <a:r>
              <a:rPr sz="1300" b="0" i="0">
                <a:solidFill>
                  <a:srgbClr val="0E7C86"/>
                </a:solidFill>
                <a:latin typeface="Consolas"/>
              </a:rPr>
              <a:t>LOAD_SCHEDULE</a:t>
            </a:r>
            <a:r>
              <a:rPr sz="1400" b="0" i="0">
                <a:solidFill>
                  <a:srgbClr val="1C2433"/>
                </a:solidFill>
                <a:latin typeface="Calibri"/>
              </a:rPr>
              <a:t> (22:30 Mon–Fri), </a:t>
            </a:r>
            <a:r>
              <a:rPr sz="1300" b="0" i="0">
                <a:solidFill>
                  <a:srgbClr val="0E7C86"/>
                </a:solidFill>
                <a:latin typeface="Consolas"/>
              </a:rPr>
              <a:t>MAINTAIN_SCHEDULE</a:t>
            </a:r>
            <a:r>
              <a:rPr sz="1400" b="0" i="0">
                <a:solidFill>
                  <a:srgbClr val="1C2433"/>
                </a:solidFill>
                <a:latin typeface="Calibri"/>
              </a:rPr>
              <a:t> (Tue–Sat 02:30), </a:t>
            </a:r>
            <a:r>
              <a:rPr sz="1300" b="0" i="0">
                <a:solidFill>
                  <a:srgbClr val="0E7C86"/>
                </a:solidFill>
                <a:latin typeface="Consolas"/>
              </a:rPr>
              <a:t>REPORT_SCHEDULE</a:t>
            </a:r>
            <a:r>
              <a:rPr sz="1400" b="0" i="0">
                <a:solidFill>
                  <a:srgbClr val="1C2433"/>
                </a:solidFill>
                <a:latin typeface="Calibri"/>
              </a:rPr>
              <a:t> (daily)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Step 10: the first load</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4 · step 10</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31</a:t>
            </a:r>
          </a:p>
        </p:txBody>
      </p:sp>
      <p:sp>
        <p:nvSpPr>
          <p:cNvPr id="9" name="Code block"/>
          <p:cNvSpPr/>
          <p:nvPr/>
        </p:nvSpPr>
        <p:spPr>
          <a:xfrm>
            <a:off x="411480" y="1188720"/>
            <a:ext cx="11365992" cy="594360"/>
          </a:xfrm>
          <a:prstGeom prst="roundRect">
            <a:avLst>
              <a:gd name="adj" fmla="val 4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
          <p:cNvSpPr txBox="1"/>
          <p:nvPr/>
        </p:nvSpPr>
        <p:spPr>
          <a:xfrm>
            <a:off x="521208" y="1252728"/>
            <a:ext cx="11146536" cy="466344"/>
          </a:xfrm>
          <a:prstGeom prst="rect">
            <a:avLst/>
          </a:prstGeom>
          <a:noFill/>
        </p:spPr>
        <p:txBody>
          <a:bodyPr wrap="square" lIns="0" rIns="0" tIns="0" bIns="0" anchor="ctr">
            <a:spAutoFit/>
          </a:bodyPr>
          <a:lstStyle/>
          <a:p>
            <a:pPr>
              <a:spcAft>
                <a:spcPts val="0"/>
              </a:spcAft>
              <a:buNone/>
            </a:pPr>
            <a:r>
              <a:rPr sz="1100" b="0" i="0">
                <a:solidFill>
                  <a:srgbClr val="E6EDF3"/>
                </a:solidFill>
                <a:latin typeface="Consolas"/>
              </a:rPr>
              <a:t>deploy/aws/delta-lake/load-day.sh --dry-run --date 2026-10-20 --tables trading/trade_endur</a:t>
            </a:r>
          </a:p>
          <a:p>
            <a:pPr>
              <a:spcAft>
                <a:spcPts val="0"/>
              </a:spcAft>
              <a:buNone/>
            </a:pPr>
            <a:r>
              <a:rPr sz="1100" b="0" i="0">
                <a:solidFill>
                  <a:srgbClr val="E6EDF3"/>
                </a:solidFill>
                <a:latin typeface="Consolas"/>
              </a:rPr>
              <a:t>deploy/aws/delta-lake/load-day.sh --date 2026-10-20 --tables trading/trade_endur</a:t>
            </a:r>
          </a:p>
        </p:txBody>
      </p:sp>
      <p:sp>
        <p:nvSpPr>
          <p:cNvPr id="11" name="TextBox 10"/>
          <p:cNvSpPr txBox="1"/>
          <p:nvPr/>
        </p:nvSpPr>
        <p:spPr>
          <a:xfrm>
            <a:off x="411480" y="1920240"/>
            <a:ext cx="11365992" cy="320040"/>
          </a:xfrm>
          <a:prstGeom prst="rect">
            <a:avLst/>
          </a:prstGeom>
          <a:noFill/>
        </p:spPr>
        <p:txBody>
          <a:bodyPr wrap="square" lIns="0" rIns="0" tIns="0" bIns="0" anchor="t">
            <a:spAutoFit/>
          </a:bodyPr>
          <a:lstStyle/>
          <a:p>
            <a:pPr algn="l">
              <a:spcAft>
                <a:spcPts val="600"/>
              </a:spcAft>
              <a:buNone/>
            </a:pPr>
            <a:r>
              <a:rPr sz="1300" b="1" i="0">
                <a:solidFill>
                  <a:srgbClr val="1C2433"/>
                </a:solidFill>
                <a:latin typeface="Calibri"/>
              </a:rPr>
              <a:t>You should see</a:t>
            </a:r>
            <a:r>
              <a:rPr sz="1300" b="0" i="0">
                <a:solidFill>
                  <a:srgbClr val="1C2433"/>
                </a:solidFill>
                <a:latin typeface="Calibri"/>
              </a:rPr>
              <a:t> the five steps of section 9, then:</a:t>
            </a:r>
          </a:p>
        </p:txBody>
      </p:sp>
      <p:sp>
        <p:nvSpPr>
          <p:cNvPr id="12" name="Code block"/>
          <p:cNvSpPr/>
          <p:nvPr/>
        </p:nvSpPr>
        <p:spPr>
          <a:xfrm>
            <a:off x="411480" y="2286000"/>
            <a:ext cx="11365992" cy="594360"/>
          </a:xfrm>
          <a:prstGeom prst="roundRect">
            <a:avLst>
              <a:gd name="adj" fmla="val 4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
          <p:cNvSpPr txBox="1"/>
          <p:nvPr/>
        </p:nvSpPr>
        <p:spPr>
          <a:xfrm>
            <a:off x="521208" y="2350008"/>
            <a:ext cx="11146536" cy="466344"/>
          </a:xfrm>
          <a:prstGeom prst="rect">
            <a:avLst/>
          </a:prstGeom>
          <a:noFill/>
        </p:spPr>
        <p:txBody>
          <a:bodyPr wrap="square" lIns="0" rIns="0" tIns="0" bIns="0" anchor="ctr">
            <a:spAutoFit/>
          </a:bodyPr>
          <a:lstStyle/>
          <a:p>
            <a:pPr>
              <a:spcAft>
                <a:spcPts val="0"/>
              </a:spcAft>
              <a:buNone/>
            </a:pPr>
            <a:r>
              <a:rPr sz="1100" b="0" i="0">
                <a:solidFill>
                  <a:srgbClr val="E6EDF3"/>
                </a:solidFill>
                <a:latin typeface="Consolas"/>
              </a:rPr>
              <a:t>lake publish: ok exit=0 published &lt;n&gt; file(s), &lt;bytes&gt; bytes, dates 2026-10-20 to s3://…/trade_endur version=0 (new table)</a:t>
            </a:r>
          </a:p>
          <a:p>
            <a:pPr>
              <a:spcAft>
                <a:spcPts val="0"/>
              </a:spcAft>
              <a:buNone/>
            </a:pPr>
            <a:r>
              <a:rPr sz="1100" b="0" i="0">
                <a:solidFill>
                  <a:srgbClr val="E6EDF3"/>
                </a:solidFill>
                <a:latin typeface="Consolas"/>
              </a:rPr>
              <a:t>load-day.sh: business date 2026-10-20: exit 0</a:t>
            </a:r>
          </a:p>
        </p:txBody>
      </p:sp>
      <p:sp>
        <p:nvSpPr>
          <p:cNvPr id="14" name="TextBox 13"/>
          <p:cNvSpPr txBox="1"/>
          <p:nvPr/>
        </p:nvSpPr>
        <p:spPr>
          <a:xfrm>
            <a:off x="411480" y="3017520"/>
            <a:ext cx="11365992" cy="320040"/>
          </a:xfrm>
          <a:prstGeom prst="rect">
            <a:avLst/>
          </a:prstGeom>
          <a:noFill/>
        </p:spPr>
        <p:txBody>
          <a:bodyPr wrap="square" lIns="0" rIns="0" tIns="0" bIns="0" anchor="t">
            <a:spAutoFit/>
          </a:bodyPr>
          <a:lstStyle/>
          <a:p>
            <a:pPr algn="l">
              <a:spcAft>
                <a:spcPts val="600"/>
              </a:spcAft>
              <a:buNone/>
            </a:pPr>
            <a:r>
              <a:rPr sz="1300" b="0" i="0">
                <a:solidFill>
                  <a:srgbClr val="1C2433"/>
                </a:solidFill>
                <a:latin typeface="Calibri"/>
              </a:rPr>
              <a:t>On ECS the same runs as the loader task:</a:t>
            </a:r>
          </a:p>
        </p:txBody>
      </p:sp>
      <p:sp>
        <p:nvSpPr>
          <p:cNvPr id="15" name="Code block"/>
          <p:cNvSpPr/>
          <p:nvPr/>
        </p:nvSpPr>
        <p:spPr>
          <a:xfrm>
            <a:off x="411480" y="3383280"/>
            <a:ext cx="11365992" cy="594360"/>
          </a:xfrm>
          <a:prstGeom prst="roundRect">
            <a:avLst>
              <a:gd name="adj" fmla="val 4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Code"/>
          <p:cNvSpPr txBox="1"/>
          <p:nvPr/>
        </p:nvSpPr>
        <p:spPr>
          <a:xfrm>
            <a:off x="521208" y="3447288"/>
            <a:ext cx="11146536" cy="466344"/>
          </a:xfrm>
          <a:prstGeom prst="rect">
            <a:avLst/>
          </a:prstGeom>
          <a:noFill/>
        </p:spPr>
        <p:txBody>
          <a:bodyPr wrap="square" lIns="0" rIns="0" tIns="0" bIns="0" anchor="ctr">
            <a:spAutoFit/>
          </a:bodyPr>
          <a:lstStyle/>
          <a:p>
            <a:pPr>
              <a:spcAft>
                <a:spcPts val="0"/>
              </a:spcAft>
              <a:buNone/>
            </a:pPr>
            <a:r>
              <a:rPr sz="1100" b="0" i="0">
                <a:solidFill>
                  <a:srgbClr val="E6EDF3"/>
                </a:solidFill>
                <a:latin typeface="Consolas"/>
              </a:rPr>
              <a:t>aws ecs run-task --task-definition drishti-prod-loader \</a:t>
            </a:r>
          </a:p>
          <a:p>
            <a:pPr>
              <a:spcAft>
                <a:spcPts val="0"/>
              </a:spcAft>
              <a:buNone/>
            </a:pPr>
            <a:r>
              <a:rPr sz="1100" b="0" i="0">
                <a:solidFill>
                  <a:srgbClr val="E6EDF3"/>
                </a:solidFill>
                <a:latin typeface="Consolas"/>
              </a:rPr>
              <a:t>  --overrides '{"containerOverrides":[{"name":"loader","command":["deploy/aws/delta-lake/load-day.sh","--date","2026-10-20"]}]}' …</a:t>
            </a:r>
          </a:p>
        </p:txBody>
      </p:sp>
      <p:sp>
        <p:nvSpPr>
          <p:cNvPr id="17" name="Callout"/>
          <p:cNvSpPr/>
          <p:nvPr/>
        </p:nvSpPr>
        <p:spPr>
          <a:xfrm>
            <a:off x="411480" y="4206240"/>
            <a:ext cx="5486400" cy="2103120"/>
          </a:xfrm>
          <a:prstGeom prst="roundRect">
            <a:avLst>
              <a:gd name="adj" fmla="val 6000"/>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Callout edge"/>
          <p:cNvSpPr/>
          <p:nvPr/>
        </p:nvSpPr>
        <p:spPr>
          <a:xfrm>
            <a:off x="411480" y="4224527"/>
            <a:ext cx="82296" cy="2066543"/>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TextBox 18"/>
          <p:cNvSpPr txBox="1"/>
          <p:nvPr/>
        </p:nvSpPr>
        <p:spPr>
          <a:xfrm>
            <a:off x="640080" y="4279392"/>
            <a:ext cx="5120640" cy="1956815"/>
          </a:xfrm>
          <a:prstGeom prst="rect">
            <a:avLst/>
          </a:prstGeom>
          <a:noFill/>
        </p:spPr>
        <p:txBody>
          <a:bodyPr wrap="square" lIns="0" rIns="0" tIns="0" bIns="0" anchor="t">
            <a:spAutoFit/>
          </a:bodyPr>
          <a:lstStyle/>
          <a:p>
            <a:pPr algn="l">
              <a:spcAft>
                <a:spcPts val="600"/>
              </a:spcAft>
              <a:buNone/>
            </a:pPr>
            <a:r>
              <a:rPr sz="1300" b="1" i="0">
                <a:solidFill>
                  <a:srgbClr val="1C2433"/>
                </a:solidFill>
                <a:latin typeface="Calibri"/>
              </a:rPr>
              <a:t>In the console</a:t>
            </a:r>
          </a:p>
          <a:p>
            <a:pPr algn="l">
              <a:spcAft>
                <a:spcPts val="600"/>
              </a:spcAft>
              <a:buNone/>
            </a:pPr>
            <a:r>
              <a:rPr sz="1200" b="0" i="0">
                <a:solidFill>
                  <a:srgbClr val="0E7C86"/>
                </a:solidFill>
                <a:latin typeface="Consolas"/>
              </a:rPr>
              <a:t>TRD &lt;id&gt;</a:t>
            </a:r>
            <a:r>
              <a:rPr sz="1300" b="0" i="0">
                <a:solidFill>
                  <a:srgbClr val="1C2433"/>
                </a:solidFill>
                <a:latin typeface="Calibri"/>
              </a:rPr>
              <a:t> on 2026-10-20 opens the trade; </a:t>
            </a:r>
            <a:r>
              <a:rPr sz="1300" b="1" i="0">
                <a:solidFill>
                  <a:srgbClr val="1C2433"/>
                </a:solidFill>
                <a:latin typeface="Calibri"/>
              </a:rPr>
              <a:t>Admin → Health</a:t>
            </a:r>
            <a:r>
              <a:rPr sz="1300" b="0" i="0">
                <a:solidFill>
                  <a:srgbClr val="1C2433"/>
                </a:solidFill>
                <a:latin typeface="Calibri"/>
              </a:rPr>
              <a:t> shows </a:t>
            </a:r>
            <a:r>
              <a:rPr sz="1200" b="0" i="0">
                <a:solidFill>
                  <a:srgbClr val="0E7C86"/>
                </a:solidFill>
                <a:latin typeface="Consolas"/>
              </a:rPr>
              <a:t>trade-endur UP (engine: native)</a:t>
            </a:r>
            <a:r>
              <a:rPr sz="1300" b="0" i="0">
                <a:solidFill>
                  <a:srgbClr val="1C2433"/>
                </a:solidFill>
                <a:latin typeface="Calibri"/>
              </a:rPr>
              <a:t>; </a:t>
            </a:r>
            <a:r>
              <a:rPr sz="1200" b="0" i="0">
                <a:solidFill>
                  <a:srgbClr val="0E7C86"/>
                </a:solidFill>
                <a:latin typeface="Consolas"/>
              </a:rPr>
              <a:t>DATAMAP trade</a:t>
            </a:r>
            <a:r>
              <a:rPr sz="1300" b="0" i="0">
                <a:solidFill>
                  <a:srgbClr val="1C2433"/>
                </a:solidFill>
                <a:latin typeface="Calibri"/>
              </a:rPr>
              <a:t> counts the day's trades and checks their joins against the lake.</a:t>
            </a:r>
          </a:p>
        </p:txBody>
      </p:sp>
      <p:sp>
        <p:nvSpPr>
          <p:cNvPr id="20" name="Callout"/>
          <p:cNvSpPr/>
          <p:nvPr/>
        </p:nvSpPr>
        <p:spPr>
          <a:xfrm>
            <a:off x="6172200" y="4206240"/>
            <a:ext cx="5605272" cy="2103120"/>
          </a:xfrm>
          <a:prstGeom prst="roundRect">
            <a:avLst>
              <a:gd name="adj" fmla="val 6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Callout edge"/>
          <p:cNvSpPr/>
          <p:nvPr/>
        </p:nvSpPr>
        <p:spPr>
          <a:xfrm>
            <a:off x="6172200" y="4224527"/>
            <a:ext cx="82296" cy="2066543"/>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TextBox 21"/>
          <p:cNvSpPr txBox="1"/>
          <p:nvPr/>
        </p:nvSpPr>
        <p:spPr>
          <a:xfrm>
            <a:off x="6400800" y="4279392"/>
            <a:ext cx="5239512" cy="1956815"/>
          </a:xfrm>
          <a:prstGeom prst="rect">
            <a:avLst/>
          </a:prstGeom>
          <a:noFill/>
        </p:spPr>
        <p:txBody>
          <a:bodyPr wrap="square" lIns="0" rIns="0" tIns="0" bIns="0" anchor="t">
            <a:spAutoFit/>
          </a:bodyPr>
          <a:lstStyle/>
          <a:p>
            <a:pPr algn="l">
              <a:spcAft>
                <a:spcPts val="600"/>
              </a:spcAft>
              <a:buNone/>
            </a:pPr>
            <a:r>
              <a:rPr sz="1300" b="1" i="0">
                <a:solidFill>
                  <a:srgbClr val="1C2433"/>
                </a:solidFill>
                <a:latin typeface="Calibri"/>
              </a:rPr>
              <a:t>The dumps are JSON Lines (2.9.4)</a:t>
            </a:r>
          </a:p>
          <a:p>
            <a:pPr algn="l">
              <a:spcAft>
                <a:spcPts val="600"/>
              </a:spcAft>
              <a:buNone/>
            </a:pPr>
            <a:r>
              <a:rPr sz="1300" b="0" i="0">
                <a:solidFill>
                  <a:srgbClr val="1C2433"/>
                </a:solidFill>
                <a:latin typeface="Calibri"/>
              </a:rPr>
              <a:t>One object a line, </a:t>
            </a:r>
            <a:r>
              <a:rPr sz="1200" b="0" i="0">
                <a:solidFill>
                  <a:srgbClr val="0E7C86"/>
                </a:solidFill>
                <a:latin typeface="Consolas"/>
              </a:rPr>
              <a:t>.jsonl.gz</a:t>
            </a:r>
            <a:r>
              <a:rPr sz="1300" b="0" i="0">
                <a:solidFill>
                  <a:srgbClr val="1C2433"/>
                </a:solidFill>
                <a:latin typeface="Calibri"/>
              </a:rPr>
              <a:t>. JSON arrays still load; a CSV export is converted first: </a:t>
            </a:r>
            <a:r>
              <a:rPr sz="1200" b="0" i="0">
                <a:solidFill>
                  <a:srgbClr val="0E7C86"/>
                </a:solidFill>
                <a:latin typeface="Consolas"/>
              </a:rPr>
              <a:t>drishti.py convert trades.csv</a:t>
            </a:r>
            <a:r>
              <a:rPr sz="1300" b="0" i="0">
                <a:solidFill>
                  <a:srgbClr val="1C2433"/>
                </a:solidFill>
                <a:latin typeface="Calibri"/>
              </a:rPr>
              <a:t> (CSV input is deprecated).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Step 11: alarms and the report</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4 · step 11</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32</a:t>
            </a:r>
          </a:p>
        </p:txBody>
      </p:sp>
      <p:sp>
        <p:nvSpPr>
          <p:cNvPr id="9" name="Code block"/>
          <p:cNvSpPr/>
          <p:nvPr/>
        </p:nvSpPr>
        <p:spPr>
          <a:xfrm>
            <a:off x="411480" y="1188720"/>
            <a:ext cx="11365992" cy="548640"/>
          </a:xfrm>
          <a:prstGeom prst="roundRect">
            <a:avLst>
              <a:gd name="adj" fmla="val 4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
          <p:cNvSpPr txBox="1"/>
          <p:nvPr/>
        </p:nvSpPr>
        <p:spPr>
          <a:xfrm>
            <a:off x="521208" y="1252728"/>
            <a:ext cx="11146536" cy="420623"/>
          </a:xfrm>
          <a:prstGeom prst="rect">
            <a:avLst/>
          </a:prstGeom>
          <a:noFill/>
        </p:spPr>
        <p:txBody>
          <a:bodyPr wrap="square" lIns="0" rIns="0" tIns="0" bIns="0" anchor="ctr">
            <a:spAutoFit/>
          </a:bodyPr>
          <a:lstStyle/>
          <a:p>
            <a:pPr>
              <a:spcAft>
                <a:spcPts val="0"/>
              </a:spcAft>
              <a:buNone/>
            </a:pPr>
            <a:r>
              <a:rPr sz="1100" b="0" i="0">
                <a:solidFill>
                  <a:srgbClr val="E6EDF3"/>
                </a:solidFill>
                <a:latin typeface="Consolas"/>
              </a:rPr>
              <a:t>deploy/aws/delta-lake/setup-alarms.sh</a:t>
            </a:r>
          </a:p>
          <a:p>
            <a:pPr>
              <a:spcAft>
                <a:spcPts val="0"/>
              </a:spcAft>
              <a:buNone/>
            </a:pPr>
            <a:r>
              <a:rPr sz="1100" b="0" i="0">
                <a:solidFill>
                  <a:srgbClr val="E6EDF3"/>
                </a:solidFill>
                <a:latin typeface="Consolas"/>
              </a:rPr>
              <a:t>deploy/aws/delta-lake/report.sh</a:t>
            </a:r>
          </a:p>
        </p:txBody>
      </p:sp>
      <p:sp>
        <p:nvSpPr>
          <p:cNvPr id="11" name="TextBox 10"/>
          <p:cNvSpPr txBox="1"/>
          <p:nvPr/>
        </p:nvSpPr>
        <p:spPr>
          <a:xfrm>
            <a:off x="411480" y="1874519"/>
            <a:ext cx="11365992" cy="411480"/>
          </a:xfrm>
          <a:prstGeom prst="rect">
            <a:avLst/>
          </a:prstGeom>
          <a:noFill/>
        </p:spPr>
        <p:txBody>
          <a:bodyPr wrap="square" lIns="0" rIns="0" tIns="0" bIns="0" anchor="t">
            <a:spAutoFit/>
          </a:bodyPr>
          <a:lstStyle/>
          <a:p>
            <a:pPr algn="l">
              <a:spcAft>
                <a:spcPts val="600"/>
              </a:spcAft>
              <a:buNone/>
            </a:pPr>
            <a:r>
              <a:rPr sz="1300" b="1" i="0">
                <a:solidFill>
                  <a:srgbClr val="1C2433"/>
                </a:solidFill>
                <a:latin typeface="Calibri"/>
              </a:rPr>
              <a:t>You should see</a:t>
            </a:r>
            <a:r>
              <a:rPr sz="1300" b="0" i="0">
                <a:solidFill>
                  <a:srgbClr val="1C2433"/>
                </a:solidFill>
                <a:latin typeface="Calibri"/>
              </a:rPr>
              <a:t> </a:t>
            </a:r>
            <a:r>
              <a:rPr sz="1200" b="0" i="0">
                <a:solidFill>
                  <a:srgbClr val="0E7C86"/>
                </a:solidFill>
                <a:latin typeface="Consolas"/>
              </a:rPr>
              <a:t>setup-alarms.sh: 17 alarms put</a:t>
            </a:r>
            <a:r>
              <a:rPr sz="1300" b="0" i="0">
                <a:solidFill>
                  <a:srgbClr val="1C2433"/>
                </a:solidFill>
                <a:latin typeface="Calibri"/>
              </a:rPr>
              <a:t> (four per table, two for the bucket and EFS, one per node) and the report of section 15.</a:t>
            </a:r>
          </a:p>
        </p:txBody>
      </p:sp>
      <p:sp>
        <p:nvSpPr>
          <p:cNvPr id="12" name="Rounded Rectangle 11"/>
          <p:cNvSpPr/>
          <p:nvPr/>
        </p:nvSpPr>
        <p:spPr>
          <a:xfrm>
            <a:off x="411480" y="2514600"/>
            <a:ext cx="3611880" cy="160020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TextBox 12"/>
          <p:cNvSpPr txBox="1"/>
          <p:nvPr/>
        </p:nvSpPr>
        <p:spPr>
          <a:xfrm>
            <a:off x="502920" y="2560320"/>
            <a:ext cx="342900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Per table (× 3 = 12)</a:t>
            </a:r>
          </a:p>
        </p:txBody>
      </p:sp>
      <p:sp>
        <p:nvSpPr>
          <p:cNvPr id="14" name="TextBox 13"/>
          <p:cNvSpPr txBox="1"/>
          <p:nvPr/>
        </p:nvSpPr>
        <p:spPr>
          <a:xfrm>
            <a:off x="502920" y="2880360"/>
            <a:ext cx="3429000" cy="118872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300" b="0" i="0">
                <a:solidFill>
                  <a:srgbClr val="1C2433"/>
                </a:solidFill>
                <a:latin typeface="Calibri"/>
              </a:rPr>
              <a:t>load-failed</a:t>
            </a:r>
          </a:p>
          <a:p>
            <a:pPr algn="l" marL="201168" indent="-201168">
              <a:spcAft>
                <a:spcPts val="200"/>
              </a:spcAft>
              <a:buClr>
                <a:srgbClr val="E87A1E"/>
              </a:buClr>
              <a:buSzPct val="100000"/>
              <a:buFont typeface="Arial"/>
              <a:buChar char="•"/>
            </a:pPr>
            <a:r>
              <a:rPr sz="1300" b="0" i="0">
                <a:solidFill>
                  <a:srgbClr val="1C2433"/>
                </a:solidFill>
                <a:latin typeface="Calibri"/>
              </a:rPr>
              <a:t>not-loaded</a:t>
            </a:r>
          </a:p>
          <a:p>
            <a:pPr algn="l" marL="201168" indent="-201168">
              <a:spcAft>
                <a:spcPts val="200"/>
              </a:spcAft>
              <a:buClr>
                <a:srgbClr val="E87A1E"/>
              </a:buClr>
              <a:buSzPct val="100000"/>
              <a:buFont typeface="Arial"/>
              <a:buChar char="•"/>
            </a:pPr>
            <a:r>
              <a:rPr sz="1300" b="0" i="0">
                <a:solidFill>
                  <a:srgbClr val="1C2433"/>
                </a:solidFill>
                <a:latin typeface="Calibri"/>
              </a:rPr>
              <a:t>load-slow</a:t>
            </a:r>
          </a:p>
          <a:p>
            <a:pPr algn="l" marL="201168" indent="-201168">
              <a:spcAft>
                <a:spcPts val="200"/>
              </a:spcAft>
              <a:buClr>
                <a:srgbClr val="E87A1E"/>
              </a:buClr>
              <a:buSzPct val="100000"/>
              <a:buFont typeface="Arial"/>
              <a:buChar char="•"/>
            </a:pPr>
            <a:r>
              <a:rPr sz="1300" b="0" i="0">
                <a:solidFill>
                  <a:srgbClr val="1C2433"/>
                </a:solidFill>
                <a:latin typeface="Calibri"/>
              </a:rPr>
              <a:t>log-long</a:t>
            </a:r>
          </a:p>
        </p:txBody>
      </p:sp>
      <p:sp>
        <p:nvSpPr>
          <p:cNvPr id="15" name="Rounded Rectangle 14"/>
          <p:cNvSpPr/>
          <p:nvPr/>
        </p:nvSpPr>
        <p:spPr>
          <a:xfrm>
            <a:off x="4288536" y="2514600"/>
            <a:ext cx="3611880" cy="160020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TextBox 15"/>
          <p:cNvSpPr txBox="1"/>
          <p:nvPr/>
        </p:nvSpPr>
        <p:spPr>
          <a:xfrm>
            <a:off x="4379976" y="2560320"/>
            <a:ext cx="342900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Bucket and EFS (2)</a:t>
            </a:r>
          </a:p>
        </p:txBody>
      </p:sp>
      <p:sp>
        <p:nvSpPr>
          <p:cNvPr id="17" name="TextBox 16"/>
          <p:cNvSpPr txBox="1"/>
          <p:nvPr/>
        </p:nvSpPr>
        <p:spPr>
          <a:xfrm>
            <a:off x="4379976" y="2880360"/>
            <a:ext cx="3429000" cy="118872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300" b="0" i="0">
                <a:solidFill>
                  <a:srgbClr val="1C2433"/>
                </a:solidFill>
                <a:latin typeface="Calibri"/>
              </a:rPr>
              <a:t>lake-s3-5xx</a:t>
            </a:r>
          </a:p>
          <a:p>
            <a:pPr algn="l" marL="201168" indent="-201168">
              <a:spcAft>
                <a:spcPts val="200"/>
              </a:spcAft>
              <a:buClr>
                <a:srgbClr val="E87A1E"/>
              </a:buClr>
              <a:buSzPct val="100000"/>
              <a:buFont typeface="Arial"/>
              <a:buChar char="•"/>
            </a:pPr>
            <a:r>
              <a:rPr sz="1300" b="0" i="0">
                <a:solidFill>
                  <a:srgbClr val="1C2433"/>
                </a:solidFill>
                <a:latin typeface="Calibri"/>
              </a:rPr>
              <a:t>efs-io-limit</a:t>
            </a:r>
          </a:p>
        </p:txBody>
      </p:sp>
      <p:sp>
        <p:nvSpPr>
          <p:cNvPr id="18" name="Rounded Rectangle 17"/>
          <p:cNvSpPr/>
          <p:nvPr/>
        </p:nvSpPr>
        <p:spPr>
          <a:xfrm>
            <a:off x="8165592" y="2514600"/>
            <a:ext cx="3611880" cy="160020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TextBox 18"/>
          <p:cNvSpPr txBox="1"/>
          <p:nvPr/>
        </p:nvSpPr>
        <p:spPr>
          <a:xfrm>
            <a:off x="8257031" y="2560320"/>
            <a:ext cx="342900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Per node (× 3)</a:t>
            </a:r>
          </a:p>
        </p:txBody>
      </p:sp>
      <p:sp>
        <p:nvSpPr>
          <p:cNvPr id="20" name="TextBox 19"/>
          <p:cNvSpPr txBox="1"/>
          <p:nvPr/>
        </p:nvSpPr>
        <p:spPr>
          <a:xfrm>
            <a:off x="8257031" y="2880360"/>
            <a:ext cx="3429000" cy="118872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300" b="0" i="0">
                <a:solidFill>
                  <a:srgbClr val="1C2433"/>
                </a:solidFill>
                <a:latin typeface="Calibri"/>
              </a:rPr>
              <a:t>&lt;node&gt;-down</a:t>
            </a:r>
          </a:p>
        </p:txBody>
      </p:sp>
      <p:sp>
        <p:nvSpPr>
          <p:cNvPr id="21" name="TextBox 20"/>
          <p:cNvSpPr txBox="1"/>
          <p:nvPr/>
        </p:nvSpPr>
        <p:spPr>
          <a:xfrm>
            <a:off x="411480" y="4389120"/>
            <a:ext cx="11365992" cy="1554480"/>
          </a:xfrm>
          <a:prstGeom prst="rect">
            <a:avLst/>
          </a:prstGeom>
          <a:noFill/>
        </p:spPr>
        <p:txBody>
          <a:bodyPr wrap="square" lIns="0" rIns="0" tIns="0" bIns="0" anchor="t">
            <a:spAutoFit/>
          </a:bodyPr>
          <a:lstStyle/>
          <a:p>
            <a:pPr algn="l" marL="201168" indent="-201168">
              <a:spcAft>
                <a:spcPts val="600"/>
              </a:spcAft>
              <a:buClr>
                <a:srgbClr val="E87A1E"/>
              </a:buClr>
              <a:buSzPct val="100000"/>
              <a:buFont typeface="Arial"/>
              <a:buChar char="•"/>
            </a:pPr>
            <a:r>
              <a:rPr sz="1400" b="0" i="0">
                <a:solidFill>
                  <a:srgbClr val="1C2433"/>
                </a:solidFill>
                <a:latin typeface="Calibri"/>
              </a:rPr>
              <a:t>All notify </a:t>
            </a:r>
            <a:r>
              <a:rPr sz="1300" b="0" i="0">
                <a:solidFill>
                  <a:srgbClr val="0E7C86"/>
                </a:solidFill>
                <a:latin typeface="Consolas"/>
              </a:rPr>
              <a:t>ALARM_SNS_TOPIC_ARN</a:t>
            </a:r>
            <a:r>
              <a:rPr sz="1400" b="0" i="0">
                <a:solidFill>
                  <a:srgbClr val="1C2433"/>
                </a:solidFill>
                <a:latin typeface="Calibri"/>
              </a:rPr>
              <a:t>; details on slide 83</a:t>
            </a:r>
          </a:p>
          <a:p>
            <a:pPr algn="l" marL="201168" indent="-201168">
              <a:spcAft>
                <a:spcPts val="600"/>
              </a:spcAft>
              <a:buClr>
                <a:srgbClr val="E87A1E"/>
              </a:buClr>
              <a:buSzPct val="100000"/>
              <a:buFont typeface="Arial"/>
              <a:buChar char="•"/>
            </a:pPr>
            <a:r>
              <a:rPr sz="1300" b="0" i="0">
                <a:solidFill>
                  <a:srgbClr val="0E7C86"/>
                </a:solidFill>
                <a:latin typeface="Consolas"/>
              </a:rPr>
              <a:t>report.sh</a:t>
            </a:r>
            <a:r>
              <a:rPr sz="1400" b="0" i="0">
                <a:solidFill>
                  <a:srgbClr val="1C2433"/>
                </a:solidFill>
                <a:latin typeface="Calibri"/>
              </a:rPr>
              <a:t> is also scheduled daily (</a:t>
            </a:r>
            <a:r>
              <a:rPr sz="1300" b="0" i="0">
                <a:solidFill>
                  <a:srgbClr val="0E7C86"/>
                </a:solidFill>
                <a:latin typeface="Consolas"/>
              </a:rPr>
              <a:t>REPORT_SCHEDULE</a:t>
            </a:r>
            <a:r>
              <a:rPr sz="1400" b="0" i="0">
                <a:solidFill>
                  <a:srgbClr val="1C2433"/>
                </a:solidFill>
                <a:latin typeface="Calibri"/>
              </a:rPr>
              <a:t>) and sends its numbers to CloudWatch</a:t>
            </a:r>
          </a:p>
          <a:p>
            <a:pPr algn="l" marL="201168" indent="-201168">
              <a:spcAft>
                <a:spcPts val="600"/>
              </a:spcAft>
              <a:buClr>
                <a:srgbClr val="E87A1E"/>
              </a:buClr>
              <a:buSzPct val="100000"/>
              <a:buFont typeface="Arial"/>
              <a:buChar char="•"/>
            </a:pPr>
            <a:r>
              <a:rPr sz="1400" b="0" i="0">
                <a:solidFill>
                  <a:srgbClr val="1C2433"/>
                </a:solidFill>
                <a:latin typeface="Calibri"/>
              </a:rPr>
              <a:t>Drishti*net health (gossip port, peer protocol) is on </a:t>
            </a:r>
            <a:r>
              <a:rPr sz="1400" b="1" i="0">
                <a:solidFill>
                  <a:srgbClr val="1C2433"/>
                </a:solidFill>
                <a:latin typeface="Calibri"/>
              </a:rPr>
              <a:t>Admin → Health</a:t>
            </a:r>
            <a:r>
              <a:rPr sz="1400" b="0" i="0">
                <a:solidFill>
                  <a:srgbClr val="1C2433"/>
                </a:solidFill>
                <a:latin typeface="Calibri"/>
              </a:rPr>
              <a:t> and </a:t>
            </a:r>
            <a:r>
              <a:rPr sz="1400" b="1" i="0">
                <a:solidFill>
                  <a:srgbClr val="1C2433"/>
                </a:solidFill>
                <a:latin typeface="Calibri"/>
              </a:rPr>
              <a:t>Admin → Net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Number"/>
          <p:cNvSpPr txBox="1"/>
          <p:nvPr/>
        </p:nvSpPr>
        <p:spPr>
          <a:xfrm>
            <a:off x="4754880" y="-822960"/>
            <a:ext cx="7223760" cy="7863840"/>
          </a:xfrm>
          <a:prstGeom prst="rect">
            <a:avLst/>
          </a:prstGeom>
          <a:noFill/>
        </p:spPr>
        <p:txBody>
          <a:bodyPr wrap="square" lIns="0" rIns="0" tIns="0" bIns="0" anchor="ctr">
            <a:spAutoFit/>
          </a:bodyPr>
          <a:lstStyle/>
          <a:p>
            <a:pPr algn="r">
              <a:spcAft>
                <a:spcPts val="600"/>
              </a:spcAft>
              <a:buNone/>
            </a:pPr>
            <a:r>
              <a:rPr sz="42000" b="1" i="0">
                <a:solidFill>
                  <a:srgbClr val="1C3560"/>
                </a:solidFill>
                <a:latin typeface="Calibri"/>
              </a:rPr>
              <a:t>05</a:t>
            </a:r>
          </a:p>
        </p:txBody>
      </p:sp>
      <p:sp>
        <p:nvSpPr>
          <p:cNvPr id="4" name="Title"/>
          <p:cNvSpPr txBox="1"/>
          <p:nvPr/>
        </p:nvSpPr>
        <p:spPr>
          <a:xfrm>
            <a:off x="822960" y="2514600"/>
            <a:ext cx="6949440" cy="1828800"/>
          </a:xfrm>
          <a:prstGeom prst="rect">
            <a:avLst/>
          </a:prstGeom>
          <a:noFill/>
        </p:spPr>
        <p:txBody>
          <a:bodyPr wrap="square" lIns="0" rIns="0" tIns="0" bIns="0" anchor="ctr">
            <a:spAutoFit/>
          </a:bodyPr>
          <a:lstStyle/>
          <a:p>
            <a:pPr algn="l">
              <a:spcAft>
                <a:spcPts val="600"/>
              </a:spcAft>
              <a:buNone/>
            </a:pPr>
            <a:r>
              <a:rPr sz="4400" b="1" i="0">
                <a:solidFill>
                  <a:srgbClr val="FFFFFF"/>
                </a:solidFill>
                <a:latin typeface="Calibri"/>
              </a:rPr>
              <a:t>The layout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5.1 Buckets</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5</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34</a:t>
            </a:r>
          </a:p>
        </p:txBody>
      </p:sp>
      <p:graphicFrame>
        <p:nvGraphicFramePr>
          <p:cNvPr id="9" name="Table"/>
          <p:cNvGraphicFramePr>
            <a:graphicFrameLocks noGrp="1"/>
          </p:cNvGraphicFramePr>
          <p:nvPr/>
        </p:nvGraphicFramePr>
        <p:xfrm>
          <a:off x="411480" y="1188720"/>
          <a:ext cx="11365990" cy="3291840"/>
        </p:xfrm>
        <a:graphic>
          <a:graphicData uri="http://schemas.openxmlformats.org/drawingml/2006/table">
            <a:tbl>
              <a:tblPr firstRow="0" bandRow="0">
                <a:tableStyleId>{5940675A-B579-460E-94D1-54222C63F5DA}</a:tableStyleId>
              </a:tblPr>
              <a:tblGrid>
                <a:gridCol w="2749836"/>
                <a:gridCol w="3574787"/>
                <a:gridCol w="5041367"/>
              </a:tblGrid>
              <a:tr h="822960">
                <a:tc>
                  <a:txBody>
                    <a:bodyPr wrap="square"/>
                    <a:lstStyle/>
                    <a:p>
                      <a:r>
                        <a:rPr sz="1200" b="1" i="0">
                          <a:solidFill>
                            <a:srgbClr val="FFFFFF"/>
                          </a:solidFill>
                          <a:latin typeface="Calibri"/>
                        </a:rPr>
                        <a:t>Bucket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Holds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Settings (setup-buckets.sh)</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822960">
                <a:tc>
                  <a:txBody>
                    <a:bodyPr wrap="square"/>
                    <a:lstStyle/>
                    <a:p>
                      <a:r>
                        <a:rPr sz="1100" b="0" i="0">
                          <a:solidFill>
                            <a:srgbClr val="0E7C86"/>
                          </a:solidFill>
                          <a:latin typeface="Consolas"/>
                        </a:rPr>
                        <a:t>&lt;org&gt;-drishti-&lt;env&gt;-lake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every Delta table: data files and </a:t>
                      </a:r>
                      <a:r>
                        <a:rPr sz="1100" b="0" i="0">
                          <a:solidFill>
                            <a:srgbClr val="0E7C86"/>
                          </a:solidFill>
                          <a:latin typeface="Consolas"/>
                        </a:rPr>
                        <a:t>_delta_log</a:t>
                      </a:r>
                      <a:r>
                        <a:rPr sz="1200" b="0" i="0">
                          <a:solidFill>
                            <a:srgbClr val="1C2433"/>
                          </a:solidFill>
                          <a:latin typeface="Calibri"/>
                        </a:rPr>
                        <a:t>; the risk lake; JSONL copies of official results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versioning on; SSE-KMS with S3 Bucket Keys; Block Public Access; owner-enforced; TLS only; VPC endpoint only; access logs; request metrics on </a:t>
                      </a:r>
                      <a:r>
                        <a:rPr sz="1100" b="0" i="0">
                          <a:solidFill>
                            <a:srgbClr val="0E7C86"/>
                          </a:solidFill>
                          <a:latin typeface="Consolas"/>
                        </a:rPr>
                        <a:t>lake/</a:t>
                      </a:r>
                      <a:r>
                        <a:rPr sz="1200" b="0" i="0">
                          <a:solidFill>
                            <a:srgbClr val="1C2433"/>
                          </a:solidFill>
                          <a:latin typeface="Calibri"/>
                        </a:rPr>
                        <a:t>; noncurrent versions 14 days; multipart aborts after 2 days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822960">
                <a:tc>
                  <a:txBody>
                    <a:bodyPr wrap="square"/>
                    <a:lstStyle/>
                    <a:p>
                      <a:r>
                        <a:rPr sz="1100" b="0" i="0">
                          <a:solidFill>
                            <a:srgbClr val="0E7C86"/>
                          </a:solidFill>
                          <a:latin typeface="Consolas"/>
                        </a:rPr>
                        <a:t>&lt;org&gt;-drishti-&lt;env&gt;-landing</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the sources' JSON Lines dumps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the same protections; dumps expire after 30 days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822960">
                <a:tc>
                  <a:txBody>
                    <a:bodyPr wrap="square"/>
                    <a:lstStyle/>
                    <a:p>
                      <a:r>
                        <a:rPr sz="1100" b="0" i="0">
                          <a:solidFill>
                            <a:srgbClr val="0E7C86"/>
                          </a:solidFill>
                          <a:latin typeface="Consolas"/>
                        </a:rPr>
                        <a:t>&lt;org&gt;-drishti-&lt;env&gt;-logs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S3 access logs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SSE-S3; expire after 400 days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bl>
          </a:graphicData>
        </a:graphic>
      </p:graphicFrame>
      <p:sp>
        <p:nvSpPr>
          <p:cNvPr id="10" name="Callout"/>
          <p:cNvSpPr/>
          <p:nvPr/>
        </p:nvSpPr>
        <p:spPr>
          <a:xfrm>
            <a:off x="411480" y="4572000"/>
            <a:ext cx="11365992" cy="1691640"/>
          </a:xfrm>
          <a:prstGeom prst="roundRect">
            <a:avLst>
              <a:gd name="adj" fmla="val 6000"/>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allout edge"/>
          <p:cNvSpPr/>
          <p:nvPr/>
        </p:nvSpPr>
        <p:spPr>
          <a:xfrm>
            <a:off x="411480" y="4590288"/>
            <a:ext cx="82296" cy="1655064"/>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640080" y="4645152"/>
            <a:ext cx="11000232" cy="1545336"/>
          </a:xfrm>
          <a:prstGeom prst="rect">
            <a:avLst/>
          </a:prstGeom>
          <a:noFill/>
        </p:spPr>
        <p:txBody>
          <a:bodyPr wrap="square" lIns="0" rIns="0" tIns="0" bIns="0" anchor="ctr">
            <a:spAutoFit/>
          </a:bodyPr>
          <a:lstStyle/>
          <a:p>
            <a:pPr algn="l">
              <a:spcAft>
                <a:spcPts val="600"/>
              </a:spcAft>
              <a:buNone/>
            </a:pPr>
            <a:r>
              <a:rPr sz="1300" b="1" i="0">
                <a:solidFill>
                  <a:srgbClr val="1C2433"/>
                </a:solidFill>
                <a:latin typeface="Calibri"/>
              </a:rPr>
              <a:t>Versioning on, with a short noncurrent window.</a:t>
            </a:r>
          </a:p>
          <a:p>
            <a:pPr algn="l">
              <a:spcAft>
                <a:spcPts val="600"/>
              </a:spcAft>
              <a:buNone/>
            </a:pPr>
            <a:r>
              <a:rPr sz="1300" b="0" i="0">
                <a:solidFill>
                  <a:srgbClr val="1C2433"/>
                </a:solidFill>
                <a:latin typeface="Calibri"/>
              </a:rPr>
              <a:t>Delta keeps its own history (time travel back to the vacuum window; 7 years for the risk domains), so versions are a safety net, not history. A file deleted by mistake (a wrong vacuum, a script against the wrong prefix) stays recoverable for </a:t>
            </a:r>
            <a:r>
              <a:rPr sz="1200" b="0" i="0">
                <a:solidFill>
                  <a:srgbClr val="0E7C86"/>
                </a:solidFill>
                <a:latin typeface="Consolas"/>
              </a:rPr>
              <a:t>NONCURRENT_KEEP_DAYS</a:t>
            </a:r>
            <a:r>
              <a:rPr sz="1300" b="0" i="0">
                <a:solidFill>
                  <a:srgbClr val="1C2433"/>
                </a:solidFill>
                <a:latin typeface="Calibri"/>
              </a:rPr>
              <a:t> (14); then the lifecycle expires it.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5.2 Prefixes and tables</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5</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35</a:t>
            </a:r>
          </a:p>
        </p:txBody>
      </p:sp>
      <p:graphicFrame>
        <p:nvGraphicFramePr>
          <p:cNvPr id="9" name="Table"/>
          <p:cNvGraphicFramePr>
            <a:graphicFrameLocks noGrp="1"/>
          </p:cNvGraphicFramePr>
          <p:nvPr/>
        </p:nvGraphicFramePr>
        <p:xfrm>
          <a:off x="411480" y="1188720"/>
          <a:ext cx="5120639" cy="4343400"/>
        </p:xfrm>
        <a:graphic>
          <a:graphicData uri="http://schemas.openxmlformats.org/drawingml/2006/table">
            <a:tbl>
              <a:tblPr firstRow="0" bandRow="0">
                <a:tableStyleId>{5940675A-B579-460E-94D1-54222C63F5DA}</a:tableStyleId>
              </a:tblPr>
              <a:tblGrid>
                <a:gridCol w="2926079"/>
                <a:gridCol w="2194560"/>
              </a:tblGrid>
              <a:tr h="868680">
                <a:tc>
                  <a:txBody>
                    <a:bodyPr wrap="square"/>
                    <a:lstStyle/>
                    <a:p>
                      <a:r>
                        <a:rPr sz="1100" b="1" i="0">
                          <a:solidFill>
                            <a:srgbClr val="FFFFFF"/>
                          </a:solidFill>
                          <a:latin typeface="Calibri"/>
                        </a:rPr>
                        <a:t>Choice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00" b="1" i="0">
                          <a:solidFill>
                            <a:srgbClr val="FFFFFF"/>
                          </a:solidFill>
                          <a:latin typeface="Calibri"/>
                        </a:rPr>
                        <a:t>Why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868680">
                <a:tc>
                  <a:txBody>
                    <a:bodyPr wrap="square"/>
                    <a:lstStyle/>
                    <a:p>
                      <a:r>
                        <a:rPr sz="1100" b="1" i="0">
                          <a:solidFill>
                            <a:srgbClr val="1C2433"/>
                          </a:solidFill>
                          <a:latin typeface="Calibri"/>
                        </a:rPr>
                        <a:t>One table per source system and kind (</a:t>
                      </a:r>
                      <a:r>
                        <a:rPr sz="1100" b="1" i="0">
                          <a:solidFill>
                            <a:srgbClr val="0E7C86"/>
                          </a:solidFill>
                          <a:latin typeface="Consolas"/>
                        </a:rPr>
                        <a:t>trade_endur</a:t>
                      </a:r>
                      <a:r>
                        <a:rPr sz="1100" b="1" i="0">
                          <a:solidFill>
                            <a:srgbClr val="1C2433"/>
                          </a:solidFill>
                          <a:latin typeface="Calibri"/>
                        </a:rPr>
                        <a:t>, </a:t>
                      </a:r>
                      <a:r>
                        <a:rPr sz="1100" b="1" i="0">
                          <a:solidFill>
                            <a:srgbClr val="0E7C86"/>
                          </a:solidFill>
                          <a:latin typeface="Consolas"/>
                        </a:rPr>
                        <a:t>_calypso</a:t>
                      </a:r>
                      <a:r>
                        <a:rPr sz="1100" b="1" i="0">
                          <a:solidFill>
                            <a:srgbClr val="1C2433"/>
                          </a:solidFill>
                          <a:latin typeface="Calibri"/>
                        </a:rPr>
                        <a:t>, </a:t>
                      </a:r>
                      <a:r>
                        <a:rPr sz="1100" b="1" i="0">
                          <a:solidFill>
                            <a:srgbClr val="0E7C86"/>
                          </a:solidFill>
                          <a:latin typeface="Consolas"/>
                        </a:rPr>
                        <a:t>_murex</a:t>
                      </a:r>
                      <a:r>
                        <a:rPr sz="1100" b="1" i="0">
                          <a:solidFill>
                            <a:srgbClr val="1C2433"/>
                          </a:solidFill>
                          <a:latin typeface="Calibri"/>
                        </a:rPr>
                        <a:t>, read as a union)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each source loads, restates and fails on its own; each log a third the size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868680">
                <a:tc>
                  <a:txBody>
                    <a:bodyPr wrap="square"/>
                    <a:lstStyle/>
                    <a:p>
                      <a:r>
                        <a:rPr sz="1100" b="1" i="0">
                          <a:solidFill>
                            <a:srgbClr val="1C2433"/>
                          </a:solidFill>
                          <a:latin typeface="Calibri"/>
                        </a:rPr>
                        <a:t>Domain as the first folder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matches the connector's domain; IAM and lifecycle rules can name a domain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868680">
                <a:tc>
                  <a:txBody>
                    <a:bodyPr wrap="square"/>
                    <a:lstStyle/>
                    <a:p>
                      <a:r>
                        <a:rPr sz="1100" b="1" i="0">
                          <a:solidFill>
                            <a:srgbClr val="0E7C86"/>
                          </a:solidFill>
                          <a:latin typeface="Consolas"/>
                        </a:rPr>
                        <a:t>risk/</a:t>
                      </a:r>
                      <a:r>
                        <a:rPr sz="1100" b="1" i="0">
                          <a:solidFill>
                            <a:srgbClr val="1C2433"/>
                          </a:solidFill>
                          <a:latin typeface="Calibri"/>
                        </a:rPr>
                        <a:t> one table per input kind; </a:t>
                      </a:r>
                      <a:r>
                        <a:rPr sz="1100" b="1" i="0">
                          <a:solidFill>
                            <a:srgbClr val="0E7C86"/>
                          </a:solidFill>
                          <a:latin typeface="Consolas"/>
                        </a:rPr>
                        <a:t>risk-results/</a:t>
                      </a:r>
                      <a:r>
                        <a:rPr sz="1100" b="1" i="0">
                          <a:solidFill>
                            <a:srgbClr val="1C2433"/>
                          </a:solidFill>
                          <a:latin typeface="Calibri"/>
                        </a:rPr>
                        <a:t> written only by the publishers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engines read </a:t>
                      </a:r>
                      <a:r>
                        <a:rPr sz="1100" b="0" i="0">
                          <a:solidFill>
                            <a:srgbClr val="0E7C86"/>
                          </a:solidFill>
                          <a:latin typeface="Consolas"/>
                        </a:rPr>
                        <a:t>risk/</a:t>
                      </a:r>
                      <a:r>
                        <a:rPr sz="1100" b="0" i="0">
                          <a:solidFill>
                            <a:srgbClr val="1C2433"/>
                          </a:solidFill>
                          <a:latin typeface="Calibri"/>
                        </a:rPr>
                        <a:t>; no engine reads </a:t>
                      </a:r>
                      <a:r>
                        <a:rPr sz="1100" b="0" i="0">
                          <a:solidFill>
                            <a:srgbClr val="0E7C86"/>
                          </a:solidFill>
                          <a:latin typeface="Consolas"/>
                        </a:rPr>
                        <a:t>risk-results/</a:t>
                      </a:r>
                      <a:r>
                        <a:rPr sz="1100" b="0" i="0">
                          <a:solidFill>
                            <a:srgbClr val="1C2433"/>
                          </a:solidFill>
                          <a:latin typeface="Calibri"/>
                        </a:rPr>
                        <a:t> (a guard test)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868680">
                <a:tc>
                  <a:txBody>
                    <a:bodyPr wrap="square"/>
                    <a:lstStyle/>
                    <a:p>
                      <a:r>
                        <a:rPr sz="1100" b="1" i="0">
                          <a:solidFill>
                            <a:srgbClr val="1C2433"/>
                          </a:solidFill>
                          <a:latin typeface="Calibri"/>
                        </a:rPr>
                        <a:t>Tables by year (</a:t>
                      </a:r>
                      <a:r>
                        <a:rPr sz="1100" b="1" i="0">
                          <a:solidFill>
                            <a:srgbClr val="0E7C86"/>
                          </a:solidFill>
                          <a:latin typeface="Consolas"/>
                        </a:rPr>
                        <a:t>trade_endur/2026/</a:t>
                      </a:r>
                      <a:r>
                        <a:rPr sz="1100" b="1" i="0">
                          <a:solidFill>
                            <a:srgbClr val="1C2433"/>
                          </a:solidFill>
                          <a:latin typeface="Calibri"/>
                        </a:rPr>
                        <a: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DESIGNED (S2): until then one table holds every year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bl>
          </a:graphicData>
        </a:graphic>
      </p:graphicFrame>
      <p:sp>
        <p:nvSpPr>
          <p:cNvPr id="10" name="Code block"/>
          <p:cNvSpPr/>
          <p:nvPr/>
        </p:nvSpPr>
        <p:spPr>
          <a:xfrm>
            <a:off x="5760720" y="1188720"/>
            <a:ext cx="6016752" cy="3657600"/>
          </a:xfrm>
          <a:prstGeom prst="roundRect">
            <a:avLst>
              <a:gd name="adj" fmla="val 4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
          <p:cNvSpPr txBox="1"/>
          <p:nvPr/>
        </p:nvSpPr>
        <p:spPr>
          <a:xfrm>
            <a:off x="5870448" y="1252728"/>
            <a:ext cx="5797296" cy="3529584"/>
          </a:xfrm>
          <a:prstGeom prst="rect">
            <a:avLst/>
          </a:prstGeom>
          <a:noFill/>
        </p:spPr>
        <p:txBody>
          <a:bodyPr wrap="square" lIns="0" rIns="0" tIns="0" bIns="0" anchor="ctr">
            <a:spAutoFit/>
          </a:bodyPr>
          <a:lstStyle/>
          <a:p>
            <a:pPr>
              <a:spcAft>
                <a:spcPts val="0"/>
              </a:spcAft>
              <a:buNone/>
            </a:pPr>
            <a:r>
              <a:rPr sz="1200" b="0" i="0">
                <a:solidFill>
                  <a:srgbClr val="E6EDF3"/>
                </a:solidFill>
                <a:latin typeface="Consolas"/>
              </a:rPr>
              <a:t>s3://acme-drishti-prod-lake/</a:t>
            </a:r>
          </a:p>
          <a:p>
            <a:pPr>
              <a:spcAft>
                <a:spcPts val="0"/>
              </a:spcAft>
              <a:buNone/>
            </a:pPr>
            <a:r>
              <a:rPr sz="1200" b="0" i="0">
                <a:solidFill>
                  <a:srgbClr val="E6EDF3"/>
                </a:solidFill>
                <a:latin typeface="Consolas"/>
              </a:rPr>
              <a:t>└── lake/                  DRISHTI_DELTA_ROOT</a:t>
            </a:r>
          </a:p>
          <a:p>
            <a:pPr>
              <a:spcAft>
                <a:spcPts val="0"/>
              </a:spcAft>
              <a:buNone/>
            </a:pPr>
            <a:r>
              <a:rPr sz="1200" b="0" i="0">
                <a:solidFill>
                  <a:srgbClr val="E6EDF3"/>
                </a:solidFill>
                <a:latin typeface="Consolas"/>
              </a:rPr>
              <a:t>    ├── trading/</a:t>
            </a:r>
          </a:p>
          <a:p>
            <a:pPr>
              <a:spcAft>
                <a:spcPts val="0"/>
              </a:spcAft>
              <a:buNone/>
            </a:pPr>
            <a:r>
              <a:rPr sz="1200" b="0" i="0">
                <a:solidFill>
                  <a:srgbClr val="E6EDF3"/>
                </a:solidFill>
                <a:latin typeface="Consolas"/>
              </a:rPr>
              <a:t>    │   ├── trade_endur/   _delta_log/</a:t>
            </a:r>
          </a:p>
          <a:p>
            <a:pPr>
              <a:spcAft>
                <a:spcPts val="0"/>
              </a:spcAft>
              <a:buNone/>
            </a:pPr>
            <a:r>
              <a:rPr sz="1200" b="0" i="0">
                <a:solidFill>
                  <a:srgbClr val="E6EDF3"/>
                </a:solidFill>
                <a:latin typeface="Consolas"/>
              </a:rPr>
              <a:t>    │   │   └── business_date=2026-10-20/</a:t>
            </a:r>
          </a:p>
          <a:p>
            <a:pPr>
              <a:spcAft>
                <a:spcPts val="0"/>
              </a:spcAft>
              <a:buNone/>
            </a:pPr>
            <a:r>
              <a:rPr sz="1200" b="0" i="0">
                <a:solidFill>
                  <a:srgbClr val="E6EDF3"/>
                </a:solidFill>
                <a:latin typeface="Consolas"/>
              </a:rPr>
              <a:t>    │   │       └── PRODUCT_TYPE=IRS_FIXFLOAT/part-….parquet</a:t>
            </a:r>
          </a:p>
          <a:p>
            <a:pPr>
              <a:spcAft>
                <a:spcPts val="0"/>
              </a:spcAft>
              <a:buNone/>
            </a:pPr>
            <a:r>
              <a:rPr sz="1200" b="0" i="0">
                <a:solidFill>
                  <a:srgbClr val="E6EDF3"/>
                </a:solidFill>
                <a:latin typeface="Consolas"/>
              </a:rPr>
              <a:t>    │   ├── trade_calypso/ …</a:t>
            </a:r>
          </a:p>
          <a:p>
            <a:pPr>
              <a:spcAft>
                <a:spcPts val="0"/>
              </a:spcAft>
              <a:buNone/>
            </a:pPr>
            <a:r>
              <a:rPr sz="1200" b="0" i="0">
                <a:solidFill>
                  <a:srgbClr val="E6EDF3"/>
                </a:solidFill>
                <a:latin typeface="Consolas"/>
              </a:rPr>
              <a:t>    │   └── trade_murex/ …</a:t>
            </a:r>
          </a:p>
          <a:p>
            <a:pPr>
              <a:spcAft>
                <a:spcPts val="0"/>
              </a:spcAft>
              <a:buNone/>
            </a:pPr>
            <a:r>
              <a:rPr sz="1200" b="0" i="0">
                <a:solidFill>
                  <a:srgbClr val="E6EDF3"/>
                </a:solidFill>
                <a:latin typeface="Consolas"/>
              </a:rPr>
              <a:t>    ├── reference/ counterparty/ market/ …</a:t>
            </a:r>
          </a:p>
          <a:p>
            <a:pPr>
              <a:spcAft>
                <a:spcPts val="0"/>
              </a:spcAft>
              <a:buNone/>
            </a:pPr>
            <a:r>
              <a:rPr sz="1200" b="0" i="0">
                <a:solidFill>
                  <a:srgbClr val="E6EDF3"/>
                </a:solidFill>
                <a:latin typeface="Consolas"/>
              </a:rPr>
              <a:t>    ├── risk/              the engines' inputs</a:t>
            </a:r>
          </a:p>
          <a:p>
            <a:pPr>
              <a:spcAft>
                <a:spcPts val="0"/>
              </a:spcAft>
              <a:buNone/>
            </a:pPr>
            <a:r>
              <a:rPr sz="1200" b="0" i="0">
                <a:solidFill>
                  <a:srgbClr val="E6EDF3"/>
                </a:solidFill>
                <a:latin typeface="Consolas"/>
              </a:rPr>
              <a:t>    │   ├── pnl-vector/  scenario-pv/  fx-scenario/</a:t>
            </a:r>
          </a:p>
          <a:p>
            <a:pPr>
              <a:spcAft>
                <a:spcPts val="0"/>
              </a:spcAft>
              <a:buNone/>
            </a:pPr>
            <a:r>
              <a:rPr sz="1200" b="0" i="0">
                <a:solidFill>
                  <a:srgbClr val="E6EDF3"/>
                </a:solidFill>
                <a:latin typeface="Consolas"/>
              </a:rPr>
              <a:t>    │   ├── scenario-set/  risk-hierarchy/  var-limit/</a:t>
            </a:r>
          </a:p>
          <a:p>
            <a:pPr>
              <a:spcAft>
                <a:spcPts val="0"/>
              </a:spcAft>
              <a:buNone/>
            </a:pPr>
            <a:r>
              <a:rPr sz="1200" b="0" i="0">
                <a:solidFill>
                  <a:srgbClr val="E6EDF3"/>
                </a:solidFill>
                <a:latin typeface="Consolas"/>
              </a:rPr>
              <a:t>    │   └── portfolio/  simulation-run/  exposure-path/</a:t>
            </a:r>
          </a:p>
          <a:p>
            <a:pPr>
              <a:spcAft>
                <a:spcPts val="0"/>
              </a:spcAft>
              <a:buNone/>
            </a:pPr>
            <a:r>
              <a:rPr sz="1200" b="0" i="0">
                <a:solidFill>
                  <a:srgbClr val="E6EDF3"/>
                </a:solidFill>
                <a:latin typeface="Consolas"/>
              </a:rPr>
              <a:t>    ├── risk-results/      append-only, never read back</a:t>
            </a:r>
          </a:p>
          <a:p>
            <a:pPr>
              <a:spcAft>
                <a:spcPts val="0"/>
              </a:spcAft>
              <a:buNone/>
            </a:pPr>
            <a:r>
              <a:rPr sz="1200" b="0" i="0">
                <a:solidFill>
                  <a:srgbClr val="E6EDF3"/>
                </a:solidFill>
                <a:latin typeface="Consolas"/>
              </a:rPr>
              <a:t>    │   ├── var-official/  exposure-official/ …</a:t>
            </a:r>
          </a:p>
          <a:p>
            <a:pPr>
              <a:spcAft>
                <a:spcPts val="0"/>
              </a:spcAft>
              <a:buNone/>
            </a:pPr>
            <a:r>
              <a:rPr sz="1200" b="0" i="0">
                <a:solidFill>
                  <a:srgbClr val="E6EDF3"/>
                </a:solidFill>
                <a:latin typeface="Consolas"/>
              </a:rPr>
              <a:t>    │   └── jsonl/&lt;table&gt;/&lt;date&gt;/  (2.9.4)</a:t>
            </a:r>
          </a:p>
          <a:p>
            <a:pPr>
              <a:spcAft>
                <a:spcPts val="0"/>
              </a:spcAft>
              <a:buNone/>
            </a:pPr>
            <a:r>
              <a:rPr sz="1200" b="0" i="0">
                <a:solidFill>
                  <a:srgbClr val="E6EDF3"/>
                </a:solidFill>
                <a:latin typeface="Consolas"/>
              </a:rPr>
              <a:t>    └── us-equities/ gleif/ funds/   public data</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5.3 Partition keys and request-rate-friendly prefixes</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5</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36</a:t>
            </a:r>
          </a:p>
        </p:txBody>
      </p:sp>
      <p:graphicFrame>
        <p:nvGraphicFramePr>
          <p:cNvPr id="9" name="Table"/>
          <p:cNvGraphicFramePr>
            <a:graphicFrameLocks noGrp="1"/>
          </p:cNvGraphicFramePr>
          <p:nvPr/>
        </p:nvGraphicFramePr>
        <p:xfrm>
          <a:off x="411480" y="1188720"/>
          <a:ext cx="11365991" cy="2834640"/>
        </p:xfrm>
        <a:graphic>
          <a:graphicData uri="http://schemas.openxmlformats.org/drawingml/2006/table">
            <a:tbl>
              <a:tblPr firstRow="0" bandRow="0">
                <a:tableStyleId>{5940675A-B579-460E-94D1-54222C63F5DA}</a:tableStyleId>
              </a:tblPr>
              <a:tblGrid>
                <a:gridCol w="3116481"/>
                <a:gridCol w="8249510"/>
              </a:tblGrid>
              <a:tr h="566928">
                <a:tc>
                  <a:txBody>
                    <a:bodyPr wrap="square"/>
                    <a:lstStyle/>
                    <a:p>
                      <a:r>
                        <a:rPr sz="1200" b="1" i="0">
                          <a:solidFill>
                            <a:srgbClr val="FFFFFF"/>
                          </a:solidFill>
                          <a:latin typeface="Calibri"/>
                        </a:rPr>
                        <a:t>Key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Why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566928">
                <a:tc>
                  <a:txBody>
                    <a:bodyPr wrap="square"/>
                    <a:lstStyle/>
                    <a:p>
                      <a:r>
                        <a:rPr sz="1100" b="1" i="0">
                          <a:solidFill>
                            <a:srgbClr val="0E7C86"/>
                          </a:solidFill>
                          <a:latin typeface="Consolas"/>
                        </a:rPr>
                        <a:t>business_date</a:t>
                      </a:r>
                      <a:r>
                        <a:rPr sz="1200" b="1" i="0">
                          <a:solidFill>
                            <a:srgbClr val="1C2433"/>
                          </a:solidFill>
                          <a:latin typeface="Calibri"/>
                        </a:rPr>
                        <a:t> (always first)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every interactive read names a date; a load and a restatement replace one day; retention removes whole days; tiers by the folder's date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66928">
                <a:tc>
                  <a:txBody>
                    <a:bodyPr wrap="square"/>
                    <a:lstStyle/>
                    <a:p>
                      <a:r>
                        <a:rPr sz="1100" b="1" i="0">
                          <a:solidFill>
                            <a:srgbClr val="0E7C86"/>
                          </a:solidFill>
                          <a:latin typeface="Consolas"/>
                        </a:rPr>
                        <a:t>PRODUCT_TYPE</a:t>
                      </a:r>
                      <a:r>
                        <a:rPr sz="1200" b="1" i="0">
                          <a:solidFill>
                            <a:srgbClr val="1C2433"/>
                          </a:solidFill>
                          <a:latin typeface="Calibri"/>
                        </a:rPr>
                        <a:t> for trades (second key)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spreads a day over several S3 prefixes; keeps each partition small enough to sort in one batch; lets a source restate one product type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66928">
                <a:tc>
                  <a:txBody>
                    <a:bodyPr wrap="square"/>
                    <a:lstStyle/>
                    <a:p>
                      <a:r>
                        <a:rPr sz="1200" b="1" i="0">
                          <a:solidFill>
                            <a:srgbClr val="1C2433"/>
                          </a:solidFill>
                          <a:latin typeface="Calibri"/>
                        </a:rPr>
                        <a:t>nothing finer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each partition column multiplies the folders and small files of a day; two for trades, one for everything else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66928">
                <a:tc>
                  <a:txBody>
                    <a:bodyPr wrap="square"/>
                    <a:lstStyle/>
                    <a:p>
                      <a:r>
                        <a:rPr sz="1200" b="1" i="0">
                          <a:solidFill>
                            <a:srgbClr val="1C2433"/>
                          </a:solidFill>
                          <a:latin typeface="Calibri"/>
                        </a:rPr>
                        <a:t>risk tables: </a:t>
                      </a:r>
                      <a:r>
                        <a:rPr sz="1100" b="1" i="0">
                          <a:solidFill>
                            <a:srgbClr val="0E7C86"/>
                          </a:solidFill>
                          <a:latin typeface="Consolas"/>
                        </a:rPr>
                        <a:t>business_date</a:t>
                      </a:r>
                      <a:r>
                        <a:rPr sz="1200" b="1" i="0">
                          <a:solidFill>
                            <a:srgbClr val="1C2433"/>
                          </a:solidFill>
                          <a:latin typeface="Calibri"/>
                        </a:rPr>
                        <a:t> only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the engine reads a whole date's vectors in one streamed pass; it sorts into hierarchy order in memory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bl>
          </a:graphicData>
        </a:graphic>
      </p:graphicFrame>
      <p:sp>
        <p:nvSpPr>
          <p:cNvPr id="10" name="TextBox 9"/>
          <p:cNvSpPr txBox="1"/>
          <p:nvPr/>
        </p:nvSpPr>
        <p:spPr>
          <a:xfrm>
            <a:off x="411480" y="4343400"/>
            <a:ext cx="11365992" cy="2011680"/>
          </a:xfrm>
          <a:prstGeom prst="rect">
            <a:avLst/>
          </a:prstGeom>
          <a:noFill/>
        </p:spPr>
        <p:txBody>
          <a:bodyPr wrap="square" lIns="0" rIns="0" tIns="0" bIns="0" anchor="t">
            <a:spAutoFit/>
          </a:bodyPr>
          <a:lstStyle/>
          <a:p>
            <a:pPr algn="l" marL="201168" indent="-201168">
              <a:spcAft>
                <a:spcPts val="600"/>
              </a:spcAft>
              <a:buClr>
                <a:srgbClr val="E87A1E"/>
              </a:buClr>
              <a:buSzPct val="100000"/>
              <a:buFont typeface="Arial"/>
              <a:buChar char="•"/>
            </a:pPr>
            <a:r>
              <a:rPr sz="1400" b="0" i="0">
                <a:solidFill>
                  <a:srgbClr val="1C2433"/>
                </a:solidFill>
                <a:latin typeface="Calibri"/>
              </a:rPr>
              <a:t>S3 scales each prefix to ≥ 3,500 writes and 5,500 reads a second and splits busy prefixes by itself</a:t>
            </a:r>
          </a:p>
          <a:p>
            <a:pPr algn="l" marL="201168" indent="-201168">
              <a:spcAft>
                <a:spcPts val="600"/>
              </a:spcAft>
              <a:buClr>
                <a:srgbClr val="E87A1E"/>
              </a:buClr>
              <a:buSzPct val="100000"/>
              <a:buFont typeface="Arial"/>
              <a:buChar char="•"/>
            </a:pPr>
            <a:r>
              <a:rPr sz="1400" b="0" i="0">
                <a:solidFill>
                  <a:srgbClr val="1C2433"/>
                </a:solidFill>
                <a:latin typeface="Calibri"/>
              </a:rPr>
              <a:t>A day's reads spread over its product-type folders, and over three tables for trades</a:t>
            </a:r>
          </a:p>
          <a:p>
            <a:pPr algn="l" marL="201168" indent="-201168">
              <a:spcAft>
                <a:spcPts val="600"/>
              </a:spcAft>
              <a:buClr>
                <a:srgbClr val="E87A1E"/>
              </a:buClr>
              <a:buSzPct val="100000"/>
              <a:buFont typeface="Arial"/>
              <a:buChar char="•"/>
            </a:pPr>
            <a:r>
              <a:rPr sz="1400" b="0" i="0">
                <a:solidFill>
                  <a:srgbClr val="1C2433"/>
                </a:solidFill>
                <a:latin typeface="Calibri"/>
              </a:rPr>
              <a:t>Delta paths cannot be hashed (Drishti's writers name the folders): the spread comes from the partition keys</a:t>
            </a:r>
          </a:p>
          <a:p>
            <a:pPr algn="l" marL="201168" indent="-201168">
              <a:spcAft>
                <a:spcPts val="600"/>
              </a:spcAft>
              <a:buClr>
                <a:srgbClr val="E87A1E"/>
              </a:buClr>
              <a:buSzPct val="100000"/>
              <a:buFont typeface="Arial"/>
              <a:buChar char="•"/>
            </a:pPr>
            <a:r>
              <a:rPr sz="1400" b="0" i="0">
                <a:solidFill>
                  <a:srgbClr val="1C2433"/>
                </a:solidFill>
                <a:latin typeface="Calibri"/>
              </a:rPr>
              <a:t>A 503 Slow Down is retried with back-off and counted in Health; alarm </a:t>
            </a:r>
            <a:r>
              <a:rPr sz="1300" b="0" i="0">
                <a:solidFill>
                  <a:srgbClr val="0E7C86"/>
                </a:solidFill>
                <a:latin typeface="Consolas"/>
              </a:rPr>
              <a:t>drishti-&lt;env&gt;-lake-s3-5xx</a:t>
            </a:r>
            <a:r>
              <a:rPr sz="1400" b="0" i="0">
                <a:solidFill>
                  <a:srgbClr val="1C2433"/>
                </a:solidFill>
                <a:latin typeface="Calibri"/>
              </a:rPr>
              <a:t> fires on a sustained rate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Number"/>
          <p:cNvSpPr txBox="1"/>
          <p:nvPr/>
        </p:nvSpPr>
        <p:spPr>
          <a:xfrm>
            <a:off x="4754880" y="-822960"/>
            <a:ext cx="7223760" cy="7863840"/>
          </a:xfrm>
          <a:prstGeom prst="rect">
            <a:avLst/>
          </a:prstGeom>
          <a:noFill/>
        </p:spPr>
        <p:txBody>
          <a:bodyPr wrap="square" lIns="0" rIns="0" tIns="0" bIns="0" anchor="ctr">
            <a:spAutoFit/>
          </a:bodyPr>
          <a:lstStyle/>
          <a:p>
            <a:pPr algn="r">
              <a:spcAft>
                <a:spcPts val="600"/>
              </a:spcAft>
              <a:buNone/>
            </a:pPr>
            <a:r>
              <a:rPr sz="42000" b="1" i="0">
                <a:solidFill>
                  <a:srgbClr val="1C3560"/>
                </a:solidFill>
                <a:latin typeface="Calibri"/>
              </a:rPr>
              <a:t>06</a:t>
            </a:r>
          </a:p>
        </p:txBody>
      </p:sp>
      <p:sp>
        <p:nvSpPr>
          <p:cNvPr id="4" name="Title"/>
          <p:cNvSpPr txBox="1"/>
          <p:nvPr/>
        </p:nvSpPr>
        <p:spPr>
          <a:xfrm>
            <a:off x="822960" y="2514600"/>
            <a:ext cx="6949440" cy="1828800"/>
          </a:xfrm>
          <a:prstGeom prst="rect">
            <a:avLst/>
          </a:prstGeom>
          <a:noFill/>
        </p:spPr>
        <p:txBody>
          <a:bodyPr wrap="square" lIns="0" rIns="0" tIns="0" bIns="0" anchor="ctr">
            <a:spAutoFit/>
          </a:bodyPr>
          <a:lstStyle/>
          <a:p>
            <a:pPr algn="l">
              <a:spcAft>
                <a:spcPts val="600"/>
              </a:spcAft>
              <a:buNone/>
            </a:pPr>
            <a:r>
              <a:rPr sz="4400" b="1" i="0">
                <a:solidFill>
                  <a:srgbClr val="FFFFFF"/>
                </a:solidFill>
                <a:latin typeface="Calibri"/>
              </a:rPr>
              <a:t>Keys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6. Columns of every table</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6</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38</a:t>
            </a:r>
          </a:p>
        </p:txBody>
      </p:sp>
      <p:graphicFrame>
        <p:nvGraphicFramePr>
          <p:cNvPr id="9" name="Table"/>
          <p:cNvGraphicFramePr>
            <a:graphicFrameLocks noGrp="1"/>
          </p:cNvGraphicFramePr>
          <p:nvPr/>
        </p:nvGraphicFramePr>
        <p:xfrm>
          <a:off x="411480" y="1188720"/>
          <a:ext cx="11365990" cy="3200400"/>
        </p:xfrm>
        <a:graphic>
          <a:graphicData uri="http://schemas.openxmlformats.org/drawingml/2006/table">
            <a:tbl>
              <a:tblPr firstRow="0" bandRow="0">
                <a:tableStyleId>{5940675A-B579-460E-94D1-54222C63F5DA}</a:tableStyleId>
              </a:tblPr>
              <a:tblGrid>
                <a:gridCol w="2383191"/>
                <a:gridCol w="2658175"/>
                <a:gridCol w="6324624"/>
              </a:tblGrid>
              <a:tr h="457200">
                <a:tc>
                  <a:txBody>
                    <a:bodyPr wrap="square"/>
                    <a:lstStyle/>
                    <a:p>
                      <a:r>
                        <a:rPr sz="1200" b="1" i="0">
                          <a:solidFill>
                            <a:srgbClr val="FFFFFF"/>
                          </a:solidFill>
                          <a:latin typeface="Calibri"/>
                        </a:rPr>
                        <a:t>Column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Type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Content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457200">
                <a:tc>
                  <a:txBody>
                    <a:bodyPr wrap="square"/>
                    <a:lstStyle/>
                    <a:p>
                      <a:r>
                        <a:rPr sz="1100" b="1" i="0">
                          <a:solidFill>
                            <a:srgbClr val="0E7C86"/>
                          </a:solidFill>
                          <a:latin typeface="Consolas"/>
                        </a:rPr>
                        <a:t>id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string</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the entity's id (the pack's key: </a:t>
                      </a:r>
                      <a:r>
                        <a:rPr sz="1100" b="0" i="0">
                          <a:solidFill>
                            <a:srgbClr val="0E7C86"/>
                          </a:solidFill>
                          <a:latin typeface="Consolas"/>
                        </a:rPr>
                        <a:t>TRADE_ID</a:t>
                      </a:r>
                      <a:r>
                        <a:rPr sz="1200" b="0" i="0">
                          <a:solidFill>
                            <a:srgbClr val="1C2433"/>
                          </a:solidFill>
                          <a:latin typeface="Calibri"/>
                        </a:rPr>
                        <a:t>, </a:t>
                      </a:r>
                      <a:r>
                        <a:rPr sz="1100" b="0" i="0">
                          <a:solidFill>
                            <a:srgbClr val="0E7C86"/>
                          </a:solidFill>
                          <a:latin typeface="Consolas"/>
                        </a:rPr>
                        <a:t>VECTOR_ID</a:t>
                      </a:r>
                      <a:r>
                        <a:rPr sz="1200" b="0" i="0">
                          <a:solidFill>
                            <a:srgbClr val="1C2433"/>
                          </a:solidFill>
                          <a:latin typeface="Calibri"/>
                        </a:rPr>
                        <a:t>, …)</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57200">
                <a:tc>
                  <a:txBody>
                    <a:bodyPr wrap="square"/>
                    <a:lstStyle/>
                    <a:p>
                      <a:r>
                        <a:rPr sz="1100" b="1" i="0">
                          <a:solidFill>
                            <a:srgbClr val="0E7C86"/>
                          </a:solidFill>
                          <a:latin typeface="Consolas"/>
                        </a:rPr>
                        <a:t>doc</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string</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the whole JSON document as the source sent it (a vector replaced by a marker)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57200">
                <a:tc>
                  <a:txBody>
                    <a:bodyPr wrap="square"/>
                    <a:lstStyle/>
                    <a:p>
                      <a:r>
                        <a:rPr sz="1100" b="1" i="0">
                          <a:solidFill>
                            <a:srgbClr val="0E7C86"/>
                          </a:solidFill>
                          <a:latin typeface="Consolas"/>
                        </a:rPr>
                        <a:t>business_date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date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partition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57200">
                <a:tc>
                  <a:txBody>
                    <a:bodyPr wrap="square"/>
                    <a:lstStyle/>
                    <a:p>
                      <a:r>
                        <a:rPr sz="1200" b="1" i="0">
                          <a:solidFill>
                            <a:srgbClr val="1C2433"/>
                          </a:solidFill>
                          <a:latin typeface="Calibri"/>
                        </a:rPr>
                        <a:t>partition columns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string</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PRODUCT_TYPE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57200">
                <a:tc>
                  <a:txBody>
                    <a:bodyPr wrap="square"/>
                    <a:lstStyle/>
                    <a:p>
                      <a:r>
                        <a:rPr sz="1200" b="1" i="0">
                          <a:solidFill>
                            <a:srgbClr val="1C2433"/>
                          </a:solidFill>
                          <a:latin typeface="Calibri"/>
                        </a:rPr>
                        <a:t>promoted columns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string or double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copies of the fields searches, lists, links and BI read: </a:t>
                      </a:r>
                      <a:r>
                        <a:rPr sz="1100" b="0" i="0">
                          <a:solidFill>
                            <a:srgbClr val="0E7C86"/>
                          </a:solidFill>
                          <a:latin typeface="Consolas"/>
                        </a:rPr>
                        <a:t>layout.&lt;kind&gt;.columns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57200">
                <a:tc>
                  <a:txBody>
                    <a:bodyPr wrap="square"/>
                    <a:lstStyle/>
                    <a:p>
                      <a:r>
                        <a:rPr sz="1200" b="1" i="0">
                          <a:solidFill>
                            <a:srgbClr val="1C2433"/>
                          </a:solidFill>
                          <a:latin typeface="Calibri"/>
                        </a:rPr>
                        <a:t>vector columns (2.8.0)</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list&lt;double&gt;</a:t>
                      </a:r>
                      <a:r>
                        <a:rPr sz="1200" b="0" i="0">
                          <a:solidFill>
                            <a:srgbClr val="1C2433"/>
                          </a:solidFill>
                          <a:latin typeface="Calibri"/>
                        </a:rPr>
                        <a:t> (or </a:t>
                      </a:r>
                      <a:r>
                        <a:rPr sz="1100" b="0" i="0">
                          <a:solidFill>
                            <a:srgbClr val="0E7C86"/>
                          </a:solidFill>
                          <a:latin typeface="Consolas"/>
                        </a:rPr>
                        <a:t>list&lt;float&gt;</a:t>
                      </a:r>
                      <a:r>
                        <a:rPr sz="1200" b="0" i="0">
                          <a:solidFill>
                            <a:srgbClr val="1C2433"/>
                          </a:solidFill>
                          <a:latin typeface="Calibri"/>
                        </a:rPr>
                        <a: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layout.&lt;kind&gt;.vectors</a:t>
                      </a:r>
                      <a:r>
                        <a:rPr sz="1200" b="0" i="0">
                          <a:solidFill>
                            <a:srgbClr val="1C2433"/>
                          </a:solidFill>
                          <a:latin typeface="Calibri"/>
                        </a:rPr>
                        <a:t>: </a:t>
                      </a:r>
                      <a:r>
                        <a:rPr sz="1100" b="0" i="0">
                          <a:solidFill>
                            <a:srgbClr val="0E7C86"/>
                          </a:solidFill>
                          <a:latin typeface="Consolas"/>
                        </a:rPr>
                        <a:t>PNL</a:t>
                      </a:r>
                      <a:r>
                        <a:rPr sz="1200" b="0" i="0">
                          <a:solidFill>
                            <a:srgbClr val="1C2433"/>
                          </a:solidFill>
                          <a:latin typeface="Calibri"/>
                        </a:rPr>
                        <a:t>, </a:t>
                      </a:r>
                      <a:r>
                        <a:rPr sz="1100" b="0" i="0">
                          <a:solidFill>
                            <a:srgbClr val="0E7C86"/>
                          </a:solidFill>
                          <a:latin typeface="Consolas"/>
                        </a:rPr>
                        <a:t>SCENARIO_PV</a:t>
                      </a:r>
                      <a:r>
                        <a:rPr sz="1200" b="0" i="0">
                          <a:solidFill>
                            <a:srgbClr val="1C2433"/>
                          </a:solidFill>
                          <a:latin typeface="Calibri"/>
                        </a:rPr>
                        <a:t>, </a:t>
                      </a:r>
                      <a:r>
                        <a:rPr sz="1100" b="0" i="0">
                          <a:solidFill>
                            <a:srgbClr val="0E7C86"/>
                          </a:solidFill>
                          <a:latin typeface="Consolas"/>
                        </a:rPr>
                        <a:t>MTM</a:t>
                      </a:r>
                      <a:r>
                        <a:rPr sz="1200" b="0" i="0">
                          <a:solidFill>
                            <a:srgbClr val="1C2433"/>
                          </a:solidFill>
                          <a:latin typeface="Calibri"/>
                        </a:rPr>
                        <a:t>; one column, the length is data</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bl>
          </a:graphicData>
        </a:graphic>
      </p:graphicFrame>
      <p:sp>
        <p:nvSpPr>
          <p:cNvPr id="10" name="TextBox 9"/>
          <p:cNvSpPr txBox="1"/>
          <p:nvPr/>
        </p:nvSpPr>
        <p:spPr>
          <a:xfrm>
            <a:off x="411480" y="4572000"/>
            <a:ext cx="11365992" cy="1783080"/>
          </a:xfrm>
          <a:prstGeom prst="rect">
            <a:avLst/>
          </a:prstGeom>
          <a:noFill/>
        </p:spPr>
        <p:txBody>
          <a:bodyPr wrap="square" lIns="0" rIns="0" tIns="0" bIns="0" anchor="t">
            <a:spAutoFit/>
          </a:bodyPr>
          <a:lstStyle/>
          <a:p>
            <a:pPr algn="l" marL="201168" indent="-201168">
              <a:spcAft>
                <a:spcPts val="600"/>
              </a:spcAft>
              <a:buClr>
                <a:srgbClr val="E87A1E"/>
              </a:buClr>
              <a:buSzPct val="100000"/>
              <a:buFont typeface="Arial"/>
              <a:buChar char="•"/>
            </a:pPr>
            <a:r>
              <a:rPr sz="1300" b="0" i="0">
                <a:solidFill>
                  <a:srgbClr val="1C2433"/>
                </a:solidFill>
                <a:latin typeface="Calibri"/>
              </a:rPr>
              <a:t>Choosing what to promote is a pack decision (DELTA_CONNECTOR.md §4); </a:t>
            </a:r>
            <a:r>
              <a:rPr sz="1200" b="0" i="0">
                <a:solidFill>
                  <a:srgbClr val="0E7C86"/>
                </a:solidFill>
                <a:latin typeface="Consolas"/>
              </a:rPr>
              <a:t>layout.&lt;kind&gt;.type-ahead</a:t>
            </a:r>
            <a:r>
              <a:rPr sz="1300" b="0" i="0">
                <a:solidFill>
                  <a:srgbClr val="1C2433"/>
                </a:solidFill>
                <a:latin typeface="Calibri"/>
              </a:rPr>
              <a:t> adds promoted names to the type-ahead (</a:t>
            </a:r>
            <a:r>
              <a:rPr sz="1200" b="0" i="0">
                <a:solidFill>
                  <a:srgbClr val="0E7C86"/>
                </a:solidFill>
                <a:latin typeface="Consolas"/>
              </a:rPr>
              <a:t>USEQ Ford</a:t>
            </a:r>
            <a:r>
              <a:rPr sz="1300" b="0" i="0">
                <a:solidFill>
                  <a:srgbClr val="1C2433"/>
                </a:solidFill>
                <a:latin typeface="Calibri"/>
              </a:rPr>
              <a:t> finds </a:t>
            </a:r>
            <a:r>
              <a:rPr sz="1200" b="0" i="0">
                <a:solidFill>
                  <a:srgbClr val="0E7C86"/>
                </a:solidFill>
                <a:latin typeface="Consolas"/>
              </a:rPr>
              <a:t>F</a:t>
            </a:r>
            <a:r>
              <a:rPr sz="1300" b="0" i="0">
                <a:solidFill>
                  <a:srgbClr val="1C2433"/>
                </a:solidFill>
                <a:latin typeface="Calibri"/>
              </a:rPr>
              <a:t>)</a:t>
            </a:r>
          </a:p>
          <a:p>
            <a:pPr algn="l" marL="201168" indent="-201168">
              <a:spcAft>
                <a:spcPts val="600"/>
              </a:spcAft>
              <a:buClr>
                <a:srgbClr val="E87A1E"/>
              </a:buClr>
              <a:buSzPct val="100000"/>
              <a:buFont typeface="Arial"/>
              <a:buChar char="•"/>
            </a:pPr>
            <a:r>
              <a:rPr sz="1300" b="0" i="0">
                <a:solidFill>
                  <a:srgbClr val="1C2433"/>
                </a:solidFill>
                <a:latin typeface="Calibri"/>
              </a:rPr>
              <a:t>Adding a promoted column changes the table's columns: </a:t>
            </a:r>
            <a:r>
              <a:rPr sz="1200" b="0" i="0">
                <a:solidFill>
                  <a:srgbClr val="0E7C86"/>
                </a:solidFill>
                <a:latin typeface="Consolas"/>
              </a:rPr>
              <a:t>lake publish</a:t>
            </a:r>
            <a:r>
              <a:rPr sz="1300" b="0" i="0">
                <a:solidFill>
                  <a:srgbClr val="1C2433"/>
                </a:solidFill>
                <a:latin typeface="Calibri"/>
              </a:rPr>
              <a:t> refuses a day whose columns differ → runbook (slide 95); in place: 2.9.6</a:t>
            </a:r>
          </a:p>
          <a:p>
            <a:pPr algn="l" marL="201168" indent="-201168">
              <a:spcAft>
                <a:spcPts val="600"/>
              </a:spcAft>
              <a:buClr>
                <a:srgbClr val="E87A1E"/>
              </a:buClr>
              <a:buSzPct val="100000"/>
              <a:buFont typeface="Arial"/>
              <a:buChar char="•"/>
            </a:pPr>
            <a:r>
              <a:rPr sz="1300" b="0" i="0">
                <a:solidFill>
                  <a:srgbClr val="1C2433"/>
                </a:solidFill>
                <a:latin typeface="Calibri"/>
              </a:rPr>
              <a:t>Vectors are never stored twice: the document keeps </a:t>
            </a:r>
            <a:r>
              <a:rPr sz="1200" b="0" i="0">
                <a:solidFill>
                  <a:srgbClr val="0E7C86"/>
                </a:solidFill>
                <a:latin typeface="Consolas"/>
              </a:rPr>
              <a:t>{"$vector": "PNL"}</a:t>
            </a:r>
            <a:r>
              <a:rPr sz="1300" b="0" i="0">
                <a:solidFill>
                  <a:srgbClr val="1C2433"/>
                </a:solidFill>
                <a:latin typeface="Calibri"/>
              </a:rPr>
              <a:t> and a fetched document gets the vector back</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6. What each read needs</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6</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39</a:t>
            </a:r>
          </a:p>
        </p:txBody>
      </p:sp>
      <p:graphicFrame>
        <p:nvGraphicFramePr>
          <p:cNvPr id="9" name="Table"/>
          <p:cNvGraphicFramePr>
            <a:graphicFrameLocks noGrp="1"/>
          </p:cNvGraphicFramePr>
          <p:nvPr/>
        </p:nvGraphicFramePr>
        <p:xfrm>
          <a:off x="411480" y="1188720"/>
          <a:ext cx="11365991" cy="4608576"/>
        </p:xfrm>
        <a:graphic>
          <a:graphicData uri="http://schemas.openxmlformats.org/drawingml/2006/table">
            <a:tbl>
              <a:tblPr firstRow="0" bandRow="0">
                <a:tableStyleId>{5940675A-B579-460E-94D1-54222C63F5DA}</a:tableStyleId>
              </a:tblPr>
              <a:tblGrid>
                <a:gridCol w="2834640"/>
                <a:gridCol w="4480560"/>
                <a:gridCol w="4050791"/>
              </a:tblGrid>
              <a:tr h="658368">
                <a:tc>
                  <a:txBody>
                    <a:bodyPr wrap="square"/>
                    <a:lstStyle/>
                    <a:p>
                      <a:r>
                        <a:rPr sz="1200" b="1" i="0">
                          <a:solidFill>
                            <a:srgbClr val="FFFFFF"/>
                          </a:solidFill>
                          <a:latin typeface="Calibri"/>
                        </a:rPr>
                        <a:t>Need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What it reads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So the table needs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658368">
                <a:tc>
                  <a:txBody>
                    <a:bodyPr wrap="square"/>
                    <a:lstStyle/>
                    <a:p>
                      <a:r>
                        <a:rPr sz="1200" b="1" i="0">
                          <a:solidFill>
                            <a:srgbClr val="1C2433"/>
                          </a:solidFill>
                          <a:latin typeface="Calibri"/>
                        </a:rPr>
                        <a:t>One entity (</a:t>
                      </a:r>
                      <a:r>
                        <a:rPr sz="1100" b="1" i="0">
                          <a:solidFill>
                            <a:srgbClr val="0E7C86"/>
                          </a:solidFill>
                          <a:latin typeface="Consolas"/>
                        </a:rPr>
                        <a:t>TRD MX-20000017</a:t>
                      </a:r>
                      <a:r>
                        <a:rPr sz="1200" b="1" i="0">
                          <a:solidFill>
                            <a:srgbClr val="1C2433"/>
                          </a:solidFill>
                          <a:latin typeface="Calibri"/>
                        </a:rPr>
                        <a: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the day's id map, then one row group of one file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rows sorted by id per file; small row groups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658368">
                <a:tc>
                  <a:txBody>
                    <a:bodyPr wrap="square"/>
                    <a:lstStyle/>
                    <a:p>
                      <a:r>
                        <a:rPr sz="1200" b="1" i="0">
                          <a:solidFill>
                            <a:srgbClr val="1C2433"/>
                          </a:solidFill>
                          <a:latin typeface="Calibri"/>
                        </a:rPr>
                        <a:t>History (</a:t>
                      </a:r>
                      <a:r>
                        <a:rPr sz="1100" b="1" i="0">
                          <a:solidFill>
                            <a:srgbClr val="0E7C86"/>
                          </a:solidFill>
                          <a:latin typeface="Consolas"/>
                        </a:rPr>
                        <a:t>TRD MX-20000017 30</a:t>
                      </a:r>
                      <a:r>
                        <a:rPr sz="1200" b="1" i="0">
                          <a:solidFill>
                            <a:srgbClr val="1C2433"/>
                          </a:solidFill>
                          <a:latin typeface="Calibri"/>
                        </a:rPr>
                        <a: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the days whose id map holds it, one read per day, eight at once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business_date</a:t>
                      </a:r>
                      <a:r>
                        <a:rPr sz="1200" b="0" i="0">
                          <a:solidFill>
                            <a:srgbClr val="1C2433"/>
                          </a:solidFill>
                          <a:latin typeface="Calibri"/>
                        </a:rPr>
                        <a:t> as the partition; nothing else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658368">
                <a:tc>
                  <a:txBody>
                    <a:bodyPr wrap="square"/>
                    <a:lstStyle/>
                    <a:p>
                      <a:r>
                        <a:rPr sz="1200" b="1" i="0">
                          <a:solidFill>
                            <a:srgbClr val="1C2433"/>
                          </a:solidFill>
                          <a:latin typeface="Calibri"/>
                        </a:rPr>
                        <a:t>Type-ahead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the newest day's ids (and </a:t>
                      </a:r>
                      <a:r>
                        <a:rPr sz="1100" b="0" i="0">
                          <a:solidFill>
                            <a:srgbClr val="0E7C86"/>
                          </a:solidFill>
                          <a:latin typeface="Consolas"/>
                        </a:rPr>
                        <a:t>index.days</a:t>
                      </a:r>
                      <a:r>
                        <a:rPr sz="1200" b="0" i="0">
                          <a:solidFill>
                            <a:srgbClr val="1C2433"/>
                          </a:solidFill>
                          <a:latin typeface="Calibri"/>
                        </a:rPr>
                        <a:t>), plus promoted name columns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id</a:t>
                      </a:r>
                      <a:r>
                        <a:rPr sz="1200" b="0" i="0">
                          <a:solidFill>
                            <a:srgbClr val="1C2433"/>
                          </a:solidFill>
                          <a:latin typeface="Calibri"/>
                        </a:rPr>
                        <a:t>; </a:t>
                      </a:r>
                      <a:r>
                        <a:rPr sz="1100" b="0" i="0">
                          <a:solidFill>
                            <a:srgbClr val="0E7C86"/>
                          </a:solidFill>
                          <a:latin typeface="Consolas"/>
                        </a:rPr>
                        <a:t>layout.&lt;kind&gt;.type-ahead</a:t>
                      </a:r>
                      <a:r>
                        <a:rPr sz="1200" b="0" i="0">
                          <a:solidFill>
                            <a:srgbClr val="1C2433"/>
                          </a:solidFill>
                          <a:latin typeface="Calibri"/>
                        </a:rPr>
                        <a:t> for names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658368">
                <a:tc>
                  <a:txBody>
                    <a:bodyPr wrap="square"/>
                    <a:lstStyle/>
                    <a:p>
                      <a:r>
                        <a:rPr sz="1200" b="1" i="0">
                          <a:solidFill>
                            <a:srgbClr val="1C2433"/>
                          </a:solidFill>
                          <a:latin typeface="Calibri"/>
                        </a:rPr>
                        <a:t>Search, pick lists, derived kinds, impact, links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the day's column set: id and every promoted column, never doc</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every field a search filters, sorts or shows promoted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658368">
                <a:tc>
                  <a:txBody>
                    <a:bodyPr wrap="square"/>
                    <a:lstStyle/>
                    <a:p>
                      <a:r>
                        <a:rPr sz="1200" b="1" i="0">
                          <a:solidFill>
                            <a:srgbClr val="1C2433"/>
                          </a:solidFill>
                          <a:latin typeface="Calibri"/>
                        </a:rPr>
                        <a:t>A date's vectors (VaR, exposure)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one vector column and a few text columns, streamed file by file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layout.&lt;kind&gt;.vectors</a:t>
                      </a:r>
                      <a:r>
                        <a:rPr sz="1200" b="0" i="0">
                          <a:solidFill>
                            <a:srgbClr val="1C2433"/>
                          </a:solidFill>
                          <a:latin typeface="Calibri"/>
                        </a:rPr>
                        <a:t>; whole dates, no deletion vectors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658368">
                <a:tc>
                  <a:txBody>
                    <a:bodyPr wrap="square"/>
                    <a:lstStyle/>
                    <a:p>
                      <a:r>
                        <a:rPr sz="1200" b="1" i="0">
                          <a:solidFill>
                            <a:srgbClr val="1C2433"/>
                          </a:solidFill>
                          <a:latin typeface="Calibri"/>
                        </a:rPr>
                        <a:t>File skipping</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per-file min/max in the log; per-row-group min/max in the footer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delta.dataSkippingStatsColumns</a:t>
                      </a:r>
                      <a:r>
                        <a:rPr sz="1200" b="0" i="0">
                          <a:solidFill>
                            <a:srgbClr val="1C2433"/>
                          </a:solidFill>
                          <a:latin typeface="Calibri"/>
                        </a:rPr>
                        <a:t> = id, business_date, promoted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Number"/>
          <p:cNvSpPr txBox="1"/>
          <p:nvPr/>
        </p:nvSpPr>
        <p:spPr>
          <a:xfrm>
            <a:off x="4754880" y="-822960"/>
            <a:ext cx="7223760" cy="7863840"/>
          </a:xfrm>
          <a:prstGeom prst="rect">
            <a:avLst/>
          </a:prstGeom>
          <a:noFill/>
        </p:spPr>
        <p:txBody>
          <a:bodyPr wrap="square" lIns="0" rIns="0" tIns="0" bIns="0" anchor="ctr">
            <a:spAutoFit/>
          </a:bodyPr>
          <a:lstStyle/>
          <a:p>
            <a:pPr algn="r">
              <a:spcAft>
                <a:spcPts val="600"/>
              </a:spcAft>
              <a:buNone/>
            </a:pPr>
            <a:r>
              <a:rPr sz="42000" b="1" i="0">
                <a:solidFill>
                  <a:srgbClr val="1C3560"/>
                </a:solidFill>
                <a:latin typeface="Calibri"/>
              </a:rPr>
              <a:t>07</a:t>
            </a:r>
          </a:p>
        </p:txBody>
      </p:sp>
      <p:sp>
        <p:nvSpPr>
          <p:cNvPr id="4" name="Title"/>
          <p:cNvSpPr txBox="1"/>
          <p:nvPr/>
        </p:nvSpPr>
        <p:spPr>
          <a:xfrm>
            <a:off x="822960" y="2514600"/>
            <a:ext cx="6949440" cy="1828800"/>
          </a:xfrm>
          <a:prstGeom prst="rect">
            <a:avLst/>
          </a:prstGeom>
          <a:noFill/>
        </p:spPr>
        <p:txBody>
          <a:bodyPr wrap="square" lIns="0" rIns="0" tIns="0" bIns="0" anchor="ctr">
            <a:spAutoFit/>
          </a:bodyPr>
          <a:lstStyle/>
          <a:p>
            <a:pPr algn="l">
              <a:spcAft>
                <a:spcPts val="600"/>
              </a:spcAft>
              <a:buNone/>
            </a:pPr>
            <a:r>
              <a:rPr sz="4400" b="1" i="0">
                <a:solidFill>
                  <a:srgbClr val="FFFFFF"/>
                </a:solidFill>
                <a:latin typeface="Calibri"/>
              </a:rPr>
              <a:t>Files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7.1 The numbers</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7</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41</a:t>
            </a:r>
          </a:p>
        </p:txBody>
      </p:sp>
      <p:graphicFrame>
        <p:nvGraphicFramePr>
          <p:cNvPr id="9" name="Table"/>
          <p:cNvGraphicFramePr>
            <a:graphicFrameLocks noGrp="1"/>
          </p:cNvGraphicFramePr>
          <p:nvPr/>
        </p:nvGraphicFramePr>
        <p:xfrm>
          <a:off x="411480" y="1188720"/>
          <a:ext cx="11365992" cy="4828032"/>
        </p:xfrm>
        <a:graphic>
          <a:graphicData uri="http://schemas.openxmlformats.org/drawingml/2006/table">
            <a:tbl>
              <a:tblPr firstRow="0" bandRow="0">
                <a:tableStyleId>{5940675A-B579-460E-94D1-54222C63F5DA}</a:tableStyleId>
              </a:tblPr>
              <a:tblGrid>
                <a:gridCol w="2103120"/>
                <a:gridCol w="4206240"/>
                <a:gridCol w="5056632"/>
              </a:tblGrid>
              <a:tr h="603504">
                <a:tc>
                  <a:txBody>
                    <a:bodyPr wrap="square"/>
                    <a:lstStyle/>
                    <a:p>
                      <a:r>
                        <a:rPr sz="1200" b="1" i="0">
                          <a:solidFill>
                            <a:srgbClr val="FFFFFF"/>
                          </a:solidFill>
                          <a:latin typeface="Calibri"/>
                        </a:rPr>
                        <a:t>Setting</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Value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Why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603504">
                <a:tc>
                  <a:txBody>
                    <a:bodyPr wrap="square"/>
                    <a:lstStyle/>
                    <a:p>
                      <a:r>
                        <a:rPr sz="1200" b="1" i="0">
                          <a:solidFill>
                            <a:srgbClr val="1C2433"/>
                          </a:solidFill>
                          <a:latin typeface="Calibri"/>
                        </a:rPr>
                        <a:t>Rows per file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layout.&lt;kind&gt;.file-rows</a:t>
                      </a:r>
                      <a:r>
                        <a:rPr sz="1200" b="0" i="0">
                          <a:solidFill>
                            <a:srgbClr val="1C2433"/>
                          </a:solidFill>
                          <a:latin typeface="Calibri"/>
                        </a:rPr>
                        <a:t> (250,000)</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few files per day, each large enough for S3 (hundreds of MB)</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603504">
                <a:tc>
                  <a:txBody>
                    <a:bodyPr wrap="square"/>
                    <a:lstStyle/>
                    <a:p>
                      <a:r>
                        <a:rPr sz="1200" b="1" i="0">
                          <a:solidFill>
                            <a:srgbClr val="1C2433"/>
                          </a:solidFill>
                          <a:latin typeface="Calibri"/>
                        </a:rPr>
                        <a:t>Row group</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1 MB (</a:t>
                      </a:r>
                      <a:r>
                        <a:rPr sz="1100" b="0" i="0">
                          <a:solidFill>
                            <a:srgbClr val="0E7C86"/>
                          </a:solidFill>
                          <a:latin typeface="Consolas"/>
                        </a:rPr>
                        <a:t>LAKE_ROW_GROUP_KB=1024</a:t>
                      </a:r>
                      <a:r>
                        <a:rPr sz="1200" b="0" i="0">
                          <a:solidFill>
                            <a:srgbClr val="1C2433"/>
                          </a:solidFill>
                          <a:latin typeface="Calibri"/>
                        </a:rPr>
                        <a:t>; writer default 256 KB)</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a single read fetches one row group: 1 MB balances bytes against 10–30 ms GETs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603504">
                <a:tc>
                  <a:txBody>
                    <a:bodyPr wrap="square"/>
                    <a:lstStyle/>
                    <a:p>
                      <a:r>
                        <a:rPr sz="1200" b="1" i="0">
                          <a:solidFill>
                            <a:srgbClr val="1C2433"/>
                          </a:solidFill>
                          <a:latin typeface="Calibri"/>
                        </a:rPr>
                        <a:t>Compression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Snappy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the native engine also reads ZSTD, GZIP, LZ4_RAW</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603504">
                <a:tc>
                  <a:txBody>
                    <a:bodyPr wrap="square"/>
                    <a:lstStyle/>
                    <a:p>
                      <a:r>
                        <a:rPr sz="1200" b="1" i="0">
                          <a:solidFill>
                            <a:srgbClr val="1C2433"/>
                          </a:solidFill>
                          <a:latin typeface="Calibri"/>
                        </a:rPr>
                        <a:t>Statistics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id, business_date, promoted columns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file and row-group skipping without documents in the log</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603504">
                <a:tc>
                  <a:txBody>
                    <a:bodyPr wrap="square"/>
                    <a:lstStyle/>
                    <a:p>
                      <a:r>
                        <a:rPr sz="1200" b="1" i="0">
                          <a:solidFill>
                            <a:srgbClr val="1C2433"/>
                          </a:solidFill>
                          <a:latin typeface="Calibri"/>
                        </a:rPr>
                        <a:t>Checkpoint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every 10 commits and after every maintenance run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a reader replays the last checkpoint plus a few commits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603504">
                <a:tc>
                  <a:txBody>
                    <a:bodyPr wrap="square"/>
                    <a:lstStyle/>
                    <a:p>
                      <a:r>
                        <a:rPr sz="1200" b="1" i="0">
                          <a:solidFill>
                            <a:srgbClr val="1C2433"/>
                          </a:solidFill>
                          <a:latin typeface="Calibri"/>
                        </a:rPr>
                        <a:t>Log retention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30 days (</a:t>
                      </a:r>
                      <a:r>
                        <a:rPr sz="1100" b="0" i="0">
                          <a:solidFill>
                            <a:srgbClr val="0E7C86"/>
                          </a:solidFill>
                          <a:latin typeface="Consolas"/>
                        </a:rPr>
                        <a:t>delta.logRetentionDuration</a:t>
                      </a:r>
                      <a:r>
                        <a:rPr sz="1200" b="0" i="0">
                          <a:solidFill>
                            <a:srgbClr val="1C2433"/>
                          </a:solidFill>
                          <a:latin typeface="Calibri"/>
                        </a:rPr>
                        <a:t>); </a:t>
                      </a:r>
                      <a:r>
                        <a:rPr sz="1200" b="1" i="0">
                          <a:solidFill>
                            <a:srgbClr val="1C2433"/>
                          </a:solidFill>
                          <a:latin typeface="Calibri"/>
                        </a:rPr>
                        <a:t>7 years for risk</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older commit files removed by </a:t>
                      </a:r>
                      <a:r>
                        <a:rPr sz="1100" b="0" i="0">
                          <a:solidFill>
                            <a:srgbClr val="0E7C86"/>
                          </a:solidFill>
                          <a:latin typeface="Consolas"/>
                        </a:rPr>
                        <a:t>lake maintain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603504">
                <a:tc>
                  <a:txBody>
                    <a:bodyPr wrap="square"/>
                    <a:lstStyle/>
                    <a:p>
                      <a:r>
                        <a:rPr sz="1200" b="1" i="0">
                          <a:solidFill>
                            <a:srgbClr val="1C2433"/>
                          </a:solidFill>
                          <a:latin typeface="Calibri"/>
                        </a:rPr>
                        <a:t>Removed files kept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7 days (</a:t>
                      </a:r>
                      <a:r>
                        <a:rPr sz="1100" b="0" i="0">
                          <a:solidFill>
                            <a:srgbClr val="0E7C86"/>
                          </a:solidFill>
                          <a:latin typeface="Consolas"/>
                        </a:rPr>
                        <a:t>LAKE_VACUUM_HOURS</a:t>
                      </a:r>
                      <a:r>
                        <a:rPr sz="1200" b="0" i="0">
                          <a:solidFill>
                            <a:srgbClr val="1C2433"/>
                          </a:solidFill>
                          <a:latin typeface="Calibri"/>
                        </a:rPr>
                        <a:t> 168); </a:t>
                      </a:r>
                      <a:r>
                        <a:rPr sz="1200" b="1" i="0">
                          <a:solidFill>
                            <a:srgbClr val="1C2433"/>
                          </a:solidFill>
                          <a:latin typeface="Calibri"/>
                        </a:rPr>
                        <a:t>7 years for risk</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readers in flight and *known at* reach back a week (risk: 7 years)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bl>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7.2 Sorted by id</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7</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42</a:t>
            </a:r>
          </a:p>
        </p:txBody>
      </p:sp>
      <p:sp>
        <p:nvSpPr>
          <p:cNvPr id="9" name="TextBox 8"/>
          <p:cNvSpPr txBox="1"/>
          <p:nvPr/>
        </p:nvSpPr>
        <p:spPr>
          <a:xfrm>
            <a:off x="411480" y="1188720"/>
            <a:ext cx="6400800" cy="3017520"/>
          </a:xfrm>
          <a:prstGeom prst="rect">
            <a:avLst/>
          </a:prstGeom>
          <a:noFill/>
        </p:spPr>
        <p:txBody>
          <a:bodyPr wrap="square" lIns="0" rIns="0" tIns="0" bIns="0" anchor="t">
            <a:spAutoFit/>
          </a:bodyPr>
          <a:lstStyle/>
          <a:p>
            <a:pPr algn="l" marL="201168" indent="-201168">
              <a:spcAft>
                <a:spcPts val="800"/>
              </a:spcAft>
              <a:buClr>
                <a:srgbClr val="E87A1E"/>
              </a:buClr>
              <a:buSzPct val="100000"/>
              <a:buFont typeface="Arial"/>
              <a:buChar char="•"/>
            </a:pPr>
            <a:r>
              <a:rPr sz="1400" b="0" i="0">
                <a:solidFill>
                  <a:srgbClr val="1C2433"/>
                </a:solidFill>
                <a:latin typeface="Calibri"/>
              </a:rPr>
              <a:t>A file holds a contiguous id range and each row group a smaller one: a read of one id skips every other row group by its statistics</a:t>
            </a:r>
          </a:p>
          <a:p>
            <a:pPr algn="l" marL="201168" indent="-201168">
              <a:spcAft>
                <a:spcPts val="800"/>
              </a:spcAft>
              <a:buClr>
                <a:srgbClr val="E87A1E"/>
              </a:buClr>
              <a:buSzPct val="100000"/>
              <a:buFont typeface="Arial"/>
              <a:buChar char="•"/>
            </a:pPr>
            <a:r>
              <a:rPr sz="1300" b="0" i="0">
                <a:solidFill>
                  <a:srgbClr val="0E7C86"/>
                </a:solidFill>
                <a:latin typeface="Consolas"/>
              </a:rPr>
              <a:t>lake build</a:t>
            </a:r>
            <a:r>
              <a:rPr sz="1400" b="0" i="0">
                <a:solidFill>
                  <a:srgbClr val="1C2433"/>
                </a:solidFill>
                <a:latin typeface="Calibri"/>
              </a:rPr>
              <a:t> sorts each partition (date × product type) that fits one batch (</a:t>
            </a:r>
            <a:r>
              <a:rPr sz="1300" b="0" i="0">
                <a:solidFill>
                  <a:srgbClr val="0E7C86"/>
                </a:solidFill>
                <a:latin typeface="Consolas"/>
              </a:rPr>
              <a:t>LAKE_BATCH_ROWS</a:t>
            </a:r>
            <a:r>
              <a:rPr sz="1400" b="0" i="0">
                <a:solidFill>
                  <a:srgbClr val="1C2433"/>
                </a:solidFill>
                <a:latin typeface="Calibri"/>
              </a:rPr>
              <a:t>, 250,000)</a:t>
            </a:r>
          </a:p>
          <a:p>
            <a:pPr algn="l" marL="201168" indent="-201168">
              <a:spcAft>
                <a:spcPts val="800"/>
              </a:spcAft>
              <a:buClr>
                <a:srgbClr val="E87A1E"/>
              </a:buClr>
              <a:buSzPct val="100000"/>
              <a:buFont typeface="Arial"/>
              <a:buChar char="•"/>
            </a:pPr>
            <a:r>
              <a:rPr sz="1400" b="0" i="0">
                <a:solidFill>
                  <a:srgbClr val="1C2433"/>
                </a:solidFill>
                <a:latin typeface="Calibri"/>
              </a:rPr>
              <a:t>A larger partition is written in the dumps' order; load-day.sh prints a warning for each</a:t>
            </a:r>
          </a:p>
          <a:p>
            <a:pPr algn="l" marL="201168" indent="-201168">
              <a:spcAft>
                <a:spcPts val="800"/>
              </a:spcAft>
              <a:buClr>
                <a:srgbClr val="E87A1E"/>
              </a:buClr>
              <a:buSzPct val="100000"/>
              <a:buFont typeface="Arial"/>
              <a:buChar char="•"/>
            </a:pPr>
            <a:r>
              <a:rPr sz="1400" b="0" i="0">
                <a:solidFill>
                  <a:srgbClr val="1C2433"/>
                </a:solidFill>
                <a:latin typeface="Calibri"/>
              </a:rPr>
              <a:t>A table written elsewhere (Spark): </a:t>
            </a:r>
            <a:r>
              <a:rPr sz="1300" b="0" i="0">
                <a:solidFill>
                  <a:srgbClr val="0E7C86"/>
                </a:solidFill>
                <a:latin typeface="Consolas"/>
              </a:rPr>
              <a:t>repartitionByRange(…, "id").sortWithinPartitions("id")</a:t>
            </a:r>
          </a:p>
        </p:txBody>
      </p:sp>
      <p:sp>
        <p:nvSpPr>
          <p:cNvPr id="10" name="Callout"/>
          <p:cNvSpPr/>
          <p:nvPr/>
        </p:nvSpPr>
        <p:spPr>
          <a:xfrm>
            <a:off x="7040880" y="1188720"/>
            <a:ext cx="4736592" cy="3017520"/>
          </a:xfrm>
          <a:prstGeom prst="roundRect">
            <a:avLst>
              <a:gd name="adj" fmla="val 6000"/>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allout edge"/>
          <p:cNvSpPr/>
          <p:nvPr/>
        </p:nvSpPr>
        <p:spPr>
          <a:xfrm>
            <a:off x="7040880" y="1207008"/>
            <a:ext cx="82296" cy="2980944"/>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7269480" y="1261872"/>
            <a:ext cx="4370831" cy="2871215"/>
          </a:xfrm>
          <a:prstGeom prst="rect">
            <a:avLst/>
          </a:prstGeom>
          <a:noFill/>
        </p:spPr>
        <p:txBody>
          <a:bodyPr wrap="square" lIns="0" rIns="0" tIns="0" bIns="0" anchor="t">
            <a:spAutoFit/>
          </a:bodyPr>
          <a:lstStyle/>
          <a:p>
            <a:pPr algn="l">
              <a:spcAft>
                <a:spcPts val="600"/>
              </a:spcAft>
              <a:buNone/>
            </a:pPr>
            <a:r>
              <a:rPr sz="1400" b="1" i="0">
                <a:solidFill>
                  <a:srgbClr val="1C2433"/>
                </a:solidFill>
                <a:latin typeface="Calibri"/>
              </a:rPr>
              <a:t>Three remedies, in order of preference</a:t>
            </a:r>
          </a:p>
          <a:p>
            <a:pPr algn="l">
              <a:spcAft>
                <a:spcPts val="600"/>
              </a:spcAft>
              <a:buNone/>
            </a:pPr>
            <a:r>
              <a:rPr sz="1300" b="0" i="0">
                <a:solidFill>
                  <a:srgbClr val="1C2433"/>
                </a:solidFill>
                <a:latin typeface="Calibri"/>
              </a:rPr>
              <a:t>1. </a:t>
            </a:r>
            <a:r>
              <a:rPr sz="1300" b="1" i="0">
                <a:solidFill>
                  <a:srgbClr val="1C2433"/>
                </a:solidFill>
                <a:latin typeface="Calibri"/>
              </a:rPr>
              <a:t>Ask the source to export sorted by id.</a:t>
            </a:r>
            <a:r>
              <a:rPr sz="1300" b="0" i="0">
                <a:solidFill>
                  <a:srgbClr val="1C2433"/>
                </a:solidFill>
                <a:latin typeface="Calibri"/>
              </a:rPr>
              <a:t> The JSON Lines order becomes the file's order: sorted at any size, no memory cost (the demo's </a:t>
            </a:r>
            <a:r>
              <a:rPr sz="1200" b="0" i="0">
                <a:solidFill>
                  <a:srgbClr val="0E7C86"/>
                </a:solidFill>
                <a:latin typeface="Consolas"/>
              </a:rPr>
              <a:t>bulk_trades.py</a:t>
            </a:r>
            <a:r>
              <a:rPr sz="1300" b="0" i="0">
                <a:solidFill>
                  <a:srgbClr val="1C2433"/>
                </a:solidFill>
                <a:latin typeface="Calibri"/>
              </a:rPr>
              <a:t> does so since 2.9.4).</a:t>
            </a:r>
          </a:p>
          <a:p>
            <a:pPr algn="l">
              <a:spcAft>
                <a:spcPts val="600"/>
              </a:spcAft>
              <a:buNone/>
            </a:pPr>
            <a:r>
              <a:rPr sz="1300" b="0" i="0">
                <a:solidFill>
                  <a:srgbClr val="1C2433"/>
                </a:solidFill>
                <a:latin typeface="Calibri"/>
              </a:rPr>
              <a:t>2. </a:t>
            </a:r>
            <a:r>
              <a:rPr sz="1300" b="1" i="0">
                <a:solidFill>
                  <a:srgbClr val="1C2433"/>
                </a:solidFill>
                <a:latin typeface="Calibri"/>
              </a:rPr>
              <a:t>Partition finer</a:t>
            </a:r>
            <a:r>
              <a:rPr sz="1300" b="0" i="0">
                <a:solidFill>
                  <a:srgbClr val="1C2433"/>
                </a:solidFill>
                <a:latin typeface="Calibri"/>
              </a:rPr>
              <a:t> (</a:t>
            </a:r>
            <a:r>
              <a:rPr sz="1200" b="0" i="0">
                <a:solidFill>
                  <a:srgbClr val="0E7C86"/>
                </a:solidFill>
                <a:latin typeface="Consolas"/>
              </a:rPr>
              <a:t>PRODUCT_TYPE</a:t>
            </a:r>
            <a:r>
              <a:rPr sz="1300" b="0" i="0">
                <a:solidFill>
                  <a:srgbClr val="1C2433"/>
                </a:solidFill>
                <a:latin typeface="Calibri"/>
              </a:rPr>
              <a:t>, or a book or desk column) so each partition fits a batch.</a:t>
            </a:r>
          </a:p>
          <a:p>
            <a:pPr algn="l">
              <a:spcAft>
                <a:spcPts val="600"/>
              </a:spcAft>
              <a:buNone/>
            </a:pPr>
            <a:r>
              <a:rPr sz="1300" b="0" i="0">
                <a:solidFill>
                  <a:srgbClr val="1C2433"/>
                </a:solidFill>
                <a:latin typeface="Calibri"/>
              </a:rPr>
              <a:t>3. </a:t>
            </a:r>
            <a:r>
              <a:rPr sz="1300" b="1" i="0">
                <a:solidFill>
                  <a:srgbClr val="1C2433"/>
                </a:solidFill>
                <a:latin typeface="Calibri"/>
              </a:rPr>
              <a:t>Raise </a:t>
            </a:r>
            <a:r>
              <a:rPr sz="1200" b="1" i="0">
                <a:solidFill>
                  <a:srgbClr val="0E7C86"/>
                </a:solidFill>
                <a:latin typeface="Consolas"/>
              </a:rPr>
              <a:t>LAKE_BATCH_ROWS</a:t>
            </a:r>
            <a:r>
              <a:rPr sz="1300" b="0" i="0">
                <a:solidFill>
                  <a:srgbClr val="1C2433"/>
                </a:solidFill>
                <a:latin typeface="Calibri"/>
              </a:rPr>
              <a:t> with the loader's memory: rows × document size × 3; 250,000 trades of 10 KB ≈ 8 GB; the loader has 30 GB.</a:t>
            </a:r>
          </a:p>
        </p:txBody>
      </p:sp>
      <p:sp>
        <p:nvSpPr>
          <p:cNvPr id="13" name="Callout"/>
          <p:cNvSpPr/>
          <p:nvPr/>
        </p:nvSpPr>
        <p:spPr>
          <a:xfrm>
            <a:off x="411480" y="3429000"/>
            <a:ext cx="6400800" cy="914400"/>
          </a:xfrm>
          <a:prstGeom prst="roundRect">
            <a:avLst>
              <a:gd name="adj" fmla="val 6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Callout edge"/>
          <p:cNvSpPr/>
          <p:nvPr/>
        </p:nvSpPr>
        <p:spPr>
          <a:xfrm>
            <a:off x="411480" y="3447288"/>
            <a:ext cx="82296" cy="87782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xtBox 14"/>
          <p:cNvSpPr txBox="1"/>
          <p:nvPr/>
        </p:nvSpPr>
        <p:spPr>
          <a:xfrm>
            <a:off x="640080" y="3502152"/>
            <a:ext cx="6035040" cy="768096"/>
          </a:xfrm>
          <a:prstGeom prst="rect">
            <a:avLst/>
          </a:prstGeom>
          <a:noFill/>
        </p:spPr>
        <p:txBody>
          <a:bodyPr wrap="square" lIns="0" rIns="0" tIns="0" bIns="0" anchor="ctr">
            <a:spAutoFit/>
          </a:bodyPr>
          <a:lstStyle/>
          <a:p>
            <a:pPr algn="l">
              <a:spcAft>
                <a:spcPts val="600"/>
              </a:spcAft>
              <a:buNone/>
            </a:pPr>
            <a:r>
              <a:rPr sz="1300" b="0" i="0">
                <a:solidFill>
                  <a:srgbClr val="1C2433"/>
                </a:solidFill>
                <a:latin typeface="Calibri"/>
              </a:rPr>
              <a:t>DESIGNED (SUPER_SCALE S1): range maps from the log's per-file id ranges instead of id maps, and Parquet Bloom filters on id.</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7.3 One commit per day per table</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7</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43</a:t>
            </a:r>
          </a:p>
        </p:txBody>
      </p:sp>
      <p:sp>
        <p:nvSpPr>
          <p:cNvPr id="9" name="Rounded Rectangle 8"/>
          <p:cNvSpPr/>
          <p:nvPr/>
        </p:nvSpPr>
        <p:spPr>
          <a:xfrm>
            <a:off x="411480" y="1188720"/>
            <a:ext cx="3520440" cy="141732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TextBox 9"/>
          <p:cNvSpPr txBox="1"/>
          <p:nvPr/>
        </p:nvSpPr>
        <p:spPr>
          <a:xfrm>
            <a:off x="502920" y="1234440"/>
            <a:ext cx="333756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lake build</a:t>
            </a:r>
          </a:p>
        </p:txBody>
      </p:sp>
      <p:sp>
        <p:nvSpPr>
          <p:cNvPr id="11" name="TextBox 10"/>
          <p:cNvSpPr txBox="1"/>
          <p:nvPr/>
        </p:nvSpPr>
        <p:spPr>
          <a:xfrm>
            <a:off x="502920" y="1554480"/>
            <a:ext cx="3337560" cy="100584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300" b="0" i="0">
                <a:solidFill>
                  <a:srgbClr val="1C2433"/>
                </a:solidFill>
                <a:latin typeface="Calibri"/>
              </a:rPr>
              <a:t>writes the day into a FRESH scratch table on EFS: every file there is live</a:t>
            </a:r>
          </a:p>
        </p:txBody>
      </p:sp>
      <p:cxnSp>
        <p:nvCxnSpPr>
          <p:cNvPr id="12" name="Connector 11"/>
          <p:cNvCxnSpPr/>
          <p:nvPr/>
        </p:nvCxnSpPr>
        <p:spPr>
          <a:xfrm>
            <a:off x="3931920" y="1892807"/>
            <a:ext cx="402336" cy="0"/>
          </a:xfrm>
          <a:prstGeom prst="line">
            <a:avLst/>
          </a:prstGeom>
          <a:ln w="19050">
            <a:solidFill>
              <a:srgbClr val="E87A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334256" y="1188720"/>
            <a:ext cx="3520440" cy="141732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4425696" y="1234440"/>
            <a:ext cx="333756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aws s3 sync</a:t>
            </a:r>
          </a:p>
        </p:txBody>
      </p:sp>
      <p:sp>
        <p:nvSpPr>
          <p:cNvPr id="15" name="TextBox 14"/>
          <p:cNvSpPr txBox="1"/>
          <p:nvPr/>
        </p:nvSpPr>
        <p:spPr>
          <a:xfrm>
            <a:off x="4425696" y="1554480"/>
            <a:ext cx="3337560" cy="100584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300" b="0" i="0">
                <a:solidFill>
                  <a:srgbClr val="1C2433"/>
                </a:solidFill>
                <a:latin typeface="Calibri"/>
              </a:rPr>
              <a:t>copies the data files to S3: new UUID names, nothing in S3 is overwritten</a:t>
            </a:r>
          </a:p>
        </p:txBody>
      </p:sp>
      <p:cxnSp>
        <p:nvCxnSpPr>
          <p:cNvPr id="16" name="Connector 15"/>
          <p:cNvCxnSpPr/>
          <p:nvPr/>
        </p:nvCxnSpPr>
        <p:spPr>
          <a:xfrm>
            <a:off x="7854696" y="1892807"/>
            <a:ext cx="402336" cy="0"/>
          </a:xfrm>
          <a:prstGeom prst="line">
            <a:avLst/>
          </a:prstGeom>
          <a:ln w="19050">
            <a:solidFill>
              <a:srgbClr val="E87A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257032" y="1188720"/>
            <a:ext cx="3520440" cy="141732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xtBox 17"/>
          <p:cNvSpPr txBox="1"/>
          <p:nvPr/>
        </p:nvSpPr>
        <p:spPr>
          <a:xfrm>
            <a:off x="8348472" y="1234440"/>
            <a:ext cx="333756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lake publish</a:t>
            </a:r>
          </a:p>
        </p:txBody>
      </p:sp>
      <p:sp>
        <p:nvSpPr>
          <p:cNvPr id="19" name="TextBox 18"/>
          <p:cNvSpPr txBox="1"/>
          <p:nvPr/>
        </p:nvSpPr>
        <p:spPr>
          <a:xfrm>
            <a:off x="8348472" y="1554480"/>
            <a:ext cx="3337560" cy="100584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300" b="0" i="0">
                <a:solidFill>
                  <a:srgbClr val="1C2433"/>
                </a:solidFill>
                <a:latin typeface="Calibri"/>
              </a:rPr>
              <a:t>ONE commit that adds the new files and removes the day's previous files</a:t>
            </a:r>
          </a:p>
        </p:txBody>
      </p:sp>
      <p:sp>
        <p:nvSpPr>
          <p:cNvPr id="20" name="TextBox 19"/>
          <p:cNvSpPr txBox="1"/>
          <p:nvPr/>
        </p:nvSpPr>
        <p:spPr>
          <a:xfrm>
            <a:off x="411480" y="2880360"/>
            <a:ext cx="11365992" cy="2103120"/>
          </a:xfrm>
          <a:prstGeom prst="rect">
            <a:avLst/>
          </a:prstGeom>
          <a:noFill/>
        </p:spPr>
        <p:txBody>
          <a:bodyPr wrap="square" lIns="0" rIns="0" tIns="0" bIns="0" anchor="t">
            <a:spAutoFit/>
          </a:bodyPr>
          <a:lstStyle/>
          <a:p>
            <a:pPr algn="l" marL="201168" indent="-201168">
              <a:spcAft>
                <a:spcPts val="700"/>
              </a:spcAft>
              <a:buClr>
                <a:srgbClr val="E87A1E"/>
              </a:buClr>
              <a:buSzPct val="100000"/>
              <a:buFont typeface="Arial"/>
              <a:buChar char="•"/>
            </a:pPr>
            <a:r>
              <a:rPr sz="1400" b="0" i="0">
                <a:solidFill>
                  <a:srgbClr val="1C2433"/>
                </a:solidFill>
                <a:latin typeface="Calibri"/>
              </a:rPr>
              <a:t>A reader sees </a:t>
            </a:r>
            <a:r>
              <a:rPr sz="1400" b="1" i="0">
                <a:solidFill>
                  <a:srgbClr val="1C2433"/>
                </a:solidFill>
                <a:latin typeface="Calibri"/>
              </a:rPr>
              <a:t>the old day or the new day, never a mixture</a:t>
            </a:r>
          </a:p>
          <a:p>
            <a:pPr algn="l" marL="201168" indent="-201168">
              <a:spcAft>
                <a:spcPts val="700"/>
              </a:spcAft>
              <a:buClr>
                <a:srgbClr val="E87A1E"/>
              </a:buClr>
              <a:buSzPct val="100000"/>
              <a:buFont typeface="Arial"/>
              <a:buChar char="•"/>
            </a:pPr>
            <a:r>
              <a:rPr sz="1400" b="0" i="0">
                <a:solidFill>
                  <a:srgbClr val="1C2433"/>
                </a:solidFill>
                <a:latin typeface="Calibri"/>
              </a:rPr>
              <a:t>The previous version stays readable (time travel, *known at*) until vacuum (</a:t>
            </a:r>
            <a:r>
              <a:rPr sz="1300" b="0" i="0">
                <a:solidFill>
                  <a:srgbClr val="0E7C86"/>
                </a:solidFill>
                <a:latin typeface="Consolas"/>
              </a:rPr>
              <a:t>LAKE_VACUUM_HOURS</a:t>
            </a:r>
            <a:r>
              <a:rPr sz="1400" b="0" i="0">
                <a:solidFill>
                  <a:srgbClr val="1C2433"/>
                </a:solidFill>
                <a:latin typeface="Calibri"/>
              </a:rPr>
              <a:t>, 168 h; 7 years for risk)</a:t>
            </a:r>
          </a:p>
          <a:p>
            <a:pPr algn="l" marL="201168" indent="-201168">
              <a:spcAft>
                <a:spcPts val="700"/>
              </a:spcAft>
              <a:buClr>
                <a:srgbClr val="E87A1E"/>
              </a:buClr>
              <a:buSzPct val="100000"/>
              <a:buFont typeface="Arial"/>
              <a:buChar char="•"/>
            </a:pPr>
            <a:r>
              <a:rPr sz="1400" b="0" i="0">
                <a:solidFill>
                  <a:srgbClr val="1C2433"/>
                </a:solidFill>
                <a:latin typeface="Calibri"/>
              </a:rPr>
              <a:t>One commit per table per day ⇒ about </a:t>
            </a:r>
            <a:r>
              <a:rPr sz="1400" b="1" i="0">
                <a:solidFill>
                  <a:srgbClr val="1C2433"/>
                </a:solidFill>
                <a:latin typeface="Calibri"/>
              </a:rPr>
              <a:t>1,500 commits a year per table</a:t>
            </a:r>
            <a:r>
              <a:rPr sz="1400" b="0" i="0">
                <a:solidFill>
                  <a:srgbClr val="1C2433"/>
                </a:solidFill>
                <a:latin typeface="Calibri"/>
              </a:rPr>
              <a:t> including maintenance</a:t>
            </a:r>
          </a:p>
          <a:p>
            <a:pPr algn="l" marL="201168" indent="-201168">
              <a:spcAft>
                <a:spcPts val="700"/>
              </a:spcAft>
              <a:buClr>
                <a:srgbClr val="E87A1E"/>
              </a:buClr>
              <a:buSzPct val="100000"/>
              <a:buFont typeface="Arial"/>
              <a:buChar char="•"/>
            </a:pPr>
            <a:r>
              <a:rPr sz="1300" b="0" i="0">
                <a:solidFill>
                  <a:srgbClr val="0E7C86"/>
                </a:solidFill>
                <a:latin typeface="Consolas"/>
              </a:rPr>
              <a:t>lake publish</a:t>
            </a:r>
            <a:r>
              <a:rPr sz="1400" b="0" i="0">
                <a:solidFill>
                  <a:srgbClr val="1C2433"/>
                </a:solidFill>
                <a:latin typeface="Calibri"/>
              </a:rPr>
              <a:t> checks every file is in S3 before committing (on the store it commits to, since 2.7.0) and refuses a change of columns</a:t>
            </a:r>
          </a:p>
        </p:txBody>
      </p:sp>
      <p:sp>
        <p:nvSpPr>
          <p:cNvPr id="21" name="Callout"/>
          <p:cNvSpPr/>
          <p:nvPr/>
        </p:nvSpPr>
        <p:spPr>
          <a:xfrm>
            <a:off x="411480" y="5120640"/>
            <a:ext cx="11365992" cy="1188720"/>
          </a:xfrm>
          <a:prstGeom prst="roundRect">
            <a:avLst>
              <a:gd name="adj" fmla="val 6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Callout edge"/>
          <p:cNvSpPr/>
          <p:nvPr/>
        </p:nvSpPr>
        <p:spPr>
          <a:xfrm>
            <a:off x="411480" y="5138927"/>
            <a:ext cx="82296" cy="115214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xtBox 22"/>
          <p:cNvSpPr txBox="1"/>
          <p:nvPr/>
        </p:nvSpPr>
        <p:spPr>
          <a:xfrm>
            <a:off x="640080" y="5193792"/>
            <a:ext cx="11000232" cy="1042416"/>
          </a:xfrm>
          <a:prstGeom prst="rect">
            <a:avLst/>
          </a:prstGeom>
          <a:noFill/>
        </p:spPr>
        <p:txBody>
          <a:bodyPr wrap="square" lIns="0" rIns="0" tIns="0" bIns="0" anchor="ctr">
            <a:spAutoFit/>
          </a:bodyPr>
          <a:lstStyle/>
          <a:p>
            <a:pPr algn="l">
              <a:spcAft>
                <a:spcPts val="600"/>
              </a:spcAft>
              <a:buNone/>
            </a:pPr>
            <a:r>
              <a:rPr sz="1300" b="0" i="0">
                <a:solidFill>
                  <a:srgbClr val="1C2433"/>
                </a:solidFill>
                <a:latin typeface="Calibri"/>
              </a:rPr>
              <a:t>Since 2.6.7 </a:t>
            </a:r>
            <a:r>
              <a:rPr sz="1200" b="0" i="0">
                <a:solidFill>
                  <a:srgbClr val="0E7C86"/>
                </a:solidFill>
                <a:latin typeface="Consolas"/>
              </a:rPr>
              <a:t>lake build</a:t>
            </a:r>
            <a:r>
              <a:rPr sz="1300" b="0" i="0">
                <a:solidFill>
                  <a:srgbClr val="1C2433"/>
                </a:solidFill>
                <a:latin typeface="Calibri"/>
              </a:rPr>
              <a:t> and </a:t>
            </a:r>
            <a:r>
              <a:rPr sz="1200" b="0" i="0">
                <a:solidFill>
                  <a:srgbClr val="0E7C86"/>
                </a:solidFill>
                <a:latin typeface="Consolas"/>
              </a:rPr>
              <a:t>lake demo</a:t>
            </a:r>
            <a:r>
              <a:rPr sz="1300" b="0" i="0">
                <a:solidFill>
                  <a:srgbClr val="1C2433"/>
                </a:solidFill>
                <a:latin typeface="Calibri"/>
              </a:rPr>
              <a:t> make one commit per business date (not per partition): sixty days of </a:t>
            </a:r>
            <a:r>
              <a:rPr sz="1200" b="0" i="0">
                <a:solidFill>
                  <a:srgbClr val="0E7C86"/>
                </a:solidFill>
                <a:latin typeface="Consolas"/>
              </a:rPr>
              <a:t>trade_endur</a:t>
            </a:r>
            <a:r>
              <a:rPr sz="1300" b="0" i="0">
                <a:solidFill>
                  <a:srgbClr val="1C2433"/>
                </a:solidFill>
                <a:latin typeface="Calibri"/>
              </a:rPr>
              <a:t> went from 300 commits replaying the whole log (98 s) to 60 with a short log. Intraday risk batches are the one exception: an appended commit per batch (slide 65).</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Number"/>
          <p:cNvSpPr txBox="1"/>
          <p:nvPr/>
        </p:nvSpPr>
        <p:spPr>
          <a:xfrm>
            <a:off x="4754880" y="-822960"/>
            <a:ext cx="7223760" cy="7863840"/>
          </a:xfrm>
          <a:prstGeom prst="rect">
            <a:avLst/>
          </a:prstGeom>
          <a:noFill/>
        </p:spPr>
        <p:txBody>
          <a:bodyPr wrap="square" lIns="0" rIns="0" tIns="0" bIns="0" anchor="ctr">
            <a:spAutoFit/>
          </a:bodyPr>
          <a:lstStyle/>
          <a:p>
            <a:pPr algn="r">
              <a:spcAft>
                <a:spcPts val="600"/>
              </a:spcAft>
              <a:buNone/>
            </a:pPr>
            <a:r>
              <a:rPr sz="42000" b="1" i="0">
                <a:solidFill>
                  <a:srgbClr val="1C3560"/>
                </a:solidFill>
                <a:latin typeface="Calibri"/>
              </a:rPr>
              <a:t>08</a:t>
            </a:r>
          </a:p>
        </p:txBody>
      </p:sp>
      <p:sp>
        <p:nvSpPr>
          <p:cNvPr id="4" name="Title"/>
          <p:cNvSpPr txBox="1"/>
          <p:nvPr/>
        </p:nvSpPr>
        <p:spPr>
          <a:xfrm>
            <a:off x="822960" y="2514600"/>
            <a:ext cx="6949440" cy="1828800"/>
          </a:xfrm>
          <a:prstGeom prst="rect">
            <a:avLst/>
          </a:prstGeom>
          <a:noFill/>
        </p:spPr>
        <p:txBody>
          <a:bodyPr wrap="square" lIns="0" rIns="0" tIns="0" bIns="0" anchor="ctr">
            <a:spAutoFit/>
          </a:bodyPr>
          <a:lstStyle/>
          <a:p>
            <a:pPr algn="l">
              <a:spcAft>
                <a:spcPts val="600"/>
              </a:spcAft>
              <a:buNone/>
            </a:pPr>
            <a:r>
              <a:rPr sz="4400" b="1" i="0">
                <a:solidFill>
                  <a:srgbClr val="FFFFFF"/>
                </a:solidFill>
                <a:latin typeface="Calibri"/>
              </a:rPr>
              <a:t>Data in: JSON Lines, then Delta</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Generate JSON Lines, then load it into Delta</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8</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45</a:t>
            </a:r>
          </a:p>
        </p:txBody>
      </p:sp>
      <p:sp>
        <p:nvSpPr>
          <p:cNvPr id="9" name="Rounded Rectangle 8"/>
          <p:cNvSpPr/>
          <p:nvPr/>
        </p:nvSpPr>
        <p:spPr>
          <a:xfrm>
            <a:off x="411480" y="1188720"/>
            <a:ext cx="2606040" cy="1188720"/>
          </a:xfrm>
          <a:prstGeom prst="roundRect">
            <a:avLst>
              <a:gd name="adj" fmla="val 6000"/>
            </a:avLst>
          </a:prstGeom>
          <a:solidFill>
            <a:srgbClr val="EEE6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TextBox 9"/>
          <p:cNvSpPr txBox="1"/>
          <p:nvPr/>
        </p:nvSpPr>
        <p:spPr>
          <a:xfrm>
            <a:off x="502920" y="1234440"/>
            <a:ext cx="242316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Source or generator</a:t>
            </a:r>
          </a:p>
        </p:txBody>
      </p:sp>
      <p:sp>
        <p:nvSpPr>
          <p:cNvPr id="11" name="TextBox 10"/>
          <p:cNvSpPr txBox="1"/>
          <p:nvPr/>
        </p:nvSpPr>
        <p:spPr>
          <a:xfrm>
            <a:off x="502920" y="1554480"/>
            <a:ext cx="2423160" cy="77724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writes JSON Lines</a:t>
            </a:r>
          </a:p>
          <a:p>
            <a:pPr algn="l" marL="201168" indent="-201168">
              <a:spcAft>
                <a:spcPts val="200"/>
              </a:spcAft>
              <a:buClr>
                <a:srgbClr val="E87A1E"/>
              </a:buClr>
              <a:buSzPct val="100000"/>
              <a:buFont typeface="Arial"/>
              <a:buChar char="•"/>
            </a:pPr>
            <a:r>
              <a:rPr sz="1100" b="0" i="0">
                <a:solidFill>
                  <a:srgbClr val="0E7C86"/>
                </a:solidFill>
                <a:latin typeface="Consolas"/>
              </a:rPr>
              <a:t>trades-&lt;date&gt;.jsonl.gz</a:t>
            </a:r>
          </a:p>
        </p:txBody>
      </p:sp>
      <p:cxnSp>
        <p:nvCxnSpPr>
          <p:cNvPr id="12" name="Connector 11"/>
          <p:cNvCxnSpPr/>
          <p:nvPr/>
        </p:nvCxnSpPr>
        <p:spPr>
          <a:xfrm>
            <a:off x="3017520" y="1783080"/>
            <a:ext cx="301752" cy="0"/>
          </a:xfrm>
          <a:prstGeom prst="line">
            <a:avLst/>
          </a:prstGeom>
          <a:ln w="19050">
            <a:solidFill>
              <a:srgbClr val="E87A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328416" y="1188720"/>
            <a:ext cx="2606040" cy="1188720"/>
          </a:xfrm>
          <a:prstGeom prst="roundRect">
            <a:avLst>
              <a:gd name="adj" fmla="val 6000"/>
            </a:avLst>
          </a:prstGeom>
          <a:solidFill>
            <a:srgbClr val="DDEE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3419856" y="1234440"/>
            <a:ext cx="242316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Landing / build folder</a:t>
            </a:r>
          </a:p>
        </p:txBody>
      </p:sp>
      <p:sp>
        <p:nvSpPr>
          <p:cNvPr id="15" name="TextBox 14"/>
          <p:cNvSpPr txBox="1"/>
          <p:nvPr/>
        </p:nvSpPr>
        <p:spPr>
          <a:xfrm>
            <a:off x="3419856" y="1554480"/>
            <a:ext cx="2423160" cy="77724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100" b="0" i="0">
                <a:solidFill>
                  <a:srgbClr val="0E7C86"/>
                </a:solidFill>
                <a:latin typeface="Consolas"/>
              </a:rPr>
              <a:t>&lt;date&gt;/&lt;source&gt;/*.jsonl.gz</a:t>
            </a:r>
          </a:p>
          <a:p>
            <a:pPr algn="l" marL="201168" indent="-201168">
              <a:spcAft>
                <a:spcPts val="200"/>
              </a:spcAft>
              <a:buClr>
                <a:srgbClr val="E87A1E"/>
              </a:buClr>
              <a:buSzPct val="100000"/>
              <a:buFont typeface="Arial"/>
              <a:buChar char="•"/>
            </a:pPr>
            <a:r>
              <a:rPr sz="1200" b="0" i="0">
                <a:solidFill>
                  <a:srgbClr val="1C2433"/>
                </a:solidFill>
                <a:latin typeface="Calibri"/>
              </a:rPr>
              <a:t>a restatement: a second file</a:t>
            </a:r>
          </a:p>
        </p:txBody>
      </p:sp>
      <p:cxnSp>
        <p:nvCxnSpPr>
          <p:cNvPr id="16" name="Connector 15"/>
          <p:cNvCxnSpPr/>
          <p:nvPr/>
        </p:nvCxnSpPr>
        <p:spPr>
          <a:xfrm>
            <a:off x="5934456" y="1783080"/>
            <a:ext cx="301752" cy="0"/>
          </a:xfrm>
          <a:prstGeom prst="line">
            <a:avLst/>
          </a:prstGeom>
          <a:ln w="19050">
            <a:solidFill>
              <a:srgbClr val="E87A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245352" y="1188720"/>
            <a:ext cx="2606040" cy="118872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xtBox 17"/>
          <p:cNvSpPr txBox="1"/>
          <p:nvPr/>
        </p:nvSpPr>
        <p:spPr>
          <a:xfrm>
            <a:off x="6336792" y="1234440"/>
            <a:ext cx="242316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lake build · load_rows.py</a:t>
            </a:r>
          </a:p>
        </p:txBody>
      </p:sp>
      <p:sp>
        <p:nvSpPr>
          <p:cNvPr id="19" name="TextBox 18"/>
          <p:cNvSpPr txBox="1"/>
          <p:nvPr/>
        </p:nvSpPr>
        <p:spPr>
          <a:xfrm>
            <a:off x="6336792" y="1554480"/>
            <a:ext cx="2423160" cy="77724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promoted and vector columns</a:t>
            </a:r>
          </a:p>
          <a:p>
            <a:pPr algn="l" marL="201168" indent="-201168">
              <a:spcAft>
                <a:spcPts val="200"/>
              </a:spcAft>
              <a:buClr>
                <a:srgbClr val="E87A1E"/>
              </a:buClr>
              <a:buSzPct val="100000"/>
              <a:buFont typeface="Arial"/>
              <a:buChar char="•"/>
            </a:pPr>
            <a:r>
              <a:rPr sz="1200" b="0" i="0">
                <a:solidFill>
                  <a:srgbClr val="1C2433"/>
                </a:solidFill>
                <a:latin typeface="Calibri"/>
              </a:rPr>
              <a:t>sorted by id; one commit a date</a:t>
            </a:r>
          </a:p>
        </p:txBody>
      </p:sp>
      <p:cxnSp>
        <p:nvCxnSpPr>
          <p:cNvPr id="20" name="Connector 19"/>
          <p:cNvCxnSpPr/>
          <p:nvPr/>
        </p:nvCxnSpPr>
        <p:spPr>
          <a:xfrm>
            <a:off x="8851392" y="1783080"/>
            <a:ext cx="301752" cy="0"/>
          </a:xfrm>
          <a:prstGeom prst="line">
            <a:avLst/>
          </a:prstGeom>
          <a:ln w="19050">
            <a:solidFill>
              <a:srgbClr val="E87A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162288" y="1188720"/>
            <a:ext cx="2606040" cy="1188720"/>
          </a:xfrm>
          <a:prstGeom prst="roundRect">
            <a:avLst>
              <a:gd name="adj" fmla="val 6000"/>
            </a:avLst>
          </a:prstGeom>
          <a:solidFill>
            <a:srgbClr val="DDEE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TextBox 21"/>
          <p:cNvSpPr txBox="1"/>
          <p:nvPr/>
        </p:nvSpPr>
        <p:spPr>
          <a:xfrm>
            <a:off x="9253728" y="1234440"/>
            <a:ext cx="242316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Delta table</a:t>
            </a:r>
          </a:p>
        </p:txBody>
      </p:sp>
      <p:sp>
        <p:nvSpPr>
          <p:cNvPr id="23" name="TextBox 22"/>
          <p:cNvSpPr txBox="1"/>
          <p:nvPr/>
        </p:nvSpPr>
        <p:spPr>
          <a:xfrm>
            <a:off x="9253728" y="1554480"/>
            <a:ext cx="2423160" cy="77724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100" b="0" i="0">
                <a:solidFill>
                  <a:srgbClr val="0E7C86"/>
                </a:solidFill>
                <a:latin typeface="Consolas"/>
              </a:rPr>
              <a:t>lake/&lt;domain&gt;/&lt;table&gt;/</a:t>
            </a:r>
          </a:p>
          <a:p>
            <a:pPr algn="l" marL="201168" indent="-201168">
              <a:spcAft>
                <a:spcPts val="200"/>
              </a:spcAft>
              <a:buClr>
                <a:srgbClr val="E87A1E"/>
              </a:buClr>
              <a:buSzPct val="100000"/>
              <a:buFont typeface="Arial"/>
              <a:buChar char="•"/>
            </a:pPr>
            <a:r>
              <a:rPr sz="1200" b="0" i="0">
                <a:solidFill>
                  <a:srgbClr val="1C2433"/>
                </a:solidFill>
                <a:latin typeface="Calibri"/>
              </a:rPr>
              <a:t>read by the Delta connector</a:t>
            </a:r>
          </a:p>
        </p:txBody>
      </p:sp>
      <p:graphicFrame>
        <p:nvGraphicFramePr>
          <p:cNvPr id="24" name="Table"/>
          <p:cNvGraphicFramePr>
            <a:graphicFrameLocks noGrp="1"/>
          </p:cNvGraphicFramePr>
          <p:nvPr/>
        </p:nvGraphicFramePr>
        <p:xfrm>
          <a:off x="411480" y="2834640"/>
          <a:ext cx="11365990" cy="2377440"/>
        </p:xfrm>
        <a:graphic>
          <a:graphicData uri="http://schemas.openxmlformats.org/drawingml/2006/table">
            <a:tbl>
              <a:tblPr firstRow="0" bandRow="0">
                <a:tableStyleId>{5940675A-B579-460E-94D1-54222C63F5DA}</a:tableStyleId>
              </a:tblPr>
              <a:tblGrid>
                <a:gridCol w="1558240"/>
                <a:gridCol w="5133028"/>
                <a:gridCol w="4674722"/>
              </a:tblGrid>
              <a:tr h="475488">
                <a:tc>
                  <a:txBody>
                    <a:bodyPr wrap="square"/>
                    <a:lstStyle/>
                    <a:p>
                      <a:r>
                        <a:rPr sz="1200" b="1" i="0">
                          <a:solidFill>
                            <a:srgbClr val="FFFFFF"/>
                          </a:solidFill>
                          <a:latin typeface="Calibri"/>
                        </a:rPr>
                        <a:t>Form</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One line is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Written by → read by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475488">
                <a:tc>
                  <a:txBody>
                    <a:bodyPr wrap="square"/>
                    <a:lstStyle/>
                    <a:p>
                      <a:r>
                        <a:rPr sz="1200" b="1" i="0">
                          <a:solidFill>
                            <a:srgbClr val="1C2433"/>
                          </a:solidFill>
                          <a:latin typeface="Calibri"/>
                        </a:rPr>
                        <a:t>Document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one entity as its source holds it: </a:t>
                      </a:r>
                      <a:r>
                        <a:rPr sz="1100" b="0" i="0">
                          <a:solidFill>
                            <a:srgbClr val="0E7C86"/>
                          </a:solidFill>
                          <a:latin typeface="Consolas"/>
                        </a:rPr>
                        <a:t>{"TRADE_ID": "1000015", "LEGS": [...]}</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make_trades, bulk_trades, pack samples → </a:t>
                      </a:r>
                      <a:r>
                        <a:rPr sz="1100" b="0" i="0">
                          <a:solidFill>
                            <a:srgbClr val="0E7C86"/>
                          </a:solidFill>
                          <a:latin typeface="Consolas"/>
                        </a:rPr>
                        <a:t>lake build</a:t>
                      </a:r>
                      <a:r>
                        <a:rPr sz="1200" b="0" i="0">
                          <a:solidFill>
                            <a:srgbClr val="1C2433"/>
                          </a:solidFill>
                          <a:latin typeface="Calibri"/>
                        </a:rPr>
                        <a:t>, the file connector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75488">
                <a:tc>
                  <a:txBody>
                    <a:bodyPr wrap="square"/>
                    <a:lstStyle/>
                    <a:p>
                      <a:r>
                        <a:rPr sz="1200" b="1" i="0">
                          <a:solidFill>
                            <a:srgbClr val="1C2433"/>
                          </a:solidFill>
                          <a:latin typeface="Calibri"/>
                        </a:rPr>
                        <a:t>Loader row</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{"domain", "kind", "id", "date", "doc", "columns"}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make_data.py --jsonl</a:t>
                      </a:r>
                      <a:r>
                        <a:rPr sz="1200" b="0" i="0">
                          <a:solidFill>
                            <a:srgbClr val="1C2433"/>
                          </a:solidFill>
                          <a:latin typeface="Calibri"/>
                        </a:rPr>
                        <a:t> → PostgreSQL, Cassandra, Iceberg … loaders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75488">
                <a:tc>
                  <a:txBody>
                    <a:bodyPr wrap="square"/>
                    <a:lstStyle/>
                    <a:p>
                      <a:r>
                        <a:rPr sz="1200" b="1" i="0">
                          <a:solidFill>
                            <a:srgbClr val="1C2433"/>
                          </a:solidFill>
                          <a:latin typeface="Calibri"/>
                        </a:rPr>
                        <a:t>Lake row</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{"domain", "kind", "table", "id", "date", "doc"}</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make_data.py --lake</a:t>
                      </a:r>
                      <a:r>
                        <a:rPr sz="1200" b="0" i="0">
                          <a:solidFill>
                            <a:srgbClr val="1C2433"/>
                          </a:solidFill>
                          <a:latin typeface="Calibri"/>
                        </a:rPr>
                        <a:t>, generators → </a:t>
                      </a:r>
                      <a:r>
                        <a:rPr sz="1100" b="0" i="0">
                          <a:solidFill>
                            <a:srgbClr val="0E7C86"/>
                          </a:solidFill>
                          <a:latin typeface="Consolas"/>
                        </a:rPr>
                        <a:t>load_rows.py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75488">
                <a:tc>
                  <a:txBody>
                    <a:bodyPr wrap="square"/>
                    <a:lstStyle/>
                    <a:p>
                      <a:r>
                        <a:rPr sz="1200" b="1" i="0">
                          <a:solidFill>
                            <a:srgbClr val="1C2433"/>
                          </a:solidFill>
                          <a:latin typeface="Calibri"/>
                        </a:rPr>
                        <a:t>Staged lake row</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{"id", "doc", "columns"}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lake build's staging, official-results publishers → Java </a:t>
                      </a:r>
                      <a:r>
                        <a:rPr sz="1100" b="0" i="0">
                          <a:solidFill>
                            <a:srgbClr val="0E7C86"/>
                          </a:solidFill>
                          <a:latin typeface="Consolas"/>
                        </a:rPr>
                        <a:t>LakeWriter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bl>
          </a:graphicData>
        </a:graphic>
      </p:graphicFrame>
      <p:sp>
        <p:nvSpPr>
          <p:cNvPr id="25" name="Callout"/>
          <p:cNvSpPr/>
          <p:nvPr/>
        </p:nvSpPr>
        <p:spPr>
          <a:xfrm>
            <a:off x="411480" y="5440680"/>
            <a:ext cx="11365992" cy="868680"/>
          </a:xfrm>
          <a:prstGeom prst="roundRect">
            <a:avLst>
              <a:gd name="adj" fmla="val 6000"/>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Callout edge"/>
          <p:cNvSpPr/>
          <p:nvPr/>
        </p:nvSpPr>
        <p:spPr>
          <a:xfrm>
            <a:off x="411480" y="5458968"/>
            <a:ext cx="82296" cy="832103"/>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xtBox 26"/>
          <p:cNvSpPr txBox="1"/>
          <p:nvPr/>
        </p:nvSpPr>
        <p:spPr>
          <a:xfrm>
            <a:off x="640080" y="5513832"/>
            <a:ext cx="11000232" cy="722375"/>
          </a:xfrm>
          <a:prstGeom prst="rect">
            <a:avLst/>
          </a:prstGeom>
          <a:noFill/>
        </p:spPr>
        <p:txBody>
          <a:bodyPr wrap="square" lIns="0" rIns="0" tIns="0" bIns="0" anchor="ctr">
            <a:spAutoFit/>
          </a:bodyPr>
          <a:lstStyle/>
          <a:p>
            <a:pPr algn="l">
              <a:spcAft>
                <a:spcPts val="600"/>
              </a:spcAft>
              <a:buNone/>
            </a:pPr>
            <a:r>
              <a:rPr sz="1300" b="1" i="0">
                <a:solidFill>
                  <a:srgbClr val="1C2433"/>
                </a:solidFill>
                <a:latin typeface="Calibri"/>
              </a:rPr>
              <a:t>The rule:</a:t>
            </a:r>
            <a:r>
              <a:rPr sz="1300" b="0" i="0">
                <a:solidFill>
                  <a:srgbClr val="1C2433"/>
                </a:solidFill>
                <a:latin typeface="Calibri"/>
              </a:rPr>
              <a:t> one JSON object per line, UTF-8, </a:t>
            </a:r>
            <a:r>
              <a:rPr sz="1200" b="0" i="0">
                <a:solidFill>
                  <a:srgbClr val="0E7C86"/>
                </a:solidFill>
                <a:latin typeface="Consolas"/>
              </a:rPr>
              <a:t>.jsonl</a:t>
            </a:r>
            <a:r>
              <a:rPr sz="1300" b="0" i="0">
                <a:solidFill>
                  <a:srgbClr val="1C2433"/>
                </a:solidFill>
                <a:latin typeface="Calibri"/>
              </a:rPr>
              <a:t> or </a:t>
            </a:r>
            <a:r>
              <a:rPr sz="1200" b="0" i="0">
                <a:solidFill>
                  <a:srgbClr val="0E7C86"/>
                </a:solidFill>
                <a:latin typeface="Consolas"/>
              </a:rPr>
              <a:t>.jsonl.gz</a:t>
            </a:r>
            <a:r>
              <a:rPr sz="1300" b="0" i="0">
                <a:solidFill>
                  <a:srgbClr val="1C2433"/>
                </a:solidFill>
                <a:latin typeface="Calibri"/>
              </a:rPr>
              <a:t>. Generating and loading are separate steps; a loader never rewrites a pack's samples. The lake built from JSONL is byte-for-byte the lake built before.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CSV in is deprecated; JSON Lines out beside every format</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8</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46</a:t>
            </a:r>
          </a:p>
        </p:txBody>
      </p:sp>
      <p:sp>
        <p:nvSpPr>
          <p:cNvPr id="9" name="Rounded Rectangle 8"/>
          <p:cNvSpPr/>
          <p:nvPr/>
        </p:nvSpPr>
        <p:spPr>
          <a:xfrm>
            <a:off x="411480" y="1188720"/>
            <a:ext cx="5532120" cy="2057400"/>
          </a:xfrm>
          <a:prstGeom prst="roundRect">
            <a:avLst>
              <a:gd name="adj" fmla="val 6000"/>
            </a:avLst>
          </a:prstGeom>
          <a:solidFill>
            <a:srgbClr val="EEE6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TextBox 9"/>
          <p:cNvSpPr txBox="1"/>
          <p:nvPr/>
        </p:nvSpPr>
        <p:spPr>
          <a:xfrm>
            <a:off x="502920" y="1234440"/>
            <a:ext cx="534924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Coming in</a:t>
            </a:r>
          </a:p>
        </p:txBody>
      </p:sp>
      <p:sp>
        <p:nvSpPr>
          <p:cNvPr id="11" name="TextBox 10"/>
          <p:cNvSpPr txBox="1"/>
          <p:nvPr/>
        </p:nvSpPr>
        <p:spPr>
          <a:xfrm>
            <a:off x="502920" y="1554480"/>
            <a:ext cx="5349240" cy="164592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300" b="1" i="0">
                <a:solidFill>
                  <a:srgbClr val="1C2433"/>
                </a:solidFill>
                <a:latin typeface="Calibri"/>
              </a:rPr>
              <a:t>JSON Lines first</a:t>
            </a:r>
            <a:r>
              <a:rPr sz="1300" b="0" i="0">
                <a:solidFill>
                  <a:srgbClr val="1C2433"/>
                </a:solidFill>
                <a:latin typeface="Calibri"/>
              </a:rPr>
              <a:t>; JSON arrays and per-entity </a:t>
            </a:r>
            <a:r>
              <a:rPr sz="1200" b="0" i="0">
                <a:solidFill>
                  <a:srgbClr val="0E7C86"/>
                </a:solidFill>
                <a:latin typeface="Consolas"/>
              </a:rPr>
              <a:t>.json</a:t>
            </a:r>
            <a:r>
              <a:rPr sz="1300" b="0" i="0">
                <a:solidFill>
                  <a:srgbClr val="1C2433"/>
                </a:solidFill>
                <a:latin typeface="Calibri"/>
              </a:rPr>
              <a:t> still read</a:t>
            </a:r>
          </a:p>
          <a:p>
            <a:pPr algn="l" marL="201168" indent="-201168">
              <a:spcAft>
                <a:spcPts val="200"/>
              </a:spcAft>
              <a:buClr>
                <a:srgbClr val="E87A1E"/>
              </a:buClr>
              <a:buSzPct val="100000"/>
              <a:buFont typeface="Arial"/>
              <a:buChar char="•"/>
            </a:pPr>
            <a:r>
              <a:rPr sz="1300" b="1" i="0">
                <a:solidFill>
                  <a:srgbClr val="1C2433"/>
                </a:solidFill>
                <a:latin typeface="Calibri"/>
              </a:rPr>
              <a:t>CSV input deprecated</a:t>
            </a:r>
            <a:r>
              <a:rPr sz="1300" b="0" i="0">
                <a:solidFill>
                  <a:srgbClr val="1C2433"/>
                </a:solidFill>
                <a:latin typeface="Calibri"/>
              </a:rPr>
              <a:t> (2.9.4): the file connector still serves feed files, warns once per file, names them in Admin → Health</a:t>
            </a:r>
          </a:p>
          <a:p>
            <a:pPr algn="l" marL="201168" indent="-201168">
              <a:spcAft>
                <a:spcPts val="200"/>
              </a:spcAft>
              <a:buClr>
                <a:srgbClr val="E87A1E"/>
              </a:buClr>
              <a:buSzPct val="100000"/>
              <a:buFont typeface="Arial"/>
              <a:buChar char="•"/>
            </a:pPr>
            <a:r>
              <a:rPr sz="1200" b="0" i="0">
                <a:solidFill>
                  <a:srgbClr val="0E7C86"/>
                </a:solidFill>
                <a:latin typeface="Consolas"/>
              </a:rPr>
              <a:t>drishti.py convert trades.csv</a:t>
            </a:r>
            <a:r>
              <a:rPr sz="1300" b="0" i="0">
                <a:solidFill>
                  <a:srgbClr val="1C2433"/>
                </a:solidFill>
                <a:latin typeface="Calibri"/>
              </a:rPr>
              <a:t> → </a:t>
            </a:r>
            <a:r>
              <a:rPr sz="1200" b="0" i="0">
                <a:solidFill>
                  <a:srgbClr val="0E7C86"/>
                </a:solidFill>
                <a:latin typeface="Consolas"/>
              </a:rPr>
              <a:t>trades.jsonl</a:t>
            </a:r>
            <a:r>
              <a:rPr sz="1300" b="0" i="0">
                <a:solidFill>
                  <a:srgbClr val="1C2433"/>
                </a:solidFill>
                <a:latin typeface="Calibri"/>
              </a:rPr>
              <a:t> (also JSON arrays, gzip, folders)</a:t>
            </a:r>
          </a:p>
        </p:txBody>
      </p:sp>
      <p:sp>
        <p:nvSpPr>
          <p:cNvPr id="12" name="Rounded Rectangle 11"/>
          <p:cNvSpPr/>
          <p:nvPr/>
        </p:nvSpPr>
        <p:spPr>
          <a:xfrm>
            <a:off x="6245352" y="1188720"/>
            <a:ext cx="5532120" cy="2057400"/>
          </a:xfrm>
          <a:prstGeom prst="roundRect">
            <a:avLst>
              <a:gd name="adj" fmla="val 6000"/>
            </a:avLst>
          </a:prstGeom>
          <a:solidFill>
            <a:srgbClr val="DDEE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TextBox 12"/>
          <p:cNvSpPr txBox="1"/>
          <p:nvPr/>
        </p:nvSpPr>
        <p:spPr>
          <a:xfrm>
            <a:off x="6336792" y="1234440"/>
            <a:ext cx="534924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Going out</a:t>
            </a:r>
          </a:p>
        </p:txBody>
      </p:sp>
      <p:sp>
        <p:nvSpPr>
          <p:cNvPr id="14" name="TextBox 13"/>
          <p:cNvSpPr txBox="1"/>
          <p:nvPr/>
        </p:nvSpPr>
        <p:spPr>
          <a:xfrm>
            <a:off x="6336792" y="1554480"/>
            <a:ext cx="5349240" cy="164592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300" b="0" i="0">
                <a:solidFill>
                  <a:srgbClr val="1C2433"/>
                </a:solidFill>
                <a:latin typeface="Calibri"/>
              </a:rPr>
              <a:t>every export and download offers JSONL </a:t>
            </a:r>
            <a:r>
              <a:rPr sz="1300" b="1" i="0">
                <a:solidFill>
                  <a:srgbClr val="1C2433"/>
                </a:solidFill>
                <a:latin typeface="Calibri"/>
              </a:rPr>
              <a:t>beside</a:t>
            </a:r>
            <a:r>
              <a:rPr sz="1300" b="0" i="0">
                <a:solidFill>
                  <a:srgbClr val="1C2433"/>
                </a:solidFill>
                <a:latin typeface="Calibri"/>
              </a:rPr>
              <a:t> CSV, Excel, PDF, PNG</a:t>
            </a:r>
          </a:p>
          <a:p>
            <a:pPr algn="l" marL="201168" indent="-201168">
              <a:spcAft>
                <a:spcPts val="200"/>
              </a:spcAft>
              <a:buClr>
                <a:srgbClr val="E87A1E"/>
              </a:buClr>
              <a:buSzPct val="100000"/>
              <a:buFont typeface="Arial"/>
              <a:buChar char="•"/>
            </a:pPr>
            <a:r>
              <a:rPr sz="1300" b="0" i="0">
                <a:solidFill>
                  <a:srgbClr val="1C2433"/>
                </a:solidFill>
                <a:latin typeface="Calibri"/>
              </a:rPr>
              <a:t>server: </a:t>
            </a:r>
            <a:r>
              <a:rPr sz="1200" b="0" i="0">
                <a:solidFill>
                  <a:srgbClr val="0E7C86"/>
                </a:solidFill>
                <a:latin typeface="Consolas"/>
              </a:rPr>
              <a:t>search/jsonl</a:t>
            </a:r>
            <a:r>
              <a:rPr sz="1300" b="0" i="0">
                <a:solidFill>
                  <a:srgbClr val="1C2433"/>
                </a:solidFill>
                <a:latin typeface="Calibri"/>
              </a:rPr>
              <a:t>, SQL </a:t>
            </a:r>
            <a:r>
              <a:rPr sz="1200" b="0" i="0">
                <a:solidFill>
                  <a:srgbClr val="0E7C86"/>
                </a:solidFill>
                <a:latin typeface="Consolas"/>
              </a:rPr>
              <a:t>format=jsonl</a:t>
            </a:r>
            <a:r>
              <a:rPr sz="1300" b="0" i="0">
                <a:solidFill>
                  <a:srgbClr val="1C2433"/>
                </a:solidFill>
                <a:latin typeface="Calibri"/>
              </a:rPr>
              <a:t>, BI runs, statements, VaR and exposure captures</a:t>
            </a:r>
          </a:p>
          <a:p>
            <a:pPr algn="l" marL="201168" indent="-201168">
              <a:spcAft>
                <a:spcPts val="200"/>
              </a:spcAft>
              <a:buClr>
                <a:srgbClr val="E87A1E"/>
              </a:buClr>
              <a:buSzPct val="100000"/>
              <a:buFont typeface="Arial"/>
              <a:buChar char="•"/>
            </a:pPr>
            <a:r>
              <a:rPr sz="1300" b="0" i="0">
                <a:solidFill>
                  <a:srgbClr val="1C2433"/>
                </a:solidFill>
                <a:latin typeface="Calibri"/>
              </a:rPr>
              <a:t>console: one ↓ per panel, CSV or JSON Lines (2.9.5); CLI </a:t>
            </a:r>
            <a:r>
              <a:rPr sz="1200" b="0" i="0">
                <a:solidFill>
                  <a:srgbClr val="0E7C86"/>
                </a:solidFill>
                <a:latin typeface="Consolas"/>
              </a:rPr>
              <a:t>--jsonl</a:t>
            </a:r>
          </a:p>
        </p:txBody>
      </p:sp>
      <p:sp>
        <p:nvSpPr>
          <p:cNvPr id="15" name="Code block"/>
          <p:cNvSpPr/>
          <p:nvPr/>
        </p:nvSpPr>
        <p:spPr>
          <a:xfrm>
            <a:off x="411480" y="3474720"/>
            <a:ext cx="11365992" cy="914400"/>
          </a:xfrm>
          <a:prstGeom prst="roundRect">
            <a:avLst>
              <a:gd name="adj" fmla="val 4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Code"/>
          <p:cNvSpPr txBox="1"/>
          <p:nvPr/>
        </p:nvSpPr>
        <p:spPr>
          <a:xfrm>
            <a:off x="521208" y="3538727"/>
            <a:ext cx="11146536" cy="786384"/>
          </a:xfrm>
          <a:prstGeom prst="rect">
            <a:avLst/>
          </a:prstGeom>
          <a:noFill/>
        </p:spPr>
        <p:txBody>
          <a:bodyPr wrap="square" lIns="0" rIns="0" tIns="0" bIns="0" anchor="ctr">
            <a:spAutoFit/>
          </a:bodyPr>
          <a:lstStyle/>
          <a:p>
            <a:pPr>
              <a:spcAft>
                <a:spcPts val="0"/>
              </a:spcAft>
              <a:buNone/>
            </a:pPr>
            <a:r>
              <a:rPr sz="1100" b="0" i="0">
                <a:solidFill>
                  <a:srgbClr val="E6EDF3"/>
                </a:solidFill>
                <a:latin typeface="Consolas"/>
              </a:rPr>
              <a:t>drishti.py convert trades.csv                                    </a:t>
            </a:r>
            <a:r>
              <a:rPr sz="1100" b="0" i="0">
                <a:solidFill>
                  <a:srgbClr val="8B9BB4"/>
                </a:solidFill>
                <a:latin typeface="Consolas"/>
              </a:rPr>
              <a:t>  # trades.jsonl, a line per row</a:t>
            </a:r>
          </a:p>
          <a:p>
            <a:pPr>
              <a:spcAft>
                <a:spcPts val="0"/>
              </a:spcAft>
              <a:buNone/>
            </a:pPr>
            <a:r>
              <a:rPr sz="1100" b="0" i="0">
                <a:solidFill>
                  <a:srgbClr val="E6EDF3"/>
                </a:solidFill>
                <a:latin typeface="Consolas"/>
              </a:rPr>
              <a:t>drishti.py convert data/feeds/fixing/SOFR-HISTORY.csv --rows-document --out data/feeds/fixing.jsonl</a:t>
            </a:r>
          </a:p>
          <a:p>
            <a:pPr>
              <a:spcAft>
                <a:spcPts val="0"/>
              </a:spcAft>
              <a:buNone/>
            </a:pPr>
            <a:r>
              <a:rPr sz="1100" b="0" i="0">
                <a:solidFill>
                  <a:srgbClr val="E6EDF3"/>
                </a:solidFill>
                <a:latin typeface="Consolas"/>
              </a:rPr>
              <a:t>drishti.py convert data/feeds/settlement                         </a:t>
            </a:r>
            <a:r>
              <a:rPr sz="1100" b="0" i="0">
                <a:solidFill>
                  <a:srgbClr val="8B9BB4"/>
                </a:solidFill>
                <a:latin typeface="Consolas"/>
              </a:rPr>
              <a:t>  # settlement.jsonl, the file name as "id"</a:t>
            </a:r>
          </a:p>
        </p:txBody>
      </p:sp>
      <p:sp>
        <p:nvSpPr>
          <p:cNvPr id="17" name="Callout"/>
          <p:cNvSpPr/>
          <p:nvPr/>
        </p:nvSpPr>
        <p:spPr>
          <a:xfrm>
            <a:off x="411480" y="4617720"/>
            <a:ext cx="11365992" cy="1234440"/>
          </a:xfrm>
          <a:prstGeom prst="roundRect">
            <a:avLst>
              <a:gd name="adj" fmla="val 6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Callout edge"/>
          <p:cNvSpPr/>
          <p:nvPr/>
        </p:nvSpPr>
        <p:spPr>
          <a:xfrm>
            <a:off x="411480" y="4636007"/>
            <a:ext cx="82296" cy="11978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TextBox 18"/>
          <p:cNvSpPr txBox="1"/>
          <p:nvPr/>
        </p:nvSpPr>
        <p:spPr>
          <a:xfrm>
            <a:off x="640080" y="4690872"/>
            <a:ext cx="11000232" cy="1088136"/>
          </a:xfrm>
          <a:prstGeom prst="rect">
            <a:avLst/>
          </a:prstGeom>
          <a:noFill/>
        </p:spPr>
        <p:txBody>
          <a:bodyPr wrap="square" lIns="0" rIns="0" tIns="0" bIns="0" anchor="ctr">
            <a:spAutoFit/>
          </a:bodyPr>
          <a:lstStyle/>
          <a:p>
            <a:pPr algn="l">
              <a:spcAft>
                <a:spcPts val="600"/>
              </a:spcAft>
              <a:buNone/>
            </a:pPr>
            <a:r>
              <a:rPr sz="1300" b="1" i="0">
                <a:solidFill>
                  <a:srgbClr val="1C2433"/>
                </a:solidFill>
                <a:latin typeface="Calibri"/>
              </a:rPr>
              <a:t>Not data, so not JSONL:</a:t>
            </a:r>
            <a:r>
              <a:rPr sz="1300" b="0" i="0">
                <a:solidFill>
                  <a:srgbClr val="1C2433"/>
                </a:solidFill>
                <a:latin typeface="Calibri"/>
              </a:rPr>
              <a:t> Delta and Iceberg Parquet, the BI store, the VaR and exposure hot files, Arrow between the server and Python, manifests. </a:t>
            </a:r>
            <a:r>
              <a:rPr sz="1300" b="1" i="0">
                <a:solidFill>
                  <a:srgbClr val="1C2433"/>
                </a:solidFill>
                <a:latin typeface="Calibri"/>
              </a:rPr>
              <a:t>The guard:</a:t>
            </a:r>
            <a:r>
              <a:rPr sz="1300" b="0" i="0">
                <a:solidFill>
                  <a:srgbClr val="1C2433"/>
                </a:solidFill>
                <a:latin typeface="Calibri"/>
              </a:rPr>
              <a:t> two drill tests check that every generator writes JSON Lines and every export entry point offers it.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Official results: Delta (or Iceberg), JSON Lines beside</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8</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47</a:t>
            </a:r>
          </a:p>
        </p:txBody>
      </p:sp>
      <p:sp>
        <p:nvSpPr>
          <p:cNvPr id="9" name="Code block"/>
          <p:cNvSpPr/>
          <p:nvPr/>
        </p:nvSpPr>
        <p:spPr>
          <a:xfrm>
            <a:off x="411480" y="1188720"/>
            <a:ext cx="11365992" cy="1234440"/>
          </a:xfrm>
          <a:prstGeom prst="roundRect">
            <a:avLst>
              <a:gd name="adj" fmla="val 4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
          <p:cNvSpPr txBox="1"/>
          <p:nvPr/>
        </p:nvSpPr>
        <p:spPr>
          <a:xfrm>
            <a:off x="521208" y="1252728"/>
            <a:ext cx="11146536" cy="1106424"/>
          </a:xfrm>
          <a:prstGeom prst="rect">
            <a:avLst/>
          </a:prstGeom>
          <a:noFill/>
        </p:spPr>
        <p:txBody>
          <a:bodyPr wrap="square" lIns="0" rIns="0" tIns="0" bIns="0" anchor="ctr">
            <a:spAutoFit/>
          </a:bodyPr>
          <a:lstStyle/>
          <a:p>
            <a:pPr>
              <a:spcAft>
                <a:spcPts val="0"/>
              </a:spcAft>
              <a:buNone/>
            </a:pPr>
            <a:r>
              <a:rPr sz="1200" b="0" i="0">
                <a:solidFill>
                  <a:srgbClr val="E6EDF3"/>
                </a:solidFill>
                <a:latin typeface="Consolas"/>
              </a:rPr>
              <a:t>&lt;root&gt;/risk-results/</a:t>
            </a:r>
          </a:p>
          <a:p>
            <a:pPr>
              <a:spcAft>
                <a:spcPts val="0"/>
              </a:spcAft>
              <a:buNone/>
            </a:pPr>
            <a:r>
              <a:rPr sz="1200" b="0" i="0">
                <a:solidFill>
                  <a:srgbClr val="E6EDF3"/>
                </a:solidFill>
                <a:latin typeface="Consolas"/>
              </a:rPr>
              <a:t>├── var-official/              business_date=…/   Delta (or Iceberg), append-only, 7 years</a:t>
            </a:r>
          </a:p>
          <a:p>
            <a:pPr>
              <a:spcAft>
                <a:spcPts val="0"/>
              </a:spcAft>
              <a:buNone/>
            </a:pPr>
            <a:r>
              <a:rPr sz="1200" b="0" i="0">
                <a:solidFill>
                  <a:srgbClr val="E6EDF3"/>
                </a:solidFill>
                <a:latin typeface="Consolas"/>
              </a:rPr>
              <a:t>├── exposure-official/  exposure-official-cpty/   append-only</a:t>
            </a:r>
          </a:p>
          <a:p>
            <a:pPr>
              <a:spcAft>
                <a:spcPts val="0"/>
              </a:spcAft>
              <a:buNone/>
            </a:pPr>
            <a:r>
              <a:rPr sz="1200" b="0" i="0">
                <a:solidFill>
                  <a:srgbClr val="E6EDF3"/>
                </a:solidFill>
                <a:latin typeface="Consolas"/>
              </a:rPr>
              <a:t>└── jsonl/&lt;table&gt;/&lt;date&gt;/&lt;table&gt;-v&lt;table version&gt;.jsonl      one file per commit (2.9.4)</a:t>
            </a:r>
          </a:p>
        </p:txBody>
      </p:sp>
      <p:graphicFrame>
        <p:nvGraphicFramePr>
          <p:cNvPr id="11" name="Table"/>
          <p:cNvGraphicFramePr>
            <a:graphicFrameLocks noGrp="1"/>
          </p:cNvGraphicFramePr>
          <p:nvPr/>
        </p:nvGraphicFramePr>
        <p:xfrm>
          <a:off x="411480" y="2651760"/>
          <a:ext cx="11365991" cy="1920240"/>
        </p:xfrm>
        <a:graphic>
          <a:graphicData uri="http://schemas.openxmlformats.org/drawingml/2006/table">
            <a:tbl>
              <a:tblPr firstRow="0" bandRow="0">
                <a:tableStyleId>{5940675A-B579-460E-94D1-54222C63F5DA}</a:tableStyleId>
              </a:tblPr>
              <a:tblGrid>
                <a:gridCol w="3666449"/>
                <a:gridCol w="2383191"/>
                <a:gridCol w="5316351"/>
              </a:tblGrid>
              <a:tr h="384048">
                <a:tc>
                  <a:txBody>
                    <a:bodyPr wrap="square"/>
                    <a:lstStyle/>
                    <a:p>
                      <a:r>
                        <a:rPr sz="1200" b="1" i="0">
                          <a:solidFill>
                            <a:srgbClr val="FFFFFF"/>
                          </a:solidFill>
                          <a:latin typeface="Calibri"/>
                        </a:rPr>
                        <a:t>Setting</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Default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Effect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384048">
                <a:tc>
                  <a:txBody>
                    <a:bodyPr wrap="square"/>
                    <a:lstStyle/>
                    <a:p>
                      <a:r>
                        <a:rPr sz="1100" b="1" i="0">
                          <a:solidFill>
                            <a:srgbClr val="0E7C86"/>
                          </a:solidFill>
                          <a:latin typeface="Consolas"/>
                        </a:rPr>
                        <a:t>drishti.var.official.jsonl</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true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each VaR publish also written as JSONL beside the table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384048">
                <a:tc>
                  <a:txBody>
                    <a:bodyPr wrap="square"/>
                    <a:lstStyle/>
                    <a:p>
                      <a:r>
                        <a:rPr sz="1100" b="1" i="0">
                          <a:solidFill>
                            <a:srgbClr val="0E7C86"/>
                          </a:solidFill>
                          <a:latin typeface="Consolas"/>
                        </a:rPr>
                        <a:t>drishti.ccr.exposure.official.jsonl</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true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each exposure publish also written as JSONL</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384048">
                <a:tc>
                  <a:txBody>
                    <a:bodyPr wrap="square"/>
                    <a:lstStyle/>
                    <a:p>
                      <a:r>
                        <a:rPr sz="1100" b="1" i="0">
                          <a:solidFill>
                            <a:srgbClr val="0E7C86"/>
                          </a:solidFill>
                          <a:latin typeface="Consolas"/>
                        </a:rPr>
                        <a:t>drishti.var.official.root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${DRISHTI_DELTA_ROOT}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where both are written: a folder or </a:t>
                      </a:r>
                      <a:r>
                        <a:rPr sz="1100" b="0" i="0">
                          <a:solidFill>
                            <a:srgbClr val="0E7C86"/>
                          </a:solidFill>
                          <a:latin typeface="Consolas"/>
                        </a:rPr>
                        <a:t>s3://</a:t>
                      </a:r>
                      <a:r>
                        <a:rPr sz="1200" b="0" i="0">
                          <a:solidFill>
                            <a:srgbClr val="1C2433"/>
                          </a:solidFill>
                          <a:latin typeface="Calibri"/>
                        </a:rPr>
                        <a:t> (2.9.5)</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384048">
                <a:tc>
                  <a:txBody>
                    <a:bodyPr wrap="square"/>
                    <a:lstStyle/>
                    <a:p>
                      <a:r>
                        <a:rPr sz="1100" b="1" i="0">
                          <a:solidFill>
                            <a:srgbClr val="0E7C86"/>
                          </a:solidFill>
                          <a:latin typeface="Consolas"/>
                        </a:rPr>
                        <a:t>drishti.var.official.format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delta</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or </a:t>
                      </a:r>
                      <a:r>
                        <a:rPr sz="1100" b="0" i="0">
                          <a:solidFill>
                            <a:srgbClr val="0E7C86"/>
                          </a:solidFill>
                          <a:latin typeface="Consolas"/>
                        </a:rPr>
                        <a:t>iceberg</a:t>
                      </a:r>
                      <a:r>
                        <a:rPr sz="1200" b="0" i="0">
                          <a:solidFill>
                            <a:srgbClr val="1C2433"/>
                          </a:solidFill>
                          <a:latin typeface="Calibri"/>
                        </a:rPr>
                        <a:t> (2.9.5); a table keeps the format it was created in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bl>
          </a:graphicData>
        </a:graphic>
      </p:graphicFrame>
      <p:sp>
        <p:nvSpPr>
          <p:cNvPr id="12" name="TextBox 11"/>
          <p:cNvSpPr txBox="1"/>
          <p:nvPr/>
        </p:nvSpPr>
        <p:spPr>
          <a:xfrm>
            <a:off x="411480" y="4846320"/>
            <a:ext cx="11365992" cy="1508760"/>
          </a:xfrm>
          <a:prstGeom prst="rect">
            <a:avLst/>
          </a:prstGeom>
          <a:noFill/>
        </p:spPr>
        <p:txBody>
          <a:bodyPr wrap="square" lIns="0" rIns="0" tIns="0" bIns="0" anchor="t">
            <a:spAutoFit/>
          </a:bodyPr>
          <a:lstStyle/>
          <a:p>
            <a:pPr algn="l" marL="201168" indent="-201168">
              <a:spcAft>
                <a:spcPts val="600"/>
              </a:spcAft>
              <a:buClr>
                <a:srgbClr val="E87A1E"/>
              </a:buClr>
              <a:buSzPct val="100000"/>
              <a:buFont typeface="Arial"/>
              <a:buChar char="•"/>
            </a:pPr>
            <a:r>
              <a:rPr sz="1400" b="0" i="0">
                <a:solidFill>
                  <a:srgbClr val="1C2433"/>
                </a:solidFill>
                <a:latin typeface="Calibri"/>
              </a:rPr>
              <a:t>A restatement is a new file, never a rewrite: the files follow the table's append-only versions</a:t>
            </a:r>
          </a:p>
          <a:p>
            <a:pPr algn="l" marL="201168" indent="-201168">
              <a:spcAft>
                <a:spcPts val="600"/>
              </a:spcAft>
              <a:buClr>
                <a:srgbClr val="E87A1E"/>
              </a:buClr>
              <a:buSzPct val="100000"/>
              <a:buFont typeface="Arial"/>
              <a:buChar char="•"/>
            </a:pPr>
            <a:r>
              <a:rPr sz="1400" b="0" i="0">
                <a:solidFill>
                  <a:srgbClr val="1C2433"/>
                </a:solidFill>
                <a:latin typeface="Calibri"/>
              </a:rPr>
              <a:t>Content-store row lists are JSONL too: </a:t>
            </a:r>
            <a:r>
              <a:rPr sz="1300" b="0" i="0">
                <a:solidFill>
                  <a:srgbClr val="0E7C86"/>
                </a:solidFill>
                <a:latin typeface="Consolas"/>
              </a:rPr>
              <a:t>var/official/&lt;date&gt;-membership-v&lt;n&gt;.jsonl</a:t>
            </a:r>
            <a:r>
              <a:rPr sz="1400" b="0" i="0">
                <a:solidFill>
                  <a:srgbClr val="1C2433"/>
                </a:solidFill>
                <a:latin typeface="Calibri"/>
              </a:rPr>
              <a:t>, </a:t>
            </a:r>
            <a:r>
              <a:rPr sz="1300" b="0" i="0">
                <a:solidFill>
                  <a:srgbClr val="0E7C86"/>
                </a:solidFill>
                <a:latin typeface="Consolas"/>
              </a:rPr>
              <a:t>exposure/official/&lt;date&gt;-trades-v&lt;n&gt;.jsonl</a:t>
            </a:r>
          </a:p>
          <a:p>
            <a:pPr algn="l" marL="201168" indent="-201168">
              <a:spcAft>
                <a:spcPts val="600"/>
              </a:spcAft>
              <a:buClr>
                <a:srgbClr val="E87A1E"/>
              </a:buClr>
              <a:buSzPct val="100000"/>
              <a:buFont typeface="Arial"/>
              <a:buChar char="•"/>
            </a:pPr>
            <a:r>
              <a:rPr sz="1400" b="0" i="0">
                <a:solidFill>
                  <a:srgbClr val="1C2433"/>
                </a:solidFill>
                <a:latin typeface="Calibri"/>
              </a:rPr>
              <a:t>Records written before 2.9.4 stay </a:t>
            </a:r>
            <a:r>
              <a:rPr sz="1300" b="0" i="0">
                <a:solidFill>
                  <a:srgbClr val="0E7C86"/>
                </a:solidFill>
                <a:latin typeface="Consolas"/>
              </a:rPr>
              <a:t>.json</a:t>
            </a:r>
            <a:r>
              <a:rPr sz="1400" b="0" i="0">
                <a:solidFill>
                  <a:srgbClr val="1C2433"/>
                </a:solidFill>
                <a:latin typeface="Calibri"/>
              </a:rPr>
              <a:t> and are read as they are: the store is append-only</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Number"/>
          <p:cNvSpPr txBox="1"/>
          <p:nvPr/>
        </p:nvSpPr>
        <p:spPr>
          <a:xfrm>
            <a:off x="4754880" y="-822960"/>
            <a:ext cx="7223760" cy="7863840"/>
          </a:xfrm>
          <a:prstGeom prst="rect">
            <a:avLst/>
          </a:prstGeom>
          <a:noFill/>
        </p:spPr>
        <p:txBody>
          <a:bodyPr wrap="square" lIns="0" rIns="0" tIns="0" bIns="0" anchor="ctr">
            <a:spAutoFit/>
          </a:bodyPr>
          <a:lstStyle/>
          <a:p>
            <a:pPr algn="r">
              <a:spcAft>
                <a:spcPts val="600"/>
              </a:spcAft>
              <a:buNone/>
            </a:pPr>
            <a:r>
              <a:rPr sz="42000" b="1" i="0">
                <a:solidFill>
                  <a:srgbClr val="1C3560"/>
                </a:solidFill>
                <a:latin typeface="Calibri"/>
              </a:rPr>
              <a:t>09</a:t>
            </a:r>
          </a:p>
        </p:txBody>
      </p:sp>
      <p:sp>
        <p:nvSpPr>
          <p:cNvPr id="4" name="Title"/>
          <p:cNvSpPr txBox="1"/>
          <p:nvPr/>
        </p:nvSpPr>
        <p:spPr>
          <a:xfrm>
            <a:off x="822960" y="2514600"/>
            <a:ext cx="6949440" cy="1828800"/>
          </a:xfrm>
          <a:prstGeom prst="rect">
            <a:avLst/>
          </a:prstGeom>
          <a:noFill/>
        </p:spPr>
        <p:txBody>
          <a:bodyPr wrap="square" lIns="0" rIns="0" tIns="0" bIns="0" anchor="ctr">
            <a:spAutoFit/>
          </a:bodyPr>
          <a:lstStyle/>
          <a:p>
            <a:pPr algn="l">
              <a:spcAft>
                <a:spcPts val="600"/>
              </a:spcAft>
              <a:buNone/>
            </a:pPr>
            <a:r>
              <a:rPr sz="4400" b="1" i="0">
                <a:solidFill>
                  <a:srgbClr val="FFFFFF"/>
                </a:solidFill>
                <a:latin typeface="Calibri"/>
              </a:rPr>
              <a:t>Loading</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9.1 The daily load (load-day.sh)</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9</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49</a:t>
            </a:r>
          </a:p>
        </p:txBody>
      </p:sp>
      <p:sp>
        <p:nvSpPr>
          <p:cNvPr id="9" name="Code block"/>
          <p:cNvSpPr/>
          <p:nvPr/>
        </p:nvSpPr>
        <p:spPr>
          <a:xfrm>
            <a:off x="411480" y="1188720"/>
            <a:ext cx="11365992" cy="3063240"/>
          </a:xfrm>
          <a:prstGeom prst="roundRect">
            <a:avLst>
              <a:gd name="adj" fmla="val 4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
          <p:cNvSpPr txBox="1"/>
          <p:nvPr/>
        </p:nvSpPr>
        <p:spPr>
          <a:xfrm>
            <a:off x="521208" y="1252728"/>
            <a:ext cx="11146536" cy="2935224"/>
          </a:xfrm>
          <a:prstGeom prst="rect">
            <a:avLst/>
          </a:prstGeom>
          <a:noFill/>
        </p:spPr>
        <p:txBody>
          <a:bodyPr wrap="square" lIns="0" rIns="0" tIns="0" bIns="0" anchor="ctr">
            <a:spAutoFit/>
          </a:bodyPr>
          <a:lstStyle/>
          <a:p>
            <a:pPr>
              <a:spcAft>
                <a:spcPts val="0"/>
              </a:spcAft>
              <a:buNone/>
            </a:pPr>
            <a:r>
              <a:rPr sz="1100" b="0" i="0">
                <a:solidFill>
                  <a:srgbClr val="E6EDF3"/>
                </a:solidFill>
                <a:latin typeface="Consolas"/>
              </a:rPr>
              <a:t> EventBridge Scheduler (LOAD_SCHEDULE, LOAD_SCHEDULE_ZONE)</a:t>
            </a:r>
          </a:p>
          <a:p>
            <a:pPr>
              <a:spcAft>
                <a:spcPts val="0"/>
              </a:spcAft>
              <a:buNone/>
            </a:pPr>
            <a:r>
              <a:rPr sz="1100" b="0" i="0">
                <a:solidFill>
                  <a:srgbClr val="E6EDF3"/>
                </a:solidFill>
                <a:latin typeface="Consolas"/>
              </a:rPr>
              <a:t>   └─► ECS RunTask drishti-&lt;env&gt;-loader ─► loader-entrypoint.sh (EFS mounted? writable?) ─► load-day.sh</a:t>
            </a:r>
          </a:p>
          <a:p>
            <a:pPr>
              <a:spcAft>
                <a:spcPts val="0"/>
              </a:spcAft>
              <a:buNone/>
            </a:pPr>
            <a:r>
              <a:rPr sz="1100" b="0" i="0">
                <a:solidFill>
                  <a:srgbClr val="E6EDF3"/>
                </a:solidFill>
                <a:latin typeface="Consolas"/>
              </a:rPr>
              <a:t>          for each table of LAKE_TABLES_FILE:</a:t>
            </a:r>
          </a:p>
          <a:p>
            <a:pPr>
              <a:spcAft>
                <a:spcPts val="0"/>
              </a:spcAft>
              <a:buNone/>
            </a:pPr>
            <a:r>
              <a:rPr sz="1100" b="0" i="0">
                <a:solidFill>
                  <a:srgbClr val="E6EDF3"/>
                </a:solidFill>
                <a:latin typeface="Consolas"/>
              </a:rPr>
              <a:t>            flock  /opt/drishti/data/lake-locks/&lt;domain&gt;--&lt;table&gt;.lock   (held: exit 3)</a:t>
            </a:r>
          </a:p>
          <a:p>
            <a:pPr>
              <a:spcAft>
                <a:spcPts val="0"/>
              </a:spcAft>
              <a:buNone/>
            </a:pPr>
            <a:r>
              <a:rPr sz="1100" b="0" i="0">
                <a:solidFill>
                  <a:srgbClr val="E6EDF3"/>
                </a:solidFill>
                <a:latin typeface="Consolas"/>
              </a:rPr>
              <a:t>            aws s3 sync   s3://landing/&lt;date&gt;/&lt;source&gt;/  →  scratch/in/&lt;table&gt;/      (JSON Lines)</a:t>
            </a:r>
          </a:p>
          <a:p>
            <a:pPr>
              <a:spcAft>
                <a:spcPts val="0"/>
              </a:spcAft>
              <a:buNone/>
            </a:pPr>
            <a:r>
              <a:rPr sz="1100" b="0" i="0">
                <a:solidFill>
                  <a:srgbClr val="E6EDF3"/>
                </a:solidFill>
                <a:latin typeface="Consolas"/>
              </a:rPr>
              <a:t>            drishti.py lake build   --from scratch/in/&lt;table&gt; -r --kind trade --pack config/packs/trading</a:t>
            </a:r>
          </a:p>
          <a:p>
            <a:pPr>
              <a:spcAft>
                <a:spcPts val="0"/>
              </a:spcAft>
              <a:buNone/>
            </a:pPr>
            <a:r>
              <a:rPr sz="1100" b="0" i="0">
                <a:solidFill>
                  <a:srgbClr val="E6EDF3"/>
                </a:solidFill>
                <a:latin typeface="Consolas"/>
              </a:rPr>
              <a:t>                                    --mode overwrite-dates --batch-rows 250000 --partition-by PRODUCT_TYPE …</a:t>
            </a:r>
          </a:p>
          <a:p>
            <a:pPr>
              <a:spcAft>
                <a:spcPts val="0"/>
              </a:spcAft>
              <a:buNone/>
            </a:pPr>
            <a:r>
              <a:rPr sz="1100" b="0" i="0">
                <a:solidFill>
                  <a:srgbClr val="E6EDF3"/>
                </a:solidFill>
                <a:latin typeface="Consolas"/>
              </a:rPr>
              <a:t>            aws s3 sync   scratch/lake/trading/trade_endur/ → s3://lake/…/trade_endur/  --exclude "_delta_log/*"</a:t>
            </a:r>
          </a:p>
          <a:p>
            <a:pPr>
              <a:spcAft>
                <a:spcPts val="0"/>
              </a:spcAft>
              <a:buNone/>
            </a:pPr>
            <a:r>
              <a:rPr sz="1100" b="0" i="0">
                <a:solidFill>
                  <a:srgbClr val="E6EDF3"/>
                </a:solidFill>
                <a:latin typeface="Consolas"/>
              </a:rPr>
              <a:t>            drishti.py lake publish --from scratch/lake/… --to s3://…/trade_endur --dates &lt;date&gt; [--signal …]</a:t>
            </a:r>
          </a:p>
          <a:p>
            <a:pPr>
              <a:spcAft>
                <a:spcPts val="0"/>
              </a:spcAft>
              <a:buNone/>
            </a:pPr>
            <a:r>
              <a:rPr sz="1100" b="0" i="0">
                <a:solidFill>
                  <a:srgbClr val="E6EDF3"/>
                </a:solidFill>
                <a:latin typeface="Consolas"/>
              </a:rPr>
              <a:t>            CloudWatch Drishti/Lake: LoadSucceeded, PublishedBusinessDate, LoadSeconds</a:t>
            </a:r>
          </a:p>
          <a:p>
            <a:pPr>
              <a:spcAft>
                <a:spcPts val="0"/>
              </a:spcAft>
              <a:buNone/>
            </a:pPr>
            <a:r>
              <a:rPr sz="1100" b="0" i="0">
                <a:solidFill>
                  <a:srgbClr val="E6EDF3"/>
                </a:solidFill>
                <a:latin typeface="Consolas"/>
              </a:rPr>
              <a:t>          scratch removed (always)</a:t>
            </a:r>
          </a:p>
        </p:txBody>
      </p:sp>
      <p:graphicFrame>
        <p:nvGraphicFramePr>
          <p:cNvPr id="11" name="Table"/>
          <p:cNvGraphicFramePr>
            <a:graphicFrameLocks noGrp="1"/>
          </p:cNvGraphicFramePr>
          <p:nvPr/>
        </p:nvGraphicFramePr>
        <p:xfrm>
          <a:off x="411480" y="4434840"/>
          <a:ext cx="6035040" cy="1828800"/>
        </p:xfrm>
        <a:graphic>
          <a:graphicData uri="http://schemas.openxmlformats.org/drawingml/2006/table">
            <a:tbl>
              <a:tblPr firstRow="0" bandRow="0">
                <a:tableStyleId>{5940675A-B579-460E-94D1-54222C63F5DA}</a:tableStyleId>
              </a:tblPr>
              <a:tblGrid>
                <a:gridCol w="731520"/>
                <a:gridCol w="5303520"/>
              </a:tblGrid>
              <a:tr h="365760">
                <a:tc>
                  <a:txBody>
                    <a:bodyPr wrap="square"/>
                    <a:lstStyle/>
                    <a:p>
                      <a:r>
                        <a:rPr sz="1200" b="1" i="0">
                          <a:solidFill>
                            <a:srgbClr val="FFFFFF"/>
                          </a:solidFill>
                          <a:latin typeface="Calibri"/>
                        </a:rPr>
                        <a:t>Exit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Meaning</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365760">
                <a:tc>
                  <a:txBody>
                    <a:bodyPr wrap="square"/>
                    <a:lstStyle/>
                    <a:p>
                      <a:r>
                        <a:rPr sz="1200" b="1" i="0">
                          <a:solidFill>
                            <a:srgbClr val="1C2433"/>
                          </a:solidFill>
                          <a:latin typeface="Calibri"/>
                        </a:rPr>
                        <a:t>0</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every table published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365760">
                <a:tc>
                  <a:txBody>
                    <a:bodyPr wrap="square"/>
                    <a:lstStyle/>
                    <a:p>
                      <a:r>
                        <a:rPr sz="1200" b="1" i="0">
                          <a:solidFill>
                            <a:srgbClr val="1C2433"/>
                          </a:solidFill>
                          <a:latin typeface="Calibri"/>
                        </a:rPr>
                        <a:t>2</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published with rejected documents (the summary says which)</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365760">
                <a:tc>
                  <a:txBody>
                    <a:bodyPr wrap="square"/>
                    <a:lstStyle/>
                    <a:p>
                      <a:r>
                        <a:rPr sz="1200" b="1" i="0">
                          <a:solidFill>
                            <a:srgbClr val="1C2433"/>
                          </a:solidFill>
                          <a:latin typeface="Calibri"/>
                        </a:rPr>
                        <a:t>1</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a table failed: its S3 table is unchanged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365760">
                <a:tc>
                  <a:txBody>
                    <a:bodyPr wrap="square"/>
                    <a:lstStyle/>
                    <a:p>
                      <a:r>
                        <a:rPr sz="1200" b="1" i="0">
                          <a:solidFill>
                            <a:srgbClr val="1C2433"/>
                          </a:solidFill>
                          <a:latin typeface="Calibri"/>
                        </a:rPr>
                        <a:t>3</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a table was locked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bl>
          </a:graphicData>
        </a:graphic>
      </p:graphicFrame>
      <p:sp>
        <p:nvSpPr>
          <p:cNvPr id="12" name="Callout"/>
          <p:cNvSpPr/>
          <p:nvPr/>
        </p:nvSpPr>
        <p:spPr>
          <a:xfrm>
            <a:off x="6720840" y="4434840"/>
            <a:ext cx="5056632" cy="1828800"/>
          </a:xfrm>
          <a:prstGeom prst="roundRect">
            <a:avLst>
              <a:gd name="adj" fmla="val 6000"/>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allout edge"/>
          <p:cNvSpPr/>
          <p:nvPr/>
        </p:nvSpPr>
        <p:spPr>
          <a:xfrm>
            <a:off x="6720840" y="4453127"/>
            <a:ext cx="82296" cy="1792224"/>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6949440" y="4507992"/>
            <a:ext cx="4690872" cy="1682496"/>
          </a:xfrm>
          <a:prstGeom prst="rect">
            <a:avLst/>
          </a:prstGeom>
          <a:noFill/>
        </p:spPr>
        <p:txBody>
          <a:bodyPr wrap="square" lIns="0" rIns="0" tIns="0" bIns="0" anchor="ctr">
            <a:spAutoFit/>
          </a:bodyPr>
          <a:lstStyle/>
          <a:p>
            <a:pPr algn="l">
              <a:spcAft>
                <a:spcPts val="600"/>
              </a:spcAft>
              <a:buNone/>
            </a:pPr>
            <a:r>
              <a:rPr sz="1300" b="0" i="0">
                <a:solidFill>
                  <a:srgbClr val="1C2433"/>
                </a:solidFill>
                <a:latin typeface="Calibri"/>
              </a:rPr>
              <a:t>The date defaults to today in </a:t>
            </a:r>
            <a:r>
              <a:rPr sz="1200" b="0" i="0">
                <a:solidFill>
                  <a:srgbClr val="0E7C86"/>
                </a:solidFill>
                <a:latin typeface="Consolas"/>
              </a:rPr>
              <a:t>LOAD_SCHEDULE_ZONE</a:t>
            </a:r>
            <a:r>
              <a:rPr sz="1300" b="0" i="0">
                <a:solidFill>
                  <a:srgbClr val="1C2433"/>
                </a:solidFill>
                <a:latin typeface="Calibri"/>
              </a:rPr>
              <a:t>, the zone the schedule runs in: an evening load in New York is already the next day in UTC.</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9.1 The data-load signal</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9</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50</a:t>
            </a:r>
          </a:p>
        </p:txBody>
      </p:sp>
      <p:sp>
        <p:nvSpPr>
          <p:cNvPr id="9" name="Rounded Rectangle 8"/>
          <p:cNvSpPr/>
          <p:nvPr/>
        </p:nvSpPr>
        <p:spPr>
          <a:xfrm>
            <a:off x="411480" y="1188720"/>
            <a:ext cx="2606040" cy="109728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TextBox 9"/>
          <p:cNvSpPr txBox="1"/>
          <p:nvPr/>
        </p:nvSpPr>
        <p:spPr>
          <a:xfrm>
            <a:off x="502920" y="1234440"/>
            <a:ext cx="242316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lake publish</a:t>
            </a:r>
          </a:p>
        </p:txBody>
      </p:sp>
      <p:sp>
        <p:nvSpPr>
          <p:cNvPr id="11" name="TextBox 10"/>
          <p:cNvSpPr txBox="1"/>
          <p:nvPr/>
        </p:nvSpPr>
        <p:spPr>
          <a:xfrm>
            <a:off x="502920" y="1554480"/>
            <a:ext cx="2423160" cy="68580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one commit on S3</a:t>
            </a:r>
          </a:p>
        </p:txBody>
      </p:sp>
      <p:cxnSp>
        <p:nvCxnSpPr>
          <p:cNvPr id="12" name="Connector 11"/>
          <p:cNvCxnSpPr/>
          <p:nvPr/>
        </p:nvCxnSpPr>
        <p:spPr>
          <a:xfrm>
            <a:off x="3017520" y="1828800"/>
            <a:ext cx="301752" cy="0"/>
          </a:xfrm>
          <a:prstGeom prst="line">
            <a:avLst/>
          </a:prstGeom>
          <a:ln w="19050">
            <a:solidFill>
              <a:srgbClr val="E87A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328416" y="1188720"/>
            <a:ext cx="2606040" cy="109728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3419856" y="1234440"/>
            <a:ext cx="242316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POST /api/v1/packs/{pack}/loads</a:t>
            </a:r>
          </a:p>
        </p:txBody>
      </p:sp>
      <p:sp>
        <p:nvSpPr>
          <p:cNvPr id="15" name="TextBox 14"/>
          <p:cNvSpPr txBox="1"/>
          <p:nvPr/>
        </p:nvSpPr>
        <p:spPr>
          <a:xfrm>
            <a:off x="3419856" y="1554480"/>
            <a:ext cx="2423160" cy="68580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per date, a </a:t>
            </a:r>
            <a:r>
              <a:rPr sz="1100" b="0" i="0">
                <a:solidFill>
                  <a:srgbClr val="0E7C86"/>
                </a:solidFill>
                <a:latin typeface="Consolas"/>
              </a:rPr>
              <a:t>loads:write</a:t>
            </a:r>
            <a:r>
              <a:rPr sz="1200" b="0" i="0">
                <a:solidFill>
                  <a:srgbClr val="1C2433"/>
                </a:solidFill>
                <a:latin typeface="Calibri"/>
              </a:rPr>
              <a:t> token</a:t>
            </a:r>
          </a:p>
        </p:txBody>
      </p:sp>
      <p:cxnSp>
        <p:nvCxnSpPr>
          <p:cNvPr id="16" name="Connector 15"/>
          <p:cNvCxnSpPr/>
          <p:nvPr/>
        </p:nvCxnSpPr>
        <p:spPr>
          <a:xfrm>
            <a:off x="5934456" y="1828800"/>
            <a:ext cx="301752" cy="0"/>
          </a:xfrm>
          <a:prstGeom prst="line">
            <a:avLst/>
          </a:prstGeom>
          <a:ln w="19050">
            <a:solidFill>
              <a:srgbClr val="E87A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245352" y="1188720"/>
            <a:ext cx="2606040" cy="109728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xtBox 17"/>
          <p:cNvSpPr txBox="1"/>
          <p:nvPr/>
        </p:nvSpPr>
        <p:spPr>
          <a:xfrm>
            <a:off x="6336792" y="1234440"/>
            <a:ext cx="242316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the server</a:t>
            </a:r>
          </a:p>
        </p:txBody>
      </p:sp>
      <p:sp>
        <p:nvSpPr>
          <p:cNvPr id="19" name="TextBox 18"/>
          <p:cNvSpPr txBox="1"/>
          <p:nvPr/>
        </p:nvSpPr>
        <p:spPr>
          <a:xfrm>
            <a:off x="6336792" y="1554480"/>
            <a:ext cx="2423160" cy="68580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refresh, verify, alert (DATA_LOADS.md)</a:t>
            </a:r>
          </a:p>
        </p:txBody>
      </p:sp>
      <p:cxnSp>
        <p:nvCxnSpPr>
          <p:cNvPr id="20" name="Connector 19"/>
          <p:cNvCxnSpPr/>
          <p:nvPr/>
        </p:nvCxnSpPr>
        <p:spPr>
          <a:xfrm>
            <a:off x="8851392" y="1828800"/>
            <a:ext cx="301752" cy="0"/>
          </a:xfrm>
          <a:prstGeom prst="line">
            <a:avLst/>
          </a:prstGeom>
          <a:ln w="19050">
            <a:solidFill>
              <a:srgbClr val="E87A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162288" y="1188720"/>
            <a:ext cx="2606040" cy="1097280"/>
          </a:xfrm>
          <a:prstGeom prst="roundRect">
            <a:avLst>
              <a:gd name="adj" fmla="val 6000"/>
            </a:avLst>
          </a:prstGeom>
          <a:solidFill>
            <a:srgbClr val="DDEE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TextBox 21"/>
          <p:cNvSpPr txBox="1"/>
          <p:nvPr/>
        </p:nvSpPr>
        <p:spPr>
          <a:xfrm>
            <a:off x="9253728" y="1234440"/>
            <a:ext cx="242316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risk engines</a:t>
            </a:r>
          </a:p>
        </p:txBody>
      </p:sp>
      <p:sp>
        <p:nvSpPr>
          <p:cNvPr id="23" name="TextBox 22"/>
          <p:cNvSpPr txBox="1"/>
          <p:nvPr/>
        </p:nvSpPr>
        <p:spPr>
          <a:xfrm>
            <a:off x="9253728" y="1554480"/>
            <a:ext cx="2423160" cy="68580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VaR: reload + official capture</a:t>
            </a:r>
          </a:p>
          <a:p>
            <a:pPr algn="l" marL="201168" indent="-201168">
              <a:spcAft>
                <a:spcPts val="200"/>
              </a:spcAft>
              <a:buClr>
                <a:srgbClr val="E87A1E"/>
              </a:buClr>
              <a:buSzPct val="100000"/>
              <a:buFont typeface="Arial"/>
              <a:buChar char="•"/>
            </a:pPr>
            <a:r>
              <a:rPr sz="1200" b="0" i="0">
                <a:solidFill>
                  <a:srgbClr val="1C2433"/>
                </a:solidFill>
                <a:latin typeface="Calibri"/>
              </a:rPr>
              <a:t>exposure: reload</a:t>
            </a:r>
          </a:p>
        </p:txBody>
      </p:sp>
      <p:sp>
        <p:nvSpPr>
          <p:cNvPr id="24" name="TextBox 23"/>
          <p:cNvSpPr txBox="1"/>
          <p:nvPr/>
        </p:nvSpPr>
        <p:spPr>
          <a:xfrm>
            <a:off x="411480" y="2697480"/>
            <a:ext cx="11365992" cy="2743200"/>
          </a:xfrm>
          <a:prstGeom prst="rect">
            <a:avLst/>
          </a:prstGeom>
          <a:noFill/>
        </p:spPr>
        <p:txBody>
          <a:bodyPr wrap="square" lIns="0" rIns="0" tIns="0" bIns="0" anchor="t">
            <a:spAutoFit/>
          </a:bodyPr>
          <a:lstStyle/>
          <a:p>
            <a:pPr algn="l" marL="201168" indent="-201168">
              <a:spcAft>
                <a:spcPts val="700"/>
              </a:spcAft>
              <a:buClr>
                <a:srgbClr val="E87A1E"/>
              </a:buClr>
              <a:buSzPct val="100000"/>
              <a:buFont typeface="Arial"/>
              <a:buChar char="•"/>
            </a:pPr>
            <a:r>
              <a:rPr sz="1400" b="0" i="0">
                <a:solidFill>
                  <a:srgbClr val="1C2433"/>
                </a:solidFill>
                <a:latin typeface="Calibri"/>
              </a:rPr>
              <a:t>With </a:t>
            </a:r>
            <a:r>
              <a:rPr sz="1300" b="0" i="0">
                <a:solidFill>
                  <a:srgbClr val="0E7C86"/>
                </a:solidFill>
                <a:latin typeface="Consolas"/>
              </a:rPr>
              <a:t>DRISHTI_SIGNAL_URL</a:t>
            </a:r>
            <a:r>
              <a:rPr sz="1400" b="0" i="0">
                <a:solidFill>
                  <a:srgbClr val="1C2433"/>
                </a:solidFill>
                <a:latin typeface="Calibri"/>
              </a:rPr>
              <a:t> (a node's Cloud Map name) and </a:t>
            </a:r>
            <a:r>
              <a:rPr sz="1300" b="0" i="0">
                <a:solidFill>
                  <a:srgbClr val="0E7C86"/>
                </a:solidFill>
                <a:latin typeface="Consolas"/>
              </a:rPr>
              <a:t>DRISHTI_TOKEN_SECRET_ID</a:t>
            </a:r>
            <a:r>
              <a:rPr sz="1400" b="0" i="0">
                <a:solidFill>
                  <a:srgbClr val="1C2433"/>
                </a:solidFill>
                <a:latin typeface="Calibri"/>
              </a:rPr>
              <a:t> (an API token with </a:t>
            </a:r>
            <a:r>
              <a:rPr sz="1300" b="0" i="0">
                <a:solidFill>
                  <a:srgbClr val="0E7C86"/>
                </a:solidFill>
                <a:latin typeface="Consolas"/>
              </a:rPr>
              <a:t>loads:write</a:t>
            </a:r>
            <a:r>
              <a:rPr sz="1400" b="0" i="0">
                <a:solidFill>
                  <a:srgbClr val="1C2433"/>
                </a:solidFill>
                <a:latin typeface="Calibri"/>
              </a:rPr>
              <a:t>, read into a 0600 file)</a:t>
            </a:r>
          </a:p>
          <a:p>
            <a:pPr algn="l" marL="201168" indent="-201168">
              <a:spcAft>
                <a:spcPts val="700"/>
              </a:spcAft>
              <a:buClr>
                <a:srgbClr val="E87A1E"/>
              </a:buClr>
              <a:buSzPct val="100000"/>
              <a:buFont typeface="Arial"/>
              <a:buChar char="•"/>
            </a:pPr>
            <a:r>
              <a:rPr sz="1400" b="0" i="0">
                <a:solidFill>
                  <a:srgbClr val="1C2433"/>
                </a:solidFill>
                <a:latin typeface="Calibri"/>
              </a:rPr>
              <a:t>Without it, servers see the new table version at their next refresh (</a:t>
            </a:r>
            <a:r>
              <a:rPr sz="1300" b="0" i="0">
                <a:solidFill>
                  <a:srgbClr val="0E7C86"/>
                </a:solidFill>
                <a:latin typeface="Consolas"/>
              </a:rPr>
              <a:t>refresh-seconds</a:t>
            </a:r>
            <a:r>
              <a:rPr sz="1400" b="0" i="0">
                <a:solidFill>
                  <a:srgbClr val="1C2433"/>
                </a:solidFill>
                <a:latin typeface="Calibri"/>
              </a:rPr>
              <a:t>, 10)</a:t>
            </a:r>
          </a:p>
          <a:p>
            <a:pPr algn="l" marL="201168" indent="-201168">
              <a:spcAft>
                <a:spcPts val="700"/>
              </a:spcAft>
              <a:buClr>
                <a:srgbClr val="E87A1E"/>
              </a:buClr>
              <a:buSzPct val="100000"/>
              <a:buFont typeface="Arial"/>
              <a:buChar char="•"/>
            </a:pPr>
            <a:r>
              <a:rPr sz="1400" b="0" i="0">
                <a:solidFill>
                  <a:srgbClr val="1C2433"/>
                </a:solidFill>
                <a:latin typeface="Calibri"/>
              </a:rPr>
              <a:t>Either way readers switch at the commit; the signal makes it immediate and runs the load's expectations and alerts</a:t>
            </a:r>
          </a:p>
          <a:p>
            <a:pPr algn="l" marL="201168" indent="-201168">
              <a:spcAft>
                <a:spcPts val="700"/>
              </a:spcAft>
              <a:buClr>
                <a:srgbClr val="E87A1E"/>
              </a:buClr>
              <a:buSzPct val="100000"/>
              <a:buFont typeface="Arial"/>
              <a:buChar char="•"/>
            </a:pPr>
            <a:r>
              <a:rPr sz="1400" b="1" i="0">
                <a:solidFill>
                  <a:srgbClr val="1C2433"/>
                </a:solidFill>
                <a:latin typeface="Calibri"/>
              </a:rPr>
              <a:t>Risk kinds (2.8.0):</a:t>
            </a:r>
            <a:r>
              <a:rPr sz="1400" b="0" i="0">
                <a:solidFill>
                  <a:srgbClr val="1C2433"/>
                </a:solidFill>
                <a:latin typeface="Calibri"/>
              </a:rPr>
              <a:t> a </a:t>
            </a:r>
            <a:r>
              <a:rPr sz="1300" b="0" i="0">
                <a:solidFill>
                  <a:srgbClr val="0E7C86"/>
                </a:solidFill>
                <a:latin typeface="Consolas"/>
              </a:rPr>
              <a:t>pnl-vector</a:t>
            </a:r>
            <a:r>
              <a:rPr sz="1400" b="0" i="0">
                <a:solidFill>
                  <a:srgbClr val="1C2433"/>
                </a:solidFill>
                <a:latin typeface="Calibri"/>
              </a:rPr>
              <a:t>, </a:t>
            </a:r>
            <a:r>
              <a:rPr sz="1300" b="0" i="0">
                <a:solidFill>
                  <a:srgbClr val="0E7C86"/>
                </a:solidFill>
                <a:latin typeface="Consolas"/>
              </a:rPr>
              <a:t>scenario-pv</a:t>
            </a:r>
            <a:r>
              <a:rPr sz="1400" b="0" i="0">
                <a:solidFill>
                  <a:srgbClr val="1C2433"/>
                </a:solidFill>
                <a:latin typeface="Calibri"/>
              </a:rPr>
              <a:t>, </a:t>
            </a:r>
            <a:r>
              <a:rPr sz="1300" b="0" i="0">
                <a:solidFill>
                  <a:srgbClr val="0E7C86"/>
                </a:solidFill>
                <a:latin typeface="Consolas"/>
              </a:rPr>
              <a:t>scenario-set</a:t>
            </a:r>
            <a:r>
              <a:rPr sz="1400" b="0" i="0">
                <a:solidFill>
                  <a:srgbClr val="1C2433"/>
                </a:solidFill>
                <a:latin typeface="Calibri"/>
              </a:rPr>
              <a:t>, </a:t>
            </a:r>
            <a:r>
              <a:rPr sz="1300" b="0" i="0">
                <a:solidFill>
                  <a:srgbClr val="0E7C86"/>
                </a:solidFill>
                <a:latin typeface="Consolas"/>
              </a:rPr>
              <a:t>risk-hierarchy</a:t>
            </a:r>
            <a:r>
              <a:rPr sz="1400" b="0" i="0">
                <a:solidFill>
                  <a:srgbClr val="1C2433"/>
                </a:solidFill>
                <a:latin typeface="Calibri"/>
              </a:rPr>
              <a:t> or </a:t>
            </a:r>
            <a:r>
              <a:rPr sz="1300" b="0" i="0">
                <a:solidFill>
                  <a:srgbClr val="0E7C86"/>
                </a:solidFill>
                <a:latin typeface="Consolas"/>
              </a:rPr>
              <a:t>portfolio</a:t>
            </a:r>
            <a:r>
              <a:rPr sz="1400" b="0" i="0">
                <a:solidFill>
                  <a:srgbClr val="1C2433"/>
                </a:solidFill>
                <a:latin typeface="Calibri"/>
              </a:rPr>
              <a:t> signal reloads the VaR date and captures it officially; an intraday batch is applied on top; an </a:t>
            </a:r>
            <a:r>
              <a:rPr sz="1300" b="0" i="0">
                <a:solidFill>
                  <a:srgbClr val="0E7C86"/>
                </a:solidFill>
                <a:latin typeface="Consolas"/>
              </a:rPr>
              <a:t>exposure-path</a:t>
            </a:r>
            <a:r>
              <a:rPr sz="1400" b="0" i="0">
                <a:solidFill>
                  <a:srgbClr val="1C2433"/>
                </a:solidFill>
                <a:latin typeface="Calibri"/>
              </a:rPr>
              <a:t> signal reloads exposure</a:t>
            </a:r>
          </a:p>
        </p:txBody>
      </p:sp>
      <p:sp>
        <p:nvSpPr>
          <p:cNvPr id="25" name="Callout"/>
          <p:cNvSpPr/>
          <p:nvPr/>
        </p:nvSpPr>
        <p:spPr>
          <a:xfrm>
            <a:off x="411480" y="5532120"/>
            <a:ext cx="11365992" cy="777240"/>
          </a:xfrm>
          <a:prstGeom prst="roundRect">
            <a:avLst>
              <a:gd name="adj" fmla="val 6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Callout edge"/>
          <p:cNvSpPr/>
          <p:nvPr/>
        </p:nvSpPr>
        <p:spPr>
          <a:xfrm>
            <a:off x="411480" y="5550407"/>
            <a:ext cx="82296" cy="7406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xtBox 26"/>
          <p:cNvSpPr txBox="1"/>
          <p:nvPr/>
        </p:nvSpPr>
        <p:spPr>
          <a:xfrm>
            <a:off x="640080" y="5605272"/>
            <a:ext cx="11000232" cy="630936"/>
          </a:xfrm>
          <a:prstGeom prst="rect">
            <a:avLst/>
          </a:prstGeom>
          <a:noFill/>
        </p:spPr>
        <p:txBody>
          <a:bodyPr wrap="square" lIns="0" rIns="0" tIns="0" bIns="0" anchor="ctr">
            <a:spAutoFit/>
          </a:bodyPr>
          <a:lstStyle/>
          <a:p>
            <a:pPr algn="l">
              <a:spcAft>
                <a:spcPts val="600"/>
              </a:spcAft>
              <a:buNone/>
            </a:pPr>
            <a:r>
              <a:rPr sz="1300" b="0" i="0">
                <a:solidFill>
                  <a:srgbClr val="1C2433"/>
                </a:solidFill>
                <a:latin typeface="Calibri"/>
              </a:rPr>
              <a:t>Signals are safe in bursts since 2.6.7: reads queue at most </a:t>
            </a:r>
            <a:r>
              <a:rPr sz="1200" b="0" i="0">
                <a:solidFill>
                  <a:srgbClr val="0E7C86"/>
                </a:solidFill>
                <a:latin typeface="Consolas"/>
              </a:rPr>
              <a:t>max-queued-reads</a:t>
            </a:r>
            <a:r>
              <a:rPr sz="1300" b="0" i="0">
                <a:solidFill>
                  <a:srgbClr val="1C2433"/>
                </a:solidFill>
                <a:latin typeface="Calibri"/>
              </a:rPr>
              <a:t> (4,096) and a read whose caller has gone leaves the queue.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9.2 Why concurrent commits are safe</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9</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51</a:t>
            </a:r>
          </a:p>
        </p:txBody>
      </p:sp>
      <p:graphicFrame>
        <p:nvGraphicFramePr>
          <p:cNvPr id="9" name="Table"/>
          <p:cNvGraphicFramePr>
            <a:graphicFrameLocks noGrp="1"/>
          </p:cNvGraphicFramePr>
          <p:nvPr/>
        </p:nvGraphicFramePr>
        <p:xfrm>
          <a:off x="411480" y="1188720"/>
          <a:ext cx="11365991" cy="3621024"/>
        </p:xfrm>
        <a:graphic>
          <a:graphicData uri="http://schemas.openxmlformats.org/drawingml/2006/table">
            <a:tbl>
              <a:tblPr firstRow="0" bandRow="0">
                <a:tableStyleId>{5940675A-B579-460E-94D1-54222C63F5DA}</a:tableStyleId>
              </a:tblPr>
              <a:tblGrid>
                <a:gridCol w="4033093"/>
                <a:gridCol w="7332898"/>
              </a:tblGrid>
              <a:tr h="603504">
                <a:tc>
                  <a:txBody>
                    <a:bodyPr wrap="square"/>
                    <a:lstStyle/>
                    <a:p>
                      <a:r>
                        <a:rPr sz="1200" b="1" i="0">
                          <a:solidFill>
                            <a:srgbClr val="FFFFFF"/>
                          </a:solidFill>
                          <a:latin typeface="Calibri"/>
                        </a:rPr>
                        <a:t>Writer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How it commits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603504">
                <a:tc>
                  <a:txBody>
                    <a:bodyPr wrap="square"/>
                    <a:lstStyle/>
                    <a:p>
                      <a:r>
                        <a:rPr sz="1100" b="1" i="0">
                          <a:solidFill>
                            <a:srgbClr val="0E7C86"/>
                          </a:solidFill>
                          <a:latin typeface="Consolas"/>
                        </a:rPr>
                        <a:t>lake publish</a:t>
                      </a:r>
                      <a:r>
                        <a:rPr sz="1200" b="1" i="0">
                          <a:solidFill>
                            <a:srgbClr val="1C2433"/>
                          </a:solidFill>
                          <a:latin typeface="Calibri"/>
                        </a:rPr>
                        <a:t>, </a:t>
                      </a:r>
                      <a:r>
                        <a:rPr sz="1100" b="1" i="0">
                          <a:solidFill>
                            <a:srgbClr val="0E7C86"/>
                          </a:solidFill>
                          <a:latin typeface="Consolas"/>
                        </a:rPr>
                        <a:t>lake maintain</a:t>
                      </a:r>
                      <a:r>
                        <a:rPr sz="1200" b="1" i="0">
                          <a:solidFill>
                            <a:srgbClr val="1C2433"/>
                          </a:solidFill>
                          <a:latin typeface="Calibri"/>
                        </a:rPr>
                        <a:t> (Python deltalake 1.x)</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conditional PUT of the commit file (</a:t>
                      </a:r>
                      <a:r>
                        <a:rPr sz="1100" b="0" i="0">
                          <a:solidFill>
                            <a:srgbClr val="0E7C86"/>
                          </a:solidFill>
                          <a:latin typeface="Consolas"/>
                        </a:rPr>
                        <a:t>If-None-Match: *</a:t>
                      </a:r>
                      <a:r>
                        <a:rPr sz="1200" b="0" i="0">
                          <a:solidFill>
                            <a:srgbClr val="1C2433"/>
                          </a:solidFill>
                          <a:latin typeface="Calibri"/>
                        </a:rPr>
                        <a:t>): the second writer gets 412, re-reads the log and retries (20); no DynamoDB lock; unsafe rename refused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603504">
                <a:tc>
                  <a:txBody>
                    <a:bodyPr wrap="square"/>
                    <a:lstStyle/>
                    <a:p>
                      <a:r>
                        <a:rPr sz="1200" b="1" i="0">
                          <a:solidFill>
                            <a:srgbClr val="1C2433"/>
                          </a:solidFill>
                          <a:latin typeface="Calibri"/>
                        </a:rPr>
                        <a:t>Drishti's Java writer (</a:t>
                      </a:r>
                      <a:r>
                        <a:rPr sz="1100" b="1" i="0">
                          <a:solidFill>
                            <a:srgbClr val="0E7C86"/>
                          </a:solidFill>
                          <a:latin typeface="Consolas"/>
                        </a:rPr>
                        <a:t>lake build</a:t>
                      </a:r>
                      <a:r>
                        <a:rPr sz="1200" b="1" i="0">
                          <a:solidFill>
                            <a:srgbClr val="1C2433"/>
                          </a:solidFill>
                          <a:latin typeface="Calibri"/>
                        </a:rPr>
                        <a:t>, Kafka intraday windows)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local disk and EFS (a hard link of a finished commit file)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603504">
                <a:tc>
                  <a:txBody>
                    <a:bodyPr wrap="square"/>
                    <a:lstStyle/>
                    <a:p>
                      <a:r>
                        <a:rPr sz="1200" b="1" i="0">
                          <a:solidFill>
                            <a:srgbClr val="1C2433"/>
                          </a:solidFill>
                          <a:latin typeface="Calibri"/>
                        </a:rPr>
                        <a:t>The official-results publisher (2.9.5)</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on </a:t>
                      </a:r>
                      <a:r>
                        <a:rPr sz="1100" b="0" i="0">
                          <a:solidFill>
                            <a:srgbClr val="0E7C86"/>
                          </a:solidFill>
                          <a:latin typeface="Consolas"/>
                        </a:rPr>
                        <a:t>s3://</a:t>
                      </a:r>
                      <a:r>
                        <a:rPr sz="1200" b="0" i="0">
                          <a:solidFill>
                            <a:srgbClr val="1C2433"/>
                          </a:solidFill>
                          <a:latin typeface="Calibri"/>
                        </a:rPr>
                        <a:t> each Delta commit file is an exclusive create (</a:t>
                      </a:r>
                      <a:r>
                        <a:rPr sz="1100" b="0" i="0">
                          <a:solidFill>
                            <a:srgbClr val="0E7C86"/>
                          </a:solidFill>
                          <a:latin typeface="Consolas"/>
                        </a:rPr>
                        <a:t>If-None-Match: *</a:t>
                      </a:r>
                      <a:r>
                        <a:rPr sz="1200" b="0" i="0">
                          <a:solidFill>
                            <a:srgbClr val="1C2433"/>
                          </a:solidFill>
                          <a:latin typeface="Calibri"/>
                        </a:rPr>
                        <a:t>): two servers both land, the second on the next version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603504">
                <a:tc>
                  <a:txBody>
                    <a:bodyPr wrap="square"/>
                    <a:lstStyle/>
                    <a:p>
                      <a:r>
                        <a:rPr sz="1200" b="1" i="0">
                          <a:solidFill>
                            <a:srgbClr val="1C2433"/>
                          </a:solidFill>
                          <a:latin typeface="Calibri"/>
                        </a:rPr>
                        <a:t>Drishti's native Iceberg writer (drishti-lakeio)</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the same conditional PUT, with a start-up probe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603504">
                <a:tc>
                  <a:txBody>
                    <a:bodyPr wrap="square"/>
                    <a:lstStyle/>
                    <a:p>
                      <a:r>
                        <a:rPr sz="1200" b="1" i="0">
                          <a:solidFill>
                            <a:srgbClr val="1C2433"/>
                          </a:solidFill>
                          <a:latin typeface="Calibri"/>
                        </a:rPr>
                        <a:t>The content store's s3 backend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If-None-Match: *</a:t>
                      </a:r>
                      <a:r>
                        <a:rPr sz="1200" b="0" i="0">
                          <a:solidFill>
                            <a:srgbClr val="1C2433"/>
                          </a:solidFill>
                          <a:latin typeface="Calibri"/>
                        </a:rPr>
                        <a:t> to create, </a:t>
                      </a:r>
                      <a:r>
                        <a:rPr sz="1100" b="0" i="0">
                          <a:solidFill>
                            <a:srgbClr val="0E7C86"/>
                          </a:solidFill>
                          <a:latin typeface="Consolas"/>
                        </a:rPr>
                        <a:t>If-Match: &lt;ETag&gt;</a:t>
                      </a:r>
                      <a:r>
                        <a:rPr sz="1200" b="0" i="0">
                          <a:solidFill>
                            <a:srgbClr val="1C2433"/>
                          </a:solidFill>
                          <a:latin typeface="Calibri"/>
                        </a:rPr>
                        <a:t> to update; the loser gets </a:t>
                      </a:r>
                      <a:r>
                        <a:rPr sz="1100" b="0" i="0">
                          <a:solidFill>
                            <a:srgbClr val="0E7C86"/>
                          </a:solidFill>
                          <a:latin typeface="Consolas"/>
                        </a:rPr>
                        <a:t>409 DRS-5057</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bl>
          </a:graphicData>
        </a:graphic>
      </p:graphicFrame>
      <p:sp>
        <p:nvSpPr>
          <p:cNvPr id="10" name="Callout"/>
          <p:cNvSpPr/>
          <p:nvPr/>
        </p:nvSpPr>
        <p:spPr>
          <a:xfrm>
            <a:off x="411480" y="4983480"/>
            <a:ext cx="11365992" cy="1325880"/>
          </a:xfrm>
          <a:prstGeom prst="roundRect">
            <a:avLst>
              <a:gd name="adj" fmla="val 6000"/>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allout edge"/>
          <p:cNvSpPr/>
          <p:nvPr/>
        </p:nvSpPr>
        <p:spPr>
          <a:xfrm>
            <a:off x="411480" y="5001768"/>
            <a:ext cx="82296" cy="1289304"/>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640080" y="5056632"/>
            <a:ext cx="11000232" cy="1179576"/>
          </a:xfrm>
          <a:prstGeom prst="rect">
            <a:avLst/>
          </a:prstGeom>
          <a:noFill/>
        </p:spPr>
        <p:txBody>
          <a:bodyPr wrap="square" lIns="0" rIns="0" tIns="0" bIns="0" anchor="ctr">
            <a:spAutoFit/>
          </a:bodyPr>
          <a:lstStyle/>
          <a:p>
            <a:pPr algn="l">
              <a:spcAft>
                <a:spcPts val="600"/>
              </a:spcAft>
              <a:buNone/>
            </a:pPr>
            <a:r>
              <a:rPr sz="1300" b="1" i="0">
                <a:solidFill>
                  <a:srgbClr val="1C2433"/>
                </a:solidFill>
                <a:latin typeface="Calibri"/>
              </a:rPr>
              <a:t>Two layers of safety.</a:t>
            </a:r>
            <a:r>
              <a:rPr sz="1300" b="0" i="0">
                <a:solidFill>
                  <a:srgbClr val="1C2433"/>
                </a:solidFill>
                <a:latin typeface="Calibri"/>
              </a:rPr>
              <a:t> </a:t>
            </a:r>
            <a:r>
              <a:rPr sz="1200" b="0" i="0">
                <a:solidFill>
                  <a:srgbClr val="0E7C86"/>
                </a:solidFill>
                <a:latin typeface="Consolas"/>
              </a:rPr>
              <a:t>check-conditional-writes.sh</a:t>
            </a:r>
            <a:r>
              <a:rPr sz="1300" b="0" i="0">
                <a:solidFill>
                  <a:srgbClr val="1C2433"/>
                </a:solidFill>
                <a:latin typeface="Calibri"/>
              </a:rPr>
              <a:t> proves the bucket refuses a second create. On top, the scripts take a lock per table on EFS (flock, NFSv4 byte-range locks, released if a task dies), so a load, a backfill and maintenance of one table never overlap. </a:t>
            </a:r>
            <a:r>
              <a:rPr sz="1300" b="1" i="0">
                <a:solidFill>
                  <a:srgbClr val="1C2433"/>
                </a:solidFill>
                <a:latin typeface="Calibri"/>
              </a:rPr>
              <a:t>Tested:</a:t>
            </a:r>
            <a:r>
              <a:rPr sz="1300" b="0" i="0">
                <a:solidFill>
                  <a:srgbClr val="1C2433"/>
                </a:solidFill>
                <a:latin typeface="Calibri"/>
              </a:rPr>
              <a:t> three </a:t>
            </a:r>
            <a:r>
              <a:rPr sz="1200" b="0" i="0">
                <a:solidFill>
                  <a:srgbClr val="0E7C86"/>
                </a:solidFill>
                <a:latin typeface="Consolas"/>
              </a:rPr>
              <a:t>lake publish</a:t>
            </a:r>
            <a:r>
              <a:rPr sz="1300" b="0" i="0">
                <a:solidFill>
                  <a:srgbClr val="1C2433"/>
                </a:solidFill>
                <a:latin typeface="Calibri"/>
              </a:rPr>
              <a:t> runs at once on moto, one winner per version.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9.3 Backfill and 9.4 restatement</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9</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52</a:t>
            </a:r>
          </a:p>
        </p:txBody>
      </p:sp>
      <p:sp>
        <p:nvSpPr>
          <p:cNvPr id="9" name="Code block"/>
          <p:cNvSpPr/>
          <p:nvPr/>
        </p:nvSpPr>
        <p:spPr>
          <a:xfrm>
            <a:off x="411480" y="1188720"/>
            <a:ext cx="11365992" cy="594360"/>
          </a:xfrm>
          <a:prstGeom prst="roundRect">
            <a:avLst>
              <a:gd name="adj" fmla="val 4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
          <p:cNvSpPr txBox="1"/>
          <p:nvPr/>
        </p:nvSpPr>
        <p:spPr>
          <a:xfrm>
            <a:off x="521208" y="1252728"/>
            <a:ext cx="11146536" cy="466344"/>
          </a:xfrm>
          <a:prstGeom prst="rect">
            <a:avLst/>
          </a:prstGeom>
          <a:noFill/>
        </p:spPr>
        <p:txBody>
          <a:bodyPr wrap="square" lIns="0" rIns="0" tIns="0" bIns="0" anchor="ctr">
            <a:spAutoFit/>
          </a:bodyPr>
          <a:lstStyle/>
          <a:p>
            <a:pPr>
              <a:spcAft>
                <a:spcPts val="0"/>
              </a:spcAft>
              <a:buNone/>
            </a:pPr>
            <a:r>
              <a:rPr sz="1100" b="0" i="0">
                <a:solidFill>
                  <a:srgbClr val="E6EDF3"/>
                </a:solidFill>
                <a:latin typeface="Consolas"/>
              </a:rPr>
              <a:t>deploy/aws/delta-lake/backfill.sh --from 2026-01-02 --to 2026-10-16 --skip-missing        </a:t>
            </a:r>
            <a:r>
              <a:rPr sz="1100" b="0" i="0">
                <a:solidFill>
                  <a:srgbClr val="8B9BB4"/>
                </a:solidFill>
                <a:latin typeface="Consolas"/>
              </a:rPr>
              <a:t>  # weekdays; dates without dumps skipped</a:t>
            </a:r>
          </a:p>
          <a:p>
            <a:pPr>
              <a:spcAft>
                <a:spcPts val="0"/>
              </a:spcAft>
              <a:buNone/>
            </a:pPr>
            <a:r>
              <a:rPr sz="1100" b="0" i="0">
                <a:solidFill>
                  <a:srgbClr val="E6EDF3"/>
                </a:solidFill>
                <a:latin typeface="Consolas"/>
              </a:rPr>
              <a:t>deploy/aws/delta-lake/backfill.sh --from 2025-01-02 --to 2025-12-31 --from-dir /opt/drishti/data/history</a:t>
            </a:r>
          </a:p>
        </p:txBody>
      </p:sp>
      <p:sp>
        <p:nvSpPr>
          <p:cNvPr id="11" name="TextBox 10"/>
          <p:cNvSpPr txBox="1"/>
          <p:nvPr/>
        </p:nvSpPr>
        <p:spPr>
          <a:xfrm>
            <a:off x="411480" y="1965960"/>
            <a:ext cx="5760720" cy="2743200"/>
          </a:xfrm>
          <a:prstGeom prst="rect">
            <a:avLst/>
          </a:prstGeom>
          <a:noFill/>
        </p:spPr>
        <p:txBody>
          <a:bodyPr wrap="square" lIns="0" rIns="0" tIns="0" bIns="0" anchor="t">
            <a:spAutoFit/>
          </a:bodyPr>
          <a:lstStyle/>
          <a:p>
            <a:pPr algn="l" marL="201168" indent="-201168">
              <a:spcAft>
                <a:spcPts val="700"/>
              </a:spcAft>
              <a:buClr>
                <a:srgbClr val="E87A1E"/>
              </a:buClr>
              <a:buSzPct val="100000"/>
              <a:buFont typeface="Arial"/>
              <a:buChar char="•"/>
            </a:pPr>
            <a:r>
              <a:rPr sz="1400" b="1" i="0">
                <a:solidFill>
                  <a:srgbClr val="1C2433"/>
                </a:solidFill>
                <a:latin typeface="Calibri"/>
              </a:rPr>
              <a:t>Backfill:</a:t>
            </a:r>
            <a:r>
              <a:rPr sz="1400" b="0" i="0">
                <a:solidFill>
                  <a:srgbClr val="1C2433"/>
                </a:solidFill>
                <a:latin typeface="Calibri"/>
              </a:rPr>
              <a:t> oldest date first, one load-day.sh per date</a:t>
            </a:r>
          </a:p>
          <a:p>
            <a:pPr algn="l" marL="201168" indent="-201168">
              <a:spcAft>
                <a:spcPts val="700"/>
              </a:spcAft>
              <a:buClr>
                <a:srgbClr val="E87A1E"/>
              </a:buClr>
              <a:buSzPct val="100000"/>
              <a:buFont typeface="Arial"/>
              <a:buChar char="•"/>
            </a:pPr>
            <a:r>
              <a:rPr sz="1400" b="0" i="0">
                <a:solidFill>
                  <a:srgbClr val="1C2433"/>
                </a:solidFill>
                <a:latin typeface="Calibri"/>
              </a:rPr>
              <a:t>Stops at the first date that fails and prints the command that resumes from there</a:t>
            </a:r>
          </a:p>
          <a:p>
            <a:pPr algn="l" marL="201168" indent="-201168">
              <a:spcAft>
                <a:spcPts val="700"/>
              </a:spcAft>
              <a:buClr>
                <a:srgbClr val="E87A1E"/>
              </a:buClr>
              <a:buSzPct val="100000"/>
              <a:buFont typeface="Arial"/>
              <a:buChar char="•"/>
            </a:pPr>
            <a:r>
              <a:rPr sz="1400" b="0" i="0">
                <a:solidFill>
                  <a:srgbClr val="1C2433"/>
                </a:solidFill>
                <a:latin typeface="Calibri"/>
              </a:rPr>
              <a:t>Re-running a date replaces it: a backfill can always be run again</a:t>
            </a:r>
          </a:p>
          <a:p>
            <a:pPr algn="l" marL="201168" indent="-201168">
              <a:spcAft>
                <a:spcPts val="700"/>
              </a:spcAft>
              <a:buClr>
                <a:srgbClr val="E87A1E"/>
              </a:buClr>
              <a:buSzPct val="100000"/>
              <a:buFont typeface="Arial"/>
              <a:buChar char="•"/>
            </a:pPr>
            <a:r>
              <a:rPr sz="1400" b="0" i="0">
                <a:solidFill>
                  <a:srgbClr val="1C2433"/>
                </a:solidFill>
                <a:latin typeface="Calibri"/>
              </a:rPr>
              <a:t>Large backfill: several loader tasks side by side on different tables (</a:t>
            </a:r>
            <a:r>
              <a:rPr sz="1300" b="0" i="0">
                <a:solidFill>
                  <a:srgbClr val="0E7C86"/>
                </a:solidFill>
                <a:latin typeface="Consolas"/>
              </a:rPr>
              <a:t>--tables</a:t>
            </a:r>
            <a:r>
              <a:rPr sz="1400" b="0" i="0">
                <a:solidFill>
                  <a:srgbClr val="1C2433"/>
                </a:solidFill>
                <a:latin typeface="Calibri"/>
              </a:rPr>
              <a:t>); the per-table lock keeps two apart</a:t>
            </a:r>
          </a:p>
        </p:txBody>
      </p:sp>
      <p:graphicFrame>
        <p:nvGraphicFramePr>
          <p:cNvPr id="12" name="Table"/>
          <p:cNvGraphicFramePr>
            <a:graphicFrameLocks noGrp="1"/>
          </p:cNvGraphicFramePr>
          <p:nvPr/>
        </p:nvGraphicFramePr>
        <p:xfrm>
          <a:off x="6400800" y="1965960"/>
          <a:ext cx="5376672" cy="2057400"/>
        </p:xfrm>
        <a:graphic>
          <a:graphicData uri="http://schemas.openxmlformats.org/drawingml/2006/table">
            <a:tbl>
              <a:tblPr firstRow="0" bandRow="0">
                <a:tableStyleId>{5940675A-B579-460E-94D1-54222C63F5DA}</a:tableStyleId>
              </a:tblPr>
              <a:tblGrid>
                <a:gridCol w="1737360"/>
                <a:gridCol w="3639312"/>
              </a:tblGrid>
              <a:tr h="685800">
                <a:tc>
                  <a:txBody>
                    <a:bodyPr wrap="square"/>
                    <a:lstStyle/>
                    <a:p>
                      <a:r>
                        <a:rPr sz="1200" b="1" i="0">
                          <a:solidFill>
                            <a:srgbClr val="FFFFFF"/>
                          </a:solidFill>
                          <a:latin typeface="Calibri"/>
                        </a:rPr>
                        <a:t>A source re-sent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Run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685800">
                <a:tc>
                  <a:txBody>
                    <a:bodyPr wrap="square"/>
                    <a:lstStyle/>
                    <a:p>
                      <a:r>
                        <a:rPr sz="1200" b="1" i="0">
                          <a:solidFill>
                            <a:srgbClr val="1C2433"/>
                          </a:solidFill>
                          <a:latin typeface="Calibri"/>
                        </a:rPr>
                        <a:t>some whole days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backfill.sh --dates 2026-10-14,2026-10-15</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685800">
                <a:tc>
                  <a:txBody>
                    <a:bodyPr wrap="square"/>
                    <a:lstStyle/>
                    <a:p>
                      <a:r>
                        <a:rPr sz="1200" b="1" i="0">
                          <a:solidFill>
                            <a:srgbClr val="1C2433"/>
                          </a:solidFill>
                          <a:latin typeface="Calibri"/>
                        </a:rPr>
                        <a:t>one product type of a day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load-day.sh --date 2026-10-15 --tables trading/trade_endur --mode overwrite-partitions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bl>
          </a:graphicData>
        </a:graphic>
      </p:graphicFrame>
      <p:sp>
        <p:nvSpPr>
          <p:cNvPr id="13" name="Callout"/>
          <p:cNvSpPr/>
          <p:nvPr/>
        </p:nvSpPr>
        <p:spPr>
          <a:xfrm>
            <a:off x="411480" y="4846320"/>
            <a:ext cx="11365992" cy="1463040"/>
          </a:xfrm>
          <a:prstGeom prst="roundRect">
            <a:avLst>
              <a:gd name="adj" fmla="val 6000"/>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Callout edge"/>
          <p:cNvSpPr/>
          <p:nvPr/>
        </p:nvSpPr>
        <p:spPr>
          <a:xfrm>
            <a:off x="411480" y="4864607"/>
            <a:ext cx="82296" cy="1426464"/>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xtBox 14"/>
          <p:cNvSpPr txBox="1"/>
          <p:nvPr/>
        </p:nvSpPr>
        <p:spPr>
          <a:xfrm>
            <a:off x="640080" y="4919472"/>
            <a:ext cx="11000232" cy="1316736"/>
          </a:xfrm>
          <a:prstGeom prst="rect">
            <a:avLst/>
          </a:prstGeom>
          <a:noFill/>
        </p:spPr>
        <p:txBody>
          <a:bodyPr wrap="square" lIns="0" rIns="0" tIns="0" bIns="0" anchor="ctr">
            <a:spAutoFit/>
          </a:bodyPr>
          <a:lstStyle/>
          <a:p>
            <a:pPr algn="l">
              <a:spcAft>
                <a:spcPts val="600"/>
              </a:spcAft>
              <a:buNone/>
            </a:pPr>
            <a:r>
              <a:rPr sz="1300" b="1" i="0">
                <a:solidFill>
                  <a:srgbClr val="1C2433"/>
                </a:solidFill>
                <a:latin typeface="Calibri"/>
              </a:rPr>
              <a:t>Restatement:</a:t>
            </a:r>
            <a:r>
              <a:rPr sz="1300" b="0" i="0">
                <a:solidFill>
                  <a:srgbClr val="1C2433"/>
                </a:solidFill>
                <a:latin typeface="Calibri"/>
              </a:rPr>
              <a:t> readers switch at the commit; *known at* before it still shows the day as it was, for </a:t>
            </a:r>
            <a:r>
              <a:rPr sz="1200" b="0" i="0">
                <a:solidFill>
                  <a:srgbClr val="0E7C86"/>
                </a:solidFill>
                <a:latin typeface="Consolas"/>
              </a:rPr>
              <a:t>LAKE_VACUUM_HOURS</a:t>
            </a:r>
            <a:r>
              <a:rPr sz="1300" b="0" i="0">
                <a:solidFill>
                  <a:srgbClr val="1C2433"/>
                </a:solidFill>
                <a:latin typeface="Calibri"/>
              </a:rPr>
              <a:t> (7 years for risk). A restated old day's files move to its tier at the next lifecycle run. A restated VaR or exposure date gets the next </a:t>
            </a:r>
            <a:r>
              <a:rPr sz="1200" b="0" i="0">
                <a:solidFill>
                  <a:srgbClr val="0E7C86"/>
                </a:solidFill>
                <a:latin typeface="Consolas"/>
              </a:rPr>
              <a:t>RESULT_VERSION</a:t>
            </a:r>
            <a:r>
              <a:rPr sz="1300" b="0" i="0">
                <a:solidFill>
                  <a:srgbClr val="1C2433"/>
                </a:solidFill>
                <a:latin typeface="Calibri"/>
              </a:rPr>
              <a:t> in the official results; the earlier one is kept.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Number"/>
          <p:cNvSpPr txBox="1"/>
          <p:nvPr/>
        </p:nvSpPr>
        <p:spPr>
          <a:xfrm>
            <a:off x="4754880" y="-822960"/>
            <a:ext cx="7223760" cy="7863840"/>
          </a:xfrm>
          <a:prstGeom prst="rect">
            <a:avLst/>
          </a:prstGeom>
          <a:noFill/>
        </p:spPr>
        <p:txBody>
          <a:bodyPr wrap="square" lIns="0" rIns="0" tIns="0" bIns="0" anchor="ctr">
            <a:spAutoFit/>
          </a:bodyPr>
          <a:lstStyle/>
          <a:p>
            <a:pPr algn="r">
              <a:spcAft>
                <a:spcPts val="600"/>
              </a:spcAft>
              <a:buNone/>
            </a:pPr>
            <a:r>
              <a:rPr sz="42000" b="1" i="0">
                <a:solidFill>
                  <a:srgbClr val="1C3560"/>
                </a:solidFill>
                <a:latin typeface="Calibri"/>
              </a:rPr>
              <a:t>10</a:t>
            </a:r>
          </a:p>
        </p:txBody>
      </p:sp>
      <p:sp>
        <p:nvSpPr>
          <p:cNvPr id="4" name="Title"/>
          <p:cNvSpPr txBox="1"/>
          <p:nvPr/>
        </p:nvSpPr>
        <p:spPr>
          <a:xfrm>
            <a:off x="822960" y="2514600"/>
            <a:ext cx="6949440" cy="1828800"/>
          </a:xfrm>
          <a:prstGeom prst="rect">
            <a:avLst/>
          </a:prstGeom>
          <a:noFill/>
        </p:spPr>
        <p:txBody>
          <a:bodyPr wrap="square" lIns="0" rIns="0" tIns="0" bIns="0" anchor="ctr">
            <a:spAutoFit/>
          </a:bodyPr>
          <a:lstStyle/>
          <a:p>
            <a:pPr algn="l">
              <a:spcAft>
                <a:spcPts val="600"/>
              </a:spcAft>
              <a:buNone/>
            </a:pPr>
            <a:r>
              <a:rPr sz="4400" b="1" i="0">
                <a:solidFill>
                  <a:srgbClr val="FFFFFF"/>
                </a:solidFill>
                <a:latin typeface="Calibri"/>
              </a:rPr>
              <a:t>S3: safe commits and three simulators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The content store: cluster state on S3 without a shared disk</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10</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54</a:t>
            </a:r>
          </a:p>
        </p:txBody>
      </p:sp>
      <p:sp>
        <p:nvSpPr>
          <p:cNvPr id="9" name="Rounded Rectangle 8"/>
          <p:cNvSpPr/>
          <p:nvPr/>
        </p:nvSpPr>
        <p:spPr>
          <a:xfrm>
            <a:off x="411480" y="1188720"/>
            <a:ext cx="6583680" cy="114300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TextBox 9"/>
          <p:cNvSpPr txBox="1"/>
          <p:nvPr/>
        </p:nvSpPr>
        <p:spPr>
          <a:xfrm>
            <a:off x="502920" y="1234440"/>
            <a:ext cx="525780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One interface, four backends (config/store/store.yaml)</a:t>
            </a:r>
          </a:p>
        </p:txBody>
      </p:sp>
      <p:sp>
        <p:nvSpPr>
          <p:cNvPr id="11" name="Status BUILT"/>
          <p:cNvSpPr/>
          <p:nvPr/>
        </p:nvSpPr>
        <p:spPr>
          <a:xfrm>
            <a:off x="5852160" y="1280160"/>
            <a:ext cx="1051560" cy="237744"/>
          </a:xfrm>
          <a:prstGeom prst="roundRect">
            <a:avLst>
              <a:gd name="adj" fmla="val 50000"/>
            </a:avLst>
          </a:prstGeom>
          <a:solidFill>
            <a:srgbClr val="0E7C86"/>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000" b="1" i="0">
                <a:solidFill>
                  <a:srgbClr val="FFFFFF"/>
                </a:solidFill>
                <a:latin typeface="Calibri"/>
              </a:rPr>
              <a:t>BUILT</a:t>
            </a:r>
          </a:p>
        </p:txBody>
      </p:sp>
      <p:sp>
        <p:nvSpPr>
          <p:cNvPr id="12" name="TextBox 11"/>
          <p:cNvSpPr txBox="1"/>
          <p:nvPr/>
        </p:nvSpPr>
        <p:spPr>
          <a:xfrm>
            <a:off x="502920" y="1554480"/>
            <a:ext cx="6400800" cy="73152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300" b="0" i="0">
                <a:solidFill>
                  <a:srgbClr val="1C2433"/>
                </a:solidFill>
                <a:latin typeface="Calibri"/>
              </a:rPr>
              <a:t>get · compare-and-set put · list · delete · changes</a:t>
            </a:r>
          </a:p>
        </p:txBody>
      </p:sp>
      <p:sp>
        <p:nvSpPr>
          <p:cNvPr id="13" name="Rounded Rectangle 12"/>
          <p:cNvSpPr/>
          <p:nvPr/>
        </p:nvSpPr>
        <p:spPr>
          <a:xfrm>
            <a:off x="411480" y="2514600"/>
            <a:ext cx="1554480" cy="1371600"/>
          </a:xfrm>
          <a:prstGeom prst="roundRect">
            <a:avLst>
              <a:gd name="adj" fmla="val 6000"/>
            </a:avLst>
          </a:prstGeom>
          <a:solidFill>
            <a:srgbClr val="EE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502920" y="2560320"/>
            <a:ext cx="137160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filesystem</a:t>
            </a:r>
          </a:p>
        </p:txBody>
      </p:sp>
      <p:sp>
        <p:nvSpPr>
          <p:cNvPr id="15" name="TextBox 14"/>
          <p:cNvSpPr txBox="1"/>
          <p:nvPr/>
        </p:nvSpPr>
        <p:spPr>
          <a:xfrm>
            <a:off x="502920" y="2880360"/>
            <a:ext cx="1371600" cy="96012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default; a shared mount (EFS) on a cluster</a:t>
            </a:r>
          </a:p>
        </p:txBody>
      </p:sp>
      <p:sp>
        <p:nvSpPr>
          <p:cNvPr id="16" name="Rounded Rectangle 15"/>
          <p:cNvSpPr/>
          <p:nvPr/>
        </p:nvSpPr>
        <p:spPr>
          <a:xfrm>
            <a:off x="2084832" y="2514600"/>
            <a:ext cx="1554480" cy="1371600"/>
          </a:xfrm>
          <a:prstGeom prst="roundRect">
            <a:avLst>
              <a:gd name="adj" fmla="val 6000"/>
            </a:avLst>
          </a:prstGeom>
          <a:solidFill>
            <a:srgbClr val="EE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xtBox 16"/>
          <p:cNvSpPr txBox="1"/>
          <p:nvPr/>
        </p:nvSpPr>
        <p:spPr>
          <a:xfrm>
            <a:off x="2176272" y="2560320"/>
            <a:ext cx="137160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sqlite</a:t>
            </a:r>
          </a:p>
        </p:txBody>
      </p:sp>
      <p:sp>
        <p:nvSpPr>
          <p:cNvPr id="18" name="TextBox 17"/>
          <p:cNvSpPr txBox="1"/>
          <p:nvPr/>
        </p:nvSpPr>
        <p:spPr>
          <a:xfrm>
            <a:off x="2176272" y="2880360"/>
            <a:ext cx="1371600" cy="96012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single node</a:t>
            </a:r>
          </a:p>
        </p:txBody>
      </p:sp>
      <p:sp>
        <p:nvSpPr>
          <p:cNvPr id="19" name="Rounded Rectangle 18"/>
          <p:cNvSpPr/>
          <p:nvPr/>
        </p:nvSpPr>
        <p:spPr>
          <a:xfrm>
            <a:off x="3758184" y="2514600"/>
            <a:ext cx="1554480" cy="1371600"/>
          </a:xfrm>
          <a:prstGeom prst="roundRect">
            <a:avLst>
              <a:gd name="adj" fmla="val 6000"/>
            </a:avLst>
          </a:prstGeom>
          <a:solidFill>
            <a:srgbClr val="EE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xtBox 19"/>
          <p:cNvSpPr txBox="1"/>
          <p:nvPr/>
        </p:nvSpPr>
        <p:spPr>
          <a:xfrm>
            <a:off x="3849624" y="2560320"/>
            <a:ext cx="137160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postgres</a:t>
            </a:r>
          </a:p>
        </p:txBody>
      </p:sp>
      <p:sp>
        <p:nvSpPr>
          <p:cNvPr id="21" name="TextBox 20"/>
          <p:cNvSpPr txBox="1"/>
          <p:nvPr/>
        </p:nvSpPr>
        <p:spPr>
          <a:xfrm>
            <a:off x="3849624" y="2880360"/>
            <a:ext cx="1371600" cy="96012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one SQL table</a:t>
            </a:r>
          </a:p>
        </p:txBody>
      </p:sp>
      <p:sp>
        <p:nvSpPr>
          <p:cNvPr id="22" name="Rounded Rectangle 21"/>
          <p:cNvSpPr/>
          <p:nvPr/>
        </p:nvSpPr>
        <p:spPr>
          <a:xfrm>
            <a:off x="5431536" y="2514600"/>
            <a:ext cx="1554480" cy="1371600"/>
          </a:xfrm>
          <a:prstGeom prst="roundRect">
            <a:avLst>
              <a:gd name="adj" fmla="val 6000"/>
            </a:avLst>
          </a:prstGeom>
          <a:solidFill>
            <a:srgbClr val="DDEE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xtBox 22"/>
          <p:cNvSpPr txBox="1"/>
          <p:nvPr/>
        </p:nvSpPr>
        <p:spPr>
          <a:xfrm>
            <a:off x="5522976" y="2560320"/>
            <a:ext cx="137160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s3</a:t>
            </a:r>
          </a:p>
        </p:txBody>
      </p:sp>
      <p:sp>
        <p:nvSpPr>
          <p:cNvPr id="24" name="TextBox 23"/>
          <p:cNvSpPr txBox="1"/>
          <p:nvPr/>
        </p:nvSpPr>
        <p:spPr>
          <a:xfrm>
            <a:off x="5522976" y="2880360"/>
            <a:ext cx="1371600" cy="96012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conditional PUT; ETag versions</a:t>
            </a:r>
          </a:p>
        </p:txBody>
      </p:sp>
      <p:sp>
        <p:nvSpPr>
          <p:cNvPr id="25" name="TextBox 24"/>
          <p:cNvSpPr txBox="1"/>
          <p:nvPr/>
        </p:nvSpPr>
        <p:spPr>
          <a:xfrm>
            <a:off x="411480" y="4114800"/>
            <a:ext cx="6583680" cy="2240280"/>
          </a:xfrm>
          <a:prstGeom prst="rect">
            <a:avLst/>
          </a:prstGeom>
          <a:noFill/>
        </p:spPr>
        <p:txBody>
          <a:bodyPr wrap="square" lIns="0" rIns="0" tIns="0" bIns="0" anchor="t">
            <a:spAutoFit/>
          </a:bodyPr>
          <a:lstStyle/>
          <a:p>
            <a:pPr algn="l" marL="201168" indent="-201168">
              <a:spcAft>
                <a:spcPts val="600"/>
              </a:spcAft>
              <a:buClr>
                <a:srgbClr val="E87A1E"/>
              </a:buClr>
              <a:buSzPct val="100000"/>
              <a:buFont typeface="Arial"/>
              <a:buChar char="•"/>
            </a:pPr>
            <a:r>
              <a:rPr sz="1300" b="1" i="0">
                <a:solidFill>
                  <a:srgbClr val="1C2433"/>
                </a:solidFill>
                <a:latin typeface="Calibri"/>
              </a:rPr>
              <a:t>s3:</a:t>
            </a:r>
            <a:r>
              <a:rPr sz="1300" b="0" i="0">
                <a:solidFill>
                  <a:srgbClr val="1C2433"/>
                </a:solidFill>
                <a:latin typeface="Calibri"/>
              </a:rPr>
              <a:t> </a:t>
            </a:r>
            <a:r>
              <a:rPr sz="1200" b="0" i="0">
                <a:solidFill>
                  <a:srgbClr val="0E7C86"/>
                </a:solidFill>
                <a:latin typeface="Consolas"/>
              </a:rPr>
              <a:t>&lt;prefix&gt;/items/&lt;key&gt;</a:t>
            </a:r>
            <a:r>
              <a:rPr sz="1300" b="0" i="0">
                <a:solidFill>
                  <a:srgbClr val="1C2433"/>
                </a:solidFill>
                <a:latin typeface="Calibri"/>
              </a:rPr>
              <a:t>; create </a:t>
            </a:r>
            <a:r>
              <a:rPr sz="1200" b="0" i="0">
                <a:solidFill>
                  <a:srgbClr val="0E7C86"/>
                </a:solidFill>
                <a:latin typeface="Consolas"/>
              </a:rPr>
              <a:t>If-None-Match: *</a:t>
            </a:r>
            <a:r>
              <a:rPr sz="1300" b="0" i="0">
                <a:solidFill>
                  <a:srgbClr val="1C2433"/>
                </a:solidFill>
                <a:latin typeface="Calibri"/>
              </a:rPr>
              <a:t>; update </a:t>
            </a:r>
            <a:r>
              <a:rPr sz="1200" b="0" i="0">
                <a:solidFill>
                  <a:srgbClr val="0E7C86"/>
                </a:solidFill>
                <a:latin typeface="Consolas"/>
              </a:rPr>
              <a:t>If-Match: &lt;ETag&gt;</a:t>
            </a:r>
            <a:r>
              <a:rPr sz="1300" b="0" i="0">
                <a:solidFill>
                  <a:srgbClr val="1C2433"/>
                </a:solidFill>
                <a:latin typeface="Calibri"/>
              </a:rPr>
              <a:t>; a lost race is </a:t>
            </a:r>
            <a:r>
              <a:rPr sz="1200" b="0" i="0">
                <a:solidFill>
                  <a:srgbClr val="0E7C86"/>
                </a:solidFill>
                <a:latin typeface="Consolas"/>
              </a:rPr>
              <a:t>409 DRS-5057</a:t>
            </a:r>
          </a:p>
          <a:p>
            <a:pPr algn="l" marL="201168" indent="-201168">
              <a:spcAft>
                <a:spcPts val="600"/>
              </a:spcAft>
              <a:buClr>
                <a:srgbClr val="E87A1E"/>
              </a:buClr>
              <a:buSzPct val="100000"/>
              <a:buFont typeface="Arial"/>
              <a:buChar char="•"/>
            </a:pPr>
            <a:r>
              <a:rPr sz="1300" b="0" i="0">
                <a:solidFill>
                  <a:srgbClr val="1C2433"/>
                </a:solidFill>
                <a:latin typeface="Calibri"/>
              </a:rPr>
              <a:t>Two nodes saving one item at once: one success, one </a:t>
            </a:r>
            <a:r>
              <a:rPr sz="1200" b="0" i="0">
                <a:solidFill>
                  <a:srgbClr val="0E7C86"/>
                </a:solidFill>
                <a:latin typeface="Consolas"/>
              </a:rPr>
              <a:t>409</a:t>
            </a:r>
            <a:r>
              <a:rPr sz="1300" b="0" i="0">
                <a:solidFill>
                  <a:srgbClr val="1C2433"/>
                </a:solidFill>
                <a:latin typeface="Calibri"/>
              </a:rPr>
              <a:t>; an unreachable store </a:t>
            </a:r>
            <a:r>
              <a:rPr sz="1200" b="0" i="0">
                <a:solidFill>
                  <a:srgbClr val="0E7C86"/>
                </a:solidFill>
                <a:latin typeface="Consolas"/>
              </a:rPr>
              <a:t>503 DRS-5059</a:t>
            </a:r>
          </a:p>
          <a:p>
            <a:pPr algn="l" marL="201168" indent="-201168">
              <a:spcAft>
                <a:spcPts val="600"/>
              </a:spcAft>
              <a:buClr>
                <a:srgbClr val="E87A1E"/>
              </a:buClr>
              <a:buSzPct val="100000"/>
              <a:buFont typeface="Arial"/>
              <a:buChar char="•"/>
            </a:pPr>
            <a:r>
              <a:rPr sz="1300" b="0" i="0">
                <a:solidFill>
                  <a:srgbClr val="1C2433"/>
                </a:solidFill>
                <a:latin typeface="Calibri"/>
              </a:rPr>
              <a:t>A dead node's BI run is adopted by exactly one node, by a compare-and-set lease</a:t>
            </a:r>
          </a:p>
        </p:txBody>
      </p:sp>
      <p:sp>
        <p:nvSpPr>
          <p:cNvPr id="26" name="TextBox 25"/>
          <p:cNvSpPr txBox="1"/>
          <p:nvPr/>
        </p:nvSpPr>
        <p:spPr>
          <a:xfrm>
            <a:off x="7269480" y="1188720"/>
            <a:ext cx="4507992" cy="365760"/>
          </a:xfrm>
          <a:prstGeom prst="rect">
            <a:avLst/>
          </a:prstGeom>
          <a:noFill/>
        </p:spPr>
        <p:txBody>
          <a:bodyPr wrap="square" lIns="0" rIns="0" tIns="0" bIns="0" anchor="t">
            <a:spAutoFit/>
          </a:bodyPr>
          <a:lstStyle/>
          <a:p>
            <a:pPr algn="l">
              <a:spcAft>
                <a:spcPts val="600"/>
              </a:spcAft>
              <a:buNone/>
            </a:pPr>
            <a:r>
              <a:rPr sz="1500" b="1" i="0">
                <a:solidFill>
                  <a:srgbClr val="0B1E3B"/>
                </a:solidFill>
                <a:latin typeface="Calibri"/>
              </a:rPr>
              <a:t>What it holds on a cluster</a:t>
            </a:r>
          </a:p>
        </p:txBody>
      </p:sp>
      <p:sp>
        <p:nvSpPr>
          <p:cNvPr id="27" name="TextBox 26"/>
          <p:cNvSpPr txBox="1"/>
          <p:nvPr/>
        </p:nvSpPr>
        <p:spPr>
          <a:xfrm>
            <a:off x="7269480" y="1600200"/>
            <a:ext cx="4507992" cy="2743200"/>
          </a:xfrm>
          <a:prstGeom prst="rect">
            <a:avLst/>
          </a:prstGeom>
          <a:noFill/>
        </p:spPr>
        <p:txBody>
          <a:bodyPr wrap="square" lIns="0" rIns="0" tIns="0" bIns="0" anchor="t">
            <a:spAutoFit/>
          </a:bodyPr>
          <a:lstStyle/>
          <a:p>
            <a:pPr algn="l" marL="201168" indent="-201168">
              <a:spcAft>
                <a:spcPts val="600"/>
              </a:spcAft>
              <a:buClr>
                <a:srgbClr val="E87A1E"/>
              </a:buClr>
              <a:buSzPct val="100000"/>
              <a:buFont typeface="Arial"/>
              <a:buChar char="•"/>
            </a:pPr>
            <a:r>
              <a:rPr sz="1300" b="0" i="0">
                <a:solidFill>
                  <a:srgbClr val="1C2433"/>
                </a:solidFill>
                <a:latin typeface="Calibri"/>
              </a:rPr>
              <a:t>Designs; BI workspaces, items, versions, runs, schedules</a:t>
            </a:r>
          </a:p>
          <a:p>
            <a:pPr algn="l" marL="201168" indent="-201168">
              <a:spcAft>
                <a:spcPts val="600"/>
              </a:spcAft>
              <a:buClr>
                <a:srgbClr val="E87A1E"/>
              </a:buClr>
              <a:buSzPct val="100000"/>
              <a:buFont typeface="Arial"/>
              <a:buChar char="•"/>
            </a:pPr>
            <a:r>
              <a:rPr sz="1300" b="0" i="0">
                <a:solidFill>
                  <a:srgbClr val="1C2433"/>
                </a:solidFill>
                <a:latin typeface="Calibri"/>
              </a:rPr>
              <a:t>data-load overrides, connector edits, collaboration</a:t>
            </a:r>
          </a:p>
          <a:p>
            <a:pPr algn="l" marL="201168" indent="-201168">
              <a:spcAft>
                <a:spcPts val="600"/>
              </a:spcAft>
              <a:buClr>
                <a:srgbClr val="E87A1E"/>
              </a:buClr>
              <a:buSzPct val="100000"/>
              <a:buFont typeface="Arial"/>
              <a:buChar char="•"/>
            </a:pPr>
            <a:r>
              <a:rPr sz="1300" b="0" i="0">
                <a:solidFill>
                  <a:srgbClr val="1C2433"/>
                </a:solidFill>
                <a:latin typeface="Calibri"/>
              </a:rPr>
              <a:t>VaR and exposure captures and official records (append-only; row lists JSONL since 2.9.4)</a:t>
            </a:r>
          </a:p>
        </p:txBody>
      </p:sp>
      <p:sp>
        <p:nvSpPr>
          <p:cNvPr id="28" name="Callout"/>
          <p:cNvSpPr/>
          <p:nvPr/>
        </p:nvSpPr>
        <p:spPr>
          <a:xfrm>
            <a:off x="7269480" y="4114800"/>
            <a:ext cx="4507992" cy="1737360"/>
          </a:xfrm>
          <a:prstGeom prst="roundRect">
            <a:avLst>
              <a:gd name="adj" fmla="val 6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Callout edge"/>
          <p:cNvSpPr/>
          <p:nvPr/>
        </p:nvSpPr>
        <p:spPr>
          <a:xfrm>
            <a:off x="7269480" y="4133087"/>
            <a:ext cx="82296" cy="170078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xtBox 29"/>
          <p:cNvSpPr txBox="1"/>
          <p:nvPr/>
        </p:nvSpPr>
        <p:spPr>
          <a:xfrm>
            <a:off x="7498079" y="4187952"/>
            <a:ext cx="4142231" cy="1591056"/>
          </a:xfrm>
          <a:prstGeom prst="rect">
            <a:avLst/>
          </a:prstGeom>
          <a:noFill/>
        </p:spPr>
        <p:txBody>
          <a:bodyPr wrap="square" lIns="0" rIns="0" tIns="0" bIns="0" anchor="t">
            <a:spAutoFit/>
          </a:bodyPr>
          <a:lstStyle/>
          <a:p>
            <a:pPr algn="l">
              <a:spcAft>
                <a:spcPts val="600"/>
              </a:spcAft>
              <a:buNone/>
            </a:pPr>
            <a:r>
              <a:rPr sz="1300" b="1" i="0">
                <a:solidFill>
                  <a:srgbClr val="1C2433"/>
                </a:solidFill>
                <a:latin typeface="Calibri"/>
              </a:rPr>
              <a:t>On ECS</a:t>
            </a:r>
          </a:p>
          <a:p>
            <a:pPr algn="l">
              <a:spcAft>
                <a:spcPts val="600"/>
              </a:spcAft>
              <a:buNone/>
            </a:pPr>
            <a:r>
              <a:rPr sz="1200" b="0" i="0">
                <a:solidFill>
                  <a:srgbClr val="0E7C86"/>
                </a:solidFill>
                <a:latin typeface="Consolas"/>
              </a:rPr>
              <a:t>s3</a:t>
            </a:r>
            <a:r>
              <a:rPr sz="1300" b="0" i="0">
                <a:solidFill>
                  <a:srgbClr val="1C2433"/>
                </a:solidFill>
                <a:latin typeface="Calibri"/>
              </a:rPr>
              <a:t> or </a:t>
            </a:r>
            <a:r>
              <a:rPr sz="1200" b="0" i="0">
                <a:solidFill>
                  <a:srgbClr val="0E7C86"/>
                </a:solidFill>
                <a:latin typeface="Consolas"/>
              </a:rPr>
              <a:t>postgres</a:t>
            </a:r>
            <a:r>
              <a:rPr sz="1300" b="0" i="0">
                <a:solidFill>
                  <a:srgbClr val="1C2433"/>
                </a:solidFill>
                <a:latin typeface="Calibri"/>
              </a:rPr>
              <a:t> need no shared disk; </a:t>
            </a:r>
            <a:r>
              <a:rPr sz="1200" b="0" i="0">
                <a:solidFill>
                  <a:srgbClr val="0E7C86"/>
                </a:solidFill>
                <a:latin typeface="Consolas"/>
              </a:rPr>
              <a:t>filesystem</a:t>
            </a:r>
            <a:r>
              <a:rPr sz="1300" b="0" i="0">
                <a:solidFill>
                  <a:srgbClr val="1C2433"/>
                </a:solidFill>
                <a:latin typeface="Calibri"/>
              </a:rPr>
              <a:t> needs EFS at the same path on every node. The s3 bucket needs the conditional-write check of step 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Three S3 simulators, no Docker, and what each covers</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10</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55</a:t>
            </a:r>
          </a:p>
        </p:txBody>
      </p:sp>
      <p:graphicFrame>
        <p:nvGraphicFramePr>
          <p:cNvPr id="9" name="Table"/>
          <p:cNvGraphicFramePr>
            <a:graphicFrameLocks noGrp="1"/>
          </p:cNvGraphicFramePr>
          <p:nvPr/>
        </p:nvGraphicFramePr>
        <p:xfrm>
          <a:off x="411480" y="1188720"/>
          <a:ext cx="11365992" cy="3474720"/>
        </p:xfrm>
        <a:graphic>
          <a:graphicData uri="http://schemas.openxmlformats.org/drawingml/2006/table">
            <a:tbl>
              <a:tblPr firstRow="0" bandRow="0">
                <a:tableStyleId>{5940675A-B579-460E-94D1-54222C63F5DA}</a:tableStyleId>
              </a:tblPr>
              <a:tblGrid>
                <a:gridCol w="2651760"/>
                <a:gridCol w="4023360"/>
                <a:gridCol w="1554480"/>
                <a:gridCol w="3136392"/>
              </a:tblGrid>
              <a:tr h="868680">
                <a:tc>
                  <a:txBody>
                    <a:bodyPr wrap="square"/>
                    <a:lstStyle/>
                    <a:p>
                      <a:r>
                        <a:rPr sz="1200" b="1" i="0">
                          <a:solidFill>
                            <a:srgbClr val="FFFFFF"/>
                          </a:solidFill>
                          <a:latin typeface="Calibri"/>
                        </a:rPr>
                        <a:t>Simulator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What it tests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Runs on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Conditional writes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868680">
                <a:tc>
                  <a:txBody>
                    <a:bodyPr wrap="square"/>
                    <a:lstStyle/>
                    <a:p>
                      <a:r>
                        <a:rPr sz="1200" b="1" i="0">
                          <a:solidFill>
                            <a:srgbClr val="1C2433"/>
                          </a:solidFill>
                          <a:latin typeface="Calibri"/>
                        </a:rPr>
                        <a:t>Adobe S3Mock 4.12.4 (in the test JVM)</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content store on S3; Iceberg native engine's table on S3</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Linux, Windows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create-only, update-if-match, delete-if-match; racing creates </a:t>
                      </a:r>
                      <a:r>
                        <a:rPr sz="1200" b="1" i="0">
                          <a:solidFill>
                            <a:srgbClr val="1C2433"/>
                          </a:solidFill>
                          <a:latin typeface="Calibri"/>
                        </a:rPr>
                        <a:t>not</a:t>
                      </a:r>
                      <a:r>
                        <a:rPr sz="1200" b="0" i="0">
                          <a:solidFill>
                            <a:srgbClr val="1C2433"/>
                          </a:solidFill>
                          <a:latin typeface="Calibri"/>
                        </a:rPr>
                        <a:t> atomic</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868680">
                <a:tc>
                  <a:txBody>
                    <a:bodyPr wrap="square"/>
                    <a:lstStyle/>
                    <a:p>
                      <a:r>
                        <a:rPr sz="1200" b="1" i="0">
                          <a:solidFill>
                            <a:srgbClr val="1C2433"/>
                          </a:solidFill>
                          <a:latin typeface="Calibri"/>
                        </a:rPr>
                        <a:t>moto 5.2.3 (</a:t>
                      </a:r>
                      <a:r>
                        <a:rPr sz="1100" b="1" i="0">
                          <a:solidFill>
                            <a:srgbClr val="0E7C86"/>
                          </a:solidFill>
                          <a:latin typeface="Consolas"/>
                        </a:rPr>
                        <a:t>moto[server]</a:t>
                      </a:r>
                      <a:r>
                        <a:rPr sz="1200" b="1" i="0">
                          <a:solidFill>
                            <a:srgbClr val="1C2433"/>
                          </a:solidFill>
                          <a:latin typeface="Calibri"/>
                        </a:rPr>
                        <a:t>, pure Python)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Delta on S3 via deltalake; </a:t>
                      </a:r>
                      <a:r>
                        <a:rPr sz="1100" b="0" i="0">
                          <a:solidFill>
                            <a:srgbClr val="0E7C86"/>
                          </a:solidFill>
                          <a:latin typeface="Consolas"/>
                        </a:rPr>
                        <a:t>lake publish</a:t>
                      </a:r>
                      <a:r>
                        <a:rPr sz="1200" b="0" i="0">
                          <a:solidFill>
                            <a:srgbClr val="1C2433"/>
                          </a:solidFill>
                          <a:latin typeface="Calibri"/>
                        </a:rPr>
                        <a:t>: new table, a day restated, a missing file refused, three publishes at once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Linux, Windows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all three; racing creates have one winner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868680">
                <a:tc>
                  <a:txBody>
                    <a:bodyPr wrap="square"/>
                    <a:lstStyle/>
                    <a:p>
                      <a:r>
                        <a:rPr sz="1200" b="1" i="0">
                          <a:solidFill>
                            <a:srgbClr val="1C2433"/>
                          </a:solidFill>
                          <a:latin typeface="Calibri"/>
                        </a:rPr>
                        <a:t>MinIO server binary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all of the above, the most faithful</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Linux only (binary needed)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all; skipped with the reason when no binary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bl>
          </a:graphicData>
        </a:graphic>
      </p:graphicFrame>
      <p:sp>
        <p:nvSpPr>
          <p:cNvPr id="10" name="Code block"/>
          <p:cNvSpPr/>
          <p:nvPr/>
        </p:nvSpPr>
        <p:spPr>
          <a:xfrm>
            <a:off x="411480" y="4800600"/>
            <a:ext cx="11365992" cy="685800"/>
          </a:xfrm>
          <a:prstGeom prst="roundRect">
            <a:avLst>
              <a:gd name="adj" fmla="val 4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
          <p:cNvSpPr txBox="1"/>
          <p:nvPr/>
        </p:nvSpPr>
        <p:spPr>
          <a:xfrm>
            <a:off x="521208" y="4864608"/>
            <a:ext cx="11146536" cy="557784"/>
          </a:xfrm>
          <a:prstGeom prst="rect">
            <a:avLst/>
          </a:prstGeom>
          <a:noFill/>
        </p:spPr>
        <p:txBody>
          <a:bodyPr wrap="square" lIns="0" rIns="0" tIns="0" bIns="0" anchor="ctr">
            <a:spAutoFit/>
          </a:bodyPr>
          <a:lstStyle/>
          <a:p>
            <a:pPr>
              <a:spcAft>
                <a:spcPts val="0"/>
              </a:spcAft>
              <a:buNone/>
            </a:pPr>
            <a:r>
              <a:rPr sz="1100" b="0" i="0">
                <a:solidFill>
                  <a:srgbClr val="E6EDF3"/>
                </a:solidFill>
                <a:latin typeface="Consolas"/>
              </a:rPr>
              <a:t>./mvnw -q -pl drishti-identity,plugins/drishti-plugin-iceberg -am test -Dtest='S3MockContentStoreTest,NativeOnS3SimulatorTest' …</a:t>
            </a:r>
          </a:p>
          <a:p>
            <a:pPr>
              <a:spcAft>
                <a:spcPts val="0"/>
              </a:spcAft>
              <a:buNone/>
            </a:pPr>
            <a:r>
              <a:rPr sz="1100" b="0" i="0">
                <a:solidFill>
                  <a:srgbClr val="E6EDF3"/>
                </a:solidFill>
                <a:latin typeface="Consolas"/>
              </a:rPr>
              <a:t>drishti-console/.venv/bin/python -m unittest -v tools/lake/test_s3_simulators.py    </a:t>
            </a:r>
            <a:r>
              <a:rPr sz="1100" b="0" i="0">
                <a:solidFill>
                  <a:srgbClr val="8B9BB4"/>
                </a:solidFill>
                <a:latin typeface="Consolas"/>
              </a:rPr>
              <a:t>  # moto: Delta and lake publish</a:t>
            </a:r>
          </a:p>
        </p:txBody>
      </p:sp>
      <p:sp>
        <p:nvSpPr>
          <p:cNvPr id="12" name="Callout"/>
          <p:cNvSpPr/>
          <p:nvPr/>
        </p:nvSpPr>
        <p:spPr>
          <a:xfrm>
            <a:off x="411480" y="5669280"/>
            <a:ext cx="11365992" cy="640080"/>
          </a:xfrm>
          <a:prstGeom prst="roundRect">
            <a:avLst>
              <a:gd name="adj" fmla="val 6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allout edge"/>
          <p:cNvSpPr/>
          <p:nvPr/>
        </p:nvSpPr>
        <p:spPr>
          <a:xfrm>
            <a:off x="411480" y="5687568"/>
            <a:ext cx="82296" cy="603503"/>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640080" y="5742432"/>
            <a:ext cx="11000232" cy="493775"/>
          </a:xfrm>
          <a:prstGeom prst="rect">
            <a:avLst/>
          </a:prstGeom>
          <a:noFill/>
        </p:spPr>
        <p:txBody>
          <a:bodyPr wrap="square" lIns="0" rIns="0" tIns="0" bIns="0" anchor="ctr">
            <a:spAutoFit/>
          </a:bodyPr>
          <a:lstStyle/>
          <a:p>
            <a:pPr algn="l">
              <a:spcAft>
                <a:spcPts val="600"/>
              </a:spcAft>
              <a:buNone/>
            </a:pPr>
            <a:r>
              <a:rPr sz="1300" b="0" i="0">
                <a:solidFill>
                  <a:srgbClr val="1C2433"/>
                </a:solidFill>
                <a:latin typeface="Calibri"/>
              </a:rPr>
              <a:t>Fixed in 2.7.0: </a:t>
            </a:r>
            <a:r>
              <a:rPr sz="1200" b="0" i="0">
                <a:solidFill>
                  <a:srgbClr val="0E7C86"/>
                </a:solidFill>
                <a:latin typeface="Consolas"/>
              </a:rPr>
              <a:t>lake publish --storage-option AWS_ENDPOINT_URL=…</a:t>
            </a:r>
            <a:r>
              <a:rPr sz="1300" b="0" i="0">
                <a:solidFill>
                  <a:srgbClr val="1C2433"/>
                </a:solidFill>
                <a:latin typeface="Calibri"/>
              </a:rPr>
              <a:t> checks the files on that endpoint, as the commit does.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Number"/>
          <p:cNvSpPr txBox="1"/>
          <p:nvPr/>
        </p:nvSpPr>
        <p:spPr>
          <a:xfrm>
            <a:off x="4754880" y="-822960"/>
            <a:ext cx="7223760" cy="7863840"/>
          </a:xfrm>
          <a:prstGeom prst="rect">
            <a:avLst/>
          </a:prstGeom>
          <a:noFill/>
        </p:spPr>
        <p:txBody>
          <a:bodyPr wrap="square" lIns="0" rIns="0" tIns="0" bIns="0" anchor="ctr">
            <a:spAutoFit/>
          </a:bodyPr>
          <a:lstStyle/>
          <a:p>
            <a:pPr algn="r">
              <a:spcAft>
                <a:spcPts val="600"/>
              </a:spcAft>
              <a:buNone/>
            </a:pPr>
            <a:r>
              <a:rPr sz="42000" b="1" i="0">
                <a:solidFill>
                  <a:srgbClr val="1C3560"/>
                </a:solidFill>
                <a:latin typeface="Calibri"/>
              </a:rPr>
              <a:t>11</a:t>
            </a:r>
          </a:p>
        </p:txBody>
      </p:sp>
      <p:sp>
        <p:nvSpPr>
          <p:cNvPr id="4" name="Title"/>
          <p:cNvSpPr txBox="1"/>
          <p:nvPr/>
        </p:nvSpPr>
        <p:spPr>
          <a:xfrm>
            <a:off x="822960" y="2514600"/>
            <a:ext cx="6949440" cy="1828800"/>
          </a:xfrm>
          <a:prstGeom prst="rect">
            <a:avLst/>
          </a:prstGeom>
          <a:noFill/>
        </p:spPr>
        <p:txBody>
          <a:bodyPr wrap="square" lIns="0" rIns="0" tIns="0" bIns="0" anchor="ctr">
            <a:spAutoFit/>
          </a:bodyPr>
          <a:lstStyle/>
          <a:p>
            <a:pPr algn="l">
              <a:spcAft>
                <a:spcPts val="600"/>
              </a:spcAft>
              <a:buNone/>
            </a:pPr>
            <a:r>
              <a:rPr sz="4400" b="1" i="0">
                <a:solidFill>
                  <a:srgbClr val="FFFFFF"/>
                </a:solidFill>
                <a:latin typeface="Calibri"/>
              </a:rPr>
              <a:t>Maintenance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11.1 What maintain.sh runs (nightly)</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11</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57</a:t>
            </a:r>
          </a:p>
        </p:txBody>
      </p:sp>
      <p:sp>
        <p:nvSpPr>
          <p:cNvPr id="9" name="Code block"/>
          <p:cNvSpPr/>
          <p:nvPr/>
        </p:nvSpPr>
        <p:spPr>
          <a:xfrm>
            <a:off x="411480" y="1188720"/>
            <a:ext cx="11365992" cy="411480"/>
          </a:xfrm>
          <a:prstGeom prst="roundRect">
            <a:avLst>
              <a:gd name="adj" fmla="val 4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
          <p:cNvSpPr txBox="1"/>
          <p:nvPr/>
        </p:nvSpPr>
        <p:spPr>
          <a:xfrm>
            <a:off x="521208" y="1252728"/>
            <a:ext cx="11146536" cy="283464"/>
          </a:xfrm>
          <a:prstGeom prst="rect">
            <a:avLst/>
          </a:prstGeom>
          <a:noFill/>
        </p:spPr>
        <p:txBody>
          <a:bodyPr wrap="square" lIns="0" rIns="0" tIns="0" bIns="0" anchor="ctr">
            <a:spAutoFit/>
          </a:bodyPr>
          <a:lstStyle/>
          <a:p>
            <a:pPr>
              <a:spcAft>
                <a:spcPts val="0"/>
              </a:spcAft>
              <a:buNone/>
            </a:pPr>
            <a:r>
              <a:rPr sz="1100" b="0" i="0">
                <a:solidFill>
                  <a:srgbClr val="E6EDF3"/>
                </a:solidFill>
                <a:latin typeface="Consolas"/>
              </a:rPr>
              <a:t>drishti.py lake maintain --config &lt;lake-maintenance.s3.yaml rendered&gt; --once --force-foreign --tables trading/trade_endur</a:t>
            </a:r>
          </a:p>
        </p:txBody>
      </p:sp>
      <p:sp>
        <p:nvSpPr>
          <p:cNvPr id="11" name="TextBox 10"/>
          <p:cNvSpPr txBox="1"/>
          <p:nvPr/>
        </p:nvSpPr>
        <p:spPr>
          <a:xfrm>
            <a:off x="411480" y="1691640"/>
            <a:ext cx="11365992" cy="457200"/>
          </a:xfrm>
          <a:prstGeom prst="rect">
            <a:avLst/>
          </a:prstGeom>
          <a:noFill/>
        </p:spPr>
        <p:txBody>
          <a:bodyPr wrap="square" lIns="0" rIns="0" tIns="0" bIns="0" anchor="t">
            <a:spAutoFit/>
          </a:bodyPr>
          <a:lstStyle/>
          <a:p>
            <a:pPr algn="l">
              <a:spcAft>
                <a:spcPts val="600"/>
              </a:spcAft>
              <a:buNone/>
            </a:pPr>
            <a:r>
              <a:rPr sz="1300" b="0" i="0">
                <a:solidFill>
                  <a:srgbClr val="1C2433"/>
                </a:solidFill>
                <a:latin typeface="Calibri"/>
              </a:rPr>
              <a:t>Nightly (</a:t>
            </a:r>
            <a:r>
              <a:rPr sz="1200" b="0" i="0">
                <a:solidFill>
                  <a:srgbClr val="0E7C86"/>
                </a:solidFill>
                <a:latin typeface="Consolas"/>
              </a:rPr>
              <a:t>MAINTAIN_SCHEDULE</a:t>
            </a:r>
            <a:r>
              <a:rPr sz="1300" b="0" i="0">
                <a:solidFill>
                  <a:srgbClr val="1C2433"/>
                </a:solidFill>
                <a:latin typeface="Calibri"/>
              </a:rPr>
              <a:t>, Tuesday to Saturday 02:30) as the maintenance task, per table under the table's lock; then setup-lifecycle.sh.</a:t>
            </a:r>
          </a:p>
        </p:txBody>
      </p:sp>
      <p:graphicFrame>
        <p:nvGraphicFramePr>
          <p:cNvPr id="12" name="Table"/>
          <p:cNvGraphicFramePr>
            <a:graphicFrameLocks noGrp="1"/>
          </p:cNvGraphicFramePr>
          <p:nvPr/>
        </p:nvGraphicFramePr>
        <p:xfrm>
          <a:off x="411480" y="2240280"/>
          <a:ext cx="11365992" cy="3401568"/>
        </p:xfrm>
        <a:graphic>
          <a:graphicData uri="http://schemas.openxmlformats.org/drawingml/2006/table">
            <a:tbl>
              <a:tblPr firstRow="0" bandRow="0">
                <a:tableStyleId>{5940675A-B579-460E-94D1-54222C63F5DA}</a:tableStyleId>
              </a:tblPr>
              <a:tblGrid>
                <a:gridCol w="2194560"/>
                <a:gridCol w="3017520"/>
                <a:gridCol w="6153912"/>
              </a:tblGrid>
              <a:tr h="566928">
                <a:tc>
                  <a:txBody>
                    <a:bodyPr wrap="square"/>
                    <a:lstStyle/>
                    <a:p>
                      <a:r>
                        <a:rPr sz="1200" b="1" i="0">
                          <a:solidFill>
                            <a:srgbClr val="FFFFFF"/>
                          </a:solidFill>
                          <a:latin typeface="Calibri"/>
                        </a:rPr>
                        <a:t>Key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Value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What lake maintain does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566928">
                <a:tc>
                  <a:txBody>
                    <a:bodyPr wrap="square"/>
                    <a:lstStyle/>
                    <a:p>
                      <a:r>
                        <a:rPr sz="1100" b="1" i="0">
                          <a:solidFill>
                            <a:srgbClr val="0E7C86"/>
                          </a:solidFill>
                          <a:latin typeface="Consolas"/>
                        </a:rPr>
                        <a:t>keep-business-days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LAKE_KEEP_BUSINESS_DAYS</a:t>
                      </a:r>
                      <a:r>
                        <a:rPr sz="1200" b="0" i="0">
                          <a:solidFill>
                            <a:srgbClr val="1C2433"/>
                          </a:solidFill>
                          <a:latin typeface="Calibri"/>
                        </a:rPr>
                        <a:t> (1800)</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removes dates older than that, counted back from today: one commit; refuses to remove more than </a:t>
                      </a:r>
                      <a:r>
                        <a:rPr sz="1100" b="0" i="0">
                          <a:solidFill>
                            <a:srgbClr val="0E7C86"/>
                          </a:solidFill>
                          <a:latin typeface="Consolas"/>
                        </a:rPr>
                        <a:t>max-drop-share</a:t>
                      </a:r>
                      <a:r>
                        <a:rPr sz="1200" b="0" i="0">
                          <a:solidFill>
                            <a:srgbClr val="1C2433"/>
                          </a:solidFill>
                          <a:latin typeface="Calibri"/>
                        </a:rPr>
                        <a:t> (0.5)</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66928">
                <a:tc>
                  <a:txBody>
                    <a:bodyPr wrap="square"/>
                    <a:lstStyle/>
                    <a:p>
                      <a:r>
                        <a:rPr sz="1100" b="1" i="0">
                          <a:solidFill>
                            <a:srgbClr val="0E7C86"/>
                          </a:solidFill>
                          <a:latin typeface="Consolas"/>
                        </a:rPr>
                        <a:t>checkpoint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true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writes a checkpoint and removes commit files past </a:t>
                      </a:r>
                      <a:r>
                        <a:rPr sz="1100" b="0" i="0">
                          <a:solidFill>
                            <a:srgbClr val="0E7C86"/>
                          </a:solidFill>
                          <a:latin typeface="Consolas"/>
                        </a:rPr>
                        <a:t>delta.logRetentionDuration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66928">
                <a:tc>
                  <a:txBody>
                    <a:bodyPr wrap="square"/>
                    <a:lstStyle/>
                    <a:p>
                      <a:r>
                        <a:rPr sz="1100" b="1" i="0">
                          <a:solidFill>
                            <a:srgbClr val="0E7C86"/>
                          </a:solidFill>
                          <a:latin typeface="Consolas"/>
                        </a:rPr>
                        <a:t>vacuum-hours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LAKE_VACUUM_HOURS</a:t>
                      </a:r>
                      <a:r>
                        <a:rPr sz="1200" b="0" i="0">
                          <a:solidFill>
                            <a:srgbClr val="1C2433"/>
                          </a:solidFill>
                          <a:latin typeface="Calibri"/>
                        </a:rPr>
                        <a:t> (168)</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deletes files no version uses, older than a week; S3 keeps them 14 more days as noncurrent versions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66928">
                <a:tc>
                  <a:txBody>
                    <a:bodyPr wrap="square"/>
                    <a:lstStyle/>
                    <a:p>
                      <a:r>
                        <a:rPr sz="1100" b="1" i="0">
                          <a:solidFill>
                            <a:srgbClr val="0E7C86"/>
                          </a:solidFill>
                          <a:latin typeface="Consolas"/>
                        </a:rPr>
                        <a:t>compact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false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see 11.3</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66928">
                <a:tc>
                  <a:txBody>
                    <a:bodyPr wrap="square"/>
                    <a:lstStyle/>
                    <a:p>
                      <a:r>
                        <a:rPr sz="1200" b="1" i="0">
                          <a:solidFill>
                            <a:srgbClr val="1C2433"/>
                          </a:solidFill>
                          <a:latin typeface="Calibri"/>
                        </a:rPr>
                        <a:t>risk floor (2.8.0)</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7 years: 1,827 days, 61,368 h</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risk/</a:t>
                      </a:r>
                      <a:r>
                        <a:rPr sz="1200" b="0" i="0">
                          <a:solidFill>
                            <a:srgbClr val="1C2433"/>
                          </a:solidFill>
                          <a:latin typeface="Calibri"/>
                        </a:rPr>
                        <a:t> and </a:t>
                      </a:r>
                      <a:r>
                        <a:rPr sz="1100" b="0" i="0">
                          <a:solidFill>
                            <a:srgbClr val="0E7C86"/>
                          </a:solidFill>
                          <a:latin typeface="Consolas"/>
                        </a:rPr>
                        <a:t>risk-results/</a:t>
                      </a:r>
                      <a:r>
                        <a:rPr sz="1200" b="0" i="0">
                          <a:solidFill>
                            <a:srgbClr val="1C2433"/>
                          </a:solidFill>
                          <a:latin typeface="Calibri"/>
                        </a:rPr>
                        <a:t> never below it, whatever the settings (</a:t>
                      </a:r>
                      <a:r>
                        <a:rPr sz="1100" b="0" i="0">
                          <a:solidFill>
                            <a:srgbClr val="0E7C86"/>
                          </a:solidFill>
                          <a:latin typeface="Consolas"/>
                        </a:rPr>
                        <a:t>retention-floor</a:t>
                      </a:r>
                      <a:r>
                        <a:rPr sz="1200" b="0" i="0">
                          <a:solidFill>
                            <a:srgbClr val="1C2433"/>
                          </a:solidFill>
                          <a:latin typeface="Calibri"/>
                        </a:rPr>
                        <a: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bl>
          </a:graphicData>
        </a:graphic>
      </p:graphicFrame>
      <p:sp>
        <p:nvSpPr>
          <p:cNvPr id="13" name="Callout"/>
          <p:cNvSpPr/>
          <p:nvPr/>
        </p:nvSpPr>
        <p:spPr>
          <a:xfrm>
            <a:off x="411480" y="5715000"/>
            <a:ext cx="11365992" cy="594360"/>
          </a:xfrm>
          <a:prstGeom prst="roundRect">
            <a:avLst>
              <a:gd name="adj" fmla="val 6000"/>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Callout edge"/>
          <p:cNvSpPr/>
          <p:nvPr/>
        </p:nvSpPr>
        <p:spPr>
          <a:xfrm>
            <a:off x="411480" y="5733288"/>
            <a:ext cx="82296" cy="557784"/>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xtBox 14"/>
          <p:cNvSpPr txBox="1"/>
          <p:nvPr/>
        </p:nvSpPr>
        <p:spPr>
          <a:xfrm>
            <a:off x="640080" y="5788152"/>
            <a:ext cx="11000232" cy="448056"/>
          </a:xfrm>
          <a:prstGeom prst="rect">
            <a:avLst/>
          </a:prstGeom>
          <a:noFill/>
        </p:spPr>
        <p:txBody>
          <a:bodyPr wrap="square" lIns="0" rIns="0" tIns="0" bIns="0" anchor="ctr">
            <a:spAutoFit/>
          </a:bodyPr>
          <a:lstStyle/>
          <a:p>
            <a:pPr algn="l">
              <a:spcAft>
                <a:spcPts val="600"/>
              </a:spcAft>
              <a:buNone/>
            </a:pPr>
            <a:r>
              <a:rPr sz="1100" b="0" i="0">
                <a:solidFill>
                  <a:srgbClr val="0E7C86"/>
                </a:solidFill>
                <a:latin typeface="Consolas"/>
              </a:rPr>
              <a:t>--force-foreign</a:t>
            </a:r>
            <a:r>
              <a:rPr sz="1200" b="0" i="0">
                <a:solidFill>
                  <a:srgbClr val="1C2433"/>
                </a:solidFill>
                <a:latin typeface="Calibri"/>
              </a:rPr>
              <a:t>: the S3 tables are Drishti's (lake publish wrote them), so the script overrides the ownership rule and marks the runs forced.</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11.2 Retention and the tiers together</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11</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58</a:t>
            </a:r>
          </a:p>
        </p:txBody>
      </p:sp>
      <p:sp>
        <p:nvSpPr>
          <p:cNvPr id="9" name="Rounded Rectangle 8"/>
          <p:cNvSpPr/>
          <p:nvPr/>
        </p:nvSpPr>
        <p:spPr>
          <a:xfrm>
            <a:off x="411480" y="1234440"/>
            <a:ext cx="2286000" cy="1463040"/>
          </a:xfrm>
          <a:prstGeom prst="roundRect">
            <a:avLst>
              <a:gd name="adj" fmla="val 6000"/>
            </a:avLst>
          </a:prstGeom>
          <a:solidFill>
            <a:srgbClr val="DDEE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TextBox 9"/>
          <p:cNvSpPr txBox="1"/>
          <p:nvPr/>
        </p:nvSpPr>
        <p:spPr>
          <a:xfrm>
            <a:off x="521208" y="1298448"/>
            <a:ext cx="2066544" cy="411480"/>
          </a:xfrm>
          <a:prstGeom prst="rect">
            <a:avLst/>
          </a:prstGeom>
          <a:noFill/>
        </p:spPr>
        <p:txBody>
          <a:bodyPr wrap="square" lIns="0" rIns="0" tIns="0" bIns="0" anchor="t">
            <a:spAutoFit/>
          </a:bodyPr>
          <a:lstStyle/>
          <a:p>
            <a:pPr algn="l">
              <a:spcAft>
                <a:spcPts val="600"/>
              </a:spcAft>
              <a:buNone/>
            </a:pPr>
            <a:r>
              <a:rPr sz="1300" b="1" i="0">
                <a:solidFill>
                  <a:srgbClr val="0B1E3B"/>
                </a:solidFill>
                <a:latin typeface="Calibri"/>
              </a:rPr>
              <a:t>0 – 90 days</a:t>
            </a:r>
          </a:p>
        </p:txBody>
      </p:sp>
      <p:sp>
        <p:nvSpPr>
          <p:cNvPr id="11" name="TextBox 10"/>
          <p:cNvSpPr txBox="1"/>
          <p:nvPr/>
        </p:nvSpPr>
        <p:spPr>
          <a:xfrm>
            <a:off x="521208" y="1737360"/>
            <a:ext cx="2066544" cy="914400"/>
          </a:xfrm>
          <a:prstGeom prst="rect">
            <a:avLst/>
          </a:prstGeom>
          <a:noFill/>
        </p:spPr>
        <p:txBody>
          <a:bodyPr wrap="square" lIns="0" rIns="0" tIns="0" bIns="0" anchor="t">
            <a:spAutoFit/>
          </a:bodyPr>
          <a:lstStyle/>
          <a:p>
            <a:pPr algn="l">
              <a:spcAft>
                <a:spcPts val="600"/>
              </a:spcAft>
              <a:buNone/>
            </a:pPr>
            <a:r>
              <a:rPr sz="1300" b="0" i="0">
                <a:solidFill>
                  <a:srgbClr val="1C2433"/>
                </a:solidFill>
                <a:latin typeface="Calibri"/>
              </a:rPr>
              <a:t>S3 Standard</a:t>
            </a:r>
          </a:p>
        </p:txBody>
      </p:sp>
      <p:sp>
        <p:nvSpPr>
          <p:cNvPr id="12" name="Rounded Rectangle 11"/>
          <p:cNvSpPr/>
          <p:nvPr/>
        </p:nvSpPr>
        <p:spPr>
          <a:xfrm>
            <a:off x="2788920" y="1234440"/>
            <a:ext cx="2743200" cy="1463040"/>
          </a:xfrm>
          <a:prstGeom prst="roundRect">
            <a:avLst>
              <a:gd name="adj" fmla="val 6000"/>
            </a:avLst>
          </a:prstGeom>
          <a:solidFill>
            <a:srgbClr val="FCE8D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TextBox 12"/>
          <p:cNvSpPr txBox="1"/>
          <p:nvPr/>
        </p:nvSpPr>
        <p:spPr>
          <a:xfrm>
            <a:off x="2898648" y="1298448"/>
            <a:ext cx="2523744" cy="411480"/>
          </a:xfrm>
          <a:prstGeom prst="rect">
            <a:avLst/>
          </a:prstGeom>
          <a:noFill/>
        </p:spPr>
        <p:txBody>
          <a:bodyPr wrap="square" lIns="0" rIns="0" tIns="0" bIns="0" anchor="t">
            <a:spAutoFit/>
          </a:bodyPr>
          <a:lstStyle/>
          <a:p>
            <a:pPr algn="l">
              <a:spcAft>
                <a:spcPts val="600"/>
              </a:spcAft>
              <a:buNone/>
            </a:pPr>
            <a:r>
              <a:rPr sz="1300" b="1" i="0">
                <a:solidFill>
                  <a:srgbClr val="0B1E3B"/>
                </a:solidFill>
                <a:latin typeface="Calibri"/>
              </a:rPr>
              <a:t>90 days – 2 years</a:t>
            </a:r>
          </a:p>
        </p:txBody>
      </p:sp>
      <p:sp>
        <p:nvSpPr>
          <p:cNvPr id="14" name="TextBox 13"/>
          <p:cNvSpPr txBox="1"/>
          <p:nvPr/>
        </p:nvSpPr>
        <p:spPr>
          <a:xfrm>
            <a:off x="2898648" y="1737360"/>
            <a:ext cx="2523744" cy="914400"/>
          </a:xfrm>
          <a:prstGeom prst="rect">
            <a:avLst/>
          </a:prstGeom>
          <a:noFill/>
        </p:spPr>
        <p:txBody>
          <a:bodyPr wrap="square" lIns="0" rIns="0" tIns="0" bIns="0" anchor="t">
            <a:spAutoFit/>
          </a:bodyPr>
          <a:lstStyle/>
          <a:p>
            <a:pPr algn="l">
              <a:spcAft>
                <a:spcPts val="600"/>
              </a:spcAft>
              <a:buNone/>
            </a:pPr>
            <a:r>
              <a:rPr sz="1300" b="0" i="0">
                <a:solidFill>
                  <a:srgbClr val="1C2433"/>
                </a:solidFill>
                <a:latin typeface="Calibri"/>
              </a:rPr>
              <a:t>Standard-IA (</a:t>
            </a:r>
            <a:r>
              <a:rPr sz="1200" b="0" i="0">
                <a:solidFill>
                  <a:srgbClr val="0E7C86"/>
                </a:solidFill>
                <a:latin typeface="Consolas"/>
              </a:rPr>
              <a:t>TIER_IA_AFTER_DAYS</a:t>
            </a:r>
            <a:r>
              <a:rPr sz="1300" b="0" i="0">
                <a:solidFill>
                  <a:srgbClr val="1C2433"/>
                </a:solidFill>
                <a:latin typeface="Calibri"/>
              </a:rPr>
              <a:t>)</a:t>
            </a:r>
          </a:p>
        </p:txBody>
      </p:sp>
      <p:sp>
        <p:nvSpPr>
          <p:cNvPr id="15" name="Rounded Rectangle 14"/>
          <p:cNvSpPr/>
          <p:nvPr/>
        </p:nvSpPr>
        <p:spPr>
          <a:xfrm>
            <a:off x="5623560" y="1234440"/>
            <a:ext cx="3566160" cy="146304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TextBox 15"/>
          <p:cNvSpPr txBox="1"/>
          <p:nvPr/>
        </p:nvSpPr>
        <p:spPr>
          <a:xfrm>
            <a:off x="5733288" y="1298448"/>
            <a:ext cx="3346704" cy="411480"/>
          </a:xfrm>
          <a:prstGeom prst="rect">
            <a:avLst/>
          </a:prstGeom>
          <a:noFill/>
        </p:spPr>
        <p:txBody>
          <a:bodyPr wrap="square" lIns="0" rIns="0" tIns="0" bIns="0" anchor="t">
            <a:spAutoFit/>
          </a:bodyPr>
          <a:lstStyle/>
          <a:p>
            <a:pPr algn="l">
              <a:spcAft>
                <a:spcPts val="600"/>
              </a:spcAft>
              <a:buNone/>
            </a:pPr>
            <a:r>
              <a:rPr sz="1300" b="1" i="0">
                <a:solidFill>
                  <a:srgbClr val="0B1E3B"/>
                </a:solidFill>
                <a:latin typeface="Calibri"/>
              </a:rPr>
              <a:t>2 years – </a:t>
            </a:r>
            <a:r>
              <a:rPr sz="1200" b="1" i="0">
                <a:solidFill>
                  <a:srgbClr val="0E7C86"/>
                </a:solidFill>
                <a:latin typeface="Consolas"/>
              </a:rPr>
              <a:t>LAKE_KEEP_BUSINESS_DAYS</a:t>
            </a:r>
          </a:p>
        </p:txBody>
      </p:sp>
      <p:sp>
        <p:nvSpPr>
          <p:cNvPr id="17" name="TextBox 16"/>
          <p:cNvSpPr txBox="1"/>
          <p:nvPr/>
        </p:nvSpPr>
        <p:spPr>
          <a:xfrm>
            <a:off x="5733288" y="1737360"/>
            <a:ext cx="3346704" cy="914400"/>
          </a:xfrm>
          <a:prstGeom prst="rect">
            <a:avLst/>
          </a:prstGeom>
          <a:noFill/>
        </p:spPr>
        <p:txBody>
          <a:bodyPr wrap="square" lIns="0" rIns="0" tIns="0" bIns="0" anchor="t">
            <a:spAutoFit/>
          </a:bodyPr>
          <a:lstStyle/>
          <a:p>
            <a:pPr algn="l">
              <a:spcAft>
                <a:spcPts val="600"/>
              </a:spcAft>
              <a:buNone/>
            </a:pPr>
            <a:r>
              <a:rPr sz="1300" b="0" i="0">
                <a:solidFill>
                  <a:srgbClr val="1C2433"/>
                </a:solidFill>
                <a:latin typeface="Calibri"/>
              </a:rPr>
              <a:t>Glacier Instant Retrieval</a:t>
            </a:r>
          </a:p>
        </p:txBody>
      </p:sp>
      <p:sp>
        <p:nvSpPr>
          <p:cNvPr id="18" name="Rounded Rectangle 17"/>
          <p:cNvSpPr/>
          <p:nvPr/>
        </p:nvSpPr>
        <p:spPr>
          <a:xfrm>
            <a:off x="9281160" y="1234440"/>
            <a:ext cx="2404872" cy="1463040"/>
          </a:xfrm>
          <a:prstGeom prst="roundRect">
            <a:avLst>
              <a:gd name="adj" fmla="val 6000"/>
            </a:avLst>
          </a:prstGeom>
          <a:solidFill>
            <a:srgbClr val="EE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TextBox 18"/>
          <p:cNvSpPr txBox="1"/>
          <p:nvPr/>
        </p:nvSpPr>
        <p:spPr>
          <a:xfrm>
            <a:off x="9390888" y="1298448"/>
            <a:ext cx="2185416" cy="411480"/>
          </a:xfrm>
          <a:prstGeom prst="rect">
            <a:avLst/>
          </a:prstGeom>
          <a:noFill/>
        </p:spPr>
        <p:txBody>
          <a:bodyPr wrap="square" lIns="0" rIns="0" tIns="0" bIns="0" anchor="t">
            <a:spAutoFit/>
          </a:bodyPr>
          <a:lstStyle/>
          <a:p>
            <a:pPr algn="l">
              <a:spcAft>
                <a:spcPts val="600"/>
              </a:spcAft>
              <a:buNone/>
            </a:pPr>
            <a:r>
              <a:rPr sz="1300" b="1" i="0">
                <a:solidFill>
                  <a:srgbClr val="0B1E3B"/>
                </a:solidFill>
                <a:latin typeface="Calibri"/>
              </a:rPr>
              <a:t>beyond</a:t>
            </a:r>
          </a:p>
        </p:txBody>
      </p:sp>
      <p:sp>
        <p:nvSpPr>
          <p:cNvPr id="20" name="TextBox 19"/>
          <p:cNvSpPr txBox="1"/>
          <p:nvPr/>
        </p:nvSpPr>
        <p:spPr>
          <a:xfrm>
            <a:off x="9390888" y="1737360"/>
            <a:ext cx="2185416" cy="914400"/>
          </a:xfrm>
          <a:prstGeom prst="rect">
            <a:avLst/>
          </a:prstGeom>
          <a:noFill/>
        </p:spPr>
        <p:txBody>
          <a:bodyPr wrap="square" lIns="0" rIns="0" tIns="0" bIns="0" anchor="t">
            <a:spAutoFit/>
          </a:bodyPr>
          <a:lstStyle/>
          <a:p>
            <a:pPr algn="l">
              <a:spcAft>
                <a:spcPts val="600"/>
              </a:spcAft>
              <a:buNone/>
            </a:pPr>
            <a:r>
              <a:rPr sz="1300" b="0" i="0">
                <a:solidFill>
                  <a:srgbClr val="1C2433"/>
                </a:solidFill>
                <a:latin typeface="Calibri"/>
              </a:rPr>
              <a:t>removed by lake maintain → vacuum → noncurrent expiry</a:t>
            </a:r>
          </a:p>
        </p:txBody>
      </p:sp>
      <p:cxnSp>
        <p:nvCxnSpPr>
          <p:cNvPr id="21" name="Connector 20"/>
          <p:cNvCxnSpPr/>
          <p:nvPr/>
        </p:nvCxnSpPr>
        <p:spPr>
          <a:xfrm>
            <a:off x="411480" y="2880360"/>
            <a:ext cx="11365992" cy="0"/>
          </a:xfrm>
          <a:prstGeom prst="line">
            <a:avLst/>
          </a:prstGeom>
          <a:ln w="19050">
            <a:solidFill>
              <a:srgbClr val="5B67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11480" y="2926080"/>
            <a:ext cx="11365992" cy="320040"/>
          </a:xfrm>
          <a:prstGeom prst="rect">
            <a:avLst/>
          </a:prstGeom>
          <a:noFill/>
        </p:spPr>
        <p:txBody>
          <a:bodyPr wrap="square" lIns="0" rIns="0" tIns="0" bIns="0" anchor="t">
            <a:spAutoFit/>
          </a:bodyPr>
          <a:lstStyle/>
          <a:p>
            <a:pPr algn="l">
              <a:spcAft>
                <a:spcPts val="600"/>
              </a:spcAft>
              <a:buNone/>
            </a:pPr>
            <a:r>
              <a:rPr sz="1200" b="0" i="0">
                <a:solidFill>
                  <a:srgbClr val="5B677A"/>
                </a:solidFill>
                <a:latin typeface="Calibri"/>
              </a:rPr>
              <a:t>business date age →   read latency: milliseconds in every tier</a:t>
            </a:r>
          </a:p>
        </p:txBody>
      </p:sp>
      <p:sp>
        <p:nvSpPr>
          <p:cNvPr id="23" name="TextBox 22"/>
          <p:cNvSpPr txBox="1"/>
          <p:nvPr/>
        </p:nvSpPr>
        <p:spPr>
          <a:xfrm>
            <a:off x="411480" y="3429000"/>
            <a:ext cx="11365992" cy="1828800"/>
          </a:xfrm>
          <a:prstGeom prst="rect">
            <a:avLst/>
          </a:prstGeom>
          <a:noFill/>
        </p:spPr>
        <p:txBody>
          <a:bodyPr wrap="square" lIns="0" rIns="0" tIns="0" bIns="0" anchor="t">
            <a:spAutoFit/>
          </a:bodyPr>
          <a:lstStyle/>
          <a:p>
            <a:pPr algn="l" marL="201168" indent="-201168">
              <a:spcAft>
                <a:spcPts val="700"/>
              </a:spcAft>
              <a:buClr>
                <a:srgbClr val="E87A1E"/>
              </a:buClr>
              <a:buSzPct val="100000"/>
              <a:buFont typeface="Arial"/>
              <a:buChar char="•"/>
            </a:pPr>
            <a:r>
              <a:rPr sz="1400" b="1" i="0">
                <a:solidFill>
                  <a:srgbClr val="1C2433"/>
                </a:solidFill>
                <a:latin typeface="Calibri"/>
              </a:rPr>
              <a:t>Never</a:t>
            </a:r>
            <a:r>
              <a:rPr sz="1400" b="0" i="0">
                <a:solidFill>
                  <a:srgbClr val="1C2433"/>
                </a:solidFill>
                <a:latin typeface="Calibri"/>
              </a:rPr>
              <a:t> Glacier Flexible Retrieval or Deep Archive: a restore of hours before a read; Drishti reads any day in milliseconds</a:t>
            </a:r>
          </a:p>
          <a:p>
            <a:pPr algn="l" marL="201168" indent="-201168">
              <a:spcAft>
                <a:spcPts val="700"/>
              </a:spcAft>
              <a:buClr>
                <a:srgbClr val="E87A1E"/>
              </a:buClr>
              <a:buSzPct val="100000"/>
              <a:buFont typeface="Arial"/>
              <a:buChar char="•"/>
            </a:pPr>
            <a:r>
              <a:rPr sz="1400" b="1" i="0">
                <a:solidFill>
                  <a:srgbClr val="1C2433"/>
                </a:solidFill>
                <a:latin typeface="Calibri"/>
              </a:rPr>
              <a:t>Never</a:t>
            </a:r>
            <a:r>
              <a:rPr sz="1400" b="0" i="0">
                <a:solidFill>
                  <a:srgbClr val="1C2433"/>
                </a:solidFill>
                <a:latin typeface="Calibri"/>
              </a:rPr>
              <a:t> an S3 expiry of current lake objects: removing a file a table version still names breaks the table</a:t>
            </a:r>
          </a:p>
          <a:p>
            <a:pPr algn="l" marL="201168" indent="-201168">
              <a:spcAft>
                <a:spcPts val="700"/>
              </a:spcAft>
              <a:buClr>
                <a:srgbClr val="E87A1E"/>
              </a:buClr>
              <a:buSzPct val="100000"/>
              <a:buFont typeface="Arial"/>
              <a:buChar char="•"/>
            </a:pPr>
            <a:r>
              <a:rPr sz="1400" b="0" i="0">
                <a:solidFill>
                  <a:srgbClr val="1C2433"/>
                </a:solidFill>
                <a:latin typeface="Calibri"/>
              </a:rPr>
              <a:t>Only </a:t>
            </a:r>
            <a:r>
              <a:rPr sz="1300" b="0" i="0">
                <a:solidFill>
                  <a:srgbClr val="0E7C86"/>
                </a:solidFill>
                <a:latin typeface="Consolas"/>
              </a:rPr>
              <a:t>lake maintain</a:t>
            </a:r>
            <a:r>
              <a:rPr sz="1400" b="0" i="0">
                <a:solidFill>
                  <a:srgbClr val="1C2433"/>
                </a:solidFill>
                <a:latin typeface="Calibri"/>
              </a:rPr>
              <a:t> removes table files; S3 then keeps the noncurrent versions 14 days</a:t>
            </a:r>
          </a:p>
        </p:txBody>
      </p:sp>
      <p:sp>
        <p:nvSpPr>
          <p:cNvPr id="24" name="Callout"/>
          <p:cNvSpPr/>
          <p:nvPr/>
        </p:nvSpPr>
        <p:spPr>
          <a:xfrm>
            <a:off x="411480" y="5303520"/>
            <a:ext cx="11365992" cy="1005840"/>
          </a:xfrm>
          <a:prstGeom prst="roundRect">
            <a:avLst>
              <a:gd name="adj" fmla="val 6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Callout edge"/>
          <p:cNvSpPr/>
          <p:nvPr/>
        </p:nvSpPr>
        <p:spPr>
          <a:xfrm>
            <a:off x="411480" y="5321807"/>
            <a:ext cx="82296" cy="9692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xtBox 25"/>
          <p:cNvSpPr txBox="1"/>
          <p:nvPr/>
        </p:nvSpPr>
        <p:spPr>
          <a:xfrm>
            <a:off x="640080" y="5376672"/>
            <a:ext cx="11000232" cy="859536"/>
          </a:xfrm>
          <a:prstGeom prst="rect">
            <a:avLst/>
          </a:prstGeom>
          <a:noFill/>
        </p:spPr>
        <p:txBody>
          <a:bodyPr wrap="square" lIns="0" rIns="0" tIns="0" bIns="0" anchor="ctr">
            <a:spAutoFit/>
          </a:bodyPr>
          <a:lstStyle/>
          <a:p>
            <a:pPr algn="l">
              <a:spcAft>
                <a:spcPts val="600"/>
              </a:spcAft>
              <a:buNone/>
            </a:pPr>
            <a:r>
              <a:rPr sz="1300" b="1" i="0">
                <a:solidFill>
                  <a:srgbClr val="1C2433"/>
                </a:solidFill>
                <a:latin typeface="Calibri"/>
              </a:rPr>
              <a:t>The risk lake (2.8.0):</a:t>
            </a:r>
            <a:r>
              <a:rPr sz="1300" b="0" i="0">
                <a:solidFill>
                  <a:srgbClr val="1C2433"/>
                </a:solidFill>
                <a:latin typeface="Calibri"/>
              </a:rPr>
              <a:t> </a:t>
            </a:r>
            <a:r>
              <a:rPr sz="1200" b="0" i="0">
                <a:solidFill>
                  <a:srgbClr val="0E7C86"/>
                </a:solidFill>
                <a:latin typeface="Consolas"/>
              </a:rPr>
              <a:t>risk/</a:t>
            </a:r>
            <a:r>
              <a:rPr sz="1300" b="0" i="0">
                <a:solidFill>
                  <a:srgbClr val="1C2433"/>
                </a:solidFill>
                <a:latin typeface="Calibri"/>
              </a:rPr>
              <a:t> and </a:t>
            </a:r>
            <a:r>
              <a:rPr sz="1200" b="0" i="0">
                <a:solidFill>
                  <a:srgbClr val="0E7C86"/>
                </a:solidFill>
                <a:latin typeface="Consolas"/>
              </a:rPr>
              <a:t>risk-results/</a:t>
            </a:r>
            <a:r>
              <a:rPr sz="1300" b="0" i="0">
                <a:solidFill>
                  <a:srgbClr val="1C2433"/>
                </a:solidFill>
                <a:latin typeface="Calibri"/>
              </a:rPr>
              <a:t> keep 7 years of dates and time travel. Their old months sit in Glacier IR, still read in milliseconds, so any official VaR or exposure figure can be recomputed from its inputs years later.</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11.3 Compaction: off for S3, and now safe to turn on</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11</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59</a:t>
            </a:r>
          </a:p>
        </p:txBody>
      </p:sp>
      <p:sp>
        <p:nvSpPr>
          <p:cNvPr id="9" name="TextBox 8"/>
          <p:cNvSpPr txBox="1"/>
          <p:nvPr/>
        </p:nvSpPr>
        <p:spPr>
          <a:xfrm>
            <a:off x="411480" y="1188720"/>
            <a:ext cx="6675120" cy="3108960"/>
          </a:xfrm>
          <a:prstGeom prst="rect">
            <a:avLst/>
          </a:prstGeom>
          <a:noFill/>
        </p:spPr>
        <p:txBody>
          <a:bodyPr wrap="square" lIns="0" rIns="0" tIns="0" bIns="0" anchor="t">
            <a:spAutoFit/>
          </a:bodyPr>
          <a:lstStyle/>
          <a:p>
            <a:pPr algn="l" marL="201168" indent="-201168">
              <a:spcAft>
                <a:spcPts val="800"/>
              </a:spcAft>
              <a:buClr>
                <a:srgbClr val="E87A1E"/>
              </a:buClr>
              <a:buSzPct val="100000"/>
              <a:buFont typeface="Arial"/>
              <a:buChar char="•"/>
            </a:pPr>
            <a:r>
              <a:rPr sz="1400" b="0" i="0">
                <a:solidFill>
                  <a:srgbClr val="1C2433"/>
                </a:solidFill>
                <a:latin typeface="Calibri"/>
              </a:rPr>
              <a:t>Each day arrives laid out: files of </a:t>
            </a:r>
            <a:r>
              <a:rPr sz="1300" b="0" i="0">
                <a:solidFill>
                  <a:srgbClr val="0E7C86"/>
                </a:solidFill>
                <a:latin typeface="Consolas"/>
              </a:rPr>
              <a:t>file-rows</a:t>
            </a:r>
            <a:r>
              <a:rPr sz="1400" b="0" i="0">
                <a:solidFill>
                  <a:srgbClr val="1C2433"/>
                </a:solidFill>
                <a:latin typeface="Calibri"/>
              </a:rPr>
              <a:t>, sorted by id, one commit ⇒ the S3 tables need no compaction</a:t>
            </a:r>
          </a:p>
          <a:p>
            <a:pPr algn="l" marL="201168" indent="-201168">
              <a:spcAft>
                <a:spcPts val="800"/>
              </a:spcAft>
              <a:buClr>
                <a:srgbClr val="E87A1E"/>
              </a:buClr>
              <a:buSzPct val="100000"/>
              <a:buFont typeface="Arial"/>
              <a:buChar char="•"/>
            </a:pPr>
            <a:r>
              <a:rPr sz="1400" b="0" i="0">
                <a:solidFill>
                  <a:srgbClr val="1C2433"/>
                </a:solidFill>
                <a:latin typeface="Calibri"/>
              </a:rPr>
              <a:t>A plain Delta compaction would merge files out of id order (single-entity reads would touch many row groups)</a:t>
            </a:r>
          </a:p>
          <a:p>
            <a:pPr algn="l" marL="201168" indent="-201168">
              <a:spcAft>
                <a:spcPts val="800"/>
              </a:spcAft>
              <a:buClr>
                <a:srgbClr val="E87A1E"/>
              </a:buClr>
              <a:buSzPct val="100000"/>
              <a:buFont typeface="Arial"/>
              <a:buChar char="•"/>
            </a:pPr>
            <a:r>
              <a:rPr sz="1300" b="0" i="0">
                <a:solidFill>
                  <a:srgbClr val="0E7C86"/>
                </a:solidFill>
                <a:latin typeface="Consolas"/>
              </a:rPr>
              <a:t>lake maintain</a:t>
            </a:r>
            <a:r>
              <a:rPr sz="1400" b="0" i="0">
                <a:solidFill>
                  <a:srgbClr val="1C2433"/>
                </a:solidFill>
                <a:latin typeface="Calibri"/>
              </a:rPr>
              <a:t> re-sorts (</a:t>
            </a:r>
            <a:r>
              <a:rPr sz="1400" b="1" i="0">
                <a:solidFill>
                  <a:srgbClr val="1C2433"/>
                </a:solidFill>
                <a:latin typeface="Calibri"/>
              </a:rPr>
              <a:t>relayout</a:t>
            </a:r>
            <a:r>
              <a:rPr sz="1400" b="0" i="0">
                <a:solidFill>
                  <a:srgbClr val="1C2433"/>
                </a:solidFill>
                <a:latin typeface="Calibri"/>
              </a:rPr>
              <a:t>) instead of compacting where the pack declares a layout</a:t>
            </a:r>
          </a:p>
          <a:p>
            <a:pPr algn="l" marL="201168" indent="-201168">
              <a:spcAft>
                <a:spcPts val="800"/>
              </a:spcAft>
              <a:buClr>
                <a:srgbClr val="E87A1E"/>
              </a:buClr>
              <a:buSzPct val="100000"/>
              <a:buFont typeface="Arial"/>
              <a:buChar char="•"/>
            </a:pPr>
            <a:r>
              <a:rPr sz="1400" b="0" i="0">
                <a:solidFill>
                  <a:srgbClr val="1C2433"/>
                </a:solidFill>
                <a:latin typeface="Calibri"/>
              </a:rPr>
              <a:t>So </a:t>
            </a:r>
            <a:r>
              <a:rPr sz="1300" b="0" i="0">
                <a:solidFill>
                  <a:srgbClr val="0E7C86"/>
                </a:solidFill>
                <a:latin typeface="Consolas"/>
              </a:rPr>
              <a:t>compact: false</a:t>
            </a:r>
            <a:r>
              <a:rPr sz="1400" b="0" i="0">
                <a:solidFill>
                  <a:srgbClr val="1C2433"/>
                </a:solidFill>
                <a:latin typeface="Calibri"/>
              </a:rPr>
              <a:t> stays the shipped S3 setting; a day that needs re-laying is restated (slide 95)</a:t>
            </a:r>
          </a:p>
        </p:txBody>
      </p:sp>
      <p:sp>
        <p:nvSpPr>
          <p:cNvPr id="10" name="Callout"/>
          <p:cNvSpPr/>
          <p:nvPr/>
        </p:nvSpPr>
        <p:spPr>
          <a:xfrm>
            <a:off x="7269480" y="1188720"/>
            <a:ext cx="4507992" cy="2377440"/>
          </a:xfrm>
          <a:prstGeom prst="roundRect">
            <a:avLst>
              <a:gd name="adj" fmla="val 6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allout edge"/>
          <p:cNvSpPr/>
          <p:nvPr/>
        </p:nvSpPr>
        <p:spPr>
          <a:xfrm>
            <a:off x="7269480" y="1207008"/>
            <a:ext cx="82296" cy="23408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7498079" y="1261872"/>
            <a:ext cx="4142231" cy="2231136"/>
          </a:xfrm>
          <a:prstGeom prst="rect">
            <a:avLst/>
          </a:prstGeom>
          <a:noFill/>
        </p:spPr>
        <p:txBody>
          <a:bodyPr wrap="square" lIns="0" rIns="0" tIns="0" bIns="0" anchor="t">
            <a:spAutoFit/>
          </a:bodyPr>
          <a:lstStyle/>
          <a:p>
            <a:pPr algn="l">
              <a:spcAft>
                <a:spcPts val="600"/>
              </a:spcAft>
              <a:buNone/>
            </a:pPr>
            <a:r>
              <a:rPr sz="1400" b="1" i="0">
                <a:solidFill>
                  <a:srgbClr val="1C2433"/>
                </a:solidFill>
                <a:latin typeface="Calibri"/>
              </a:rPr>
              <a:t>Fixed in 2.6.7</a:t>
            </a:r>
          </a:p>
          <a:p>
            <a:pPr algn="l">
              <a:spcAft>
                <a:spcPts val="600"/>
              </a:spcAft>
              <a:buNone/>
            </a:pPr>
            <a:r>
              <a:rPr sz="1200" b="0" i="0">
                <a:solidFill>
                  <a:srgbClr val="0E7C86"/>
                </a:solidFill>
                <a:latin typeface="Consolas"/>
              </a:rPr>
              <a:t>lake maintain</a:t>
            </a:r>
            <a:r>
              <a:rPr sz="1300" b="0" i="0">
                <a:solidFill>
                  <a:srgbClr val="1C2433"/>
                </a:solidFill>
                <a:latin typeface="Calibri"/>
              </a:rPr>
              <a:t> finds the layout of the connector whose table it is, so </a:t>
            </a:r>
            <a:r>
              <a:rPr sz="1200" b="0" i="0">
                <a:solidFill>
                  <a:srgbClr val="0E7C86"/>
                </a:solidFill>
                <a:latin typeface="Consolas"/>
              </a:rPr>
              <a:t>trade_endur</a:t>
            </a:r>
            <a:r>
              <a:rPr sz="1300" b="0" i="0">
                <a:solidFill>
                  <a:srgbClr val="1C2433"/>
                </a:solidFill>
                <a:latin typeface="Calibri"/>
              </a:rPr>
              <a:t>, </a:t>
            </a:r>
            <a:r>
              <a:rPr sz="1200" b="0" i="0">
                <a:solidFill>
                  <a:srgbClr val="0E7C86"/>
                </a:solidFill>
                <a:latin typeface="Consolas"/>
              </a:rPr>
              <a:t>trade_calypso</a:t>
            </a:r>
            <a:r>
              <a:rPr sz="1300" b="0" i="0">
                <a:solidFill>
                  <a:srgbClr val="1C2433"/>
                </a:solidFill>
                <a:latin typeface="Calibri"/>
              </a:rPr>
              <a:t> and </a:t>
            </a:r>
            <a:r>
              <a:rPr sz="1200" b="0" i="0">
                <a:solidFill>
                  <a:srgbClr val="0E7C86"/>
                </a:solidFill>
                <a:latin typeface="Consolas"/>
              </a:rPr>
              <a:t>trade_murex</a:t>
            </a:r>
            <a:r>
              <a:rPr sz="1300" b="0" i="0">
                <a:solidFill>
                  <a:srgbClr val="1C2433"/>
                </a:solidFill>
                <a:latin typeface="Calibri"/>
              </a:rPr>
              <a:t> are re-laid out by id, not compacted out of order; relayout keeps </a:t>
            </a:r>
            <a:r>
              <a:rPr sz="1200" b="0" i="0">
                <a:solidFill>
                  <a:srgbClr val="0E7C86"/>
                </a:solidFill>
                <a:latin typeface="Consolas"/>
              </a:rPr>
              <a:t>business_date</a:t>
            </a:r>
            <a:r>
              <a:rPr sz="1300" b="0" i="0">
                <a:solidFill>
                  <a:srgbClr val="1C2433"/>
                </a:solidFill>
                <a:latin typeface="Calibri"/>
              </a:rPr>
              <a:t> and </a:t>
            </a:r>
            <a:r>
              <a:rPr sz="1200" b="0" i="0">
                <a:solidFill>
                  <a:srgbClr val="0E7C86"/>
                </a:solidFill>
                <a:latin typeface="Consolas"/>
              </a:rPr>
              <a:t>PRODUCT_TYPE</a:t>
            </a:r>
            <a:r>
              <a:rPr sz="1300" b="0" i="0">
                <a:solidFill>
                  <a:srgbClr val="1C2433"/>
                </a:solidFill>
                <a:latin typeface="Calibri"/>
              </a:rPr>
              <a:t> and checks each.</a:t>
            </a:r>
          </a:p>
        </p:txBody>
      </p:sp>
      <p:sp>
        <p:nvSpPr>
          <p:cNvPr id="13" name="Rounded Rectangle 12"/>
          <p:cNvSpPr/>
          <p:nvPr/>
        </p:nvSpPr>
        <p:spPr>
          <a:xfrm>
            <a:off x="411480" y="3931920"/>
            <a:ext cx="11365992" cy="1280160"/>
          </a:xfrm>
          <a:prstGeom prst="roundRect">
            <a:avLst>
              <a:gd name="adj" fmla="val 6000"/>
            </a:avLst>
          </a:prstGeom>
          <a:solidFill>
            <a:srgbClr val="FFF4E6"/>
          </a:solidFill>
          <a:ln w="9525">
            <a:solidFill>
              <a:srgbClr val="E87A1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502920" y="3977639"/>
            <a:ext cx="10040112"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Turn compaction on for S3 after a relayout test there</a:t>
            </a:r>
          </a:p>
        </p:txBody>
      </p:sp>
      <p:sp>
        <p:nvSpPr>
          <p:cNvPr id="15" name="Status PROPOSED"/>
          <p:cNvSpPr/>
          <p:nvPr/>
        </p:nvSpPr>
        <p:spPr>
          <a:xfrm>
            <a:off x="10634472" y="4023359"/>
            <a:ext cx="1051560" cy="237744"/>
          </a:xfrm>
          <a:prstGeom prst="roundRect">
            <a:avLst>
              <a:gd name="adj" fmla="val 50000"/>
            </a:avLst>
          </a:prstGeom>
          <a:solidFill>
            <a:srgbClr val="FFFFFF"/>
          </a:solidFill>
          <a:ln w="15875">
            <a:solidFill>
              <a:srgbClr val="E87A1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000" b="1" i="0">
                <a:solidFill>
                  <a:srgbClr val="E87A1E"/>
                </a:solidFill>
                <a:latin typeface="Calibri"/>
              </a:rPr>
              <a:t>PROPOSED</a:t>
            </a:r>
          </a:p>
        </p:txBody>
      </p:sp>
      <p:sp>
        <p:nvSpPr>
          <p:cNvPr id="16" name="TextBox 15"/>
          <p:cNvSpPr txBox="1"/>
          <p:nvPr/>
        </p:nvSpPr>
        <p:spPr>
          <a:xfrm>
            <a:off x="502920" y="4297680"/>
            <a:ext cx="11183112" cy="86868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300" b="0" i="0">
                <a:solidFill>
                  <a:srgbClr val="1C2433"/>
                </a:solidFill>
                <a:latin typeface="Calibri"/>
              </a:rPr>
              <a:t>the first edition's open finding is closed; AWS_DELTA_LAKE.md 9.3 and </a:t>
            </a:r>
            <a:r>
              <a:rPr sz="1200" b="0" i="0">
                <a:solidFill>
                  <a:srgbClr val="0E7C86"/>
                </a:solidFill>
                <a:latin typeface="Consolas"/>
              </a:rPr>
              <a:t>lake-maintenance.s3.yaml</a:t>
            </a:r>
            <a:r>
              <a:rPr sz="1300" b="0" i="0">
                <a:solidFill>
                  <a:srgbClr val="1C2433"/>
                </a:solidFill>
                <a:latin typeface="Calibri"/>
              </a:rPr>
              <a:t> still describe it as open</a:t>
            </a:r>
          </a:p>
          <a:p>
            <a:pPr algn="l" marL="201168" indent="-201168">
              <a:spcAft>
                <a:spcPts val="200"/>
              </a:spcAft>
              <a:buClr>
                <a:srgbClr val="E87A1E"/>
              </a:buClr>
              <a:buSzPct val="100000"/>
              <a:buFont typeface="Arial"/>
              <a:buChar char="•"/>
            </a:pPr>
            <a:r>
              <a:rPr sz="1300" b="0" i="0">
                <a:solidFill>
                  <a:srgbClr val="1C2433"/>
                </a:solidFill>
                <a:latin typeface="Calibri"/>
              </a:rPr>
              <a:t>run </a:t>
            </a:r>
            <a:r>
              <a:rPr sz="1200" b="0" i="0">
                <a:solidFill>
                  <a:srgbClr val="0E7C86"/>
                </a:solidFill>
                <a:latin typeface="Consolas"/>
              </a:rPr>
              <a:t>lake maintain --dry-run</a:t>
            </a:r>
            <a:r>
              <a:rPr sz="1300" b="0" i="0">
                <a:solidFill>
                  <a:srgbClr val="1C2433"/>
                </a:solidFill>
                <a:latin typeface="Calibri"/>
              </a:rPr>
              <a:t> with </a:t>
            </a:r>
            <a:r>
              <a:rPr sz="1200" b="0" i="0">
                <a:solidFill>
                  <a:srgbClr val="0E7C86"/>
                </a:solidFill>
                <a:latin typeface="Consolas"/>
              </a:rPr>
              <a:t>compact: true</a:t>
            </a:r>
            <a:r>
              <a:rPr sz="1300" b="0" i="0">
                <a:solidFill>
                  <a:srgbClr val="1C2433"/>
                </a:solidFill>
                <a:latin typeface="Calibri"/>
              </a:rPr>
              <a:t> on one S3 table, check id order per row group, then enable it nightly</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11.4 The lifecycle rules (setup-lifecycle.sh)</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11</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60</a:t>
            </a:r>
          </a:p>
        </p:txBody>
      </p:sp>
      <p:sp>
        <p:nvSpPr>
          <p:cNvPr id="9" name="Code block"/>
          <p:cNvSpPr/>
          <p:nvPr/>
        </p:nvSpPr>
        <p:spPr>
          <a:xfrm>
            <a:off x="411480" y="1188720"/>
            <a:ext cx="11365992" cy="1188720"/>
          </a:xfrm>
          <a:prstGeom prst="roundRect">
            <a:avLst>
              <a:gd name="adj" fmla="val 4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
          <p:cNvSpPr txBox="1"/>
          <p:nvPr/>
        </p:nvSpPr>
        <p:spPr>
          <a:xfrm>
            <a:off x="521208" y="1252728"/>
            <a:ext cx="11146536" cy="1060704"/>
          </a:xfrm>
          <a:prstGeom prst="rect">
            <a:avLst/>
          </a:prstGeom>
          <a:noFill/>
        </p:spPr>
        <p:txBody>
          <a:bodyPr wrap="square" lIns="0" rIns="0" tIns="0" bIns="0" anchor="ctr">
            <a:spAutoFit/>
          </a:bodyPr>
          <a:lstStyle/>
          <a:p>
            <a:pPr>
              <a:spcAft>
                <a:spcPts val="0"/>
              </a:spcAft>
              <a:buNone/>
            </a:pPr>
            <a:r>
              <a:rPr sz="1100" b="0" i="0">
                <a:solidFill>
                  <a:srgbClr val="E6EDF3"/>
                </a:solidFill>
                <a:latin typeface="Consolas"/>
              </a:rPr>
              <a:t>{"ID": "tier-trading-trade_endur-2026-03", "Status": "Enabled",</a:t>
            </a:r>
          </a:p>
          <a:p>
            <a:pPr>
              <a:spcAft>
                <a:spcPts val="0"/>
              </a:spcAft>
              <a:buNone/>
            </a:pPr>
            <a:r>
              <a:rPr sz="1100" b="0" i="0">
                <a:solidFill>
                  <a:srgbClr val="E6EDF3"/>
                </a:solidFill>
                <a:latin typeface="Consolas"/>
              </a:rPr>
              <a:t> "Filter": {"And": {"Prefix": "lake/trading/trade_endur/business_date=2026-03",</a:t>
            </a:r>
          </a:p>
          <a:p>
            <a:pPr>
              <a:spcAft>
                <a:spcPts val="0"/>
              </a:spcAft>
              <a:buNone/>
            </a:pPr>
            <a:r>
              <a:rPr sz="1100" b="0" i="0">
                <a:solidFill>
                  <a:srgbClr val="E6EDF3"/>
                </a:solidFill>
                <a:latin typeface="Consolas"/>
              </a:rPr>
              <a:t>                    "ObjectSizeGreaterThan": 131072}},</a:t>
            </a:r>
          </a:p>
          <a:p>
            <a:pPr>
              <a:spcAft>
                <a:spcPts val="0"/>
              </a:spcAft>
              <a:buNone/>
            </a:pPr>
            <a:r>
              <a:rPr sz="1100" b="0" i="0">
                <a:solidFill>
                  <a:srgbClr val="E6EDF3"/>
                </a:solidFill>
                <a:latin typeface="Consolas"/>
              </a:rPr>
              <a:t> "Transitions": [{"Date": "2026-06-29T00:00:00Z", "StorageClass": "STANDARD_IA"},</a:t>
            </a:r>
          </a:p>
          <a:p>
            <a:pPr>
              <a:spcAft>
                <a:spcPts val="0"/>
              </a:spcAft>
              <a:buNone/>
            </a:pPr>
            <a:r>
              <a:rPr sz="1100" b="0" i="0">
                <a:solidFill>
                  <a:srgbClr val="E6EDF3"/>
                </a:solidFill>
                <a:latin typeface="Consolas"/>
              </a:rPr>
              <a:t>                 {"Date": "2028-03-30T00:00:00Z", "StorageClass": "GLACIER_IR"}]}</a:t>
            </a:r>
          </a:p>
        </p:txBody>
      </p:sp>
      <p:sp>
        <p:nvSpPr>
          <p:cNvPr id="11" name="TextBox 10"/>
          <p:cNvSpPr txBox="1"/>
          <p:nvPr/>
        </p:nvSpPr>
        <p:spPr>
          <a:xfrm>
            <a:off x="411480" y="2606040"/>
            <a:ext cx="11365992" cy="2468880"/>
          </a:xfrm>
          <a:prstGeom prst="rect">
            <a:avLst/>
          </a:prstGeom>
          <a:noFill/>
        </p:spPr>
        <p:txBody>
          <a:bodyPr wrap="square" lIns="0" rIns="0" tIns="0" bIns="0" anchor="t">
            <a:spAutoFit/>
          </a:bodyPr>
          <a:lstStyle/>
          <a:p>
            <a:pPr algn="l" marL="201168" indent="-201168">
              <a:spcAft>
                <a:spcPts val="600"/>
              </a:spcAft>
              <a:buClr>
                <a:srgbClr val="E87A1E"/>
              </a:buClr>
              <a:buSzPct val="100000"/>
              <a:buFont typeface="Arial"/>
              <a:buChar char="•"/>
            </a:pPr>
            <a:r>
              <a:rPr sz="1400" b="0" i="0">
                <a:solidFill>
                  <a:srgbClr val="1C2433"/>
                </a:solidFill>
                <a:latin typeface="Calibri"/>
              </a:rPr>
              <a:t>Rules match prefixes and move on a date or an age; age is wrong for restated days ⇒ one rule per table per business month, with dates</a:t>
            </a:r>
          </a:p>
          <a:p>
            <a:pPr algn="l" marL="201168" indent="-201168">
              <a:spcAft>
                <a:spcPts val="600"/>
              </a:spcAft>
              <a:buClr>
                <a:srgbClr val="E87A1E"/>
              </a:buClr>
              <a:buSzPct val="100000"/>
              <a:buFont typeface="Arial"/>
              <a:buChar char="•"/>
            </a:pPr>
            <a:r>
              <a:rPr sz="1400" b="0" i="0">
                <a:solidFill>
                  <a:srgbClr val="1C2433"/>
                </a:solidFill>
                <a:latin typeface="Calibri"/>
              </a:rPr>
              <a:t>A month's files move to Standard-IA when its last day is 90 days old, and to Glacier IR at two years</a:t>
            </a:r>
          </a:p>
          <a:p>
            <a:pPr algn="l" marL="201168" indent="-201168">
              <a:spcAft>
                <a:spcPts val="600"/>
              </a:spcAft>
              <a:buClr>
                <a:srgbClr val="E87A1E"/>
              </a:buClr>
              <a:buSzPct val="100000"/>
              <a:buFont typeface="Arial"/>
              <a:buChar char="•"/>
            </a:pPr>
            <a:r>
              <a:rPr sz="1400" b="0" i="0">
                <a:solidFill>
                  <a:srgbClr val="1C2433"/>
                </a:solidFill>
                <a:latin typeface="Calibri"/>
              </a:rPr>
              <a:t>Rules exist three months ahead; maintain.sh rewrites them nightly</a:t>
            </a:r>
          </a:p>
          <a:p>
            <a:pPr algn="l" marL="201168" indent="-201168">
              <a:spcAft>
                <a:spcPts val="600"/>
              </a:spcAft>
              <a:buClr>
                <a:srgbClr val="E87A1E"/>
              </a:buClr>
              <a:buSzPct val="100000"/>
              <a:buFont typeface="Arial"/>
              <a:buChar char="•"/>
            </a:pPr>
            <a:r>
              <a:rPr sz="1300" b="0" i="0">
                <a:solidFill>
                  <a:srgbClr val="0E7C86"/>
                </a:solidFill>
                <a:latin typeface="Consolas"/>
              </a:rPr>
              <a:t>_delta_log/</a:t>
            </a:r>
            <a:r>
              <a:rPr sz="1400" b="0" i="0">
                <a:solidFill>
                  <a:srgbClr val="1C2433"/>
                </a:solidFill>
                <a:latin typeface="Calibri"/>
              </a:rPr>
              <a:t> never matches: commits and checkpoints stay in Standard; objects under 128 KB stay where they are</a:t>
            </a:r>
          </a:p>
          <a:p>
            <a:pPr algn="l" marL="201168" indent="-201168">
              <a:spcAft>
                <a:spcPts val="600"/>
              </a:spcAft>
              <a:buClr>
                <a:srgbClr val="E87A1E"/>
              </a:buClr>
              <a:buSzPct val="100000"/>
              <a:buFont typeface="Arial"/>
              <a:buChar char="•"/>
            </a:pPr>
            <a:r>
              <a:rPr sz="1400" b="0" i="0">
                <a:solidFill>
                  <a:srgbClr val="1C2433"/>
                </a:solidFill>
                <a:latin typeface="Calibri"/>
              </a:rPr>
              <a:t>S3 allows 1,000 rules; the script refuses more (≈ 30 tables over seven years)</a:t>
            </a:r>
          </a:p>
        </p:txBody>
      </p:sp>
      <p:sp>
        <p:nvSpPr>
          <p:cNvPr id="12" name="Callout"/>
          <p:cNvSpPr/>
          <p:nvPr/>
        </p:nvSpPr>
        <p:spPr>
          <a:xfrm>
            <a:off x="411480" y="4480560"/>
            <a:ext cx="11365992" cy="914400"/>
          </a:xfrm>
          <a:prstGeom prst="roundRect">
            <a:avLst>
              <a:gd name="adj" fmla="val 6000"/>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allout edge"/>
          <p:cNvSpPr/>
          <p:nvPr/>
        </p:nvSpPr>
        <p:spPr>
          <a:xfrm>
            <a:off x="411480" y="4498848"/>
            <a:ext cx="82296" cy="877824"/>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640080" y="4553712"/>
            <a:ext cx="11000232" cy="768096"/>
          </a:xfrm>
          <a:prstGeom prst="rect">
            <a:avLst/>
          </a:prstGeom>
          <a:noFill/>
        </p:spPr>
        <p:txBody>
          <a:bodyPr wrap="square" lIns="0" rIns="0" tIns="0" bIns="0" anchor="ctr">
            <a:spAutoFit/>
          </a:bodyPr>
          <a:lstStyle/>
          <a:p>
            <a:pPr algn="l">
              <a:spcAft>
                <a:spcPts val="600"/>
              </a:spcAft>
              <a:buNone/>
            </a:pPr>
            <a:r>
              <a:rPr sz="1300" b="1" i="0">
                <a:solidFill>
                  <a:srgbClr val="1C2433"/>
                </a:solidFill>
                <a:latin typeface="Calibri"/>
              </a:rPr>
              <a:t>Costs to know:</a:t>
            </a:r>
            <a:r>
              <a:rPr sz="1300" b="0" i="0">
                <a:solidFill>
                  <a:srgbClr val="1C2433"/>
                </a:solidFill>
                <a:latin typeface="Calibri"/>
              </a:rPr>
              <a:t> Standard-IA keeps an object at least 30 days, Glacier IR 90 days; a restatement of a tiered day pays the rest of that minimum. Reads from Standard-IA ≈ USD 0.01/GB, from Glacier IR ≈ USD 0.03/GB.</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11.5 Admin → Lakes: the same engine in the console</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11</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61</a:t>
            </a:r>
          </a:p>
        </p:txBody>
      </p:sp>
      <p:graphicFrame>
        <p:nvGraphicFramePr>
          <p:cNvPr id="9" name="Table"/>
          <p:cNvGraphicFramePr>
            <a:graphicFrameLocks noGrp="1"/>
          </p:cNvGraphicFramePr>
          <p:nvPr/>
        </p:nvGraphicFramePr>
        <p:xfrm>
          <a:off x="411480" y="1188720"/>
          <a:ext cx="6766560" cy="2834640"/>
        </p:xfrm>
        <a:graphic>
          <a:graphicData uri="http://schemas.openxmlformats.org/drawingml/2006/table">
            <a:tbl>
              <a:tblPr firstRow="0" bandRow="0">
                <a:tableStyleId>{5940675A-B579-460E-94D1-54222C63F5DA}</a:tableStyleId>
              </a:tblPr>
              <a:tblGrid>
                <a:gridCol w="1371600"/>
                <a:gridCol w="3931920"/>
                <a:gridCol w="1463040"/>
              </a:tblGrid>
              <a:tr h="566928">
                <a:tc>
                  <a:txBody>
                    <a:bodyPr wrap="square"/>
                    <a:lstStyle/>
                    <a:p>
                      <a:r>
                        <a:rPr sz="1200" b="1" i="0">
                          <a:solidFill>
                            <a:srgbClr val="FFFFFF"/>
                          </a:solidFill>
                          <a:latin typeface="Calibri"/>
                        </a:rPr>
                        <a:t>Step</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What it does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Setting</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566928">
                <a:tc>
                  <a:txBody>
                    <a:bodyPr wrap="square"/>
                    <a:lstStyle/>
                    <a:p>
                      <a:r>
                        <a:rPr sz="1200" b="1" i="0">
                          <a:solidFill>
                            <a:srgbClr val="1C2433"/>
                          </a:solidFill>
                          <a:latin typeface="Calibri"/>
                        </a:rPr>
                        <a:t>Retention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deletes business dates older than the window, counted from today; refuses to drop more than half a table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keep-business-days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66928">
                <a:tc>
                  <a:txBody>
                    <a:bodyPr wrap="square"/>
                    <a:lstStyle/>
                    <a:p>
                      <a:r>
                        <a:rPr sz="1200" b="1" i="0">
                          <a:solidFill>
                            <a:srgbClr val="1C2433"/>
                          </a:solidFill>
                          <a:latin typeface="Calibri"/>
                        </a:rPr>
                        <a:t>Compaction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merges small files, or re-lays a table in its pack's layout (dates that drifted only)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target-file-mb</a:t>
                      </a:r>
                      <a:r>
                        <a:rPr sz="1200" b="0" i="0">
                          <a:solidFill>
                            <a:srgbClr val="1C2433"/>
                          </a:solidFill>
                          <a:latin typeface="Calibri"/>
                        </a:rPr>
                        <a:t> (128)</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66928">
                <a:tc>
                  <a:txBody>
                    <a:bodyPr wrap="square"/>
                    <a:lstStyle/>
                    <a:p>
                      <a:r>
                        <a:rPr sz="1200" b="1" i="0">
                          <a:solidFill>
                            <a:srgbClr val="1C2433"/>
                          </a:solidFill>
                          <a:latin typeface="Calibri"/>
                        </a:rPr>
                        <a:t>Checkpoint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readers replay a short log</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checkpoint</a:t>
                      </a:r>
                      <a:r>
                        <a:rPr sz="1200" b="0" i="0">
                          <a:solidFill>
                            <a:srgbClr val="1C2433"/>
                          </a:solidFill>
                          <a:latin typeface="Calibri"/>
                        </a:rPr>
                        <a:t> (on)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66928">
                <a:tc>
                  <a:txBody>
                    <a:bodyPr wrap="square"/>
                    <a:lstStyle/>
                    <a:p>
                      <a:r>
                        <a:rPr sz="1200" b="1" i="0">
                          <a:solidFill>
                            <a:srgbClr val="1C2433"/>
                          </a:solidFill>
                          <a:latin typeface="Calibri"/>
                        </a:rPr>
                        <a:t>Vacuum</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removes files no version uses, older than the window</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vacuum-hours</a:t>
                      </a:r>
                      <a:r>
                        <a:rPr sz="1200" b="0" i="0">
                          <a:solidFill>
                            <a:srgbClr val="1C2433"/>
                          </a:solidFill>
                          <a:latin typeface="Calibri"/>
                        </a:rPr>
                        <a:t> (168)</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bl>
          </a:graphicData>
        </a:graphic>
      </p:graphicFrame>
      <p:sp>
        <p:nvSpPr>
          <p:cNvPr id="10" name="TextBox 9"/>
          <p:cNvSpPr txBox="1"/>
          <p:nvPr/>
        </p:nvSpPr>
        <p:spPr>
          <a:xfrm>
            <a:off x="411480" y="4206240"/>
            <a:ext cx="6766560" cy="2148840"/>
          </a:xfrm>
          <a:prstGeom prst="rect">
            <a:avLst/>
          </a:prstGeom>
          <a:noFill/>
        </p:spPr>
        <p:txBody>
          <a:bodyPr wrap="square" lIns="0" rIns="0" tIns="0" bIns="0" anchor="t">
            <a:spAutoFit/>
          </a:bodyPr>
          <a:lstStyle/>
          <a:p>
            <a:pPr algn="l" marL="201168" indent="-201168">
              <a:spcAft>
                <a:spcPts val="600"/>
              </a:spcAft>
              <a:buClr>
                <a:srgbClr val="E87A1E"/>
              </a:buClr>
              <a:buSzPct val="100000"/>
              <a:buFont typeface="Arial"/>
              <a:buChar char="•"/>
            </a:pPr>
            <a:r>
              <a:rPr sz="1300" b="1" i="0">
                <a:solidFill>
                  <a:srgbClr val="1C2433"/>
                </a:solidFill>
                <a:latin typeface="Calibri"/>
              </a:rPr>
              <a:t>Dry run</a:t>
            </a:r>
            <a:r>
              <a:rPr sz="1300" b="0" i="0">
                <a:solidFill>
                  <a:srgbClr val="1C2433"/>
                </a:solidFill>
                <a:latin typeface="Calibri"/>
              </a:rPr>
              <a:t> first: files and size before → after, dates retention would drop, what vacuum would delete</a:t>
            </a:r>
          </a:p>
          <a:p>
            <a:pPr algn="l" marL="201168" indent="-201168">
              <a:spcAft>
                <a:spcPts val="600"/>
              </a:spcAft>
              <a:buClr>
                <a:srgbClr val="E87A1E"/>
              </a:buClr>
              <a:buSzPct val="100000"/>
              <a:buFont typeface="Arial"/>
              <a:buChar char="•"/>
            </a:pPr>
            <a:r>
              <a:rPr sz="1300" b="1" i="0">
                <a:solidFill>
                  <a:srgbClr val="1C2433"/>
                </a:solidFill>
                <a:latin typeface="Calibri"/>
              </a:rPr>
              <a:t>Ownership rule:</a:t>
            </a:r>
            <a:r>
              <a:rPr sz="1300" b="0" i="0">
                <a:solidFill>
                  <a:srgbClr val="1C2433"/>
                </a:solidFill>
                <a:latin typeface="Calibri"/>
              </a:rPr>
              <a:t> only tables </a:t>
            </a:r>
            <a:r>
              <a:rPr sz="1200" b="0" i="0">
                <a:solidFill>
                  <a:srgbClr val="0E7C86"/>
                </a:solidFill>
                <a:latin typeface="Consolas"/>
              </a:rPr>
              <a:t>lake build</a:t>
            </a:r>
            <a:r>
              <a:rPr sz="1300" b="0" i="0">
                <a:solidFill>
                  <a:srgbClr val="1C2433"/>
                </a:solidFill>
                <a:latin typeface="Calibri"/>
              </a:rPr>
              <a:t> built; a foreign table is read-only</a:t>
            </a:r>
          </a:p>
          <a:p>
            <a:pPr algn="l" marL="201168" indent="-201168">
              <a:spcAft>
                <a:spcPts val="600"/>
              </a:spcAft>
              <a:buClr>
                <a:srgbClr val="E87A1E"/>
              </a:buClr>
              <a:buSzPct val="100000"/>
              <a:buFont typeface="Arial"/>
              <a:buChar char="•"/>
            </a:pPr>
            <a:r>
              <a:rPr sz="1300" b="0" i="0">
                <a:solidFill>
                  <a:srgbClr val="1C2433"/>
                </a:solidFill>
                <a:latin typeface="Calibri"/>
              </a:rPr>
              <a:t>Schedules at a time or after every build; history kept in </a:t>
            </a:r>
            <a:r>
              <a:rPr sz="1200" b="0" i="0">
                <a:solidFill>
                  <a:srgbClr val="0E7C86"/>
                </a:solidFill>
                <a:latin typeface="Consolas"/>
              </a:rPr>
              <a:t>maintenance-history.jsonl</a:t>
            </a:r>
          </a:p>
        </p:txBody>
      </p:sp>
      <p:sp>
        <p:nvSpPr>
          <p:cNvPr id="11" name="Callout"/>
          <p:cNvSpPr/>
          <p:nvPr/>
        </p:nvSpPr>
        <p:spPr>
          <a:xfrm>
            <a:off x="7452360" y="1188720"/>
            <a:ext cx="4325112" cy="5120640"/>
          </a:xfrm>
          <a:prstGeom prst="roundRect">
            <a:avLst>
              <a:gd name="adj" fmla="val 6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allout edge"/>
          <p:cNvSpPr/>
          <p:nvPr/>
        </p:nvSpPr>
        <p:spPr>
          <a:xfrm>
            <a:off x="7452360" y="1207008"/>
            <a:ext cx="82296" cy="50840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TextBox 12"/>
          <p:cNvSpPr txBox="1"/>
          <p:nvPr/>
        </p:nvSpPr>
        <p:spPr>
          <a:xfrm>
            <a:off x="7680960" y="1261872"/>
            <a:ext cx="3959352" cy="4974336"/>
          </a:xfrm>
          <a:prstGeom prst="rect">
            <a:avLst/>
          </a:prstGeom>
          <a:noFill/>
        </p:spPr>
        <p:txBody>
          <a:bodyPr wrap="square" lIns="0" rIns="0" tIns="0" bIns="0" anchor="t">
            <a:spAutoFit/>
          </a:bodyPr>
          <a:lstStyle/>
          <a:p>
            <a:pPr algn="l">
              <a:spcAft>
                <a:spcPts val="600"/>
              </a:spcAft>
              <a:buNone/>
            </a:pPr>
            <a:r>
              <a:rPr sz="1400" b="1" i="0">
                <a:solidFill>
                  <a:srgbClr val="1C2433"/>
                </a:solidFill>
                <a:latin typeface="Calibri"/>
              </a:rPr>
              <a:t>On AWS: one scheduler</a:t>
            </a:r>
          </a:p>
          <a:p>
            <a:pPr algn="l">
              <a:spcAft>
                <a:spcPts val="600"/>
              </a:spcAft>
              <a:buNone/>
            </a:pPr>
            <a:r>
              <a:rPr sz="1300" b="0" i="0">
                <a:solidFill>
                  <a:srgbClr val="1C2433"/>
                </a:solidFill>
                <a:latin typeface="Calibri"/>
              </a:rPr>
              <a:t>EventBridge runs </a:t>
            </a:r>
            <a:r>
              <a:rPr sz="1200" b="0" i="0">
                <a:solidFill>
                  <a:srgbClr val="0E7C86"/>
                </a:solidFill>
                <a:latin typeface="Consolas"/>
              </a:rPr>
              <a:t>maintain.sh</a:t>
            </a:r>
            <a:r>
              <a:rPr sz="1300" b="0" i="0">
                <a:solidFill>
                  <a:srgbClr val="1C2433"/>
                </a:solidFill>
                <a:latin typeface="Calibri"/>
              </a:rPr>
              <a:t> nightly against </a:t>
            </a:r>
            <a:r>
              <a:rPr sz="1200" b="0" i="0">
                <a:solidFill>
                  <a:srgbClr val="0E7C86"/>
                </a:solidFill>
                <a:latin typeface="Consolas"/>
              </a:rPr>
              <a:t>s3://</a:t>
            </a:r>
            <a:r>
              <a:rPr sz="1300" b="0" i="0">
                <a:solidFill>
                  <a:srgbClr val="1C2433"/>
                </a:solidFill>
                <a:latin typeface="Calibri"/>
              </a:rPr>
              <a:t> with </a:t>
            </a:r>
            <a:r>
              <a:rPr sz="1200" b="0" i="0">
                <a:solidFill>
                  <a:srgbClr val="0E7C86"/>
                </a:solidFill>
                <a:latin typeface="Consolas"/>
              </a:rPr>
              <a:t>--force-foreign</a:t>
            </a:r>
            <a:r>
              <a:rPr sz="1300" b="0" i="0">
                <a:solidFill>
                  <a:srgbClr val="1C2433"/>
                </a:solidFill>
                <a:latin typeface="Calibri"/>
              </a:rPr>
              <a:t>.</a:t>
            </a:r>
          </a:p>
          <a:p>
            <a:pPr algn="l">
              <a:spcAft>
                <a:spcPts val="600"/>
              </a:spcAft>
              <a:buNone/>
            </a:pPr>
            <a:r>
              <a:rPr sz="1300" b="0" i="0">
                <a:solidFill>
                  <a:srgbClr val="1C2433"/>
                </a:solidFill>
                <a:latin typeface="Calibri"/>
              </a:rPr>
              <a:t>Admin → Lakes maintains the lakes listed in </a:t>
            </a:r>
            <a:r>
              <a:rPr sz="1200" b="0" i="0">
                <a:solidFill>
                  <a:srgbClr val="0E7C86"/>
                </a:solidFill>
                <a:latin typeface="Consolas"/>
              </a:rPr>
              <a:t>lakes.roots</a:t>
            </a:r>
            <a:r>
              <a:rPr sz="1300" b="0" i="0">
                <a:solidFill>
                  <a:srgbClr val="1C2433"/>
                </a:solidFill>
                <a:latin typeface="Calibri"/>
              </a:rPr>
              <a:t> and the file </a:t>
            </a:r>
            <a:r>
              <a:rPr sz="1200" b="0" i="0">
                <a:solidFill>
                  <a:srgbClr val="0E7C86"/>
                </a:solidFill>
                <a:latin typeface="Consolas"/>
              </a:rPr>
              <a:t>&lt;data&gt;/lakes/lake-maintenance.yaml</a:t>
            </a:r>
            <a:r>
              <a:rPr sz="1300" b="0" i="0">
                <a:solidFill>
                  <a:srgbClr val="1C2433"/>
                </a:solidFill>
                <a:latin typeface="Calibri"/>
              </a:rPr>
              <a:t>; dry runs and history work the same.</a:t>
            </a:r>
          </a:p>
          <a:p>
            <a:pPr algn="l">
              <a:spcAft>
                <a:spcPts val="600"/>
              </a:spcAft>
              <a:buNone/>
            </a:pPr>
            <a:r>
              <a:rPr sz="1300" b="0" i="0">
                <a:solidFill>
                  <a:srgbClr val="1C2433"/>
                </a:solidFill>
                <a:latin typeface="Calibri"/>
              </a:rPr>
              <a:t>Run schedules in </a:t>
            </a:r>
            <a:r>
              <a:rPr sz="1300" b="1" i="0">
                <a:solidFill>
                  <a:srgbClr val="1C2433"/>
                </a:solidFill>
                <a:latin typeface="Calibri"/>
              </a:rPr>
              <a:t>one</a:t>
            </a:r>
            <a:r>
              <a:rPr sz="1300" b="0" i="0">
                <a:solidFill>
                  <a:srgbClr val="1C2433"/>
                </a:solidFill>
                <a:latin typeface="Calibri"/>
              </a:rPr>
              <a:t> place: set </a:t>
            </a:r>
            <a:r>
              <a:rPr sz="1200" b="0" i="0">
                <a:solidFill>
                  <a:srgbClr val="0E7C86"/>
                </a:solidFill>
                <a:latin typeface="Consolas"/>
              </a:rPr>
              <a:t>DRISHTI_LAKE_MAINTENANCE_SCHEDULES=false</a:t>
            </a:r>
            <a:r>
              <a:rPr sz="1300" b="0" i="0">
                <a:solidFill>
                  <a:srgbClr val="1C2433"/>
                </a:solidFill>
                <a:latin typeface="Calibri"/>
              </a:rPr>
              <a:t> on the console when EventBridge or the daemon runs them.</a:t>
            </a:r>
          </a:p>
          <a:p>
            <a:pPr algn="l">
              <a:spcAft>
                <a:spcPts val="600"/>
              </a:spcAft>
              <a:buNone/>
            </a:pPr>
            <a:r>
              <a:rPr sz="1300" b="0" i="0">
                <a:solidFill>
                  <a:srgbClr val="1C2433"/>
                </a:solidFill>
                <a:latin typeface="Calibri"/>
              </a:rPr>
              <a:t>The risk floor applies in every place it runs.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Number"/>
          <p:cNvSpPr txBox="1"/>
          <p:nvPr/>
        </p:nvSpPr>
        <p:spPr>
          <a:xfrm>
            <a:off x="4754880" y="-822960"/>
            <a:ext cx="7223760" cy="7863840"/>
          </a:xfrm>
          <a:prstGeom prst="rect">
            <a:avLst/>
          </a:prstGeom>
          <a:noFill/>
        </p:spPr>
        <p:txBody>
          <a:bodyPr wrap="square" lIns="0" rIns="0" tIns="0" bIns="0" anchor="ctr">
            <a:spAutoFit/>
          </a:bodyPr>
          <a:lstStyle/>
          <a:p>
            <a:pPr algn="r">
              <a:spcAft>
                <a:spcPts val="600"/>
              </a:spcAft>
              <a:buNone/>
            </a:pPr>
            <a:r>
              <a:rPr sz="42000" b="1" i="0">
                <a:solidFill>
                  <a:srgbClr val="1C3560"/>
                </a:solidFill>
                <a:latin typeface="Calibri"/>
              </a:rPr>
              <a:t>12</a:t>
            </a:r>
          </a:p>
        </p:txBody>
      </p:sp>
      <p:sp>
        <p:nvSpPr>
          <p:cNvPr id="4" name="Title"/>
          <p:cNvSpPr txBox="1"/>
          <p:nvPr/>
        </p:nvSpPr>
        <p:spPr>
          <a:xfrm>
            <a:off x="822960" y="2514600"/>
            <a:ext cx="6949440" cy="1828800"/>
          </a:xfrm>
          <a:prstGeom prst="rect">
            <a:avLst/>
          </a:prstGeom>
          <a:noFill/>
        </p:spPr>
        <p:txBody>
          <a:bodyPr wrap="square" lIns="0" rIns="0" tIns="0" bIns="0" anchor="ctr">
            <a:spAutoFit/>
          </a:bodyPr>
          <a:lstStyle/>
          <a:p>
            <a:pPr algn="l">
              <a:spcAft>
                <a:spcPts val="600"/>
              </a:spcAft>
              <a:buNone/>
            </a:pPr>
            <a:r>
              <a:rPr sz="4400" b="1" i="0">
                <a:solidFill>
                  <a:srgbClr val="FFFFFF"/>
                </a:solidFill>
                <a:latin typeface="Calibri"/>
              </a:rPr>
              <a:t>The risk lake: VaR and exposure</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The risk lake's tables: inputs in risk/, results in risk-results/</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12</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63</a:t>
            </a:r>
          </a:p>
        </p:txBody>
      </p:sp>
      <p:graphicFrame>
        <p:nvGraphicFramePr>
          <p:cNvPr id="9" name="Table"/>
          <p:cNvGraphicFramePr>
            <a:graphicFrameLocks noGrp="1"/>
          </p:cNvGraphicFramePr>
          <p:nvPr/>
        </p:nvGraphicFramePr>
        <p:xfrm>
          <a:off x="411480" y="1143000"/>
          <a:ext cx="11365992" cy="4480560"/>
        </p:xfrm>
        <a:graphic>
          <a:graphicData uri="http://schemas.openxmlformats.org/drawingml/2006/table">
            <a:tbl>
              <a:tblPr firstRow="0" bandRow="0">
                <a:tableStyleId>{5940675A-B579-460E-94D1-54222C63F5DA}</a:tableStyleId>
              </a:tblPr>
              <a:tblGrid>
                <a:gridCol w="2926080"/>
                <a:gridCol w="3291840"/>
                <a:gridCol w="1920240"/>
                <a:gridCol w="1691640"/>
                <a:gridCol w="1536192"/>
              </a:tblGrid>
              <a:tr h="448056">
                <a:tc>
                  <a:txBody>
                    <a:bodyPr wrap="square"/>
                    <a:lstStyle/>
                    <a:p>
                      <a:r>
                        <a:rPr sz="1100" b="1" i="0">
                          <a:solidFill>
                            <a:srgbClr val="FFFFFF"/>
                          </a:solidFill>
                          <a:latin typeface="Calibri"/>
                        </a:rPr>
                        <a:t>Table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00" b="1" i="0">
                          <a:solidFill>
                            <a:srgbClr val="FFFFFF"/>
                          </a:solidFill>
                          <a:latin typeface="Calibri"/>
                        </a:rPr>
                        <a:t>One row is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00" b="1" i="0">
                          <a:solidFill>
                            <a:srgbClr val="FFFFFF"/>
                          </a:solidFill>
                          <a:latin typeface="Calibri"/>
                        </a:rPr>
                        <a:t>Key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00" b="1" i="0">
                          <a:solidFill>
                            <a:srgbClr val="FFFFFF"/>
                          </a:solidFill>
                          <a:latin typeface="Calibri"/>
                        </a:rPr>
                        <a:t>Vector column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00" b="1" i="0">
                          <a:solidFill>
                            <a:srgbClr val="FFFFFF"/>
                          </a:solidFill>
                          <a:latin typeface="Calibri"/>
                        </a:rPr>
                        <a:t>Read by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448056">
                <a:tc>
                  <a:txBody>
                    <a:bodyPr wrap="square"/>
                    <a:lstStyle/>
                    <a:p>
                      <a:r>
                        <a:rPr sz="1100" b="1" i="0">
                          <a:solidFill>
                            <a:srgbClr val="0E7C86"/>
                          </a:solidFill>
                          <a:latin typeface="Consolas"/>
                        </a:rPr>
                        <a:t>risk/pnl-vector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a trade's (or position's) P&amp;L over 509 scenarios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PNL-&lt;trade&gt;-&lt;set&gt;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PNL</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VaR engine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48056">
                <a:tc>
                  <a:txBody>
                    <a:bodyPr wrap="square"/>
                    <a:lstStyle/>
                    <a:p>
                      <a:r>
                        <a:rPr sz="1100" b="1" i="0">
                          <a:solidFill>
                            <a:srgbClr val="0E7C86"/>
                          </a:solidFill>
                          <a:latin typeface="Consolas"/>
                        </a:rPr>
                        <a:t>risk/scenario-pv</a:t>
                      </a:r>
                      <a:r>
                        <a:rPr sz="1100" b="1" i="0">
                          <a:solidFill>
                            <a:srgbClr val="1C2433"/>
                          </a:solidFill>
                          <a:latin typeface="Calibri"/>
                        </a:rPr>
                        <a:t> (2.9.4)</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a trade's scenario PVs and base PV, its own currency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SCENARIO_PV_ID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SCENARIO_PV</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VaR engine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48056">
                <a:tc>
                  <a:txBody>
                    <a:bodyPr wrap="square"/>
                    <a:lstStyle/>
                    <a:p>
                      <a:r>
                        <a:rPr sz="1100" b="1" i="0">
                          <a:solidFill>
                            <a:srgbClr val="0E7C86"/>
                          </a:solidFill>
                          <a:latin typeface="Consolas"/>
                        </a:rPr>
                        <a:t>risk/fx-scenario</a:t>
                      </a:r>
                      <a:r>
                        <a:rPr sz="1100" b="1" i="0">
                          <a:solidFill>
                            <a:srgbClr val="1C2433"/>
                          </a:solidFill>
                          <a:latin typeface="Calibri"/>
                        </a:rPr>
                        <a:t> (2.9.4)</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a currency's rate today and per scenario</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FX_SCENARIO_ID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none (</a:t>
                      </a:r>
                      <a:r>
                        <a:rPr sz="1100" b="0" i="0">
                          <a:solidFill>
                            <a:srgbClr val="0E7C86"/>
                          </a:solidFill>
                          <a:latin typeface="Consolas"/>
                        </a:rPr>
                        <a:t>RATES</a:t>
                      </a:r>
                      <a:r>
                        <a:rPr sz="1100" b="0" i="0">
                          <a:solidFill>
                            <a:srgbClr val="1C2433"/>
                          </a:solidFill>
                          <a:latin typeface="Calibri"/>
                        </a:rPr>
                        <a:t> in doc)</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VaR engine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48056">
                <a:tc>
                  <a:txBody>
                    <a:bodyPr wrap="square"/>
                    <a:lstStyle/>
                    <a:p>
                      <a:r>
                        <a:rPr sz="1100" b="1" i="0">
                          <a:solidFill>
                            <a:srgbClr val="0E7C86"/>
                          </a:solidFill>
                          <a:latin typeface="Consolas"/>
                        </a:rPr>
                        <a:t>risk/scenario-set</a:t>
                      </a:r>
                      <a:r>
                        <a:rPr sz="1100" b="1" i="0">
                          <a:solidFill>
                            <a:srgbClr val="1C2433"/>
                          </a:solidFill>
                          <a:latin typeface="Calibri"/>
                        </a:rPr>
                        <a:t> · </a:t>
                      </a:r>
                      <a:r>
                        <a:rPr sz="1100" b="1" i="0">
                          <a:solidFill>
                            <a:srgbClr val="0E7C86"/>
                          </a:solidFill>
                          <a:latin typeface="Consolas"/>
                        </a:rPr>
                        <a:t>risk-hierarchy</a:t>
                      </a:r>
                      <a:r>
                        <a:rPr sz="1100" b="1" i="0">
                          <a:solidFill>
                            <a:srgbClr val="1C2433"/>
                          </a:solidFill>
                          <a:latin typeface="Calibri"/>
                        </a:rPr>
                        <a:t> · </a:t>
                      </a:r>
                      <a:r>
                        <a:rPr sz="1100" b="1" i="0">
                          <a:solidFill>
                            <a:srgbClr val="0E7C86"/>
                          </a:solidFill>
                          <a:latin typeface="Consolas"/>
                        </a:rPr>
                        <a:t>portfolio</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the scenario days · a tree node with its limit · a portfolio</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SCENARIO_SET_ID</a:t>
                      </a:r>
                      <a:r>
                        <a:rPr sz="1100" b="0" i="0">
                          <a:solidFill>
                            <a:srgbClr val="1C2433"/>
                          </a:solidFill>
                          <a:latin typeface="Calibri"/>
                        </a:rPr>
                        <a:t> …</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none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VaR engine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48056">
                <a:tc>
                  <a:txBody>
                    <a:bodyPr wrap="square"/>
                    <a:lstStyle/>
                    <a:p>
                      <a:r>
                        <a:rPr sz="1100" b="1" i="0">
                          <a:solidFill>
                            <a:srgbClr val="0E7C86"/>
                          </a:solidFill>
                          <a:latin typeface="Consolas"/>
                        </a:rPr>
                        <a:t>risk/var-limit</a:t>
                      </a:r>
                      <a:r>
                        <a:rPr sz="1100" b="1" i="0">
                          <a:solidFill>
                            <a:srgbClr val="1C2433"/>
                          </a:solidFill>
                          <a:latin typeface="Calibri"/>
                        </a:rPr>
                        <a:t> (2.9.5)</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a node's VaR limit in a hierarchy by columns (the limit letters)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VL-&lt;NODE_ID&gt;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none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VaR engine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48056">
                <a:tc>
                  <a:txBody>
                    <a:bodyPr wrap="square"/>
                    <a:lstStyle/>
                    <a:p>
                      <a:r>
                        <a:rPr sz="1100" b="1" i="0">
                          <a:solidFill>
                            <a:srgbClr val="0E7C86"/>
                          </a:solidFill>
                          <a:latin typeface="Consolas"/>
                        </a:rPr>
                        <a:t>risk/simulation-run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an exposure run's grid and identity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RUN_ID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none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exposure engine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48056">
                <a:tc>
                  <a:txBody>
                    <a:bodyPr wrap="square"/>
                    <a:lstStyle/>
                    <a:p>
                      <a:r>
                        <a:rPr sz="1100" b="1" i="0">
                          <a:solidFill>
                            <a:srgbClr val="0E7C86"/>
                          </a:solidFill>
                          <a:latin typeface="Consolas"/>
                        </a:rPr>
                        <a:t>risk/exposure-path</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a trade × grid date: MtM over the P paths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PATH_ROW_ID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MTM</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exposure engine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48056">
                <a:tc>
                  <a:txBody>
                    <a:bodyPr wrap="square"/>
                    <a:lstStyle/>
                    <a:p>
                      <a:r>
                        <a:rPr sz="1100" b="1" i="0">
                          <a:solidFill>
                            <a:srgbClr val="0E7C86"/>
                          </a:solidFill>
                          <a:latin typeface="Consolas"/>
                        </a:rPr>
                        <a:t>risk-results/var-official</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a node × date × result version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node@date#v</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none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BI only (</a:t>
                      </a:r>
                      <a:r>
                        <a:rPr sz="1100" b="0" i="0">
                          <a:solidFill>
                            <a:srgbClr val="0E7C86"/>
                          </a:solidFill>
                          <a:latin typeface="Consolas"/>
                        </a:rPr>
                        <a:t>VOFF</a:t>
                      </a:r>
                      <a:r>
                        <a:rPr sz="1100" b="0" i="0">
                          <a:solidFill>
                            <a:srgbClr val="1C2433"/>
                          </a:solidFill>
                          <a:latin typeface="Calibri"/>
                        </a:rPr>
                        <a: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48056">
                <a:tc>
                  <a:txBody>
                    <a:bodyPr wrap="square"/>
                    <a:lstStyle/>
                    <a:p>
                      <a:r>
                        <a:rPr sz="1100" b="1" i="0">
                          <a:solidFill>
                            <a:srgbClr val="0E7C86"/>
                          </a:solidFill>
                          <a:latin typeface="Consolas"/>
                        </a:rPr>
                        <a:t>risk-results/exposure-official(-cpty)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a node, set, counterparty or group × version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scope@date#v</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none (profile as JSON)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BI only (</a:t>
                      </a:r>
                      <a:r>
                        <a:rPr sz="1100" b="0" i="0">
                          <a:solidFill>
                            <a:srgbClr val="0E7C86"/>
                          </a:solidFill>
                          <a:latin typeface="Consolas"/>
                        </a:rPr>
                        <a:t>XOFC</a:t>
                      </a:r>
                      <a:r>
                        <a:rPr sz="1100" b="0" i="0">
                          <a:solidFill>
                            <a:srgbClr val="1C2433"/>
                          </a:solidFill>
                          <a:latin typeface="Calibri"/>
                        </a:rPr>
                        <a: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bl>
          </a:graphicData>
        </a:graphic>
      </p:graphicFrame>
      <p:sp>
        <p:nvSpPr>
          <p:cNvPr id="10" name="Callout"/>
          <p:cNvSpPr/>
          <p:nvPr/>
        </p:nvSpPr>
        <p:spPr>
          <a:xfrm>
            <a:off x="411480" y="5760720"/>
            <a:ext cx="11365992" cy="594360"/>
          </a:xfrm>
          <a:prstGeom prst="roundRect">
            <a:avLst>
              <a:gd name="adj" fmla="val 6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allout edge"/>
          <p:cNvSpPr/>
          <p:nvPr/>
        </p:nvSpPr>
        <p:spPr>
          <a:xfrm>
            <a:off x="411480" y="5779007"/>
            <a:ext cx="82296" cy="55778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640080" y="5833872"/>
            <a:ext cx="11000232" cy="448056"/>
          </a:xfrm>
          <a:prstGeom prst="rect">
            <a:avLst/>
          </a:prstGeom>
          <a:noFill/>
        </p:spPr>
        <p:txBody>
          <a:bodyPr wrap="square" lIns="0" rIns="0" tIns="0" bIns="0" anchor="ctr">
            <a:spAutoFit/>
          </a:bodyPr>
          <a:lstStyle/>
          <a:p>
            <a:pPr algn="l">
              <a:spcAft>
                <a:spcPts val="600"/>
              </a:spcAft>
              <a:buNone/>
            </a:pPr>
            <a:r>
              <a:rPr sz="1200" b="0" i="0">
                <a:solidFill>
                  <a:srgbClr val="1C2433"/>
                </a:solidFill>
                <a:latin typeface="Calibri"/>
              </a:rPr>
              <a:t>Engines read </a:t>
            </a:r>
            <a:r>
              <a:rPr sz="1100" b="0" i="0">
                <a:solidFill>
                  <a:srgbClr val="0E7C86"/>
                </a:solidFill>
                <a:latin typeface="Consolas"/>
              </a:rPr>
              <a:t>risk/</a:t>
            </a:r>
            <a:r>
              <a:rPr sz="1200" b="0" i="0">
                <a:solidFill>
                  <a:srgbClr val="1C2433"/>
                </a:solidFill>
                <a:latin typeface="Calibri"/>
              </a:rPr>
              <a:t> only; nothing reads </a:t>
            </a:r>
            <a:r>
              <a:rPr sz="1100" b="0" i="0">
                <a:solidFill>
                  <a:srgbClr val="0E7C86"/>
                </a:solidFill>
                <a:latin typeface="Consolas"/>
              </a:rPr>
              <a:t>risk-results/</a:t>
            </a:r>
            <a:r>
              <a:rPr sz="1200" b="0" i="0">
                <a:solidFill>
                  <a:srgbClr val="1C2433"/>
                </a:solidFill>
                <a:latin typeface="Calibri"/>
              </a:rPr>
              <a:t> back except BI's read-only connectors (a guard test). Every input row carries </a:t>
            </a:r>
            <a:r>
              <a:rPr sz="1100" b="0" i="0">
                <a:solidFill>
                  <a:srgbClr val="0E7C86"/>
                </a:solidFill>
                <a:latin typeface="Consolas"/>
              </a:rPr>
              <a:t>LIMIT_LETTER</a:t>
            </a:r>
            <a:r>
              <a:rPr sz="1200" b="0" i="0">
                <a:solidFill>
                  <a:srgbClr val="1C2433"/>
                </a:solidFill>
                <a:latin typeface="Calibri"/>
              </a:rPr>
              <a:t> (2.9.5). Positions are derived, never stored.</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A vector is one list&lt;double&gt; column: why, and how it is carried</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12</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64</a:t>
            </a:r>
          </a:p>
        </p:txBody>
      </p:sp>
      <p:graphicFrame>
        <p:nvGraphicFramePr>
          <p:cNvPr id="9" name="Table"/>
          <p:cNvGraphicFramePr>
            <a:graphicFrameLocks noGrp="1"/>
          </p:cNvGraphicFramePr>
          <p:nvPr/>
        </p:nvGraphicFramePr>
        <p:xfrm>
          <a:off x="411480" y="1188720"/>
          <a:ext cx="11365992" cy="2286000"/>
        </p:xfrm>
        <a:graphic>
          <a:graphicData uri="http://schemas.openxmlformats.org/drawingml/2006/table">
            <a:tbl>
              <a:tblPr firstRow="0" bandRow="0">
                <a:tableStyleId>{5940675A-B579-460E-94D1-54222C63F5DA}</a:tableStyleId>
              </a:tblPr>
              <a:tblGrid>
                <a:gridCol w="3474720"/>
                <a:gridCol w="2194560"/>
                <a:gridCol w="3291840"/>
                <a:gridCol w="2404872"/>
              </a:tblGrid>
              <a:tr h="457200">
                <a:tc>
                  <a:txBody>
                    <a:bodyPr wrap="square"/>
                    <a:lstStyle/>
                    <a:p>
                      <a:r>
                        <a:rPr sz="1200" b="1" i="0">
                          <a:solidFill>
                            <a:srgbClr val="FFFFFF"/>
                          </a:solidFill>
                          <a:latin typeface="Calibri"/>
                        </a:rPr>
                        <a:t>Layout (one date, 2M rows × 509)</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Size, compressed (estimate)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Sum a scope's vectors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Verdict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457200">
                <a:tc>
                  <a:txBody>
                    <a:bodyPr wrap="square"/>
                    <a:lstStyle/>
                    <a:p>
                      <a:r>
                        <a:rPr sz="1200" b="1" i="0">
                          <a:solidFill>
                            <a:srgbClr val="1C2433"/>
                          </a:solidFill>
                          <a:latin typeface="Calibri"/>
                        </a:rPr>
                        <a:t>A. Long: a row per position × scenario</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~9–11 GB</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a group-by over hundreds of millions of rows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rejected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57200">
                <a:tc>
                  <a:txBody>
                    <a:bodyPr wrap="square"/>
                    <a:lstStyle/>
                    <a:p>
                      <a:r>
                        <a:rPr sz="1200" b="1" i="0">
                          <a:solidFill>
                            <a:srgbClr val="1C2433"/>
                          </a:solidFill>
                          <a:latin typeface="Calibri"/>
                        </a:rPr>
                        <a:t>B. Wide: 509 columns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~5.5–6.5 GB</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509 column chunks per row group</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rejected (schema = scenario count)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57200">
                <a:tc>
                  <a:txBody>
                    <a:bodyPr wrap="square"/>
                    <a:lstStyle/>
                    <a:p>
                      <a:r>
                        <a:rPr sz="1200" b="1" i="0">
                          <a:solidFill>
                            <a:srgbClr val="1C2433"/>
                          </a:solidFill>
                          <a:latin typeface="Calibri"/>
                        </a:rPr>
                        <a:t>C. Vector: </a:t>
                      </a:r>
                      <a:r>
                        <a:rPr sz="1100" b="1" i="0">
                          <a:solidFill>
                            <a:srgbClr val="0E7C86"/>
                          </a:solidFill>
                          <a:latin typeface="Consolas"/>
                        </a:rPr>
                        <a:t>PNL list&lt;double&gt;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~5.5–6.5 GB</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one column, decoded into one array, added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1" i="0">
                          <a:solidFill>
                            <a:srgbClr val="1C2433"/>
                          </a:solidFill>
                          <a:latin typeface="Calibri"/>
                        </a:rPr>
                        <a:t>chosen, built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57200">
                <a:tc>
                  <a:txBody>
                    <a:bodyPr wrap="square"/>
                    <a:lstStyle/>
                    <a:p>
                      <a:r>
                        <a:rPr sz="1200" b="1" i="0">
                          <a:solidFill>
                            <a:srgbClr val="1C2433"/>
                          </a:solidFill>
                          <a:latin typeface="Calibri"/>
                        </a:rPr>
                        <a:t>D. Blob: 4,072 bytes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~6–7 GB</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one column, copy bytes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rejected (other tools cannot read it)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bl>
          </a:graphicData>
        </a:graphic>
      </p:graphicFrame>
      <p:sp>
        <p:nvSpPr>
          <p:cNvPr id="10" name="Rounded Rectangle 9"/>
          <p:cNvSpPr/>
          <p:nvPr/>
        </p:nvSpPr>
        <p:spPr>
          <a:xfrm>
            <a:off x="411480" y="3703320"/>
            <a:ext cx="5532120" cy="2194560"/>
          </a:xfrm>
          <a:prstGeom prst="roundRect">
            <a:avLst>
              <a:gd name="adj" fmla="val 6000"/>
            </a:avLst>
          </a:prstGeom>
          <a:solidFill>
            <a:srgbClr val="DDEE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502920" y="3749039"/>
            <a:ext cx="420624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As built (2.8.0, exposure 2.9.0)</a:t>
            </a:r>
          </a:p>
        </p:txBody>
      </p:sp>
      <p:sp>
        <p:nvSpPr>
          <p:cNvPr id="12" name="Status BUILT"/>
          <p:cNvSpPr/>
          <p:nvPr/>
        </p:nvSpPr>
        <p:spPr>
          <a:xfrm>
            <a:off x="4800600" y="3794759"/>
            <a:ext cx="1051560" cy="237744"/>
          </a:xfrm>
          <a:prstGeom prst="roundRect">
            <a:avLst>
              <a:gd name="adj" fmla="val 50000"/>
            </a:avLst>
          </a:prstGeom>
          <a:solidFill>
            <a:srgbClr val="0E7C86"/>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000" b="1" i="0">
                <a:solidFill>
                  <a:srgbClr val="FFFFFF"/>
                </a:solidFill>
                <a:latin typeface="Calibri"/>
              </a:rPr>
              <a:t>BUILT</a:t>
            </a:r>
          </a:p>
        </p:txBody>
      </p:sp>
      <p:sp>
        <p:nvSpPr>
          <p:cNvPr id="13" name="TextBox 12"/>
          <p:cNvSpPr txBox="1"/>
          <p:nvPr/>
        </p:nvSpPr>
        <p:spPr>
          <a:xfrm>
            <a:off x="502920" y="4069080"/>
            <a:ext cx="5349240" cy="178308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100" b="0" i="0">
                <a:solidFill>
                  <a:srgbClr val="0E7C86"/>
                </a:solidFill>
                <a:latin typeface="Consolas"/>
              </a:rPr>
              <a:t>layout.&lt;kind&gt;.vectors: [PNL]</a:t>
            </a:r>
            <a:r>
              <a:rPr sz="1200" b="0" i="0">
                <a:solidFill>
                  <a:srgbClr val="1C2433"/>
                </a:solidFill>
                <a:latin typeface="Calibri"/>
              </a:rPr>
              <a:t>; </a:t>
            </a:r>
            <a:r>
              <a:rPr sz="1100" b="0" i="0">
                <a:solidFill>
                  <a:srgbClr val="0E7C86"/>
                </a:solidFill>
                <a:latin typeface="Consolas"/>
              </a:rPr>
              <a:t>lake build --vector</a:t>
            </a:r>
            <a:r>
              <a:rPr sz="1200" b="0" i="0">
                <a:solidFill>
                  <a:srgbClr val="1C2433"/>
                </a:solidFill>
                <a:latin typeface="Calibri"/>
              </a:rPr>
              <a:t>; both writers</a:t>
            </a:r>
          </a:p>
          <a:p>
            <a:pPr algn="l" marL="201168" indent="-201168">
              <a:spcAft>
                <a:spcPts val="200"/>
              </a:spcAft>
              <a:buClr>
                <a:srgbClr val="E87A1E"/>
              </a:buClr>
              <a:buSzPct val="100000"/>
              <a:buFont typeface="Arial"/>
              <a:buChar char="•"/>
            </a:pPr>
            <a:r>
              <a:rPr sz="1200" b="0" i="0">
                <a:solidFill>
                  <a:srgbClr val="1C2433"/>
                </a:solidFill>
                <a:latin typeface="Calibri"/>
              </a:rPr>
              <a:t>the document keeps </a:t>
            </a:r>
            <a:r>
              <a:rPr sz="1100" b="0" i="0">
                <a:solidFill>
                  <a:srgbClr val="0E7C86"/>
                </a:solidFill>
                <a:latin typeface="Consolas"/>
              </a:rPr>
              <a:t>{"$vector": "PNL"}</a:t>
            </a:r>
            <a:r>
              <a:rPr sz="1200" b="0" i="0">
                <a:solidFill>
                  <a:srgbClr val="1C2433"/>
                </a:solidFill>
                <a:latin typeface="Calibri"/>
              </a:rPr>
              <a:t>: never stored twice</a:t>
            </a:r>
          </a:p>
          <a:p>
            <a:pPr algn="l" marL="201168" indent="-201168">
              <a:spcAft>
                <a:spcPts val="200"/>
              </a:spcAft>
              <a:buClr>
                <a:srgbClr val="E87A1E"/>
              </a:buClr>
              <a:buSzPct val="100000"/>
              <a:buFont typeface="Arial"/>
              <a:buChar char="•"/>
            </a:pPr>
            <a:r>
              <a:rPr sz="1200" b="0" i="0">
                <a:solidFill>
                  <a:srgbClr val="1C2433"/>
                </a:solidFill>
                <a:latin typeface="Calibri"/>
              </a:rPr>
              <a:t>streamed per date, one buffer reused for every row</a:t>
            </a:r>
          </a:p>
          <a:p>
            <a:pPr algn="l" marL="201168" indent="-201168">
              <a:spcAft>
                <a:spcPts val="200"/>
              </a:spcAft>
              <a:buClr>
                <a:srgbClr val="E87A1E"/>
              </a:buClr>
              <a:buSzPct val="100000"/>
              <a:buFont typeface="Arial"/>
              <a:buChar char="•"/>
            </a:pPr>
            <a:r>
              <a:rPr sz="1200" b="0" i="0">
                <a:solidFill>
                  <a:srgbClr val="1C2433"/>
                </a:solidFill>
                <a:latin typeface="Calibri"/>
              </a:rPr>
              <a:t>round trip JSONL → Delta → </a:t>
            </a:r>
            <a:r>
              <a:rPr sz="1100" b="0" i="0">
                <a:solidFill>
                  <a:srgbClr val="0E7C86"/>
                </a:solidFill>
                <a:latin typeface="Consolas"/>
              </a:rPr>
              <a:t>double[]</a:t>
            </a:r>
            <a:r>
              <a:rPr sz="1200" b="0" i="0">
                <a:solidFill>
                  <a:srgbClr val="1C2433"/>
                </a:solidFill>
                <a:latin typeface="Calibri"/>
              </a:rPr>
              <a:t> equal to the bit</a:t>
            </a:r>
          </a:p>
          <a:p>
            <a:pPr algn="l" marL="201168" indent="-201168">
              <a:spcAft>
                <a:spcPts val="200"/>
              </a:spcAft>
              <a:buClr>
                <a:srgbClr val="E87A1E"/>
              </a:buClr>
              <a:buSzPct val="100000"/>
              <a:buFont typeface="Arial"/>
              <a:buChar char="•"/>
            </a:pPr>
            <a:r>
              <a:rPr sz="1100" b="0" i="0">
                <a:solidFill>
                  <a:srgbClr val="0E7C86"/>
                </a:solidFill>
                <a:latin typeface="Consolas"/>
              </a:rPr>
              <a:t>list&lt;float&gt;</a:t>
            </a:r>
            <a:r>
              <a:rPr sz="1200" b="0" i="0">
                <a:solidFill>
                  <a:srgbClr val="1C2433"/>
                </a:solidFill>
                <a:latin typeface="Calibri"/>
              </a:rPr>
              <a:t> read and written for exposure paths</a:t>
            </a:r>
          </a:p>
        </p:txBody>
      </p:sp>
      <p:sp>
        <p:nvSpPr>
          <p:cNvPr id="14" name="Rounded Rectangle 13"/>
          <p:cNvSpPr/>
          <p:nvPr/>
        </p:nvSpPr>
        <p:spPr>
          <a:xfrm>
            <a:off x="6245352" y="3703320"/>
            <a:ext cx="5532120" cy="219456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xtBox 14"/>
          <p:cNvSpPr txBox="1"/>
          <p:nvPr/>
        </p:nvSpPr>
        <p:spPr>
          <a:xfrm>
            <a:off x="6336792" y="3749039"/>
            <a:ext cx="534924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Where it runs</a:t>
            </a:r>
          </a:p>
        </p:txBody>
      </p:sp>
      <p:sp>
        <p:nvSpPr>
          <p:cNvPr id="16" name="TextBox 15"/>
          <p:cNvSpPr txBox="1"/>
          <p:nvPr/>
        </p:nvSpPr>
        <p:spPr>
          <a:xfrm>
            <a:off x="6336792" y="4069080"/>
            <a:ext cx="5349240" cy="178308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streamed reads: the Delta plugin (default) and, since 2.9.5, the Iceberg plugin (</a:t>
            </a:r>
            <a:r>
              <a:rPr sz="1100" b="0" i="0">
                <a:solidFill>
                  <a:srgbClr val="0E7C86"/>
                </a:solidFill>
                <a:latin typeface="Consolas"/>
              </a:rPr>
              <a:t>SourcePlugin.vectors</a:t>
            </a:r>
            <a:r>
              <a:rPr sz="1200" b="0" i="0">
                <a:solidFill>
                  <a:srgbClr val="1C2433"/>
                </a:solidFill>
                <a:latin typeface="Calibri"/>
              </a:rPr>
              <a:t>)</a:t>
            </a:r>
          </a:p>
          <a:p>
            <a:pPr algn="l" marL="201168" indent="-201168">
              <a:spcAft>
                <a:spcPts val="200"/>
              </a:spcAft>
              <a:buClr>
                <a:srgbClr val="E87A1E"/>
              </a:buClr>
              <a:buSzPct val="100000"/>
              <a:buFont typeface="Arial"/>
              <a:buChar char="•"/>
            </a:pPr>
            <a:r>
              <a:rPr sz="1200" b="0" i="0">
                <a:solidFill>
                  <a:srgbClr val="1C2433"/>
                </a:solidFill>
                <a:latin typeface="Calibri"/>
              </a:rPr>
              <a:t>VaR and exposure on Iceberg: BUILT, equal to Delta to the cent</a:t>
            </a:r>
          </a:p>
          <a:p>
            <a:pPr algn="l" marL="201168" indent="-201168">
              <a:spcAft>
                <a:spcPts val="200"/>
              </a:spcAft>
              <a:buClr>
                <a:srgbClr val="E87A1E"/>
              </a:buClr>
              <a:buSzPct val="100000"/>
              <a:buFont typeface="Arial"/>
              <a:buChar char="•"/>
            </a:pPr>
            <a:r>
              <a:rPr sz="1200" b="0" i="0">
                <a:solidFill>
                  <a:srgbClr val="1C2433"/>
                </a:solidFill>
                <a:latin typeface="Calibri"/>
              </a:rPr>
              <a:t>bank-scale layout (sort by hierarchy, ZSTD + byte-stream split): PROPOSED</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Morning run, intraday batches, Kafka micro-batches: all into the lake</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12</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65</a:t>
            </a:r>
          </a:p>
        </p:txBody>
      </p:sp>
      <p:sp>
        <p:nvSpPr>
          <p:cNvPr id="9" name="Rounded Rectangle 8"/>
          <p:cNvSpPr/>
          <p:nvPr/>
        </p:nvSpPr>
        <p:spPr>
          <a:xfrm>
            <a:off x="411480" y="1188720"/>
            <a:ext cx="3566160" cy="1463040"/>
          </a:xfrm>
          <a:prstGeom prst="roundRect">
            <a:avLst>
              <a:gd name="adj" fmla="val 6000"/>
            </a:avLst>
          </a:prstGeom>
          <a:solidFill>
            <a:srgbClr val="EEE6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TextBox 9"/>
          <p:cNvSpPr txBox="1"/>
          <p:nvPr/>
        </p:nvSpPr>
        <p:spPr>
          <a:xfrm>
            <a:off x="502920" y="1234440"/>
            <a:ext cx="3383279"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Morning run · RUN_KIND FULL</a:t>
            </a:r>
          </a:p>
        </p:txBody>
      </p:sp>
      <p:sp>
        <p:nvSpPr>
          <p:cNvPr id="11" name="TextBox 10"/>
          <p:cNvSpPr txBox="1"/>
          <p:nvPr/>
        </p:nvSpPr>
        <p:spPr>
          <a:xfrm>
            <a:off x="502920" y="1554480"/>
            <a:ext cx="3383279" cy="105156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every live trade, one BATCH_ID</a:t>
            </a:r>
          </a:p>
          <a:p>
            <a:pPr algn="l" marL="201168" indent="-201168">
              <a:spcAft>
                <a:spcPts val="200"/>
              </a:spcAft>
              <a:buClr>
                <a:srgbClr val="E87A1E"/>
              </a:buClr>
              <a:buSzPct val="100000"/>
              <a:buFont typeface="Arial"/>
              <a:buChar char="•"/>
            </a:pPr>
            <a:r>
              <a:rPr sz="1200" b="0" i="0">
                <a:solidFill>
                  <a:srgbClr val="1C2433"/>
                </a:solidFill>
                <a:latin typeface="Calibri"/>
              </a:rPr>
              <a:t>JSONL → </a:t>
            </a:r>
            <a:r>
              <a:rPr sz="1100" b="0" i="0">
                <a:solidFill>
                  <a:srgbClr val="0E7C86"/>
                </a:solidFill>
                <a:latin typeface="Consolas"/>
              </a:rPr>
              <a:t>lake build</a:t>
            </a:r>
            <a:r>
              <a:rPr sz="1200" b="0" i="0">
                <a:solidFill>
                  <a:srgbClr val="1C2433"/>
                </a:solidFill>
                <a:latin typeface="Calibri"/>
              </a:rPr>
              <a:t> replaces the date</a:t>
            </a:r>
          </a:p>
        </p:txBody>
      </p:sp>
      <p:sp>
        <p:nvSpPr>
          <p:cNvPr id="12" name="Rounded Rectangle 11"/>
          <p:cNvSpPr/>
          <p:nvPr/>
        </p:nvSpPr>
        <p:spPr>
          <a:xfrm>
            <a:off x="411480" y="2834640"/>
            <a:ext cx="3566160" cy="1463040"/>
          </a:xfrm>
          <a:prstGeom prst="roundRect">
            <a:avLst>
              <a:gd name="adj" fmla="val 6000"/>
            </a:avLst>
          </a:prstGeom>
          <a:solidFill>
            <a:srgbClr val="EEE6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TextBox 12"/>
          <p:cNvSpPr txBox="1"/>
          <p:nvPr/>
        </p:nvSpPr>
        <p:spPr>
          <a:xfrm>
            <a:off x="502920" y="2880360"/>
            <a:ext cx="3383279"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Intraday files · INTRADAY</a:t>
            </a:r>
          </a:p>
        </p:txBody>
      </p:sp>
      <p:sp>
        <p:nvSpPr>
          <p:cNvPr id="14" name="TextBox 13"/>
          <p:cNvSpPr txBox="1"/>
          <p:nvPr/>
        </p:nvSpPr>
        <p:spPr>
          <a:xfrm>
            <a:off x="502920" y="3200400"/>
            <a:ext cx="3383279" cy="105156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changed trades only, own BATCH_ID</a:t>
            </a:r>
          </a:p>
          <a:p>
            <a:pPr algn="l" marL="201168" indent="-201168">
              <a:spcAft>
                <a:spcPts val="200"/>
              </a:spcAft>
              <a:buClr>
                <a:srgbClr val="E87A1E"/>
              </a:buClr>
              <a:buSzPct val="100000"/>
              <a:buFont typeface="Arial"/>
              <a:buChar char="•"/>
            </a:pPr>
            <a:r>
              <a:rPr sz="1100" b="0" i="0">
                <a:solidFill>
                  <a:srgbClr val="0E7C86"/>
                </a:solidFill>
                <a:latin typeface="Consolas"/>
              </a:rPr>
              <a:t>drishti.py var intraday --load</a:t>
            </a:r>
            <a:r>
              <a:rPr sz="1200" b="0" i="0">
                <a:solidFill>
                  <a:srgbClr val="1C2433"/>
                </a:solidFill>
                <a:latin typeface="Calibri"/>
              </a:rPr>
              <a:t> (append)</a:t>
            </a:r>
          </a:p>
        </p:txBody>
      </p:sp>
      <p:sp>
        <p:nvSpPr>
          <p:cNvPr id="15" name="Rounded Rectangle 14"/>
          <p:cNvSpPr/>
          <p:nvPr/>
        </p:nvSpPr>
        <p:spPr>
          <a:xfrm>
            <a:off x="411480" y="4480560"/>
            <a:ext cx="3566160" cy="1463040"/>
          </a:xfrm>
          <a:prstGeom prst="roundRect">
            <a:avLst>
              <a:gd name="adj" fmla="val 6000"/>
            </a:avLst>
          </a:prstGeom>
          <a:solidFill>
            <a:srgbClr val="EEE6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TextBox 15"/>
          <p:cNvSpPr txBox="1"/>
          <p:nvPr/>
        </p:nvSpPr>
        <p:spPr>
          <a:xfrm>
            <a:off x="502920" y="4526280"/>
            <a:ext cx="3383279"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Kafka PV topic · micro-batches</a:t>
            </a:r>
          </a:p>
        </p:txBody>
      </p:sp>
      <p:sp>
        <p:nvSpPr>
          <p:cNvPr id="17" name="TextBox 16"/>
          <p:cNvSpPr txBox="1"/>
          <p:nvPr/>
        </p:nvSpPr>
        <p:spPr>
          <a:xfrm>
            <a:off x="502920" y="4846320"/>
            <a:ext cx="3383279" cy="105156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100" b="0" i="0">
                <a:solidFill>
                  <a:srgbClr val="0E7C86"/>
                </a:solidFill>
                <a:latin typeface="Consolas"/>
              </a:rPr>
              <a:t>pv-updates</a:t>
            </a:r>
            <a:r>
              <a:rPr sz="1200" b="0" i="0">
                <a:solidFill>
                  <a:srgbClr val="1C2433"/>
                </a:solidFill>
                <a:latin typeface="Calibri"/>
              </a:rPr>
              <a:t> (var-pv-stream), JSONL text</a:t>
            </a:r>
          </a:p>
          <a:p>
            <a:pPr algn="l" marL="201168" indent="-201168">
              <a:spcAft>
                <a:spcPts val="200"/>
              </a:spcAft>
              <a:buClr>
                <a:srgbClr val="E87A1E"/>
              </a:buClr>
              <a:buSzPct val="100000"/>
              <a:buFont typeface="Arial"/>
              <a:buChar char="•"/>
            </a:pPr>
            <a:r>
              <a:rPr sz="1200" b="0" i="0">
                <a:solidFill>
                  <a:srgbClr val="1C2433"/>
                </a:solidFill>
                <a:latin typeface="Calibri"/>
              </a:rPr>
              <a:t>window 5 min · flush at 500 · Apply now</a:t>
            </a:r>
          </a:p>
        </p:txBody>
      </p:sp>
      <p:sp>
        <p:nvSpPr>
          <p:cNvPr id="18" name="Rounded Rectangle 17"/>
          <p:cNvSpPr/>
          <p:nvPr/>
        </p:nvSpPr>
        <p:spPr>
          <a:xfrm>
            <a:off x="4434840" y="1188720"/>
            <a:ext cx="3429000" cy="4754880"/>
          </a:xfrm>
          <a:prstGeom prst="roundRect">
            <a:avLst>
              <a:gd name="adj" fmla="val 6000"/>
            </a:avLst>
          </a:prstGeom>
          <a:solidFill>
            <a:srgbClr val="DDEE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TextBox 18"/>
          <p:cNvSpPr txBox="1"/>
          <p:nvPr/>
        </p:nvSpPr>
        <p:spPr>
          <a:xfrm>
            <a:off x="4526279" y="1234440"/>
            <a:ext cx="324612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risk/ in Delta or Iceberg (date D)</a:t>
            </a:r>
          </a:p>
        </p:txBody>
      </p:sp>
      <p:sp>
        <p:nvSpPr>
          <p:cNvPr id="20" name="TextBox 19"/>
          <p:cNvSpPr txBox="1"/>
          <p:nvPr/>
        </p:nvSpPr>
        <p:spPr>
          <a:xfrm>
            <a:off x="4526279" y="1554480"/>
            <a:ext cx="3246120" cy="434340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the morning commit replaces D</a:t>
            </a:r>
          </a:p>
          <a:p>
            <a:pPr algn="l" marL="201168" indent="-201168">
              <a:spcAft>
                <a:spcPts val="200"/>
              </a:spcAft>
              <a:buClr>
                <a:srgbClr val="E87A1E"/>
              </a:buClr>
              <a:buSzPct val="100000"/>
              <a:buFont typeface="Arial"/>
              <a:buChar char="•"/>
            </a:pPr>
            <a:r>
              <a:rPr sz="1200" b="0" i="0">
                <a:solidFill>
                  <a:srgbClr val="1C2433"/>
                </a:solidFill>
                <a:latin typeface="Calibri"/>
              </a:rPr>
              <a:t>each intraday batch: one appended commit</a:t>
            </a:r>
          </a:p>
          <a:p>
            <a:pPr algn="l" marL="201168" indent="-201168">
              <a:spcAft>
                <a:spcPts val="200"/>
              </a:spcAft>
              <a:buClr>
                <a:srgbClr val="E87A1E"/>
              </a:buClr>
              <a:buSzPct val="100000"/>
              <a:buFont typeface="Arial"/>
              <a:buChar char="•"/>
            </a:pPr>
            <a:r>
              <a:rPr sz="1200" b="0" i="0">
                <a:solidFill>
                  <a:srgbClr val="1C2433"/>
                </a:solidFill>
                <a:latin typeface="Calibri"/>
              </a:rPr>
              <a:t>each Kafka window: ONE batch, </a:t>
            </a:r>
            <a:r>
              <a:rPr sz="1100" b="0" i="0">
                <a:solidFill>
                  <a:srgbClr val="0E7C86"/>
                </a:solidFill>
                <a:latin typeface="Consolas"/>
              </a:rPr>
              <a:t>K-&lt;date&gt;-&lt;time&gt;-&lt;n&gt;</a:t>
            </a:r>
          </a:p>
          <a:p>
            <a:pPr algn="l" marL="201168" indent="-201168">
              <a:spcAft>
                <a:spcPts val="200"/>
              </a:spcAft>
              <a:buClr>
                <a:srgbClr val="E87A1E"/>
              </a:buClr>
              <a:buSzPct val="100000"/>
              <a:buFont typeface="Arial"/>
              <a:buChar char="•"/>
            </a:pPr>
            <a:r>
              <a:rPr sz="1200" b="0" i="0">
                <a:solidFill>
                  <a:srgbClr val="1C2433"/>
                </a:solidFill>
                <a:latin typeface="Calibri"/>
              </a:rPr>
              <a:t>latest </a:t>
            </a:r>
            <a:r>
              <a:rPr sz="1100" b="0" i="0">
                <a:solidFill>
                  <a:srgbClr val="0E7C86"/>
                </a:solidFill>
                <a:latin typeface="Consolas"/>
              </a:rPr>
              <a:t>COMPUTED_AT</a:t>
            </a:r>
            <a:r>
              <a:rPr sz="1200" b="0" i="0">
                <a:solidFill>
                  <a:srgbClr val="1C2433"/>
                </a:solidFill>
                <a:latin typeface="Calibri"/>
              </a:rPr>
              <a:t> per trade wins</a:t>
            </a:r>
          </a:p>
          <a:p>
            <a:pPr algn="l" marL="201168" indent="-201168">
              <a:spcAft>
                <a:spcPts val="200"/>
              </a:spcAft>
              <a:buClr>
                <a:srgbClr val="E87A1E"/>
              </a:buClr>
              <a:buSzPct val="100000"/>
              <a:buFont typeface="Arial"/>
              <a:buChar char="•"/>
            </a:pPr>
            <a:r>
              <a:rPr sz="1200" b="0" i="0">
                <a:solidFill>
                  <a:srgbClr val="1C2433"/>
                </a:solidFill>
                <a:latin typeface="Calibri"/>
              </a:rPr>
              <a:t>the lake is the record: a restart rebuilds</a:t>
            </a:r>
          </a:p>
          <a:p>
            <a:pPr algn="l" marL="201168" indent="-201168">
              <a:spcAft>
                <a:spcPts val="200"/>
              </a:spcAft>
              <a:buClr>
                <a:srgbClr val="E87A1E"/>
              </a:buClr>
              <a:buSzPct val="100000"/>
              <a:buFont typeface="Arial"/>
              <a:buChar char="•"/>
            </a:pPr>
            <a:r>
              <a:rPr sz="1200" b="0" i="0">
                <a:solidFill>
                  <a:srgbClr val="1C2433"/>
                </a:solidFill>
                <a:latin typeface="Calibri"/>
              </a:rPr>
              <a:t>7 years of time travel</a:t>
            </a:r>
          </a:p>
        </p:txBody>
      </p:sp>
      <p:cxnSp>
        <p:nvCxnSpPr>
          <p:cNvPr id="21" name="Connector 20"/>
          <p:cNvCxnSpPr/>
          <p:nvPr/>
        </p:nvCxnSpPr>
        <p:spPr>
          <a:xfrm>
            <a:off x="3977639" y="1920240"/>
            <a:ext cx="457201" cy="0"/>
          </a:xfrm>
          <a:prstGeom prst="line">
            <a:avLst/>
          </a:prstGeom>
          <a:ln w="19050">
            <a:solidFill>
              <a:srgbClr val="E87A1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977639" y="3566160"/>
            <a:ext cx="457201" cy="0"/>
          </a:xfrm>
          <a:prstGeom prst="line">
            <a:avLst/>
          </a:prstGeom>
          <a:ln w="19050">
            <a:solidFill>
              <a:srgbClr val="E87A1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977639" y="5212080"/>
            <a:ext cx="457201" cy="0"/>
          </a:xfrm>
          <a:prstGeom prst="line">
            <a:avLst/>
          </a:prstGeom>
          <a:ln w="19050">
            <a:solidFill>
              <a:srgbClr val="E87A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321040" y="1188720"/>
            <a:ext cx="3456432" cy="228600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TextBox 24"/>
          <p:cNvSpPr txBox="1"/>
          <p:nvPr/>
        </p:nvSpPr>
        <p:spPr>
          <a:xfrm>
            <a:off x="8412480" y="1234440"/>
            <a:ext cx="3273551"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VaR engine (one date hot)</a:t>
            </a:r>
          </a:p>
        </p:txBody>
      </p:sp>
      <p:sp>
        <p:nvSpPr>
          <p:cNvPr id="26" name="TextBox 25"/>
          <p:cNvSpPr txBox="1"/>
          <p:nvPr/>
        </p:nvSpPr>
        <p:spPr>
          <a:xfrm>
            <a:off x="8412480" y="1554480"/>
            <a:ext cx="3273551" cy="1874519"/>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full run: date reloads</a:t>
            </a:r>
          </a:p>
          <a:p>
            <a:pPr algn="l" marL="201168" indent="-201168">
              <a:spcAft>
                <a:spcPts val="200"/>
              </a:spcAft>
              <a:buClr>
                <a:srgbClr val="E87A1E"/>
              </a:buClr>
              <a:buSzPct val="100000"/>
              <a:buFont typeface="Arial"/>
              <a:buChar char="•"/>
            </a:pPr>
            <a:r>
              <a:rPr sz="1200" b="0" i="0">
                <a:solidFill>
                  <a:srgbClr val="1C2433"/>
                </a:solidFill>
                <a:latin typeface="Calibri"/>
              </a:rPr>
              <a:t>batch: new − old into the book and every node above</a:t>
            </a:r>
          </a:p>
          <a:p>
            <a:pPr algn="l" marL="201168" indent="-201168">
              <a:spcAft>
                <a:spcPts val="200"/>
              </a:spcAft>
              <a:buClr>
                <a:srgbClr val="E87A1E"/>
              </a:buClr>
              <a:buSzPct val="100000"/>
              <a:buFont typeface="Arial"/>
              <a:buChar char="•"/>
            </a:pPr>
            <a:r>
              <a:rPr sz="1200" b="0" i="0">
                <a:solidFill>
                  <a:srgbClr val="1C2433"/>
                </a:solidFill>
                <a:latin typeface="Calibri"/>
              </a:rPr>
              <a:t>official capture from the morning run only</a:t>
            </a:r>
          </a:p>
        </p:txBody>
      </p:sp>
      <p:sp>
        <p:nvSpPr>
          <p:cNvPr id="27" name="Rounded Rectangle 26"/>
          <p:cNvSpPr/>
          <p:nvPr/>
        </p:nvSpPr>
        <p:spPr>
          <a:xfrm>
            <a:off x="8321040" y="3657600"/>
            <a:ext cx="3456432" cy="2286000"/>
          </a:xfrm>
          <a:prstGeom prst="roundRect">
            <a:avLst>
              <a:gd name="adj" fmla="val 6000"/>
            </a:avLst>
          </a:prstGeom>
          <a:solidFill>
            <a:srgbClr val="DDEE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TextBox 27"/>
          <p:cNvSpPr txBox="1"/>
          <p:nvPr/>
        </p:nvSpPr>
        <p:spPr>
          <a:xfrm>
            <a:off x="8412480" y="3703320"/>
            <a:ext cx="3273551"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risk-results/var-official</a:t>
            </a:r>
          </a:p>
        </p:txBody>
      </p:sp>
      <p:sp>
        <p:nvSpPr>
          <p:cNvPr id="29" name="TextBox 28"/>
          <p:cNvSpPr txBox="1"/>
          <p:nvPr/>
        </p:nvSpPr>
        <p:spPr>
          <a:xfrm>
            <a:off x="8412480" y="4023360"/>
            <a:ext cx="3273551" cy="1874519"/>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append-only, a row per node and version</a:t>
            </a:r>
          </a:p>
          <a:p>
            <a:pPr algn="l" marL="201168" indent="-201168">
              <a:spcAft>
                <a:spcPts val="200"/>
              </a:spcAft>
              <a:buClr>
                <a:srgbClr val="E87A1E"/>
              </a:buClr>
              <a:buSzPct val="100000"/>
              <a:buFont typeface="Arial"/>
              <a:buChar char="•"/>
            </a:pPr>
            <a:r>
              <a:rPr sz="1200" b="0" i="0">
                <a:solidFill>
                  <a:srgbClr val="1C2433"/>
                </a:solidFill>
                <a:latin typeface="Calibri"/>
              </a:rPr>
              <a:t>JSONL beside it (2.9.4)</a:t>
            </a:r>
          </a:p>
          <a:p>
            <a:pPr algn="l" marL="201168" indent="-201168">
              <a:spcAft>
                <a:spcPts val="200"/>
              </a:spcAft>
              <a:buClr>
                <a:srgbClr val="E87A1E"/>
              </a:buClr>
              <a:buSzPct val="100000"/>
              <a:buFont typeface="Arial"/>
              <a:buChar char="•"/>
            </a:pPr>
            <a:r>
              <a:rPr sz="1200" b="0" i="0">
                <a:solidFill>
                  <a:srgbClr val="1C2433"/>
                </a:solidFill>
                <a:latin typeface="Calibri"/>
              </a:rPr>
              <a:t>a folder or </a:t>
            </a:r>
            <a:r>
              <a:rPr sz="1100" b="0" i="0">
                <a:solidFill>
                  <a:srgbClr val="0E7C86"/>
                </a:solidFill>
                <a:latin typeface="Consolas"/>
              </a:rPr>
              <a:t>s3://</a:t>
            </a:r>
            <a:r>
              <a:rPr sz="1200" b="0" i="0">
                <a:solidFill>
                  <a:srgbClr val="1C2433"/>
                </a:solidFill>
                <a:latin typeface="Calibri"/>
              </a:rPr>
              <a:t> (2.9.5)</a:t>
            </a:r>
          </a:p>
          <a:p>
            <a:pPr algn="l" marL="201168" indent="-201168">
              <a:spcAft>
                <a:spcPts val="200"/>
              </a:spcAft>
              <a:buClr>
                <a:srgbClr val="E87A1E"/>
              </a:buClr>
              <a:buSzPct val="100000"/>
              <a:buFont typeface="Arial"/>
              <a:buChar char="•"/>
            </a:pPr>
            <a:r>
              <a:rPr sz="1200" b="0" i="0">
                <a:solidFill>
                  <a:srgbClr val="1C2433"/>
                </a:solidFill>
                <a:latin typeface="Calibri"/>
              </a:rPr>
              <a:t>read by BI as </a:t>
            </a:r>
            <a:r>
              <a:rPr sz="1100" b="0" i="0">
                <a:solidFill>
                  <a:srgbClr val="0E7C86"/>
                </a:solidFill>
                <a:latin typeface="Consolas"/>
              </a:rPr>
              <a:t>VOFF</a:t>
            </a:r>
          </a:p>
        </p:txBody>
      </p:sp>
      <p:cxnSp>
        <p:nvCxnSpPr>
          <p:cNvPr id="30" name="Connector 29"/>
          <p:cNvCxnSpPr/>
          <p:nvPr/>
        </p:nvCxnSpPr>
        <p:spPr>
          <a:xfrm>
            <a:off x="7863840" y="2331720"/>
            <a:ext cx="457200" cy="0"/>
          </a:xfrm>
          <a:prstGeom prst="line">
            <a:avLst/>
          </a:prstGeom>
          <a:ln w="19050">
            <a:solidFill>
              <a:srgbClr val="E87A1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058400" y="3474720"/>
            <a:ext cx="0" cy="182880"/>
          </a:xfrm>
          <a:prstGeom prst="line">
            <a:avLst/>
          </a:prstGeom>
          <a:ln w="19050">
            <a:solidFill>
              <a:srgbClr val="E87A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7882127" y="2377440"/>
            <a:ext cx="457200" cy="274320"/>
          </a:xfrm>
          <a:prstGeom prst="rect">
            <a:avLst/>
          </a:prstGeom>
          <a:noFill/>
        </p:spPr>
        <p:txBody>
          <a:bodyPr wrap="square" lIns="0" rIns="0" tIns="0" bIns="0" anchor="t">
            <a:spAutoFit/>
          </a:bodyPr>
          <a:lstStyle/>
          <a:p>
            <a:pPr algn="l">
              <a:spcAft>
                <a:spcPts val="600"/>
              </a:spcAft>
              <a:buNone/>
            </a:pPr>
            <a:r>
              <a:rPr sz="1000" b="0" i="0">
                <a:solidFill>
                  <a:srgbClr val="5B677A"/>
                </a:solidFill>
                <a:latin typeface="Calibri"/>
              </a:rPr>
              <a:t>signal</a:t>
            </a:r>
          </a:p>
        </p:txBody>
      </p:sp>
      <p:sp>
        <p:nvSpPr>
          <p:cNvPr id="33" name="Status BUILT"/>
          <p:cNvSpPr/>
          <p:nvPr/>
        </p:nvSpPr>
        <p:spPr>
          <a:xfrm>
            <a:off x="411480" y="6053328"/>
            <a:ext cx="1051560" cy="237744"/>
          </a:xfrm>
          <a:prstGeom prst="roundRect">
            <a:avLst>
              <a:gd name="adj" fmla="val 50000"/>
            </a:avLst>
          </a:prstGeom>
          <a:solidFill>
            <a:srgbClr val="0E7C86"/>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000" b="1" i="0">
                <a:solidFill>
                  <a:srgbClr val="FFFFFF"/>
                </a:solidFill>
                <a:latin typeface="Calibri"/>
              </a:rPr>
              <a:t>BUILT</a:t>
            </a:r>
          </a:p>
        </p:txBody>
      </p:sp>
      <p:sp>
        <p:nvSpPr>
          <p:cNvPr id="34" name="TextBox 33"/>
          <p:cNvSpPr txBox="1"/>
          <p:nvPr/>
        </p:nvSpPr>
        <p:spPr>
          <a:xfrm>
            <a:off x="1600200" y="6016752"/>
            <a:ext cx="10149840" cy="365760"/>
          </a:xfrm>
          <a:prstGeom prst="rect">
            <a:avLst/>
          </a:prstGeom>
          <a:noFill/>
        </p:spPr>
        <p:txBody>
          <a:bodyPr wrap="square" lIns="0" rIns="0" tIns="0" bIns="0" anchor="t">
            <a:spAutoFit/>
          </a:bodyPr>
          <a:lstStyle/>
          <a:p>
            <a:pPr algn="l">
              <a:spcAft>
                <a:spcPts val="600"/>
              </a:spcAft>
              <a:buNone/>
            </a:pPr>
            <a:r>
              <a:rPr sz="1200" b="0" i="0">
                <a:solidFill>
                  <a:srgbClr val="1C2433"/>
                </a:solidFill>
                <a:latin typeface="Calibri"/>
              </a:rPr>
              <a:t>Measured: 200 batches of 3 trades equal one full load to the cent, on every node; batch time does not grow.</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On AWS: who writes the risk lake, and where</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12</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66</a:t>
            </a:r>
          </a:p>
        </p:txBody>
      </p:sp>
      <p:graphicFrame>
        <p:nvGraphicFramePr>
          <p:cNvPr id="9" name="Table"/>
          <p:cNvGraphicFramePr>
            <a:graphicFrameLocks noGrp="1"/>
          </p:cNvGraphicFramePr>
          <p:nvPr/>
        </p:nvGraphicFramePr>
        <p:xfrm>
          <a:off x="411480" y="1188720"/>
          <a:ext cx="6583680" cy="3657600"/>
        </p:xfrm>
        <a:graphic>
          <a:graphicData uri="http://schemas.openxmlformats.org/drawingml/2006/table">
            <a:tbl>
              <a:tblPr firstRow="0" bandRow="0">
                <a:tableStyleId>{5940675A-B579-460E-94D1-54222C63F5DA}</a:tableStyleId>
              </a:tblPr>
              <a:tblGrid>
                <a:gridCol w="2011680"/>
                <a:gridCol w="2743200"/>
                <a:gridCol w="1828800"/>
              </a:tblGrid>
              <a:tr h="731520">
                <a:tc>
                  <a:txBody>
                    <a:bodyPr wrap="square"/>
                    <a:lstStyle/>
                    <a:p>
                      <a:r>
                        <a:rPr sz="1100" b="1" i="0">
                          <a:solidFill>
                            <a:srgbClr val="FFFFFF"/>
                          </a:solidFill>
                          <a:latin typeface="Calibri"/>
                        </a:rPr>
                        <a:t>Table group</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00" b="1" i="0">
                          <a:solidFill>
                            <a:srgbClr val="FFFFFF"/>
                          </a:solidFill>
                          <a:latin typeface="Calibri"/>
                        </a:rPr>
                        <a:t>Written by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00" b="1" i="0">
                          <a:solidFill>
                            <a:srgbClr val="FFFFFF"/>
                          </a:solidFill>
                          <a:latin typeface="Calibri"/>
                        </a:rPr>
                        <a:t>On an S3 lake today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731520">
                <a:tc>
                  <a:txBody>
                    <a:bodyPr wrap="square"/>
                    <a:lstStyle/>
                    <a:p>
                      <a:r>
                        <a:rPr sz="1100" b="1" i="0">
                          <a:solidFill>
                            <a:srgbClr val="0E7C86"/>
                          </a:solidFill>
                          <a:latin typeface="Consolas"/>
                        </a:rPr>
                        <a:t>risk/</a:t>
                      </a:r>
                      <a:r>
                        <a:rPr sz="1100" b="1" i="0">
                          <a:solidFill>
                            <a:srgbClr val="1C2433"/>
                          </a:solidFill>
                          <a:latin typeface="Calibri"/>
                        </a:rPr>
                        <a:t> morning runs (files)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the bank's batch: JSONL → </a:t>
                      </a:r>
                      <a:r>
                        <a:rPr sz="1100" b="0" i="0">
                          <a:solidFill>
                            <a:srgbClr val="0E7C86"/>
                          </a:solidFill>
                          <a:latin typeface="Consolas"/>
                        </a:rPr>
                        <a:t>lake build</a:t>
                      </a:r>
                      <a:r>
                        <a:rPr sz="1100" b="0" i="0">
                          <a:solidFill>
                            <a:srgbClr val="1C2433"/>
                          </a:solidFill>
                          <a:latin typeface="Calibri"/>
                        </a:rPr>
                        <a:t> → </a:t>
                      </a:r>
                      <a:r>
                        <a:rPr sz="1100" b="0" i="0">
                          <a:solidFill>
                            <a:srgbClr val="0E7C86"/>
                          </a:solidFill>
                          <a:latin typeface="Consolas"/>
                        </a:rPr>
                        <a:t>lake publish</a:t>
                      </a:r>
                      <a:r>
                        <a:rPr sz="1100" b="0" i="0">
                          <a:solidFill>
                            <a:srgbClr val="1C2433"/>
                          </a:solidFill>
                          <a:latin typeface="Calibri"/>
                        </a:rPr>
                        <a:t> (overwrite-dates)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BUILT: load-day.sh, like any table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731520">
                <a:tc>
                  <a:txBody>
                    <a:bodyPr wrap="square"/>
                    <a:lstStyle/>
                    <a:p>
                      <a:r>
                        <a:rPr sz="1100" b="1" i="0">
                          <a:solidFill>
                            <a:srgbClr val="0E7C86"/>
                          </a:solidFill>
                          <a:latin typeface="Consolas"/>
                        </a:rPr>
                        <a:t>risk/</a:t>
                      </a:r>
                      <a:r>
                        <a:rPr sz="1100" b="1" i="0">
                          <a:solidFill>
                            <a:srgbClr val="1C2433"/>
                          </a:solidFill>
                          <a:latin typeface="Calibri"/>
                        </a:rPr>
                        <a:t> intraday files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lake build --mode append</a:t>
                      </a:r>
                      <a:r>
                        <a:rPr sz="1100" b="0" i="0">
                          <a:solidFill>
                            <a:srgbClr val="1C2433"/>
                          </a:solidFill>
                          <a:latin typeface="Calibri"/>
                        </a:rPr>
                        <a:t> → </a:t>
                      </a:r>
                      <a:r>
                        <a:rPr sz="1100" b="0" i="0">
                          <a:solidFill>
                            <a:srgbClr val="0E7C86"/>
                          </a:solidFill>
                          <a:latin typeface="Consolas"/>
                        </a:rPr>
                        <a:t>lake publish --mode append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BUILT tools; no script yet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731520">
                <a:tc>
                  <a:txBody>
                    <a:bodyPr wrap="square"/>
                    <a:lstStyle/>
                    <a:p>
                      <a:r>
                        <a:rPr sz="1100" b="1" i="0">
                          <a:solidFill>
                            <a:srgbClr val="0E7C86"/>
                          </a:solidFill>
                          <a:latin typeface="Consolas"/>
                        </a:rPr>
                        <a:t>risk/</a:t>
                      </a:r>
                      <a:r>
                        <a:rPr sz="1100" b="1" i="0">
                          <a:solidFill>
                            <a:srgbClr val="1C2433"/>
                          </a:solidFill>
                          <a:latin typeface="Calibri"/>
                        </a:rPr>
                        <a:t> Kafka windows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the server's Java lake writer (</a:t>
                      </a:r>
                      <a:r>
                        <a:rPr sz="1100" b="0" i="0">
                          <a:solidFill>
                            <a:srgbClr val="0E7C86"/>
                          </a:solidFill>
                          <a:latin typeface="Consolas"/>
                        </a:rPr>
                        <a:t>pv-updates</a:t>
                      </a:r>
                      <a:r>
                        <a:rPr sz="1100" b="0" i="0">
                          <a:solidFill>
                            <a:srgbClr val="1C2433"/>
                          </a:solidFill>
                          <a:latin typeface="Calibri"/>
                        </a:rPr>
                        <a:t>' </a:t>
                      </a:r>
                      <a:r>
                        <a:rPr sz="1100" b="0" i="0">
                          <a:solidFill>
                            <a:srgbClr val="0E7C86"/>
                          </a:solidFill>
                          <a:latin typeface="Consolas"/>
                        </a:rPr>
                        <a:t>lake</a:t>
                      </a:r>
                      <a:r>
                        <a:rPr sz="1100" b="0" i="0">
                          <a:solidFill>
                            <a:srgbClr val="1C2433"/>
                          </a:solidFill>
                          <a:latin typeface="Calibri"/>
                        </a:rPr>
                        <a: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local or EFS lake path</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731520">
                <a:tc>
                  <a:txBody>
                    <a:bodyPr wrap="square"/>
                    <a:lstStyle/>
                    <a:p>
                      <a:r>
                        <a:rPr sz="1100" b="1" i="0">
                          <a:solidFill>
                            <a:srgbClr val="0E7C86"/>
                          </a:solidFill>
                          <a:latin typeface="Consolas"/>
                        </a:rPr>
                        <a:t>risk-results/</a:t>
                      </a:r>
                      <a:r>
                        <a:rPr sz="1100" b="1" i="0">
                          <a:solidFill>
                            <a:srgbClr val="1C2433"/>
                          </a:solidFill>
                          <a:latin typeface="Calibri"/>
                        </a:rPr>
                        <a:t> official</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the server's publisher, Delta (default) or Iceberg, + JSONL</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BUILT (2.9.5): written to </a:t>
                      </a:r>
                      <a:r>
                        <a:rPr sz="1100" b="0" i="0">
                          <a:solidFill>
                            <a:srgbClr val="0E7C86"/>
                          </a:solidFill>
                          <a:latin typeface="Consolas"/>
                        </a:rPr>
                        <a:t>s3://</a:t>
                      </a:r>
                      <a:r>
                        <a:rPr sz="1100" b="0" i="0">
                          <a:solidFill>
                            <a:srgbClr val="1C2433"/>
                          </a:solidFill>
                          <a:latin typeface="Calibri"/>
                        </a:rPr>
                        <a:t> itself</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bl>
          </a:graphicData>
        </a:graphic>
      </p:graphicFrame>
      <p:sp>
        <p:nvSpPr>
          <p:cNvPr id="10" name="Rounded Rectangle 9"/>
          <p:cNvSpPr/>
          <p:nvPr/>
        </p:nvSpPr>
        <p:spPr>
          <a:xfrm>
            <a:off x="7269480" y="1188720"/>
            <a:ext cx="4507992" cy="2011680"/>
          </a:xfrm>
          <a:prstGeom prst="roundRect">
            <a:avLst>
              <a:gd name="adj" fmla="val 6000"/>
            </a:avLst>
          </a:prstGeom>
          <a:solidFill>
            <a:srgbClr val="DDEE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7360920" y="1234440"/>
            <a:ext cx="3182111"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Official results to S3</a:t>
            </a:r>
          </a:p>
        </p:txBody>
      </p:sp>
      <p:sp>
        <p:nvSpPr>
          <p:cNvPr id="12" name="Status BUILT · 2.9.5"/>
          <p:cNvSpPr/>
          <p:nvPr/>
        </p:nvSpPr>
        <p:spPr>
          <a:xfrm>
            <a:off x="10634472" y="1280160"/>
            <a:ext cx="1051560" cy="237744"/>
          </a:xfrm>
          <a:prstGeom prst="roundRect">
            <a:avLst>
              <a:gd name="adj" fmla="val 50000"/>
            </a:avLst>
          </a:prstGeom>
          <a:solidFill>
            <a:srgbClr val="0E7C86"/>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000" b="1" i="0">
                <a:solidFill>
                  <a:srgbClr val="FFFFFF"/>
                </a:solidFill>
                <a:latin typeface="Calibri"/>
              </a:rPr>
              <a:t>BUILT · 2.9.5</a:t>
            </a:r>
          </a:p>
        </p:txBody>
      </p:sp>
      <p:sp>
        <p:nvSpPr>
          <p:cNvPr id="13" name="TextBox 12"/>
          <p:cNvSpPr txBox="1"/>
          <p:nvPr/>
        </p:nvSpPr>
        <p:spPr>
          <a:xfrm>
            <a:off x="7360920" y="1554480"/>
            <a:ext cx="4325112" cy="160020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100" b="0" i="0">
                <a:solidFill>
                  <a:srgbClr val="0E7C86"/>
                </a:solidFill>
                <a:latin typeface="Consolas"/>
              </a:rPr>
              <a:t>drishti.var.official.root: s3://&lt;lake&gt;/risk</a:t>
            </a:r>
            <a:r>
              <a:rPr sz="1200" b="0" i="0">
                <a:solidFill>
                  <a:srgbClr val="1C2433"/>
                </a:solidFill>
                <a:latin typeface="Calibri"/>
              </a:rPr>
              <a:t> (and the exposure root); </a:t>
            </a:r>
            <a:r>
              <a:rPr sz="1100" b="0" i="0">
                <a:solidFill>
                  <a:srgbClr val="0E7C86"/>
                </a:solidFill>
                <a:latin typeface="Consolas"/>
              </a:rPr>
              <a:t>format: delta</a:t>
            </a:r>
            <a:r>
              <a:rPr sz="1200" b="0" i="0">
                <a:solidFill>
                  <a:srgbClr val="1C2433"/>
                </a:solidFill>
                <a:latin typeface="Calibri"/>
              </a:rPr>
              <a:t> or </a:t>
            </a:r>
            <a:r>
              <a:rPr sz="1100" b="0" i="0">
                <a:solidFill>
                  <a:srgbClr val="0E7C86"/>
                </a:solidFill>
                <a:latin typeface="Consolas"/>
              </a:rPr>
              <a:t>iceberg</a:t>
            </a:r>
          </a:p>
          <a:p>
            <a:pPr algn="l" marL="201168" indent="-201168">
              <a:spcAft>
                <a:spcPts val="200"/>
              </a:spcAft>
              <a:buClr>
                <a:srgbClr val="E87A1E"/>
              </a:buClr>
              <a:buSzPct val="100000"/>
              <a:buFont typeface="Arial"/>
              <a:buChar char="•"/>
            </a:pPr>
            <a:r>
              <a:rPr sz="1200" b="0" i="0">
                <a:solidFill>
                  <a:srgbClr val="1C2433"/>
                </a:solidFill>
                <a:latin typeface="Calibri"/>
              </a:rPr>
              <a:t>each Delta commit an exclusive create: two servers both land</a:t>
            </a:r>
          </a:p>
          <a:p>
            <a:pPr algn="l" marL="201168" indent="-201168">
              <a:spcAft>
                <a:spcPts val="200"/>
              </a:spcAft>
              <a:buClr>
                <a:srgbClr val="E87A1E"/>
              </a:buClr>
              <a:buSzPct val="100000"/>
              <a:buFont typeface="Arial"/>
              <a:buChar char="•"/>
            </a:pPr>
            <a:r>
              <a:rPr sz="1200" b="0" i="0">
                <a:solidFill>
                  <a:srgbClr val="1C2433"/>
                </a:solidFill>
                <a:latin typeface="Calibri"/>
              </a:rPr>
              <a:t>BI's </a:t>
            </a:r>
            <a:r>
              <a:rPr sz="1100" b="0" i="0">
                <a:solidFill>
                  <a:srgbClr val="0E7C86"/>
                </a:solidFill>
                <a:latin typeface="Consolas"/>
              </a:rPr>
              <a:t>var-results</a:t>
            </a:r>
            <a:r>
              <a:rPr sz="1200" b="0" i="0">
                <a:solidFill>
                  <a:srgbClr val="1C2433"/>
                </a:solidFill>
                <a:latin typeface="Calibri"/>
              </a:rPr>
              <a:t> follows the format; task role: </a:t>
            </a:r>
            <a:r>
              <a:rPr sz="1100" b="0" i="0">
                <a:solidFill>
                  <a:srgbClr val="0E7C86"/>
                </a:solidFill>
                <a:latin typeface="Consolas"/>
              </a:rPr>
              <a:t>s3:PutObject</a:t>
            </a:r>
            <a:r>
              <a:rPr sz="1200" b="0" i="0">
                <a:solidFill>
                  <a:srgbClr val="1C2433"/>
                </a:solidFill>
                <a:latin typeface="Calibri"/>
              </a:rPr>
              <a:t>, no delete</a:t>
            </a:r>
          </a:p>
        </p:txBody>
      </p:sp>
      <p:sp>
        <p:nvSpPr>
          <p:cNvPr id="14" name="Rounded Rectangle 13"/>
          <p:cNvSpPr/>
          <p:nvPr/>
        </p:nvSpPr>
        <p:spPr>
          <a:xfrm>
            <a:off x="7269480" y="3383280"/>
            <a:ext cx="4507992" cy="1645920"/>
          </a:xfrm>
          <a:prstGeom prst="roundRect">
            <a:avLst>
              <a:gd name="adj" fmla="val 6000"/>
            </a:avLst>
          </a:prstGeom>
          <a:solidFill>
            <a:srgbClr val="FFF4E6"/>
          </a:solidFill>
          <a:ln w="9525">
            <a:solidFill>
              <a:srgbClr val="E87A1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xtBox 14"/>
          <p:cNvSpPr txBox="1"/>
          <p:nvPr/>
        </p:nvSpPr>
        <p:spPr>
          <a:xfrm>
            <a:off x="7360920" y="3429000"/>
            <a:ext cx="3182111"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Kafka windows to S3</a:t>
            </a:r>
          </a:p>
        </p:txBody>
      </p:sp>
      <p:sp>
        <p:nvSpPr>
          <p:cNvPr id="16" name="Status PROPOSED"/>
          <p:cNvSpPr/>
          <p:nvPr/>
        </p:nvSpPr>
        <p:spPr>
          <a:xfrm>
            <a:off x="10634472" y="3474720"/>
            <a:ext cx="1051560" cy="237744"/>
          </a:xfrm>
          <a:prstGeom prst="roundRect">
            <a:avLst>
              <a:gd name="adj" fmla="val 50000"/>
            </a:avLst>
          </a:prstGeom>
          <a:solidFill>
            <a:srgbClr val="FFFFFF"/>
          </a:solidFill>
          <a:ln w="15875">
            <a:solidFill>
              <a:srgbClr val="E87A1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000" b="1" i="0">
                <a:solidFill>
                  <a:srgbClr val="E87A1E"/>
                </a:solidFill>
                <a:latin typeface="Calibri"/>
              </a:rPr>
              <a:t>PROPOSED</a:t>
            </a:r>
          </a:p>
        </p:txBody>
      </p:sp>
      <p:sp>
        <p:nvSpPr>
          <p:cNvPr id="17" name="TextBox 16"/>
          <p:cNvSpPr txBox="1"/>
          <p:nvPr/>
        </p:nvSpPr>
        <p:spPr>
          <a:xfrm>
            <a:off x="7360920" y="3749040"/>
            <a:ext cx="4325112" cy="123444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100" b="0" i="0">
                <a:solidFill>
                  <a:srgbClr val="0E7C86"/>
                </a:solidFill>
                <a:latin typeface="Consolas"/>
              </a:rPr>
              <a:t>pv-updates</a:t>
            </a:r>
            <a:r>
              <a:rPr sz="1200" b="0" i="0">
                <a:solidFill>
                  <a:srgbClr val="1C2433"/>
                </a:solidFill>
                <a:latin typeface="Calibri"/>
              </a:rPr>
              <a:t>' lake on EFS; each window published with </a:t>
            </a:r>
            <a:r>
              <a:rPr sz="1100" b="0" i="0">
                <a:solidFill>
                  <a:srgbClr val="0E7C86"/>
                </a:solidFill>
                <a:latin typeface="Consolas"/>
              </a:rPr>
              <a:t>--mode append</a:t>
            </a:r>
          </a:p>
          <a:p>
            <a:pPr algn="l" marL="201168" indent="-201168">
              <a:spcAft>
                <a:spcPts val="200"/>
              </a:spcAft>
              <a:buClr>
                <a:srgbClr val="E87A1E"/>
              </a:buClr>
              <a:buSzPct val="100000"/>
              <a:buFont typeface="Arial"/>
              <a:buChar char="•"/>
            </a:pPr>
            <a:r>
              <a:rPr sz="1200" b="0" i="0">
                <a:solidFill>
                  <a:srgbClr val="1C2433"/>
                </a:solidFill>
                <a:latin typeface="Calibri"/>
              </a:rPr>
              <a:t>or keep </a:t>
            </a:r>
            <a:r>
              <a:rPr sz="1100" b="0" i="0">
                <a:solidFill>
                  <a:srgbClr val="0E7C86"/>
                </a:solidFill>
                <a:latin typeface="Consolas"/>
              </a:rPr>
              <a:t>risk/</a:t>
            </a:r>
            <a:r>
              <a:rPr sz="1200" b="0" i="0">
                <a:solidFill>
                  <a:srgbClr val="1C2433"/>
                </a:solidFill>
                <a:latin typeface="Calibri"/>
              </a:rPr>
              <a:t> on EFS if intraday must be seconds</a:t>
            </a:r>
          </a:p>
        </p:txBody>
      </p:sp>
      <p:sp>
        <p:nvSpPr>
          <p:cNvPr id="18" name="Callout"/>
          <p:cNvSpPr/>
          <p:nvPr/>
        </p:nvSpPr>
        <p:spPr>
          <a:xfrm>
            <a:off x="411480" y="5029200"/>
            <a:ext cx="6583680" cy="1280160"/>
          </a:xfrm>
          <a:prstGeom prst="roundRect">
            <a:avLst>
              <a:gd name="adj" fmla="val 6000"/>
            </a:avLst>
          </a:prstGeom>
          <a:solidFill>
            <a:srgbClr val="FDEC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Callout edge"/>
          <p:cNvSpPr/>
          <p:nvPr/>
        </p:nvSpPr>
        <p:spPr>
          <a:xfrm>
            <a:off x="411480" y="5047488"/>
            <a:ext cx="82296" cy="1243584"/>
          </a:xfrm>
          <a:prstGeom prst="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xtBox 19"/>
          <p:cNvSpPr txBox="1"/>
          <p:nvPr/>
        </p:nvSpPr>
        <p:spPr>
          <a:xfrm>
            <a:off x="640080" y="5102352"/>
            <a:ext cx="6217920" cy="1133856"/>
          </a:xfrm>
          <a:prstGeom prst="rect">
            <a:avLst/>
          </a:prstGeom>
          <a:noFill/>
        </p:spPr>
        <p:txBody>
          <a:bodyPr wrap="square" lIns="0" rIns="0" tIns="0" bIns="0" anchor="ctr">
            <a:spAutoFit/>
          </a:bodyPr>
          <a:lstStyle/>
          <a:p>
            <a:pPr algn="l">
              <a:spcAft>
                <a:spcPts val="600"/>
              </a:spcAft>
              <a:buNone/>
            </a:pPr>
            <a:r>
              <a:rPr sz="1200" b="1" i="0">
                <a:solidFill>
                  <a:srgbClr val="1C2433"/>
                </a:solidFill>
                <a:latin typeface="Calibri"/>
              </a:rPr>
              <a:t>Risk tables in S3 keep 7 years:</a:t>
            </a:r>
            <a:r>
              <a:rPr sz="1200" b="0" i="0">
                <a:solidFill>
                  <a:srgbClr val="1C2433"/>
                </a:solidFill>
                <a:latin typeface="Calibri"/>
              </a:rPr>
              <a:t> publish them with </a:t>
            </a:r>
            <a:r>
              <a:rPr sz="1100" b="0" i="0">
                <a:solidFill>
                  <a:srgbClr val="0E7C86"/>
                </a:solidFill>
                <a:latin typeface="Consolas"/>
              </a:rPr>
              <a:t>--log-retention-days 2557 --deleted-file-retention-days 2557</a:t>
            </a:r>
            <a:r>
              <a:rPr sz="1200" b="0" i="0">
                <a:solidFill>
                  <a:srgbClr val="1C2433"/>
                </a:solidFill>
                <a:latin typeface="Calibri"/>
              </a:rPr>
              <a:t>; </a:t>
            </a:r>
            <a:r>
              <a:rPr sz="1100" b="0" i="0">
                <a:solidFill>
                  <a:srgbClr val="0E7C86"/>
                </a:solidFill>
                <a:latin typeface="Consolas"/>
              </a:rPr>
              <a:t>lake publish</a:t>
            </a:r>
            <a:r>
              <a:rPr sz="1200" b="0" i="0">
                <a:solidFill>
                  <a:srgbClr val="1C2433"/>
                </a:solidFill>
                <a:latin typeface="Calibri"/>
              </a:rPr>
              <a:t>'s defaults (30 and 7 days) would cut time travel.</a:t>
            </a:r>
          </a:p>
        </p:txBody>
      </p:sp>
      <p:sp>
        <p:nvSpPr>
          <p:cNvPr id="21" name="TextBox 20"/>
          <p:cNvSpPr txBox="1"/>
          <p:nvPr/>
        </p:nvSpPr>
        <p:spPr>
          <a:xfrm>
            <a:off x="7269480" y="5257800"/>
            <a:ext cx="4507992" cy="822960"/>
          </a:xfrm>
          <a:prstGeom prst="rect">
            <a:avLst/>
          </a:prstGeom>
          <a:noFill/>
        </p:spPr>
        <p:txBody>
          <a:bodyPr wrap="square" lIns="0" rIns="0" tIns="0" bIns="0" anchor="t">
            <a:spAutoFit/>
          </a:bodyPr>
          <a:lstStyle/>
          <a:p>
            <a:pPr algn="l">
              <a:spcAft>
                <a:spcPts val="600"/>
              </a:spcAft>
              <a:buNone/>
            </a:pPr>
            <a:r>
              <a:rPr sz="1200" b="0" i="0">
                <a:solidFill>
                  <a:srgbClr val="5B677A"/>
                </a:solidFill>
                <a:latin typeface="Calibri"/>
              </a:rPr>
              <a:t>Hot files: </a:t>
            </a:r>
            <a:r>
              <a:rPr sz="1100" b="0" i="0">
                <a:solidFill>
                  <a:srgbClr val="0E7C86"/>
                </a:solidFill>
                <a:latin typeface="Consolas"/>
              </a:rPr>
              <a:t>DRISHTI_VAR_HOT_DIR</a:t>
            </a:r>
            <a:r>
              <a:rPr sz="1200" b="0" i="0">
                <a:solidFill>
                  <a:srgbClr val="5B677A"/>
                </a:solidFill>
                <a:latin typeface="Calibri"/>
              </a:rPr>
              <a:t>, </a:t>
            </a:r>
            <a:r>
              <a:rPr sz="1100" b="0" i="0">
                <a:solidFill>
                  <a:srgbClr val="0E7C86"/>
                </a:solidFill>
                <a:latin typeface="Consolas"/>
              </a:rPr>
              <a:t>DRISHTI_EXPOSURE_HOT_DIR</a:t>
            </a:r>
            <a:r>
              <a:rPr sz="1200" b="0" i="0">
                <a:solidFill>
                  <a:srgbClr val="5B677A"/>
                </a:solidFill>
                <a:latin typeface="Calibri"/>
              </a:rPr>
              <a:t> on fast local disk, as the guides say (section 14).</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Official results: append-only, versioned, reproducible</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12</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67</a:t>
            </a:r>
          </a:p>
        </p:txBody>
      </p:sp>
      <p:graphicFrame>
        <p:nvGraphicFramePr>
          <p:cNvPr id="9" name="Table"/>
          <p:cNvGraphicFramePr>
            <a:graphicFrameLocks noGrp="1"/>
          </p:cNvGraphicFramePr>
          <p:nvPr/>
        </p:nvGraphicFramePr>
        <p:xfrm>
          <a:off x="411480" y="1188720"/>
          <a:ext cx="6949440" cy="3511296"/>
        </p:xfrm>
        <a:graphic>
          <a:graphicData uri="http://schemas.openxmlformats.org/drawingml/2006/table">
            <a:tbl>
              <a:tblPr firstRow="0" bandRow="0">
                <a:tableStyleId>{5940675A-B579-460E-94D1-54222C63F5DA}</a:tableStyleId>
              </a:tblPr>
              <a:tblGrid>
                <a:gridCol w="2286000"/>
                <a:gridCol w="4663440"/>
              </a:tblGrid>
              <a:tr h="585216">
                <a:tc>
                  <a:txBody>
                    <a:bodyPr wrap="square"/>
                    <a:lstStyle/>
                    <a:p>
                      <a:r>
                        <a:rPr sz="1200" b="1" i="0">
                          <a:solidFill>
                            <a:srgbClr val="FFFFFF"/>
                          </a:solidFill>
                          <a:latin typeface="Calibri"/>
                        </a:rPr>
                        <a:t>Column group</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Content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585216">
                <a:tc>
                  <a:txBody>
                    <a:bodyPr wrap="square"/>
                    <a:lstStyle/>
                    <a:p>
                      <a:r>
                        <a:rPr sz="1100" b="1" i="0">
                          <a:solidFill>
                            <a:srgbClr val="0E7C86"/>
                          </a:solidFill>
                          <a:latin typeface="Consolas"/>
                        </a:rPr>
                        <a:t>business_date</a:t>
                      </a:r>
                      <a:r>
                        <a:rPr sz="1200" b="1" i="0">
                          <a:solidFill>
                            <a:srgbClr val="1C2433"/>
                          </a:solidFill>
                          <a:latin typeface="Calibri"/>
                        </a:rPr>
                        <a:t> · </a:t>
                      </a:r>
                      <a:r>
                        <a:rPr sz="1100" b="1" i="0">
                          <a:solidFill>
                            <a:srgbClr val="0E7C86"/>
                          </a:solidFill>
                          <a:latin typeface="Consolas"/>
                        </a:rPr>
                        <a:t>id</a:t>
                      </a:r>
                      <a:r>
                        <a:rPr sz="1200" b="1" i="0">
                          <a:solidFill>
                            <a:srgbClr val="1C2433"/>
                          </a:solidFill>
                          <a:latin typeface="Calibri"/>
                        </a:rPr>
                        <a:t> · </a:t>
                      </a:r>
                      <a:r>
                        <a:rPr sz="1100" b="1" i="0">
                          <a:solidFill>
                            <a:srgbClr val="0E7C86"/>
                          </a:solidFill>
                          <a:latin typeface="Consolas"/>
                        </a:rPr>
                        <a:t>doc</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partition; </a:t>
                      </a:r>
                      <a:r>
                        <a:rPr sz="1100" b="0" i="0">
                          <a:solidFill>
                            <a:srgbClr val="0E7C86"/>
                          </a:solidFill>
                          <a:latin typeface="Consolas"/>
                        </a:rPr>
                        <a:t>&lt;NODE_ID&gt;@&lt;date&gt;#v&lt;RESULT_VERSION&gt;</a:t>
                      </a:r>
                      <a:r>
                        <a:rPr sz="1200" b="0" i="0">
                          <a:solidFill>
                            <a:srgbClr val="1C2433"/>
                          </a:solidFill>
                          <a:latin typeface="Calibri"/>
                        </a:rPr>
                        <a:t>; the row as JSON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85216">
                <a:tc>
                  <a:txBody>
                    <a:bodyPr wrap="square"/>
                    <a:lstStyle/>
                    <a:p>
                      <a:r>
                        <a:rPr sz="1200" b="1" i="0">
                          <a:solidFill>
                            <a:srgbClr val="1C2433"/>
                          </a:solidFill>
                          <a:latin typeface="Calibri"/>
                        </a:rPr>
                        <a:t>node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HIERARCHY</a:t>
                      </a:r>
                      <a:r>
                        <a:rPr sz="1200" b="0" i="0">
                          <a:solidFill>
                            <a:srgbClr val="1C2433"/>
                          </a:solidFill>
                          <a:latin typeface="Calibri"/>
                        </a:rPr>
                        <a:t> (MGMT, LEGAL, LL …), </a:t>
                      </a:r>
                      <a:r>
                        <a:rPr sz="1100" b="0" i="0">
                          <a:solidFill>
                            <a:srgbClr val="0E7C86"/>
                          </a:solidFill>
                          <a:latin typeface="Consolas"/>
                        </a:rPr>
                        <a:t>NODE_ID</a:t>
                      </a:r>
                      <a:r>
                        <a:rPr sz="1200" b="0" i="0">
                          <a:solidFill>
                            <a:srgbClr val="1C2433"/>
                          </a:solidFill>
                          <a:latin typeface="Calibri"/>
                        </a:rPr>
                        <a:t>, </a:t>
                      </a:r>
                      <a:r>
                        <a:rPr sz="1100" b="0" i="0">
                          <a:solidFill>
                            <a:srgbClr val="0E7C86"/>
                          </a:solidFill>
                          <a:latin typeface="Consolas"/>
                        </a:rPr>
                        <a:t>NODE_NAME</a:t>
                      </a:r>
                      <a:r>
                        <a:rPr sz="1200" b="0" i="0">
                          <a:solidFill>
                            <a:srgbClr val="1C2433"/>
                          </a:solidFill>
                          <a:latin typeface="Calibri"/>
                        </a:rPr>
                        <a:t>, </a:t>
                      </a:r>
                      <a:r>
                        <a:rPr sz="1100" b="0" i="0">
                          <a:solidFill>
                            <a:srgbClr val="0E7C86"/>
                          </a:solidFill>
                          <a:latin typeface="Consolas"/>
                        </a:rPr>
                        <a:t>PARENT_ID</a:t>
                      </a:r>
                      <a:r>
                        <a:rPr sz="1200" b="0" i="0">
                          <a:solidFill>
                            <a:srgbClr val="1C2433"/>
                          </a:solidFill>
                          <a:latin typeface="Calibri"/>
                        </a:rPr>
                        <a:t>, </a:t>
                      </a:r>
                      <a:r>
                        <a:rPr sz="1100" b="0" i="0">
                          <a:solidFill>
                            <a:srgbClr val="0E7C86"/>
                          </a:solidFill>
                          <a:latin typeface="Consolas"/>
                        </a:rPr>
                        <a:t>LEVEL</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85216">
                <a:tc>
                  <a:txBody>
                    <a:bodyPr wrap="square"/>
                    <a:lstStyle/>
                    <a:p>
                      <a:r>
                        <a:rPr sz="1200" b="1" i="0">
                          <a:solidFill>
                            <a:srgbClr val="1C2433"/>
                          </a:solidFill>
                          <a:latin typeface="Calibri"/>
                        </a:rPr>
                        <a:t>version and inputs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RESULT_VERSION</a:t>
                      </a:r>
                      <a:r>
                        <a:rPr sz="1200" b="0" i="0">
                          <a:solidFill>
                            <a:srgbClr val="1C2433"/>
                          </a:solidFill>
                          <a:latin typeface="Calibri"/>
                        </a:rPr>
                        <a:t> (1, 2 … on restatement), </a:t>
                      </a:r>
                      <a:r>
                        <a:rPr sz="1100" b="0" i="0">
                          <a:solidFill>
                            <a:srgbClr val="0E7C86"/>
                          </a:solidFill>
                          <a:latin typeface="Consolas"/>
                        </a:rPr>
                        <a:t>CAPTURE_ID</a:t>
                      </a:r>
                      <a:r>
                        <a:rPr sz="1200" b="0" i="0">
                          <a:solidFill>
                            <a:srgbClr val="1C2433"/>
                          </a:solidFill>
                          <a:latin typeface="Calibri"/>
                        </a:rPr>
                        <a:t>, </a:t>
                      </a:r>
                      <a:r>
                        <a:rPr sz="1100" b="0" i="0">
                          <a:solidFill>
                            <a:srgbClr val="0E7C86"/>
                          </a:solidFill>
                          <a:latin typeface="Consolas"/>
                        </a:rPr>
                        <a:t>INPUT_VERSIONS</a:t>
                      </a:r>
                      <a:r>
                        <a:rPr sz="1200" b="0" i="0">
                          <a:solidFill>
                            <a:srgbClr val="1C2433"/>
                          </a:solidFill>
                          <a:latin typeface="Calibri"/>
                        </a:rPr>
                        <a:t> (versions, batch ids, rules digest)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85216">
                <a:tc>
                  <a:txBody>
                    <a:bodyPr wrap="square"/>
                    <a:lstStyle/>
                    <a:p>
                      <a:r>
                        <a:rPr sz="1200" b="1" i="0">
                          <a:solidFill>
                            <a:srgbClr val="1C2433"/>
                          </a:solidFill>
                          <a:latin typeface="Calibri"/>
                        </a:rPr>
                        <a:t>figures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VAR</a:t>
                      </a:r>
                      <a:r>
                        <a:rPr sz="1200" b="0" i="0">
                          <a:solidFill>
                            <a:srgbClr val="1C2433"/>
                          </a:solidFill>
                          <a:latin typeface="Calibri"/>
                        </a:rPr>
                        <a:t>, </a:t>
                      </a:r>
                      <a:r>
                        <a:rPr sz="1100" b="0" i="0">
                          <a:solidFill>
                            <a:srgbClr val="0E7C86"/>
                          </a:solidFill>
                          <a:latin typeface="Consolas"/>
                        </a:rPr>
                        <a:t>ES</a:t>
                      </a:r>
                      <a:r>
                        <a:rPr sz="1200" b="0" i="0">
                          <a:solidFill>
                            <a:srgbClr val="1C2433"/>
                          </a:solidFill>
                          <a:latin typeface="Calibri"/>
                        </a:rPr>
                        <a:t>, </a:t>
                      </a:r>
                      <a:r>
                        <a:rPr sz="1100" b="0" i="0">
                          <a:solidFill>
                            <a:srgbClr val="0E7C86"/>
                          </a:solidFill>
                          <a:latin typeface="Consolas"/>
                        </a:rPr>
                        <a:t>CONFIDENCE</a:t>
                      </a:r>
                      <a:r>
                        <a:rPr sz="1200" b="0" i="0">
                          <a:solidFill>
                            <a:srgbClr val="1C2433"/>
                          </a:solidFill>
                          <a:latin typeface="Calibri"/>
                        </a:rPr>
                        <a:t>, </a:t>
                      </a:r>
                      <a:r>
                        <a:rPr sz="1100" b="0" i="0">
                          <a:solidFill>
                            <a:srgbClr val="0E7C86"/>
                          </a:solidFill>
                          <a:latin typeface="Consolas"/>
                        </a:rPr>
                        <a:t>ES_CONFIDENCE</a:t>
                      </a:r>
                      <a:r>
                        <a:rPr sz="1200" b="0" i="0">
                          <a:solidFill>
                            <a:srgbClr val="1C2433"/>
                          </a:solidFill>
                          <a:latin typeface="Calibri"/>
                        </a:rPr>
                        <a:t>, </a:t>
                      </a:r>
                      <a:r>
                        <a:rPr sz="1100" b="0" i="0">
                          <a:solidFill>
                            <a:srgbClr val="0E7C86"/>
                          </a:solidFill>
                          <a:latin typeface="Consolas"/>
                        </a:rPr>
                        <a:t>STANDALONE_SUM</a:t>
                      </a:r>
                      <a:r>
                        <a:rPr sz="1200" b="0" i="0">
                          <a:solidFill>
                            <a:srgbClr val="1C2433"/>
                          </a:solidFill>
                          <a:latin typeface="Calibri"/>
                        </a:rPr>
                        <a:t>, </a:t>
                      </a:r>
                      <a:r>
                        <a:rPr sz="1100" b="0" i="0">
                          <a:solidFill>
                            <a:srgbClr val="0E7C86"/>
                          </a:solidFill>
                          <a:latin typeface="Consolas"/>
                        </a:rPr>
                        <a:t>DIVERSIFICATION</a:t>
                      </a:r>
                      <a:r>
                        <a:rPr sz="1200" b="0" i="0">
                          <a:solidFill>
                            <a:srgbClr val="1C2433"/>
                          </a:solidFill>
                          <a:latin typeface="Calibri"/>
                        </a:rPr>
                        <a:t>, </a:t>
                      </a:r>
                      <a:r>
                        <a:rPr sz="1100" b="0" i="0">
                          <a:solidFill>
                            <a:srgbClr val="0E7C86"/>
                          </a:solidFill>
                          <a:latin typeface="Consolas"/>
                        </a:rPr>
                        <a:t>HYPO_PNL</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85216">
                <a:tc>
                  <a:txBody>
                    <a:bodyPr wrap="square"/>
                    <a:lstStyle/>
                    <a:p>
                      <a:r>
                        <a:rPr sz="1200" b="1" i="0">
                          <a:solidFill>
                            <a:srgbClr val="1C2433"/>
                          </a:solidFill>
                          <a:latin typeface="Calibri"/>
                        </a:rPr>
                        <a:t>limits and backtest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LIMIT</a:t>
                      </a:r>
                      <a:r>
                        <a:rPr sz="1200" b="0" i="0">
                          <a:solidFill>
                            <a:srgbClr val="1C2433"/>
                          </a:solidFill>
                          <a:latin typeface="Calibri"/>
                        </a:rPr>
                        <a:t>, </a:t>
                      </a:r>
                      <a:r>
                        <a:rPr sz="1100" b="0" i="0">
                          <a:solidFill>
                            <a:srgbClr val="0E7C86"/>
                          </a:solidFill>
                          <a:latin typeface="Consolas"/>
                        </a:rPr>
                        <a:t>LIMIT_USE</a:t>
                      </a:r>
                      <a:r>
                        <a:rPr sz="1200" b="0" i="0">
                          <a:solidFill>
                            <a:srgbClr val="1C2433"/>
                          </a:solidFill>
                          <a:latin typeface="Calibri"/>
                        </a:rPr>
                        <a:t>, </a:t>
                      </a:r>
                      <a:r>
                        <a:rPr sz="1100" b="0" i="0">
                          <a:solidFill>
                            <a:srgbClr val="0E7C86"/>
                          </a:solidFill>
                          <a:latin typeface="Consolas"/>
                        </a:rPr>
                        <a:t>EXCEPTIONS_250</a:t>
                      </a:r>
                      <a:r>
                        <a:rPr sz="1200" b="0" i="0">
                          <a:solidFill>
                            <a:srgbClr val="1C2433"/>
                          </a:solidFill>
                          <a:latin typeface="Calibri"/>
                        </a:rPr>
                        <a:t>, </a:t>
                      </a:r>
                      <a:r>
                        <a:rPr sz="1100" b="0" i="0">
                          <a:solidFill>
                            <a:srgbClr val="0E7C86"/>
                          </a:solidFill>
                          <a:latin typeface="Consolas"/>
                        </a:rPr>
                        <a:t>TRAFFIC_LIGHT</a:t>
                      </a:r>
                      <a:r>
                        <a:rPr sz="1200" b="0" i="0">
                          <a:solidFill>
                            <a:srgbClr val="1C2433"/>
                          </a:solidFill>
                          <a:latin typeface="Calibri"/>
                        </a:rPr>
                        <a:t>, </a:t>
                      </a:r>
                      <a:r>
                        <a:rPr sz="1100" b="0" i="0">
                          <a:solidFill>
                            <a:srgbClr val="0E7C86"/>
                          </a:solidFill>
                          <a:latin typeface="Consolas"/>
                        </a:rPr>
                        <a:t>TRADE_COUNT</a:t>
                      </a:r>
                      <a:r>
                        <a:rPr sz="1200" b="0" i="0">
                          <a:solidFill>
                            <a:srgbClr val="1C2433"/>
                          </a:solidFill>
                          <a:latin typeface="Calibri"/>
                        </a:rPr>
                        <a:t>, </a:t>
                      </a:r>
                      <a:r>
                        <a:rPr sz="1100" b="0" i="0">
                          <a:solidFill>
                            <a:srgbClr val="0E7C86"/>
                          </a:solidFill>
                          <a:latin typeface="Consolas"/>
                        </a:rPr>
                        <a:t>POSITION_COUNT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bl>
          </a:graphicData>
        </a:graphic>
      </p:graphicFrame>
      <p:sp>
        <p:nvSpPr>
          <p:cNvPr id="10" name="TextBox 9"/>
          <p:cNvSpPr txBox="1"/>
          <p:nvPr/>
        </p:nvSpPr>
        <p:spPr>
          <a:xfrm>
            <a:off x="7635240" y="1188720"/>
            <a:ext cx="4142232" cy="3657600"/>
          </a:xfrm>
          <a:prstGeom prst="rect">
            <a:avLst/>
          </a:prstGeom>
          <a:noFill/>
        </p:spPr>
        <p:txBody>
          <a:bodyPr wrap="square" lIns="0" rIns="0" tIns="0" bIns="0" anchor="t">
            <a:spAutoFit/>
          </a:bodyPr>
          <a:lstStyle/>
          <a:p>
            <a:pPr algn="l" marL="201168" indent="-201168">
              <a:spcAft>
                <a:spcPts val="500"/>
              </a:spcAft>
              <a:buClr>
                <a:srgbClr val="E87A1E"/>
              </a:buClr>
              <a:buSzPct val="100000"/>
              <a:buFont typeface="Arial"/>
              <a:buChar char="•"/>
            </a:pPr>
            <a:r>
              <a:rPr sz="1300" b="0" i="0">
                <a:solidFill>
                  <a:srgbClr val="1C2433"/>
                </a:solidFill>
                <a:latin typeface="Calibri"/>
              </a:rPr>
              <a:t>every configured hierarchy: 131 nodes on the test data (MGMT, LEGAL + 43 limit-letter nodes)</a:t>
            </a:r>
          </a:p>
          <a:p>
            <a:pPr algn="l" marL="201168" indent="-201168">
              <a:spcAft>
                <a:spcPts val="500"/>
              </a:spcAft>
              <a:buClr>
                <a:srgbClr val="E87A1E"/>
              </a:buClr>
              <a:buSzPct val="100000"/>
              <a:buFont typeface="Arial"/>
              <a:buChar char="•"/>
            </a:pPr>
            <a:r>
              <a:rPr sz="1200" b="0" i="0">
                <a:solidFill>
                  <a:srgbClr val="0E7C86"/>
                </a:solidFill>
                <a:latin typeface="Consolas"/>
              </a:rPr>
              <a:t>delta.appendOnly</a:t>
            </a:r>
            <a:r>
              <a:rPr sz="1300" b="0" i="0">
                <a:solidFill>
                  <a:srgbClr val="1C2433"/>
                </a:solidFill>
                <a:latin typeface="Calibri"/>
              </a:rPr>
              <a:t>: nothing is overwritten; a restated date adds rows with the next </a:t>
            </a:r>
            <a:r>
              <a:rPr sz="1200" b="0" i="0">
                <a:solidFill>
                  <a:srgbClr val="0E7C86"/>
                </a:solidFill>
                <a:latin typeface="Consolas"/>
              </a:rPr>
              <a:t>RESULT_VERSION</a:t>
            </a:r>
          </a:p>
          <a:p>
            <a:pPr algn="l" marL="201168" indent="-201168">
              <a:spcAft>
                <a:spcPts val="500"/>
              </a:spcAft>
              <a:buClr>
                <a:srgbClr val="E87A1E"/>
              </a:buClr>
              <a:buSzPct val="100000"/>
              <a:buFont typeface="Arial"/>
              <a:buChar char="•"/>
            </a:pPr>
            <a:r>
              <a:rPr sz="1300" b="0" i="0">
                <a:solidFill>
                  <a:srgbClr val="1C2433"/>
                </a:solidFill>
                <a:latin typeface="Calibri"/>
              </a:rPr>
              <a:t>7 years of log and removed files: time travel to any published day</a:t>
            </a:r>
          </a:p>
          <a:p>
            <a:pPr algn="l" marL="201168" indent="-201168">
              <a:spcAft>
                <a:spcPts val="500"/>
              </a:spcAft>
              <a:buClr>
                <a:srgbClr val="E87A1E"/>
              </a:buClr>
              <a:buSzPct val="100000"/>
              <a:buFont typeface="Arial"/>
              <a:buChar char="•"/>
            </a:pPr>
            <a:r>
              <a:rPr sz="1300" b="0" i="0">
                <a:solidFill>
                  <a:srgbClr val="1C2433"/>
                </a:solidFill>
                <a:latin typeface="Calibri"/>
              </a:rPr>
              <a:t>no vectors, no trade rows: the capture in the content store keeps the vector for audit</a:t>
            </a:r>
          </a:p>
          <a:p>
            <a:pPr algn="l" marL="201168" indent="-201168">
              <a:spcAft>
                <a:spcPts val="500"/>
              </a:spcAft>
              <a:buClr>
                <a:srgbClr val="E87A1E"/>
              </a:buClr>
              <a:buSzPct val="100000"/>
              <a:buFont typeface="Arial"/>
              <a:buChar char="•"/>
            </a:pPr>
            <a:r>
              <a:rPr sz="1300" b="0" i="0">
                <a:solidFill>
                  <a:srgbClr val="1C2433"/>
                </a:solidFill>
                <a:latin typeface="Calibri"/>
              </a:rPr>
              <a:t>Delta or Iceberg, a folder or </a:t>
            </a:r>
            <a:r>
              <a:rPr sz="1200" b="0" i="0">
                <a:solidFill>
                  <a:srgbClr val="0E7C86"/>
                </a:solidFill>
                <a:latin typeface="Consolas"/>
              </a:rPr>
              <a:t>s3://</a:t>
            </a:r>
            <a:r>
              <a:rPr sz="1300" b="0" i="0">
                <a:solidFill>
                  <a:srgbClr val="1C2433"/>
                </a:solidFill>
                <a:latin typeface="Calibri"/>
              </a:rPr>
              <a:t> (2.9.5)</a:t>
            </a:r>
          </a:p>
        </p:txBody>
      </p:sp>
      <p:sp>
        <p:nvSpPr>
          <p:cNvPr id="11" name="Callout"/>
          <p:cNvSpPr/>
          <p:nvPr/>
        </p:nvSpPr>
        <p:spPr>
          <a:xfrm>
            <a:off x="411480" y="4892040"/>
            <a:ext cx="11365992" cy="1417320"/>
          </a:xfrm>
          <a:prstGeom prst="roundRect">
            <a:avLst>
              <a:gd name="adj" fmla="val 6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allout edge"/>
          <p:cNvSpPr/>
          <p:nvPr/>
        </p:nvSpPr>
        <p:spPr>
          <a:xfrm>
            <a:off x="411480" y="4910327"/>
            <a:ext cx="82296" cy="138074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TextBox 12"/>
          <p:cNvSpPr txBox="1"/>
          <p:nvPr/>
        </p:nvSpPr>
        <p:spPr>
          <a:xfrm>
            <a:off x="640080" y="4965192"/>
            <a:ext cx="11000232" cy="1271016"/>
          </a:xfrm>
          <a:prstGeom prst="rect">
            <a:avLst/>
          </a:prstGeom>
          <a:noFill/>
        </p:spPr>
        <p:txBody>
          <a:bodyPr wrap="square" lIns="0" rIns="0" tIns="0" bIns="0" anchor="ctr">
            <a:spAutoFit/>
          </a:bodyPr>
          <a:lstStyle/>
          <a:p>
            <a:pPr algn="l">
              <a:spcAft>
                <a:spcPts val="600"/>
              </a:spcAft>
              <a:buNone/>
            </a:pPr>
            <a:r>
              <a:rPr sz="1300" b="1" i="0">
                <a:solidFill>
                  <a:srgbClr val="1C2433"/>
                </a:solidFill>
                <a:latin typeface="Calibri"/>
              </a:rPr>
              <a:t>For other systems, never for engines.</a:t>
            </a:r>
            <a:r>
              <a:rPr sz="1300" b="0" i="0">
                <a:solidFill>
                  <a:srgbClr val="1C2433"/>
                </a:solidFill>
                <a:latin typeface="Calibri"/>
              </a:rPr>
              <a:t> BI reads the published tables as </a:t>
            </a:r>
            <a:r>
              <a:rPr sz="1200" b="0" i="0">
                <a:solidFill>
                  <a:srgbClr val="0E7C86"/>
                </a:solidFill>
                <a:latin typeface="Consolas"/>
              </a:rPr>
              <a:t>VOFF</a:t>
            </a:r>
            <a:r>
              <a:rPr sz="1300" b="0" i="0">
                <a:solidFill>
                  <a:srgbClr val="1C2433"/>
                </a:solidFill>
                <a:latin typeface="Calibri"/>
              </a:rPr>
              <a:t> and </a:t>
            </a:r>
            <a:r>
              <a:rPr sz="1200" b="0" i="0">
                <a:solidFill>
                  <a:srgbClr val="0E7C86"/>
                </a:solidFill>
                <a:latin typeface="Consolas"/>
              </a:rPr>
              <a:t>XOFC</a:t>
            </a:r>
            <a:r>
              <a:rPr sz="1300" b="0" i="0">
                <a:solidFill>
                  <a:srgbClr val="1C2433"/>
                </a:solidFill>
                <a:latin typeface="Calibri"/>
              </a:rPr>
              <a:t> (the reports Market risk: VaR and Counterparty risk; no measure sums VaR). Each figure can be recomputed from its inputs, the same vectors and engine version, years later.</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Exposure paths: the large table, and what is kept for 7 years</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12</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68</a:t>
            </a:r>
          </a:p>
        </p:txBody>
      </p:sp>
      <p:graphicFrame>
        <p:nvGraphicFramePr>
          <p:cNvPr id="9" name="Table"/>
          <p:cNvGraphicFramePr>
            <a:graphicFrameLocks noGrp="1"/>
          </p:cNvGraphicFramePr>
          <p:nvPr/>
        </p:nvGraphicFramePr>
        <p:xfrm>
          <a:off x="411480" y="1188720"/>
          <a:ext cx="5669280" cy="2286000"/>
        </p:xfrm>
        <a:graphic>
          <a:graphicData uri="http://schemas.openxmlformats.org/drawingml/2006/table">
            <a:tbl>
              <a:tblPr firstRow="0" bandRow="0">
                <a:tableStyleId>{5940675A-B579-460E-94D1-54222C63F5DA}</a:tableStyleId>
              </a:tblPr>
              <a:tblGrid>
                <a:gridCol w="2743200"/>
                <a:gridCol w="1463040"/>
                <a:gridCol w="1463040"/>
              </a:tblGrid>
              <a:tr h="457200">
                <a:tc>
                  <a:txBody>
                    <a:bodyPr wrap="square"/>
                    <a:lstStyle/>
                    <a:p>
                      <a:r>
                        <a:rPr sz="1200" b="1" i="0">
                          <a:solidFill>
                            <a:srgbClr val="FFFFFF"/>
                          </a:solidFill>
                          <a:latin typeface="Calibri"/>
                        </a:rPr>
                        <a:t>Item (1,000,000 trades)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P = 2,000, G = 50</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P = 5,000, G = 100</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457200">
                <a:tc>
                  <a:txBody>
                    <a:bodyPr wrap="square"/>
                    <a:lstStyle/>
                    <a:p>
                      <a:r>
                        <a:rPr sz="1200" b="1" i="0">
                          <a:solidFill>
                            <a:srgbClr val="1C2433"/>
                          </a:solidFill>
                          <a:latin typeface="Calibri"/>
                        </a:rPr>
                        <a:t>trade paths, float32, dense, a date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400 GB</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2.0 TB</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57200">
                <a:tc>
                  <a:txBody>
                    <a:bodyPr wrap="square"/>
                    <a:lstStyle/>
                    <a:p>
                      <a:r>
                        <a:rPr sz="1200" b="1" i="0">
                          <a:solidFill>
                            <a:srgbClr val="1C2433"/>
                          </a:solidFill>
                          <a:latin typeface="Calibri"/>
                        </a:rPr>
                        <a:t>the same, float64</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800 GB</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4.0 TB</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57200">
                <a:tc>
                  <a:txBody>
                    <a:bodyPr wrap="square"/>
                    <a:lstStyle/>
                    <a:p>
                      <a:r>
                        <a:rPr sz="1200" b="1" i="0">
                          <a:solidFill>
                            <a:srgbClr val="1C2433"/>
                          </a:solidFill>
                          <a:latin typeface="Calibri"/>
                        </a:rPr>
                        <a:t>netting-set V matrices (hot), 100,000 sets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40 GB</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200 GB</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57200">
                <a:tc>
                  <a:txBody>
                    <a:bodyPr wrap="square"/>
                    <a:lstStyle/>
                    <a:p>
                      <a:r>
                        <a:rPr sz="1200" b="1" i="0">
                          <a:solidFill>
                            <a:srgbClr val="1C2433"/>
                          </a:solidFill>
                          <a:latin typeface="Calibri"/>
                        </a:rPr>
                        <a:t>for comparison: VaR vectors, a date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4.07 GB</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bl>
          </a:graphicData>
        </a:graphic>
      </p:graphicFrame>
      <p:graphicFrame>
        <p:nvGraphicFramePr>
          <p:cNvPr id="10" name="Table"/>
          <p:cNvGraphicFramePr>
            <a:graphicFrameLocks noGrp="1"/>
          </p:cNvGraphicFramePr>
          <p:nvPr/>
        </p:nvGraphicFramePr>
        <p:xfrm>
          <a:off x="6309360" y="1188720"/>
          <a:ext cx="5468112" cy="2743200"/>
        </p:xfrm>
        <a:graphic>
          <a:graphicData uri="http://schemas.openxmlformats.org/drawingml/2006/table">
            <a:tbl>
              <a:tblPr firstRow="0" bandRow="0">
                <a:tableStyleId>{5940675A-B579-460E-94D1-54222C63F5DA}</a:tableStyleId>
              </a:tblPr>
              <a:tblGrid>
                <a:gridCol w="2377440"/>
                <a:gridCol w="3090672"/>
              </a:tblGrid>
              <a:tr h="457200">
                <a:tc>
                  <a:txBody>
                    <a:bodyPr wrap="square"/>
                    <a:lstStyle/>
                    <a:p>
                      <a:r>
                        <a:rPr sz="1200" b="1" i="0">
                          <a:solidFill>
                            <a:srgbClr val="FFFFFF"/>
                          </a:solidFill>
                          <a:latin typeface="Calibri"/>
                        </a:rPr>
                        <a:t>What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Kept (decided 2026-10-26, built 2.9.0)</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457200">
                <a:tc>
                  <a:txBody>
                    <a:bodyPr wrap="square"/>
                    <a:lstStyle/>
                    <a:p>
                      <a:r>
                        <a:rPr sz="1200" b="1" i="0">
                          <a:solidFill>
                            <a:srgbClr val="1C2433"/>
                          </a:solidFill>
                          <a:latin typeface="Calibri"/>
                        </a:rPr>
                        <a:t>trade paths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20 business days, and each month-end for 1 year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57200">
                <a:tc>
                  <a:txBody>
                    <a:bodyPr wrap="square"/>
                    <a:lstStyle/>
                    <a:p>
                      <a:r>
                        <a:rPr sz="1200" b="1" i="0">
                          <a:solidFill>
                            <a:srgbClr val="1C2433"/>
                          </a:solidFill>
                          <a:latin typeface="Calibri"/>
                        </a:rPr>
                        <a:t>netting-set matrices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every date for 1 year; month-ends for 7 years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57200">
                <a:tc>
                  <a:txBody>
                    <a:bodyPr wrap="square"/>
                    <a:lstStyle/>
                    <a:p>
                      <a:r>
                        <a:rPr sz="1200" b="1" i="0">
                          <a:solidFill>
                            <a:srgbClr val="1C2433"/>
                          </a:solidFill>
                          <a:latin typeface="Calibri"/>
                        </a:rPr>
                        <a:t>statistics per set and counterparty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every date, 7 years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57200">
                <a:tc>
                  <a:txBody>
                    <a:bodyPr wrap="square"/>
                    <a:lstStyle/>
                    <a:p>
                      <a:r>
                        <a:rPr sz="1200" b="1" i="0">
                          <a:solidFill>
                            <a:srgbClr val="1C2433"/>
                          </a:solidFill>
                          <a:latin typeface="Calibri"/>
                        </a:rPr>
                        <a:t>trade EE contributions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every date, 7 years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57200">
                <a:tc>
                  <a:txBody>
                    <a:bodyPr wrap="square"/>
                    <a:lstStyle/>
                    <a:p>
                      <a:r>
                        <a:rPr sz="1200" b="1" i="0">
                          <a:solidFill>
                            <a:srgbClr val="1C2433"/>
                          </a:solidFill>
                          <a:latin typeface="Calibri"/>
                        </a:rPr>
                        <a:t>official captures, run records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7 years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bl>
          </a:graphicData>
        </a:graphic>
      </p:graphicFrame>
      <p:sp>
        <p:nvSpPr>
          <p:cNvPr id="11" name="Callout"/>
          <p:cNvSpPr/>
          <p:nvPr/>
        </p:nvSpPr>
        <p:spPr>
          <a:xfrm>
            <a:off x="411480" y="4160520"/>
            <a:ext cx="11365992" cy="1005840"/>
          </a:xfrm>
          <a:prstGeom prst="roundRect">
            <a:avLst>
              <a:gd name="adj" fmla="val 6000"/>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allout edge"/>
          <p:cNvSpPr/>
          <p:nvPr/>
        </p:nvSpPr>
        <p:spPr>
          <a:xfrm>
            <a:off x="411480" y="4178807"/>
            <a:ext cx="82296" cy="969264"/>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TextBox 12"/>
          <p:cNvSpPr txBox="1"/>
          <p:nvPr/>
        </p:nvSpPr>
        <p:spPr>
          <a:xfrm>
            <a:off x="640080" y="4233672"/>
            <a:ext cx="11000232" cy="859536"/>
          </a:xfrm>
          <a:prstGeom prst="rect">
            <a:avLst/>
          </a:prstGeom>
          <a:noFill/>
        </p:spPr>
        <p:txBody>
          <a:bodyPr wrap="square" lIns="0" rIns="0" tIns="0" bIns="0" anchor="ctr">
            <a:spAutoFit/>
          </a:bodyPr>
          <a:lstStyle/>
          <a:p>
            <a:pPr algn="l">
              <a:spcAft>
                <a:spcPts val="600"/>
              </a:spcAft>
              <a:buNone/>
            </a:pPr>
            <a:r>
              <a:rPr sz="1300" b="1" i="0">
                <a:solidFill>
                  <a:srgbClr val="1C2433"/>
                </a:solidFill>
                <a:latin typeface="Calibri"/>
              </a:rPr>
              <a:t>3.5 PB → about 150 TB:</a:t>
            </a:r>
            <a:r>
              <a:rPr sz="1300" b="0" i="0">
                <a:solidFill>
                  <a:srgbClr val="1C2433"/>
                </a:solidFill>
                <a:latin typeface="Calibri"/>
              </a:rPr>
              <a:t> 7 years of dense trade paths at P = 5,000, G = 100 would be 3.5 PB; under the decided tiers the standing storage is about 150 TB at full size (a fifth at P = 2,000, G = 50). ESTIMATED from the guide's formulas.</a:t>
            </a:r>
          </a:p>
        </p:txBody>
      </p:sp>
      <p:sp>
        <p:nvSpPr>
          <p:cNvPr id="14" name="Rounded Rectangle 13"/>
          <p:cNvSpPr/>
          <p:nvPr/>
        </p:nvSpPr>
        <p:spPr>
          <a:xfrm>
            <a:off x="411480" y="5349240"/>
            <a:ext cx="11365992" cy="960120"/>
          </a:xfrm>
          <a:prstGeom prst="roundRect">
            <a:avLst>
              <a:gd name="adj" fmla="val 6000"/>
            </a:avLst>
          </a:prstGeom>
          <a:solidFill>
            <a:srgbClr val="FFF4E6"/>
          </a:solidFill>
          <a:ln w="9525">
            <a:solidFill>
              <a:srgbClr val="E87A1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xtBox 14"/>
          <p:cNvSpPr txBox="1"/>
          <p:nvPr/>
        </p:nvSpPr>
        <p:spPr>
          <a:xfrm>
            <a:off x="502920" y="5394959"/>
            <a:ext cx="10040112"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Exposure-path layout at scale (EXPOSURE_GUIDE.md 15.3)</a:t>
            </a:r>
          </a:p>
        </p:txBody>
      </p:sp>
      <p:sp>
        <p:nvSpPr>
          <p:cNvPr id="16" name="Status PROPOSED"/>
          <p:cNvSpPr/>
          <p:nvPr/>
        </p:nvSpPr>
        <p:spPr>
          <a:xfrm>
            <a:off x="10634472" y="5440679"/>
            <a:ext cx="1051560" cy="237744"/>
          </a:xfrm>
          <a:prstGeom prst="roundRect">
            <a:avLst>
              <a:gd name="adj" fmla="val 50000"/>
            </a:avLst>
          </a:prstGeom>
          <a:solidFill>
            <a:srgbClr val="FFFFFF"/>
          </a:solidFill>
          <a:ln w="15875">
            <a:solidFill>
              <a:srgbClr val="E87A1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000" b="1" i="0">
                <a:solidFill>
                  <a:srgbClr val="E87A1E"/>
                </a:solidFill>
                <a:latin typeface="Calibri"/>
              </a:rPr>
              <a:t>PROPOSED</a:t>
            </a:r>
          </a:p>
        </p:txBody>
      </p:sp>
      <p:sp>
        <p:nvSpPr>
          <p:cNvPr id="17" name="TextBox 16"/>
          <p:cNvSpPr txBox="1"/>
          <p:nvPr/>
        </p:nvSpPr>
        <p:spPr>
          <a:xfrm>
            <a:off x="502920" y="5715000"/>
            <a:ext cx="11183112" cy="54864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partition by </a:t>
            </a:r>
            <a:r>
              <a:rPr sz="1100" b="0" i="0">
                <a:solidFill>
                  <a:srgbClr val="0E7C86"/>
                </a:solidFill>
                <a:latin typeface="Consolas"/>
              </a:rPr>
              <a:t>business_date</a:t>
            </a:r>
            <a:r>
              <a:rPr sz="1200" b="0" i="0">
                <a:solidFill>
                  <a:srgbClr val="1C2433"/>
                </a:solidFill>
                <a:latin typeface="Calibri"/>
              </a:rPr>
              <a:t> and </a:t>
            </a:r>
            <a:r>
              <a:rPr sz="1100" b="0" i="0">
                <a:solidFill>
                  <a:srgbClr val="0E7C86"/>
                </a:solidFill>
                <a:latin typeface="Consolas"/>
              </a:rPr>
              <a:t>run_id</a:t>
            </a:r>
            <a:r>
              <a:rPr sz="1200" b="0" i="0">
                <a:solidFill>
                  <a:srgbClr val="1C2433"/>
                </a:solidFill>
                <a:latin typeface="Calibri"/>
              </a:rPr>
              <a:t>; sort by </a:t>
            </a:r>
            <a:r>
              <a:rPr sz="1100" b="0" i="0">
                <a:solidFill>
                  <a:srgbClr val="0E7C86"/>
                </a:solidFill>
                <a:latin typeface="Consolas"/>
              </a:rPr>
              <a:t>NETTING_SET</a:t>
            </a:r>
            <a:r>
              <a:rPr sz="1200" b="0" i="0">
                <a:solidFill>
                  <a:srgbClr val="1C2433"/>
                </a:solidFill>
                <a:latin typeface="Calibri"/>
              </a:rPr>
              <a:t>, </a:t>
            </a:r>
            <a:r>
              <a:rPr sz="1100" b="0" i="0">
                <a:solidFill>
                  <a:srgbClr val="0E7C86"/>
                </a:solidFill>
                <a:latin typeface="Consolas"/>
              </a:rPr>
              <a:t>TRADE_ID</a:t>
            </a:r>
            <a:r>
              <a:rPr sz="1200" b="0" i="0">
                <a:solidFill>
                  <a:srgbClr val="1C2433"/>
                </a:solidFill>
                <a:latin typeface="Calibri"/>
              </a:rPr>
              <a:t>, </a:t>
            </a:r>
            <a:r>
              <a:rPr sz="1100" b="0" i="0">
                <a:solidFill>
                  <a:srgbClr val="0E7C86"/>
                </a:solidFill>
                <a:latin typeface="Consolas"/>
              </a:rPr>
              <a:t>GRID_INDEX</a:t>
            </a:r>
            <a:r>
              <a:rPr sz="1200" b="0" i="0">
                <a:solidFill>
                  <a:srgbClr val="1C2433"/>
                </a:solidFill>
                <a:latin typeface="Calibri"/>
              </a:rPr>
              <a:t>; ~512 MB files; </a:t>
            </a:r>
            <a:r>
              <a:rPr sz="1100" b="0" i="0">
                <a:solidFill>
                  <a:srgbClr val="0E7C86"/>
                </a:solidFill>
                <a:latin typeface="Consolas"/>
              </a:rPr>
              <a:t>MTM</a:t>
            </a:r>
            <a:r>
              <a:rPr sz="1200" b="0" i="0">
                <a:solidFill>
                  <a:srgbClr val="1C2433"/>
                </a:solidFill>
                <a:latin typeface="Calibri"/>
              </a:rPr>
              <a:t> BYTE_STREAM_SPLIT + ZSTD</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Number"/>
          <p:cNvSpPr txBox="1"/>
          <p:nvPr/>
        </p:nvSpPr>
        <p:spPr>
          <a:xfrm>
            <a:off x="4754880" y="-822960"/>
            <a:ext cx="7223760" cy="7863840"/>
          </a:xfrm>
          <a:prstGeom prst="rect">
            <a:avLst/>
          </a:prstGeom>
          <a:noFill/>
        </p:spPr>
        <p:txBody>
          <a:bodyPr wrap="square" lIns="0" rIns="0" tIns="0" bIns="0" anchor="ctr">
            <a:spAutoFit/>
          </a:bodyPr>
          <a:lstStyle/>
          <a:p>
            <a:pPr algn="r">
              <a:spcAft>
                <a:spcPts val="600"/>
              </a:spcAft>
              <a:buNone/>
            </a:pPr>
            <a:r>
              <a:rPr sz="42000" b="1" i="0">
                <a:solidFill>
                  <a:srgbClr val="1C3560"/>
                </a:solidFill>
                <a:latin typeface="Calibri"/>
              </a:rPr>
              <a:t>13</a:t>
            </a:r>
          </a:p>
        </p:txBody>
      </p:sp>
      <p:sp>
        <p:nvSpPr>
          <p:cNvPr id="4" name="Title"/>
          <p:cNvSpPr txBox="1"/>
          <p:nvPr/>
        </p:nvSpPr>
        <p:spPr>
          <a:xfrm>
            <a:off x="822960" y="2514600"/>
            <a:ext cx="6949440" cy="1828800"/>
          </a:xfrm>
          <a:prstGeom prst="rect">
            <a:avLst/>
          </a:prstGeom>
          <a:noFill/>
        </p:spPr>
        <p:txBody>
          <a:bodyPr wrap="square" lIns="0" rIns="0" tIns="0" bIns="0" anchor="ctr">
            <a:spAutoFit/>
          </a:bodyPr>
          <a:lstStyle/>
          <a:p>
            <a:pPr algn="l">
              <a:spcAft>
                <a:spcPts val="600"/>
              </a:spcAft>
              <a:buNone/>
            </a:pPr>
            <a:r>
              <a:rPr sz="4400" b="1" i="0">
                <a:solidFill>
                  <a:srgbClr val="FFFFFF"/>
                </a:solidFill>
                <a:latin typeface="Calibri"/>
              </a:rPr>
              <a:t>Bank scale: 2.3 million positions, 15,000 portfolios</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What 2.3 million positions put in the lake each day</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13</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70</a:t>
            </a:r>
          </a:p>
        </p:txBody>
      </p:sp>
      <p:graphicFrame>
        <p:nvGraphicFramePr>
          <p:cNvPr id="9" name="Table"/>
          <p:cNvGraphicFramePr>
            <a:graphicFrameLocks noGrp="1"/>
          </p:cNvGraphicFramePr>
          <p:nvPr/>
        </p:nvGraphicFramePr>
        <p:xfrm>
          <a:off x="411480" y="1188720"/>
          <a:ext cx="7680960" cy="4727448"/>
        </p:xfrm>
        <a:graphic>
          <a:graphicData uri="http://schemas.openxmlformats.org/drawingml/2006/table">
            <a:tbl>
              <a:tblPr firstRow="0" bandRow="0">
                <a:tableStyleId>{5940675A-B579-460E-94D1-54222C63F5DA}</a:tableStyleId>
              </a:tblPr>
              <a:tblGrid>
                <a:gridCol w="2743200"/>
                <a:gridCol w="2468880"/>
                <a:gridCol w="1463040"/>
                <a:gridCol w="1005840"/>
              </a:tblGrid>
              <a:tr h="429768">
                <a:tc>
                  <a:txBody>
                    <a:bodyPr wrap="square"/>
                    <a:lstStyle/>
                    <a:p>
                      <a:r>
                        <a:rPr sz="1200" b="1" i="0">
                          <a:solidFill>
                            <a:srgbClr val="FFFFFF"/>
                          </a:solidFill>
                          <a:latin typeface="Calibri"/>
                        </a:rPr>
                        <a:t>Per business date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Arithmetic</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Result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Basis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429768">
                <a:tc>
                  <a:txBody>
                    <a:bodyPr wrap="square"/>
                    <a:lstStyle/>
                    <a:p>
                      <a:r>
                        <a:rPr sz="1200" b="1" i="0">
                          <a:solidFill>
                            <a:srgbClr val="1C2433"/>
                          </a:solidFill>
                          <a:latin typeface="Calibri"/>
                        </a:rPr>
                        <a:t>P&amp;L vectors, float64 (in the lake)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2.3M × 509 × 8 B</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9.37 GB</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arithmetic</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29768">
                <a:tc>
                  <a:txBody>
                    <a:bodyPr wrap="square"/>
                    <a:lstStyle/>
                    <a:p>
                      <a:r>
                        <a:rPr sz="1200" b="1" i="0">
                          <a:solidFill>
                            <a:srgbClr val="1C2433"/>
                          </a:solidFill>
                          <a:latin typeface="Calibri"/>
                        </a:rPr>
                        <a:t>… float32 (the hot copy)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2.3M × 509 × 4 B</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4.68 GB</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arithmetic</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29768">
                <a:tc>
                  <a:txBody>
                    <a:bodyPr wrap="square"/>
                    <a:lstStyle/>
                    <a:p>
                      <a:r>
                        <a:rPr sz="1200" b="1" i="0">
                          <a:solidFill>
                            <a:srgbClr val="1C2433"/>
                          </a:solidFill>
                          <a:latin typeface="Calibri"/>
                        </a:rPr>
                        <a:t>… as Parquet (≈ 0.75 × raw)</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9.37 GB × 0.75</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 7.0 GB</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ESTIMATED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29768">
                <a:tc>
                  <a:txBody>
                    <a:bodyPr wrap="square"/>
                    <a:lstStyle/>
                    <a:p>
                      <a:r>
                        <a:rPr sz="1200" b="1" i="0">
                          <a:solidFill>
                            <a:srgbClr val="1C2433"/>
                          </a:solidFill>
                          <a:latin typeface="Calibri"/>
                        </a:rPr>
                        <a:t>… a year; 7 years kept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 252; × 7</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 1.77 TB; ≈ 12.4 TB</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ESTIMATED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29768">
                <a:tc>
                  <a:txBody>
                    <a:bodyPr wrap="square"/>
                    <a:lstStyle/>
                    <a:p>
                      <a:r>
                        <a:rPr sz="1200" b="1" i="0">
                          <a:solidFill>
                            <a:srgbClr val="1C2433"/>
                          </a:solidFill>
                          <a:latin typeface="Calibri"/>
                        </a:rPr>
                        <a:t>Partitions; files at ~512 MB</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1 (business_date); 7.03 GB ÷ 512 MB</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1; ≈ 14 files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PROPOSED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29768">
                <a:tc>
                  <a:txBody>
                    <a:bodyPr wrap="square"/>
                    <a:lstStyle/>
                    <a:p>
                      <a:r>
                        <a:rPr sz="1200" b="1" i="0">
                          <a:solidFill>
                            <a:srgbClr val="1C2433"/>
                          </a:solidFill>
                          <a:latin typeface="Calibri"/>
                        </a:rPr>
                        <a:t>A cold read of the date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7.03 GB ÷ 1 MB row groups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 7,000 GETs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arithmetic</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29768">
                <a:tc>
                  <a:txBody>
                    <a:bodyPr wrap="square"/>
                    <a:lstStyle/>
                    <a:p>
                      <a:r>
                        <a:rPr sz="1200" b="1" i="0">
                          <a:solidFill>
                            <a:srgbClr val="1C2433"/>
                          </a:solidFill>
                          <a:latin typeface="Calibri"/>
                        </a:rPr>
                        <a:t>Portfolio definitions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15,000 rows a date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small</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arithmetic</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29768">
                <a:tc>
                  <a:txBody>
                    <a:bodyPr wrap="square"/>
                    <a:lstStyle/>
                    <a:p>
                      <a:r>
                        <a:rPr sz="1200" b="1" i="0">
                          <a:solidFill>
                            <a:srgbClr val="1C2433"/>
                          </a:solidFill>
                          <a:latin typeface="Calibri"/>
                        </a:rPr>
                        <a:t>Every portfolio's vector, if stored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15k × 509 × 8 B</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 61 MB per currency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PROPOSED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29768">
                <a:tc>
                  <a:txBody>
                    <a:bodyPr wrap="square"/>
                    <a:lstStyle/>
                    <a:p>
                      <a:r>
                        <a:rPr sz="1200" b="1" i="0">
                          <a:solidFill>
                            <a:srgbClr val="1C2433"/>
                          </a:solidFill>
                          <a:latin typeface="Calibri"/>
                        </a:rPr>
                        <a:t>Kafka micro-batches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5-minute window</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 12 commits an hour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arithmetic</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29768">
                <a:tc>
                  <a:txBody>
                    <a:bodyPr wrap="square"/>
                    <a:lstStyle/>
                    <a:p>
                      <a:r>
                        <a:rPr sz="1200" b="1" i="0">
                          <a:solidFill>
                            <a:srgbClr val="1C2433"/>
                          </a:solidFill>
                          <a:latin typeface="Calibri"/>
                        </a:rPr>
                        <a:t>Intraday records on the topic</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10,000 updates × 4–8 KB</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40–80 MB a day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guide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bl>
          </a:graphicData>
        </a:graphic>
      </p:graphicFrame>
      <p:sp>
        <p:nvSpPr>
          <p:cNvPr id="10" name="Callout"/>
          <p:cNvSpPr/>
          <p:nvPr/>
        </p:nvSpPr>
        <p:spPr>
          <a:xfrm>
            <a:off x="8321040" y="1188720"/>
            <a:ext cx="3456432" cy="2377440"/>
          </a:xfrm>
          <a:prstGeom prst="roundRect">
            <a:avLst>
              <a:gd name="adj" fmla="val 6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allout edge"/>
          <p:cNvSpPr/>
          <p:nvPr/>
        </p:nvSpPr>
        <p:spPr>
          <a:xfrm>
            <a:off x="8321040" y="1207008"/>
            <a:ext cx="82296" cy="23408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8549640" y="1261872"/>
            <a:ext cx="3090672" cy="2231136"/>
          </a:xfrm>
          <a:prstGeom prst="rect">
            <a:avLst/>
          </a:prstGeom>
          <a:noFill/>
        </p:spPr>
        <p:txBody>
          <a:bodyPr wrap="square" lIns="0" rIns="0" tIns="0" bIns="0" anchor="t">
            <a:spAutoFit/>
          </a:bodyPr>
          <a:lstStyle/>
          <a:p>
            <a:pPr algn="l">
              <a:spcAft>
                <a:spcPts val="600"/>
              </a:spcAft>
              <a:buNone/>
            </a:pPr>
            <a:r>
              <a:rPr sz="1300" b="1" i="0">
                <a:solidFill>
                  <a:srgbClr val="1C2433"/>
                </a:solidFill>
                <a:latin typeface="Calibri"/>
              </a:rPr>
              <a:t>The risk lake is small next to the documents</a:t>
            </a:r>
          </a:p>
          <a:p>
            <a:pPr algn="l">
              <a:spcAft>
                <a:spcPts val="600"/>
              </a:spcAft>
              <a:buNone/>
            </a:pPr>
            <a:r>
              <a:rPr sz="1300" b="0" i="0">
                <a:solidFill>
                  <a:srgbClr val="1C2433"/>
                </a:solidFill>
                <a:latin typeface="Calibri"/>
              </a:rPr>
              <a:t>≈ 12.4 TB of VaR vectors over 7 years, against ≈ 200 TB of documents (slide 89). Exposure paths are the large table (slide 68).</a:t>
            </a:r>
          </a:p>
        </p:txBody>
      </p:sp>
      <p:sp>
        <p:nvSpPr>
          <p:cNvPr id="13" name="Callout"/>
          <p:cNvSpPr/>
          <p:nvPr/>
        </p:nvSpPr>
        <p:spPr>
          <a:xfrm>
            <a:off x="8321040" y="3749039"/>
            <a:ext cx="3456432" cy="2560320"/>
          </a:xfrm>
          <a:prstGeom prst="roundRect">
            <a:avLst>
              <a:gd name="adj" fmla="val 6000"/>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Callout edge"/>
          <p:cNvSpPr/>
          <p:nvPr/>
        </p:nvSpPr>
        <p:spPr>
          <a:xfrm>
            <a:off x="8321040" y="3767327"/>
            <a:ext cx="82296" cy="2523744"/>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xtBox 14"/>
          <p:cNvSpPr txBox="1"/>
          <p:nvPr/>
        </p:nvSpPr>
        <p:spPr>
          <a:xfrm>
            <a:off x="8549640" y="3822191"/>
            <a:ext cx="3090672" cy="2414015"/>
          </a:xfrm>
          <a:prstGeom prst="rect">
            <a:avLst/>
          </a:prstGeom>
          <a:noFill/>
        </p:spPr>
        <p:txBody>
          <a:bodyPr wrap="square" lIns="0" rIns="0" tIns="0" bIns="0" anchor="t">
            <a:spAutoFit/>
          </a:bodyPr>
          <a:lstStyle/>
          <a:p>
            <a:pPr algn="l">
              <a:spcAft>
                <a:spcPts val="600"/>
              </a:spcAft>
              <a:buNone/>
            </a:pPr>
            <a:r>
              <a:rPr sz="1300" b="1" i="0">
                <a:solidFill>
                  <a:srgbClr val="1C2433"/>
                </a:solidFill>
                <a:latin typeface="Calibri"/>
              </a:rPr>
              <a:t>Position grain (2.9.4)</a:t>
            </a:r>
          </a:p>
          <a:p>
            <a:pPr algn="l">
              <a:spcAft>
                <a:spcPts val="600"/>
              </a:spcAft>
              <a:buNone/>
            </a:pPr>
            <a:r>
              <a:rPr sz="1300" b="0" i="0">
                <a:solidFill>
                  <a:srgbClr val="1C2433"/>
                </a:solidFill>
                <a:latin typeface="Calibri"/>
              </a:rPr>
              <a:t>A system may send one row per position: rows = positions, so 2.3M rows a date whatever the trade count. 15,000 portfolios are far under the 100,000-row read limit.</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Where Delta matters at bank scale</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13</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71</a:t>
            </a:r>
          </a:p>
        </p:txBody>
      </p:sp>
      <p:sp>
        <p:nvSpPr>
          <p:cNvPr id="9" name="Rounded Rectangle 8"/>
          <p:cNvSpPr/>
          <p:nvPr/>
        </p:nvSpPr>
        <p:spPr>
          <a:xfrm>
            <a:off x="411480" y="1188720"/>
            <a:ext cx="3685032" cy="1143000"/>
          </a:xfrm>
          <a:prstGeom prst="roundRect">
            <a:avLst>
              <a:gd name="adj" fmla="val 6000"/>
            </a:avLst>
          </a:prstGeom>
          <a:solidFill>
            <a:srgbClr val="DDEE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TextBox 9"/>
          <p:cNvSpPr txBox="1"/>
          <p:nvPr/>
        </p:nvSpPr>
        <p:spPr>
          <a:xfrm>
            <a:off x="521208" y="1261872"/>
            <a:ext cx="2359152" cy="566928"/>
          </a:xfrm>
          <a:prstGeom prst="rect">
            <a:avLst/>
          </a:prstGeom>
          <a:noFill/>
        </p:spPr>
        <p:txBody>
          <a:bodyPr wrap="square" lIns="0" rIns="0" tIns="0" bIns="0" anchor="t">
            <a:spAutoFit/>
          </a:bodyPr>
          <a:lstStyle/>
          <a:p>
            <a:pPr algn="l">
              <a:spcAft>
                <a:spcPts val="600"/>
              </a:spcAft>
              <a:buNone/>
            </a:pPr>
            <a:r>
              <a:rPr sz="1300" b="1" i="0">
                <a:solidFill>
                  <a:srgbClr val="0B1E3B"/>
                </a:solidFill>
                <a:latin typeface="Calibri"/>
              </a:rPr>
              <a:t>Partition by business_date</a:t>
            </a:r>
          </a:p>
        </p:txBody>
      </p:sp>
      <p:sp>
        <p:nvSpPr>
          <p:cNvPr id="11" name="Status BUILT"/>
          <p:cNvSpPr/>
          <p:nvPr/>
        </p:nvSpPr>
        <p:spPr>
          <a:xfrm>
            <a:off x="2953512" y="1280160"/>
            <a:ext cx="1051560" cy="237744"/>
          </a:xfrm>
          <a:prstGeom prst="roundRect">
            <a:avLst>
              <a:gd name="adj" fmla="val 50000"/>
            </a:avLst>
          </a:prstGeom>
          <a:solidFill>
            <a:srgbClr val="0E7C86"/>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000" b="1" i="0">
                <a:solidFill>
                  <a:srgbClr val="FFFFFF"/>
                </a:solidFill>
                <a:latin typeface="Calibri"/>
              </a:rPr>
              <a:t>BUILT</a:t>
            </a:r>
          </a:p>
        </p:txBody>
      </p:sp>
      <p:sp>
        <p:nvSpPr>
          <p:cNvPr id="12" name="TextBox 11"/>
          <p:cNvSpPr txBox="1"/>
          <p:nvPr/>
        </p:nvSpPr>
        <p:spPr>
          <a:xfrm>
            <a:off x="521208" y="1828800"/>
            <a:ext cx="3465576" cy="457200"/>
          </a:xfrm>
          <a:prstGeom prst="rect">
            <a:avLst/>
          </a:prstGeom>
          <a:noFill/>
        </p:spPr>
        <p:txBody>
          <a:bodyPr wrap="square" lIns="0" rIns="0" tIns="0" bIns="0" anchor="t">
            <a:spAutoFit/>
          </a:bodyPr>
          <a:lstStyle/>
          <a:p>
            <a:pPr algn="l">
              <a:spcAft>
                <a:spcPts val="600"/>
              </a:spcAft>
              <a:buNone/>
            </a:pPr>
            <a:r>
              <a:rPr sz="1200" b="0" i="0">
                <a:solidFill>
                  <a:srgbClr val="1C2433"/>
                </a:solidFill>
                <a:latin typeface="Calibri"/>
              </a:rPr>
              <a:t>a full run replaces its date; intraday batches append</a:t>
            </a:r>
          </a:p>
        </p:txBody>
      </p:sp>
      <p:sp>
        <p:nvSpPr>
          <p:cNvPr id="13" name="Rounded Rectangle 12"/>
          <p:cNvSpPr/>
          <p:nvPr/>
        </p:nvSpPr>
        <p:spPr>
          <a:xfrm>
            <a:off x="4251960" y="1188720"/>
            <a:ext cx="3685032" cy="1143000"/>
          </a:xfrm>
          <a:prstGeom prst="roundRect">
            <a:avLst>
              <a:gd name="adj" fmla="val 6000"/>
            </a:avLst>
          </a:prstGeom>
          <a:solidFill>
            <a:srgbClr val="DDEE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4361688" y="1261872"/>
            <a:ext cx="2359152" cy="566928"/>
          </a:xfrm>
          <a:prstGeom prst="rect">
            <a:avLst/>
          </a:prstGeom>
          <a:noFill/>
        </p:spPr>
        <p:txBody>
          <a:bodyPr wrap="square" lIns="0" rIns="0" tIns="0" bIns="0" anchor="t">
            <a:spAutoFit/>
          </a:bodyPr>
          <a:lstStyle/>
          <a:p>
            <a:pPr algn="l">
              <a:spcAft>
                <a:spcPts val="600"/>
              </a:spcAft>
              <a:buNone/>
            </a:pPr>
            <a:r>
              <a:rPr sz="1300" b="1" i="0">
                <a:solidFill>
                  <a:srgbClr val="0B1E3B"/>
                </a:solidFill>
                <a:latin typeface="Calibri"/>
              </a:rPr>
              <a:t>Vector column list&lt;double&gt;</a:t>
            </a:r>
          </a:p>
        </p:txBody>
      </p:sp>
      <p:sp>
        <p:nvSpPr>
          <p:cNvPr id="15" name="Status BUILT"/>
          <p:cNvSpPr/>
          <p:nvPr/>
        </p:nvSpPr>
        <p:spPr>
          <a:xfrm>
            <a:off x="6793992" y="1280160"/>
            <a:ext cx="1051560" cy="237744"/>
          </a:xfrm>
          <a:prstGeom prst="roundRect">
            <a:avLst>
              <a:gd name="adj" fmla="val 50000"/>
            </a:avLst>
          </a:prstGeom>
          <a:solidFill>
            <a:srgbClr val="0E7C86"/>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000" b="1" i="0">
                <a:solidFill>
                  <a:srgbClr val="FFFFFF"/>
                </a:solidFill>
                <a:latin typeface="Calibri"/>
              </a:rPr>
              <a:t>BUILT</a:t>
            </a:r>
          </a:p>
        </p:txBody>
      </p:sp>
      <p:sp>
        <p:nvSpPr>
          <p:cNvPr id="16" name="TextBox 15"/>
          <p:cNvSpPr txBox="1"/>
          <p:nvPr/>
        </p:nvSpPr>
        <p:spPr>
          <a:xfrm>
            <a:off x="4361688" y="1828800"/>
            <a:ext cx="3465576" cy="457200"/>
          </a:xfrm>
          <a:prstGeom prst="rect">
            <a:avLst/>
          </a:prstGeom>
          <a:noFill/>
        </p:spPr>
        <p:txBody>
          <a:bodyPr wrap="square" lIns="0" rIns="0" tIns="0" bIns="0" anchor="t">
            <a:spAutoFit/>
          </a:bodyPr>
          <a:lstStyle/>
          <a:p>
            <a:pPr algn="l">
              <a:spcAft>
                <a:spcPts val="600"/>
              </a:spcAft>
              <a:buNone/>
            </a:pPr>
            <a:r>
              <a:rPr sz="1200" b="0" i="0">
                <a:solidFill>
                  <a:srgbClr val="1C2433"/>
                </a:solidFill>
                <a:latin typeface="Calibri"/>
              </a:rPr>
              <a:t>standard Parquet; a sum reads one column</a:t>
            </a:r>
          </a:p>
        </p:txBody>
      </p:sp>
      <p:sp>
        <p:nvSpPr>
          <p:cNvPr id="17" name="Rounded Rectangle 16"/>
          <p:cNvSpPr/>
          <p:nvPr/>
        </p:nvSpPr>
        <p:spPr>
          <a:xfrm>
            <a:off x="8092440" y="1188720"/>
            <a:ext cx="3685032" cy="1143000"/>
          </a:xfrm>
          <a:prstGeom prst="roundRect">
            <a:avLst>
              <a:gd name="adj" fmla="val 6000"/>
            </a:avLst>
          </a:prstGeom>
          <a:solidFill>
            <a:srgbClr val="DDEE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xtBox 17"/>
          <p:cNvSpPr txBox="1"/>
          <p:nvPr/>
        </p:nvSpPr>
        <p:spPr>
          <a:xfrm>
            <a:off x="8202167" y="1261872"/>
            <a:ext cx="2359152" cy="566928"/>
          </a:xfrm>
          <a:prstGeom prst="rect">
            <a:avLst/>
          </a:prstGeom>
          <a:noFill/>
        </p:spPr>
        <p:txBody>
          <a:bodyPr wrap="square" lIns="0" rIns="0" tIns="0" bIns="0" anchor="t">
            <a:spAutoFit/>
          </a:bodyPr>
          <a:lstStyle/>
          <a:p>
            <a:pPr algn="l">
              <a:spcAft>
                <a:spcPts val="600"/>
              </a:spcAft>
              <a:buNone/>
            </a:pPr>
            <a:r>
              <a:rPr sz="1300" b="1" i="0">
                <a:solidFill>
                  <a:srgbClr val="0B1E3B"/>
                </a:solidFill>
                <a:latin typeface="Calibri"/>
              </a:rPr>
              <a:t>Time travel 7 years</a:t>
            </a:r>
          </a:p>
        </p:txBody>
      </p:sp>
      <p:sp>
        <p:nvSpPr>
          <p:cNvPr id="19" name="Status BUILT"/>
          <p:cNvSpPr/>
          <p:nvPr/>
        </p:nvSpPr>
        <p:spPr>
          <a:xfrm>
            <a:off x="10634472" y="1280160"/>
            <a:ext cx="1051560" cy="237744"/>
          </a:xfrm>
          <a:prstGeom prst="roundRect">
            <a:avLst>
              <a:gd name="adj" fmla="val 50000"/>
            </a:avLst>
          </a:prstGeom>
          <a:solidFill>
            <a:srgbClr val="0E7C86"/>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000" b="1" i="0">
                <a:solidFill>
                  <a:srgbClr val="FFFFFF"/>
                </a:solidFill>
                <a:latin typeface="Calibri"/>
              </a:rPr>
              <a:t>BUILT</a:t>
            </a:r>
          </a:p>
        </p:txBody>
      </p:sp>
      <p:sp>
        <p:nvSpPr>
          <p:cNvPr id="20" name="TextBox 19"/>
          <p:cNvSpPr txBox="1"/>
          <p:nvPr/>
        </p:nvSpPr>
        <p:spPr>
          <a:xfrm>
            <a:off x="8202167" y="1828800"/>
            <a:ext cx="3465576" cy="457200"/>
          </a:xfrm>
          <a:prstGeom prst="rect">
            <a:avLst/>
          </a:prstGeom>
          <a:noFill/>
        </p:spPr>
        <p:txBody>
          <a:bodyPr wrap="square" lIns="0" rIns="0" tIns="0" bIns="0" anchor="t">
            <a:spAutoFit/>
          </a:bodyPr>
          <a:lstStyle/>
          <a:p>
            <a:pPr algn="l">
              <a:spcAft>
                <a:spcPts val="600"/>
              </a:spcAft>
              <a:buNone/>
            </a:pPr>
            <a:r>
              <a:rPr sz="1200" b="0" i="0">
                <a:solidFill>
                  <a:srgbClr val="1C2433"/>
                </a:solidFill>
                <a:latin typeface="Calibri"/>
              </a:rPr>
              <a:t>a restatement is a new commit; reproduce any official number</a:t>
            </a:r>
          </a:p>
        </p:txBody>
      </p:sp>
      <p:sp>
        <p:nvSpPr>
          <p:cNvPr id="21" name="Rounded Rectangle 20"/>
          <p:cNvSpPr/>
          <p:nvPr/>
        </p:nvSpPr>
        <p:spPr>
          <a:xfrm>
            <a:off x="411480" y="2468880"/>
            <a:ext cx="3685032" cy="1143000"/>
          </a:xfrm>
          <a:prstGeom prst="roundRect">
            <a:avLst>
              <a:gd name="adj" fmla="val 6000"/>
            </a:avLst>
          </a:prstGeom>
          <a:solidFill>
            <a:srgbClr val="DDEE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TextBox 21"/>
          <p:cNvSpPr txBox="1"/>
          <p:nvPr/>
        </p:nvSpPr>
        <p:spPr>
          <a:xfrm>
            <a:off x="521208" y="2542032"/>
            <a:ext cx="2359152" cy="566928"/>
          </a:xfrm>
          <a:prstGeom prst="rect">
            <a:avLst/>
          </a:prstGeom>
          <a:noFill/>
        </p:spPr>
        <p:txBody>
          <a:bodyPr wrap="square" lIns="0" rIns="0" tIns="0" bIns="0" anchor="t">
            <a:spAutoFit/>
          </a:bodyPr>
          <a:lstStyle/>
          <a:p>
            <a:pPr algn="l">
              <a:spcAft>
                <a:spcPts val="600"/>
              </a:spcAft>
              <a:buNone/>
            </a:pPr>
            <a:r>
              <a:rPr sz="1300" b="1" i="0">
                <a:solidFill>
                  <a:srgbClr val="0B1E3B"/>
                </a:solidFill>
                <a:latin typeface="Calibri"/>
              </a:rPr>
              <a:t>Checkpoints + lake maintain</a:t>
            </a:r>
          </a:p>
        </p:txBody>
      </p:sp>
      <p:sp>
        <p:nvSpPr>
          <p:cNvPr id="23" name="Status BUILT"/>
          <p:cNvSpPr/>
          <p:nvPr/>
        </p:nvSpPr>
        <p:spPr>
          <a:xfrm>
            <a:off x="2953512" y="2560320"/>
            <a:ext cx="1051560" cy="237744"/>
          </a:xfrm>
          <a:prstGeom prst="roundRect">
            <a:avLst>
              <a:gd name="adj" fmla="val 50000"/>
            </a:avLst>
          </a:prstGeom>
          <a:solidFill>
            <a:srgbClr val="0E7C86"/>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000" b="1" i="0">
                <a:solidFill>
                  <a:srgbClr val="FFFFFF"/>
                </a:solidFill>
                <a:latin typeface="Calibri"/>
              </a:rPr>
              <a:t>BUILT</a:t>
            </a:r>
          </a:p>
        </p:txBody>
      </p:sp>
      <p:sp>
        <p:nvSpPr>
          <p:cNvPr id="24" name="TextBox 23"/>
          <p:cNvSpPr txBox="1"/>
          <p:nvPr/>
        </p:nvSpPr>
        <p:spPr>
          <a:xfrm>
            <a:off x="521208" y="3108960"/>
            <a:ext cx="3465576" cy="457200"/>
          </a:xfrm>
          <a:prstGeom prst="rect">
            <a:avLst/>
          </a:prstGeom>
          <a:noFill/>
        </p:spPr>
        <p:txBody>
          <a:bodyPr wrap="square" lIns="0" rIns="0" tIns="0" bIns="0" anchor="t">
            <a:spAutoFit/>
          </a:bodyPr>
          <a:lstStyle/>
          <a:p>
            <a:pPr algn="l">
              <a:spcAft>
                <a:spcPts val="600"/>
              </a:spcAft>
              <a:buNone/>
            </a:pPr>
            <a:r>
              <a:rPr sz="1200" b="0" i="0">
                <a:solidFill>
                  <a:srgbClr val="1C2433"/>
                </a:solidFill>
                <a:latin typeface="Calibri"/>
              </a:rPr>
              <a:t>many small intraday commits stay fast; 7-year floor</a:t>
            </a:r>
          </a:p>
        </p:txBody>
      </p:sp>
      <p:sp>
        <p:nvSpPr>
          <p:cNvPr id="25" name="Rounded Rectangle 24"/>
          <p:cNvSpPr/>
          <p:nvPr/>
        </p:nvSpPr>
        <p:spPr>
          <a:xfrm>
            <a:off x="4251960" y="2468880"/>
            <a:ext cx="3685032" cy="1143000"/>
          </a:xfrm>
          <a:prstGeom prst="roundRect">
            <a:avLst>
              <a:gd name="adj" fmla="val 6000"/>
            </a:avLst>
          </a:prstGeom>
          <a:solidFill>
            <a:srgbClr val="DDEE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xtBox 25"/>
          <p:cNvSpPr txBox="1"/>
          <p:nvPr/>
        </p:nvSpPr>
        <p:spPr>
          <a:xfrm>
            <a:off x="4361688" y="2542032"/>
            <a:ext cx="2359152" cy="566928"/>
          </a:xfrm>
          <a:prstGeom prst="rect">
            <a:avLst/>
          </a:prstGeom>
          <a:noFill/>
        </p:spPr>
        <p:txBody>
          <a:bodyPr wrap="square" lIns="0" rIns="0" tIns="0" bIns="0" anchor="t">
            <a:spAutoFit/>
          </a:bodyPr>
          <a:lstStyle/>
          <a:p>
            <a:pPr algn="l">
              <a:spcAft>
                <a:spcPts val="600"/>
              </a:spcAft>
              <a:buNone/>
            </a:pPr>
            <a:r>
              <a:rPr sz="1300" b="1" i="0">
                <a:solidFill>
                  <a:srgbClr val="0B1E3B"/>
                </a:solidFill>
                <a:latin typeface="Calibri"/>
              </a:rPr>
              <a:t>Official results append-only</a:t>
            </a:r>
          </a:p>
        </p:txBody>
      </p:sp>
      <p:sp>
        <p:nvSpPr>
          <p:cNvPr id="27" name="Status BUILT"/>
          <p:cNvSpPr/>
          <p:nvPr/>
        </p:nvSpPr>
        <p:spPr>
          <a:xfrm>
            <a:off x="6793992" y="2560320"/>
            <a:ext cx="1051560" cy="237744"/>
          </a:xfrm>
          <a:prstGeom prst="roundRect">
            <a:avLst>
              <a:gd name="adj" fmla="val 50000"/>
            </a:avLst>
          </a:prstGeom>
          <a:solidFill>
            <a:srgbClr val="0E7C86"/>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000" b="1" i="0">
                <a:solidFill>
                  <a:srgbClr val="FFFFFF"/>
                </a:solidFill>
                <a:latin typeface="Calibri"/>
              </a:rPr>
              <a:t>BUILT</a:t>
            </a:r>
          </a:p>
        </p:txBody>
      </p:sp>
      <p:sp>
        <p:nvSpPr>
          <p:cNvPr id="28" name="TextBox 27"/>
          <p:cNvSpPr txBox="1"/>
          <p:nvPr/>
        </p:nvSpPr>
        <p:spPr>
          <a:xfrm>
            <a:off x="4361688" y="3108960"/>
            <a:ext cx="3465576" cy="457200"/>
          </a:xfrm>
          <a:prstGeom prst="rect">
            <a:avLst/>
          </a:prstGeom>
          <a:noFill/>
        </p:spPr>
        <p:txBody>
          <a:bodyPr wrap="square" lIns="0" rIns="0" tIns="0" bIns="0" anchor="t">
            <a:spAutoFit/>
          </a:bodyPr>
          <a:lstStyle/>
          <a:p>
            <a:pPr algn="l">
              <a:spcAft>
                <a:spcPts val="600"/>
              </a:spcAft>
              <a:buNone/>
            </a:pPr>
            <a:r>
              <a:rPr sz="1200" b="0" i="0">
                <a:solidFill>
                  <a:srgbClr val="1C2433"/>
                </a:solidFill>
                <a:latin typeface="Calibri"/>
              </a:rPr>
              <a:t>Delta + JSONL beside, on </a:t>
            </a:r>
            <a:r>
              <a:rPr sz="1100" b="0" i="0">
                <a:solidFill>
                  <a:srgbClr val="0E7C86"/>
                </a:solidFill>
                <a:latin typeface="Consolas"/>
              </a:rPr>
              <a:t>s3://</a:t>
            </a:r>
            <a:r>
              <a:rPr sz="1200" b="0" i="0">
                <a:solidFill>
                  <a:srgbClr val="1C2433"/>
                </a:solidFill>
                <a:latin typeface="Calibri"/>
              </a:rPr>
              <a:t> (2.9.5)</a:t>
            </a:r>
          </a:p>
        </p:txBody>
      </p:sp>
      <p:sp>
        <p:nvSpPr>
          <p:cNvPr id="29" name="Rounded Rectangle 28"/>
          <p:cNvSpPr/>
          <p:nvPr/>
        </p:nvSpPr>
        <p:spPr>
          <a:xfrm>
            <a:off x="8092440" y="2468880"/>
            <a:ext cx="3685032" cy="1143000"/>
          </a:xfrm>
          <a:prstGeom prst="roundRect">
            <a:avLst>
              <a:gd name="adj" fmla="val 6000"/>
            </a:avLst>
          </a:prstGeom>
          <a:solidFill>
            <a:srgbClr val="DDEE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xtBox 29"/>
          <p:cNvSpPr txBox="1"/>
          <p:nvPr/>
        </p:nvSpPr>
        <p:spPr>
          <a:xfrm>
            <a:off x="8202167" y="2542032"/>
            <a:ext cx="2359152" cy="566928"/>
          </a:xfrm>
          <a:prstGeom prst="rect">
            <a:avLst/>
          </a:prstGeom>
          <a:noFill/>
        </p:spPr>
        <p:txBody>
          <a:bodyPr wrap="square" lIns="0" rIns="0" tIns="0" bIns="0" anchor="t">
            <a:spAutoFit/>
          </a:bodyPr>
          <a:lstStyle/>
          <a:p>
            <a:pPr algn="l">
              <a:spcAft>
                <a:spcPts val="600"/>
              </a:spcAft>
              <a:buNone/>
            </a:pPr>
            <a:r>
              <a:rPr sz="1300" b="1" i="0">
                <a:solidFill>
                  <a:srgbClr val="0B1E3B"/>
                </a:solidFill>
                <a:latin typeface="Calibri"/>
              </a:rPr>
              <a:t>Delta read from S3</a:t>
            </a:r>
          </a:p>
        </p:txBody>
      </p:sp>
      <p:sp>
        <p:nvSpPr>
          <p:cNvPr id="31" name="Status BUILT"/>
          <p:cNvSpPr/>
          <p:nvPr/>
        </p:nvSpPr>
        <p:spPr>
          <a:xfrm>
            <a:off x="10634472" y="2560320"/>
            <a:ext cx="1051560" cy="237744"/>
          </a:xfrm>
          <a:prstGeom prst="roundRect">
            <a:avLst>
              <a:gd name="adj" fmla="val 50000"/>
            </a:avLst>
          </a:prstGeom>
          <a:solidFill>
            <a:srgbClr val="0E7C86"/>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000" b="1" i="0">
                <a:solidFill>
                  <a:srgbClr val="FFFFFF"/>
                </a:solidFill>
                <a:latin typeface="Calibri"/>
              </a:rPr>
              <a:t>BUILT</a:t>
            </a:r>
          </a:p>
        </p:txBody>
      </p:sp>
      <p:sp>
        <p:nvSpPr>
          <p:cNvPr id="32" name="TextBox 31"/>
          <p:cNvSpPr txBox="1"/>
          <p:nvPr/>
        </p:nvSpPr>
        <p:spPr>
          <a:xfrm>
            <a:off x="8202167" y="3108960"/>
            <a:ext cx="3465576" cy="457200"/>
          </a:xfrm>
          <a:prstGeom prst="rect">
            <a:avLst/>
          </a:prstGeom>
          <a:noFill/>
        </p:spPr>
        <p:txBody>
          <a:bodyPr wrap="square" lIns="0" rIns="0" tIns="0" bIns="0" anchor="t">
            <a:spAutoFit/>
          </a:bodyPr>
          <a:lstStyle/>
          <a:p>
            <a:pPr algn="l">
              <a:spcAft>
                <a:spcPts val="600"/>
              </a:spcAft>
              <a:buNone/>
            </a:pPr>
            <a:r>
              <a:rPr sz="1200" b="0" i="0">
                <a:solidFill>
                  <a:srgbClr val="1C2433"/>
                </a:solidFill>
                <a:latin typeface="Calibri"/>
              </a:rPr>
              <a:t>ranged GETs; one row group; footers cached</a:t>
            </a:r>
          </a:p>
        </p:txBody>
      </p:sp>
      <p:sp>
        <p:nvSpPr>
          <p:cNvPr id="33" name="Rounded Rectangle 32"/>
          <p:cNvSpPr/>
          <p:nvPr/>
        </p:nvSpPr>
        <p:spPr>
          <a:xfrm>
            <a:off x="411480" y="3749039"/>
            <a:ext cx="3685032" cy="114300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TextBox 33"/>
          <p:cNvSpPr txBox="1"/>
          <p:nvPr/>
        </p:nvSpPr>
        <p:spPr>
          <a:xfrm>
            <a:off x="521208" y="3822191"/>
            <a:ext cx="2359152" cy="566928"/>
          </a:xfrm>
          <a:prstGeom prst="rect">
            <a:avLst/>
          </a:prstGeom>
          <a:noFill/>
        </p:spPr>
        <p:txBody>
          <a:bodyPr wrap="square" lIns="0" rIns="0" tIns="0" bIns="0" anchor="t">
            <a:spAutoFit/>
          </a:bodyPr>
          <a:lstStyle/>
          <a:p>
            <a:pPr algn="l">
              <a:spcAft>
                <a:spcPts val="600"/>
              </a:spcAft>
              <a:buNone/>
            </a:pPr>
            <a:r>
              <a:rPr sz="1300" b="1" i="0">
                <a:solidFill>
                  <a:srgbClr val="0B1E3B"/>
                </a:solidFill>
                <a:latin typeface="Calibri"/>
              </a:rPr>
              <a:t>VaR sharding across servers</a:t>
            </a:r>
          </a:p>
        </p:txBody>
      </p:sp>
      <p:sp>
        <p:nvSpPr>
          <p:cNvPr id="35" name="Status DESIGNED"/>
          <p:cNvSpPr/>
          <p:nvPr/>
        </p:nvSpPr>
        <p:spPr>
          <a:xfrm>
            <a:off x="2953512" y="3840479"/>
            <a:ext cx="1051560" cy="237744"/>
          </a:xfrm>
          <a:prstGeom prst="roundRect">
            <a:avLst>
              <a:gd name="adj" fmla="val 50000"/>
            </a:avLst>
          </a:prstGeom>
          <a:solidFill>
            <a:srgbClr val="FFFFFF"/>
          </a:solidFill>
          <a:ln w="15875">
            <a:solidFill>
              <a:srgbClr val="0B1E3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000" b="1" i="0">
                <a:solidFill>
                  <a:srgbClr val="0B1E3B"/>
                </a:solidFill>
                <a:latin typeface="Calibri"/>
              </a:rPr>
              <a:t>DESIGNED</a:t>
            </a:r>
          </a:p>
        </p:txBody>
      </p:sp>
      <p:sp>
        <p:nvSpPr>
          <p:cNvPr id="36" name="TextBox 35"/>
          <p:cNvSpPr txBox="1"/>
          <p:nvPr/>
        </p:nvSpPr>
        <p:spPr>
          <a:xfrm>
            <a:off x="521208" y="4389120"/>
            <a:ext cx="3465576" cy="457200"/>
          </a:xfrm>
          <a:prstGeom prst="rect">
            <a:avLst/>
          </a:prstGeom>
          <a:noFill/>
        </p:spPr>
        <p:txBody>
          <a:bodyPr wrap="square" lIns="0" rIns="0" tIns="0" bIns="0" anchor="t">
            <a:spAutoFit/>
          </a:bodyPr>
          <a:lstStyle/>
          <a:p>
            <a:pPr algn="l">
              <a:spcAft>
                <a:spcPts val="600"/>
              </a:spcAft>
              <a:buNone/>
            </a:pPr>
            <a:r>
              <a:rPr sz="1200" b="0" i="0">
                <a:solidFill>
                  <a:srgbClr val="1C2433"/>
                </a:solidFill>
                <a:latin typeface="Calibri"/>
              </a:rPr>
              <a:t>each server maps its ranges; partial vectors added (2.9.6)</a:t>
            </a:r>
          </a:p>
        </p:txBody>
      </p:sp>
      <p:sp>
        <p:nvSpPr>
          <p:cNvPr id="37" name="Rounded Rectangle 36"/>
          <p:cNvSpPr/>
          <p:nvPr/>
        </p:nvSpPr>
        <p:spPr>
          <a:xfrm>
            <a:off x="4251960" y="3749039"/>
            <a:ext cx="3685032" cy="1143000"/>
          </a:xfrm>
          <a:prstGeom prst="roundRect">
            <a:avLst>
              <a:gd name="adj" fmla="val 6000"/>
            </a:avLst>
          </a:prstGeom>
          <a:solidFill>
            <a:srgbClr val="FFF4E6"/>
          </a:solidFill>
          <a:ln w="9525">
            <a:solidFill>
              <a:srgbClr val="E87A1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xtBox 37"/>
          <p:cNvSpPr txBox="1"/>
          <p:nvPr/>
        </p:nvSpPr>
        <p:spPr>
          <a:xfrm>
            <a:off x="4361688" y="3822191"/>
            <a:ext cx="2359152" cy="566928"/>
          </a:xfrm>
          <a:prstGeom prst="rect">
            <a:avLst/>
          </a:prstGeom>
          <a:noFill/>
        </p:spPr>
        <p:txBody>
          <a:bodyPr wrap="square" lIns="0" rIns="0" tIns="0" bIns="0" anchor="t">
            <a:spAutoFit/>
          </a:bodyPr>
          <a:lstStyle/>
          <a:p>
            <a:pPr algn="l">
              <a:spcAft>
                <a:spcPts val="600"/>
              </a:spcAft>
              <a:buNone/>
            </a:pPr>
            <a:r>
              <a:rPr sz="1300" b="1" i="0">
                <a:solidFill>
                  <a:srgbClr val="0B1E3B"/>
                </a:solidFill>
                <a:latin typeface="Calibri"/>
              </a:rPr>
              <a:t>Sort by LE, desk, book; ZSTD + BSS</a:t>
            </a:r>
          </a:p>
        </p:txBody>
      </p:sp>
      <p:sp>
        <p:nvSpPr>
          <p:cNvPr id="39" name="Status PROPOSED"/>
          <p:cNvSpPr/>
          <p:nvPr/>
        </p:nvSpPr>
        <p:spPr>
          <a:xfrm>
            <a:off x="6793992" y="3840479"/>
            <a:ext cx="1051560" cy="237744"/>
          </a:xfrm>
          <a:prstGeom prst="roundRect">
            <a:avLst>
              <a:gd name="adj" fmla="val 50000"/>
            </a:avLst>
          </a:prstGeom>
          <a:solidFill>
            <a:srgbClr val="FFFFFF"/>
          </a:solidFill>
          <a:ln w="15875">
            <a:solidFill>
              <a:srgbClr val="E87A1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000" b="1" i="0">
                <a:solidFill>
                  <a:srgbClr val="E87A1E"/>
                </a:solidFill>
                <a:latin typeface="Calibri"/>
              </a:rPr>
              <a:t>PROPOSED</a:t>
            </a:r>
          </a:p>
        </p:txBody>
      </p:sp>
      <p:sp>
        <p:nvSpPr>
          <p:cNvPr id="40" name="TextBox 39"/>
          <p:cNvSpPr txBox="1"/>
          <p:nvPr/>
        </p:nvSpPr>
        <p:spPr>
          <a:xfrm>
            <a:off x="4361688" y="4389120"/>
            <a:ext cx="3465576" cy="457200"/>
          </a:xfrm>
          <a:prstGeom prst="rect">
            <a:avLst/>
          </a:prstGeom>
          <a:noFill/>
        </p:spPr>
        <p:txBody>
          <a:bodyPr wrap="square" lIns="0" rIns="0" tIns="0" bIns="0" anchor="t">
            <a:spAutoFit/>
          </a:bodyPr>
          <a:lstStyle/>
          <a:p>
            <a:pPr algn="l">
              <a:spcAft>
                <a:spcPts val="600"/>
              </a:spcAft>
              <a:buNone/>
            </a:pPr>
            <a:r>
              <a:rPr sz="1200" b="0" i="0">
                <a:solidFill>
                  <a:srgbClr val="1C2433"/>
                </a:solidFill>
                <a:latin typeface="Calibri"/>
              </a:rPr>
              <a:t>a node is a contiguous run of rows</a:t>
            </a:r>
          </a:p>
        </p:txBody>
      </p:sp>
      <p:sp>
        <p:nvSpPr>
          <p:cNvPr id="41" name="Rounded Rectangle 40"/>
          <p:cNvSpPr/>
          <p:nvPr/>
        </p:nvSpPr>
        <p:spPr>
          <a:xfrm>
            <a:off x="8092440" y="3749039"/>
            <a:ext cx="3685032" cy="1143000"/>
          </a:xfrm>
          <a:prstGeom prst="roundRect">
            <a:avLst>
              <a:gd name="adj" fmla="val 6000"/>
            </a:avLst>
          </a:prstGeom>
          <a:solidFill>
            <a:srgbClr val="FFF4E6"/>
          </a:solidFill>
          <a:ln w="9525">
            <a:solidFill>
              <a:srgbClr val="E87A1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xtBox 41"/>
          <p:cNvSpPr txBox="1"/>
          <p:nvPr/>
        </p:nvSpPr>
        <p:spPr>
          <a:xfrm>
            <a:off x="8202167" y="3822191"/>
            <a:ext cx="2359152" cy="566928"/>
          </a:xfrm>
          <a:prstGeom prst="rect">
            <a:avLst/>
          </a:prstGeom>
          <a:noFill/>
        </p:spPr>
        <p:txBody>
          <a:bodyPr wrap="square" lIns="0" rIns="0" tIns="0" bIns="0" anchor="t">
            <a:spAutoFit/>
          </a:bodyPr>
          <a:lstStyle/>
          <a:p>
            <a:pPr algn="l">
              <a:spcAft>
                <a:spcPts val="600"/>
              </a:spcAft>
              <a:buNone/>
            </a:pPr>
            <a:r>
              <a:rPr sz="1300" b="1" i="0">
                <a:solidFill>
                  <a:srgbClr val="0B1E3B"/>
                </a:solidFill>
                <a:latin typeface="Calibri"/>
              </a:rPr>
              <a:t>Z-order / liquid clustering</a:t>
            </a:r>
          </a:p>
        </p:txBody>
      </p:sp>
      <p:sp>
        <p:nvSpPr>
          <p:cNvPr id="43" name="Status PROPOSED"/>
          <p:cNvSpPr/>
          <p:nvPr/>
        </p:nvSpPr>
        <p:spPr>
          <a:xfrm>
            <a:off x="10634472" y="3840479"/>
            <a:ext cx="1051560" cy="237744"/>
          </a:xfrm>
          <a:prstGeom prst="roundRect">
            <a:avLst>
              <a:gd name="adj" fmla="val 50000"/>
            </a:avLst>
          </a:prstGeom>
          <a:solidFill>
            <a:srgbClr val="FFFFFF"/>
          </a:solidFill>
          <a:ln w="15875">
            <a:solidFill>
              <a:srgbClr val="E87A1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000" b="1" i="0">
                <a:solidFill>
                  <a:srgbClr val="E87A1E"/>
                </a:solidFill>
                <a:latin typeface="Calibri"/>
              </a:rPr>
              <a:t>PROPOSED</a:t>
            </a:r>
          </a:p>
        </p:txBody>
      </p:sp>
      <p:sp>
        <p:nvSpPr>
          <p:cNvPr id="44" name="TextBox 43"/>
          <p:cNvSpPr txBox="1"/>
          <p:nvPr/>
        </p:nvSpPr>
        <p:spPr>
          <a:xfrm>
            <a:off x="8202167" y="4389120"/>
            <a:ext cx="3465576" cy="457200"/>
          </a:xfrm>
          <a:prstGeom prst="rect">
            <a:avLst/>
          </a:prstGeom>
          <a:noFill/>
        </p:spPr>
        <p:txBody>
          <a:bodyPr wrap="square" lIns="0" rIns="0" tIns="0" bIns="0" anchor="t">
            <a:spAutoFit/>
          </a:bodyPr>
          <a:lstStyle/>
          <a:p>
            <a:pPr algn="l">
              <a:spcAft>
                <a:spcPts val="600"/>
              </a:spcAft>
              <a:buNone/>
            </a:pPr>
            <a:r>
              <a:rPr sz="1200" b="0" i="0">
                <a:solidFill>
                  <a:srgbClr val="1C2433"/>
                </a:solidFill>
                <a:latin typeface="Calibri"/>
              </a:rPr>
              <a:t>skip files for a desk's or portfolio's read</a:t>
            </a:r>
          </a:p>
        </p:txBody>
      </p:sp>
      <p:sp>
        <p:nvSpPr>
          <p:cNvPr id="45" name="Rounded Rectangle 44"/>
          <p:cNvSpPr/>
          <p:nvPr/>
        </p:nvSpPr>
        <p:spPr>
          <a:xfrm>
            <a:off x="411480" y="5029199"/>
            <a:ext cx="3685032" cy="1143000"/>
          </a:xfrm>
          <a:prstGeom prst="roundRect">
            <a:avLst>
              <a:gd name="adj" fmla="val 6000"/>
            </a:avLst>
          </a:prstGeom>
          <a:solidFill>
            <a:srgbClr val="FFF4E6"/>
          </a:solidFill>
          <a:ln w="9525">
            <a:solidFill>
              <a:srgbClr val="E87A1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TextBox 45"/>
          <p:cNvSpPr txBox="1"/>
          <p:nvPr/>
        </p:nvSpPr>
        <p:spPr>
          <a:xfrm>
            <a:off x="521208" y="5102351"/>
            <a:ext cx="2359152" cy="566928"/>
          </a:xfrm>
          <a:prstGeom prst="rect">
            <a:avLst/>
          </a:prstGeom>
          <a:noFill/>
        </p:spPr>
        <p:txBody>
          <a:bodyPr wrap="square" lIns="0" rIns="0" tIns="0" bIns="0" anchor="t">
            <a:spAutoFit/>
          </a:bodyPr>
          <a:lstStyle/>
          <a:p>
            <a:pPr algn="l">
              <a:spcAft>
                <a:spcPts val="600"/>
              </a:spcAft>
              <a:buNone/>
            </a:pPr>
            <a:r>
              <a:rPr sz="1300" b="1" i="0">
                <a:solidFill>
                  <a:srgbClr val="0B1E3B"/>
                </a:solidFill>
                <a:latin typeface="Calibri"/>
              </a:rPr>
              <a:t>Node and portfolio vector table</a:t>
            </a:r>
          </a:p>
        </p:txBody>
      </p:sp>
      <p:sp>
        <p:nvSpPr>
          <p:cNvPr id="47" name="Status PROPOSED"/>
          <p:cNvSpPr/>
          <p:nvPr/>
        </p:nvSpPr>
        <p:spPr>
          <a:xfrm>
            <a:off x="2953512" y="5120639"/>
            <a:ext cx="1051560" cy="237744"/>
          </a:xfrm>
          <a:prstGeom prst="roundRect">
            <a:avLst>
              <a:gd name="adj" fmla="val 50000"/>
            </a:avLst>
          </a:prstGeom>
          <a:solidFill>
            <a:srgbClr val="FFFFFF"/>
          </a:solidFill>
          <a:ln w="15875">
            <a:solidFill>
              <a:srgbClr val="E87A1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000" b="1" i="0">
                <a:solidFill>
                  <a:srgbClr val="E87A1E"/>
                </a:solidFill>
                <a:latin typeface="Calibri"/>
              </a:rPr>
              <a:t>PROPOSED</a:t>
            </a:r>
          </a:p>
        </p:txBody>
      </p:sp>
      <p:sp>
        <p:nvSpPr>
          <p:cNvPr id="48" name="TextBox 47"/>
          <p:cNvSpPr txBox="1"/>
          <p:nvPr/>
        </p:nvSpPr>
        <p:spPr>
          <a:xfrm>
            <a:off x="521208" y="5669279"/>
            <a:ext cx="3465576" cy="457200"/>
          </a:xfrm>
          <a:prstGeom prst="rect">
            <a:avLst/>
          </a:prstGeom>
          <a:noFill/>
        </p:spPr>
        <p:txBody>
          <a:bodyPr wrap="square" lIns="0" rIns="0" tIns="0" bIns="0" anchor="t">
            <a:spAutoFit/>
          </a:bodyPr>
          <a:lstStyle/>
          <a:p>
            <a:pPr algn="l">
              <a:spcAft>
                <a:spcPts val="600"/>
              </a:spcAft>
              <a:buNone/>
            </a:pPr>
            <a:r>
              <a:rPr sz="1200" b="0" i="0">
                <a:solidFill>
                  <a:srgbClr val="1C2433"/>
                </a:solidFill>
                <a:latin typeface="Calibri"/>
              </a:rPr>
              <a:t>BI and peers read sums, not 2.3M rows</a:t>
            </a:r>
          </a:p>
        </p:txBody>
      </p:sp>
      <p:sp>
        <p:nvSpPr>
          <p:cNvPr id="49" name="Rounded Rectangle 48"/>
          <p:cNvSpPr/>
          <p:nvPr/>
        </p:nvSpPr>
        <p:spPr>
          <a:xfrm>
            <a:off x="4251960" y="5029199"/>
            <a:ext cx="3685032" cy="1143000"/>
          </a:xfrm>
          <a:prstGeom prst="roundRect">
            <a:avLst>
              <a:gd name="adj" fmla="val 6000"/>
            </a:avLst>
          </a:prstGeom>
          <a:solidFill>
            <a:srgbClr val="FFF4E6"/>
          </a:solidFill>
          <a:ln w="9525">
            <a:solidFill>
              <a:srgbClr val="E87A1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TextBox 49"/>
          <p:cNvSpPr txBox="1"/>
          <p:nvPr/>
        </p:nvSpPr>
        <p:spPr>
          <a:xfrm>
            <a:off x="4361688" y="5102351"/>
            <a:ext cx="2359152" cy="566928"/>
          </a:xfrm>
          <a:prstGeom prst="rect">
            <a:avLst/>
          </a:prstGeom>
          <a:noFill/>
        </p:spPr>
        <p:txBody>
          <a:bodyPr wrap="square" lIns="0" rIns="0" tIns="0" bIns="0" anchor="t">
            <a:spAutoFit/>
          </a:bodyPr>
          <a:lstStyle/>
          <a:p>
            <a:pPr algn="l">
              <a:spcAft>
                <a:spcPts val="600"/>
              </a:spcAft>
              <a:buNone/>
            </a:pPr>
            <a:r>
              <a:rPr sz="1300" b="1" i="0">
                <a:solidFill>
                  <a:srgbClr val="0B1E3B"/>
                </a:solidFill>
                <a:latin typeface="Calibri"/>
              </a:rPr>
              <a:t>Change data feed on inputs</a:t>
            </a:r>
          </a:p>
        </p:txBody>
      </p:sp>
      <p:sp>
        <p:nvSpPr>
          <p:cNvPr id="51" name="Status PROPOSED"/>
          <p:cNvSpPr/>
          <p:nvPr/>
        </p:nvSpPr>
        <p:spPr>
          <a:xfrm>
            <a:off x="6793992" y="5120639"/>
            <a:ext cx="1051560" cy="237744"/>
          </a:xfrm>
          <a:prstGeom prst="roundRect">
            <a:avLst>
              <a:gd name="adj" fmla="val 50000"/>
            </a:avLst>
          </a:prstGeom>
          <a:solidFill>
            <a:srgbClr val="FFFFFF"/>
          </a:solidFill>
          <a:ln w="15875">
            <a:solidFill>
              <a:srgbClr val="E87A1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000" b="1" i="0">
                <a:solidFill>
                  <a:srgbClr val="E87A1E"/>
                </a:solidFill>
                <a:latin typeface="Calibri"/>
              </a:rPr>
              <a:t>PROPOSED</a:t>
            </a:r>
          </a:p>
        </p:txBody>
      </p:sp>
      <p:sp>
        <p:nvSpPr>
          <p:cNvPr id="52" name="TextBox 51"/>
          <p:cNvSpPr txBox="1"/>
          <p:nvPr/>
        </p:nvSpPr>
        <p:spPr>
          <a:xfrm>
            <a:off x="4361688" y="5669279"/>
            <a:ext cx="3465576" cy="457200"/>
          </a:xfrm>
          <a:prstGeom prst="rect">
            <a:avLst/>
          </a:prstGeom>
          <a:noFill/>
        </p:spPr>
        <p:txBody>
          <a:bodyPr wrap="square" lIns="0" rIns="0" tIns="0" bIns="0" anchor="t">
            <a:spAutoFit/>
          </a:bodyPr>
          <a:lstStyle/>
          <a:p>
            <a:pPr algn="l">
              <a:spcAft>
                <a:spcPts val="600"/>
              </a:spcAft>
              <a:buNone/>
            </a:pPr>
            <a:r>
              <a:rPr sz="1200" b="0" i="0">
                <a:solidFill>
                  <a:srgbClr val="1C2433"/>
                </a:solidFill>
                <a:latin typeface="Calibri"/>
              </a:rPr>
              <a:t>followers see intraday deltas</a:t>
            </a:r>
          </a:p>
        </p:txBody>
      </p:sp>
      <p:sp>
        <p:nvSpPr>
          <p:cNvPr id="53" name="Rounded Rectangle 52"/>
          <p:cNvSpPr/>
          <p:nvPr/>
        </p:nvSpPr>
        <p:spPr>
          <a:xfrm>
            <a:off x="8092440" y="5029199"/>
            <a:ext cx="3685032" cy="1143000"/>
          </a:xfrm>
          <a:prstGeom prst="roundRect">
            <a:avLst>
              <a:gd name="adj" fmla="val 6000"/>
            </a:avLst>
          </a:prstGeom>
          <a:solidFill>
            <a:srgbClr val="FFF4E6"/>
          </a:solidFill>
          <a:ln w="9525">
            <a:solidFill>
              <a:srgbClr val="E87A1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TextBox 53"/>
          <p:cNvSpPr txBox="1"/>
          <p:nvPr/>
        </p:nvSpPr>
        <p:spPr>
          <a:xfrm>
            <a:off x="8202167" y="5102351"/>
            <a:ext cx="2359152" cy="566928"/>
          </a:xfrm>
          <a:prstGeom prst="rect">
            <a:avLst/>
          </a:prstGeom>
          <a:noFill/>
        </p:spPr>
        <p:txBody>
          <a:bodyPr wrap="square" lIns="0" rIns="0" tIns="0" bIns="0" anchor="t">
            <a:spAutoFit/>
          </a:bodyPr>
          <a:lstStyle/>
          <a:p>
            <a:pPr algn="l">
              <a:spcAft>
                <a:spcPts val="600"/>
              </a:spcAft>
              <a:buNone/>
            </a:pPr>
            <a:r>
              <a:rPr sz="1300" b="1" i="0">
                <a:solidFill>
                  <a:srgbClr val="0B1E3B"/>
                </a:solidFill>
                <a:latin typeface="Calibri"/>
              </a:rPr>
              <a:t>Kafka windows to S3</a:t>
            </a:r>
          </a:p>
        </p:txBody>
      </p:sp>
      <p:sp>
        <p:nvSpPr>
          <p:cNvPr id="55" name="Status PROPOSED"/>
          <p:cNvSpPr/>
          <p:nvPr/>
        </p:nvSpPr>
        <p:spPr>
          <a:xfrm>
            <a:off x="10634472" y="5120639"/>
            <a:ext cx="1051560" cy="237744"/>
          </a:xfrm>
          <a:prstGeom prst="roundRect">
            <a:avLst>
              <a:gd name="adj" fmla="val 50000"/>
            </a:avLst>
          </a:prstGeom>
          <a:solidFill>
            <a:srgbClr val="FFFFFF"/>
          </a:solidFill>
          <a:ln w="15875">
            <a:solidFill>
              <a:srgbClr val="E87A1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000" b="1" i="0">
                <a:solidFill>
                  <a:srgbClr val="E87A1E"/>
                </a:solidFill>
                <a:latin typeface="Calibri"/>
              </a:rPr>
              <a:t>PROPOSED</a:t>
            </a:r>
          </a:p>
        </p:txBody>
      </p:sp>
      <p:sp>
        <p:nvSpPr>
          <p:cNvPr id="56" name="TextBox 55"/>
          <p:cNvSpPr txBox="1"/>
          <p:nvPr/>
        </p:nvSpPr>
        <p:spPr>
          <a:xfrm>
            <a:off x="8202167" y="5669279"/>
            <a:ext cx="3465576" cy="457200"/>
          </a:xfrm>
          <a:prstGeom prst="rect">
            <a:avLst/>
          </a:prstGeom>
          <a:noFill/>
        </p:spPr>
        <p:txBody>
          <a:bodyPr wrap="square" lIns="0" rIns="0" tIns="0" bIns="0" anchor="t">
            <a:spAutoFit/>
          </a:bodyPr>
          <a:lstStyle/>
          <a:p>
            <a:pPr algn="l">
              <a:spcAft>
                <a:spcPts val="600"/>
              </a:spcAft>
              <a:buNone/>
            </a:pPr>
            <a:r>
              <a:rPr sz="1200" b="0" i="0">
                <a:solidFill>
                  <a:srgbClr val="1C2433"/>
                </a:solidFill>
                <a:latin typeface="Calibri"/>
              </a:rPr>
              <a:t>EFS lake, then </a:t>
            </a:r>
            <a:r>
              <a:rPr sz="1100" b="0" i="0">
                <a:solidFill>
                  <a:srgbClr val="0E7C86"/>
                </a:solidFill>
                <a:latin typeface="Consolas"/>
              </a:rPr>
              <a:t>lake publish --mode append</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Measured on the documents: a million trades a day, seven years</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13</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72</a:t>
            </a:r>
          </a:p>
        </p:txBody>
      </p:sp>
      <p:graphicFrame>
        <p:nvGraphicFramePr>
          <p:cNvPr id="9" name="Table"/>
          <p:cNvGraphicFramePr>
            <a:graphicFrameLocks noGrp="1"/>
          </p:cNvGraphicFramePr>
          <p:nvPr/>
        </p:nvGraphicFramePr>
        <p:xfrm>
          <a:off x="411480" y="1188720"/>
          <a:ext cx="6309360" cy="4279392"/>
        </p:xfrm>
        <a:graphic>
          <a:graphicData uri="http://schemas.openxmlformats.org/drawingml/2006/table">
            <a:tbl>
              <a:tblPr firstRow="0" bandRow="0">
                <a:tableStyleId>{5940675A-B579-460E-94D1-54222C63F5DA}</a:tableStyleId>
              </a:tblPr>
              <a:tblGrid>
                <a:gridCol w="4206240"/>
                <a:gridCol w="2103120"/>
              </a:tblGrid>
              <a:tr h="475488">
                <a:tc>
                  <a:txBody>
                    <a:bodyPr wrap="square"/>
                    <a:lstStyle/>
                    <a:p>
                      <a:r>
                        <a:rPr sz="1200" b="1" i="0">
                          <a:solidFill>
                            <a:srgbClr val="FFFFFF"/>
                          </a:solidFill>
                          <a:latin typeface="Calibri"/>
                        </a:rPr>
                        <a:t>Question (1,000,000 trades a day)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Measured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475488">
                <a:tc>
                  <a:txBody>
                    <a:bodyPr wrap="square"/>
                    <a:lstStyle/>
                    <a:p>
                      <a:r>
                        <a:rPr sz="1200" b="1" i="0">
                          <a:solidFill>
                            <a:srgbClr val="1C2433"/>
                          </a:solidFill>
                          <a:latin typeface="Calibri"/>
                        </a:rPr>
                        <a:t>type-ahead </a:t>
                      </a:r>
                      <a:r>
                        <a:rPr sz="1100" b="1" i="0">
                          <a:solidFill>
                            <a:srgbClr val="0E7C86"/>
                          </a:solidFill>
                          <a:latin typeface="Consolas"/>
                        </a:rPr>
                        <a:t>TRD CLY-40834</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29 ms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75488">
                <a:tc>
                  <a:txBody>
                    <a:bodyPr wrap="square"/>
                    <a:lstStyle/>
                    <a:p>
                      <a:r>
                        <a:rPr sz="1200" b="1" i="0">
                          <a:solidFill>
                            <a:srgbClr val="1C2433"/>
                          </a:solidFill>
                          <a:latin typeface="Calibri"/>
                        </a:rPr>
                        <a:t>open a trade, first time / cached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137–157 ms / 48 ms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75488">
                <a:tc>
                  <a:txBody>
                    <a:bodyPr wrap="square"/>
                    <a:lstStyle/>
                    <a:p>
                      <a:r>
                        <a:rPr sz="1200" b="1" i="0">
                          <a:solidFill>
                            <a:srgbClr val="1C2433"/>
                          </a:solidFill>
                          <a:latin typeface="Calibri"/>
                        </a:rPr>
                        <a:t>open a trade on a past business day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288 ms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75488">
                <a:tc>
                  <a:txBody>
                    <a:bodyPr wrap="square"/>
                    <a:lstStyle/>
                    <a:p>
                      <a:r>
                        <a:rPr sz="1200" b="1" i="0">
                          <a:solidFill>
                            <a:srgbClr val="1C2433"/>
                          </a:solidFill>
                          <a:latin typeface="Calibri"/>
                        </a:rPr>
                        <a:t>a search over the day, exact over 1,000,000</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134–322 ms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75488">
                <a:tc>
                  <a:txBody>
                    <a:bodyPr wrap="square"/>
                    <a:lstStyle/>
                    <a:p>
                      <a:r>
                        <a:rPr sz="1200" b="1" i="0">
                          <a:solidFill>
                            <a:srgbClr val="1C2433"/>
                          </a:solidFill>
                          <a:latin typeface="Calibri"/>
                        </a:rPr>
                        <a:t>desk P&amp;L of all desks / another desk</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327 ms / 48 ms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75488">
                <a:tc>
                  <a:txBody>
                    <a:bodyPr wrap="square"/>
                    <a:lstStyle/>
                    <a:p>
                      <a:r>
                        <a:rPr sz="1200" b="1" i="0">
                          <a:solidFill>
                            <a:srgbClr val="1C2433"/>
                          </a:solidFill>
                          <a:latin typeface="Calibri"/>
                        </a:rPr>
                        <a:t>impact of a netting set (143,982 trades)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716–881 ms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75488">
                <a:tc>
                  <a:txBody>
                    <a:bodyPr wrap="square"/>
                    <a:lstStyle/>
                    <a:p>
                      <a:r>
                        <a:rPr sz="1200" b="1" i="0">
                          <a:solidFill>
                            <a:srgbClr val="1C2433"/>
                          </a:solidFill>
                          <a:latin typeface="Calibri"/>
                        </a:rPr>
                        <a:t>a search on another business day, first / again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6.6 s / 306 ms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75488">
                <a:tc>
                  <a:txBody>
                    <a:bodyPr wrap="square"/>
                    <a:lstStyle/>
                    <a:p>
                      <a:r>
                        <a:rPr sz="1200" b="1" i="0">
                          <a:solidFill>
                            <a:srgbClr val="1C2433"/>
                          </a:solidFill>
                          <a:latin typeface="Calibri"/>
                        </a:rPr>
                        <a:t>server heap in use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2–3.5 GB</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bl>
          </a:graphicData>
        </a:graphic>
      </p:graphicFrame>
      <p:graphicFrame>
        <p:nvGraphicFramePr>
          <p:cNvPr id="10" name="Table"/>
          <p:cNvGraphicFramePr>
            <a:graphicFrameLocks noGrp="1"/>
          </p:cNvGraphicFramePr>
          <p:nvPr/>
        </p:nvGraphicFramePr>
        <p:xfrm>
          <a:off x="6949440" y="1188720"/>
          <a:ext cx="4828032" cy="2852928"/>
        </p:xfrm>
        <a:graphic>
          <a:graphicData uri="http://schemas.openxmlformats.org/drawingml/2006/table">
            <a:tbl>
              <a:tblPr firstRow="0" bandRow="0">
                <a:tableStyleId>{5940675A-B579-460E-94D1-54222C63F5DA}</a:tableStyleId>
              </a:tblPr>
              <a:tblGrid>
                <a:gridCol w="3291840"/>
                <a:gridCol w="1536192"/>
              </a:tblGrid>
              <a:tr h="475488">
                <a:tc>
                  <a:txBody>
                    <a:bodyPr wrap="square"/>
                    <a:lstStyle/>
                    <a:p>
                      <a:r>
                        <a:rPr sz="1200" b="1" i="0">
                          <a:solidFill>
                            <a:srgbClr val="FFFFFF"/>
                          </a:solidFill>
                          <a:latin typeface="Calibri"/>
                        </a:rPr>
                        <a:t>Seven years: 1,800 days, 7,200 files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Measured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475488">
                <a:tc>
                  <a:txBody>
                    <a:bodyPr wrap="square"/>
                    <a:lstStyle/>
                    <a:p>
                      <a:r>
                        <a:rPr sz="1200" b="1" i="0">
                          <a:solidFill>
                            <a:srgbClr val="1C2433"/>
                          </a:solidFill>
                          <a:latin typeface="Calibri"/>
                        </a:rPr>
                        <a:t>start-up incl. file list and newest ids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729 ms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75488">
                <a:tc>
                  <a:txBody>
                    <a:bodyPr wrap="square"/>
                    <a:lstStyle/>
                    <a:p>
                      <a:r>
                        <a:rPr sz="1200" b="1" i="0">
                          <a:solidFill>
                            <a:srgbClr val="1C2433"/>
                          </a:solidFill>
                          <a:latin typeface="Calibri"/>
                        </a:rPr>
                        <a:t>a trade on 2019-12-05</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22 ms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75488">
                <a:tc>
                  <a:txBody>
                    <a:bodyPr wrap="square"/>
                    <a:lstStyle/>
                    <a:p>
                      <a:r>
                        <a:rPr sz="1200" b="1" i="0">
                          <a:solidFill>
                            <a:srgbClr val="1C2433"/>
                          </a:solidFill>
                          <a:latin typeface="Calibri"/>
                        </a:rPr>
                        <a:t>a trade on 2022-06-15</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13 ms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75488">
                <a:tc>
                  <a:txBody>
                    <a:bodyPr wrap="square"/>
                    <a:lstStyle/>
                    <a:p>
                      <a:r>
                        <a:rPr sz="1200" b="1" i="0">
                          <a:solidFill>
                            <a:srgbClr val="1C2433"/>
                          </a:solidFill>
                          <a:latin typeface="Calibri"/>
                        </a:rPr>
                        <a:t>the file list re-read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84 ms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75488">
                <a:tc>
                  <a:txBody>
                    <a:bodyPr wrap="square"/>
                    <a:lstStyle/>
                    <a:p>
                      <a:r>
                        <a:rPr sz="1200" b="1" i="0">
                          <a:solidFill>
                            <a:srgbClr val="1C2433"/>
                          </a:solidFill>
                          <a:latin typeface="Calibri"/>
                        </a:rPr>
                        <a:t>an old day's columns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13 ms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bl>
          </a:graphicData>
        </a:graphic>
      </p:graphicFrame>
      <p:sp>
        <p:nvSpPr>
          <p:cNvPr id="11" name="Status MEASURED"/>
          <p:cNvSpPr/>
          <p:nvPr/>
        </p:nvSpPr>
        <p:spPr>
          <a:xfrm>
            <a:off x="6949440" y="4206240"/>
            <a:ext cx="1051560" cy="237744"/>
          </a:xfrm>
          <a:prstGeom prst="roundRect">
            <a:avLst>
              <a:gd name="adj" fmla="val 50000"/>
            </a:avLst>
          </a:prstGeom>
          <a:solidFill>
            <a:srgbClr val="0B1E3B"/>
          </a:solidFill>
          <a:ln w="15875">
            <a:solidFill>
              <a:srgbClr val="0B1E3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000" b="1" i="0">
                <a:solidFill>
                  <a:srgbClr val="FFFFFF"/>
                </a:solidFill>
                <a:latin typeface="Calibri"/>
              </a:rPr>
              <a:t>MEASURED</a:t>
            </a:r>
          </a:p>
        </p:txBody>
      </p:sp>
      <p:sp>
        <p:nvSpPr>
          <p:cNvPr id="12" name="TextBox 11"/>
          <p:cNvSpPr txBox="1"/>
          <p:nvPr/>
        </p:nvSpPr>
        <p:spPr>
          <a:xfrm>
            <a:off x="6949440" y="4572000"/>
            <a:ext cx="4828032" cy="1737360"/>
          </a:xfrm>
          <a:prstGeom prst="rect">
            <a:avLst/>
          </a:prstGeom>
          <a:noFill/>
        </p:spPr>
        <p:txBody>
          <a:bodyPr wrap="square" lIns="0" rIns="0" tIns="0" bIns="0" anchor="t">
            <a:spAutoFit/>
          </a:bodyPr>
          <a:lstStyle/>
          <a:p>
            <a:pPr algn="l">
              <a:spcAft>
                <a:spcPts val="600"/>
              </a:spcAft>
              <a:buNone/>
            </a:pPr>
            <a:r>
              <a:rPr sz="1300" b="0" i="0">
                <a:solidFill>
                  <a:srgbClr val="1C2433"/>
                </a:solidFill>
                <a:latin typeface="Calibri"/>
              </a:rPr>
              <a:t>Nothing in the read paths grows with history: a read concerns one business day, the file list comes from the last checkpoint, caches hold days by memory. A day in 2019 waits once for its id map (about a second).</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Reading one VaR date at bank scale: lake, hot file, memory</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13</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73</a:t>
            </a:r>
          </a:p>
        </p:txBody>
      </p:sp>
      <p:sp>
        <p:nvSpPr>
          <p:cNvPr id="9" name="Rounded Rectangle 8"/>
          <p:cNvSpPr/>
          <p:nvPr/>
        </p:nvSpPr>
        <p:spPr>
          <a:xfrm>
            <a:off x="411480" y="1188720"/>
            <a:ext cx="6949440" cy="1097280"/>
          </a:xfrm>
          <a:prstGeom prst="roundRect">
            <a:avLst>
              <a:gd name="adj" fmla="val 6000"/>
            </a:avLst>
          </a:prstGeom>
          <a:solidFill>
            <a:srgbClr val="DDEE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TextBox 9"/>
          <p:cNvSpPr txBox="1"/>
          <p:nvPr/>
        </p:nvSpPr>
        <p:spPr>
          <a:xfrm>
            <a:off x="548640" y="1261872"/>
            <a:ext cx="5394960" cy="411480"/>
          </a:xfrm>
          <a:prstGeom prst="rect">
            <a:avLst/>
          </a:prstGeom>
          <a:noFill/>
        </p:spPr>
        <p:txBody>
          <a:bodyPr wrap="square" lIns="0" rIns="0" tIns="0" bIns="0" anchor="t">
            <a:spAutoFit/>
          </a:bodyPr>
          <a:lstStyle/>
          <a:p>
            <a:pPr algn="l">
              <a:spcAft>
                <a:spcPts val="600"/>
              </a:spcAft>
              <a:buNone/>
            </a:pPr>
            <a:r>
              <a:rPr sz="1500" b="1" i="0">
                <a:solidFill>
                  <a:srgbClr val="0B1E3B"/>
                </a:solidFill>
                <a:latin typeface="Calibri"/>
              </a:rPr>
              <a:t>The lake (S3, Parquet)</a:t>
            </a:r>
          </a:p>
        </p:txBody>
      </p:sp>
      <p:sp>
        <p:nvSpPr>
          <p:cNvPr id="11" name="Status ESTIMATED"/>
          <p:cNvSpPr/>
          <p:nvPr/>
        </p:nvSpPr>
        <p:spPr>
          <a:xfrm>
            <a:off x="6172200" y="1298448"/>
            <a:ext cx="1051560" cy="237744"/>
          </a:xfrm>
          <a:prstGeom prst="roundRect">
            <a:avLst>
              <a:gd name="adj" fmla="val 50000"/>
            </a:avLst>
          </a:prstGeom>
          <a:solidFill>
            <a:srgbClr val="FFFFFF"/>
          </a:solidFill>
          <a:ln w="15875">
            <a:solidFill>
              <a:srgbClr val="5B677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000" b="1" i="0">
                <a:solidFill>
                  <a:srgbClr val="5B677A"/>
                </a:solidFill>
                <a:latin typeface="Calibri"/>
              </a:rPr>
              <a:t>ESTIMATED</a:t>
            </a:r>
          </a:p>
        </p:txBody>
      </p:sp>
      <p:sp>
        <p:nvSpPr>
          <p:cNvPr id="12" name="TextBox 11"/>
          <p:cNvSpPr txBox="1"/>
          <p:nvPr/>
        </p:nvSpPr>
        <p:spPr>
          <a:xfrm>
            <a:off x="548640" y="1719072"/>
            <a:ext cx="6675120" cy="502920"/>
          </a:xfrm>
          <a:prstGeom prst="rect">
            <a:avLst/>
          </a:prstGeom>
          <a:noFill/>
        </p:spPr>
        <p:txBody>
          <a:bodyPr wrap="square" lIns="0" rIns="0" tIns="0" bIns="0" anchor="t">
            <a:spAutoFit/>
          </a:bodyPr>
          <a:lstStyle/>
          <a:p>
            <a:pPr algn="l">
              <a:spcAft>
                <a:spcPts val="600"/>
              </a:spcAft>
              <a:buNone/>
            </a:pPr>
            <a:r>
              <a:rPr sz="1300" b="0" i="0">
                <a:solidFill>
                  <a:srgbClr val="1C2433"/>
                </a:solidFill>
                <a:latin typeface="Calibri"/>
              </a:rPr>
              <a:t>≈ 7.0 GB a date; a cold whole-bank pass ≈ 18–70 s on one server</a:t>
            </a:r>
          </a:p>
        </p:txBody>
      </p:sp>
      <p:cxnSp>
        <p:nvCxnSpPr>
          <p:cNvPr id="13" name="Connector 12"/>
          <p:cNvCxnSpPr/>
          <p:nvPr/>
        </p:nvCxnSpPr>
        <p:spPr>
          <a:xfrm>
            <a:off x="3886200" y="2286000"/>
            <a:ext cx="0" cy="228600"/>
          </a:xfrm>
          <a:prstGeom prst="line">
            <a:avLst/>
          </a:prstGeom>
          <a:ln w="19050">
            <a:solidFill>
              <a:srgbClr val="E87A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11480" y="2514600"/>
            <a:ext cx="6949440" cy="1097280"/>
          </a:xfrm>
          <a:prstGeom prst="roundRect">
            <a:avLst>
              <a:gd name="adj" fmla="val 6000"/>
            </a:avLst>
          </a:prstGeom>
          <a:solidFill>
            <a:srgbClr val="FCE8D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xtBox 14"/>
          <p:cNvSpPr txBox="1"/>
          <p:nvPr/>
        </p:nvSpPr>
        <p:spPr>
          <a:xfrm>
            <a:off x="548640" y="2587752"/>
            <a:ext cx="5394960" cy="411480"/>
          </a:xfrm>
          <a:prstGeom prst="rect">
            <a:avLst/>
          </a:prstGeom>
          <a:noFill/>
        </p:spPr>
        <p:txBody>
          <a:bodyPr wrap="square" lIns="0" rIns="0" tIns="0" bIns="0" anchor="t">
            <a:spAutoFit/>
          </a:bodyPr>
          <a:lstStyle/>
          <a:p>
            <a:pPr algn="l">
              <a:spcAft>
                <a:spcPts val="600"/>
              </a:spcAft>
              <a:buNone/>
            </a:pPr>
            <a:r>
              <a:rPr sz="1500" b="1" i="0">
                <a:solidFill>
                  <a:srgbClr val="0B1E3B"/>
                </a:solidFill>
                <a:latin typeface="Calibri"/>
              </a:rPr>
              <a:t>The hot file (local disk)</a:t>
            </a:r>
          </a:p>
        </p:txBody>
      </p:sp>
      <p:sp>
        <p:nvSpPr>
          <p:cNvPr id="16" name="Status ESTIMATED"/>
          <p:cNvSpPr/>
          <p:nvPr/>
        </p:nvSpPr>
        <p:spPr>
          <a:xfrm>
            <a:off x="6172200" y="2624328"/>
            <a:ext cx="1051560" cy="237744"/>
          </a:xfrm>
          <a:prstGeom prst="roundRect">
            <a:avLst>
              <a:gd name="adj" fmla="val 50000"/>
            </a:avLst>
          </a:prstGeom>
          <a:solidFill>
            <a:srgbClr val="FFFFFF"/>
          </a:solidFill>
          <a:ln w="15875">
            <a:solidFill>
              <a:srgbClr val="5B677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000" b="1" i="0">
                <a:solidFill>
                  <a:srgbClr val="5B677A"/>
                </a:solidFill>
                <a:latin typeface="Calibri"/>
              </a:rPr>
              <a:t>ESTIMATED</a:t>
            </a:r>
          </a:p>
        </p:txBody>
      </p:sp>
      <p:sp>
        <p:nvSpPr>
          <p:cNvPr id="17" name="TextBox 16"/>
          <p:cNvSpPr txBox="1"/>
          <p:nvPr/>
        </p:nvSpPr>
        <p:spPr>
          <a:xfrm>
            <a:off x="548640" y="3044952"/>
            <a:ext cx="6675120" cy="502920"/>
          </a:xfrm>
          <a:prstGeom prst="rect">
            <a:avLst/>
          </a:prstGeom>
          <a:noFill/>
        </p:spPr>
        <p:txBody>
          <a:bodyPr wrap="square" lIns="0" rIns="0" tIns="0" bIns="0" anchor="t">
            <a:spAutoFit/>
          </a:bodyPr>
          <a:lstStyle/>
          <a:p>
            <a:pPr algn="l">
              <a:spcAft>
                <a:spcPts val="600"/>
              </a:spcAft>
              <a:buNone/>
            </a:pPr>
            <a:r>
              <a:rPr sz="1300" b="0" i="0">
                <a:solidFill>
                  <a:srgbClr val="1C2433"/>
                </a:solidFill>
                <a:latin typeface="Calibri"/>
              </a:rPr>
              <a:t>≈ 5.5 GB a date; reopened in ≈ 0.5 s; 60 dates ≈ 328 GB</a:t>
            </a:r>
          </a:p>
        </p:txBody>
      </p:sp>
      <p:cxnSp>
        <p:nvCxnSpPr>
          <p:cNvPr id="18" name="Connector 17"/>
          <p:cNvCxnSpPr/>
          <p:nvPr/>
        </p:nvCxnSpPr>
        <p:spPr>
          <a:xfrm>
            <a:off x="3886200" y="3611880"/>
            <a:ext cx="0" cy="228600"/>
          </a:xfrm>
          <a:prstGeom prst="line">
            <a:avLst/>
          </a:prstGeom>
          <a:ln w="19050">
            <a:solidFill>
              <a:srgbClr val="E87A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11480" y="3840480"/>
            <a:ext cx="6949440" cy="109728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xtBox 19"/>
          <p:cNvSpPr txBox="1"/>
          <p:nvPr/>
        </p:nvSpPr>
        <p:spPr>
          <a:xfrm>
            <a:off x="548640" y="3913632"/>
            <a:ext cx="5394960" cy="411480"/>
          </a:xfrm>
          <a:prstGeom prst="rect">
            <a:avLst/>
          </a:prstGeom>
          <a:noFill/>
        </p:spPr>
        <p:txBody>
          <a:bodyPr wrap="square" lIns="0" rIns="0" tIns="0" bIns="0" anchor="t">
            <a:spAutoFit/>
          </a:bodyPr>
          <a:lstStyle/>
          <a:p>
            <a:pPr algn="l">
              <a:spcAft>
                <a:spcPts val="600"/>
              </a:spcAft>
              <a:buNone/>
            </a:pPr>
            <a:r>
              <a:rPr sz="1500" b="1" i="0">
                <a:solidFill>
                  <a:srgbClr val="0B1E3B"/>
                </a:solidFill>
                <a:latin typeface="Calibri"/>
              </a:rPr>
              <a:t>Memory (page cache + heap)</a:t>
            </a:r>
          </a:p>
        </p:txBody>
      </p:sp>
      <p:sp>
        <p:nvSpPr>
          <p:cNvPr id="21" name="Status ESTIMATED"/>
          <p:cNvSpPr/>
          <p:nvPr/>
        </p:nvSpPr>
        <p:spPr>
          <a:xfrm>
            <a:off x="6172200" y="3950208"/>
            <a:ext cx="1051560" cy="237744"/>
          </a:xfrm>
          <a:prstGeom prst="roundRect">
            <a:avLst>
              <a:gd name="adj" fmla="val 50000"/>
            </a:avLst>
          </a:prstGeom>
          <a:solidFill>
            <a:srgbClr val="FFFFFF"/>
          </a:solidFill>
          <a:ln w="15875">
            <a:solidFill>
              <a:srgbClr val="5B677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000" b="1" i="0">
                <a:solidFill>
                  <a:srgbClr val="5B677A"/>
                </a:solidFill>
                <a:latin typeface="Calibri"/>
              </a:rPr>
              <a:t>ESTIMATED</a:t>
            </a:r>
          </a:p>
        </p:txBody>
      </p:sp>
      <p:sp>
        <p:nvSpPr>
          <p:cNvPr id="22" name="TextBox 21"/>
          <p:cNvSpPr txBox="1"/>
          <p:nvPr/>
        </p:nvSpPr>
        <p:spPr>
          <a:xfrm>
            <a:off x="548640" y="4370832"/>
            <a:ext cx="6675120" cy="502920"/>
          </a:xfrm>
          <a:prstGeom prst="rect">
            <a:avLst/>
          </a:prstGeom>
          <a:noFill/>
        </p:spPr>
        <p:txBody>
          <a:bodyPr wrap="square" lIns="0" rIns="0" tIns="0" bIns="0" anchor="t">
            <a:spAutoFit/>
          </a:bodyPr>
          <a:lstStyle/>
          <a:p>
            <a:pPr algn="l">
              <a:spcAft>
                <a:spcPts val="600"/>
              </a:spcAft>
              <a:buNone/>
            </a:pPr>
            <a:r>
              <a:rPr sz="1300" b="0" i="0">
                <a:solidFill>
                  <a:srgbClr val="1C2433"/>
                </a:solidFill>
                <a:latin typeface="Calibri"/>
              </a:rPr>
              <a:t>heap ≈ 1.8 GB a date; whole bank ≈ 78 ms resident, ≈ 1.6 s cold from NVMe</a:t>
            </a:r>
          </a:p>
        </p:txBody>
      </p:sp>
      <p:graphicFrame>
        <p:nvGraphicFramePr>
          <p:cNvPr id="23" name="Table"/>
          <p:cNvGraphicFramePr>
            <a:graphicFrameLocks noGrp="1"/>
          </p:cNvGraphicFramePr>
          <p:nvPr/>
        </p:nvGraphicFramePr>
        <p:xfrm>
          <a:off x="7635240" y="1188720"/>
          <a:ext cx="4142232" cy="2286000"/>
        </p:xfrm>
        <a:graphic>
          <a:graphicData uri="http://schemas.openxmlformats.org/drawingml/2006/table">
            <a:tbl>
              <a:tblPr firstRow="0" bandRow="0">
                <a:tableStyleId>{5940675A-B579-460E-94D1-54222C63F5DA}</a:tableStyleId>
              </a:tblPr>
              <a:tblGrid>
                <a:gridCol w="2194560"/>
                <a:gridCol w="914400"/>
                <a:gridCol w="1033272"/>
              </a:tblGrid>
              <a:tr h="457200">
                <a:tc>
                  <a:txBody>
                    <a:bodyPr wrap="square"/>
                    <a:lstStyle/>
                    <a:p>
                      <a:r>
                        <a:rPr sz="1200" b="1" i="0">
                          <a:solidFill>
                            <a:srgbClr val="FFFFFF"/>
                          </a:solidFill>
                          <a:latin typeface="Calibri"/>
                        </a:rPr>
                        <a:t>Measured at 100,000 trades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Time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 23</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457200">
                <a:tc>
                  <a:txBody>
                    <a:bodyPr wrap="square"/>
                    <a:lstStyle/>
                    <a:p>
                      <a:r>
                        <a:rPr sz="1200" b="1" i="0">
                          <a:solidFill>
                            <a:srgbClr val="1C2433"/>
                          </a:solidFill>
                          <a:latin typeface="Calibri"/>
                        </a:rPr>
                        <a:t>first load of a date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0.8–1.2 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 18–28 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57200">
                <a:tc>
                  <a:txBody>
                    <a:bodyPr wrap="square"/>
                    <a:lstStyle/>
                    <a:p>
                      <a:r>
                        <a:rPr sz="1200" b="1" i="0">
                          <a:solidFill>
                            <a:srgbClr val="1C2433"/>
                          </a:solidFill>
                          <a:latin typeface="Calibri"/>
                        </a:rPr>
                        <a:t>reopen from its hot file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23 ms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 0.53 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57200">
                <a:tc>
                  <a:txBody>
                    <a:bodyPr wrap="square"/>
                    <a:lstStyle/>
                    <a:p>
                      <a:r>
                        <a:rPr sz="1200" b="1" i="0">
                          <a:solidFill>
                            <a:srgbClr val="1C2433"/>
                          </a:solidFill>
                          <a:latin typeface="Calibri"/>
                        </a:rPr>
                        <a:t>a node's VaR and 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0.48 ms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 0.5 ms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57200">
                <a:tc>
                  <a:txBody>
                    <a:bodyPr wrap="square"/>
                    <a:lstStyle/>
                    <a:p>
                      <a:r>
                        <a:rPr sz="1200" b="1" i="0">
                          <a:solidFill>
                            <a:srgbClr val="1C2433"/>
                          </a:solidFill>
                          <a:latin typeface="Calibri"/>
                        </a:rPr>
                        <a:t>the whole bank, float32</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3.4 ms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 78 ms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bl>
          </a:graphicData>
        </a:graphic>
      </p:graphicFrame>
      <p:sp>
        <p:nvSpPr>
          <p:cNvPr id="24" name="Callout"/>
          <p:cNvSpPr/>
          <p:nvPr/>
        </p:nvSpPr>
        <p:spPr>
          <a:xfrm>
            <a:off x="7635240" y="3703320"/>
            <a:ext cx="4142232" cy="2606040"/>
          </a:xfrm>
          <a:prstGeom prst="roundRect">
            <a:avLst>
              <a:gd name="adj" fmla="val 6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Callout edge"/>
          <p:cNvSpPr/>
          <p:nvPr/>
        </p:nvSpPr>
        <p:spPr>
          <a:xfrm>
            <a:off x="7635240" y="3721607"/>
            <a:ext cx="82296" cy="25694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xtBox 25"/>
          <p:cNvSpPr txBox="1"/>
          <p:nvPr/>
        </p:nvSpPr>
        <p:spPr>
          <a:xfrm>
            <a:off x="7863840" y="3776472"/>
            <a:ext cx="3776472" cy="2459736"/>
          </a:xfrm>
          <a:prstGeom prst="rect">
            <a:avLst/>
          </a:prstGeom>
          <a:noFill/>
        </p:spPr>
        <p:txBody>
          <a:bodyPr wrap="square" lIns="0" rIns="0" tIns="0" bIns="0" anchor="t">
            <a:spAutoFit/>
          </a:bodyPr>
          <a:lstStyle/>
          <a:p>
            <a:pPr algn="l">
              <a:spcAft>
                <a:spcPts val="600"/>
              </a:spcAft>
              <a:buNone/>
            </a:pPr>
            <a:r>
              <a:rPr sz="1300" b="1" i="0">
                <a:solidFill>
                  <a:srgbClr val="1C2433"/>
                </a:solidFill>
                <a:latin typeface="Calibri"/>
              </a:rPr>
              <a:t>On ECS</a:t>
            </a:r>
          </a:p>
          <a:p>
            <a:pPr algn="l">
              <a:spcAft>
                <a:spcPts val="600"/>
              </a:spcAft>
              <a:buNone/>
            </a:pPr>
            <a:r>
              <a:rPr sz="1200" b="0" i="0">
                <a:solidFill>
                  <a:srgbClr val="0E7C86"/>
                </a:solidFill>
                <a:latin typeface="Consolas"/>
              </a:rPr>
              <a:t>DRISHTI_VAR_HOT_DIR</a:t>
            </a:r>
            <a:r>
              <a:rPr sz="1300" b="0" i="0">
                <a:solidFill>
                  <a:srgbClr val="1C2433"/>
                </a:solidFill>
                <a:latin typeface="Calibri"/>
              </a:rPr>
              <a:t> and </a:t>
            </a:r>
            <a:r>
              <a:rPr sz="1200" b="0" i="0">
                <a:solidFill>
                  <a:srgbClr val="0E7C86"/>
                </a:solidFill>
                <a:latin typeface="Consolas"/>
              </a:rPr>
              <a:t>DRISHTI_EXPOSURE_HOT_DIR</a:t>
            </a:r>
            <a:r>
              <a:rPr sz="1300" b="0" i="0">
                <a:solidFill>
                  <a:srgbClr val="1C2433"/>
                </a:solidFill>
                <a:latin typeface="Calibri"/>
              </a:rPr>
              <a:t> on fast local disk (NVMe), as the guides say: the default </a:t>
            </a:r>
            <a:r>
              <a:rPr sz="1200" b="0" i="0">
                <a:solidFill>
                  <a:srgbClr val="0E7C86"/>
                </a:solidFill>
                <a:latin typeface="Consolas"/>
              </a:rPr>
              <a:t>&lt;data dir&gt;</a:t>
            </a:r>
            <a:r>
              <a:rPr sz="1300" b="0" i="0">
                <a:solidFill>
                  <a:srgbClr val="1C2433"/>
                </a:solidFill>
                <a:latin typeface="Calibri"/>
              </a:rPr>
              <a:t> is on EFS. Hot files are rebuildable from the lake, so they meet the NVMe exception of slide 76.</a:t>
            </a:r>
          </a:p>
        </p:txBody>
      </p:sp>
      <p:sp>
        <p:nvSpPr>
          <p:cNvPr id="27" name="TextBox 26"/>
          <p:cNvSpPr txBox="1"/>
          <p:nvPr/>
        </p:nvSpPr>
        <p:spPr>
          <a:xfrm>
            <a:off x="411480" y="5257800"/>
            <a:ext cx="6949440" cy="1051560"/>
          </a:xfrm>
          <a:prstGeom prst="rect">
            <a:avLst/>
          </a:prstGeom>
          <a:noFill/>
        </p:spPr>
        <p:txBody>
          <a:bodyPr wrap="square" lIns="0" rIns="0" tIns="0" bIns="0" anchor="t">
            <a:spAutoFit/>
          </a:bodyPr>
          <a:lstStyle/>
          <a:p>
            <a:pPr algn="l">
              <a:spcAft>
                <a:spcPts val="600"/>
              </a:spcAft>
              <a:buNone/>
            </a:pPr>
            <a:r>
              <a:rPr sz="1200" b="0" i="0">
                <a:solidFill>
                  <a:srgbClr val="5B677A"/>
                </a:solidFill>
                <a:latin typeface="Calibri"/>
              </a:rPr>
              <a:t>× 23 = scaled from the measured 100,000-trade points (VAR_GUIDE.md 27.3); a node is size-independent. The 2.3M benchmark on a server is 2.9.6; VaR sharding (DESIGNED, 2.9.6) is the step for a date larger than one server.</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Number"/>
          <p:cNvSpPr txBox="1"/>
          <p:nvPr/>
        </p:nvSpPr>
        <p:spPr>
          <a:xfrm>
            <a:off x="4754880" y="-822960"/>
            <a:ext cx="7223760" cy="7863840"/>
          </a:xfrm>
          <a:prstGeom prst="rect">
            <a:avLst/>
          </a:prstGeom>
          <a:noFill/>
        </p:spPr>
        <p:txBody>
          <a:bodyPr wrap="square" lIns="0" rIns="0" tIns="0" bIns="0" anchor="ctr">
            <a:spAutoFit/>
          </a:bodyPr>
          <a:lstStyle/>
          <a:p>
            <a:pPr algn="r">
              <a:spcAft>
                <a:spcPts val="600"/>
              </a:spcAft>
              <a:buNone/>
            </a:pPr>
            <a:r>
              <a:rPr sz="42000" b="1" i="0">
                <a:solidFill>
                  <a:srgbClr val="1C3560"/>
                </a:solidFill>
                <a:latin typeface="Calibri"/>
              </a:rPr>
              <a:t>14</a:t>
            </a:r>
          </a:p>
        </p:txBody>
      </p:sp>
      <p:sp>
        <p:nvSpPr>
          <p:cNvPr id="4" name="Title"/>
          <p:cNvSpPr txBox="1"/>
          <p:nvPr/>
        </p:nvSpPr>
        <p:spPr>
          <a:xfrm>
            <a:off x="822960" y="2514600"/>
            <a:ext cx="6949440" cy="1828800"/>
          </a:xfrm>
          <a:prstGeom prst="rect">
            <a:avLst/>
          </a:prstGeom>
          <a:noFill/>
        </p:spPr>
        <p:txBody>
          <a:bodyPr wrap="square" lIns="0" rIns="0" tIns="0" bIns="0" anchor="ctr">
            <a:spAutoFit/>
          </a:bodyPr>
          <a:lstStyle/>
          <a:p>
            <a:pPr algn="l">
              <a:spcAft>
                <a:spcPts val="600"/>
              </a:spcAft>
              <a:buNone/>
            </a:pPr>
            <a:r>
              <a:rPr sz="4400" b="1" i="0">
                <a:solidFill>
                  <a:srgbClr val="FFFFFF"/>
                </a:solidFill>
                <a:latin typeface="Calibri"/>
              </a:rPr>
              <a:t>Caches: EFS or local NVMe</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14. What each server caches</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14</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75</a:t>
            </a:r>
          </a:p>
        </p:txBody>
      </p:sp>
      <p:graphicFrame>
        <p:nvGraphicFramePr>
          <p:cNvPr id="9" name="Table"/>
          <p:cNvGraphicFramePr>
            <a:graphicFrameLocks noGrp="1"/>
          </p:cNvGraphicFramePr>
          <p:nvPr/>
        </p:nvGraphicFramePr>
        <p:xfrm>
          <a:off x="411480" y="1188720"/>
          <a:ext cx="11365991" cy="4773168"/>
        </p:xfrm>
        <a:graphic>
          <a:graphicData uri="http://schemas.openxmlformats.org/drawingml/2006/table">
            <a:tbl>
              <a:tblPr firstRow="0" bandRow="0">
                <a:tableStyleId>{5940675A-B579-460E-94D1-54222C63F5DA}</a:tableStyleId>
              </a:tblPr>
              <a:tblGrid>
                <a:gridCol w="2651760"/>
                <a:gridCol w="3657600"/>
                <a:gridCol w="2377440"/>
                <a:gridCol w="2679191"/>
              </a:tblGrid>
              <a:tr h="530352">
                <a:tc>
                  <a:txBody>
                    <a:bodyPr wrap="square"/>
                    <a:lstStyle/>
                    <a:p>
                      <a:r>
                        <a:rPr sz="1100" b="1" i="0">
                          <a:solidFill>
                            <a:srgbClr val="FFFFFF"/>
                          </a:solidFill>
                          <a:latin typeface="Calibri"/>
                        </a:rPr>
                        <a:t>Cache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00" b="1" i="0">
                          <a:solidFill>
                            <a:srgbClr val="FFFFFF"/>
                          </a:solidFill>
                          <a:latin typeface="Calibri"/>
                        </a:rPr>
                        <a:t>Where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00" b="1" i="0">
                          <a:solidFill>
                            <a:srgbClr val="FFFFFF"/>
                          </a:solidFill>
                          <a:latin typeface="Calibri"/>
                        </a:rPr>
                        <a:t>Bounded by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100" b="1" i="0">
                          <a:solidFill>
                            <a:srgbClr val="FFFFFF"/>
                          </a:solidFill>
                          <a:latin typeface="Calibri"/>
                        </a:rPr>
                        <a:t>After a restart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530352">
                <a:tc>
                  <a:txBody>
                    <a:bodyPr wrap="square"/>
                    <a:lstStyle/>
                    <a:p>
                      <a:r>
                        <a:rPr sz="1100" b="1" i="0">
                          <a:solidFill>
                            <a:srgbClr val="1C2433"/>
                          </a:solidFill>
                          <a:latin typeface="Calibri"/>
                        </a:rPr>
                        <a:t>file list (snapshot) of each table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heap</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the table's live files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re-read from the checkpoint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30352">
                <a:tc>
                  <a:txBody>
                    <a:bodyPr wrap="square"/>
                    <a:lstStyle/>
                    <a:p>
                      <a:r>
                        <a:rPr sz="1100" b="1" i="0">
                          <a:solidFill>
                            <a:srgbClr val="1C2433"/>
                          </a:solidFill>
                          <a:latin typeface="Calibri"/>
                        </a:rPr>
                        <a:t>Parquet footers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heap (50,000 row groups)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row groups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re-read on first use (one ranged GET)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30352">
                <a:tc>
                  <a:txBody>
                    <a:bodyPr wrap="square"/>
                    <a:lstStyle/>
                    <a:p>
                      <a:r>
                        <a:rPr sz="1100" b="1" i="0">
                          <a:solidFill>
                            <a:srgbClr val="1C2433"/>
                          </a:solidFill>
                          <a:latin typeface="Calibri"/>
                        </a:rPr>
                        <a:t>id maps of days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heap (20 % shared) and disk (</a:t>
                      </a:r>
                      <a:r>
                        <a:rPr sz="1100" b="0" i="0">
                          <a:solidFill>
                            <a:srgbClr val="0E7C86"/>
                          </a:solidFill>
                          <a:latin typeface="Consolas"/>
                        </a:rPr>
                        <a:t>id-map-disk.dir</a:t>
                      </a:r>
                      <a:r>
                        <a:rPr sz="1100" b="0" i="0">
                          <a:solidFill>
                            <a:srgbClr val="1C2433"/>
                          </a:solidFill>
                          <a:latin typeface="Calibri"/>
                        </a:rPr>
                        <a: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memory; a file per version and date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memory-mapped from disk: no scan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30352">
                <a:tc>
                  <a:txBody>
                    <a:bodyPr wrap="square"/>
                    <a:lstStyle/>
                    <a:p>
                      <a:r>
                        <a:rPr sz="1100" b="1" i="0">
                          <a:solidFill>
                            <a:srgbClr val="1C2433"/>
                          </a:solidFill>
                          <a:latin typeface="Calibri"/>
                        </a:rPr>
                        <a:t>column sets of days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heap (</a:t>
                      </a:r>
                      <a:r>
                        <a:rPr sz="1100" b="0" i="0">
                          <a:solidFill>
                            <a:srgbClr val="0E7C86"/>
                          </a:solidFill>
                          <a:latin typeface="Consolas"/>
                        </a:rPr>
                        <a:t>columns-cache-mb</a:t>
                      </a:r>
                      <a:r>
                        <a:rPr sz="1100" b="0" i="0">
                          <a:solidFill>
                            <a:srgbClr val="1C2433"/>
                          </a:solidFill>
                          <a:latin typeface="Calibri"/>
                        </a:rPr>
                        <a: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memory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re-read (newest day in the background)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30352">
                <a:tc>
                  <a:txBody>
                    <a:bodyPr wrap="square"/>
                    <a:lstStyle/>
                    <a:p>
                      <a:r>
                        <a:rPr sz="1100" b="1" i="0">
                          <a:solidFill>
                            <a:srgbClr val="1C2433"/>
                          </a:solidFill>
                          <a:latin typeface="Calibri"/>
                        </a:rPr>
                        <a:t>documents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heap and RocksDB on disk (</a:t>
                      </a:r>
                      <a:r>
                        <a:rPr sz="1100" b="0" i="0">
                          <a:solidFill>
                            <a:srgbClr val="0E7C86"/>
                          </a:solidFill>
                          <a:latin typeface="Consolas"/>
                        </a:rPr>
                        <a:t>doc-disk-cache.dir</a:t>
                      </a:r>
                      <a:r>
                        <a:rPr sz="1100" b="0" i="0">
                          <a:solidFill>
                            <a:srgbClr val="1C2433"/>
                          </a:solidFill>
                          <a:latin typeface="Calibri"/>
                        </a:rPr>
                        <a:t>, 1 GB, 12 h)</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size, age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warm from disk</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30352">
                <a:tc>
                  <a:txBody>
                    <a:bodyPr wrap="square"/>
                    <a:lstStyle/>
                    <a:p>
                      <a:r>
                        <a:rPr sz="1100" b="1" i="0">
                          <a:solidFill>
                            <a:srgbClr val="1C2433"/>
                          </a:solidFill>
                          <a:latin typeface="Calibri"/>
                        </a:rPr>
                        <a:t>history answers (2.6.5)</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heap (</a:t>
                      </a:r>
                      <a:r>
                        <a:rPr sz="1100" b="0" i="0">
                          <a:solidFill>
                            <a:srgbClr val="0E7C86"/>
                          </a:solidFill>
                          <a:latin typeface="Consolas"/>
                        </a:rPr>
                        <a:t>drishti.history.cache-mb</a:t>
                      </a:r>
                      <a:r>
                        <a:rPr sz="1100" b="0" i="0">
                          <a:solidFill>
                            <a:srgbClr val="1C2433"/>
                          </a:solidFill>
                          <a:latin typeface="Calibri"/>
                        </a:rPr>
                        <a:t>, 256 MB)</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memory; by the kind's data version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rebuilt on ask</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30352">
                <a:tc>
                  <a:txBody>
                    <a:bodyPr wrap="square"/>
                    <a:lstStyle/>
                    <a:p>
                      <a:r>
                        <a:rPr sz="1100" b="1" i="0">
                          <a:solidFill>
                            <a:srgbClr val="1C2433"/>
                          </a:solidFill>
                          <a:latin typeface="Calibri"/>
                        </a:rPr>
                        <a:t>VaR hot files (2.8.0)</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0E7C86"/>
                          </a:solidFill>
                          <a:latin typeface="Consolas"/>
                        </a:rPr>
                        <a:t>DRISHTI_VAR_HOT_DIR</a:t>
                      </a:r>
                      <a:r>
                        <a:rPr sz="1100" b="0" i="0">
                          <a:solidFill>
                            <a:srgbClr val="1C2433"/>
                          </a:solidFill>
                          <a:latin typeface="Calibri"/>
                        </a:rPr>
                        <a:t>: fast local disk</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2 dates open, 60 on disk</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100" b="0" i="0">
                          <a:solidFill>
                            <a:srgbClr val="1C2433"/>
                          </a:solidFill>
                          <a:latin typeface="Calibri"/>
                        </a:rPr>
                        <a:t>rebuilt from the lake (deleted at shutdown by default)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30352">
                <a:tc>
                  <a:txBody>
                    <a:bodyPr wrap="square"/>
                    <a:lstStyle/>
                    <a:p>
                      <a:r>
                        <a:rPr sz="1100" b="1" i="0">
                          <a:solidFill>
                            <a:srgbClr val="1C2433"/>
                          </a:solidFill>
                          <a:latin typeface="Calibri"/>
                        </a:rPr>
                        <a:t>exposure hot files (2.9.0)</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0E7C86"/>
                          </a:solidFill>
                          <a:latin typeface="Consolas"/>
                        </a:rPr>
                        <a:t>DRISHTI_EXPOSURE_HOT_DIR</a:t>
                      </a:r>
                      <a:r>
                        <a:rPr sz="1100" b="0" i="0">
                          <a:solidFill>
                            <a:srgbClr val="1C2433"/>
                          </a:solidFill>
                          <a:latin typeface="Calibri"/>
                        </a:rPr>
                        <a:t>: local disk</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dates within retention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100" b="0" i="0">
                          <a:solidFill>
                            <a:srgbClr val="1C2433"/>
                          </a:solidFill>
                          <a:latin typeface="Calibri"/>
                        </a:rPr>
                        <a:t>rebuilt from the lake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bl>
          </a:graphicData>
        </a:graphic>
      </p:graphicFrame>
      <p:sp>
        <p:nvSpPr>
          <p:cNvPr id="10" name="Callout"/>
          <p:cNvSpPr/>
          <p:nvPr/>
        </p:nvSpPr>
        <p:spPr>
          <a:xfrm>
            <a:off x="411480" y="5989320"/>
            <a:ext cx="11365992" cy="384048"/>
          </a:xfrm>
          <a:prstGeom prst="roundRect">
            <a:avLst>
              <a:gd name="adj" fmla="val 6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allout edge"/>
          <p:cNvSpPr/>
          <p:nvPr/>
        </p:nvSpPr>
        <p:spPr>
          <a:xfrm>
            <a:off x="411480" y="6007607"/>
            <a:ext cx="82296" cy="34747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640080" y="6062472"/>
            <a:ext cx="11000232" cy="237744"/>
          </a:xfrm>
          <a:prstGeom prst="rect">
            <a:avLst/>
          </a:prstGeom>
          <a:noFill/>
        </p:spPr>
        <p:txBody>
          <a:bodyPr wrap="square" lIns="0" rIns="0" tIns="0" bIns="0" anchor="ctr">
            <a:spAutoFit/>
          </a:bodyPr>
          <a:lstStyle/>
          <a:p>
            <a:pPr algn="l">
              <a:spcAft>
                <a:spcPts val="600"/>
              </a:spcAft>
              <a:buNone/>
            </a:pPr>
            <a:r>
              <a:rPr sz="1200" b="0" i="0">
                <a:solidFill>
                  <a:srgbClr val="1C2433"/>
                </a:solidFill>
                <a:latin typeface="Calibri"/>
              </a:rPr>
              <a:t>The disk caches default to </a:t>
            </a:r>
            <a:r>
              <a:rPr sz="1100" b="0" i="0">
                <a:solidFill>
                  <a:srgbClr val="0E7C86"/>
                </a:solidFill>
                <a:latin typeface="Consolas"/>
              </a:rPr>
              <a:t>&lt;data dir&gt;/cache/…</a:t>
            </a:r>
            <a:r>
              <a:rPr sz="1200" b="0" i="0">
                <a:solidFill>
                  <a:srgbClr val="1C2433"/>
                </a:solidFill>
                <a:latin typeface="Calibri"/>
              </a:rPr>
              <a:t>, on ECS on EFS; the hot files default under </a:t>
            </a:r>
            <a:r>
              <a:rPr sz="1100" b="0" i="0">
                <a:solidFill>
                  <a:srgbClr val="0E7C86"/>
                </a:solidFill>
                <a:latin typeface="Consolas"/>
              </a:rPr>
              <a:t>&lt;data dir&gt;</a:t>
            </a:r>
            <a:r>
              <a:rPr sz="1200" b="0" i="0">
                <a:solidFill>
                  <a:srgbClr val="1C2433"/>
                </a:solidFill>
                <a:latin typeface="Calibri"/>
              </a:rPr>
              <a:t> too.</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14. EFS or local NVMe for the disk caches and hot files</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14</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76</a:t>
            </a:r>
          </a:p>
        </p:txBody>
      </p:sp>
      <p:graphicFrame>
        <p:nvGraphicFramePr>
          <p:cNvPr id="9" name="Table"/>
          <p:cNvGraphicFramePr>
            <a:graphicFrameLocks noGrp="1"/>
          </p:cNvGraphicFramePr>
          <p:nvPr/>
        </p:nvGraphicFramePr>
        <p:xfrm>
          <a:off x="411480" y="1188720"/>
          <a:ext cx="6492240" cy="3968496"/>
        </p:xfrm>
        <a:graphic>
          <a:graphicData uri="http://schemas.openxmlformats.org/drawingml/2006/table">
            <a:tbl>
              <a:tblPr firstRow="0" bandRow="0">
                <a:tableStyleId>{5940675A-B579-460E-94D1-54222C63F5DA}</a:tableStyleId>
              </a:tblPr>
              <a:tblGrid>
                <a:gridCol w="2103120"/>
                <a:gridCol w="2286000"/>
                <a:gridCol w="2103120"/>
              </a:tblGrid>
              <a:tr h="566928">
                <a:tc>
                  <a:txBody>
                    <a:bodyPr wrap="square"/>
                    <a:lstStyle/>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EFS (default)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Local NVMe (instance store)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566928">
                <a:tc>
                  <a:txBody>
                    <a:bodyPr wrap="square"/>
                    <a:lstStyle/>
                    <a:p>
                      <a:r>
                        <a:rPr sz="1200" b="1" i="0">
                          <a:solidFill>
                            <a:srgbClr val="1C2433"/>
                          </a:solidFill>
                          <a:latin typeface="Calibri"/>
                        </a:rPr>
                        <a:t>Latency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 1 ms an operation (NFS); page cache serves repeated reads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tens of microseconds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66928">
                <a:tc>
                  <a:txBody>
                    <a:bodyPr wrap="square"/>
                    <a:lstStyle/>
                    <a:p>
                      <a:r>
                        <a:rPr sz="1200" b="1" i="0">
                          <a:solidFill>
                            <a:srgbClr val="1C2433"/>
                          </a:solidFill>
                          <a:latin typeface="Calibri"/>
                        </a:rPr>
                        <a:t>After a task moves host or zone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warm: same folders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empty: rebuilt as users read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66928">
                <a:tc>
                  <a:txBody>
                    <a:bodyPr wrap="square"/>
                    <a:lstStyle/>
                    <a:p>
                      <a:r>
                        <a:rPr sz="1200" b="1" i="0">
                          <a:solidFill>
                            <a:srgbClr val="1C2433"/>
                          </a:solidFill>
                          <a:latin typeface="Calibri"/>
                        </a:rPr>
                        <a:t>Launch type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Fargate or EC2</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EC2 only (m6id, r6id, i4i)</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66928">
                <a:tc>
                  <a:txBody>
                    <a:bodyPr wrap="square"/>
                    <a:lstStyle/>
                    <a:p>
                      <a:r>
                        <a:rPr sz="1200" b="1" i="0">
                          <a:solidFill>
                            <a:srgbClr val="1C2433"/>
                          </a:solidFill>
                          <a:latin typeface="Calibri"/>
                        </a:rPr>
                        <a:t>Cost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EFS Standard ≈ USD 0.30/GB-month + Elastic charges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included in the instance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66928">
                <a:tc>
                  <a:txBody>
                    <a:bodyPr wrap="square"/>
                    <a:lstStyle/>
                    <a:p>
                      <a:r>
                        <a:rPr sz="1200" b="1" i="0">
                          <a:solidFill>
                            <a:srgbClr val="1C2433"/>
                          </a:solidFill>
                          <a:latin typeface="Calibri"/>
                        </a:rPr>
                        <a:t>Identical-path rule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satisfied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not: the cache path is on the host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66928">
                <a:tc>
                  <a:txBody>
                    <a:bodyPr wrap="square"/>
                    <a:lstStyle/>
                    <a:p>
                      <a:r>
                        <a:rPr sz="1200" b="1" i="0">
                          <a:solidFill>
                            <a:srgbClr val="1C2433"/>
                          </a:solidFill>
                          <a:latin typeface="Calibri"/>
                        </a:rPr>
                        <a:t>Memory-mapped VaR and exposure hot files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works, but each page fault is an NFS read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what the guides ask for: fast local disk</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bl>
          </a:graphicData>
        </a:graphic>
      </p:graphicFrame>
      <p:sp>
        <p:nvSpPr>
          <p:cNvPr id="10" name="Code block"/>
          <p:cNvSpPr/>
          <p:nvPr/>
        </p:nvSpPr>
        <p:spPr>
          <a:xfrm>
            <a:off x="7132320" y="1188720"/>
            <a:ext cx="4645152" cy="2148840"/>
          </a:xfrm>
          <a:prstGeom prst="roundRect">
            <a:avLst>
              <a:gd name="adj" fmla="val 4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
          <p:cNvSpPr txBox="1"/>
          <p:nvPr/>
        </p:nvSpPr>
        <p:spPr>
          <a:xfrm>
            <a:off x="7242048" y="1252728"/>
            <a:ext cx="4425696" cy="2020824"/>
          </a:xfrm>
          <a:prstGeom prst="rect">
            <a:avLst/>
          </a:prstGeom>
          <a:noFill/>
        </p:spPr>
        <p:txBody>
          <a:bodyPr wrap="square" lIns="0" rIns="0" tIns="0" bIns="0" anchor="ctr">
            <a:spAutoFit/>
          </a:bodyPr>
          <a:lstStyle/>
          <a:p>
            <a:pPr>
              <a:spcAft>
                <a:spcPts val="0"/>
              </a:spcAft>
              <a:buNone/>
            </a:pPr>
            <a:r>
              <a:rPr sz="1100" b="0" i="0">
                <a:solidFill>
                  <a:srgbClr val="E6EDF3"/>
                </a:solidFill>
                <a:latin typeface="Consolas"/>
              </a:rPr>
              <a:t># config/connectors/trade-endur.yaml</a:t>
            </a:r>
          </a:p>
          <a:p>
            <a:pPr>
              <a:spcAft>
                <a:spcPts val="0"/>
              </a:spcAft>
              <a:buNone/>
            </a:pPr>
            <a:r>
              <a:rPr sz="1100" b="0" i="0">
                <a:solidFill>
                  <a:srgbClr val="E6EDF3"/>
                </a:solidFill>
                <a:latin typeface="Consolas"/>
              </a:rPr>
              <a:t>id-map-disk.dir:</a:t>
            </a:r>
          </a:p>
          <a:p>
            <a:pPr>
              <a:spcAft>
                <a:spcPts val="0"/>
              </a:spcAft>
              <a:buNone/>
            </a:pPr>
            <a:r>
              <a:rPr sz="1100" b="0" i="0">
                <a:solidFill>
                  <a:srgbClr val="E6EDF3"/>
                </a:solidFill>
                <a:latin typeface="Consolas"/>
              </a:rPr>
              <a:t>  /opt/drishti/nvme/cache/trade-endur/idmaps</a:t>
            </a:r>
          </a:p>
          <a:p>
            <a:pPr>
              <a:spcAft>
                <a:spcPts val="0"/>
              </a:spcAft>
              <a:buNone/>
            </a:pPr>
            <a:r>
              <a:rPr sz="1100" b="0" i="0">
                <a:solidFill>
                  <a:srgbClr val="E6EDF3"/>
                </a:solidFill>
                <a:latin typeface="Consolas"/>
              </a:rPr>
              <a:t>doc-disk-cache.dir:</a:t>
            </a:r>
          </a:p>
          <a:p>
            <a:pPr>
              <a:spcAft>
                <a:spcPts val="0"/>
              </a:spcAft>
              <a:buNone/>
            </a:pPr>
            <a:r>
              <a:rPr sz="1100" b="0" i="0">
                <a:solidFill>
                  <a:srgbClr val="E6EDF3"/>
                </a:solidFill>
                <a:latin typeface="Consolas"/>
              </a:rPr>
              <a:t>  /opt/drishti/nvme/cache/trade-endur/docs</a:t>
            </a:r>
          </a:p>
          <a:p>
            <a:pPr>
              <a:spcAft>
                <a:spcPts val="0"/>
              </a:spcAft>
              <a:buNone/>
            </a:pPr>
            <a:r>
              <a:rPr sz="1100" b="0" i="0">
                <a:solidFill>
                  <a:srgbClr val="E6EDF3"/>
                </a:solidFill>
                <a:latin typeface="Consolas"/>
              </a:rPr>
              <a:t># the server task</a:t>
            </a:r>
          </a:p>
          <a:p>
            <a:pPr>
              <a:spcAft>
                <a:spcPts val="0"/>
              </a:spcAft>
              <a:buNone/>
            </a:pPr>
            <a:r>
              <a:rPr sz="1100" b="0" i="0">
                <a:solidFill>
                  <a:srgbClr val="E6EDF3"/>
                </a:solidFill>
                <a:latin typeface="Consolas"/>
              </a:rPr>
              <a:t>DRISHTI_VAR_HOT_DIR=/opt/drishti/nvme/var/hot</a:t>
            </a:r>
          </a:p>
          <a:p>
            <a:pPr>
              <a:spcAft>
                <a:spcPts val="0"/>
              </a:spcAft>
              <a:buNone/>
            </a:pPr>
            <a:r>
              <a:rPr sz="1100" b="0" i="0">
                <a:solidFill>
                  <a:srgbClr val="E6EDF3"/>
                </a:solidFill>
                <a:latin typeface="Consolas"/>
              </a:rPr>
              <a:t>DRISHTI_EXPOSURE_HOT_DIR=/opt/drishti/nvme/ccr/hot</a:t>
            </a:r>
          </a:p>
        </p:txBody>
      </p:sp>
      <p:sp>
        <p:nvSpPr>
          <p:cNvPr id="12" name="Callout"/>
          <p:cNvSpPr/>
          <p:nvPr/>
        </p:nvSpPr>
        <p:spPr>
          <a:xfrm>
            <a:off x="7132320" y="3520440"/>
            <a:ext cx="4645152" cy="1828800"/>
          </a:xfrm>
          <a:prstGeom prst="roundRect">
            <a:avLst>
              <a:gd name="adj" fmla="val 6000"/>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allout edge"/>
          <p:cNvSpPr/>
          <p:nvPr/>
        </p:nvSpPr>
        <p:spPr>
          <a:xfrm>
            <a:off x="7132320" y="3538728"/>
            <a:ext cx="82296" cy="1792224"/>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7360920" y="3593592"/>
            <a:ext cx="4279392" cy="1682496"/>
          </a:xfrm>
          <a:prstGeom prst="rect">
            <a:avLst/>
          </a:prstGeom>
          <a:noFill/>
        </p:spPr>
        <p:txBody>
          <a:bodyPr wrap="square" lIns="0" rIns="0" tIns="0" bIns="0" anchor="t">
            <a:spAutoFit/>
          </a:bodyPr>
          <a:lstStyle/>
          <a:p>
            <a:pPr algn="l">
              <a:spcAft>
                <a:spcPts val="600"/>
              </a:spcAft>
              <a:buNone/>
            </a:pPr>
            <a:r>
              <a:rPr sz="1300" b="1" i="0">
                <a:solidFill>
                  <a:srgbClr val="1C2433"/>
                </a:solidFill>
                <a:latin typeface="Calibri"/>
              </a:rPr>
              <a:t>Recommendation</a:t>
            </a:r>
          </a:p>
          <a:p>
            <a:pPr algn="l">
              <a:spcAft>
                <a:spcPts val="600"/>
              </a:spcAft>
              <a:buNone/>
            </a:pPr>
            <a:r>
              <a:rPr sz="1300" b="0" i="0">
                <a:solidFill>
                  <a:srgbClr val="1C2433"/>
                </a:solidFill>
                <a:latin typeface="Calibri"/>
              </a:rPr>
              <a:t>Start the connector caches on EFS. Put the VaR and exposure hot files on NVMe from the start (</a:t>
            </a:r>
            <a:r>
              <a:rPr sz="1200" b="0" i="0">
                <a:solidFill>
                  <a:srgbClr val="0E7C86"/>
                </a:solidFill>
                <a:latin typeface="Consolas"/>
              </a:rPr>
              <a:t>register.sh --nodes --cache nvme</a:t>
            </a:r>
            <a:r>
              <a:rPr sz="1300" b="0" i="0">
                <a:solidFill>
                  <a:srgbClr val="1C2433"/>
                </a:solidFill>
                <a:latin typeface="Calibri"/>
              </a:rPr>
              <a:t>, EC2): they are rebuildable and memory-mapped. The NVMe exception is the product owner's decision.</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Number"/>
          <p:cNvSpPr txBox="1"/>
          <p:nvPr/>
        </p:nvSpPr>
        <p:spPr>
          <a:xfrm>
            <a:off x="4754880" y="-822960"/>
            <a:ext cx="7223760" cy="7863840"/>
          </a:xfrm>
          <a:prstGeom prst="rect">
            <a:avLst/>
          </a:prstGeom>
          <a:noFill/>
        </p:spPr>
        <p:txBody>
          <a:bodyPr wrap="square" lIns="0" rIns="0" tIns="0" bIns="0" anchor="ctr">
            <a:spAutoFit/>
          </a:bodyPr>
          <a:lstStyle/>
          <a:p>
            <a:pPr algn="r">
              <a:spcAft>
                <a:spcPts val="600"/>
              </a:spcAft>
              <a:buNone/>
            </a:pPr>
            <a:r>
              <a:rPr sz="42000" b="1" i="0">
                <a:solidFill>
                  <a:srgbClr val="1C3560"/>
                </a:solidFill>
                <a:latin typeface="Calibri"/>
              </a:rPr>
              <a:t>15</a:t>
            </a:r>
          </a:p>
        </p:txBody>
      </p:sp>
      <p:sp>
        <p:nvSpPr>
          <p:cNvPr id="4" name="Title"/>
          <p:cNvSpPr txBox="1"/>
          <p:nvPr/>
        </p:nvSpPr>
        <p:spPr>
          <a:xfrm>
            <a:off x="822960" y="2514600"/>
            <a:ext cx="6949440" cy="1828800"/>
          </a:xfrm>
          <a:prstGeom prst="rect">
            <a:avLst/>
          </a:prstGeom>
          <a:noFill/>
        </p:spPr>
        <p:txBody>
          <a:bodyPr wrap="square" lIns="0" rIns="0" tIns="0" bIns="0" anchor="ctr">
            <a:spAutoFit/>
          </a:bodyPr>
          <a:lstStyle/>
          <a:p>
            <a:pPr algn="l">
              <a:spcAft>
                <a:spcPts val="600"/>
              </a:spcAft>
              <a:buNone/>
            </a:pPr>
            <a:r>
              <a:rPr sz="4400" b="1" i="0">
                <a:solidFill>
                  <a:srgbClr val="FFFFFF"/>
                </a:solidFill>
                <a:latin typeface="Calibri"/>
              </a:rPr>
              <a:t>Staying fast past 200 TB</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15.1 What never scans the whole lake</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15</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78</a:t>
            </a:r>
          </a:p>
        </p:txBody>
      </p:sp>
      <p:graphicFrame>
        <p:nvGraphicFramePr>
          <p:cNvPr id="9" name="Table"/>
          <p:cNvGraphicFramePr>
            <a:graphicFrameLocks noGrp="1"/>
          </p:cNvGraphicFramePr>
          <p:nvPr/>
        </p:nvGraphicFramePr>
        <p:xfrm>
          <a:off x="411480" y="1188720"/>
          <a:ext cx="11365992" cy="5120640"/>
        </p:xfrm>
        <a:graphic>
          <a:graphicData uri="http://schemas.openxmlformats.org/drawingml/2006/table">
            <a:tbl>
              <a:tblPr firstRow="0" bandRow="0">
                <a:tableStyleId>{5940675A-B579-460E-94D1-54222C63F5DA}</a:tableStyleId>
              </a:tblPr>
              <a:tblGrid>
                <a:gridCol w="3291840"/>
                <a:gridCol w="5852160"/>
                <a:gridCol w="2221992"/>
              </a:tblGrid>
              <a:tr h="512064">
                <a:tc>
                  <a:txBody>
                    <a:bodyPr wrap="square"/>
                    <a:lstStyle/>
                    <a:p>
                      <a:r>
                        <a:rPr sz="1200" b="1" i="0">
                          <a:solidFill>
                            <a:srgbClr val="FFFFFF"/>
                          </a:solidFill>
                          <a:latin typeface="Calibri"/>
                        </a:rPr>
                        <a:t>Request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Reads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Grows with history?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512064">
                <a:tc>
                  <a:txBody>
                    <a:bodyPr wrap="square"/>
                    <a:lstStyle/>
                    <a:p>
                      <a:r>
                        <a:rPr sz="1200" b="1" i="0">
                          <a:solidFill>
                            <a:srgbClr val="1C2433"/>
                          </a:solidFill>
                          <a:latin typeface="Calibri"/>
                        </a:rPr>
                        <a:t>Open one entity on a date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the snapshot (in memory, refreshed every 10 s), the day's id map, one row group (≈ 1 MB)</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no</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12064">
                <a:tc>
                  <a:txBody>
                    <a:bodyPr wrap="square"/>
                    <a:lstStyle/>
                    <a:p>
                      <a:r>
                        <a:rPr sz="1200" b="1" i="0">
                          <a:solidFill>
                            <a:srgbClr val="1C2433"/>
                          </a:solidFill>
                          <a:latin typeface="Calibri"/>
                        </a:rPr>
                        <a:t>History of one entity over N days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the days whose id map holds it; one read per day, eight at once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with N, not with the lake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12064">
                <a:tc>
                  <a:txBody>
                    <a:bodyPr wrap="square"/>
                    <a:lstStyle/>
                    <a:p>
                      <a:r>
                        <a:rPr sz="1200" b="1" i="0">
                          <a:solidFill>
                            <a:srgbClr val="1C2433"/>
                          </a:solidFill>
                          <a:latin typeface="Calibri"/>
                        </a:rPr>
                        <a:t>Type-ahead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the newest day's ids and promoted names in memory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no</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12064">
                <a:tc>
                  <a:txBody>
                    <a:bodyPr wrap="square"/>
                    <a:lstStyle/>
                    <a:p>
                      <a:r>
                        <a:rPr sz="1200" b="1" i="0">
                          <a:solidFill>
                            <a:srgbClr val="1C2433"/>
                          </a:solidFill>
                          <a:latin typeface="Calibri"/>
                        </a:rPr>
                        <a:t>Search, pick list, derived kind, impact, DATAMAP count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that day's column set (id + promoted, never documents)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no</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12064">
                <a:tc>
                  <a:txBody>
                    <a:bodyPr wrap="square"/>
                    <a:lstStyle/>
                    <a:p>
                      <a:r>
                        <a:rPr sz="1200" b="1" i="0">
                          <a:solidFill>
                            <a:srgbClr val="1C2433"/>
                          </a:solidFill>
                          <a:latin typeface="Calibri"/>
                        </a:rPr>
                        <a:t>A VaR or exposure date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one streamed pass over the date's vectors, then the hot file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no</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12064">
                <a:tc>
                  <a:txBody>
                    <a:bodyPr wrap="square"/>
                    <a:lstStyle/>
                    <a:p>
                      <a:r>
                        <a:rPr sz="1200" b="1" i="0">
                          <a:solidFill>
                            <a:srgbClr val="1C2433"/>
                          </a:solidFill>
                          <a:latin typeface="Calibri"/>
                        </a:rPr>
                        <a:t>Load, restatement, intraday batch</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one day's files and one commit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no</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12064">
                <a:tc>
                  <a:txBody>
                    <a:bodyPr wrap="square"/>
                    <a:lstStyle/>
                    <a:p>
                      <a:r>
                        <a:rPr sz="1200" b="1" i="0">
                          <a:solidFill>
                            <a:srgbClr val="1C2433"/>
                          </a:solidFill>
                          <a:latin typeface="Calibri"/>
                        </a:rPr>
                        <a:t>Retention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a delete by partition (the log only), one commit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no</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12064">
                <a:tc>
                  <a:txBody>
                    <a:bodyPr wrap="square"/>
                    <a:lstStyle/>
                    <a:p>
                      <a:r>
                        <a:rPr sz="1200" b="1" i="0">
                          <a:solidFill>
                            <a:srgbClr val="1C2433"/>
                          </a:solidFill>
                          <a:latin typeface="Calibri"/>
                        </a:rPr>
                        <a:t>Vacuum (weekly is enough)</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a listing of the table's prefix</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with the file count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12064">
                <a:tc>
                  <a:txBody>
                    <a:bodyPr wrap="square"/>
                    <a:lstStyle/>
                    <a:p>
                      <a:r>
                        <a:rPr sz="1200" b="1" i="0">
                          <a:solidFill>
                            <a:srgbClr val="1C2433"/>
                          </a:solidFill>
                          <a:latin typeface="Calibri"/>
                        </a:rPr>
                        <a:t>Questions over all of history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not interactive: Athena, Trino or Spark on the same tables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bl>
          </a:graphicData>
        </a:graphic>
      </p:graphicFrame>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15.2 History over the lake: TRD &lt;id&gt; 30</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15</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79</a:t>
            </a:r>
          </a:p>
        </p:txBody>
      </p:sp>
      <p:sp>
        <p:nvSpPr>
          <p:cNvPr id="9" name="Code block"/>
          <p:cNvSpPr/>
          <p:nvPr/>
        </p:nvSpPr>
        <p:spPr>
          <a:xfrm>
            <a:off x="411480" y="1188720"/>
            <a:ext cx="11365992" cy="868680"/>
          </a:xfrm>
          <a:prstGeom prst="roundRect">
            <a:avLst>
              <a:gd name="adj" fmla="val 4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
          <p:cNvSpPr txBox="1"/>
          <p:nvPr/>
        </p:nvSpPr>
        <p:spPr>
          <a:xfrm>
            <a:off x="521208" y="1252728"/>
            <a:ext cx="11146536" cy="740664"/>
          </a:xfrm>
          <a:prstGeom prst="rect">
            <a:avLst/>
          </a:prstGeom>
          <a:noFill/>
        </p:spPr>
        <p:txBody>
          <a:bodyPr wrap="square" lIns="0" rIns="0" tIns="0" bIns="0" anchor="ctr">
            <a:spAutoFit/>
          </a:bodyPr>
          <a:lstStyle/>
          <a:p>
            <a:pPr>
              <a:spcAft>
                <a:spcPts val="0"/>
              </a:spcAft>
              <a:buNone/>
            </a:pPr>
            <a:r>
              <a:rPr sz="1100" b="0" i="0">
                <a:solidFill>
                  <a:srgbClr val="E6EDF3"/>
                </a:solidFill>
                <a:latin typeface="Consolas"/>
              </a:rPr>
              <a:t>TRD 1000015 30                  </a:t>
            </a:r>
            <a:r>
              <a:rPr sz="1100" b="0" i="0">
                <a:solidFill>
                  <a:srgbClr val="8B9BB4"/>
                </a:solidFill>
                <a:latin typeface="Consolas"/>
              </a:rPr>
              <a:t>  # the trade over its last 30 business days with data</a:t>
            </a:r>
          </a:p>
          <a:p>
            <a:pPr>
              <a:spcAft>
                <a:spcPts val="0"/>
              </a:spcAft>
              <a:buNone/>
            </a:pPr>
            <a:r>
              <a:rPr sz="1100" b="0" i="0">
                <a:solidFill>
                  <a:srgbClr val="E6EDF3"/>
                </a:solidFill>
                <a:latin typeface="Consolas"/>
              </a:rPr>
              <a:t>TRD 1000015 3M DIFF             </a:t>
            </a:r>
            <a:r>
              <a:rPr sz="1100" b="0" i="0">
                <a:solidFill>
                  <a:srgbClr val="8B9BB4"/>
                </a:solidFill>
                <a:latin typeface="Consolas"/>
              </a:rPr>
              <a:t>  # three months, each day's changes</a:t>
            </a:r>
          </a:p>
          <a:p>
            <a:pPr>
              <a:spcAft>
                <a:spcPts val="0"/>
              </a:spcAft>
              <a:buNone/>
            </a:pPr>
            <a:r>
              <a:rPr sz="1100" b="0" i="0">
                <a:solidFill>
                  <a:srgbClr val="E6EDF3"/>
                </a:solidFill>
                <a:latin typeface="Consolas"/>
              </a:rPr>
              <a:t>GET /api/v1/history/trade/1000015?days=30&amp;knownAt=2026-10-15T18:00:00Z  </a:t>
            </a:r>
            <a:r>
              <a:rPr sz="1100" b="0" i="0">
                <a:solidFill>
                  <a:srgbClr val="8B9BB4"/>
                </a:solidFill>
                <a:latin typeface="Consolas"/>
              </a:rPr>
              <a:t>  # as the lake stood then</a:t>
            </a:r>
          </a:p>
        </p:txBody>
      </p:sp>
      <p:sp>
        <p:nvSpPr>
          <p:cNvPr id="11" name="Rounded Rectangle 10"/>
          <p:cNvSpPr/>
          <p:nvPr/>
        </p:nvSpPr>
        <p:spPr>
          <a:xfrm>
            <a:off x="411480" y="2286000"/>
            <a:ext cx="2606040" cy="150876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502920" y="2331720"/>
            <a:ext cx="242316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days()</a:t>
            </a:r>
          </a:p>
        </p:txBody>
      </p:sp>
      <p:sp>
        <p:nvSpPr>
          <p:cNvPr id="13" name="TextBox 12"/>
          <p:cNvSpPr txBox="1"/>
          <p:nvPr/>
        </p:nvSpPr>
        <p:spPr>
          <a:xfrm>
            <a:off x="502920" y="2651760"/>
            <a:ext cx="2423160" cy="109728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the snapshot's </a:t>
            </a:r>
            <a:r>
              <a:rPr sz="1100" b="0" i="0">
                <a:solidFill>
                  <a:srgbClr val="0E7C86"/>
                </a:solidFill>
                <a:latin typeface="Consolas"/>
              </a:rPr>
              <a:t>business_date=</a:t>
            </a:r>
            <a:r>
              <a:rPr sz="1200" b="0" i="0">
                <a:solidFill>
                  <a:srgbClr val="1C2433"/>
                </a:solidFill>
                <a:latin typeface="Calibri"/>
              </a:rPr>
              <a:t> partitions whose id map holds the id</a:t>
            </a:r>
          </a:p>
        </p:txBody>
      </p:sp>
      <p:cxnSp>
        <p:nvCxnSpPr>
          <p:cNvPr id="14" name="Connector 13"/>
          <p:cNvCxnSpPr/>
          <p:nvPr/>
        </p:nvCxnSpPr>
        <p:spPr>
          <a:xfrm>
            <a:off x="3017520" y="3035808"/>
            <a:ext cx="301752" cy="0"/>
          </a:xfrm>
          <a:prstGeom prst="line">
            <a:avLst/>
          </a:prstGeom>
          <a:ln w="19050">
            <a:solidFill>
              <a:srgbClr val="E87A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328416" y="2286000"/>
            <a:ext cx="2606040" cy="150876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TextBox 15"/>
          <p:cNvSpPr txBox="1"/>
          <p:nvPr/>
        </p:nvSpPr>
        <p:spPr>
          <a:xfrm>
            <a:off x="3419856" y="2331720"/>
            <a:ext cx="242316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one read a day</a:t>
            </a:r>
          </a:p>
        </p:txBody>
      </p:sp>
      <p:sp>
        <p:nvSpPr>
          <p:cNvPr id="17" name="TextBox 16"/>
          <p:cNvSpPr txBox="1"/>
          <p:nvPr/>
        </p:nvSpPr>
        <p:spPr>
          <a:xfrm>
            <a:off x="3419856" y="2651760"/>
            <a:ext cx="2423160" cy="109728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id map → one row group; eight days at once</a:t>
            </a:r>
          </a:p>
        </p:txBody>
      </p:sp>
      <p:cxnSp>
        <p:nvCxnSpPr>
          <p:cNvPr id="18" name="Connector 17"/>
          <p:cNvCxnSpPr/>
          <p:nvPr/>
        </p:nvCxnSpPr>
        <p:spPr>
          <a:xfrm>
            <a:off x="5934456" y="3035808"/>
            <a:ext cx="301752" cy="0"/>
          </a:xfrm>
          <a:prstGeom prst="line">
            <a:avLst/>
          </a:prstGeom>
          <a:ln w="19050">
            <a:solidFill>
              <a:srgbClr val="E87A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45352" y="2286000"/>
            <a:ext cx="2606040" cy="150876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xtBox 19"/>
          <p:cNvSpPr txBox="1"/>
          <p:nvPr/>
        </p:nvSpPr>
        <p:spPr>
          <a:xfrm>
            <a:off x="6336792" y="2331720"/>
            <a:ext cx="242316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mask, then diff</a:t>
            </a:r>
          </a:p>
        </p:txBody>
      </p:sp>
      <p:sp>
        <p:nvSpPr>
          <p:cNvPr id="21" name="TextBox 20"/>
          <p:cNvSpPr txBox="1"/>
          <p:nvPr/>
        </p:nvSpPr>
        <p:spPr>
          <a:xfrm>
            <a:off x="6336792" y="2651760"/>
            <a:ext cx="2423160" cy="109728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each day masked for the caller; changed fields</a:t>
            </a:r>
          </a:p>
        </p:txBody>
      </p:sp>
      <p:cxnSp>
        <p:nvCxnSpPr>
          <p:cNvPr id="22" name="Connector 21"/>
          <p:cNvCxnSpPr/>
          <p:nvPr/>
        </p:nvCxnSpPr>
        <p:spPr>
          <a:xfrm>
            <a:off x="8851392" y="3035808"/>
            <a:ext cx="301752" cy="0"/>
          </a:xfrm>
          <a:prstGeom prst="line">
            <a:avLst/>
          </a:prstGeom>
          <a:ln w="19050">
            <a:solidFill>
              <a:srgbClr val="E87A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162288" y="2286000"/>
            <a:ext cx="2606040" cy="150876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xtBox 23"/>
          <p:cNvSpPr txBox="1"/>
          <p:nvPr/>
        </p:nvSpPr>
        <p:spPr>
          <a:xfrm>
            <a:off x="9253728" y="2331720"/>
            <a:ext cx="242316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answer, cached</a:t>
            </a:r>
          </a:p>
        </p:txBody>
      </p:sp>
      <p:sp>
        <p:nvSpPr>
          <p:cNvPr id="25" name="TextBox 24"/>
          <p:cNvSpPr txBox="1"/>
          <p:nvPr/>
        </p:nvSpPr>
        <p:spPr>
          <a:xfrm>
            <a:off x="9253728" y="2651760"/>
            <a:ext cx="2423160" cy="109728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by the kind's data version</a:t>
            </a:r>
          </a:p>
        </p:txBody>
      </p:sp>
      <p:sp>
        <p:nvSpPr>
          <p:cNvPr id="26" name="TextBox 25"/>
          <p:cNvSpPr txBox="1"/>
          <p:nvPr/>
        </p:nvSpPr>
        <p:spPr>
          <a:xfrm>
            <a:off x="411480" y="4023360"/>
            <a:ext cx="6949440" cy="2286000"/>
          </a:xfrm>
          <a:prstGeom prst="rect">
            <a:avLst/>
          </a:prstGeom>
          <a:noFill/>
        </p:spPr>
        <p:txBody>
          <a:bodyPr wrap="square" lIns="0" rIns="0" tIns="0" bIns="0" anchor="t">
            <a:spAutoFit/>
          </a:bodyPr>
          <a:lstStyle/>
          <a:p>
            <a:pPr algn="l" marL="201168" indent="-201168">
              <a:spcAft>
                <a:spcPts val="600"/>
              </a:spcAft>
              <a:buClr>
                <a:srgbClr val="E87A1E"/>
              </a:buClr>
              <a:buSzPct val="100000"/>
              <a:buFont typeface="Arial"/>
              <a:buChar char="•"/>
            </a:pPr>
            <a:r>
              <a:rPr sz="1300" b="0" i="0">
                <a:solidFill>
                  <a:srgbClr val="1C2433"/>
                </a:solidFill>
                <a:latin typeface="Calibri"/>
              </a:rPr>
              <a:t>A weekend, a holiday or a day the entity was not loaded costs nothing</a:t>
            </a:r>
          </a:p>
          <a:p>
            <a:pPr algn="l" marL="201168" indent="-201168">
              <a:spcAft>
                <a:spcPts val="600"/>
              </a:spcAft>
              <a:buClr>
                <a:srgbClr val="E87A1E"/>
              </a:buClr>
              <a:buSzPct val="100000"/>
              <a:buFont typeface="Arial"/>
              <a:buChar char="•"/>
            </a:pPr>
            <a:r>
              <a:rPr sz="1200" b="0" i="0">
                <a:solidFill>
                  <a:srgbClr val="0E7C86"/>
                </a:solidFill>
                <a:latin typeface="Consolas"/>
              </a:rPr>
              <a:t>knownAt</a:t>
            </a:r>
            <a:r>
              <a:rPr sz="1300" b="0" i="0">
                <a:solidFill>
                  <a:srgbClr val="1C2433"/>
                </a:solidFill>
                <a:latin typeface="Calibri"/>
              </a:rPr>
              <a:t> is Delta time travel: the day as the table stood then</a:t>
            </a:r>
          </a:p>
          <a:p>
            <a:pPr algn="l" marL="201168" indent="-201168">
              <a:spcAft>
                <a:spcPts val="600"/>
              </a:spcAft>
              <a:buClr>
                <a:srgbClr val="E87A1E"/>
              </a:buClr>
              <a:buSzPct val="100000"/>
              <a:buFont typeface="Arial"/>
              <a:buChar char="•"/>
            </a:pPr>
            <a:r>
              <a:rPr sz="1300" b="0" i="0">
                <a:solidFill>
                  <a:srgbClr val="1C2433"/>
                </a:solidFill>
                <a:latin typeface="Calibri"/>
              </a:rPr>
              <a:t>Across Drishti*net: one call to the peer that holds the data, masked on both sides</a:t>
            </a:r>
          </a:p>
          <a:p>
            <a:pPr algn="l" marL="201168" indent="-201168">
              <a:spcAft>
                <a:spcPts val="600"/>
              </a:spcAft>
              <a:buClr>
                <a:srgbClr val="E87A1E"/>
              </a:buClr>
              <a:buSzPct val="100000"/>
              <a:buFont typeface="Arial"/>
              <a:buChar char="•"/>
            </a:pPr>
            <a:r>
              <a:rPr sz="1300" b="0" i="0">
                <a:solidFill>
                  <a:srgbClr val="1C2433"/>
                </a:solidFill>
                <a:latin typeface="Calibri"/>
              </a:rPr>
              <a:t>Works the same on Iceberg (equality test) and on every connector (the contract's default)</a:t>
            </a:r>
          </a:p>
        </p:txBody>
      </p:sp>
      <p:sp>
        <p:nvSpPr>
          <p:cNvPr id="27" name="Callout"/>
          <p:cNvSpPr/>
          <p:nvPr/>
        </p:nvSpPr>
        <p:spPr>
          <a:xfrm>
            <a:off x="7635240" y="4023360"/>
            <a:ext cx="4142232" cy="2286000"/>
          </a:xfrm>
          <a:prstGeom prst="roundRect">
            <a:avLst>
              <a:gd name="adj" fmla="val 6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Callout edge"/>
          <p:cNvSpPr/>
          <p:nvPr/>
        </p:nvSpPr>
        <p:spPr>
          <a:xfrm>
            <a:off x="7635240" y="4041648"/>
            <a:ext cx="82296" cy="224942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xtBox 28"/>
          <p:cNvSpPr txBox="1"/>
          <p:nvPr/>
        </p:nvSpPr>
        <p:spPr>
          <a:xfrm>
            <a:off x="7863840" y="4096512"/>
            <a:ext cx="3776472" cy="2139696"/>
          </a:xfrm>
          <a:prstGeom prst="rect">
            <a:avLst/>
          </a:prstGeom>
          <a:noFill/>
        </p:spPr>
        <p:txBody>
          <a:bodyPr wrap="square" lIns="0" rIns="0" tIns="0" bIns="0" anchor="t">
            <a:spAutoFit/>
          </a:bodyPr>
          <a:lstStyle/>
          <a:p>
            <a:pPr algn="l">
              <a:spcAft>
                <a:spcPts val="600"/>
              </a:spcAft>
              <a:buNone/>
            </a:pPr>
            <a:r>
              <a:rPr sz="1300" b="1" i="0">
                <a:solidFill>
                  <a:srgbClr val="1C2433"/>
                </a:solidFill>
                <a:latin typeface="Calibri"/>
              </a:rPr>
              <a:t>Measured on 1,800 days</a:t>
            </a:r>
          </a:p>
          <a:p>
            <a:pPr algn="l">
              <a:spcAft>
                <a:spcPts val="600"/>
              </a:spcAft>
              <a:buNone/>
            </a:pPr>
            <a:r>
              <a:rPr sz="1300" b="0" i="0">
                <a:solidFill>
                  <a:srgbClr val="1C2433"/>
                </a:solidFill>
                <a:latin typeface="Calibri"/>
              </a:rPr>
              <a:t>a trade on 2019-12-05 in 22 ms; the history reads only the days that hold the entity, so 7 years of lake cost no more than the days asked.</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15.3 Spreading the work over Drishti*net</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15</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80</a:t>
            </a:r>
          </a:p>
        </p:txBody>
      </p:sp>
      <p:sp>
        <p:nvSpPr>
          <p:cNvPr id="9" name="TextBox 8"/>
          <p:cNvSpPr txBox="1"/>
          <p:nvPr/>
        </p:nvSpPr>
        <p:spPr>
          <a:xfrm>
            <a:off x="411480" y="1188720"/>
            <a:ext cx="6675120" cy="3291840"/>
          </a:xfrm>
          <a:prstGeom prst="rect">
            <a:avLst/>
          </a:prstGeom>
          <a:noFill/>
        </p:spPr>
        <p:txBody>
          <a:bodyPr wrap="square" lIns="0" rIns="0" tIns="0" bIns="0" anchor="t">
            <a:spAutoFit/>
          </a:bodyPr>
          <a:lstStyle/>
          <a:p>
            <a:pPr algn="l" marL="201168" indent="-201168">
              <a:spcAft>
                <a:spcPts val="700"/>
              </a:spcAft>
              <a:buClr>
                <a:srgbClr val="E87A1E"/>
              </a:buClr>
              <a:buSzPct val="100000"/>
              <a:buFont typeface="Arial"/>
              <a:buChar char="•"/>
            </a:pPr>
            <a:r>
              <a:rPr sz="1400" b="1" i="0">
                <a:solidFill>
                  <a:srgbClr val="1C2433"/>
                </a:solidFill>
                <a:latin typeface="Calibri"/>
              </a:rPr>
              <a:t>Shards:</a:t>
            </a:r>
            <a:r>
              <a:rPr sz="1400" b="0" i="0">
                <a:solidFill>
                  <a:srgbClr val="1C2433"/>
                </a:solidFill>
                <a:latin typeface="Calibri"/>
              </a:rPr>
              <a:t> nodes whose connectors read different tables of a kind; a search asks every one; a read goes to the holder</a:t>
            </a:r>
          </a:p>
          <a:p>
            <a:pPr algn="l" marL="201168" indent="-201168">
              <a:spcAft>
                <a:spcPts val="700"/>
              </a:spcAft>
              <a:buClr>
                <a:srgbClr val="E87A1E"/>
              </a:buClr>
              <a:buSzPct val="100000"/>
              <a:buFont typeface="Arial"/>
              <a:buChar char="•"/>
            </a:pPr>
            <a:r>
              <a:rPr sz="1400" b="1" i="0">
                <a:solidFill>
                  <a:srgbClr val="1C2433"/>
                </a:solidFill>
                <a:latin typeface="Calibri"/>
              </a:rPr>
              <a:t>Replicas:</a:t>
            </a:r>
            <a:r>
              <a:rPr sz="1400" b="0" i="0">
                <a:solidFill>
                  <a:srgbClr val="1C2433"/>
                </a:solidFill>
                <a:latin typeface="Calibri"/>
              </a:rPr>
              <a:t> nodes on the same table; a forwarded read goes to the same node for the same entity (hash of its id)</a:t>
            </a:r>
          </a:p>
          <a:p>
            <a:pPr algn="l" marL="201168" indent="-201168">
              <a:spcAft>
                <a:spcPts val="700"/>
              </a:spcAft>
              <a:buClr>
                <a:srgbClr val="E87A1E"/>
              </a:buClr>
              <a:buSzPct val="100000"/>
              <a:buFont typeface="Arial"/>
              <a:buChar char="•"/>
            </a:pPr>
            <a:r>
              <a:rPr sz="1400" b="0" i="0">
                <a:solidFill>
                  <a:srgbClr val="1C2433"/>
                </a:solidFill>
                <a:latin typeface="Calibri"/>
              </a:rPr>
              <a:t>Every node can read every table from S3: a failed node costs speed, never answers</a:t>
            </a:r>
          </a:p>
          <a:p>
            <a:pPr algn="l" marL="201168" indent="-201168">
              <a:spcAft>
                <a:spcPts val="700"/>
              </a:spcAft>
              <a:buClr>
                <a:srgbClr val="E87A1E"/>
              </a:buClr>
              <a:buSzPct val="100000"/>
              <a:buFont typeface="Arial"/>
              <a:buChar char="•"/>
            </a:pPr>
            <a:r>
              <a:rPr sz="1400" b="1" i="0">
                <a:solidFill>
                  <a:srgbClr val="1C2433"/>
                </a:solidFill>
                <a:latin typeface="Calibri"/>
              </a:rPr>
              <a:t>Since 2.6.7:</a:t>
            </a:r>
            <a:r>
              <a:rPr sz="1400" b="0" i="0">
                <a:solidFill>
                  <a:srgbClr val="1C2433"/>
                </a:solidFill>
                <a:latin typeface="Calibri"/>
              </a:rPr>
              <a:t> peer data over HTTP/2, one connection per peer; gossip on its own port; history across nodes</a:t>
            </a:r>
          </a:p>
          <a:p>
            <a:pPr algn="l" marL="201168" indent="-201168">
              <a:spcAft>
                <a:spcPts val="700"/>
              </a:spcAft>
              <a:buClr>
                <a:srgbClr val="E87A1E"/>
              </a:buClr>
              <a:buSzPct val="100000"/>
              <a:buFont typeface="Arial"/>
              <a:buChar char="•"/>
            </a:pPr>
            <a:r>
              <a:rPr sz="1400" b="1" i="0">
                <a:solidFill>
                  <a:srgbClr val="1C2433"/>
                </a:solidFill>
                <a:latin typeface="Calibri"/>
              </a:rPr>
              <a:t>VaR:</a:t>
            </a:r>
            <a:r>
              <a:rPr sz="1400" b="0" i="0">
                <a:solidFill>
                  <a:srgbClr val="1C2433"/>
                </a:solidFill>
                <a:latin typeface="Calibri"/>
              </a:rPr>
              <a:t> each server loads whole dates; sharding one date is DESIGNED (2.9.6)</a:t>
            </a:r>
          </a:p>
        </p:txBody>
      </p:sp>
      <p:sp>
        <p:nvSpPr>
          <p:cNvPr id="10" name="Rounded Rectangle 9"/>
          <p:cNvSpPr/>
          <p:nvPr/>
        </p:nvSpPr>
        <p:spPr>
          <a:xfrm>
            <a:off x="7315200" y="1188720"/>
            <a:ext cx="2176272" cy="114300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7406640" y="1234440"/>
            <a:ext cx="1993391"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drishti-a</a:t>
            </a:r>
          </a:p>
        </p:txBody>
      </p:sp>
      <p:sp>
        <p:nvSpPr>
          <p:cNvPr id="12" name="TextBox 11"/>
          <p:cNvSpPr txBox="1"/>
          <p:nvPr/>
        </p:nvSpPr>
        <p:spPr>
          <a:xfrm>
            <a:off x="7406640" y="1554480"/>
            <a:ext cx="1993391" cy="73152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trade_endur</a:t>
            </a:r>
          </a:p>
        </p:txBody>
      </p:sp>
      <p:sp>
        <p:nvSpPr>
          <p:cNvPr id="13" name="Rounded Rectangle 12"/>
          <p:cNvSpPr/>
          <p:nvPr/>
        </p:nvSpPr>
        <p:spPr>
          <a:xfrm>
            <a:off x="9582912" y="1188720"/>
            <a:ext cx="2176272" cy="114300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9674352" y="1234440"/>
            <a:ext cx="1993391"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drishti-b</a:t>
            </a:r>
          </a:p>
        </p:txBody>
      </p:sp>
      <p:sp>
        <p:nvSpPr>
          <p:cNvPr id="15" name="TextBox 14"/>
          <p:cNvSpPr txBox="1"/>
          <p:nvPr/>
        </p:nvSpPr>
        <p:spPr>
          <a:xfrm>
            <a:off x="9674352" y="1554480"/>
            <a:ext cx="1993391" cy="73152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trade_endur (replica)</a:t>
            </a:r>
          </a:p>
        </p:txBody>
      </p:sp>
      <p:sp>
        <p:nvSpPr>
          <p:cNvPr id="16" name="Rounded Rectangle 15"/>
          <p:cNvSpPr/>
          <p:nvPr/>
        </p:nvSpPr>
        <p:spPr>
          <a:xfrm>
            <a:off x="7315200" y="2514600"/>
            <a:ext cx="2176272" cy="114300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xtBox 16"/>
          <p:cNvSpPr txBox="1"/>
          <p:nvPr/>
        </p:nvSpPr>
        <p:spPr>
          <a:xfrm>
            <a:off x="7406640" y="2560320"/>
            <a:ext cx="1993391"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drishti-c</a:t>
            </a:r>
          </a:p>
        </p:txBody>
      </p:sp>
      <p:sp>
        <p:nvSpPr>
          <p:cNvPr id="18" name="TextBox 17"/>
          <p:cNvSpPr txBox="1"/>
          <p:nvPr/>
        </p:nvSpPr>
        <p:spPr>
          <a:xfrm>
            <a:off x="7406640" y="2880360"/>
            <a:ext cx="1993391" cy="73152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trade_calypso, trade_murex</a:t>
            </a:r>
          </a:p>
        </p:txBody>
      </p:sp>
      <p:sp>
        <p:nvSpPr>
          <p:cNvPr id="19" name="Rounded Rectangle 18"/>
          <p:cNvSpPr/>
          <p:nvPr/>
        </p:nvSpPr>
        <p:spPr>
          <a:xfrm>
            <a:off x="9582912" y="2514600"/>
            <a:ext cx="2176272" cy="114300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xtBox 19"/>
          <p:cNvSpPr txBox="1"/>
          <p:nvPr/>
        </p:nvSpPr>
        <p:spPr>
          <a:xfrm>
            <a:off x="9674352" y="2560320"/>
            <a:ext cx="1993391"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drishti-d</a:t>
            </a:r>
          </a:p>
        </p:txBody>
      </p:sp>
      <p:sp>
        <p:nvSpPr>
          <p:cNvPr id="21" name="TextBox 20"/>
          <p:cNvSpPr txBox="1"/>
          <p:nvPr/>
        </p:nvSpPr>
        <p:spPr>
          <a:xfrm>
            <a:off x="9674352" y="2880360"/>
            <a:ext cx="1993391" cy="73152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risk/ (VaR, exposure)</a:t>
            </a:r>
          </a:p>
        </p:txBody>
      </p:sp>
      <p:sp>
        <p:nvSpPr>
          <p:cNvPr id="22" name="Rounded Rectangle 21"/>
          <p:cNvSpPr/>
          <p:nvPr/>
        </p:nvSpPr>
        <p:spPr>
          <a:xfrm>
            <a:off x="7315200" y="3931920"/>
            <a:ext cx="4443984" cy="822960"/>
          </a:xfrm>
          <a:prstGeom prst="roundRect">
            <a:avLst>
              <a:gd name="adj" fmla="val 6000"/>
            </a:avLst>
          </a:prstGeom>
          <a:solidFill>
            <a:srgbClr val="DDEE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xtBox 22"/>
          <p:cNvSpPr txBox="1"/>
          <p:nvPr/>
        </p:nvSpPr>
        <p:spPr>
          <a:xfrm>
            <a:off x="7406640" y="3977639"/>
            <a:ext cx="4261104"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S3 lake</a:t>
            </a:r>
          </a:p>
        </p:txBody>
      </p:sp>
      <p:sp>
        <p:nvSpPr>
          <p:cNvPr id="24" name="TextBox 23"/>
          <p:cNvSpPr txBox="1"/>
          <p:nvPr/>
        </p:nvSpPr>
        <p:spPr>
          <a:xfrm>
            <a:off x="7406640" y="4297680"/>
            <a:ext cx="4261104" cy="41148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every node can read every table</a:t>
            </a:r>
          </a:p>
        </p:txBody>
      </p:sp>
      <p:cxnSp>
        <p:nvCxnSpPr>
          <p:cNvPr id="25" name="Connector 24"/>
          <p:cNvCxnSpPr/>
          <p:nvPr/>
        </p:nvCxnSpPr>
        <p:spPr>
          <a:xfrm>
            <a:off x="9537192" y="3703320"/>
            <a:ext cx="0" cy="228600"/>
          </a:xfrm>
          <a:prstGeom prst="line">
            <a:avLst/>
          </a:prstGeom>
          <a:ln w="19050">
            <a:solidFill>
              <a:srgbClr val="E87A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Callout"/>
          <p:cNvSpPr/>
          <p:nvPr/>
        </p:nvSpPr>
        <p:spPr>
          <a:xfrm>
            <a:off x="411480" y="4892040"/>
            <a:ext cx="11365992" cy="1417320"/>
          </a:xfrm>
          <a:prstGeom prst="roundRect">
            <a:avLst>
              <a:gd name="adj" fmla="val 6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Callout edge"/>
          <p:cNvSpPr/>
          <p:nvPr/>
        </p:nvSpPr>
        <p:spPr>
          <a:xfrm>
            <a:off x="411480" y="4910327"/>
            <a:ext cx="82296" cy="138074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TextBox 27"/>
          <p:cNvSpPr txBox="1"/>
          <p:nvPr/>
        </p:nvSpPr>
        <p:spPr>
          <a:xfrm>
            <a:off x="640080" y="4965192"/>
            <a:ext cx="11000232" cy="1271016"/>
          </a:xfrm>
          <a:prstGeom prst="rect">
            <a:avLst/>
          </a:prstGeom>
          <a:noFill/>
        </p:spPr>
        <p:txBody>
          <a:bodyPr wrap="square" lIns="0" rIns="0" tIns="0" bIns="0" anchor="ctr">
            <a:spAutoFit/>
          </a:bodyPr>
          <a:lstStyle/>
          <a:p>
            <a:pPr algn="l">
              <a:spcAft>
                <a:spcPts val="600"/>
              </a:spcAft>
              <a:buNone/>
            </a:pPr>
            <a:r>
              <a:rPr sz="1300" b="1" i="0">
                <a:solidFill>
                  <a:srgbClr val="1C2433"/>
                </a:solidFill>
                <a:latin typeface="Calibri"/>
              </a:rPr>
              <a:t>DESIGNED (SUPER_SCALE S5, S6; VAR_GUIDE.md 28):</a:t>
            </a:r>
          </a:p>
          <a:p>
            <a:pPr algn="l">
              <a:spcAft>
                <a:spcPts val="600"/>
              </a:spcAft>
              <a:buNone/>
            </a:pPr>
            <a:r>
              <a:rPr sz="1300" b="0" i="0">
                <a:solidFill>
                  <a:srgbClr val="1C2433"/>
                </a:solidFill>
                <a:latin typeface="Calibri"/>
              </a:rPr>
              <a:t>ownership of (table, day) slices on the ring, so N servers on one table hold N × one server's working set; and a VaR date sharded by legal entity and desk, partial vectors added in a fixed order.</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15.4 The numbers to watch: report.sh</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15</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81</a:t>
            </a:r>
          </a:p>
        </p:txBody>
      </p:sp>
      <p:sp>
        <p:nvSpPr>
          <p:cNvPr id="9" name="Code block"/>
          <p:cNvSpPr/>
          <p:nvPr/>
        </p:nvSpPr>
        <p:spPr>
          <a:xfrm>
            <a:off x="411480" y="1188720"/>
            <a:ext cx="11365992" cy="1920240"/>
          </a:xfrm>
          <a:prstGeom prst="roundRect">
            <a:avLst>
              <a:gd name="adj" fmla="val 4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
          <p:cNvSpPr txBox="1"/>
          <p:nvPr/>
        </p:nvSpPr>
        <p:spPr>
          <a:xfrm>
            <a:off x="521208" y="1252728"/>
            <a:ext cx="11146536" cy="1792224"/>
          </a:xfrm>
          <a:prstGeom prst="rect">
            <a:avLst/>
          </a:prstGeom>
          <a:noFill/>
        </p:spPr>
        <p:txBody>
          <a:bodyPr wrap="square" lIns="0" rIns="0" tIns="0" bIns="0" anchor="ctr">
            <a:spAutoFit/>
          </a:bodyPr>
          <a:lstStyle/>
          <a:p>
            <a:pPr>
              <a:spcAft>
                <a:spcPts val="0"/>
              </a:spcAft>
              <a:buNone/>
            </a:pPr>
            <a:r>
              <a:rPr sz="1200" b="0" i="0">
                <a:solidFill>
                  <a:srgbClr val="E6EDF3"/>
                </a:solidFill>
                <a:latin typeface="Consolas"/>
              </a:rPr>
              <a:t>bucket acme-drishti-prod-lake (CloudWatch daily storage metrics):</a:t>
            </a:r>
          </a:p>
          <a:p>
            <a:pPr>
              <a:spcAft>
                <a:spcPts val="0"/>
              </a:spcAft>
              <a:buNone/>
            </a:pPr>
            <a:r>
              <a:rPr sz="1200" b="0" i="0">
                <a:solidFill>
                  <a:srgbClr val="E6EDF3"/>
                </a:solidFill>
                <a:latin typeface="Consolas"/>
              </a:rPr>
              <a:t>  StandardStorage                         10412.3 GB</a:t>
            </a:r>
          </a:p>
          <a:p>
            <a:pPr>
              <a:spcAft>
                <a:spcPts val="0"/>
              </a:spcAft>
              <a:buNone/>
            </a:pPr>
            <a:r>
              <a:rPr sz="1200" b="0" i="0">
                <a:solidFill>
                  <a:srgbClr val="E6EDF3"/>
                </a:solidFill>
                <a:latin typeface="Consolas"/>
              </a:rPr>
              <a:t>  StandardIAStorage                       46120.8 GB</a:t>
            </a:r>
          </a:p>
          <a:p>
            <a:pPr>
              <a:spcAft>
                <a:spcPts val="0"/>
              </a:spcAft>
              <a:buNone/>
            </a:pPr>
            <a:r>
              <a:rPr sz="1200" b="0" i="0">
                <a:solidFill>
                  <a:srgbClr val="E6EDF3"/>
                </a:solidFill>
                <a:latin typeface="Consolas"/>
              </a:rPr>
              <a:t>  GlacierInstantRetrievalStorage         143998.1 GB</a:t>
            </a:r>
          </a:p>
          <a:p>
            <a:pPr>
              <a:spcAft>
                <a:spcPts val="0"/>
              </a:spcAft>
              <a:buNone/>
            </a:pPr>
            <a:r>
              <a:rPr sz="1200" b="0" i="0">
                <a:solidFill>
                  <a:srgbClr val="E6EDF3"/>
                </a:solidFill>
                <a:latin typeface="Consolas"/>
              </a:rPr>
              <a:t>  objects                          672310</a:t>
            </a:r>
          </a:p>
          <a:p>
            <a:pPr>
              <a:spcAft>
                <a:spcPts val="0"/>
              </a:spcAft>
              <a:buNone/>
            </a:pPr>
          </a:p>
          <a:p>
            <a:pPr>
              <a:spcAft>
                <a:spcPts val="0"/>
              </a:spcAft>
              <a:buNone/>
            </a:pPr>
            <a:r>
              <a:rPr sz="1200" b="0" i="0">
                <a:solidFill>
                  <a:srgbClr val="E6EDF3"/>
                </a:solidFill>
                <a:latin typeface="Consolas"/>
              </a:rPr>
              <a:t>table                        version  checkpoint  behind   dates       newest   files GB(newest)    &lt;32MB</a:t>
            </a:r>
          </a:p>
          <a:p>
            <a:pPr>
              <a:spcAft>
                <a:spcPts val="0"/>
              </a:spcAft>
              <a:buNone/>
            </a:pPr>
            <a:r>
              <a:rPr sz="1200" b="0" i="0">
                <a:solidFill>
                  <a:srgbClr val="E6EDF3"/>
                </a:solidFill>
                <a:latin typeface="Consolas"/>
              </a:rPr>
              <a:t>trading/trade_endur             4512        4510       2    1764   2026-10-20     128      41.37        0</a:t>
            </a:r>
          </a:p>
        </p:txBody>
      </p:sp>
      <p:sp>
        <p:nvSpPr>
          <p:cNvPr id="11" name="TextBox 10"/>
          <p:cNvSpPr txBox="1"/>
          <p:nvPr/>
        </p:nvSpPr>
        <p:spPr>
          <a:xfrm>
            <a:off x="411480" y="3383280"/>
            <a:ext cx="11365992" cy="2377440"/>
          </a:xfrm>
          <a:prstGeom prst="rect">
            <a:avLst/>
          </a:prstGeom>
          <a:noFill/>
        </p:spPr>
        <p:txBody>
          <a:bodyPr wrap="square" lIns="0" rIns="0" tIns="0" bIns="0" anchor="t">
            <a:spAutoFit/>
          </a:bodyPr>
          <a:lstStyle/>
          <a:p>
            <a:pPr algn="l" marL="201168" indent="-201168">
              <a:spcAft>
                <a:spcPts val="800"/>
              </a:spcAft>
              <a:buClr>
                <a:srgbClr val="E87A1E"/>
              </a:buClr>
              <a:buSzPct val="100000"/>
              <a:buFont typeface="Arial"/>
              <a:buChar char="•"/>
            </a:pPr>
            <a:r>
              <a:rPr sz="1300" b="0" i="0">
                <a:solidFill>
                  <a:srgbClr val="0E7C86"/>
                </a:solidFill>
                <a:latin typeface="Consolas"/>
              </a:rPr>
              <a:t>report.sh</a:t>
            </a:r>
            <a:r>
              <a:rPr sz="1400" b="0" i="0">
                <a:solidFill>
                  <a:srgbClr val="1C2433"/>
                </a:solidFill>
                <a:latin typeface="Calibri"/>
              </a:rPr>
              <a:t> is scheduled daily (</a:t>
            </a:r>
            <a:r>
              <a:rPr sz="1300" b="0" i="0">
                <a:solidFill>
                  <a:srgbClr val="0E7C86"/>
                </a:solidFill>
                <a:latin typeface="Consolas"/>
              </a:rPr>
              <a:t>REPORT_SCHEDULE</a:t>
            </a:r>
            <a:r>
              <a:rPr sz="1400" b="0" i="0">
                <a:solidFill>
                  <a:srgbClr val="1C2433"/>
                </a:solidFill>
                <a:latin typeface="Calibri"/>
              </a:rPr>
              <a:t>), prints these and sends them to CloudWatch; numbers illustrative for ≈ 200 TB</a:t>
            </a:r>
          </a:p>
          <a:p>
            <a:pPr algn="l" marL="201168" indent="-201168">
              <a:spcAft>
                <a:spcPts val="800"/>
              </a:spcAft>
              <a:buClr>
                <a:srgbClr val="E87A1E"/>
              </a:buClr>
              <a:buSzPct val="100000"/>
              <a:buFont typeface="Arial"/>
              <a:buChar char="•"/>
            </a:pPr>
            <a:r>
              <a:rPr sz="1400" b="1" i="0">
                <a:solidFill>
                  <a:srgbClr val="1C2433"/>
                </a:solidFill>
                <a:latin typeface="Calibri"/>
              </a:rPr>
              <a:t>behind</a:t>
            </a:r>
            <a:r>
              <a:rPr sz="1400" b="0" i="0">
                <a:solidFill>
                  <a:srgbClr val="1C2433"/>
                </a:solidFill>
                <a:latin typeface="Calibri"/>
              </a:rPr>
              <a:t> = commits since the last checkpoint: intraday risk tables add commits all day; checkpoints every 10 keep it short</a:t>
            </a:r>
          </a:p>
          <a:p>
            <a:pPr algn="l" marL="201168" indent="-201168">
              <a:spcAft>
                <a:spcPts val="800"/>
              </a:spcAft>
              <a:buClr>
                <a:srgbClr val="E87A1E"/>
              </a:buClr>
              <a:buSzPct val="100000"/>
              <a:buFont typeface="Arial"/>
              <a:buChar char="•"/>
            </a:pPr>
            <a:r>
              <a:rPr sz="1400" b="1" i="0">
                <a:solidFill>
                  <a:srgbClr val="1C2433"/>
                </a:solidFill>
                <a:latin typeface="Calibri"/>
              </a:rPr>
              <a:t>&lt;32MB</a:t>
            </a:r>
            <a:r>
              <a:rPr sz="1400" b="0" i="0">
                <a:solidFill>
                  <a:srgbClr val="1C2433"/>
                </a:solidFill>
                <a:latin typeface="Calibri"/>
              </a:rPr>
              <a:t> = small files of the newest day: should be 0 for the documents; intraday batches are small by nature (maintenance compacts them)</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15.4 The numbers to watch: healthy values and what to do</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15</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82</a:t>
            </a:r>
          </a:p>
        </p:txBody>
      </p:sp>
      <p:graphicFrame>
        <p:nvGraphicFramePr>
          <p:cNvPr id="9" name="Table"/>
          <p:cNvGraphicFramePr>
            <a:graphicFrameLocks noGrp="1"/>
          </p:cNvGraphicFramePr>
          <p:nvPr/>
        </p:nvGraphicFramePr>
        <p:xfrm>
          <a:off x="411480" y="1188720"/>
          <a:ext cx="11365992" cy="4937760"/>
        </p:xfrm>
        <a:graphic>
          <a:graphicData uri="http://schemas.openxmlformats.org/drawingml/2006/table">
            <a:tbl>
              <a:tblPr firstRow="0" bandRow="0">
                <a:tableStyleId>{5940675A-B579-460E-94D1-54222C63F5DA}</a:tableStyleId>
              </a:tblPr>
              <a:tblGrid>
                <a:gridCol w="3291840"/>
                <a:gridCol w="3108960"/>
                <a:gridCol w="4965192"/>
              </a:tblGrid>
              <a:tr h="548640">
                <a:tc>
                  <a:txBody>
                    <a:bodyPr wrap="square"/>
                    <a:lstStyle/>
                    <a:p>
                      <a:r>
                        <a:rPr sz="1200" b="1" i="0">
                          <a:solidFill>
                            <a:srgbClr val="FFFFFF"/>
                          </a:solidFill>
                          <a:latin typeface="Calibri"/>
                        </a:rPr>
                        <a:t>Number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Healthy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If not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548640">
                <a:tc>
                  <a:txBody>
                    <a:bodyPr wrap="square"/>
                    <a:lstStyle/>
                    <a:p>
                      <a:r>
                        <a:rPr sz="1200" b="1" i="0">
                          <a:solidFill>
                            <a:srgbClr val="1C2433"/>
                          </a:solidFill>
                          <a:latin typeface="Calibri"/>
                        </a:rPr>
                        <a:t>behind (commits since the checkpoint)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under 10</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a checkpoint failed: run maintain.sh; alarm log-long above 50</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48640">
                <a:tc>
                  <a:txBody>
                    <a:bodyPr wrap="square"/>
                    <a:lstStyle/>
                    <a:p>
                      <a:r>
                        <a:rPr sz="1200" b="1" i="0">
                          <a:solidFill>
                            <a:srgbClr val="1C2433"/>
                          </a:solidFill>
                          <a:latin typeface="Calibri"/>
                        </a:rPr>
                        <a:t>files of the newest day, and &lt;32MB</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 rows ÷ file-rows per partition; 0 small</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tiny dumps or partitions too fine (5.3)</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48640">
                <a:tc>
                  <a:txBody>
                    <a:bodyPr wrap="square"/>
                    <a:lstStyle/>
                    <a:p>
                      <a:r>
                        <a:rPr sz="1200" b="1" i="0">
                          <a:solidFill>
                            <a:srgbClr val="1C2433"/>
                          </a:solidFill>
                          <a:latin typeface="Calibri"/>
                        </a:rPr>
                        <a:t>live files per table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under ≈ 100,000</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split the table (by source, or by year: S2, DESIGNED)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48640">
                <a:tc>
                  <a:txBody>
                    <a:bodyPr wrap="square"/>
                    <a:lstStyle/>
                    <a:p>
                      <a:r>
                        <a:rPr sz="1200" b="1" i="0">
                          <a:solidFill>
                            <a:srgbClr val="1C2433"/>
                          </a:solidFill>
                          <a:latin typeface="Calibri"/>
                        </a:rPr>
                        <a:t>S3 5xx</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rare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503 Slow Down on one prefix: spread with partitions; alarm lake-s3-5xx</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48640">
                <a:tc>
                  <a:txBody>
                    <a:bodyPr wrap="square"/>
                    <a:lstStyle/>
                    <a:p>
                      <a:r>
                        <a:rPr sz="1200" b="1" i="0">
                          <a:solidFill>
                            <a:srgbClr val="1C2433"/>
                          </a:solidFill>
                          <a:latin typeface="Calibri"/>
                        </a:rPr>
                        <a:t>Admin → Health p50Ms, p99Ms, cold reads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p95 &lt; 300 ms newest days, &lt; 1 s any day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footers and id maps not warm, or EFS latency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48640">
                <a:tc>
                  <a:txBody>
                    <a:bodyPr wrap="square"/>
                    <a:lstStyle/>
                    <a:p>
                      <a:r>
                        <a:rPr sz="1200" b="1" i="0">
                          <a:solidFill>
                            <a:srgbClr val="1C2433"/>
                          </a:solidFill>
                          <a:latin typeface="Calibri"/>
                        </a:rPr>
                        <a:t>Admin → Caches: the one memory budget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under its cap</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raise the heap (8 GB per million entities a day) or shard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48640">
                <a:tc>
                  <a:txBody>
                    <a:bodyPr wrap="square"/>
                    <a:lstStyle/>
                    <a:p>
                      <a:r>
                        <a:rPr sz="1200" b="1" i="0">
                          <a:solidFill>
                            <a:srgbClr val="1C2433"/>
                          </a:solidFill>
                          <a:latin typeface="Calibri"/>
                        </a:rPr>
                        <a:t>Admin → Health </a:t>
                      </a:r>
                      <a:r>
                        <a:rPr sz="1100" b="1" i="0">
                          <a:solidFill>
                            <a:srgbClr val="0E7C86"/>
                          </a:solidFill>
                          <a:latin typeface="Consolas"/>
                        </a:rPr>
                        <a:t>gossipPort</a:t>
                      </a:r>
                      <a:r>
                        <a:rPr sz="1200" b="1" i="0">
                          <a:solidFill>
                            <a:srgbClr val="1C2433"/>
                          </a:solidFill>
                          <a:latin typeface="Calibri"/>
                        </a:rPr>
                        <a:t>, </a:t>
                      </a:r>
                      <a:r>
                        <a:rPr sz="1100" b="1" i="0">
                          <a:solidFill>
                            <a:srgbClr val="0E7C86"/>
                          </a:solidFill>
                          <a:latin typeface="Consolas"/>
                        </a:rPr>
                        <a:t>peerProtocol</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a port, </a:t>
                      </a:r>
                      <a:r>
                        <a:rPr sz="1100" b="0" i="0">
                          <a:solidFill>
                            <a:srgbClr val="0E7C86"/>
                          </a:solidFill>
                          <a:latin typeface="Consolas"/>
                        </a:rPr>
                        <a:t>http2</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0: gossip on the server port (a firewall; slide 28)</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48640">
                <a:tc>
                  <a:txBody>
                    <a:bodyPr wrap="square"/>
                    <a:lstStyle/>
                    <a:p>
                      <a:r>
                        <a:rPr sz="1200" b="1" i="0">
                          <a:solidFill>
                            <a:srgbClr val="1C2433"/>
                          </a:solidFill>
                          <a:latin typeface="Calibri"/>
                        </a:rPr>
                        <a:t>LoadSeconds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well inside the window</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one loader task per table, or larger loader tasks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bl>
          </a:graphicData>
        </a:graphic>
      </p:graphicFrame>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15.5 The CloudWatch alarms (setup-alarms.sh)</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15</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83</a:t>
            </a:r>
          </a:p>
        </p:txBody>
      </p:sp>
      <p:graphicFrame>
        <p:nvGraphicFramePr>
          <p:cNvPr id="9" name="Table"/>
          <p:cNvGraphicFramePr>
            <a:graphicFrameLocks noGrp="1"/>
          </p:cNvGraphicFramePr>
          <p:nvPr/>
        </p:nvGraphicFramePr>
        <p:xfrm>
          <a:off x="411480" y="1188720"/>
          <a:ext cx="11365992" cy="4096512"/>
        </p:xfrm>
        <a:graphic>
          <a:graphicData uri="http://schemas.openxmlformats.org/drawingml/2006/table">
            <a:tbl>
              <a:tblPr firstRow="0" bandRow="0">
                <a:tableStyleId>{5940675A-B579-460E-94D1-54222C63F5DA}</a:tableStyleId>
              </a:tblPr>
              <a:tblGrid>
                <a:gridCol w="4206240"/>
                <a:gridCol w="7159752"/>
              </a:tblGrid>
              <a:tr h="512064">
                <a:tc>
                  <a:txBody>
                    <a:bodyPr wrap="square"/>
                    <a:lstStyle/>
                    <a:p>
                      <a:r>
                        <a:rPr sz="1200" b="1" i="0">
                          <a:solidFill>
                            <a:srgbClr val="FFFFFF"/>
                          </a:solidFill>
                          <a:latin typeface="Calibri"/>
                        </a:rPr>
                        <a:t>Alarm</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Fires when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512064">
                <a:tc>
                  <a:txBody>
                    <a:bodyPr wrap="square"/>
                    <a:lstStyle/>
                    <a:p>
                      <a:r>
                        <a:rPr sz="1100" b="1" i="0">
                          <a:solidFill>
                            <a:srgbClr val="0E7C86"/>
                          </a:solidFill>
                          <a:latin typeface="Consolas"/>
                        </a:rPr>
                        <a:t>drishti-&lt;env&gt;-&lt;table&gt;-load-failed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a load of the table failed (nothing of it was published)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12064">
                <a:tc>
                  <a:txBody>
                    <a:bodyPr wrap="square"/>
                    <a:lstStyle/>
                    <a:p>
                      <a:r>
                        <a:rPr sz="1100" b="1" i="0">
                          <a:solidFill>
                            <a:srgbClr val="0E7C86"/>
                          </a:solidFill>
                          <a:latin typeface="Consolas"/>
                        </a:rPr>
                        <a:t>drishti-&lt;env&gt;-&lt;table&gt;-not-loaded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no successful load for three days running (a weekend is two)</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12064">
                <a:tc>
                  <a:txBody>
                    <a:bodyPr wrap="square"/>
                    <a:lstStyle/>
                    <a:p>
                      <a:r>
                        <a:rPr sz="1100" b="1" i="0">
                          <a:solidFill>
                            <a:srgbClr val="0E7C86"/>
                          </a:solidFill>
                          <a:latin typeface="Consolas"/>
                        </a:rPr>
                        <a:t>drishti-&lt;env&gt;-&lt;table&gt;-load-slow</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a load took longer than </a:t>
                      </a:r>
                      <a:r>
                        <a:rPr sz="1100" b="0" i="0">
                          <a:solidFill>
                            <a:srgbClr val="0E7C86"/>
                          </a:solidFill>
                          <a:latin typeface="Consolas"/>
                        </a:rPr>
                        <a:t>ALARM_PUBLISH_DEADLINE_HOURS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12064">
                <a:tc>
                  <a:txBody>
                    <a:bodyPr wrap="square"/>
                    <a:lstStyle/>
                    <a:p>
                      <a:r>
                        <a:rPr sz="1100" b="1" i="0">
                          <a:solidFill>
                            <a:srgbClr val="0E7C86"/>
                          </a:solidFill>
                          <a:latin typeface="Consolas"/>
                        </a:rPr>
                        <a:t>drishti-&lt;env&gt;-&lt;table&gt;-log-long</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readers replay more than </a:t>
                      </a:r>
                      <a:r>
                        <a:rPr sz="1100" b="0" i="0">
                          <a:solidFill>
                            <a:srgbClr val="0E7C86"/>
                          </a:solidFill>
                          <a:latin typeface="Consolas"/>
                        </a:rPr>
                        <a:t>ALARM_COMMITS_SINCE_CHECKPOINT</a:t>
                      </a:r>
                      <a:r>
                        <a:rPr sz="1200" b="0" i="0">
                          <a:solidFill>
                            <a:srgbClr val="1C2433"/>
                          </a:solidFill>
                          <a:latin typeface="Calibri"/>
                        </a:rPr>
                        <a:t> commits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12064">
                <a:tc>
                  <a:txBody>
                    <a:bodyPr wrap="square"/>
                    <a:lstStyle/>
                    <a:p>
                      <a:r>
                        <a:rPr sz="1100" b="1" i="0">
                          <a:solidFill>
                            <a:srgbClr val="0E7C86"/>
                          </a:solidFill>
                          <a:latin typeface="Consolas"/>
                        </a:rPr>
                        <a:t>drishti-&lt;env&gt;-lake-s3-5xx</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more than </a:t>
                      </a:r>
                      <a:r>
                        <a:rPr sz="1100" b="0" i="0">
                          <a:solidFill>
                            <a:srgbClr val="0E7C86"/>
                          </a:solidFill>
                          <a:latin typeface="Consolas"/>
                        </a:rPr>
                        <a:t>ALARM_S3_5XX_PER_5MIN</a:t>
                      </a:r>
                      <a:r>
                        <a:rPr sz="1200" b="0" i="0">
                          <a:solidFill>
                            <a:srgbClr val="1C2433"/>
                          </a:solidFill>
                          <a:latin typeface="Calibri"/>
                        </a:rPr>
                        <a:t> server errors in 5 minutes, twice in 15</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12064">
                <a:tc>
                  <a:txBody>
                    <a:bodyPr wrap="square"/>
                    <a:lstStyle/>
                    <a:p>
                      <a:r>
                        <a:rPr sz="1100" b="1" i="0">
                          <a:solidFill>
                            <a:srgbClr val="0E7C86"/>
                          </a:solidFill>
                          <a:latin typeface="Consolas"/>
                        </a:rPr>
                        <a:t>drishti-&lt;env&gt;-efs-io-limit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EFS PercentIOLimit above 80 %</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12064">
                <a:tc>
                  <a:txBody>
                    <a:bodyPr wrap="square"/>
                    <a:lstStyle/>
                    <a:p>
                      <a:r>
                        <a:rPr sz="1100" b="1" i="0">
                          <a:solidFill>
                            <a:srgbClr val="0E7C86"/>
                          </a:solidFill>
                          <a:latin typeface="Consolas"/>
                        </a:rPr>
                        <a:t>drishti-&lt;env&gt;-&lt;node&gt;-down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a node's service has no running task for 5 minutes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bl>
          </a:graphicData>
        </a:graphic>
      </p:graphicFrame>
      <p:sp>
        <p:nvSpPr>
          <p:cNvPr id="10" name="Callout"/>
          <p:cNvSpPr/>
          <p:nvPr/>
        </p:nvSpPr>
        <p:spPr>
          <a:xfrm>
            <a:off x="411480" y="5486400"/>
            <a:ext cx="11365992" cy="822960"/>
          </a:xfrm>
          <a:prstGeom prst="roundRect">
            <a:avLst>
              <a:gd name="adj" fmla="val 6000"/>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allout edge"/>
          <p:cNvSpPr/>
          <p:nvPr/>
        </p:nvSpPr>
        <p:spPr>
          <a:xfrm>
            <a:off x="411480" y="5504688"/>
            <a:ext cx="82296" cy="786384"/>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640080" y="5559552"/>
            <a:ext cx="11000232" cy="676656"/>
          </a:xfrm>
          <a:prstGeom prst="rect">
            <a:avLst/>
          </a:prstGeom>
          <a:noFill/>
        </p:spPr>
        <p:txBody>
          <a:bodyPr wrap="square" lIns="0" rIns="0" tIns="0" bIns="0" anchor="ctr">
            <a:spAutoFit/>
          </a:bodyPr>
          <a:lstStyle/>
          <a:p>
            <a:pPr algn="l">
              <a:spcAft>
                <a:spcPts val="600"/>
              </a:spcAft>
              <a:buNone/>
            </a:pPr>
            <a:r>
              <a:rPr sz="1300" b="0" i="0">
                <a:solidFill>
                  <a:srgbClr val="1C2433"/>
                </a:solidFill>
                <a:latin typeface="Calibri"/>
              </a:rPr>
              <a:t>All notify </a:t>
            </a:r>
            <a:r>
              <a:rPr sz="1200" b="0" i="0">
                <a:solidFill>
                  <a:srgbClr val="0E7C86"/>
                </a:solidFill>
                <a:latin typeface="Consolas"/>
              </a:rPr>
              <a:t>ALARM_SNS_TOPIC_ARN</a:t>
            </a:r>
            <a:r>
              <a:rPr sz="1300" b="0" i="0">
                <a:solidFill>
                  <a:srgbClr val="1C2433"/>
                </a:solidFill>
                <a:latin typeface="Calibri"/>
              </a:rPr>
              <a:t>. Heap, Drishti*net member dead and backup failed come with the platform's agent; gossip latency is the metric </a:t>
            </a:r>
            <a:r>
              <a:rPr sz="1200" b="0" i="0">
                <a:solidFill>
                  <a:srgbClr val="0E7C86"/>
                </a:solidFill>
                <a:latin typeface="Consolas"/>
              </a:rPr>
              <a:t>drishti_net_gossip_exchange_seconds</a:t>
            </a:r>
            <a:r>
              <a:rPr sz="1300" b="0" i="0">
                <a:solidFill>
                  <a:srgbClr val="1C2433"/>
                </a:solidFill>
                <a:latin typeface="Calibri"/>
              </a:rPr>
              <a:t> (2.6.7).</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Number"/>
          <p:cNvSpPr txBox="1"/>
          <p:nvPr/>
        </p:nvSpPr>
        <p:spPr>
          <a:xfrm>
            <a:off x="4754880" y="-822960"/>
            <a:ext cx="7223760" cy="7863840"/>
          </a:xfrm>
          <a:prstGeom prst="rect">
            <a:avLst/>
          </a:prstGeom>
          <a:noFill/>
        </p:spPr>
        <p:txBody>
          <a:bodyPr wrap="square" lIns="0" rIns="0" tIns="0" bIns="0" anchor="ctr">
            <a:spAutoFit/>
          </a:bodyPr>
          <a:lstStyle/>
          <a:p>
            <a:pPr algn="r">
              <a:spcAft>
                <a:spcPts val="600"/>
              </a:spcAft>
              <a:buNone/>
            </a:pPr>
            <a:r>
              <a:rPr sz="42000" b="1" i="0">
                <a:solidFill>
                  <a:srgbClr val="1C3560"/>
                </a:solidFill>
                <a:latin typeface="Calibri"/>
              </a:rPr>
              <a:t>16</a:t>
            </a:r>
          </a:p>
        </p:txBody>
      </p:sp>
      <p:sp>
        <p:nvSpPr>
          <p:cNvPr id="4" name="Title"/>
          <p:cNvSpPr txBox="1"/>
          <p:nvPr/>
        </p:nvSpPr>
        <p:spPr>
          <a:xfrm>
            <a:off x="822960" y="2514600"/>
            <a:ext cx="6949440" cy="1828800"/>
          </a:xfrm>
          <a:prstGeom prst="rect">
            <a:avLst/>
          </a:prstGeom>
          <a:noFill/>
        </p:spPr>
        <p:txBody>
          <a:bodyPr wrap="square" lIns="0" rIns="0" tIns="0" bIns="0" anchor="ctr">
            <a:spAutoFit/>
          </a:bodyPr>
          <a:lstStyle/>
          <a:p>
            <a:pPr algn="l">
              <a:spcAft>
                <a:spcPts val="600"/>
              </a:spcAft>
              <a:buNone/>
            </a:pPr>
            <a:r>
              <a:rPr sz="4400" b="1" i="0">
                <a:solidFill>
                  <a:srgbClr val="FFFFFF"/>
                </a:solidFill>
                <a:latin typeface="Calibri"/>
              </a:rPr>
              <a:t>The demo lake, public data and DATAMAP</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The demo lake: 85 Delta tables from committed JSON Lines</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16</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85</a:t>
            </a:r>
          </a:p>
        </p:txBody>
      </p:sp>
      <p:graphicFrame>
        <p:nvGraphicFramePr>
          <p:cNvPr id="9" name="Table"/>
          <p:cNvGraphicFramePr>
            <a:graphicFrameLocks noGrp="1"/>
          </p:cNvGraphicFramePr>
          <p:nvPr/>
        </p:nvGraphicFramePr>
        <p:xfrm>
          <a:off x="411480" y="1188720"/>
          <a:ext cx="5852160" cy="3520440"/>
        </p:xfrm>
        <a:graphic>
          <a:graphicData uri="http://schemas.openxmlformats.org/drawingml/2006/table">
            <a:tbl>
              <a:tblPr firstRow="0" bandRow="0">
                <a:tableStyleId>{5940675A-B579-460E-94D1-54222C63F5DA}</a:tableStyleId>
              </a:tblPr>
              <a:tblGrid>
                <a:gridCol w="1554480"/>
                <a:gridCol w="4297680"/>
              </a:tblGrid>
              <a:tr h="502920">
                <a:tc>
                  <a:txBody>
                    <a:bodyPr wrap="square"/>
                    <a:lstStyle/>
                    <a:p>
                      <a:r>
                        <a:rPr sz="1200" b="1" i="0">
                          <a:solidFill>
                            <a:srgbClr val="FFFFFF"/>
                          </a:solidFill>
                          <a:latin typeface="Calibri"/>
                        </a:rPr>
                        <a:t>What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Value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502920">
                <a:tc>
                  <a:txBody>
                    <a:bodyPr wrap="square"/>
                    <a:lstStyle/>
                    <a:p>
                      <a:r>
                        <a:rPr sz="1200" b="1" i="0">
                          <a:solidFill>
                            <a:srgbClr val="1C2433"/>
                          </a:solidFill>
                          <a:latin typeface="Calibri"/>
                        </a:rPr>
                        <a:t>Tables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1" i="0">
                          <a:solidFill>
                            <a:srgbClr val="1C2433"/>
                          </a:solidFill>
                          <a:latin typeface="Calibri"/>
                        </a:rPr>
                        <a:t>85</a:t>
                      </a:r>
                      <a:r>
                        <a:rPr sz="1200" b="0" i="0">
                          <a:solidFill>
                            <a:srgbClr val="1C2433"/>
                          </a:solidFill>
                          <a:latin typeface="Calibri"/>
                        </a:rPr>
                        <a:t> (2.9.5: </a:t>
                      </a:r>
                      <a:r>
                        <a:rPr sz="1100" b="0" i="0">
                          <a:solidFill>
                            <a:srgbClr val="0E7C86"/>
                          </a:solidFill>
                          <a:latin typeface="Consolas"/>
                        </a:rPr>
                        <a:t>var-limit</a:t>
                      </a:r>
                      <a:r>
                        <a:rPr sz="1200" b="0" i="0">
                          <a:solidFill>
                            <a:srgbClr val="1C2433"/>
                          </a:solidFill>
                          <a:latin typeface="Calibri"/>
                        </a:rPr>
                        <a:t>), about 2.7 GB</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02920">
                <a:tc>
                  <a:txBody>
                    <a:bodyPr wrap="square"/>
                    <a:lstStyle/>
                    <a:p>
                      <a:r>
                        <a:rPr sz="1200" b="1" i="0">
                          <a:solidFill>
                            <a:srgbClr val="1C2433"/>
                          </a:solidFill>
                          <a:latin typeface="Calibri"/>
                        </a:rPr>
                        <a:t>Business days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60, ending today's business date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02920">
                <a:tc>
                  <a:txBody>
                    <a:bodyPr wrap="square"/>
                    <a:lstStyle/>
                    <a:p>
                      <a:r>
                        <a:rPr sz="1200" b="1" i="0">
                          <a:solidFill>
                            <a:srgbClr val="1C2433"/>
                          </a:solidFill>
                          <a:latin typeface="Calibri"/>
                        </a:rPr>
                        <a:t>Built in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943 s (about 15 minutes), measured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02920">
                <a:tc>
                  <a:txBody>
                    <a:bodyPr wrap="square"/>
                    <a:lstStyle/>
                    <a:p>
                      <a:r>
                        <a:rPr sz="1200" b="1" i="0">
                          <a:solidFill>
                            <a:srgbClr val="1C2433"/>
                          </a:solidFill>
                          <a:latin typeface="Calibri"/>
                        </a:rPr>
                        <a:t>From</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committed </a:t>
                      </a:r>
                      <a:r>
                        <a:rPr sz="1100" b="0" i="0">
                          <a:solidFill>
                            <a:srgbClr val="0E7C86"/>
                          </a:solidFill>
                          <a:latin typeface="Consolas"/>
                        </a:rPr>
                        <a:t>data/testdata/…/*.jsonl.gz</a:t>
                      </a:r>
                      <a:r>
                        <a:rPr sz="1200" b="0" i="0">
                          <a:solidFill>
                            <a:srgbClr val="1C2433"/>
                          </a:solidFill>
                          <a:latin typeface="Calibri"/>
                        </a:rPr>
                        <a:t> (about 120 MB)</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502920">
                <a:tc>
                  <a:txBody>
                    <a:bodyPr wrap="square"/>
                    <a:lstStyle/>
                    <a:p>
                      <a:r>
                        <a:rPr sz="1200" b="1" i="0">
                          <a:solidFill>
                            <a:srgbClr val="1C2433"/>
                          </a:solidFill>
                          <a:latin typeface="Calibri"/>
                        </a:rPr>
                        <a:t>Trades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15,000 on the last day in 3 tables (ENDUR, CALYPSO, MUREX)</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502920">
                <a:tc>
                  <a:txBody>
                    <a:bodyPr wrap="square"/>
                    <a:lstStyle/>
                    <a:p>
                      <a:r>
                        <a:rPr sz="1200" b="1" i="0">
                          <a:solidFill>
                            <a:srgbClr val="1C2433"/>
                          </a:solidFill>
                          <a:latin typeface="Calibri"/>
                        </a:rPr>
                        <a:t>Risk</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VaR inputs, limit letters, scenario PVs, FX scenarios, 73 netting sets of exposure paths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bl>
          </a:graphicData>
        </a:graphic>
      </p:graphicFrame>
      <p:sp>
        <p:nvSpPr>
          <p:cNvPr id="10" name="Code block"/>
          <p:cNvSpPr/>
          <p:nvPr/>
        </p:nvSpPr>
        <p:spPr>
          <a:xfrm>
            <a:off x="6492240" y="1188720"/>
            <a:ext cx="5285232" cy="1143000"/>
          </a:xfrm>
          <a:prstGeom prst="roundRect">
            <a:avLst>
              <a:gd name="adj" fmla="val 4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
          <p:cNvSpPr txBox="1"/>
          <p:nvPr/>
        </p:nvSpPr>
        <p:spPr>
          <a:xfrm>
            <a:off x="6601968" y="1252728"/>
            <a:ext cx="5065776" cy="1014983"/>
          </a:xfrm>
          <a:prstGeom prst="rect">
            <a:avLst/>
          </a:prstGeom>
          <a:noFill/>
        </p:spPr>
        <p:txBody>
          <a:bodyPr wrap="square" lIns="0" rIns="0" tIns="0" bIns="0" anchor="ctr">
            <a:spAutoFit/>
          </a:bodyPr>
          <a:lstStyle/>
          <a:p>
            <a:pPr>
              <a:spcAft>
                <a:spcPts val="0"/>
              </a:spcAft>
              <a:buNone/>
            </a:pPr>
            <a:r>
              <a:rPr sz="1100" b="0" i="0">
                <a:solidFill>
                  <a:srgbClr val="E6EDF3"/>
                </a:solidFill>
                <a:latin typeface="Consolas"/>
              </a:rPr>
              <a:t>drishti.py lake demo                     </a:t>
            </a:r>
            <a:r>
              <a:rPr sz="1100" b="0" i="0">
                <a:solidFill>
                  <a:srgbClr val="8B9BB4"/>
                </a:solidFill>
                <a:latin typeface="Consolas"/>
              </a:rPr>
              <a:t>  # all 85 tables</a:t>
            </a:r>
          </a:p>
          <a:p>
            <a:pPr>
              <a:spcAft>
                <a:spcPts val="0"/>
              </a:spcAft>
              <a:buNone/>
            </a:pPr>
            <a:r>
              <a:rPr sz="1100" b="0" i="0">
                <a:solidFill>
                  <a:srgbClr val="E6EDF3"/>
                </a:solidFill>
                <a:latin typeface="Consolas"/>
              </a:rPr>
              <a:t>build_demo_lakes.py --store risk=iceberg </a:t>
            </a:r>
            <a:r>
              <a:rPr sz="1100" b="0" i="0">
                <a:solidFill>
                  <a:srgbClr val="8B9BB4"/>
                </a:solidFill>
                <a:latin typeface="Consolas"/>
              </a:rPr>
              <a:t>  # 2.9.5</a:t>
            </a:r>
          </a:p>
          <a:p>
            <a:pPr>
              <a:spcAft>
                <a:spcPts val="0"/>
              </a:spcAft>
              <a:buNone/>
            </a:pPr>
            <a:r>
              <a:rPr sz="1100" b="0" i="0">
                <a:solidFill>
                  <a:srgbClr val="E6EDF3"/>
                </a:solidFill>
                <a:latin typeface="Consolas"/>
              </a:rPr>
              <a:t>build_demo_lakes.py --names config/demo/names.yaml</a:t>
            </a:r>
          </a:p>
        </p:txBody>
      </p:sp>
      <p:sp>
        <p:nvSpPr>
          <p:cNvPr id="12" name="TextBox 11"/>
          <p:cNvSpPr txBox="1"/>
          <p:nvPr/>
        </p:nvSpPr>
        <p:spPr>
          <a:xfrm>
            <a:off x="6492240" y="2514600"/>
            <a:ext cx="5285232" cy="2011680"/>
          </a:xfrm>
          <a:prstGeom prst="rect">
            <a:avLst/>
          </a:prstGeom>
          <a:noFill/>
        </p:spPr>
        <p:txBody>
          <a:bodyPr wrap="square" lIns="0" rIns="0" tIns="0" bIns="0" anchor="t">
            <a:spAutoFit/>
          </a:bodyPr>
          <a:lstStyle/>
          <a:p>
            <a:pPr algn="l" marL="201168" indent="-201168">
              <a:spcAft>
                <a:spcPts val="600"/>
              </a:spcAft>
              <a:buClr>
                <a:srgbClr val="E87A1E"/>
              </a:buClr>
              <a:buSzPct val="100000"/>
              <a:buFont typeface="Arial"/>
              <a:buChar char="•"/>
            </a:pPr>
            <a:r>
              <a:rPr sz="1300" b="1" i="0">
                <a:solidFill>
                  <a:srgbClr val="1C2433"/>
                </a:solidFill>
                <a:latin typeface="Calibri"/>
              </a:rPr>
              <a:t>The pattern:</a:t>
            </a:r>
            <a:r>
              <a:rPr sz="1300" b="0" i="0">
                <a:solidFill>
                  <a:srgbClr val="1C2433"/>
                </a:solidFill>
                <a:latin typeface="Calibri"/>
              </a:rPr>
              <a:t> </a:t>
            </a:r>
            <a:r>
              <a:rPr sz="1200" b="0" i="0">
                <a:solidFill>
                  <a:srgbClr val="0E7C86"/>
                </a:solidFill>
                <a:latin typeface="Consolas"/>
              </a:rPr>
              <a:t>data/testdata/&lt;domain&gt;/&lt;kind&gt;/*.jsonl.gz</a:t>
            </a:r>
            <a:r>
              <a:rPr sz="1300" b="0" i="0">
                <a:solidFill>
                  <a:srgbClr val="1C2433"/>
                </a:solidFill>
                <a:latin typeface="Calibri"/>
              </a:rPr>
              <a:t> → </a:t>
            </a:r>
            <a:r>
              <a:rPr sz="1200" b="0" i="0">
                <a:solidFill>
                  <a:srgbClr val="0E7C86"/>
                </a:solidFill>
                <a:latin typeface="Consolas"/>
              </a:rPr>
              <a:t>build_demo_lakes</a:t>
            </a:r>
            <a:r>
              <a:rPr sz="1300" b="0" i="0">
                <a:solidFill>
                  <a:srgbClr val="1C2433"/>
                </a:solidFill>
                <a:latin typeface="Calibri"/>
              </a:rPr>
              <a:t> → Delta → the pack's Delta connector</a:t>
            </a:r>
          </a:p>
          <a:p>
            <a:pPr algn="l" marL="201168" indent="-201168">
              <a:spcAft>
                <a:spcPts val="600"/>
              </a:spcAft>
              <a:buClr>
                <a:srgbClr val="E87A1E"/>
              </a:buClr>
              <a:buSzPct val="100000"/>
              <a:buFont typeface="Arial"/>
              <a:buChar char="•"/>
            </a:pPr>
            <a:r>
              <a:rPr sz="1300" b="0" i="0">
                <a:solidFill>
                  <a:srgbClr val="1C2433"/>
                </a:solidFill>
                <a:latin typeface="Calibri"/>
              </a:rPr>
              <a:t>tested with the demo connector </a:t>
            </a:r>
            <a:r>
              <a:rPr sz="1300" b="1" i="0">
                <a:solidFill>
                  <a:srgbClr val="1C2433"/>
                </a:solidFill>
                <a:latin typeface="Calibri"/>
              </a:rPr>
              <a:t>off</a:t>
            </a:r>
            <a:r>
              <a:rPr sz="1300" b="0" i="0">
                <a:solidFill>
                  <a:srgbClr val="1C2433"/>
                </a:solidFill>
                <a:latin typeface="Calibri"/>
              </a:rPr>
              <a:t>: a build test fails any shipped kind without a Delta connector</a:t>
            </a:r>
          </a:p>
          <a:p>
            <a:pPr algn="l" marL="201168" indent="-201168">
              <a:spcAft>
                <a:spcPts val="600"/>
              </a:spcAft>
              <a:buClr>
                <a:srgbClr val="E87A1E"/>
              </a:buClr>
              <a:buSzPct val="100000"/>
              <a:buFont typeface="Arial"/>
              <a:buChar char="•"/>
            </a:pPr>
            <a:r>
              <a:rPr sz="1300" b="0" i="0">
                <a:solidFill>
                  <a:srgbClr val="1C2433"/>
                </a:solidFill>
                <a:latin typeface="Calibri"/>
              </a:rPr>
              <a:t>the same commands build a lake on EFS for a proof of concept</a:t>
            </a:r>
          </a:p>
        </p:txBody>
      </p:sp>
      <p:sp>
        <p:nvSpPr>
          <p:cNvPr id="13" name="Callout"/>
          <p:cNvSpPr/>
          <p:nvPr/>
        </p:nvSpPr>
        <p:spPr>
          <a:xfrm>
            <a:off x="411480" y="4846320"/>
            <a:ext cx="11365992" cy="1463040"/>
          </a:xfrm>
          <a:prstGeom prst="roundRect">
            <a:avLst>
              <a:gd name="adj" fmla="val 6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Callout edge"/>
          <p:cNvSpPr/>
          <p:nvPr/>
        </p:nvSpPr>
        <p:spPr>
          <a:xfrm>
            <a:off x="411480" y="4864607"/>
            <a:ext cx="82296" cy="14264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xtBox 14"/>
          <p:cNvSpPr txBox="1"/>
          <p:nvPr/>
        </p:nvSpPr>
        <p:spPr>
          <a:xfrm>
            <a:off x="640080" y="4919472"/>
            <a:ext cx="11000232" cy="1316736"/>
          </a:xfrm>
          <a:prstGeom prst="rect">
            <a:avLst/>
          </a:prstGeom>
          <a:noFill/>
        </p:spPr>
        <p:txBody>
          <a:bodyPr wrap="square" lIns="0" rIns="0" tIns="0" bIns="0" anchor="ctr">
            <a:spAutoFit/>
          </a:bodyPr>
          <a:lstStyle/>
          <a:p>
            <a:pPr algn="l">
              <a:spcAft>
                <a:spcPts val="600"/>
              </a:spcAft>
              <a:buNone/>
            </a:pPr>
            <a:r>
              <a:rPr sz="1300" b="0" i="0">
                <a:solidFill>
                  <a:srgbClr val="1C2433"/>
                </a:solidFill>
                <a:latin typeface="Calibri"/>
              </a:rPr>
              <a:t>Domains: trading, reference, legal, collateral, credit, </a:t>
            </a:r>
            <a:r>
              <a:rPr sz="1300" b="1" i="0">
                <a:solidFill>
                  <a:srgbClr val="1C2433"/>
                </a:solidFill>
                <a:latin typeface="Calibri"/>
              </a:rPr>
              <a:t>risk</a:t>
            </a:r>
            <a:r>
              <a:rPr sz="1300" b="0" i="0">
                <a:solidFill>
                  <a:srgbClr val="1C2433"/>
                </a:solidFill>
                <a:latin typeface="Calibri"/>
              </a:rPr>
              <a:t>, market, macro, news, civic, us-equities, gleif, funds. </a:t>
            </a:r>
            <a:r>
              <a:rPr sz="1300" b="1" i="0">
                <a:solidFill>
                  <a:srgbClr val="1C2433"/>
                </a:solidFill>
                <a:latin typeface="Calibri"/>
              </a:rPr>
              <a:t>Not a production ETL:</a:t>
            </a:r>
            <a:r>
              <a:rPr sz="1300" b="0" i="0">
                <a:solidFill>
                  <a:srgbClr val="1C2433"/>
                </a:solidFill>
                <a:latin typeface="Calibri"/>
              </a:rPr>
              <a:t> in production your own loads end with the data-load signal (DATA_LOADS.md), and on AWS the loader task of section 9 does the work.</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Public-data packs: real data on the same lake pattern</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16</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86</a:t>
            </a:r>
          </a:p>
        </p:txBody>
      </p:sp>
      <p:sp>
        <p:nvSpPr>
          <p:cNvPr id="9" name="Rounded Rectangle 8"/>
          <p:cNvSpPr/>
          <p:nvPr/>
        </p:nvSpPr>
        <p:spPr>
          <a:xfrm>
            <a:off x="411480" y="1188720"/>
            <a:ext cx="3611880" cy="1417320"/>
          </a:xfrm>
          <a:prstGeom prst="roundRect">
            <a:avLst>
              <a:gd name="adj" fmla="val 6000"/>
            </a:avLst>
          </a:prstGeom>
          <a:solidFill>
            <a:srgbClr val="DDEE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TextBox 9"/>
          <p:cNvSpPr txBox="1"/>
          <p:nvPr/>
        </p:nvSpPr>
        <p:spPr>
          <a:xfrm>
            <a:off x="502920" y="1234440"/>
            <a:ext cx="342900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us-equities</a:t>
            </a:r>
          </a:p>
        </p:txBody>
      </p:sp>
      <p:sp>
        <p:nvSpPr>
          <p:cNvPr id="11" name="TextBox 10"/>
          <p:cNvSpPr txBox="1"/>
          <p:nvPr/>
        </p:nvSpPr>
        <p:spPr>
          <a:xfrm>
            <a:off x="502920" y="1554480"/>
            <a:ext cx="3429000" cy="100584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300" b="0" i="0">
                <a:solidFill>
                  <a:srgbClr val="1C2433"/>
                </a:solidFill>
                <a:latin typeface="Calibri"/>
              </a:rPr>
              <a:t>479 companies with SEC filings</a:t>
            </a:r>
          </a:p>
          <a:p>
            <a:pPr algn="l" marL="201168" indent="-201168">
              <a:spcAft>
                <a:spcPts val="200"/>
              </a:spcAft>
              <a:buClr>
                <a:srgbClr val="E87A1E"/>
              </a:buClr>
              <a:buSzPct val="100000"/>
              <a:buFont typeface="Arial"/>
              <a:buChar char="•"/>
            </a:pPr>
            <a:r>
              <a:rPr sz="1300" b="0" i="0">
                <a:solidFill>
                  <a:srgbClr val="1C2433"/>
                </a:solidFill>
                <a:latin typeface="Calibri"/>
              </a:rPr>
              <a:t>filings, facts, index members, SIC</a:t>
            </a:r>
          </a:p>
          <a:p>
            <a:pPr algn="l" marL="201168" indent="-201168">
              <a:spcAft>
                <a:spcPts val="200"/>
              </a:spcAft>
              <a:buClr>
                <a:srgbClr val="E87A1E"/>
              </a:buClr>
              <a:buSzPct val="100000"/>
              <a:buFont typeface="Arial"/>
              <a:buChar char="•"/>
            </a:pPr>
            <a:r>
              <a:rPr sz="1300" b="0" i="0">
                <a:solidFill>
                  <a:srgbClr val="1C2433"/>
                </a:solidFill>
                <a:latin typeface="Calibri"/>
              </a:rPr>
              <a:t>prices internal only, off</a:t>
            </a:r>
          </a:p>
        </p:txBody>
      </p:sp>
      <p:sp>
        <p:nvSpPr>
          <p:cNvPr id="12" name="Rounded Rectangle 11"/>
          <p:cNvSpPr/>
          <p:nvPr/>
        </p:nvSpPr>
        <p:spPr>
          <a:xfrm>
            <a:off x="4288536" y="1188720"/>
            <a:ext cx="3611880" cy="1417320"/>
          </a:xfrm>
          <a:prstGeom prst="roundRect">
            <a:avLst>
              <a:gd name="adj" fmla="val 6000"/>
            </a:avLst>
          </a:prstGeom>
          <a:solidFill>
            <a:srgbClr val="DDEE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TextBox 12"/>
          <p:cNvSpPr txBox="1"/>
          <p:nvPr/>
        </p:nvSpPr>
        <p:spPr>
          <a:xfrm>
            <a:off x="4379976" y="1234440"/>
            <a:ext cx="342900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gleif</a:t>
            </a:r>
          </a:p>
        </p:txBody>
      </p:sp>
      <p:sp>
        <p:nvSpPr>
          <p:cNvPr id="14" name="TextBox 13"/>
          <p:cNvSpPr txBox="1"/>
          <p:nvPr/>
        </p:nvSpPr>
        <p:spPr>
          <a:xfrm>
            <a:off x="4379976" y="1554480"/>
            <a:ext cx="3429000" cy="100584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300" b="0" i="0">
                <a:solidFill>
                  <a:srgbClr val="1C2433"/>
                </a:solidFill>
                <a:latin typeface="Calibri"/>
              </a:rPr>
              <a:t>≈ 9,500 legal entities</a:t>
            </a:r>
          </a:p>
          <a:p>
            <a:pPr algn="l" marL="201168" indent="-201168">
              <a:spcAft>
                <a:spcPts val="200"/>
              </a:spcAft>
              <a:buClr>
                <a:srgbClr val="E87A1E"/>
              </a:buClr>
              <a:buSzPct val="100000"/>
              <a:buFont typeface="Arial"/>
              <a:buChar char="•"/>
            </a:pPr>
            <a:r>
              <a:rPr sz="1300" b="0" i="0">
                <a:solidFill>
                  <a:srgbClr val="1C2433"/>
                </a:solidFill>
                <a:latin typeface="Calibri"/>
              </a:rPr>
              <a:t>540 ownership groups, 132 countries</a:t>
            </a:r>
          </a:p>
          <a:p>
            <a:pPr algn="l" marL="201168" indent="-201168">
              <a:spcAft>
                <a:spcPts val="200"/>
              </a:spcAft>
              <a:buClr>
                <a:srgbClr val="E87A1E"/>
              </a:buClr>
              <a:buSzPct val="100000"/>
              <a:buFont typeface="Arial"/>
              <a:buChar char="•"/>
            </a:pPr>
            <a:r>
              <a:rPr sz="1300" b="0" i="0">
                <a:solidFill>
                  <a:srgbClr val="1C2433"/>
                </a:solidFill>
                <a:latin typeface="Calibri"/>
              </a:rPr>
              <a:t>LEI, BIC, ISIN mappings</a:t>
            </a:r>
          </a:p>
        </p:txBody>
      </p:sp>
      <p:sp>
        <p:nvSpPr>
          <p:cNvPr id="15" name="Rounded Rectangle 14"/>
          <p:cNvSpPr/>
          <p:nvPr/>
        </p:nvSpPr>
        <p:spPr>
          <a:xfrm>
            <a:off x="8165592" y="1188720"/>
            <a:ext cx="3611880" cy="1417320"/>
          </a:xfrm>
          <a:prstGeom prst="roundRect">
            <a:avLst>
              <a:gd name="adj" fmla="val 6000"/>
            </a:avLst>
          </a:prstGeom>
          <a:solidFill>
            <a:srgbClr val="DDEE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TextBox 15"/>
          <p:cNvSpPr txBox="1"/>
          <p:nvPr/>
        </p:nvSpPr>
        <p:spPr>
          <a:xfrm>
            <a:off x="8257031" y="1234440"/>
            <a:ext cx="342900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funds</a:t>
            </a:r>
          </a:p>
        </p:txBody>
      </p:sp>
      <p:sp>
        <p:nvSpPr>
          <p:cNvPr id="17" name="TextBox 16"/>
          <p:cNvSpPr txBox="1"/>
          <p:nvPr/>
        </p:nvSpPr>
        <p:spPr>
          <a:xfrm>
            <a:off x="8257031" y="1554480"/>
            <a:ext cx="3429000" cy="100584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300" b="0" i="0">
                <a:solidFill>
                  <a:srgbClr val="1C2433"/>
                </a:solidFill>
                <a:latin typeface="Calibri"/>
              </a:rPr>
              <a:t>200 largest US funds and ETFs</a:t>
            </a:r>
          </a:p>
          <a:p>
            <a:pPr algn="l" marL="201168" indent="-201168">
              <a:spcAft>
                <a:spcPts val="200"/>
              </a:spcAft>
              <a:buClr>
                <a:srgbClr val="E87A1E"/>
              </a:buClr>
              <a:buSzPct val="100000"/>
              <a:buFont typeface="Arial"/>
              <a:buChar char="•"/>
            </a:pPr>
            <a:r>
              <a:rPr sz="1300" b="0" i="0">
                <a:solidFill>
                  <a:srgbClr val="1C2433"/>
                </a:solidFill>
                <a:latin typeface="Calibri"/>
              </a:rPr>
              <a:t>N-PORT holdings, N-CEN facts</a:t>
            </a:r>
          </a:p>
          <a:p>
            <a:pPr algn="l" marL="201168" indent="-201168">
              <a:spcAft>
                <a:spcPts val="200"/>
              </a:spcAft>
              <a:buClr>
                <a:srgbClr val="E87A1E"/>
              </a:buClr>
              <a:buSzPct val="100000"/>
              <a:buFont typeface="Arial"/>
              <a:buChar char="•"/>
            </a:pPr>
            <a:r>
              <a:rPr sz="1300" b="0" i="0">
                <a:solidFill>
                  <a:srgbClr val="1C2433"/>
                </a:solidFill>
                <a:latin typeface="Calibri"/>
              </a:rPr>
              <a:t>index weights from SEC data</a:t>
            </a:r>
          </a:p>
        </p:txBody>
      </p:sp>
      <p:sp>
        <p:nvSpPr>
          <p:cNvPr id="18" name="Rounded Rectangle 17"/>
          <p:cNvSpPr/>
          <p:nvPr/>
        </p:nvSpPr>
        <p:spPr>
          <a:xfrm>
            <a:off x="411480" y="2880360"/>
            <a:ext cx="2606040" cy="118872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TextBox 18"/>
          <p:cNvSpPr txBox="1"/>
          <p:nvPr/>
        </p:nvSpPr>
        <p:spPr>
          <a:xfrm>
            <a:off x="502920" y="2926079"/>
            <a:ext cx="242316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refresh script</a:t>
            </a:r>
          </a:p>
        </p:txBody>
      </p:sp>
      <p:sp>
        <p:nvSpPr>
          <p:cNvPr id="20" name="TextBox 19"/>
          <p:cNvSpPr txBox="1"/>
          <p:nvPr/>
        </p:nvSpPr>
        <p:spPr>
          <a:xfrm>
            <a:off x="502920" y="3246120"/>
            <a:ext cx="2423160" cy="77724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100" b="0" i="0">
                <a:solidFill>
                  <a:srgbClr val="0E7C86"/>
                </a:solidFill>
                <a:latin typeface="Consolas"/>
              </a:rPr>
              <a:t>tools/publicdata/&lt;pack&gt;.py refresh</a:t>
            </a:r>
          </a:p>
        </p:txBody>
      </p:sp>
      <p:cxnSp>
        <p:nvCxnSpPr>
          <p:cNvPr id="21" name="Connector 20"/>
          <p:cNvCxnSpPr/>
          <p:nvPr/>
        </p:nvCxnSpPr>
        <p:spPr>
          <a:xfrm>
            <a:off x="3017520" y="3474720"/>
            <a:ext cx="301752" cy="0"/>
          </a:xfrm>
          <a:prstGeom prst="line">
            <a:avLst/>
          </a:prstGeom>
          <a:ln w="19050">
            <a:solidFill>
              <a:srgbClr val="E87A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3328416" y="2880360"/>
            <a:ext cx="2606040" cy="118872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xtBox 22"/>
          <p:cNvSpPr txBox="1"/>
          <p:nvPr/>
        </p:nvSpPr>
        <p:spPr>
          <a:xfrm>
            <a:off x="3419856" y="2926079"/>
            <a:ext cx="242316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committed snapshot</a:t>
            </a:r>
          </a:p>
        </p:txBody>
      </p:sp>
      <p:sp>
        <p:nvSpPr>
          <p:cNvPr id="24" name="TextBox 23"/>
          <p:cNvSpPr txBox="1"/>
          <p:nvPr/>
        </p:nvSpPr>
        <p:spPr>
          <a:xfrm>
            <a:off x="3419856" y="3246120"/>
            <a:ext cx="2423160" cy="77724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100" b="0" i="0">
                <a:solidFill>
                  <a:srgbClr val="0E7C86"/>
                </a:solidFill>
                <a:latin typeface="Consolas"/>
              </a:rPr>
              <a:t>snapshot-&lt;date&gt;.jsonl.gz</a:t>
            </a:r>
          </a:p>
        </p:txBody>
      </p:sp>
      <p:cxnSp>
        <p:nvCxnSpPr>
          <p:cNvPr id="25" name="Connector 24"/>
          <p:cNvCxnSpPr/>
          <p:nvPr/>
        </p:nvCxnSpPr>
        <p:spPr>
          <a:xfrm>
            <a:off x="5934456" y="3474720"/>
            <a:ext cx="301752" cy="0"/>
          </a:xfrm>
          <a:prstGeom prst="line">
            <a:avLst/>
          </a:prstGeom>
          <a:ln w="19050">
            <a:solidFill>
              <a:srgbClr val="E87A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6245352" y="2880360"/>
            <a:ext cx="2606040" cy="118872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xtBox 26"/>
          <p:cNvSpPr txBox="1"/>
          <p:nvPr/>
        </p:nvSpPr>
        <p:spPr>
          <a:xfrm>
            <a:off x="6336792" y="2926079"/>
            <a:ext cx="242316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lake demo</a:t>
            </a:r>
          </a:p>
        </p:txBody>
      </p:sp>
      <p:sp>
        <p:nvSpPr>
          <p:cNvPr id="28" name="TextBox 27"/>
          <p:cNvSpPr txBox="1"/>
          <p:nvPr/>
        </p:nvSpPr>
        <p:spPr>
          <a:xfrm>
            <a:off x="6336792" y="3246120"/>
            <a:ext cx="2423160" cy="77724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100" b="0" i="0">
                <a:solidFill>
                  <a:srgbClr val="0E7C86"/>
                </a:solidFill>
                <a:latin typeface="Consolas"/>
              </a:rPr>
              <a:t>&lt;pack&gt;/&lt;kind&gt;</a:t>
            </a:r>
            <a:r>
              <a:rPr sz="1200" b="0" i="0">
                <a:solidFill>
                  <a:srgbClr val="1C2433"/>
                </a:solidFill>
                <a:latin typeface="Calibri"/>
              </a:rPr>
              <a:t> every demo day</a:t>
            </a:r>
          </a:p>
        </p:txBody>
      </p:sp>
      <p:cxnSp>
        <p:nvCxnSpPr>
          <p:cNvPr id="29" name="Connector 28"/>
          <p:cNvCxnSpPr/>
          <p:nvPr/>
        </p:nvCxnSpPr>
        <p:spPr>
          <a:xfrm>
            <a:off x="8851392" y="3474720"/>
            <a:ext cx="301752" cy="0"/>
          </a:xfrm>
          <a:prstGeom prst="line">
            <a:avLst/>
          </a:prstGeom>
          <a:ln w="19050">
            <a:solidFill>
              <a:srgbClr val="E87A1E"/>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9162288" y="2880360"/>
            <a:ext cx="2606040" cy="118872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1" name="TextBox 30"/>
          <p:cNvSpPr txBox="1"/>
          <p:nvPr/>
        </p:nvSpPr>
        <p:spPr>
          <a:xfrm>
            <a:off x="9253728" y="2926079"/>
            <a:ext cx="2423160"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Delta connector</a:t>
            </a:r>
          </a:p>
        </p:txBody>
      </p:sp>
      <p:sp>
        <p:nvSpPr>
          <p:cNvPr id="32" name="TextBox 31"/>
          <p:cNvSpPr txBox="1"/>
          <p:nvPr/>
        </p:nvSpPr>
        <p:spPr>
          <a:xfrm>
            <a:off x="9253728" y="3246120"/>
            <a:ext cx="2423160" cy="77724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100" b="0" i="0">
                <a:solidFill>
                  <a:srgbClr val="0E7C86"/>
                </a:solidFill>
                <a:latin typeface="Consolas"/>
              </a:rPr>
              <a:t>us-equities-store</a:t>
            </a:r>
            <a:r>
              <a:rPr sz="1200" b="0" i="0">
                <a:solidFill>
                  <a:srgbClr val="1C2433"/>
                </a:solidFill>
                <a:latin typeface="Calibri"/>
              </a:rPr>
              <a:t>, </a:t>
            </a:r>
            <a:r>
              <a:rPr sz="1100" b="0" i="0">
                <a:solidFill>
                  <a:srgbClr val="0E7C86"/>
                </a:solidFill>
                <a:latin typeface="Consolas"/>
              </a:rPr>
              <a:t>gleif-store</a:t>
            </a:r>
            <a:r>
              <a:rPr sz="1200" b="0" i="0">
                <a:solidFill>
                  <a:srgbClr val="1C2433"/>
                </a:solidFill>
                <a:latin typeface="Calibri"/>
              </a:rPr>
              <a:t> …</a:t>
            </a:r>
          </a:p>
        </p:txBody>
      </p:sp>
      <p:sp>
        <p:nvSpPr>
          <p:cNvPr id="33" name="TextBox 32"/>
          <p:cNvSpPr txBox="1"/>
          <p:nvPr/>
        </p:nvSpPr>
        <p:spPr>
          <a:xfrm>
            <a:off x="411480" y="4343400"/>
            <a:ext cx="11365992" cy="1737360"/>
          </a:xfrm>
          <a:prstGeom prst="rect">
            <a:avLst/>
          </a:prstGeom>
          <a:noFill/>
        </p:spPr>
        <p:txBody>
          <a:bodyPr wrap="square" lIns="0" rIns="0" tIns="0" bIns="0" anchor="t">
            <a:spAutoFit/>
          </a:bodyPr>
          <a:lstStyle/>
          <a:p>
            <a:pPr algn="l" marL="201168" indent="-201168">
              <a:spcAft>
                <a:spcPts val="500"/>
              </a:spcAft>
              <a:buClr>
                <a:srgbClr val="E87A1E"/>
              </a:buClr>
              <a:buSzPct val="100000"/>
              <a:buFont typeface="Arial"/>
              <a:buChar char="•"/>
            </a:pPr>
            <a:r>
              <a:rPr sz="1300" b="0" i="0">
                <a:solidFill>
                  <a:srgbClr val="1C2433"/>
                </a:solidFill>
                <a:latin typeface="Calibri"/>
              </a:rPr>
              <a:t>One standalone refresh script per pack (</a:t>
            </a:r>
            <a:r>
              <a:rPr sz="1200" b="0" i="0">
                <a:solidFill>
                  <a:srgbClr val="0E7C86"/>
                </a:solidFill>
                <a:latin typeface="Consolas"/>
              </a:rPr>
              <a:t>status</a:t>
            </a:r>
            <a:r>
              <a:rPr sz="1300" b="0" i="0">
                <a:solidFill>
                  <a:srgbClr val="1C2433"/>
                </a:solidFill>
                <a:latin typeface="Calibri"/>
              </a:rPr>
              <a:t>, </a:t>
            </a:r>
            <a:r>
              <a:rPr sz="1200" b="0" i="0">
                <a:solidFill>
                  <a:srgbClr val="0E7C86"/>
                </a:solidFill>
                <a:latin typeface="Consolas"/>
              </a:rPr>
              <a:t>refresh</a:t>
            </a:r>
            <a:r>
              <a:rPr sz="1300" b="0" i="0">
                <a:solidFill>
                  <a:srgbClr val="1C2433"/>
                </a:solidFill>
                <a:latin typeface="Calibri"/>
              </a:rPr>
              <a:t>, </a:t>
            </a:r>
            <a:r>
              <a:rPr sz="1200" b="0" i="0">
                <a:solidFill>
                  <a:srgbClr val="0E7C86"/>
                </a:solidFill>
                <a:latin typeface="Consolas"/>
              </a:rPr>
              <a:t>--dry-run</a:t>
            </a:r>
            <a:r>
              <a:rPr sz="1300" b="0" i="0">
                <a:solidFill>
                  <a:srgbClr val="1C2433"/>
                </a:solidFill>
                <a:latin typeface="Calibri"/>
              </a:rPr>
              <a:t>, </a:t>
            </a:r>
            <a:r>
              <a:rPr sz="1200" b="0" i="0">
                <a:solidFill>
                  <a:srgbClr val="0E7C86"/>
                </a:solidFill>
                <a:latin typeface="Consolas"/>
              </a:rPr>
              <a:t>--offline</a:t>
            </a:r>
            <a:r>
              <a:rPr sz="1300" b="0" i="0">
                <a:solidFill>
                  <a:srgbClr val="1C2433"/>
                </a:solidFill>
                <a:latin typeface="Calibri"/>
              </a:rPr>
              <a:t>), </a:t>
            </a:r>
            <a:r>
              <a:rPr sz="1200" b="0" i="0">
                <a:solidFill>
                  <a:srgbClr val="0E7C86"/>
                </a:solidFill>
                <a:latin typeface="Consolas"/>
              </a:rPr>
              <a:t>.sh</a:t>
            </a:r>
            <a:r>
              <a:rPr sz="1300" b="0" i="0">
                <a:solidFill>
                  <a:srgbClr val="1C2433"/>
                </a:solidFill>
                <a:latin typeface="Calibri"/>
              </a:rPr>
              <a:t> and </a:t>
            </a:r>
            <a:r>
              <a:rPr sz="1200" b="0" i="0">
                <a:solidFill>
                  <a:srgbClr val="0E7C86"/>
                </a:solidFill>
                <a:latin typeface="Consolas"/>
              </a:rPr>
              <a:t>.ps1</a:t>
            </a:r>
            <a:r>
              <a:rPr sz="1300" b="0" i="0">
                <a:solidFill>
                  <a:srgbClr val="1C2433"/>
                </a:solidFill>
                <a:latin typeface="Calibri"/>
              </a:rPr>
              <a:t> wrappers</a:t>
            </a:r>
          </a:p>
          <a:p>
            <a:pPr algn="l" marL="201168" indent="-201168">
              <a:spcAft>
                <a:spcPts val="500"/>
              </a:spcAft>
              <a:buClr>
                <a:srgbClr val="E87A1E"/>
              </a:buClr>
              <a:buSzPct val="100000"/>
              <a:buFont typeface="Arial"/>
              <a:buChar char="•"/>
            </a:pPr>
            <a:r>
              <a:rPr sz="1300" b="0" i="0">
                <a:solidFill>
                  <a:srgbClr val="1C2433"/>
                </a:solidFill>
                <a:latin typeface="Calibri"/>
              </a:rPr>
              <a:t>Internal-only sources (IMF, Yahoo, news) are refused in committed folders without </a:t>
            </a:r>
            <a:r>
              <a:rPr sz="1200" b="0" i="0">
                <a:solidFill>
                  <a:srgbClr val="0E7C86"/>
                </a:solidFill>
                <a:latin typeface="Consolas"/>
              </a:rPr>
              <a:t>--internal-ok</a:t>
            </a:r>
          </a:p>
          <a:p>
            <a:pPr algn="l" marL="201168" indent="-201168">
              <a:spcAft>
                <a:spcPts val="500"/>
              </a:spcAft>
              <a:buClr>
                <a:srgbClr val="E87A1E"/>
              </a:buClr>
              <a:buSzPct val="100000"/>
              <a:buFont typeface="Arial"/>
              <a:buChar char="•"/>
            </a:pPr>
            <a:r>
              <a:rPr sz="1300" b="0" i="0">
                <a:solidFill>
                  <a:srgbClr val="1C2433"/>
                </a:solidFill>
                <a:latin typeface="Calibri"/>
              </a:rPr>
              <a:t>Names in the type-ahead from promoted columns: </a:t>
            </a:r>
            <a:r>
              <a:rPr sz="1200" b="0" i="0">
                <a:solidFill>
                  <a:srgbClr val="0E7C86"/>
                </a:solidFill>
                <a:latin typeface="Consolas"/>
              </a:rPr>
              <a:t>USEQ Ford</a:t>
            </a:r>
            <a:r>
              <a:rPr sz="1300" b="0" i="0">
                <a:solidFill>
                  <a:srgbClr val="1C2433"/>
                </a:solidFill>
                <a:latin typeface="Calibri"/>
              </a:rPr>
              <a:t> finds </a:t>
            </a:r>
            <a:r>
              <a:rPr sz="1200" b="0" i="0">
                <a:solidFill>
                  <a:srgbClr val="0E7C86"/>
                </a:solidFill>
                <a:latin typeface="Consolas"/>
              </a:rPr>
              <a:t>F</a:t>
            </a:r>
            <a:r>
              <a:rPr sz="1300" b="0" i="0">
                <a:solidFill>
                  <a:srgbClr val="1C2433"/>
                </a:solidFill>
                <a:latin typeface="Calibri"/>
              </a:rPr>
              <a:t> (</a:t>
            </a:r>
            <a:r>
              <a:rPr sz="1200" b="0" i="0">
                <a:solidFill>
                  <a:srgbClr val="0E7C86"/>
                </a:solidFill>
                <a:latin typeface="Consolas"/>
              </a:rPr>
              <a:t>layout.&lt;kind&gt;.type-ahead</a:t>
            </a:r>
            <a:r>
              <a:rPr sz="1300" b="0" i="0">
                <a:solidFill>
                  <a:srgbClr val="1C2433"/>
                </a:solidFill>
                <a:latin typeface="Calibri"/>
              </a:rPr>
              <a:t>)</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DATAMAP: every kind, count and join, checked against the lake</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16</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87</a:t>
            </a:r>
          </a:p>
        </p:txBody>
      </p:sp>
      <p:pic>
        <p:nvPicPr>
          <p:cNvPr id="9" name="DATAMAP screenshot" descr="datamap.jpg"/>
          <p:cNvPicPr>
            <a:picLocks noChangeAspect="1"/>
          </p:cNvPicPr>
          <p:nvPr/>
        </p:nvPicPr>
        <p:blipFill>
          <a:blip r:embed="rId3"/>
          <a:stretch>
            <a:fillRect/>
          </a:stretch>
        </p:blipFill>
        <p:spPr>
          <a:xfrm>
            <a:off x="411480" y="1188720"/>
            <a:ext cx="6729984" cy="4206240"/>
          </a:xfrm>
          <a:prstGeom prst="rect">
            <a:avLst/>
          </a:prstGeom>
        </p:spPr>
      </p:pic>
      <p:sp>
        <p:nvSpPr>
          <p:cNvPr id="10" name="TextBox 9"/>
          <p:cNvSpPr txBox="1"/>
          <p:nvPr/>
        </p:nvSpPr>
        <p:spPr>
          <a:xfrm>
            <a:off x="411480" y="5440680"/>
            <a:ext cx="6729984" cy="868680"/>
          </a:xfrm>
          <a:prstGeom prst="rect">
            <a:avLst/>
          </a:prstGeom>
          <a:noFill/>
        </p:spPr>
        <p:txBody>
          <a:bodyPr wrap="square" lIns="0" rIns="0" tIns="0" bIns="0" anchor="t">
            <a:spAutoFit/>
          </a:bodyPr>
          <a:lstStyle/>
          <a:p>
            <a:pPr algn="l">
              <a:spcAft>
                <a:spcPts val="600"/>
              </a:spcAft>
              <a:buNone/>
            </a:pPr>
            <a:r>
              <a:rPr sz="1100" b="0" i="0">
                <a:solidFill>
                  <a:srgbClr val="0E7C86"/>
                </a:solidFill>
                <a:latin typeface="Consolas"/>
              </a:rPr>
              <a:t>DATAMAP trade</a:t>
            </a:r>
            <a:r>
              <a:rPr sz="1200" b="0" i="0">
                <a:solidFill>
                  <a:srgbClr val="5B677A"/>
                </a:solidFill>
                <a:latin typeface="Calibri"/>
              </a:rPr>
              <a:t>: the Trade kind (15,000) and its joins, each checked against the lake (USER_GUIDE.md, 2026-10-27).</a:t>
            </a:r>
          </a:p>
        </p:txBody>
      </p:sp>
      <p:sp>
        <p:nvSpPr>
          <p:cNvPr id="11" name="TextBox 10"/>
          <p:cNvSpPr txBox="1"/>
          <p:nvPr/>
        </p:nvSpPr>
        <p:spPr>
          <a:xfrm>
            <a:off x="7406640" y="1188720"/>
            <a:ext cx="4370832" cy="3200400"/>
          </a:xfrm>
          <a:prstGeom prst="rect">
            <a:avLst/>
          </a:prstGeom>
          <a:noFill/>
        </p:spPr>
        <p:txBody>
          <a:bodyPr wrap="square" lIns="0" rIns="0" tIns="0" bIns="0" anchor="t">
            <a:spAutoFit/>
          </a:bodyPr>
          <a:lstStyle/>
          <a:p>
            <a:pPr algn="l" marL="201168" indent="-201168">
              <a:spcAft>
                <a:spcPts val="700"/>
              </a:spcAft>
              <a:buClr>
                <a:srgbClr val="E87A1E"/>
              </a:buClr>
              <a:buSzPct val="100000"/>
              <a:buFont typeface="Arial"/>
              <a:buChar char="•"/>
            </a:pPr>
            <a:r>
              <a:rPr sz="1300" b="0" i="0">
                <a:solidFill>
                  <a:srgbClr val="1C2433"/>
                </a:solidFill>
                <a:latin typeface="Calibri"/>
              </a:rPr>
              <a:t>kinds from the packs' contracts; computed kinds (VaR, exposure) dashed</a:t>
            </a:r>
          </a:p>
          <a:p>
            <a:pPr algn="l" marL="201168" indent="-201168">
              <a:spcAft>
                <a:spcPts val="700"/>
              </a:spcAft>
              <a:buClr>
                <a:srgbClr val="E87A1E"/>
              </a:buClr>
              <a:buSzPct val="100000"/>
              <a:buFont typeface="Arial"/>
              <a:buChar char="•"/>
            </a:pPr>
            <a:r>
              <a:rPr sz="1300" b="0" i="0">
                <a:solidFill>
                  <a:srgbClr val="1C2433"/>
                </a:solidFill>
                <a:latin typeface="Calibri"/>
              </a:rPr>
              <a:t>joins from </a:t>
            </a:r>
            <a:r>
              <a:rPr sz="1200" b="0" i="0">
                <a:solidFill>
                  <a:srgbClr val="0E7C86"/>
                </a:solidFill>
                <a:latin typeface="Consolas"/>
              </a:rPr>
              <a:t>links:</a:t>
            </a:r>
            <a:r>
              <a:rPr sz="1300" b="0" i="0">
                <a:solidFill>
                  <a:srgbClr val="1C2433"/>
                </a:solidFill>
                <a:latin typeface="Calibri"/>
              </a:rPr>
              <a:t>, </a:t>
            </a:r>
            <a:r>
              <a:rPr sz="1200" b="0" i="0">
                <a:solidFill>
                  <a:srgbClr val="0E7C86"/>
                </a:solidFill>
                <a:latin typeface="Consolas"/>
              </a:rPr>
              <a:t>link:</a:t>
            </a:r>
            <a:r>
              <a:rPr sz="1300" b="0" i="0">
                <a:solidFill>
                  <a:srgbClr val="1C2433"/>
                </a:solidFill>
                <a:latin typeface="Calibri"/>
              </a:rPr>
              <a:t> and </a:t>
            </a:r>
            <a:r>
              <a:rPr sz="1200" b="0" i="0">
                <a:solidFill>
                  <a:srgbClr val="0E7C86"/>
                </a:solidFill>
                <a:latin typeface="Consolas"/>
              </a:rPr>
              <a:t>graph.fields</a:t>
            </a:r>
            <a:r>
              <a:rPr sz="1300" b="0" i="0">
                <a:solidFill>
                  <a:srgbClr val="1C2433"/>
                </a:solidFill>
                <a:latin typeface="Calibri"/>
              </a:rPr>
              <a:t>, </a:t>
            </a:r>
            <a:r>
              <a:rPr sz="1300" b="1" i="0">
                <a:solidFill>
                  <a:srgbClr val="1C2433"/>
                </a:solidFill>
                <a:latin typeface="Calibri"/>
              </a:rPr>
              <a:t>each checked against the lake</a:t>
            </a:r>
            <a:r>
              <a:rPr sz="1300" b="0" i="0">
                <a:solidFill>
                  <a:srgbClr val="1C2433"/>
                </a:solidFill>
                <a:latin typeface="Calibri"/>
              </a:rPr>
              <a:t>: under 95 % match is a finding</a:t>
            </a:r>
          </a:p>
          <a:p>
            <a:pPr algn="l" marL="201168" indent="-201168">
              <a:spcAft>
                <a:spcPts val="700"/>
              </a:spcAft>
              <a:buClr>
                <a:srgbClr val="E87A1E"/>
              </a:buClr>
              <a:buSzPct val="100000"/>
              <a:buFont typeface="Arial"/>
              <a:buChar char="•"/>
            </a:pPr>
            <a:r>
              <a:rPr sz="1300" b="0" i="0">
                <a:solidFill>
                  <a:srgbClr val="1C2433"/>
                </a:solidFill>
                <a:latin typeface="Calibri"/>
              </a:rPr>
              <a:t>counts per business date, cached 15 minutes; read from the day's columns, never documents</a:t>
            </a:r>
          </a:p>
        </p:txBody>
      </p:sp>
      <p:sp>
        <p:nvSpPr>
          <p:cNvPr id="12" name="Callout"/>
          <p:cNvSpPr/>
          <p:nvPr/>
        </p:nvSpPr>
        <p:spPr>
          <a:xfrm>
            <a:off x="7406640" y="4526280"/>
            <a:ext cx="4370832" cy="1783080"/>
          </a:xfrm>
          <a:prstGeom prst="roundRect">
            <a:avLst>
              <a:gd name="adj" fmla="val 6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allout edge"/>
          <p:cNvSpPr/>
          <p:nvPr/>
        </p:nvSpPr>
        <p:spPr>
          <a:xfrm>
            <a:off x="7406640" y="4544568"/>
            <a:ext cx="82296" cy="174650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7635240" y="4599432"/>
            <a:ext cx="4005072" cy="1636776"/>
          </a:xfrm>
          <a:prstGeom prst="rect">
            <a:avLst/>
          </a:prstGeom>
          <a:noFill/>
        </p:spPr>
        <p:txBody>
          <a:bodyPr wrap="square" lIns="0" rIns="0" tIns="0" bIns="0" anchor="t">
            <a:spAutoFit/>
          </a:bodyPr>
          <a:lstStyle/>
          <a:p>
            <a:pPr algn="l">
              <a:spcAft>
                <a:spcPts val="600"/>
              </a:spcAft>
              <a:buNone/>
            </a:pPr>
            <a:r>
              <a:rPr sz="1300" b="1" i="0">
                <a:solidFill>
                  <a:srgbClr val="1C2433"/>
                </a:solidFill>
                <a:latin typeface="Calibri"/>
              </a:rPr>
              <a:t>On the demo lake</a:t>
            </a:r>
          </a:p>
          <a:p>
            <a:pPr algn="l">
              <a:spcAft>
                <a:spcPts val="600"/>
              </a:spcAft>
              <a:buNone/>
            </a:pPr>
            <a:r>
              <a:rPr sz="1300" b="0" i="0">
                <a:solidFill>
                  <a:srgbClr val="1C2433"/>
                </a:solidFill>
                <a:latin typeface="Calibri"/>
              </a:rPr>
              <a:t>10 packs: 96 kinds, 226 joins, 176 checked in about 1.5 s; 11 findings to fix in the contracts or the data.</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Number"/>
          <p:cNvSpPr txBox="1"/>
          <p:nvPr/>
        </p:nvSpPr>
        <p:spPr>
          <a:xfrm>
            <a:off x="4754880" y="-822960"/>
            <a:ext cx="7223760" cy="7863840"/>
          </a:xfrm>
          <a:prstGeom prst="rect">
            <a:avLst/>
          </a:prstGeom>
          <a:noFill/>
        </p:spPr>
        <p:txBody>
          <a:bodyPr wrap="square" lIns="0" rIns="0" tIns="0" bIns="0" anchor="ctr">
            <a:spAutoFit/>
          </a:bodyPr>
          <a:lstStyle/>
          <a:p>
            <a:pPr algn="r">
              <a:spcAft>
                <a:spcPts val="600"/>
              </a:spcAft>
              <a:buNone/>
            </a:pPr>
            <a:r>
              <a:rPr sz="42000" b="1" i="0">
                <a:solidFill>
                  <a:srgbClr val="1C3560"/>
                </a:solidFill>
                <a:latin typeface="Calibri"/>
              </a:rPr>
              <a:t>17</a:t>
            </a:r>
          </a:p>
        </p:txBody>
      </p:sp>
      <p:sp>
        <p:nvSpPr>
          <p:cNvPr id="4" name="Title"/>
          <p:cNvSpPr txBox="1"/>
          <p:nvPr/>
        </p:nvSpPr>
        <p:spPr>
          <a:xfrm>
            <a:off x="822960" y="2514600"/>
            <a:ext cx="6949440" cy="1828800"/>
          </a:xfrm>
          <a:prstGeom prst="rect">
            <a:avLst/>
          </a:prstGeom>
          <a:noFill/>
        </p:spPr>
        <p:txBody>
          <a:bodyPr wrap="square" lIns="0" rIns="0" tIns="0" bIns="0" anchor="ctr">
            <a:spAutoFit/>
          </a:bodyPr>
          <a:lstStyle/>
          <a:p>
            <a:pPr algn="l">
              <a:spcAft>
                <a:spcPts val="600"/>
              </a:spcAft>
              <a:buNone/>
            </a:pPr>
            <a:r>
              <a:rPr sz="4400" b="1" i="0">
                <a:solidFill>
                  <a:srgbClr val="FFFFFF"/>
                </a:solidFill>
                <a:latin typeface="Calibri"/>
              </a:rPr>
              <a:t>Sizing and cost</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17.1 What 200 TB is (seven years of Parquet)</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17</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89</a:t>
            </a:r>
          </a:p>
        </p:txBody>
      </p:sp>
      <p:graphicFrame>
        <p:nvGraphicFramePr>
          <p:cNvPr id="9" name="Table"/>
          <p:cNvGraphicFramePr>
            <a:graphicFrameLocks noGrp="1"/>
          </p:cNvGraphicFramePr>
          <p:nvPr/>
        </p:nvGraphicFramePr>
        <p:xfrm>
          <a:off x="411480" y="1188720"/>
          <a:ext cx="11365992" cy="4114800"/>
        </p:xfrm>
        <a:graphic>
          <a:graphicData uri="http://schemas.openxmlformats.org/drawingml/2006/table">
            <a:tbl>
              <a:tblPr firstRow="0" bandRow="0">
                <a:tableStyleId>{5940675A-B579-460E-94D1-54222C63F5DA}</a:tableStyleId>
              </a:tblPr>
              <a:tblGrid>
                <a:gridCol w="2926080"/>
                <a:gridCol w="8439912"/>
              </a:tblGrid>
              <a:tr h="685800">
                <a:tc>
                  <a:txBody>
                    <a:bodyPr wrap="square"/>
                    <a:lstStyle/>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300" b="1" i="0">
                          <a:solidFill>
                            <a:srgbClr val="FFFFFF"/>
                          </a:solidFill>
                          <a:latin typeface="Calibri"/>
                        </a:rPr>
                        <a:t>Value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685800">
                <a:tc>
                  <a:txBody>
                    <a:bodyPr wrap="square"/>
                    <a:lstStyle/>
                    <a:p>
                      <a:r>
                        <a:rPr sz="1300" b="1" i="0">
                          <a:solidFill>
                            <a:srgbClr val="1C2433"/>
                          </a:solidFill>
                          <a:latin typeface="Calibri"/>
                        </a:rPr>
                        <a:t>Per business day (252 a year)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300" b="0" i="0">
                          <a:solidFill>
                            <a:srgbClr val="1C2433"/>
                          </a:solidFill>
                          <a:latin typeface="Calibri"/>
                        </a:rPr>
                        <a:t>about 113 GB of Parquet; about 100 million documents at about 1.1 KB each compressed (Snappy)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685800">
                <a:tc>
                  <a:txBody>
                    <a:bodyPr wrap="square"/>
                    <a:lstStyle/>
                    <a:p>
                      <a:r>
                        <a:rPr sz="1300" b="1" i="0">
                          <a:solidFill>
                            <a:srgbClr val="1C2433"/>
                          </a:solidFill>
                          <a:latin typeface="Calibri"/>
                        </a:rPr>
                        <a:t>Files per day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300" b="0" i="0">
                          <a:solidFill>
                            <a:srgbClr val="1C2433"/>
                          </a:solidFill>
                          <a:latin typeface="Calibri"/>
                        </a:rPr>
                        <a:t>about 350 (330 MB each, 250,000 rows) over all tables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685800">
                <a:tc>
                  <a:txBody>
                    <a:bodyPr wrap="square"/>
                    <a:lstStyle/>
                    <a:p>
                      <a:r>
                        <a:rPr sz="1300" b="1" i="0">
                          <a:solidFill>
                            <a:srgbClr val="1C2433"/>
                          </a:solidFill>
                          <a:latin typeface="Calibri"/>
                        </a:rPr>
                        <a:t>Live files after seven years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300" b="0" i="0">
                          <a:solidFill>
                            <a:srgbClr val="1C2433"/>
                          </a:solidFill>
                          <a:latin typeface="Calibri"/>
                        </a:rPr>
                        <a:t>about 620,000 over all tables; three trade tables ≈ 200,000 each: above 100,000, so tables by year (S2) or more tables matter before year seven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685800">
                <a:tc>
                  <a:txBody>
                    <a:bodyPr wrap="square"/>
                    <a:lstStyle/>
                    <a:p>
                      <a:r>
                        <a:rPr sz="1300" b="1" i="0">
                          <a:solidFill>
                            <a:srgbClr val="1C2433"/>
                          </a:solidFill>
                          <a:latin typeface="Calibri"/>
                        </a:rPr>
                        <a:t>Commits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300" b="0" i="0">
                          <a:solidFill>
                            <a:srgbClr val="1C2433"/>
                          </a:solidFill>
                          <a:latin typeface="Calibri"/>
                        </a:rPr>
                        <a:t>one per table per day, plus maintenance: about 1,500 a year per table (intraday risk tables more)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685800">
                <a:tc>
                  <a:txBody>
                    <a:bodyPr wrap="square"/>
                    <a:lstStyle/>
                    <a:p>
                      <a:r>
                        <a:rPr sz="1300" b="1" i="0">
                          <a:solidFill>
                            <a:srgbClr val="1C2433"/>
                          </a:solidFill>
                          <a:latin typeface="Calibri"/>
                        </a:rPr>
                        <a:t>The risk lake at 2.3M positions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300" b="0" i="0">
                          <a:solidFill>
                            <a:srgbClr val="1C2433"/>
                          </a:solidFill>
                          <a:latin typeface="Calibri"/>
                        </a:rPr>
                        <a:t>≈ 7 GB of VaR vectors (Parquet) a date, ≈ 12.4 TB over 7 years (section 13)</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bl>
          </a:graphicData>
        </a:graphic>
      </p:graphicFrame>
      <p:sp>
        <p:nvSpPr>
          <p:cNvPr id="10" name="Status ESTIMATED"/>
          <p:cNvSpPr/>
          <p:nvPr/>
        </p:nvSpPr>
        <p:spPr>
          <a:xfrm>
            <a:off x="411480" y="5852160"/>
            <a:ext cx="1051560" cy="237744"/>
          </a:xfrm>
          <a:prstGeom prst="roundRect">
            <a:avLst>
              <a:gd name="adj" fmla="val 50000"/>
            </a:avLst>
          </a:prstGeom>
          <a:solidFill>
            <a:srgbClr val="FFFFFF"/>
          </a:solidFill>
          <a:ln w="15875">
            <a:solidFill>
              <a:srgbClr val="5B677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000" b="1" i="0">
                <a:solidFill>
                  <a:srgbClr val="5B677A"/>
                </a:solidFill>
                <a:latin typeface="Calibri"/>
              </a:rPr>
              <a:t>ESTIMATED</a:t>
            </a:r>
          </a:p>
        </p:txBody>
      </p:sp>
      <p:sp>
        <p:nvSpPr>
          <p:cNvPr id="11" name="TextBox 10"/>
          <p:cNvSpPr txBox="1"/>
          <p:nvPr/>
        </p:nvSpPr>
        <p:spPr>
          <a:xfrm>
            <a:off x="1600200" y="5833872"/>
            <a:ext cx="10058400" cy="320040"/>
          </a:xfrm>
          <a:prstGeom prst="rect">
            <a:avLst/>
          </a:prstGeom>
          <a:noFill/>
        </p:spPr>
        <p:txBody>
          <a:bodyPr wrap="square" lIns="0" rIns="0" tIns="0" bIns="0" anchor="t">
            <a:spAutoFit/>
          </a:bodyPr>
          <a:lstStyle/>
          <a:p>
            <a:pPr algn="l">
              <a:spcAft>
                <a:spcPts val="600"/>
              </a:spcAft>
              <a:buNone/>
            </a:pPr>
            <a:r>
              <a:rPr sz="1200" b="0" i="0">
                <a:solidFill>
                  <a:srgbClr val="5B677A"/>
                </a:solidFill>
                <a:latin typeface="Calibri"/>
              </a:rPr>
              <a:t>Estimates, to be replaced by the measurements of SUPER_SCALE step S8.</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17.2 The deployment</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17</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90</a:t>
            </a:r>
          </a:p>
        </p:txBody>
      </p:sp>
      <p:graphicFrame>
        <p:nvGraphicFramePr>
          <p:cNvPr id="9" name="Table"/>
          <p:cNvGraphicFramePr>
            <a:graphicFrameLocks noGrp="1"/>
          </p:cNvGraphicFramePr>
          <p:nvPr/>
        </p:nvGraphicFramePr>
        <p:xfrm>
          <a:off x="411480" y="1188720"/>
          <a:ext cx="11365992" cy="4389120"/>
        </p:xfrm>
        <a:graphic>
          <a:graphicData uri="http://schemas.openxmlformats.org/drawingml/2006/table">
            <a:tbl>
              <a:tblPr firstRow="0" bandRow="0">
                <a:tableStyleId>{5940675A-B579-460E-94D1-54222C63F5DA}</a:tableStyleId>
              </a:tblPr>
              <a:tblGrid>
                <a:gridCol w="2560320"/>
                <a:gridCol w="6583680"/>
                <a:gridCol w="2221992"/>
              </a:tblGrid>
              <a:tr h="731520">
                <a:tc>
                  <a:txBody>
                    <a:bodyPr wrap="square"/>
                    <a:lstStyle/>
                    <a:p>
                      <a:r>
                        <a:rPr sz="1300" b="1" i="0">
                          <a:solidFill>
                            <a:srgbClr val="FFFFFF"/>
                          </a:solidFill>
                          <a:latin typeface="Calibri"/>
                        </a:rPr>
                        <a:t>Part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300" b="1" i="0">
                          <a:solidFill>
                            <a:srgbClr val="FFFFFF"/>
                          </a:solidFill>
                          <a:latin typeface="Calibri"/>
                        </a:rPr>
                        <a:t>Size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300" b="1" i="0">
                          <a:solidFill>
                            <a:srgbClr val="FFFFFF"/>
                          </a:solidFill>
                          <a:latin typeface="Calibri"/>
                        </a:rPr>
                        <a:t>Count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731520">
                <a:tc>
                  <a:txBody>
                    <a:bodyPr wrap="square"/>
                    <a:lstStyle/>
                    <a:p>
                      <a:r>
                        <a:rPr sz="1300" b="1" i="0">
                          <a:solidFill>
                            <a:srgbClr val="1C2433"/>
                          </a:solidFill>
                          <a:latin typeface="Calibri"/>
                        </a:rPr>
                        <a:t>Server tasks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300" b="0" i="0">
                          <a:solidFill>
                            <a:srgbClr val="1C2433"/>
                          </a:solidFill>
                          <a:latin typeface="Calibri"/>
                        </a:rPr>
                        <a:t>4 vCPU and 12 GB for the server (8 GB heap) in a 6 vCPU, 16 GB task with its console; 16 vCPU, 64 GB at SUPER_SCALE volumes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300" b="0" i="0">
                          <a:solidFill>
                            <a:srgbClr val="1C2433"/>
                          </a:solidFill>
                          <a:latin typeface="Calibri"/>
                        </a:rPr>
                        <a:t>3 to 6, sharded by table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731520">
                <a:tc>
                  <a:txBody>
                    <a:bodyPr wrap="square"/>
                    <a:lstStyle/>
                    <a:p>
                      <a:r>
                        <a:rPr sz="1300" b="1" i="0">
                          <a:solidFill>
                            <a:srgbClr val="1C2433"/>
                          </a:solidFill>
                          <a:latin typeface="Calibri"/>
                        </a:rPr>
                        <a:t>Loader task</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300" b="0" i="0">
                          <a:solidFill>
                            <a:srgbClr val="1C2433"/>
                          </a:solidFill>
                          <a:latin typeface="Calibri"/>
                        </a:rPr>
                        <a:t>4 vCPU, 30 GB, 21 GB ephemeral</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300" b="0" i="0">
                          <a:solidFill>
                            <a:srgbClr val="1C2433"/>
                          </a:solidFill>
                          <a:latin typeface="Calibri"/>
                        </a:rPr>
                        <a:t>one per table at load time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731520">
                <a:tc>
                  <a:txBody>
                    <a:bodyPr wrap="square"/>
                    <a:lstStyle/>
                    <a:p>
                      <a:r>
                        <a:rPr sz="1300" b="1" i="0">
                          <a:solidFill>
                            <a:srgbClr val="1C2433"/>
                          </a:solidFill>
                          <a:latin typeface="Calibri"/>
                        </a:rPr>
                        <a:t>Maintenance and report tasks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300" b="0" i="0">
                          <a:solidFill>
                            <a:srgbClr val="1C2433"/>
                          </a:solidFill>
                          <a:latin typeface="Calibri"/>
                        </a:rPr>
                        <a:t>the same image and size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300" b="0" i="0">
                          <a:solidFill>
                            <a:srgbClr val="1C2433"/>
                          </a:solidFill>
                          <a:latin typeface="Calibri"/>
                        </a:rPr>
                        <a:t>nightly, minutes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731520">
                <a:tc>
                  <a:txBody>
                    <a:bodyPr wrap="square"/>
                    <a:lstStyle/>
                    <a:p>
                      <a:r>
                        <a:rPr sz="1300" b="1" i="0">
                          <a:solidFill>
                            <a:srgbClr val="1C2433"/>
                          </a:solidFill>
                          <a:latin typeface="Calibri"/>
                        </a:rPr>
                        <a:t>EFS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300" b="0" i="0">
                          <a:solidFill>
                            <a:srgbClr val="1C2433"/>
                          </a:solidFill>
                          <a:latin typeface="Calibri"/>
                        </a:rPr>
                        <a:t>each node's state and caches: 50–300 GB; loader scratch: one day of one table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300" b="0" i="0">
                          <a:solidFill>
                            <a:srgbClr val="1C2433"/>
                          </a:solidFill>
                          <a:latin typeface="Calibri"/>
                        </a:rPr>
                        <a:t>one file system</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731520">
                <a:tc>
                  <a:txBody>
                    <a:bodyPr wrap="square"/>
                    <a:lstStyle/>
                    <a:p>
                      <a:r>
                        <a:rPr sz="1300" b="1" i="0">
                          <a:solidFill>
                            <a:srgbClr val="1C2433"/>
                          </a:solidFill>
                          <a:latin typeface="Calibri"/>
                        </a:rPr>
                        <a:t>A node reading the risk lake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300" b="0" i="0">
                          <a:solidFill>
                            <a:srgbClr val="1C2433"/>
                          </a:solidFill>
                          <a:latin typeface="Calibri"/>
                        </a:rPr>
                        <a:t>heap ≈ 1.8 GB per open VaR date at 2.3M; hot files ≈ 5.5 GB a date on local NVMe (EC2)</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300" b="0" i="0">
                          <a:solidFill>
                            <a:srgbClr val="1C2433"/>
                          </a:solidFill>
                          <a:latin typeface="Calibri"/>
                        </a:rPr>
                        <a:t>≥ 1; whole dates each</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bl>
          </a:graphicData>
        </a:graphic>
      </p:graphicFrame>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17.3 Monthly cost (list prices, one Region, estimates)</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17</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91</a:t>
            </a:r>
          </a:p>
        </p:txBody>
      </p:sp>
      <p:graphicFrame>
        <p:nvGraphicFramePr>
          <p:cNvPr id="9" name="Table"/>
          <p:cNvGraphicFramePr>
            <a:graphicFrameLocks noGrp="1"/>
          </p:cNvGraphicFramePr>
          <p:nvPr/>
        </p:nvGraphicFramePr>
        <p:xfrm>
          <a:off x="411480" y="1188720"/>
          <a:ext cx="11365992" cy="4297680"/>
        </p:xfrm>
        <a:graphic>
          <a:graphicData uri="http://schemas.openxmlformats.org/drawingml/2006/table">
            <a:tbl>
              <a:tblPr firstRow="0" bandRow="0">
                <a:tableStyleId>{5940675A-B579-460E-94D1-54222C63F5DA}</a:tableStyleId>
              </a:tblPr>
              <a:tblGrid>
                <a:gridCol w="3566160"/>
                <a:gridCol w="5760720"/>
                <a:gridCol w="2039112"/>
              </a:tblGrid>
              <a:tr h="429768">
                <a:tc>
                  <a:txBody>
                    <a:bodyPr wrap="square"/>
                    <a:lstStyle/>
                    <a:p>
                      <a:r>
                        <a:rPr sz="1200" b="1" i="0">
                          <a:solidFill>
                            <a:srgbClr val="FFFFFF"/>
                          </a:solidFill>
                          <a:latin typeface="Calibri"/>
                        </a:rPr>
                        <a:t>Item</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Basis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About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429768">
                <a:tc>
                  <a:txBody>
                    <a:bodyPr wrap="square"/>
                    <a:lstStyle/>
                    <a:p>
                      <a:r>
                        <a:rPr sz="1200" b="1" i="0">
                          <a:solidFill>
                            <a:srgbClr val="1C2433"/>
                          </a:solidFill>
                          <a:latin typeface="Calibri"/>
                        </a:rPr>
                        <a:t>S3 storage, 200 TB tiered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10 TB Standard (USD 23/TB), 46 TB Standard-IA (12.5), 144 TB Glacier IR (4)</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USD 1,400</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29768">
                <a:tc>
                  <a:txBody>
                    <a:bodyPr wrap="square"/>
                    <a:lstStyle/>
                    <a:p>
                      <a:r>
                        <a:rPr sz="1200" b="1" i="0">
                          <a:solidFill>
                            <a:srgbClr val="1C2433"/>
                          </a:solidFill>
                          <a:latin typeface="Calibri"/>
                        </a:rPr>
                        <a:t>S3 storage if all were Standard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200 TB × 23</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USD 4,600</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29768">
                <a:tc>
                  <a:txBody>
                    <a:bodyPr wrap="square"/>
                    <a:lstStyle/>
                    <a:p>
                      <a:r>
                        <a:rPr sz="1200" b="1" i="0">
                          <a:solidFill>
                            <a:srgbClr val="1C2433"/>
                          </a:solidFill>
                          <a:latin typeface="Calibri"/>
                        </a:rPr>
                        <a:t>S3 requests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250 reads a second, two GETs each, USD 0.40 per million; loads and lists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USD 500–700</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29768">
                <a:tc>
                  <a:txBody>
                    <a:bodyPr wrap="square"/>
                    <a:lstStyle/>
                    <a:p>
                      <a:r>
                        <a:rPr sz="1200" b="1" i="0">
                          <a:solidFill>
                            <a:srgbClr val="1C2433"/>
                          </a:solidFill>
                          <a:latin typeface="Calibri"/>
                        </a:rPr>
                        <a:t>Retrievals from IA and Glacier IR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month-ends, audits, history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tens to a few hundred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29768">
                <a:tc>
                  <a:txBody>
                    <a:bodyPr wrap="square"/>
                    <a:lstStyle/>
                    <a:p>
                      <a:r>
                        <a:rPr sz="1200" b="1" i="0">
                          <a:solidFill>
                            <a:srgbClr val="1C2433"/>
                          </a:solidFill>
                          <a:latin typeface="Calibri"/>
                        </a:rPr>
                        <a:t>Versioning overhead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14 days of replaced and vacuumed files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a few % of storage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29768">
                <a:tc>
                  <a:txBody>
                    <a:bodyPr wrap="square"/>
                    <a:lstStyle/>
                    <a:p>
                      <a:r>
                        <a:rPr sz="1200" b="1" i="0">
                          <a:solidFill>
                            <a:srgbClr val="1C2433"/>
                          </a:solidFill>
                          <a:latin typeface="Calibri"/>
                        </a:rPr>
                        <a:t>Server nodes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3 tasks of 6 vCPU, 16 GB on Fargate, always on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USD 650–750</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29768">
                <a:tc>
                  <a:txBody>
                    <a:bodyPr wrap="square"/>
                    <a:lstStyle/>
                    <a:p>
                      <a:r>
                        <a:rPr sz="1200" b="1" i="0">
                          <a:solidFill>
                            <a:srgbClr val="1C2433"/>
                          </a:solidFill>
                          <a:latin typeface="Calibri"/>
                        </a:rPr>
                        <a:t>Loader, maintenance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about an hour a day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USD 50–150</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29768">
                <a:tc>
                  <a:txBody>
                    <a:bodyPr wrap="square"/>
                    <a:lstStyle/>
                    <a:p>
                      <a:r>
                        <a:rPr sz="1200" b="1" i="0">
                          <a:solidFill>
                            <a:srgbClr val="1C2433"/>
                          </a:solidFill>
                          <a:latin typeface="Calibri"/>
                        </a:rPr>
                        <a:t>EFS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1 TB Standard, Elastic throughput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USD 300 + throughput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29768">
                <a:tc>
                  <a:txBody>
                    <a:bodyPr wrap="square"/>
                    <a:lstStyle/>
                    <a:p>
                      <a:r>
                        <a:rPr sz="1200" b="1" i="0">
                          <a:solidFill>
                            <a:srgbClr val="1C2433"/>
                          </a:solidFill>
                          <a:latin typeface="Calibri"/>
                        </a:rPr>
                        <a:t>CloudWatch, Secrets Manager, Cloud Map, endpoints, load balancer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USD 200–400</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bl>
          </a:graphicData>
        </a:graphic>
      </p:graphicFrame>
      <p:sp>
        <p:nvSpPr>
          <p:cNvPr id="10" name="Callout"/>
          <p:cNvSpPr/>
          <p:nvPr/>
        </p:nvSpPr>
        <p:spPr>
          <a:xfrm>
            <a:off x="411480" y="5852160"/>
            <a:ext cx="11365992" cy="502920"/>
          </a:xfrm>
          <a:prstGeom prst="roundRect">
            <a:avLst>
              <a:gd name="adj" fmla="val 6000"/>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allout edge"/>
          <p:cNvSpPr/>
          <p:nvPr/>
        </p:nvSpPr>
        <p:spPr>
          <a:xfrm>
            <a:off x="411480" y="5870448"/>
            <a:ext cx="82296" cy="466344"/>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640080" y="5925312"/>
            <a:ext cx="11000232" cy="356616"/>
          </a:xfrm>
          <a:prstGeom prst="rect">
            <a:avLst/>
          </a:prstGeom>
          <a:noFill/>
        </p:spPr>
        <p:txBody>
          <a:bodyPr wrap="square" lIns="0" rIns="0" tIns="0" bIns="0" anchor="ctr">
            <a:spAutoFit/>
          </a:bodyPr>
          <a:lstStyle/>
          <a:p>
            <a:pPr algn="l">
              <a:spcAft>
                <a:spcPts val="600"/>
              </a:spcAft>
              <a:buNone/>
            </a:pPr>
            <a:r>
              <a:rPr sz="1300" b="0" i="0">
                <a:solidFill>
                  <a:srgbClr val="1C2433"/>
                </a:solidFill>
                <a:latin typeface="Calibri"/>
              </a:rPr>
              <a:t>For comparison: the same 200 TB on EFS: USD 60,000 a month in Standard; about USD 3,200 in IA plus USD 0.03 per GB read.</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Number"/>
          <p:cNvSpPr txBox="1"/>
          <p:nvPr/>
        </p:nvSpPr>
        <p:spPr>
          <a:xfrm>
            <a:off x="4754880" y="-822960"/>
            <a:ext cx="7223760" cy="7863840"/>
          </a:xfrm>
          <a:prstGeom prst="rect">
            <a:avLst/>
          </a:prstGeom>
          <a:noFill/>
        </p:spPr>
        <p:txBody>
          <a:bodyPr wrap="square" lIns="0" rIns="0" tIns="0" bIns="0" anchor="ctr">
            <a:spAutoFit/>
          </a:bodyPr>
          <a:lstStyle/>
          <a:p>
            <a:pPr algn="r">
              <a:spcAft>
                <a:spcPts val="600"/>
              </a:spcAft>
              <a:buNone/>
            </a:pPr>
            <a:r>
              <a:rPr sz="42000" b="1" i="0">
                <a:solidFill>
                  <a:srgbClr val="1C3560"/>
                </a:solidFill>
                <a:latin typeface="Calibri"/>
              </a:rPr>
              <a:t>18</a:t>
            </a:r>
          </a:p>
        </p:txBody>
      </p:sp>
      <p:sp>
        <p:nvSpPr>
          <p:cNvPr id="4" name="Title"/>
          <p:cNvSpPr txBox="1"/>
          <p:nvPr/>
        </p:nvSpPr>
        <p:spPr>
          <a:xfrm>
            <a:off x="822960" y="2514600"/>
            <a:ext cx="6949440" cy="1828800"/>
          </a:xfrm>
          <a:prstGeom prst="rect">
            <a:avLst/>
          </a:prstGeom>
          <a:noFill/>
        </p:spPr>
        <p:txBody>
          <a:bodyPr wrap="square" lIns="0" rIns="0" tIns="0" bIns="0" anchor="ctr">
            <a:spAutoFit/>
          </a:bodyPr>
          <a:lstStyle/>
          <a:p>
            <a:pPr algn="l">
              <a:spcAft>
                <a:spcPts val="600"/>
              </a:spcAft>
              <a:buNone/>
            </a:pPr>
            <a:r>
              <a:rPr sz="4400" b="1" i="0">
                <a:solidFill>
                  <a:srgbClr val="FFFFFF"/>
                </a:solidFill>
                <a:latin typeface="Calibri"/>
              </a:rPr>
              <a:t>Runbooks</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18.1 The daily load</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18</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93</a:t>
            </a:r>
          </a:p>
        </p:txBody>
      </p:sp>
      <p:graphicFrame>
        <p:nvGraphicFramePr>
          <p:cNvPr id="9" name="Table"/>
          <p:cNvGraphicFramePr>
            <a:graphicFrameLocks noGrp="1"/>
          </p:cNvGraphicFramePr>
          <p:nvPr/>
        </p:nvGraphicFramePr>
        <p:xfrm>
          <a:off x="411480" y="1188720"/>
          <a:ext cx="11365992" cy="3950208"/>
        </p:xfrm>
        <a:graphic>
          <a:graphicData uri="http://schemas.openxmlformats.org/drawingml/2006/table">
            <a:tbl>
              <a:tblPr firstRow="0" bandRow="0">
                <a:tableStyleId>{5940675A-B579-460E-94D1-54222C63F5DA}</a:tableStyleId>
              </a:tblPr>
              <a:tblGrid>
                <a:gridCol w="2194560"/>
                <a:gridCol w="9171432"/>
              </a:tblGrid>
              <a:tr h="658368">
                <a:tc>
                  <a:txBody>
                    <a:bodyPr wrap="square"/>
                    <a:lstStyle/>
                    <a:p>
                      <a:r>
                        <a:rPr sz="1300" b="1" i="0">
                          <a:solidFill>
                            <a:srgbClr val="FFFFFF"/>
                          </a:solidFill>
                          <a:latin typeface="Calibri"/>
                        </a:rPr>
                        <a:t>Check</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300" b="1" i="0">
                          <a:solidFill>
                            <a:srgbClr val="FFFFFF"/>
                          </a:solidFill>
                          <a:latin typeface="Calibri"/>
                        </a:rPr>
                        <a:t>How</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658368">
                <a:tc>
                  <a:txBody>
                    <a:bodyPr wrap="square"/>
                    <a:lstStyle/>
                    <a:p>
                      <a:r>
                        <a:rPr sz="1300" b="1" i="0">
                          <a:solidFill>
                            <a:srgbClr val="1C2433"/>
                          </a:solidFill>
                          <a:latin typeface="Calibri"/>
                        </a:rPr>
                        <a:t>It ran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300" b="0" i="0">
                          <a:solidFill>
                            <a:srgbClr val="1C2433"/>
                          </a:solidFill>
                          <a:latin typeface="Calibri"/>
                        </a:rPr>
                        <a:t>CloudWatch Logs </a:t>
                      </a:r>
                      <a:r>
                        <a:rPr sz="1200" b="0" i="0">
                          <a:solidFill>
                            <a:srgbClr val="0E7C86"/>
                          </a:solidFill>
                          <a:latin typeface="Consolas"/>
                        </a:rPr>
                        <a:t>/drishti/&lt;env&gt;</a:t>
                      </a:r>
                      <a:r>
                        <a:rPr sz="1300" b="0" i="0">
                          <a:solidFill>
                            <a:srgbClr val="1C2433"/>
                          </a:solidFill>
                          <a:latin typeface="Calibri"/>
                        </a:rPr>
                        <a:t>, stream prefix loader; </a:t>
                      </a:r>
                      <a:r>
                        <a:rPr sz="1200" b="0" i="0">
                          <a:solidFill>
                            <a:srgbClr val="0E7C86"/>
                          </a:solidFill>
                          <a:latin typeface="Consolas"/>
                        </a:rPr>
                        <a:t>LoadSucceeded</a:t>
                      </a:r>
                      <a:r>
                        <a:rPr sz="1300" b="0" i="0">
                          <a:solidFill>
                            <a:srgbClr val="1C2433"/>
                          </a:solidFill>
                          <a:latin typeface="Calibri"/>
                        </a:rPr>
                        <a:t> 1 per table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658368">
                <a:tc>
                  <a:txBody>
                    <a:bodyPr wrap="square"/>
                    <a:lstStyle/>
                    <a:p>
                      <a:r>
                        <a:rPr sz="1300" b="1" i="0">
                          <a:solidFill>
                            <a:srgbClr val="1C2433"/>
                          </a:solidFill>
                          <a:latin typeface="Calibri"/>
                        </a:rPr>
                        <a:t>It published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0E7C86"/>
                          </a:solidFill>
                          <a:latin typeface="Consolas"/>
                        </a:rPr>
                        <a:t>report.sh --tables &lt;table&gt;</a:t>
                      </a:r>
                      <a:r>
                        <a:rPr sz="1300" b="0" i="0">
                          <a:solidFill>
                            <a:srgbClr val="1C2433"/>
                          </a:solidFill>
                          <a:latin typeface="Calibri"/>
                        </a:rPr>
                        <a:t>: newest is today; in the console, </a:t>
                      </a:r>
                      <a:r>
                        <a:rPr sz="1200" b="0" i="0">
                          <a:solidFill>
                            <a:srgbClr val="0E7C86"/>
                          </a:solidFill>
                          <a:latin typeface="Consolas"/>
                        </a:rPr>
                        <a:t>TRD &lt;id&gt;</a:t>
                      </a:r>
                      <a:r>
                        <a:rPr sz="1300" b="0" i="0">
                          <a:solidFill>
                            <a:srgbClr val="1C2433"/>
                          </a:solidFill>
                          <a:latin typeface="Calibri"/>
                        </a:rPr>
                        <a:t> on today's date; </a:t>
                      </a:r>
                      <a:r>
                        <a:rPr sz="1200" b="0" i="0">
                          <a:solidFill>
                            <a:srgbClr val="0E7C86"/>
                          </a:solidFill>
                          <a:latin typeface="Consolas"/>
                        </a:rPr>
                        <a:t>DATAMAP</a:t>
                      </a:r>
                      <a:r>
                        <a:rPr sz="1300" b="0" i="0">
                          <a:solidFill>
                            <a:srgbClr val="1C2433"/>
                          </a:solidFill>
                          <a:latin typeface="Calibri"/>
                        </a:rPr>
                        <a:t> counts the day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658368">
                <a:tc>
                  <a:txBody>
                    <a:bodyPr wrap="square"/>
                    <a:lstStyle/>
                    <a:p>
                      <a:r>
                        <a:rPr sz="1300" b="1" i="0">
                          <a:solidFill>
                            <a:srgbClr val="1C2433"/>
                          </a:solidFill>
                          <a:latin typeface="Calibri"/>
                        </a:rPr>
                        <a:t>Exit 2 (rejects)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300" b="0" i="0">
                          <a:solidFill>
                            <a:srgbClr val="1C2433"/>
                          </a:solidFill>
                          <a:latin typeface="Calibri"/>
                        </a:rPr>
                        <a:t>the build summary names the reasons; fix the source and restate the day (18.2)</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658368">
                <a:tc>
                  <a:txBody>
                    <a:bodyPr wrap="square"/>
                    <a:lstStyle/>
                    <a:p>
                      <a:r>
                        <a:rPr sz="1300" b="1" i="0">
                          <a:solidFill>
                            <a:srgbClr val="1C2433"/>
                          </a:solidFill>
                          <a:latin typeface="Calibri"/>
                        </a:rPr>
                        <a:t>Exit 1</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0E7C86"/>
                          </a:solidFill>
                          <a:latin typeface="Consolas"/>
                        </a:rPr>
                        <a:t>lake build failed</a:t>
                      </a:r>
                      <a:r>
                        <a:rPr sz="1300" b="0" i="0">
                          <a:solidFill>
                            <a:srgbClr val="1C2433"/>
                          </a:solidFill>
                          <a:latin typeface="Calibri"/>
                        </a:rPr>
                        <a:t> or </a:t>
                      </a:r>
                      <a:r>
                        <a:rPr sz="1200" b="0" i="0">
                          <a:solidFill>
                            <a:srgbClr val="0E7C86"/>
                          </a:solidFill>
                          <a:latin typeface="Consolas"/>
                        </a:rPr>
                        <a:t>lake publish failed</a:t>
                      </a:r>
                      <a:r>
                        <a:rPr sz="1300" b="0" i="0">
                          <a:solidFill>
                            <a:srgbClr val="1C2433"/>
                          </a:solidFill>
                          <a:latin typeface="Calibri"/>
                        </a:rPr>
                        <a:t> says why; the S3 table is unchanged; fix, then </a:t>
                      </a:r>
                      <a:r>
                        <a:rPr sz="1200" b="0" i="0">
                          <a:solidFill>
                            <a:srgbClr val="0E7C86"/>
                          </a:solidFill>
                          <a:latin typeface="Consolas"/>
                        </a:rPr>
                        <a:t>load-day.sh --date &lt;d&gt; --tables &lt;t&gt;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658368">
                <a:tc>
                  <a:txBody>
                    <a:bodyPr wrap="square"/>
                    <a:lstStyle/>
                    <a:p>
                      <a:r>
                        <a:rPr sz="1300" b="1" i="0">
                          <a:solidFill>
                            <a:srgbClr val="1C2433"/>
                          </a:solidFill>
                          <a:latin typeface="Calibri"/>
                        </a:rPr>
                        <a:t>Exit 3</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300" b="0" i="0">
                          <a:solidFill>
                            <a:srgbClr val="1C2433"/>
                          </a:solidFill>
                          <a:latin typeface="Calibri"/>
                        </a:rPr>
                        <a:t>maintenance or a backfill held the table's lock; the next run loads it, or run it by hand after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bl>
          </a:graphicData>
        </a:graphic>
      </p:graphicFrame>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18.2 A backfill and a restatement</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18</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94</a:t>
            </a:r>
          </a:p>
        </p:txBody>
      </p:sp>
      <p:sp>
        <p:nvSpPr>
          <p:cNvPr id="9" name="Callout"/>
          <p:cNvSpPr/>
          <p:nvPr/>
        </p:nvSpPr>
        <p:spPr>
          <a:xfrm>
            <a:off x="411480" y="1188720"/>
            <a:ext cx="5532120" cy="3291840"/>
          </a:xfrm>
          <a:prstGeom prst="roundRect">
            <a:avLst>
              <a:gd name="adj" fmla="val 6000"/>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allout edge"/>
          <p:cNvSpPr/>
          <p:nvPr/>
        </p:nvSpPr>
        <p:spPr>
          <a:xfrm>
            <a:off x="411480" y="1207008"/>
            <a:ext cx="82296" cy="3255264"/>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640080" y="1261872"/>
            <a:ext cx="5166359" cy="3145536"/>
          </a:xfrm>
          <a:prstGeom prst="rect">
            <a:avLst/>
          </a:prstGeom>
          <a:noFill/>
        </p:spPr>
        <p:txBody>
          <a:bodyPr wrap="square" lIns="0" rIns="0" tIns="0" bIns="0" anchor="t">
            <a:spAutoFit/>
          </a:bodyPr>
          <a:lstStyle/>
          <a:p>
            <a:pPr algn="l">
              <a:spcAft>
                <a:spcPts val="600"/>
              </a:spcAft>
              <a:buNone/>
            </a:pPr>
            <a:r>
              <a:rPr sz="1500" b="1" i="0">
                <a:solidFill>
                  <a:srgbClr val="1C2433"/>
                </a:solidFill>
                <a:latin typeface="Calibri"/>
              </a:rPr>
              <a:t>A backfill</a:t>
            </a:r>
          </a:p>
          <a:p>
            <a:pPr algn="l">
              <a:spcAft>
                <a:spcPts val="600"/>
              </a:spcAft>
              <a:buNone/>
            </a:pPr>
            <a:r>
              <a:rPr sz="1400" b="0" i="0">
                <a:solidFill>
                  <a:srgbClr val="1C2433"/>
                </a:solidFill>
                <a:latin typeface="Calibri"/>
              </a:rPr>
              <a:t>1. </a:t>
            </a:r>
            <a:r>
              <a:rPr sz="1300" b="0" i="0">
                <a:solidFill>
                  <a:srgbClr val="0E7C86"/>
                </a:solidFill>
                <a:latin typeface="Consolas"/>
              </a:rPr>
              <a:t>backfill.sh --dry-run --from … --to … --tables &lt;t&gt;</a:t>
            </a:r>
            <a:r>
              <a:rPr sz="1400" b="0" i="0">
                <a:solidFill>
                  <a:srgbClr val="1C2433"/>
                </a:solidFill>
                <a:latin typeface="Calibri"/>
              </a:rPr>
              <a:t>: check the dates and commands</a:t>
            </a:r>
          </a:p>
          <a:p>
            <a:pPr algn="l">
              <a:spcAft>
                <a:spcPts val="600"/>
              </a:spcAft>
              <a:buNone/>
            </a:pPr>
            <a:r>
              <a:rPr sz="1400" b="0" i="0">
                <a:solidFill>
                  <a:srgbClr val="1C2433"/>
                </a:solidFill>
                <a:latin typeface="Calibri"/>
              </a:rPr>
              <a:t>2. Run it as a loader task per table (</a:t>
            </a:r>
            <a:r>
              <a:rPr sz="1300" b="0" i="0">
                <a:solidFill>
                  <a:srgbClr val="0E7C86"/>
                </a:solidFill>
                <a:latin typeface="Consolas"/>
              </a:rPr>
              <a:t>aws ecs run-task … --overrides</a:t>
            </a:r>
            <a:r>
              <a:rPr sz="1400" b="0" i="0">
                <a:solidFill>
                  <a:srgbClr val="1C2433"/>
                </a:solidFill>
                <a:latin typeface="Calibri"/>
              </a:rPr>
              <a:t> with </a:t>
            </a:r>
            <a:r>
              <a:rPr sz="1300" b="0" i="0">
                <a:solidFill>
                  <a:srgbClr val="0E7C86"/>
                </a:solidFill>
                <a:latin typeface="Consolas"/>
              </a:rPr>
              <a:t>backfill.sh …</a:t>
            </a:r>
            <a:r>
              <a:rPr sz="1400" b="0" i="0">
                <a:solidFill>
                  <a:srgbClr val="1C2433"/>
                </a:solidFill>
                <a:latin typeface="Calibri"/>
              </a:rPr>
              <a:t>)</a:t>
            </a:r>
          </a:p>
          <a:p>
            <a:pPr algn="l">
              <a:spcAft>
                <a:spcPts val="600"/>
              </a:spcAft>
              <a:buNone/>
            </a:pPr>
            <a:r>
              <a:rPr sz="1400" b="0" i="0">
                <a:solidFill>
                  <a:srgbClr val="1C2433"/>
                </a:solidFill>
                <a:latin typeface="Calibri"/>
              </a:rPr>
              <a:t>3. It stops at a failing date with the resume command; fix and resume</a:t>
            </a:r>
          </a:p>
          <a:p>
            <a:pPr algn="l">
              <a:spcAft>
                <a:spcPts val="600"/>
              </a:spcAft>
              <a:buNone/>
            </a:pPr>
            <a:r>
              <a:rPr sz="1400" b="0" i="0">
                <a:solidFill>
                  <a:srgbClr val="1C2433"/>
                </a:solidFill>
                <a:latin typeface="Calibri"/>
              </a:rPr>
              <a:t>4. </a:t>
            </a:r>
            <a:r>
              <a:rPr sz="1300" b="0" i="0">
                <a:solidFill>
                  <a:srgbClr val="0E7C86"/>
                </a:solidFill>
                <a:latin typeface="Consolas"/>
              </a:rPr>
              <a:t>setup-lifecycle.sh</a:t>
            </a:r>
            <a:r>
              <a:rPr sz="1400" b="0" i="0">
                <a:solidFill>
                  <a:srgbClr val="1C2433"/>
                </a:solidFill>
                <a:latin typeface="Calibri"/>
              </a:rPr>
              <a:t> (or the next maintain.sh) moves the backfilled years to their tiers</a:t>
            </a:r>
          </a:p>
        </p:txBody>
      </p:sp>
      <p:sp>
        <p:nvSpPr>
          <p:cNvPr id="12" name="Callout"/>
          <p:cNvSpPr/>
          <p:nvPr/>
        </p:nvSpPr>
        <p:spPr>
          <a:xfrm>
            <a:off x="6245352" y="1188720"/>
            <a:ext cx="5532120" cy="3291840"/>
          </a:xfrm>
          <a:prstGeom prst="roundRect">
            <a:avLst>
              <a:gd name="adj" fmla="val 6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allout edge"/>
          <p:cNvSpPr/>
          <p:nvPr/>
        </p:nvSpPr>
        <p:spPr>
          <a:xfrm>
            <a:off x="6245352" y="1207008"/>
            <a:ext cx="82296" cy="32552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6473952" y="1261872"/>
            <a:ext cx="5166359" cy="3145536"/>
          </a:xfrm>
          <a:prstGeom prst="rect">
            <a:avLst/>
          </a:prstGeom>
          <a:noFill/>
        </p:spPr>
        <p:txBody>
          <a:bodyPr wrap="square" lIns="0" rIns="0" tIns="0" bIns="0" anchor="t">
            <a:spAutoFit/>
          </a:bodyPr>
          <a:lstStyle/>
          <a:p>
            <a:pPr algn="l">
              <a:spcAft>
                <a:spcPts val="600"/>
              </a:spcAft>
              <a:buNone/>
            </a:pPr>
            <a:r>
              <a:rPr sz="1500" b="1" i="0">
                <a:solidFill>
                  <a:srgbClr val="1C2433"/>
                </a:solidFill>
                <a:latin typeface="Calibri"/>
              </a:rPr>
              <a:t>A restatement</a:t>
            </a:r>
          </a:p>
          <a:p>
            <a:pPr algn="l">
              <a:spcAft>
                <a:spcPts val="600"/>
              </a:spcAft>
              <a:buNone/>
            </a:pPr>
            <a:r>
              <a:rPr sz="1400" b="0" i="0">
                <a:solidFill>
                  <a:srgbClr val="1C2433"/>
                </a:solidFill>
                <a:latin typeface="Calibri"/>
              </a:rPr>
              <a:t>1. The source re-sends the JSON Lines dumps under the landing prefix of the day</a:t>
            </a:r>
          </a:p>
          <a:p>
            <a:pPr algn="l">
              <a:spcAft>
                <a:spcPts val="600"/>
              </a:spcAft>
              <a:buNone/>
            </a:pPr>
            <a:r>
              <a:rPr sz="1400" b="0" i="0">
                <a:solidFill>
                  <a:srgbClr val="1C2433"/>
                </a:solidFill>
                <a:latin typeface="Calibri"/>
              </a:rPr>
              <a:t>2. </a:t>
            </a:r>
            <a:r>
              <a:rPr sz="1300" b="0" i="0">
                <a:solidFill>
                  <a:srgbClr val="0E7C86"/>
                </a:solidFill>
                <a:latin typeface="Consolas"/>
              </a:rPr>
              <a:t>backfill.sh --dates &lt;d&gt;</a:t>
            </a:r>
            <a:r>
              <a:rPr sz="1400" b="0" i="0">
                <a:solidFill>
                  <a:srgbClr val="1C2433"/>
                </a:solidFill>
                <a:latin typeface="Calibri"/>
              </a:rPr>
              <a:t> (whole day) or </a:t>
            </a:r>
            <a:r>
              <a:rPr sz="1300" b="0" i="0">
                <a:solidFill>
                  <a:srgbClr val="0E7C86"/>
                </a:solidFill>
                <a:latin typeface="Consolas"/>
              </a:rPr>
              <a:t>load-day.sh --date &lt;d&gt; --tables &lt;t&gt; --mode overwrite-partitions</a:t>
            </a:r>
          </a:p>
          <a:p>
            <a:pPr algn="l">
              <a:spcAft>
                <a:spcPts val="600"/>
              </a:spcAft>
              <a:buNone/>
            </a:pPr>
            <a:r>
              <a:rPr sz="1400" b="0" i="0">
                <a:solidFill>
                  <a:srgbClr val="1C2433"/>
                </a:solidFill>
                <a:latin typeface="Calibri"/>
              </a:rPr>
              <a:t>3. Readers switch at the commit; the data-load signal (if set) refreshes the servers at once</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18.3 A slow table</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18</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95</a:t>
            </a:r>
          </a:p>
        </p:txBody>
      </p:sp>
      <p:graphicFrame>
        <p:nvGraphicFramePr>
          <p:cNvPr id="9" name="Table"/>
          <p:cNvGraphicFramePr>
            <a:graphicFrameLocks noGrp="1"/>
          </p:cNvGraphicFramePr>
          <p:nvPr/>
        </p:nvGraphicFramePr>
        <p:xfrm>
          <a:off x="411480" y="1188720"/>
          <a:ext cx="11365992" cy="4608576"/>
        </p:xfrm>
        <a:graphic>
          <a:graphicData uri="http://schemas.openxmlformats.org/drawingml/2006/table">
            <a:tbl>
              <a:tblPr firstRow="0" bandRow="0">
                <a:tableStyleId>{5940675A-B579-460E-94D1-54222C63F5DA}</a:tableStyleId>
              </a:tblPr>
              <a:tblGrid>
                <a:gridCol w="2651760"/>
                <a:gridCol w="3291840"/>
                <a:gridCol w="5422392"/>
              </a:tblGrid>
              <a:tr h="658368">
                <a:tc>
                  <a:txBody>
                    <a:bodyPr wrap="square"/>
                    <a:lstStyle/>
                    <a:p>
                      <a:r>
                        <a:rPr sz="1200" b="1" i="0">
                          <a:solidFill>
                            <a:srgbClr val="FFFFFF"/>
                          </a:solidFill>
                          <a:latin typeface="Calibri"/>
                        </a:rPr>
                        <a:t>Symptom</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Cause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Fix</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658368">
                <a:tc>
                  <a:txBody>
                    <a:bodyPr wrap="square"/>
                    <a:lstStyle/>
                    <a:p>
                      <a:r>
                        <a:rPr sz="1200" b="1" i="0">
                          <a:solidFill>
                            <a:srgbClr val="1C2433"/>
                          </a:solidFill>
                          <a:latin typeface="Calibri"/>
                        </a:rPr>
                        <a:t>first read of a day slow, then fast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id map not yet on disk; footers cold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normal; </a:t>
                      </a:r>
                      <a:r>
                        <a:rPr sz="1100" b="0" i="0">
                          <a:solidFill>
                            <a:srgbClr val="0E7C86"/>
                          </a:solidFill>
                          <a:latin typeface="Consolas"/>
                        </a:rPr>
                        <a:t>warm-dates</a:t>
                      </a:r>
                      <a:r>
                        <a:rPr sz="1200" b="0" i="0">
                          <a:solidFill>
                            <a:srgbClr val="1C2433"/>
                          </a:solidFill>
                          <a:latin typeface="Calibri"/>
                        </a:rPr>
                        <a:t> (3) warms the newest days at start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658368">
                <a:tc>
                  <a:txBody>
                    <a:bodyPr wrap="square"/>
                    <a:lstStyle/>
                    <a:p>
                      <a:r>
                        <a:rPr sz="1200" b="1" i="0">
                          <a:solidFill>
                            <a:srgbClr val="1C2433"/>
                          </a:solidFill>
                          <a:latin typeface="Calibri"/>
                        </a:rPr>
                        <a:t>every read of a day slow</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the day is not sorted by id, or row groups are large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restate the day after fixing the order (7.2)</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658368">
                <a:tc>
                  <a:txBody>
                    <a:bodyPr wrap="square"/>
                    <a:lstStyle/>
                    <a:p>
                      <a:r>
                        <a:rPr sz="1200" b="1" i="0">
                          <a:solidFill>
                            <a:srgbClr val="1C2433"/>
                          </a:solidFill>
                          <a:latin typeface="Calibri"/>
                        </a:rPr>
                        <a:t>searches slow or partial</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a field the search uses is not promoted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promote it; publish then refuses the next day: backfill into </a:t>
                      </a:r>
                      <a:r>
                        <a:rPr sz="1100" b="0" i="0">
                          <a:solidFill>
                            <a:srgbClr val="0E7C86"/>
                          </a:solidFill>
                          <a:latin typeface="Consolas"/>
                        </a:rPr>
                        <a:t>trade_endur_v2</a:t>
                      </a:r>
                      <a:r>
                        <a:rPr sz="1200" b="0" i="0">
                          <a:solidFill>
                            <a:srgbClr val="1C2433"/>
                          </a:solidFill>
                          <a:latin typeface="Calibri"/>
                        </a:rPr>
                        <a:t> and switch </a:t>
                      </a:r>
                      <a:r>
                        <a:rPr sz="1100" b="0" i="0">
                          <a:solidFill>
                            <a:srgbClr val="0E7C86"/>
                          </a:solidFill>
                          <a:latin typeface="Consolas"/>
                        </a:rPr>
                        <a:t>table.trade</a:t>
                      </a:r>
                      <a:r>
                        <a:rPr sz="1200" b="0" i="0">
                          <a:solidFill>
                            <a:srgbClr val="1C2433"/>
                          </a:solidFill>
                          <a:latin typeface="Calibri"/>
                        </a:rPr>
                        <a:t> (in place: 2.9.6)</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658368">
                <a:tc>
                  <a:txBody>
                    <a:bodyPr wrap="square"/>
                    <a:lstStyle/>
                    <a:p>
                      <a:r>
                        <a:rPr sz="1200" b="1" i="0">
                          <a:solidFill>
                            <a:srgbClr val="1C2433"/>
                          </a:solidFill>
                          <a:latin typeface="Calibri"/>
                        </a:rPr>
                        <a:t>the snapshot refresh slow (Health)</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many live files or a long log (intraday commits)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report.sh: behind and file counts; run maintain.sh; split the table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658368">
                <a:tc>
                  <a:txBody>
                    <a:bodyPr wrap="square"/>
                    <a:lstStyle/>
                    <a:p>
                      <a:r>
                        <a:rPr sz="1200" b="1" i="0">
                          <a:solidFill>
                            <a:srgbClr val="1C2433"/>
                          </a:solidFill>
                          <a:latin typeface="Calibri"/>
                        </a:rPr>
                        <a:t>503 Slow Down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one prefix overloaded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partition by </a:t>
                      </a:r>
                      <a:r>
                        <a:rPr sz="1100" b="0" i="0">
                          <a:solidFill>
                            <a:srgbClr val="0E7C86"/>
                          </a:solidFill>
                          <a:latin typeface="Consolas"/>
                        </a:rPr>
                        <a:t>PRODUCT_TYPE</a:t>
                      </a:r>
                      <a:r>
                        <a:rPr sz="1200" b="0" i="0">
                          <a:solidFill>
                            <a:srgbClr val="1C2433"/>
                          </a:solidFill>
                          <a:latin typeface="Calibri"/>
                        </a:rPr>
                        <a:t> (or finer); S3 scales a prefix within minutes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658368">
                <a:tc>
                  <a:txBody>
                    <a:bodyPr wrap="square"/>
                    <a:lstStyle/>
                    <a:p>
                      <a:r>
                        <a:rPr sz="1200" b="1" i="0">
                          <a:solidFill>
                            <a:srgbClr val="1C2433"/>
                          </a:solidFill>
                          <a:latin typeface="Calibri"/>
                        </a:rPr>
                        <a:t>searches read documents on one table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deletion vectors in its files (written by Spark)</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compaction rewrites the files without them</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bl>
          </a:graphicData>
        </a:graphic>
      </p:graphicFrame>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18.4 A restated risk date</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18</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96</a:t>
            </a:r>
          </a:p>
        </p:txBody>
      </p:sp>
      <p:sp>
        <p:nvSpPr>
          <p:cNvPr id="9" name="Oval 8"/>
          <p:cNvSpPr/>
          <p:nvPr/>
        </p:nvSpPr>
        <p:spPr>
          <a:xfrm>
            <a:off x="411480" y="1234440"/>
            <a:ext cx="457200" cy="457200"/>
          </a:xfrm>
          <a:prstGeom prst="ellipse">
            <a:avLst/>
          </a:prstGeom>
          <a:solidFill>
            <a:srgbClr val="0B1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0"/>
              </a:spcAft>
              <a:buNone/>
            </a:pPr>
            <a:r>
              <a:rPr sz="1400" b="1" i="0">
                <a:solidFill>
                  <a:srgbClr val="FFFFFF"/>
                </a:solidFill>
                <a:latin typeface="Calibri"/>
              </a:rPr>
              <a:t>1</a:t>
            </a:r>
          </a:p>
        </p:txBody>
      </p:sp>
      <p:sp>
        <p:nvSpPr>
          <p:cNvPr id="10" name="TextBox 9"/>
          <p:cNvSpPr txBox="1"/>
          <p:nvPr/>
        </p:nvSpPr>
        <p:spPr>
          <a:xfrm>
            <a:off x="1051560" y="1188720"/>
            <a:ext cx="6400800" cy="566928"/>
          </a:xfrm>
          <a:prstGeom prst="rect">
            <a:avLst/>
          </a:prstGeom>
          <a:noFill/>
        </p:spPr>
        <p:txBody>
          <a:bodyPr wrap="square" lIns="0" rIns="0" tIns="0" bIns="0" anchor="ctr">
            <a:spAutoFit/>
          </a:bodyPr>
          <a:lstStyle/>
          <a:p>
            <a:pPr algn="l">
              <a:spcAft>
                <a:spcPts val="600"/>
              </a:spcAft>
              <a:buNone/>
            </a:pPr>
            <a:r>
              <a:rPr sz="1300" b="0" i="0">
                <a:solidFill>
                  <a:srgbClr val="1C2433"/>
                </a:solidFill>
                <a:latin typeface="Calibri"/>
              </a:rPr>
              <a:t>The risk batch rewrites the whole date (a new </a:t>
            </a:r>
            <a:r>
              <a:rPr sz="1200" b="0" i="0">
                <a:solidFill>
                  <a:srgbClr val="0E7C86"/>
                </a:solidFill>
                <a:latin typeface="Consolas"/>
              </a:rPr>
              <a:t>BATCH_ID</a:t>
            </a:r>
            <a:r>
              <a:rPr sz="1300" b="0" i="0">
                <a:solidFill>
                  <a:srgbClr val="1C2433"/>
                </a:solidFill>
                <a:latin typeface="Calibri"/>
              </a:rPr>
              <a:t>, </a:t>
            </a:r>
            <a:r>
              <a:rPr sz="1200" b="0" i="0">
                <a:solidFill>
                  <a:srgbClr val="0E7C86"/>
                </a:solidFill>
                <a:latin typeface="Consolas"/>
              </a:rPr>
              <a:t>RESTATEMENT</a:t>
            </a:r>
            <a:r>
              <a:rPr sz="1300" b="0" i="0">
                <a:solidFill>
                  <a:srgbClr val="1C2433"/>
                </a:solidFill>
                <a:latin typeface="Calibri"/>
              </a:rPr>
              <a:t> + 1) as JSON Lines</a:t>
            </a:r>
          </a:p>
        </p:txBody>
      </p:sp>
      <p:sp>
        <p:nvSpPr>
          <p:cNvPr id="11" name="Oval 10"/>
          <p:cNvSpPr/>
          <p:nvPr/>
        </p:nvSpPr>
        <p:spPr>
          <a:xfrm>
            <a:off x="411480" y="1984248"/>
            <a:ext cx="457200" cy="457200"/>
          </a:xfrm>
          <a:prstGeom prst="ellipse">
            <a:avLst/>
          </a:prstGeom>
          <a:solidFill>
            <a:srgbClr val="0B1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0"/>
              </a:spcAft>
              <a:buNone/>
            </a:pPr>
            <a:r>
              <a:rPr sz="1400" b="1" i="0">
                <a:solidFill>
                  <a:srgbClr val="FFFFFF"/>
                </a:solidFill>
                <a:latin typeface="Calibri"/>
              </a:rPr>
              <a:t>2</a:t>
            </a:r>
          </a:p>
        </p:txBody>
      </p:sp>
      <p:sp>
        <p:nvSpPr>
          <p:cNvPr id="12" name="TextBox 11"/>
          <p:cNvSpPr txBox="1"/>
          <p:nvPr/>
        </p:nvSpPr>
        <p:spPr>
          <a:xfrm>
            <a:off x="1051560" y="1938528"/>
            <a:ext cx="6400800" cy="566928"/>
          </a:xfrm>
          <a:prstGeom prst="rect">
            <a:avLst/>
          </a:prstGeom>
          <a:noFill/>
        </p:spPr>
        <p:txBody>
          <a:bodyPr wrap="square" lIns="0" rIns="0" tIns="0" bIns="0" anchor="ctr">
            <a:spAutoFit/>
          </a:bodyPr>
          <a:lstStyle/>
          <a:p>
            <a:pPr algn="l">
              <a:spcAft>
                <a:spcPts val="600"/>
              </a:spcAft>
              <a:buNone/>
            </a:pPr>
            <a:r>
              <a:rPr sz="1300" b="0" i="0">
                <a:solidFill>
                  <a:srgbClr val="1C2433"/>
                </a:solidFill>
                <a:latin typeface="Calibri"/>
              </a:rPr>
              <a:t>Load it like any table: </a:t>
            </a:r>
            <a:r>
              <a:rPr sz="1200" b="0" i="0">
                <a:solidFill>
                  <a:srgbClr val="0E7C86"/>
                </a:solidFill>
                <a:latin typeface="Consolas"/>
              </a:rPr>
              <a:t>load-day.sh --date &lt;d&gt; --tables risk/pnl-vector</a:t>
            </a:r>
            <a:r>
              <a:rPr sz="1300" b="0" i="0">
                <a:solidFill>
                  <a:srgbClr val="1C2433"/>
                </a:solidFill>
                <a:latin typeface="Calibri"/>
              </a:rPr>
              <a:t> (overwrite-dates)</a:t>
            </a:r>
          </a:p>
        </p:txBody>
      </p:sp>
      <p:sp>
        <p:nvSpPr>
          <p:cNvPr id="13" name="Oval 12"/>
          <p:cNvSpPr/>
          <p:nvPr/>
        </p:nvSpPr>
        <p:spPr>
          <a:xfrm>
            <a:off x="411480" y="2734056"/>
            <a:ext cx="457200" cy="457200"/>
          </a:xfrm>
          <a:prstGeom prst="ellipse">
            <a:avLst/>
          </a:prstGeom>
          <a:solidFill>
            <a:srgbClr val="0B1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0"/>
              </a:spcAft>
              <a:buNone/>
            </a:pPr>
            <a:r>
              <a:rPr sz="1400" b="1" i="0">
                <a:solidFill>
                  <a:srgbClr val="FFFFFF"/>
                </a:solidFill>
                <a:latin typeface="Calibri"/>
              </a:rPr>
              <a:t>3</a:t>
            </a:r>
          </a:p>
        </p:txBody>
      </p:sp>
      <p:sp>
        <p:nvSpPr>
          <p:cNvPr id="14" name="TextBox 13"/>
          <p:cNvSpPr txBox="1"/>
          <p:nvPr/>
        </p:nvSpPr>
        <p:spPr>
          <a:xfrm>
            <a:off x="1051560" y="2688336"/>
            <a:ext cx="6400800" cy="566928"/>
          </a:xfrm>
          <a:prstGeom prst="rect">
            <a:avLst/>
          </a:prstGeom>
          <a:noFill/>
        </p:spPr>
        <p:txBody>
          <a:bodyPr wrap="square" lIns="0" rIns="0" tIns="0" bIns="0" anchor="ctr">
            <a:spAutoFit/>
          </a:bodyPr>
          <a:lstStyle/>
          <a:p>
            <a:pPr algn="l">
              <a:spcAft>
                <a:spcPts val="600"/>
              </a:spcAft>
              <a:buNone/>
            </a:pPr>
            <a:r>
              <a:rPr sz="1300" b="0" i="0">
                <a:solidFill>
                  <a:srgbClr val="1C2433"/>
                </a:solidFill>
                <a:latin typeface="Calibri"/>
              </a:rPr>
              <a:t>The data-load signal reloads the date: a new hot file (new inputs' digest); the intraday layer is dropped</a:t>
            </a:r>
          </a:p>
        </p:txBody>
      </p:sp>
      <p:sp>
        <p:nvSpPr>
          <p:cNvPr id="15" name="Oval 14"/>
          <p:cNvSpPr/>
          <p:nvPr/>
        </p:nvSpPr>
        <p:spPr>
          <a:xfrm>
            <a:off x="411480" y="3483863"/>
            <a:ext cx="457200" cy="457200"/>
          </a:xfrm>
          <a:prstGeom prst="ellipse">
            <a:avLst/>
          </a:prstGeom>
          <a:solidFill>
            <a:srgbClr val="0B1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0"/>
              </a:spcAft>
              <a:buNone/>
            </a:pPr>
            <a:r>
              <a:rPr sz="1400" b="1" i="0">
                <a:solidFill>
                  <a:srgbClr val="FFFFFF"/>
                </a:solidFill>
                <a:latin typeface="Calibri"/>
              </a:rPr>
              <a:t>4</a:t>
            </a:r>
          </a:p>
        </p:txBody>
      </p:sp>
      <p:sp>
        <p:nvSpPr>
          <p:cNvPr id="16" name="TextBox 15"/>
          <p:cNvSpPr txBox="1"/>
          <p:nvPr/>
        </p:nvSpPr>
        <p:spPr>
          <a:xfrm>
            <a:off x="1051560" y="3438144"/>
            <a:ext cx="6400800" cy="566928"/>
          </a:xfrm>
          <a:prstGeom prst="rect">
            <a:avLst/>
          </a:prstGeom>
          <a:noFill/>
        </p:spPr>
        <p:txBody>
          <a:bodyPr wrap="square" lIns="0" rIns="0" tIns="0" bIns="0" anchor="ctr">
            <a:spAutoFit/>
          </a:bodyPr>
          <a:lstStyle/>
          <a:p>
            <a:pPr algn="l">
              <a:spcAft>
                <a:spcPts val="600"/>
              </a:spcAft>
              <a:buNone/>
            </a:pPr>
            <a:r>
              <a:rPr sz="1300" b="0" i="0">
                <a:solidFill>
                  <a:srgbClr val="1C2433"/>
                </a:solidFill>
                <a:latin typeface="Calibri"/>
              </a:rPr>
              <a:t>The official capture runs again: the next </a:t>
            </a:r>
            <a:r>
              <a:rPr sz="1200" b="0" i="0">
                <a:solidFill>
                  <a:srgbClr val="0E7C86"/>
                </a:solidFill>
                <a:latin typeface="Consolas"/>
              </a:rPr>
              <a:t>RESULT_VERSION</a:t>
            </a:r>
            <a:r>
              <a:rPr sz="1300" b="0" i="0">
                <a:solidFill>
                  <a:srgbClr val="1C2433"/>
                </a:solidFill>
                <a:latin typeface="Calibri"/>
              </a:rPr>
              <a:t>, appended; the earlier version is kept</a:t>
            </a:r>
          </a:p>
        </p:txBody>
      </p:sp>
      <p:sp>
        <p:nvSpPr>
          <p:cNvPr id="17" name="Oval 16"/>
          <p:cNvSpPr/>
          <p:nvPr/>
        </p:nvSpPr>
        <p:spPr>
          <a:xfrm>
            <a:off x="411480" y="4233672"/>
            <a:ext cx="457200" cy="457200"/>
          </a:xfrm>
          <a:prstGeom prst="ellipse">
            <a:avLst/>
          </a:prstGeom>
          <a:solidFill>
            <a:srgbClr val="0B1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0"/>
              </a:spcAft>
              <a:buNone/>
            </a:pPr>
            <a:r>
              <a:rPr sz="1400" b="1" i="0">
                <a:solidFill>
                  <a:srgbClr val="FFFFFF"/>
                </a:solidFill>
                <a:latin typeface="Calibri"/>
              </a:rPr>
              <a:t>5</a:t>
            </a:r>
          </a:p>
        </p:txBody>
      </p:sp>
      <p:sp>
        <p:nvSpPr>
          <p:cNvPr id="18" name="TextBox 17"/>
          <p:cNvSpPr txBox="1"/>
          <p:nvPr/>
        </p:nvSpPr>
        <p:spPr>
          <a:xfrm>
            <a:off x="1051560" y="4187952"/>
            <a:ext cx="6400800" cy="566928"/>
          </a:xfrm>
          <a:prstGeom prst="rect">
            <a:avLst/>
          </a:prstGeom>
          <a:noFill/>
        </p:spPr>
        <p:txBody>
          <a:bodyPr wrap="square" lIns="0" rIns="0" tIns="0" bIns="0" anchor="ctr">
            <a:spAutoFit/>
          </a:bodyPr>
          <a:lstStyle/>
          <a:p>
            <a:pPr algn="l">
              <a:spcAft>
                <a:spcPts val="600"/>
              </a:spcAft>
              <a:buNone/>
            </a:pPr>
            <a:r>
              <a:rPr sz="1300" b="0" i="0">
                <a:solidFill>
                  <a:srgbClr val="1C2433"/>
                </a:solidFill>
                <a:latin typeface="Calibri"/>
              </a:rPr>
              <a:t>Check: </a:t>
            </a:r>
            <a:r>
              <a:rPr sz="1200" b="0" i="0">
                <a:solidFill>
                  <a:srgbClr val="0E7C86"/>
                </a:solidFill>
                <a:latin typeface="Consolas"/>
              </a:rPr>
              <a:t>drishti.py var official</a:t>
            </a:r>
            <a:r>
              <a:rPr sz="1300" b="0" i="0">
                <a:solidFill>
                  <a:srgbClr val="1C2433"/>
                </a:solidFill>
                <a:latin typeface="Calibri"/>
              </a:rPr>
              <a:t> lists both versions; BI shows the latest; </a:t>
            </a:r>
            <a:r>
              <a:rPr sz="1200" b="0" i="0">
                <a:solidFill>
                  <a:srgbClr val="0E7C86"/>
                </a:solidFill>
                <a:latin typeface="Consolas"/>
              </a:rPr>
              <a:t>publishError</a:t>
            </a:r>
            <a:r>
              <a:rPr sz="1300" b="0" i="0">
                <a:solidFill>
                  <a:srgbClr val="1C2433"/>
                </a:solidFill>
                <a:latin typeface="Calibri"/>
              </a:rPr>
              <a:t> empty</a:t>
            </a:r>
          </a:p>
        </p:txBody>
      </p:sp>
      <p:sp>
        <p:nvSpPr>
          <p:cNvPr id="19" name="Callout"/>
          <p:cNvSpPr/>
          <p:nvPr/>
        </p:nvSpPr>
        <p:spPr>
          <a:xfrm>
            <a:off x="7635240" y="1188720"/>
            <a:ext cx="4142232" cy="2286000"/>
          </a:xfrm>
          <a:prstGeom prst="roundRect">
            <a:avLst>
              <a:gd name="adj" fmla="val 6000"/>
            </a:avLst>
          </a:prstGeom>
          <a:solidFill>
            <a:srgbClr val="FDEC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Callout edge"/>
          <p:cNvSpPr/>
          <p:nvPr/>
        </p:nvSpPr>
        <p:spPr>
          <a:xfrm>
            <a:off x="7635240" y="1207008"/>
            <a:ext cx="82296" cy="2249424"/>
          </a:xfrm>
          <a:prstGeom prst="rect">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xtBox 20"/>
          <p:cNvSpPr txBox="1"/>
          <p:nvPr/>
        </p:nvSpPr>
        <p:spPr>
          <a:xfrm>
            <a:off x="7863840" y="1261872"/>
            <a:ext cx="3776472" cy="2139696"/>
          </a:xfrm>
          <a:prstGeom prst="rect">
            <a:avLst/>
          </a:prstGeom>
          <a:noFill/>
        </p:spPr>
        <p:txBody>
          <a:bodyPr wrap="square" lIns="0" rIns="0" tIns="0" bIns="0" anchor="t">
            <a:spAutoFit/>
          </a:bodyPr>
          <a:lstStyle/>
          <a:p>
            <a:pPr algn="l">
              <a:spcAft>
                <a:spcPts val="600"/>
              </a:spcAft>
              <a:buNone/>
            </a:pPr>
            <a:r>
              <a:rPr sz="1300" b="1" i="0">
                <a:solidFill>
                  <a:srgbClr val="1C2433"/>
                </a:solidFill>
                <a:latin typeface="Calibri"/>
              </a:rPr>
              <a:t>If the date did not load</a:t>
            </a:r>
          </a:p>
          <a:p>
            <a:pPr algn="l">
              <a:spcAft>
                <a:spcPts val="600"/>
              </a:spcAft>
              <a:buNone/>
            </a:pPr>
            <a:r>
              <a:rPr sz="1200" b="0" i="0">
                <a:solidFill>
                  <a:srgbClr val="0E7C86"/>
                </a:solidFill>
                <a:latin typeface="Consolas"/>
              </a:rPr>
              <a:t>DRS-5203</a:t>
            </a:r>
            <a:r>
              <a:rPr sz="1300" b="0" i="0">
                <a:solidFill>
                  <a:srgbClr val="1C2433"/>
                </a:solidFill>
                <a:latin typeface="Calibri"/>
              </a:rPr>
              <a:t> (two runs or scenario sets on one date): the engine answers the date before, with a warning. Fix the batch, rewrite the date whole.</a:t>
            </a:r>
          </a:p>
        </p:txBody>
      </p:sp>
      <p:sp>
        <p:nvSpPr>
          <p:cNvPr id="22" name="Callout"/>
          <p:cNvSpPr/>
          <p:nvPr/>
        </p:nvSpPr>
        <p:spPr>
          <a:xfrm>
            <a:off x="7635240" y="3657600"/>
            <a:ext cx="4142232" cy="2651760"/>
          </a:xfrm>
          <a:prstGeom prst="roundRect">
            <a:avLst>
              <a:gd name="adj" fmla="val 6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Callout edge"/>
          <p:cNvSpPr/>
          <p:nvPr/>
        </p:nvSpPr>
        <p:spPr>
          <a:xfrm>
            <a:off x="7635240" y="3675887"/>
            <a:ext cx="82296" cy="261518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xtBox 23"/>
          <p:cNvSpPr txBox="1"/>
          <p:nvPr/>
        </p:nvSpPr>
        <p:spPr>
          <a:xfrm>
            <a:off x="7863840" y="3730752"/>
            <a:ext cx="3776472" cy="2505456"/>
          </a:xfrm>
          <a:prstGeom prst="rect">
            <a:avLst/>
          </a:prstGeom>
          <a:noFill/>
        </p:spPr>
        <p:txBody>
          <a:bodyPr wrap="square" lIns="0" rIns="0" tIns="0" bIns="0" anchor="t">
            <a:spAutoFit/>
          </a:bodyPr>
          <a:lstStyle/>
          <a:p>
            <a:pPr algn="l">
              <a:spcAft>
                <a:spcPts val="600"/>
              </a:spcAft>
              <a:buNone/>
            </a:pPr>
            <a:r>
              <a:rPr sz="1300" b="1" i="0">
                <a:solidFill>
                  <a:srgbClr val="1C2433"/>
                </a:solidFill>
                <a:latin typeface="Calibri"/>
              </a:rPr>
              <a:t>Nothing is lost</a:t>
            </a:r>
          </a:p>
          <a:p>
            <a:pPr algn="l">
              <a:spcAft>
                <a:spcPts val="600"/>
              </a:spcAft>
              <a:buNone/>
            </a:pPr>
            <a:r>
              <a:rPr sz="1300" b="0" i="0">
                <a:solidFill>
                  <a:srgbClr val="1C2433"/>
                </a:solidFill>
                <a:latin typeface="Calibri"/>
              </a:rPr>
              <a:t>Time travel keeps the old inputs 7 years; the official table keeps every result version; a capture keeps its vector. "What did we report?" and "what is the corrected number?" both stay answerable.</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18.6 An upgrade: the connector files follow the pack</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18</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97</a:t>
            </a:r>
          </a:p>
        </p:txBody>
      </p:sp>
      <p:sp>
        <p:nvSpPr>
          <p:cNvPr id="9" name="Rounded Rectangle 8"/>
          <p:cNvSpPr/>
          <p:nvPr/>
        </p:nvSpPr>
        <p:spPr>
          <a:xfrm>
            <a:off x="411480" y="1188720"/>
            <a:ext cx="6949440" cy="960120"/>
          </a:xfrm>
          <a:prstGeom prst="roundRect">
            <a:avLst>
              <a:gd name="adj" fmla="val 6000"/>
            </a:avLst>
          </a:prstGeom>
          <a:solidFill>
            <a:srgbClr val="DDEE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TextBox 9"/>
          <p:cNvSpPr txBox="1"/>
          <p:nvPr/>
        </p:nvSpPr>
        <p:spPr>
          <a:xfrm>
            <a:off x="502920" y="1234440"/>
            <a:ext cx="6766559"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A file nobody edited</a:t>
            </a:r>
          </a:p>
        </p:txBody>
      </p:sp>
      <p:sp>
        <p:nvSpPr>
          <p:cNvPr id="11" name="TextBox 10"/>
          <p:cNvSpPr txBox="1"/>
          <p:nvPr/>
        </p:nvSpPr>
        <p:spPr>
          <a:xfrm>
            <a:off x="502920" y="1554480"/>
            <a:ext cx="6766559" cy="54864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replaced in full by the pack's new template; the old one kept as </a:t>
            </a:r>
            <a:r>
              <a:rPr sz="1100" b="0" i="0">
                <a:solidFill>
                  <a:srgbClr val="0E7C86"/>
                </a:solidFill>
                <a:latin typeface="Consolas"/>
              </a:rPr>
              <a:t>.before-upgrade-….bak</a:t>
            </a:r>
            <a:r>
              <a:rPr sz="1200" b="0" i="0">
                <a:solidFill>
                  <a:srgbClr val="1C2433"/>
                </a:solidFill>
                <a:latin typeface="Calibri"/>
              </a:rPr>
              <a:t>; audited </a:t>
            </a:r>
            <a:r>
              <a:rPr sz="1100" b="0" i="0">
                <a:solidFill>
                  <a:srgbClr val="0E7C86"/>
                </a:solidFill>
                <a:latin typeface="Consolas"/>
              </a:rPr>
              <a:t>connector-template-upgrade</a:t>
            </a:r>
          </a:p>
        </p:txBody>
      </p:sp>
      <p:sp>
        <p:nvSpPr>
          <p:cNvPr id="12" name="Rounded Rectangle 11"/>
          <p:cNvSpPr/>
          <p:nvPr/>
        </p:nvSpPr>
        <p:spPr>
          <a:xfrm>
            <a:off x="411480" y="2286000"/>
            <a:ext cx="6949440" cy="960120"/>
          </a:xfrm>
          <a:prstGeom prst="roundRect">
            <a:avLst>
              <a:gd name="adj" fmla="val 6000"/>
            </a:avLst>
          </a:prstGeom>
          <a:solidFill>
            <a:srgbClr val="DCE8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TextBox 12"/>
          <p:cNvSpPr txBox="1"/>
          <p:nvPr/>
        </p:nvSpPr>
        <p:spPr>
          <a:xfrm>
            <a:off x="502920" y="2331720"/>
            <a:ext cx="6766559"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A file you edited</a:t>
            </a:r>
          </a:p>
        </p:txBody>
      </p:sp>
      <p:sp>
        <p:nvSpPr>
          <p:cNvPr id="14" name="TextBox 13"/>
          <p:cNvSpPr txBox="1"/>
          <p:nvPr/>
        </p:nvSpPr>
        <p:spPr>
          <a:xfrm>
            <a:off x="502920" y="2651760"/>
            <a:ext cx="6766559" cy="54864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gains every key the template has, at any depth; your values stay; lists keep their order</a:t>
            </a:r>
          </a:p>
        </p:txBody>
      </p:sp>
      <p:sp>
        <p:nvSpPr>
          <p:cNvPr id="15" name="Rounded Rectangle 14"/>
          <p:cNvSpPr/>
          <p:nvPr/>
        </p:nvSpPr>
        <p:spPr>
          <a:xfrm>
            <a:off x="411480" y="3383280"/>
            <a:ext cx="6949440" cy="960120"/>
          </a:xfrm>
          <a:prstGeom prst="roundRect">
            <a:avLst>
              <a:gd name="adj" fmla="val 6000"/>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TextBox 15"/>
          <p:cNvSpPr txBox="1"/>
          <p:nvPr/>
        </p:nvSpPr>
        <p:spPr>
          <a:xfrm>
            <a:off x="502920" y="3429000"/>
            <a:ext cx="6766559" cy="310896"/>
          </a:xfrm>
          <a:prstGeom prst="rect">
            <a:avLst/>
          </a:prstGeom>
          <a:noFill/>
        </p:spPr>
        <p:txBody>
          <a:bodyPr wrap="square" lIns="0" rIns="0" tIns="0" bIns="0" anchor="ctr">
            <a:spAutoFit/>
          </a:bodyPr>
          <a:lstStyle/>
          <a:p>
            <a:pPr algn="l">
              <a:spcAft>
                <a:spcPts val="600"/>
              </a:spcAft>
              <a:buNone/>
            </a:pPr>
            <a:r>
              <a:rPr sz="1300" b="1" i="0">
                <a:solidFill>
                  <a:srgbClr val="0B1E3B"/>
                </a:solidFill>
                <a:latin typeface="Calibri"/>
              </a:rPr>
              <a:t>A value that differs</a:t>
            </a:r>
          </a:p>
        </p:txBody>
      </p:sp>
      <p:sp>
        <p:nvSpPr>
          <p:cNvPr id="17" name="TextBox 16"/>
          <p:cNvSpPr txBox="1"/>
          <p:nvPr/>
        </p:nvSpPr>
        <p:spPr>
          <a:xfrm>
            <a:off x="502920" y="3749040"/>
            <a:ext cx="6766559" cy="548640"/>
          </a:xfrm>
          <a:prstGeom prst="rect">
            <a:avLst/>
          </a:prstGeom>
          <a:noFill/>
        </p:spPr>
        <p:txBody>
          <a:bodyPr wrap="square" lIns="0" rIns="0" tIns="0" bIns="0" anchor="t">
            <a:spAutoFit/>
          </a:bodyPr>
          <a:lstStyle/>
          <a:p>
            <a:pPr algn="l" marL="201168" indent="-201168">
              <a:spcAft>
                <a:spcPts val="200"/>
              </a:spcAft>
              <a:buClr>
                <a:srgbClr val="E87A1E"/>
              </a:buClr>
              <a:buSzPct val="100000"/>
              <a:buFont typeface="Arial"/>
              <a:buChar char="•"/>
            </a:pPr>
            <a:r>
              <a:rPr sz="1200" b="0" i="0">
                <a:solidFill>
                  <a:srgbClr val="1C2433"/>
                </a:solidFill>
                <a:latin typeface="Calibri"/>
              </a:rPr>
              <a:t>listed in Admin → Connectors → Template updates, with </a:t>
            </a:r>
            <a:r>
              <a:rPr sz="1200" b="1" i="0">
                <a:solidFill>
                  <a:srgbClr val="1C2433"/>
                </a:solidFill>
                <a:latin typeface="Calibri"/>
              </a:rPr>
              <a:t>Use the pack's value</a:t>
            </a:r>
            <a:r>
              <a:rPr sz="1200" b="0" i="0">
                <a:solidFill>
                  <a:srgbClr val="1C2433"/>
                </a:solidFill>
                <a:latin typeface="Calibri"/>
              </a:rPr>
              <a:t> per key</a:t>
            </a:r>
          </a:p>
        </p:txBody>
      </p:sp>
      <p:sp>
        <p:nvSpPr>
          <p:cNvPr id="18" name="Status BUILT · 2.9.5"/>
          <p:cNvSpPr/>
          <p:nvPr/>
        </p:nvSpPr>
        <p:spPr>
          <a:xfrm>
            <a:off x="411480" y="4572000"/>
            <a:ext cx="1188720" cy="237744"/>
          </a:xfrm>
          <a:prstGeom prst="roundRect">
            <a:avLst>
              <a:gd name="adj" fmla="val 50000"/>
            </a:avLst>
          </a:prstGeom>
          <a:solidFill>
            <a:srgbClr val="0E7C86"/>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000" b="1" i="0">
                <a:solidFill>
                  <a:srgbClr val="FFFFFF"/>
                </a:solidFill>
                <a:latin typeface="Calibri"/>
              </a:rPr>
              <a:t>BUILT · 2.9.5</a:t>
            </a:r>
          </a:p>
        </p:txBody>
      </p:sp>
      <p:sp>
        <p:nvSpPr>
          <p:cNvPr id="19" name="TextBox 18"/>
          <p:cNvSpPr txBox="1"/>
          <p:nvPr/>
        </p:nvSpPr>
        <p:spPr>
          <a:xfrm>
            <a:off x="1737360" y="4480560"/>
            <a:ext cx="5623560" cy="457200"/>
          </a:xfrm>
          <a:prstGeom prst="rect">
            <a:avLst/>
          </a:prstGeom>
          <a:noFill/>
        </p:spPr>
        <p:txBody>
          <a:bodyPr wrap="square" lIns="0" rIns="0" tIns="0" bIns="0" anchor="ctr">
            <a:spAutoFit/>
          </a:bodyPr>
          <a:lstStyle/>
          <a:p>
            <a:pPr algn="l">
              <a:spcAft>
                <a:spcPts val="600"/>
              </a:spcAft>
              <a:buNone/>
            </a:pPr>
            <a:r>
              <a:rPr sz="1200" b="0" i="0">
                <a:solidFill>
                  <a:srgbClr val="5B677A"/>
                </a:solidFill>
                <a:latin typeface="Calibri"/>
              </a:rPr>
              <a:t>the stamp is in the file's text: </a:t>
            </a:r>
            <a:r>
              <a:rPr sz="1100" b="0" i="0">
                <a:solidFill>
                  <a:srgbClr val="0E7C86"/>
                </a:solidFill>
                <a:latin typeface="Consolas"/>
              </a:rPr>
              <a:t># drishti-template: pack=… template=…</a:t>
            </a:r>
          </a:p>
        </p:txBody>
      </p:sp>
      <p:sp>
        <p:nvSpPr>
          <p:cNvPr id="20" name="Callout"/>
          <p:cNvSpPr/>
          <p:nvPr/>
        </p:nvSpPr>
        <p:spPr>
          <a:xfrm>
            <a:off x="7635240" y="1188720"/>
            <a:ext cx="4142232" cy="2011680"/>
          </a:xfrm>
          <a:prstGeom prst="roundRect">
            <a:avLst>
              <a:gd name="adj" fmla="val 6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Callout edge"/>
          <p:cNvSpPr/>
          <p:nvPr/>
        </p:nvSpPr>
        <p:spPr>
          <a:xfrm>
            <a:off x="7635240" y="1207008"/>
            <a:ext cx="82296" cy="197510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TextBox 21"/>
          <p:cNvSpPr txBox="1"/>
          <p:nvPr/>
        </p:nvSpPr>
        <p:spPr>
          <a:xfrm>
            <a:off x="7863840" y="1261872"/>
            <a:ext cx="3776472" cy="1865376"/>
          </a:xfrm>
          <a:prstGeom prst="rect">
            <a:avLst/>
          </a:prstGeom>
          <a:noFill/>
        </p:spPr>
        <p:txBody>
          <a:bodyPr wrap="square" lIns="0" rIns="0" tIns="0" bIns="0" anchor="t">
            <a:spAutoFit/>
          </a:bodyPr>
          <a:lstStyle/>
          <a:p>
            <a:pPr algn="l">
              <a:spcAft>
                <a:spcPts val="600"/>
              </a:spcAft>
              <a:buNone/>
            </a:pPr>
            <a:r>
              <a:rPr sz="1200" b="1" i="0">
                <a:solidFill>
                  <a:srgbClr val="1C2433"/>
                </a:solidFill>
                <a:latin typeface="Calibri"/>
              </a:rPr>
              <a:t>Tested on the real files</a:t>
            </a:r>
          </a:p>
          <a:p>
            <a:pPr algn="l">
              <a:spcAft>
                <a:spcPts val="600"/>
              </a:spcAft>
              <a:buNone/>
            </a:pPr>
            <a:r>
              <a:rPr sz="1100" b="0" i="0">
                <a:solidFill>
                  <a:srgbClr val="0E7C86"/>
                </a:solidFill>
                <a:latin typeface="Consolas"/>
              </a:rPr>
              <a:t>ConnectorUpgradeTest</a:t>
            </a:r>
            <a:r>
              <a:rPr sz="1200" b="0" i="0">
                <a:solidFill>
                  <a:srgbClr val="1C2433"/>
                </a:solidFill>
                <a:latin typeface="Calibri"/>
              </a:rPr>
              <a:t> starts a server on release 2.9.4's generated files, an edited </a:t>
            </a:r>
            <a:r>
              <a:rPr sz="1100" b="0" i="0">
                <a:solidFill>
                  <a:srgbClr val="0E7C86"/>
                </a:solidFill>
                <a:latin typeface="Consolas"/>
              </a:rPr>
              <a:t>risk-store</a:t>
            </a:r>
            <a:r>
              <a:rPr sz="1200" b="0" i="0">
                <a:solidFill>
                  <a:srgbClr val="1C2433"/>
                </a:solidFill>
                <a:latin typeface="Calibri"/>
              </a:rPr>
              <a:t> and the edited 2.9.3 </a:t>
            </a:r>
            <a:r>
              <a:rPr sz="1100" b="0" i="0">
                <a:solidFill>
                  <a:srgbClr val="0E7C86"/>
                </a:solidFill>
                <a:latin typeface="Consolas"/>
              </a:rPr>
              <a:t>var-whatif</a:t>
            </a:r>
            <a:r>
              <a:rPr sz="1200" b="0" i="0">
                <a:solidFill>
                  <a:srgbClr val="1C2433"/>
                </a:solidFill>
                <a:latin typeface="Calibri"/>
              </a:rPr>
              <a:t>: unedited files equal the new templates, edits stay, VaR, what-if and exposure answer.</a:t>
            </a:r>
          </a:p>
        </p:txBody>
      </p:sp>
      <p:sp>
        <p:nvSpPr>
          <p:cNvPr id="23" name="Callout"/>
          <p:cNvSpPr/>
          <p:nvPr/>
        </p:nvSpPr>
        <p:spPr>
          <a:xfrm>
            <a:off x="7635240" y="3383280"/>
            <a:ext cx="4142232" cy="1600200"/>
          </a:xfrm>
          <a:prstGeom prst="roundRect">
            <a:avLst>
              <a:gd name="adj" fmla="val 6000"/>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Callout edge"/>
          <p:cNvSpPr/>
          <p:nvPr/>
        </p:nvSpPr>
        <p:spPr>
          <a:xfrm>
            <a:off x="7635240" y="3401568"/>
            <a:ext cx="82296" cy="1563624"/>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TextBox 24"/>
          <p:cNvSpPr txBox="1"/>
          <p:nvPr/>
        </p:nvSpPr>
        <p:spPr>
          <a:xfrm>
            <a:off x="7863840" y="3456432"/>
            <a:ext cx="3776472" cy="1453896"/>
          </a:xfrm>
          <a:prstGeom prst="rect">
            <a:avLst/>
          </a:prstGeom>
          <a:noFill/>
        </p:spPr>
        <p:txBody>
          <a:bodyPr wrap="square" lIns="0" rIns="0" tIns="0" bIns="0" anchor="t">
            <a:spAutoFit/>
          </a:bodyPr>
          <a:lstStyle/>
          <a:p>
            <a:pPr algn="l">
              <a:spcAft>
                <a:spcPts val="600"/>
              </a:spcAft>
              <a:buNone/>
            </a:pPr>
            <a:r>
              <a:rPr sz="1200" b="1" i="0">
                <a:solidFill>
                  <a:srgbClr val="1C2433"/>
                </a:solidFill>
                <a:latin typeface="Calibri"/>
              </a:rPr>
              <a:t>On ECS</a:t>
            </a:r>
          </a:p>
          <a:p>
            <a:pPr algn="l">
              <a:spcAft>
                <a:spcPts val="600"/>
              </a:spcAft>
              <a:buNone/>
            </a:pPr>
            <a:r>
              <a:rPr sz="1200" b="0" i="0">
                <a:solidFill>
                  <a:srgbClr val="1C2433"/>
                </a:solidFill>
                <a:latin typeface="Calibri"/>
              </a:rPr>
              <a:t>Deploy the new images; at start each node brings its connector files (EFS or the content store) in step. Check </a:t>
            </a:r>
            <a:r>
              <a:rPr sz="1200" b="1" i="0">
                <a:solidFill>
                  <a:srgbClr val="1C2433"/>
                </a:solidFill>
                <a:latin typeface="Calibri"/>
              </a:rPr>
              <a:t>Template updates</a:t>
            </a:r>
            <a:r>
              <a:rPr sz="1200" b="0" i="0">
                <a:solidFill>
                  <a:srgbClr val="1C2433"/>
                </a:solidFill>
                <a:latin typeface="Calibri"/>
              </a:rPr>
              <a:t> after the first start.</a:t>
            </a:r>
          </a:p>
        </p:txBody>
      </p:sp>
      <p:sp>
        <p:nvSpPr>
          <p:cNvPr id="26" name="TextBox 25"/>
          <p:cNvSpPr txBox="1"/>
          <p:nvPr/>
        </p:nvSpPr>
        <p:spPr>
          <a:xfrm>
            <a:off x="411480" y="5349240"/>
            <a:ext cx="11365992" cy="731520"/>
          </a:xfrm>
          <a:prstGeom prst="rect">
            <a:avLst/>
          </a:prstGeom>
          <a:noFill/>
        </p:spPr>
        <p:txBody>
          <a:bodyPr wrap="square" lIns="0" rIns="0" tIns="0" bIns="0" anchor="t">
            <a:spAutoFit/>
          </a:bodyPr>
          <a:lstStyle/>
          <a:p>
            <a:pPr algn="l">
              <a:spcAft>
                <a:spcPts val="600"/>
              </a:spcAft>
              <a:buNone/>
            </a:pPr>
            <a:r>
              <a:rPr sz="1200" b="0" i="0">
                <a:solidFill>
                  <a:srgbClr val="1C2433"/>
                </a:solidFill>
                <a:latin typeface="Calibri"/>
              </a:rPr>
              <a:t>Data written before a new column (the limit letters' </a:t>
            </a:r>
            <a:r>
              <a:rPr sz="1100" b="0" i="0">
                <a:solidFill>
                  <a:srgbClr val="0E7C86"/>
                </a:solidFill>
                <a:latin typeface="Consolas"/>
              </a:rPr>
              <a:t>LIMIT_LETTER</a:t>
            </a:r>
            <a:r>
              <a:rPr sz="1200" b="0" i="0">
                <a:solidFill>
                  <a:srgbClr val="1C2433"/>
                </a:solidFill>
                <a:latin typeface="Calibri"/>
              </a:rPr>
              <a:t>) skips that hierarchy alone with a </a:t>
            </a:r>
            <a:r>
              <a:rPr sz="1100" b="0" i="0">
                <a:solidFill>
                  <a:srgbClr val="0E7C86"/>
                </a:solidFill>
                <a:latin typeface="Consolas"/>
              </a:rPr>
              <a:t>DRS-5211</a:t>
            </a:r>
            <a:r>
              <a:rPr sz="1200" b="0" i="0">
                <a:solidFill>
                  <a:srgbClr val="1C2433"/>
                </a:solidFill>
                <a:latin typeface="Calibri"/>
              </a:rPr>
              <a:t> warning; MGMT, LEGAL and exposure answer as before (</a:t>
            </a:r>
            <a:r>
              <a:rPr sz="1100" b="0" i="0">
                <a:solidFill>
                  <a:srgbClr val="0E7C86"/>
                </a:solidFill>
                <a:latin typeface="Consolas"/>
              </a:rPr>
              <a:t>HierarchyUpgradeWithoutLettersTest</a:t>
            </a:r>
            <a:r>
              <a:rPr sz="1200" b="0" i="0">
                <a:solidFill>
                  <a:srgbClr val="1C2433"/>
                </a:solidFill>
                <a:latin typeface="Calibri"/>
              </a:rPr>
              <a:t>).</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18.5 Disaster recovery</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18</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98</a:t>
            </a:r>
          </a:p>
        </p:txBody>
      </p:sp>
      <p:graphicFrame>
        <p:nvGraphicFramePr>
          <p:cNvPr id="9" name="Table"/>
          <p:cNvGraphicFramePr>
            <a:graphicFrameLocks noGrp="1"/>
          </p:cNvGraphicFramePr>
          <p:nvPr/>
        </p:nvGraphicFramePr>
        <p:xfrm>
          <a:off x="411480" y="1188720"/>
          <a:ext cx="11365992" cy="4663440"/>
        </p:xfrm>
        <a:graphic>
          <a:graphicData uri="http://schemas.openxmlformats.org/drawingml/2006/table">
            <a:tbl>
              <a:tblPr firstRow="0" bandRow="0">
                <a:tableStyleId>{5940675A-B579-460E-94D1-54222C63F5DA}</a:tableStyleId>
              </a:tblPr>
              <a:tblGrid>
                <a:gridCol w="2743200"/>
                <a:gridCol w="8622792"/>
              </a:tblGrid>
              <a:tr h="777240">
                <a:tc>
                  <a:txBody>
                    <a:bodyPr wrap="square"/>
                    <a:lstStyle/>
                    <a:p>
                      <a:r>
                        <a:rPr sz="1200" b="1" i="0">
                          <a:solidFill>
                            <a:srgbClr val="FFFFFF"/>
                          </a:solidFill>
                          <a:latin typeface="Calibri"/>
                        </a:rPr>
                        <a:t>Event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How to recover</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777240">
                <a:tc>
                  <a:txBody>
                    <a:bodyPr wrap="square"/>
                    <a:lstStyle/>
                    <a:p>
                      <a:r>
                        <a:rPr sz="1200" b="1" i="0">
                          <a:solidFill>
                            <a:srgbClr val="1C2433"/>
                          </a:solidFill>
                          <a:latin typeface="Calibri"/>
                        </a:rPr>
                        <a:t>A table damaged (a wrong commit)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Delta time travel: the previous version is readable until vacuum (7 years for risk); restate the days from the landing bucket (30 days) or from versions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777240">
                <a:tc>
                  <a:txBody>
                    <a:bodyPr wrap="square"/>
                    <a:lstStyle/>
                    <a:p>
                      <a:r>
                        <a:rPr sz="1200" b="1" i="0">
                          <a:solidFill>
                            <a:srgbClr val="1C2433"/>
                          </a:solidFill>
                          <a:latin typeface="Calibri"/>
                        </a:rPr>
                        <a:t>Files deleted by mistake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S3 versioning: restore the noncurrent versions within </a:t>
                      </a:r>
                      <a:r>
                        <a:rPr sz="1100" b="0" i="0">
                          <a:solidFill>
                            <a:srgbClr val="0E7C86"/>
                          </a:solidFill>
                          <a:latin typeface="Consolas"/>
                        </a:rPr>
                        <a:t>NONCURRENT_KEEP_DAYS</a:t>
                      </a:r>
                      <a:r>
                        <a:rPr sz="1200" b="0" i="0">
                          <a:solidFill>
                            <a:srgbClr val="1C2433"/>
                          </a:solidFill>
                          <a:latin typeface="Calibri"/>
                        </a:rPr>
                        <a:t> (list-object-versions, copy-object)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777240">
                <a:tc>
                  <a:txBody>
                    <a:bodyPr wrap="square"/>
                    <a:lstStyle/>
                    <a:p>
                      <a:r>
                        <a:rPr sz="1200" b="1" i="0">
                          <a:solidFill>
                            <a:srgbClr val="1C2433"/>
                          </a:solidFill>
                          <a:latin typeface="Calibri"/>
                        </a:rPr>
                        <a:t>A Region lost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S3 Cross-Region Replication with RTC, EFS and ECR replication. A commit can arrive before a data file it names: that day fails (Health DEGRADED) until the file arrives. Fail over once the backlog is empty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777240">
                <a:tc>
                  <a:txBody>
                    <a:bodyPr wrap="square"/>
                    <a:lstStyle/>
                    <a:p>
                      <a:r>
                        <a:rPr sz="1200" b="1" i="0">
                          <a:solidFill>
                            <a:srgbClr val="1C2433"/>
                          </a:solidFill>
                          <a:latin typeface="Calibri"/>
                        </a:rPr>
                        <a:t>Node state lost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AWS Backup of EFS; caches and hot files rebuild from the lake by themselves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777240">
                <a:tc>
                  <a:txBody>
                    <a:bodyPr wrap="square"/>
                    <a:lstStyle/>
                    <a:p>
                      <a:r>
                        <a:rPr sz="1200" b="1" i="0">
                          <a:solidFill>
                            <a:srgbClr val="1C2433"/>
                          </a:solidFill>
                          <a:latin typeface="Calibri"/>
                        </a:rPr>
                        <a:t>Cluster state (content store)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s3 backend: the bucket's versioning and replication; filesystem on EFS: AWS Backup and EFS replication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bl>
          </a:graphicData>
        </a:graphic>
      </p:graphicFrame>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Number"/>
          <p:cNvSpPr txBox="1"/>
          <p:nvPr/>
        </p:nvSpPr>
        <p:spPr>
          <a:xfrm>
            <a:off x="4754880" y="-822960"/>
            <a:ext cx="7223760" cy="7863840"/>
          </a:xfrm>
          <a:prstGeom prst="rect">
            <a:avLst/>
          </a:prstGeom>
          <a:noFill/>
        </p:spPr>
        <p:txBody>
          <a:bodyPr wrap="square" lIns="0" rIns="0" tIns="0" bIns="0" anchor="ctr">
            <a:spAutoFit/>
          </a:bodyPr>
          <a:lstStyle/>
          <a:p>
            <a:pPr algn="r">
              <a:spcAft>
                <a:spcPts val="600"/>
              </a:spcAft>
              <a:buNone/>
            </a:pPr>
            <a:r>
              <a:rPr sz="42000" b="1" i="0">
                <a:solidFill>
                  <a:srgbClr val="1C3560"/>
                </a:solidFill>
                <a:latin typeface="Calibri"/>
              </a:rPr>
              <a:t>19</a:t>
            </a:r>
          </a:p>
        </p:txBody>
      </p:sp>
      <p:sp>
        <p:nvSpPr>
          <p:cNvPr id="4" name="Title"/>
          <p:cNvSpPr txBox="1"/>
          <p:nvPr/>
        </p:nvSpPr>
        <p:spPr>
          <a:xfrm>
            <a:off x="822960" y="2514600"/>
            <a:ext cx="6949440" cy="1828800"/>
          </a:xfrm>
          <a:prstGeom prst="rect">
            <a:avLst/>
          </a:prstGeom>
          <a:noFill/>
        </p:spPr>
        <p:txBody>
          <a:bodyPr wrap="square" lIns="0" rIns="0" tIns="0" bIns="0" anchor="ctr">
            <a:spAutoFit/>
          </a:bodyPr>
          <a:lstStyle/>
          <a:p>
            <a:pPr algn="l">
              <a:spcAft>
                <a:spcPts val="600"/>
              </a:spcAft>
              <a:buNone/>
            </a:pPr>
            <a:r>
              <a:rPr sz="4400" b="1" i="0">
                <a:solidFill>
                  <a:srgbClr val="FFFFFF"/>
                </a:solidFill>
                <a:latin typeface="Calibri"/>
              </a:rPr>
              <a:t>The scripts</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19. deploy/ and tools/lake/: the files</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19</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100</a:t>
            </a:r>
          </a:p>
        </p:txBody>
      </p:sp>
      <p:sp>
        <p:nvSpPr>
          <p:cNvPr id="9" name="Code block"/>
          <p:cNvSpPr/>
          <p:nvPr/>
        </p:nvSpPr>
        <p:spPr>
          <a:xfrm>
            <a:off x="411480" y="1188720"/>
            <a:ext cx="6675120" cy="2926080"/>
          </a:xfrm>
          <a:prstGeom prst="roundRect">
            <a:avLst>
              <a:gd name="adj" fmla="val 4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
          <p:cNvSpPr txBox="1"/>
          <p:nvPr/>
        </p:nvSpPr>
        <p:spPr>
          <a:xfrm>
            <a:off x="521208" y="1252728"/>
            <a:ext cx="6455664" cy="2798064"/>
          </a:xfrm>
          <a:prstGeom prst="rect">
            <a:avLst/>
          </a:prstGeom>
          <a:noFill/>
        </p:spPr>
        <p:txBody>
          <a:bodyPr wrap="square" lIns="0" rIns="0" tIns="0" bIns="0" anchor="ctr">
            <a:spAutoFit/>
          </a:bodyPr>
          <a:lstStyle/>
          <a:p>
            <a:pPr>
              <a:spcAft>
                <a:spcPts val="0"/>
              </a:spcAft>
              <a:buNone/>
            </a:pPr>
            <a:r>
              <a:rPr sz="1100" b="0" i="0">
                <a:solidFill>
                  <a:srgbClr val="E6EDF3"/>
                </a:solidFill>
                <a:latin typeface="Consolas"/>
              </a:rPr>
              <a:t>deploy/</a:t>
            </a:r>
          </a:p>
          <a:p>
            <a:pPr>
              <a:spcAft>
                <a:spcPts val="0"/>
              </a:spcAft>
              <a:buNone/>
            </a:pPr>
            <a:r>
              <a:rPr sz="1100" b="0" i="0">
                <a:solidFill>
                  <a:srgbClr val="E6EDF3"/>
                </a:solidFill>
                <a:latin typeface="Consolas"/>
              </a:rPr>
              <a:t>├── docker/            compose, server and console Dockerfiles</a:t>
            </a:r>
          </a:p>
          <a:p>
            <a:pPr>
              <a:spcAft>
                <a:spcPts val="0"/>
              </a:spcAft>
              <a:buNone/>
            </a:pPr>
            <a:r>
              <a:rPr sz="1100" b="0" i="0">
                <a:solidFill>
                  <a:srgbClr val="E6EDF3"/>
                </a:solidFill>
                <a:latin typeface="Consolas"/>
              </a:rPr>
              <a:t>│   └── ecs/           server, console, loader images + entry points</a:t>
            </a:r>
          </a:p>
          <a:p>
            <a:pPr>
              <a:spcAft>
                <a:spcPts val="0"/>
              </a:spcAft>
              <a:buNone/>
            </a:pPr>
            <a:r>
              <a:rPr sz="1100" b="0" i="0">
                <a:solidFill>
                  <a:srgbClr val="E6EDF3"/>
                </a:solidFill>
                <a:latin typeface="Consolas"/>
              </a:rPr>
              <a:t>├── aws/</a:t>
            </a:r>
          </a:p>
          <a:p>
            <a:pPr>
              <a:spcAft>
                <a:spcPts val="0"/>
              </a:spcAft>
              <a:buNone/>
            </a:pPr>
            <a:r>
              <a:rPr sz="1100" b="0" i="0">
                <a:solidFill>
                  <a:srgbClr val="E6EDF3"/>
                </a:solidFill>
                <a:latin typeface="Consolas"/>
              </a:rPr>
              <a:t>│   ├── env.example    every setting; copy to deploy/aws/env</a:t>
            </a:r>
          </a:p>
          <a:p>
            <a:pPr>
              <a:spcAft>
                <a:spcPts val="0"/>
              </a:spcAft>
              <a:buNone/>
            </a:pPr>
            <a:r>
              <a:rPr sz="1100" b="0" i="0">
                <a:solidFill>
                  <a:srgbClr val="E6EDF3"/>
                </a:solidFill>
                <a:latin typeface="Consolas"/>
              </a:rPr>
              <a:t>│   ├── lib/common.sh  --help, --dry-run, --env, templates</a:t>
            </a:r>
          </a:p>
          <a:p>
            <a:pPr>
              <a:spcAft>
                <a:spcPts val="0"/>
              </a:spcAft>
              <a:buNone/>
            </a:pPr>
            <a:r>
              <a:rPr sz="1100" b="0" i="0">
                <a:solidFill>
                  <a:srgbClr val="E6EDF3"/>
                </a:solidFill>
                <a:latin typeface="Consolas"/>
              </a:rPr>
              <a:t>│   ├── delta-lake/    setup-buckets, setup-iam,</a:t>
            </a:r>
          </a:p>
          <a:p>
            <a:pPr>
              <a:spcAft>
                <a:spcPts val="0"/>
              </a:spcAft>
              <a:buNone/>
            </a:pPr>
            <a:r>
              <a:rPr sz="1100" b="0" i="0">
                <a:solidFill>
                  <a:srgbClr val="E6EDF3"/>
                </a:solidFill>
                <a:latin typeface="Consolas"/>
              </a:rPr>
              <a:t>│   │                  check-conditional-writes, setup-lifecycle,</a:t>
            </a:r>
          </a:p>
          <a:p>
            <a:pPr>
              <a:spcAft>
                <a:spcPts val="0"/>
              </a:spcAft>
              <a:buNone/>
            </a:pPr>
            <a:r>
              <a:rPr sz="1100" b="0" i="0">
                <a:solidFill>
                  <a:srgbClr val="E6EDF3"/>
                </a:solidFill>
                <a:latin typeface="Consolas"/>
              </a:rPr>
              <a:t>│   │                  setup-alarms, load-day, backfill, maintain,</a:t>
            </a:r>
          </a:p>
          <a:p>
            <a:pPr>
              <a:spcAft>
                <a:spcPts val="0"/>
              </a:spcAft>
              <a:buNone/>
            </a:pPr>
            <a:r>
              <a:rPr sz="1100" b="0" i="0">
                <a:solidFill>
                  <a:srgbClr val="E6EDF3"/>
                </a:solidFill>
                <a:latin typeface="Consolas"/>
              </a:rPr>
              <a:t>│   │                  report, lake-maintenance.s3.yaml, iam/</a:t>
            </a:r>
          </a:p>
          <a:p>
            <a:pPr>
              <a:spcAft>
                <a:spcPts val="0"/>
              </a:spcAft>
              <a:buNone/>
            </a:pPr>
            <a:r>
              <a:rPr sz="1100" b="0" i="0">
                <a:solidFill>
                  <a:srgbClr val="E6EDF3"/>
                </a:solidFill>
                <a:latin typeface="Consolas"/>
              </a:rPr>
              <a:t>│   ├── iceberg/       the same set for Iceberg (2.9.5)</a:t>
            </a:r>
          </a:p>
          <a:p>
            <a:pPr>
              <a:spcAft>
                <a:spcPts val="0"/>
              </a:spcAft>
              <a:buNone/>
            </a:pPr>
            <a:r>
              <a:rPr sz="1100" b="0" i="0">
                <a:solidFill>
                  <a:srgbClr val="E6EDF3"/>
                </a:solidFill>
                <a:latin typeface="Consolas"/>
              </a:rPr>
              <a:t>│   └── ecs/           setup-efs, setup-cloud-map, register,</a:t>
            </a:r>
          </a:p>
          <a:p>
            <a:pPr>
              <a:spcAft>
                <a:spcPts val="0"/>
              </a:spcAft>
              <a:buNone/>
            </a:pPr>
            <a:r>
              <a:rPr sz="1100" b="0" i="0">
                <a:solidFill>
                  <a:srgbClr val="E6EDF3"/>
                </a:solidFill>
                <a:latin typeface="Consolas"/>
              </a:rPr>
              <a:t>│                      templates/*.json</a:t>
            </a:r>
          </a:p>
          <a:p>
            <a:pPr>
              <a:spcAft>
                <a:spcPts val="0"/>
              </a:spcAft>
              <a:buNone/>
            </a:pPr>
            <a:r>
              <a:rPr sz="1100" b="0" i="0">
                <a:solidFill>
                  <a:srgbClr val="E6EDF3"/>
                </a:solidFill>
                <a:latin typeface="Consolas"/>
              </a:rPr>
              <a:t>├── grafana/           the Grafana dashboard</a:t>
            </a:r>
          </a:p>
          <a:p>
            <a:pPr>
              <a:spcAft>
                <a:spcPts val="0"/>
              </a:spcAft>
              <a:buNone/>
            </a:pPr>
            <a:r>
              <a:rPr sz="1100" b="0" i="0">
                <a:solidFill>
                  <a:srgbClr val="E6EDF3"/>
                </a:solidFill>
                <a:latin typeface="Consolas"/>
              </a:rPr>
              <a:t>└── lake-maintenance.yaml   lake maintain's local example</a:t>
            </a:r>
          </a:p>
        </p:txBody>
      </p:sp>
      <p:sp>
        <p:nvSpPr>
          <p:cNvPr id="11" name="Code block"/>
          <p:cNvSpPr/>
          <p:nvPr/>
        </p:nvSpPr>
        <p:spPr>
          <a:xfrm>
            <a:off x="7315200" y="1188720"/>
            <a:ext cx="4462272" cy="2194560"/>
          </a:xfrm>
          <a:prstGeom prst="roundRect">
            <a:avLst>
              <a:gd name="adj" fmla="val 4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
          <p:cNvSpPr txBox="1"/>
          <p:nvPr/>
        </p:nvSpPr>
        <p:spPr>
          <a:xfrm>
            <a:off x="7424927" y="1252728"/>
            <a:ext cx="4242816" cy="2066543"/>
          </a:xfrm>
          <a:prstGeom prst="rect">
            <a:avLst/>
          </a:prstGeom>
          <a:noFill/>
        </p:spPr>
        <p:txBody>
          <a:bodyPr wrap="square" lIns="0" rIns="0" tIns="0" bIns="0" anchor="ctr">
            <a:spAutoFit/>
          </a:bodyPr>
          <a:lstStyle/>
          <a:p>
            <a:pPr>
              <a:spcAft>
                <a:spcPts val="0"/>
              </a:spcAft>
              <a:buNone/>
            </a:pPr>
            <a:r>
              <a:rPr sz="1100" b="0" i="0">
                <a:solidFill>
                  <a:srgbClr val="E6EDF3"/>
                </a:solidFill>
                <a:latin typeface="Consolas"/>
              </a:rPr>
              <a:t>tools/lake/</a:t>
            </a:r>
          </a:p>
          <a:p>
            <a:pPr>
              <a:spcAft>
                <a:spcPts val="0"/>
              </a:spcAft>
              <a:buNone/>
            </a:pPr>
            <a:r>
              <a:rPr sz="1100" b="0" i="0">
                <a:solidFill>
                  <a:srgbClr val="E6EDF3"/>
                </a:solidFill>
                <a:latin typeface="Consolas"/>
              </a:rPr>
              <a:t>├── build.py  publish.py  maintain.py</a:t>
            </a:r>
          </a:p>
          <a:p>
            <a:pPr>
              <a:spcAft>
                <a:spcPts val="0"/>
              </a:spcAft>
              <a:buNone/>
            </a:pPr>
            <a:r>
              <a:rPr sz="1100" b="0" i="0">
                <a:solidFill>
                  <a:srgbClr val="E6EDF3"/>
                </a:solidFill>
                <a:latin typeface="Consolas"/>
              </a:rPr>
              <a:t>├── demo.py   stage.py  writers.py</a:t>
            </a:r>
          </a:p>
          <a:p>
            <a:pPr>
              <a:spcAft>
                <a:spcPts val="0"/>
              </a:spcAft>
              <a:buNone/>
            </a:pPr>
            <a:r>
              <a:rPr sz="1100" b="0" i="0">
                <a:solidFill>
                  <a:srgbClr val="E6EDF3"/>
                </a:solidFill>
                <a:latin typeface="Consolas"/>
              </a:rPr>
              <a:t>├── stores.py  stores_equality.py</a:t>
            </a:r>
          </a:p>
          <a:p>
            <a:pPr>
              <a:spcAft>
                <a:spcPts val="0"/>
              </a:spcAft>
              <a:buNone/>
            </a:pPr>
            <a:r>
              <a:rPr sz="1100" b="0" i="0">
                <a:solidFill>
                  <a:srgbClr val="E6EDF3"/>
                </a:solidFill>
                <a:latin typeface="Consolas"/>
              </a:rPr>
              <a:t>├── s3sim.py               (2.7.0)</a:t>
            </a:r>
          </a:p>
          <a:p>
            <a:pPr>
              <a:spcAft>
                <a:spcPts val="0"/>
              </a:spcAft>
              <a:buNone/>
            </a:pPr>
            <a:r>
              <a:rPr sz="1100" b="0" i="0">
                <a:solidFill>
                  <a:srgbClr val="E6EDF3"/>
                </a:solidFill>
                <a:latin typeface="Consolas"/>
              </a:rPr>
              <a:t>└── test_publish  test_maintain</a:t>
            </a:r>
          </a:p>
          <a:p>
            <a:pPr>
              <a:spcAft>
                <a:spcPts val="0"/>
              </a:spcAft>
              <a:buNone/>
            </a:pPr>
            <a:r>
              <a:rPr sz="1100" b="0" i="0">
                <a:solidFill>
                  <a:srgbClr val="E6EDF3"/>
                </a:solidFill>
                <a:latin typeface="Consolas"/>
              </a:rPr>
              <a:t>    test_s3_simulators  test_vectors</a:t>
            </a:r>
          </a:p>
          <a:p>
            <a:pPr>
              <a:spcAft>
                <a:spcPts val="0"/>
              </a:spcAft>
              <a:buNone/>
            </a:pPr>
            <a:r>
              <a:rPr sz="1100" b="0" i="0">
                <a:solidFill>
                  <a:srgbClr val="E6EDF3"/>
                </a:solidFill>
                <a:latin typeface="Consolas"/>
              </a:rPr>
              <a:t>    test_retention  test_names</a:t>
            </a:r>
          </a:p>
          <a:p>
            <a:pPr>
              <a:spcAft>
                <a:spcPts val="0"/>
              </a:spcAft>
              <a:buNone/>
            </a:pPr>
            <a:r>
              <a:rPr sz="1100" b="0" i="0">
                <a:solidFill>
                  <a:srgbClr val="E6EDF3"/>
                </a:solidFill>
                <a:latin typeface="Consolas"/>
              </a:rPr>
              <a:t>tools/samplegen/load_rows.py (2.9.4)</a:t>
            </a:r>
          </a:p>
          <a:p>
            <a:pPr>
              <a:spcAft>
                <a:spcPts val="0"/>
              </a:spcAft>
              <a:buNone/>
            </a:pPr>
            <a:r>
              <a:rPr sz="1100" b="0" i="0">
                <a:solidFill>
                  <a:srgbClr val="E6EDF3"/>
                </a:solidFill>
                <a:latin typeface="Consolas"/>
              </a:rPr>
              <a:t>tools/convertcmd.py   drishti.py convert</a:t>
            </a:r>
          </a:p>
        </p:txBody>
      </p:sp>
      <p:sp>
        <p:nvSpPr>
          <p:cNvPr id="13" name="Callout"/>
          <p:cNvSpPr/>
          <p:nvPr/>
        </p:nvSpPr>
        <p:spPr>
          <a:xfrm>
            <a:off x="7315200" y="3566160"/>
            <a:ext cx="4462272" cy="1280160"/>
          </a:xfrm>
          <a:prstGeom prst="roundRect">
            <a:avLst>
              <a:gd name="adj" fmla="val 6000"/>
            </a:avLst>
          </a:prstGeom>
          <a:solidFill>
            <a:srgbClr val="E8F4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Callout edge"/>
          <p:cNvSpPr/>
          <p:nvPr/>
        </p:nvSpPr>
        <p:spPr>
          <a:xfrm>
            <a:off x="7315200" y="3584448"/>
            <a:ext cx="82296" cy="124358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xtBox 14"/>
          <p:cNvSpPr txBox="1"/>
          <p:nvPr/>
        </p:nvSpPr>
        <p:spPr>
          <a:xfrm>
            <a:off x="7543800" y="3639312"/>
            <a:ext cx="4096511" cy="1133856"/>
          </a:xfrm>
          <a:prstGeom prst="rect">
            <a:avLst/>
          </a:prstGeom>
          <a:noFill/>
        </p:spPr>
        <p:txBody>
          <a:bodyPr wrap="square" lIns="0" rIns="0" tIns="0" bIns="0" anchor="ctr">
            <a:spAutoFit/>
          </a:bodyPr>
          <a:lstStyle/>
          <a:p>
            <a:pPr algn="l">
              <a:spcAft>
                <a:spcPts val="600"/>
              </a:spcAft>
              <a:buNone/>
            </a:pPr>
            <a:r>
              <a:rPr sz="1100" b="0" i="0">
                <a:solidFill>
                  <a:srgbClr val="0E7C86"/>
                </a:solidFill>
                <a:latin typeface="Consolas"/>
              </a:rPr>
              <a:t>drishti.py lake publish</a:t>
            </a:r>
            <a:r>
              <a:rPr sz="1200" b="0" i="0">
                <a:solidFill>
                  <a:srgbClr val="1C2433"/>
                </a:solidFill>
                <a:latin typeface="Calibri"/>
              </a:rPr>
              <a:t> (TOOLS.md §4.11) and the S3 tests (§4.12) run in the drill; </a:t>
            </a:r>
            <a:r>
              <a:rPr sz="1100" b="0" i="0">
                <a:solidFill>
                  <a:srgbClr val="0E7C86"/>
                </a:solidFill>
                <a:latin typeface="Consolas"/>
              </a:rPr>
              <a:t>tools/test_deploy_aws.py</a:t>
            </a:r>
            <a:r>
              <a:rPr sz="1200" b="0" i="0">
                <a:solidFill>
                  <a:srgbClr val="1C2433"/>
                </a:solidFill>
                <a:latin typeface="Calibri"/>
              </a:rPr>
              <a:t> runs every script with --help and --dry-run.</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19. Conventions every script follows</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19</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101</a:t>
            </a:r>
          </a:p>
        </p:txBody>
      </p:sp>
      <p:sp>
        <p:nvSpPr>
          <p:cNvPr id="9" name="TextBox 8"/>
          <p:cNvSpPr txBox="1"/>
          <p:nvPr/>
        </p:nvSpPr>
        <p:spPr>
          <a:xfrm>
            <a:off x="411480" y="1188720"/>
            <a:ext cx="11365992" cy="5120640"/>
          </a:xfrm>
          <a:prstGeom prst="rect">
            <a:avLst/>
          </a:prstGeom>
          <a:noFill/>
        </p:spPr>
        <p:txBody>
          <a:bodyPr wrap="square" lIns="0" rIns="0" tIns="0" bIns="0" anchor="t">
            <a:spAutoFit/>
          </a:bodyPr>
          <a:lstStyle/>
          <a:p>
            <a:pPr algn="l" marL="201168" indent="-201168">
              <a:spcAft>
                <a:spcPts val="800"/>
              </a:spcAft>
              <a:buClr>
                <a:srgbClr val="E87A1E"/>
              </a:buClr>
              <a:buSzPct val="100000"/>
              <a:buFont typeface="Arial"/>
              <a:buChar char="•"/>
            </a:pPr>
            <a:r>
              <a:rPr sz="1400" b="0" i="0">
                <a:solidFill>
                  <a:srgbClr val="1C2433"/>
                </a:solidFill>
                <a:latin typeface="Calibri"/>
              </a:rPr>
              <a:t>bash with </a:t>
            </a:r>
            <a:r>
              <a:rPr sz="1300" b="0" i="0">
                <a:solidFill>
                  <a:srgbClr val="0E7C86"/>
                </a:solidFill>
                <a:latin typeface="Consolas"/>
              </a:rPr>
              <a:t>set -euo pipefail</a:t>
            </a:r>
            <a:r>
              <a:rPr sz="1400" b="0" i="0">
                <a:solidFill>
                  <a:srgbClr val="1C2433"/>
                </a:solidFill>
                <a:latin typeface="Calibri"/>
              </a:rPr>
              <a:t> and the licence header</a:t>
            </a:r>
          </a:p>
          <a:p>
            <a:pPr algn="l" marL="201168" indent="-201168">
              <a:spcAft>
                <a:spcPts val="800"/>
              </a:spcAft>
              <a:buClr>
                <a:srgbClr val="E87A1E"/>
              </a:buClr>
              <a:buSzPct val="100000"/>
              <a:buFont typeface="Arial"/>
              <a:buChar char="•"/>
            </a:pPr>
            <a:r>
              <a:rPr sz="1400" b="0" i="0">
                <a:solidFill>
                  <a:srgbClr val="1C2433"/>
                </a:solidFill>
                <a:latin typeface="Calibri"/>
              </a:rPr>
              <a:t>AWS CLI v2 and nothing else; Python only through </a:t>
            </a:r>
            <a:r>
              <a:rPr sz="1300" b="0" i="0">
                <a:solidFill>
                  <a:srgbClr val="0E7C86"/>
                </a:solidFill>
                <a:latin typeface="Consolas"/>
              </a:rPr>
              <a:t>tools/drishti.py</a:t>
            </a:r>
          </a:p>
          <a:p>
            <a:pPr algn="l" marL="201168" indent="-201168">
              <a:spcAft>
                <a:spcPts val="800"/>
              </a:spcAft>
              <a:buClr>
                <a:srgbClr val="E87A1E"/>
              </a:buClr>
              <a:buSzPct val="100000"/>
              <a:buFont typeface="Arial"/>
              <a:buChar char="•"/>
            </a:pPr>
            <a:r>
              <a:rPr sz="1300" b="0" i="0">
                <a:solidFill>
                  <a:srgbClr val="0E7C86"/>
                </a:solidFill>
                <a:latin typeface="Consolas"/>
              </a:rPr>
              <a:t>--help</a:t>
            </a:r>
            <a:r>
              <a:rPr sz="1400" b="0" i="0">
                <a:solidFill>
                  <a:srgbClr val="1C2433"/>
                </a:solidFill>
                <a:latin typeface="Calibri"/>
              </a:rPr>
              <a:t> on every script; </a:t>
            </a:r>
            <a:r>
              <a:rPr sz="1300" b="0" i="0">
                <a:solidFill>
                  <a:srgbClr val="0E7C86"/>
                </a:solidFill>
                <a:latin typeface="Consolas"/>
              </a:rPr>
              <a:t>--dry-run</a:t>
            </a:r>
            <a:r>
              <a:rPr sz="1400" b="0" i="0">
                <a:solidFill>
                  <a:srgbClr val="1C2433"/>
                </a:solidFill>
                <a:latin typeface="Calibri"/>
              </a:rPr>
              <a:t>: each changing call printed as </a:t>
            </a:r>
            <a:r>
              <a:rPr sz="1300" b="0" i="0">
                <a:solidFill>
                  <a:srgbClr val="0E7C86"/>
                </a:solidFill>
                <a:latin typeface="Consolas"/>
              </a:rPr>
              <a:t>+ aws …</a:t>
            </a:r>
            <a:r>
              <a:rPr sz="1400" b="0" i="0">
                <a:solidFill>
                  <a:srgbClr val="1C2433"/>
                </a:solidFill>
                <a:latin typeface="Calibri"/>
              </a:rPr>
              <a:t>, each read as </a:t>
            </a:r>
            <a:r>
              <a:rPr sz="1300" b="0" i="0">
                <a:solidFill>
                  <a:srgbClr val="0E7C86"/>
                </a:solidFill>
                <a:latin typeface="Consolas"/>
              </a:rPr>
              <a:t>? aws …</a:t>
            </a:r>
            <a:r>
              <a:rPr sz="1400" b="0" i="0">
                <a:solidFill>
                  <a:srgbClr val="1C2433"/>
                </a:solidFill>
                <a:latin typeface="Calibri"/>
              </a:rPr>
              <a:t>, none made</a:t>
            </a:r>
          </a:p>
          <a:p>
            <a:pPr algn="l" marL="201168" indent="-201168">
              <a:spcAft>
                <a:spcPts val="800"/>
              </a:spcAft>
              <a:buClr>
                <a:srgbClr val="E87A1E"/>
              </a:buClr>
              <a:buSzPct val="100000"/>
              <a:buFont typeface="Arial"/>
              <a:buChar char="•"/>
            </a:pPr>
            <a:r>
              <a:rPr sz="1400" b="0" i="0">
                <a:solidFill>
                  <a:srgbClr val="1C2433"/>
                </a:solidFill>
                <a:latin typeface="Calibri"/>
              </a:rPr>
              <a:t>Settings from one file: </a:t>
            </a:r>
            <a:r>
              <a:rPr sz="1300" b="0" i="0">
                <a:solidFill>
                  <a:srgbClr val="0E7C86"/>
                </a:solidFill>
                <a:latin typeface="Consolas"/>
              </a:rPr>
              <a:t>deploy/aws/env</a:t>
            </a:r>
            <a:r>
              <a:rPr sz="1400" b="0" i="0">
                <a:solidFill>
                  <a:srgbClr val="1C2433"/>
                </a:solidFill>
                <a:latin typeface="Calibri"/>
              </a:rPr>
              <a:t> (from env.example; placeholders only; git-ignored), or </a:t>
            </a:r>
            <a:r>
              <a:rPr sz="1300" b="0" i="0">
                <a:solidFill>
                  <a:srgbClr val="0E7C86"/>
                </a:solidFill>
                <a:latin typeface="Consolas"/>
              </a:rPr>
              <a:t>--env &lt;file&gt;</a:t>
            </a:r>
          </a:p>
          <a:p>
            <a:pPr algn="l" marL="201168" indent="-201168">
              <a:spcAft>
                <a:spcPts val="800"/>
              </a:spcAft>
              <a:buClr>
                <a:srgbClr val="E87A1E"/>
              </a:buClr>
              <a:buSzPct val="100000"/>
              <a:buFont typeface="Arial"/>
              <a:buChar char="•"/>
            </a:pPr>
            <a:r>
              <a:rPr sz="1400" b="0" i="0">
                <a:solidFill>
                  <a:srgbClr val="1C2433"/>
                </a:solidFill>
                <a:latin typeface="Calibri"/>
              </a:rPr>
              <a:t>Safe to run again (idempotent): buckets, policies, access points and rules are kept and their settings applied again</a:t>
            </a:r>
          </a:p>
          <a:p>
            <a:pPr algn="l" marL="201168" indent="-201168">
              <a:spcAft>
                <a:spcPts val="800"/>
              </a:spcAft>
              <a:buClr>
                <a:srgbClr val="E87A1E"/>
              </a:buClr>
              <a:buSzPct val="100000"/>
              <a:buFont typeface="Arial"/>
              <a:buChar char="•"/>
            </a:pPr>
            <a:r>
              <a:rPr sz="1400" b="0" i="0">
                <a:solidFill>
                  <a:srgbClr val="1C2433"/>
                </a:solidFill>
                <a:latin typeface="Calibri"/>
              </a:rPr>
              <a:t>A placeholder left stops the script and names it</a:t>
            </a:r>
          </a:p>
          <a:p>
            <a:pPr algn="l" marL="201168" indent="-201168">
              <a:spcAft>
                <a:spcPts val="800"/>
              </a:spcAft>
              <a:buClr>
                <a:srgbClr val="E87A1E"/>
              </a:buClr>
              <a:buSzPct val="100000"/>
              <a:buFont typeface="Arial"/>
              <a:buChar char="•"/>
            </a:pPr>
            <a:r>
              <a:rPr sz="1400" b="0" i="0">
                <a:solidFill>
                  <a:srgbClr val="1C2433"/>
                </a:solidFill>
                <a:latin typeface="Calibri"/>
              </a:rPr>
              <a:t>Locks: load, backfill and maintenance take the table's flock on EFS; a held lock exits 3</a:t>
            </a:r>
          </a:p>
          <a:p>
            <a:pPr algn="l" marL="201168" indent="-201168">
              <a:spcAft>
                <a:spcPts val="800"/>
              </a:spcAft>
              <a:buClr>
                <a:srgbClr val="E87A1E"/>
              </a:buClr>
              <a:buSzPct val="100000"/>
              <a:buFont typeface="Arial"/>
              <a:buChar char="•"/>
            </a:pPr>
            <a:r>
              <a:rPr sz="1400" b="0" i="0">
                <a:solidFill>
                  <a:srgbClr val="1C2433"/>
                </a:solidFill>
                <a:latin typeface="Calibri"/>
              </a:rPr>
              <a:t>Data in is JSON Lines (2.9.4); a CSV source is converted first with </a:t>
            </a:r>
            <a:r>
              <a:rPr sz="1300" b="0" i="0">
                <a:solidFill>
                  <a:srgbClr val="0E7C86"/>
                </a:solidFill>
                <a:latin typeface="Consolas"/>
              </a:rPr>
              <a:t>drishti.py convert</a:t>
            </a:r>
          </a:p>
          <a:p>
            <a:pPr algn="l" marL="201168" indent="-201168">
              <a:spcAft>
                <a:spcPts val="800"/>
              </a:spcAft>
              <a:buClr>
                <a:srgbClr val="E87A1E"/>
              </a:buClr>
              <a:buSzPct val="100000"/>
              <a:buFont typeface="Arial"/>
              <a:buChar char="•"/>
            </a:pPr>
            <a:r>
              <a:rPr sz="1400" b="0" i="0">
                <a:solidFill>
                  <a:srgbClr val="1C2433"/>
                </a:solidFill>
                <a:latin typeface="Calibri"/>
              </a:rPr>
              <a:t>Tested: </a:t>
            </a:r>
            <a:r>
              <a:rPr sz="1300" b="0" i="0">
                <a:solidFill>
                  <a:srgbClr val="0E7C86"/>
                </a:solidFill>
                <a:latin typeface="Consolas"/>
              </a:rPr>
              <a:t>tools/test_deploy_aws.py</a:t>
            </a:r>
            <a:r>
              <a:rPr sz="1400" b="0" i="0">
                <a:solidFill>
                  <a:srgbClr val="1C2433"/>
                </a:solidFill>
                <a:latin typeface="Calibri"/>
              </a:rPr>
              <a:t> (every script with --help and --dry-run against a fake settings file and an aws that fails if called; every template rendered; lifecycle rules; env git-ignored); </a:t>
            </a:r>
            <a:r>
              <a:rPr sz="1300" b="0" i="0">
                <a:solidFill>
                  <a:srgbClr val="0E7C86"/>
                </a:solidFill>
                <a:latin typeface="Consolas"/>
              </a:rPr>
              <a:t>test_publish.py</a:t>
            </a:r>
            <a:r>
              <a:rPr sz="1400" b="0" i="0">
                <a:solidFill>
                  <a:srgbClr val="1C2433"/>
                </a:solidFill>
                <a:latin typeface="Calibri"/>
              </a:rPr>
              <a:t> and the S3 simulator tests run in the drill</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Number"/>
          <p:cNvSpPr txBox="1"/>
          <p:nvPr/>
        </p:nvSpPr>
        <p:spPr>
          <a:xfrm>
            <a:off x="4754880" y="-822960"/>
            <a:ext cx="7223760" cy="7863840"/>
          </a:xfrm>
          <a:prstGeom prst="rect">
            <a:avLst/>
          </a:prstGeom>
          <a:noFill/>
        </p:spPr>
        <p:txBody>
          <a:bodyPr wrap="square" lIns="0" rIns="0" tIns="0" bIns="0" anchor="ctr">
            <a:spAutoFit/>
          </a:bodyPr>
          <a:lstStyle/>
          <a:p>
            <a:pPr algn="r">
              <a:spcAft>
                <a:spcPts val="600"/>
              </a:spcAft>
              <a:buNone/>
            </a:pPr>
            <a:r>
              <a:rPr sz="42000" b="1" i="0">
                <a:solidFill>
                  <a:srgbClr val="1C3560"/>
                </a:solidFill>
                <a:latin typeface="Calibri"/>
              </a:rPr>
              <a:t>20</a:t>
            </a:r>
          </a:p>
        </p:txBody>
      </p:sp>
      <p:sp>
        <p:nvSpPr>
          <p:cNvPr id="4" name="Title"/>
          <p:cNvSpPr txBox="1"/>
          <p:nvPr/>
        </p:nvSpPr>
        <p:spPr>
          <a:xfrm>
            <a:off x="822960" y="2514600"/>
            <a:ext cx="6949440" cy="1828800"/>
          </a:xfrm>
          <a:prstGeom prst="rect">
            <a:avLst/>
          </a:prstGeom>
          <a:noFill/>
        </p:spPr>
        <p:txBody>
          <a:bodyPr wrap="square" lIns="0" rIns="0" tIns="0" bIns="0" anchor="ctr">
            <a:spAutoFit/>
          </a:bodyPr>
          <a:lstStyle/>
          <a:p>
            <a:pPr algn="l">
              <a:spcAft>
                <a:spcPts val="600"/>
              </a:spcAft>
              <a:buNone/>
            </a:pPr>
            <a:r>
              <a:rPr sz="4400" b="1" i="0">
                <a:solidFill>
                  <a:srgbClr val="FFFFFF"/>
                </a:solidFill>
                <a:latin typeface="Calibri"/>
              </a:rPr>
              <a:t>Limits, decisions and what comes next</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20. Limits and what comes next</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section 20</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103</a:t>
            </a:r>
          </a:p>
        </p:txBody>
      </p:sp>
      <p:graphicFrame>
        <p:nvGraphicFramePr>
          <p:cNvPr id="9" name="Table"/>
          <p:cNvGraphicFramePr>
            <a:graphicFrameLocks noGrp="1"/>
          </p:cNvGraphicFramePr>
          <p:nvPr/>
        </p:nvGraphicFramePr>
        <p:xfrm>
          <a:off x="411480" y="1188720"/>
          <a:ext cx="11365992" cy="4937760"/>
        </p:xfrm>
        <a:graphic>
          <a:graphicData uri="http://schemas.openxmlformats.org/drawingml/2006/table">
            <a:tbl>
              <a:tblPr firstRow="0" bandRow="0">
                <a:tableStyleId>{5940675A-B579-460E-94D1-54222C63F5DA}</a:tableStyleId>
              </a:tblPr>
              <a:tblGrid>
                <a:gridCol w="6583680"/>
                <a:gridCol w="2377440"/>
                <a:gridCol w="2404872"/>
              </a:tblGrid>
              <a:tr h="493776">
                <a:tc>
                  <a:txBody>
                    <a:bodyPr wrap="square"/>
                    <a:lstStyle/>
                    <a:p>
                      <a:r>
                        <a:rPr sz="1200" b="1" i="0">
                          <a:solidFill>
                            <a:srgbClr val="FFFFFF"/>
                          </a:solidFill>
                          <a:latin typeface="Calibri"/>
                        </a:rPr>
                        <a:t>Limit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Status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Source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493776">
                <a:tc>
                  <a:txBody>
                    <a:bodyPr wrap="square"/>
                    <a:lstStyle/>
                    <a:p>
                      <a:r>
                        <a:rPr sz="1200" b="1" i="0">
                          <a:solidFill>
                            <a:srgbClr val="1C2433"/>
                          </a:solidFill>
                          <a:latin typeface="Calibri"/>
                        </a:rPr>
                        <a:t>Not yet run in a real AWS account (steps 0–11, runbooks)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to do</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AWS_DELTA_LAKE.md §15</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93776">
                <a:tc>
                  <a:txBody>
                    <a:bodyPr wrap="square"/>
                    <a:lstStyle/>
                    <a:p>
                      <a:r>
                        <a:rPr sz="1200" b="1" i="0">
                          <a:solidFill>
                            <a:srgbClr val="1C2433"/>
                          </a:solidFill>
                          <a:latin typeface="Calibri"/>
                        </a:rPr>
                        <a:t>Kafka windows are appended to a lake path (local or EFS), not </a:t>
                      </a:r>
                      <a:r>
                        <a:rPr sz="1100" b="1" i="0">
                          <a:solidFill>
                            <a:srgbClr val="0E7C86"/>
                          </a:solidFill>
                          <a:latin typeface="Consolas"/>
                        </a:rPr>
                        <a:t>s3://</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limit; to S3 PROPOSED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VAR_GUIDE.md §8.4</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93776">
                <a:tc>
                  <a:txBody>
                    <a:bodyPr wrap="square"/>
                    <a:lstStyle/>
                    <a:p>
                      <a:r>
                        <a:rPr sz="1200" b="1" i="0">
                          <a:solidFill>
                            <a:srgbClr val="1C2433"/>
                          </a:solidFill>
                          <a:latin typeface="Calibri"/>
                        </a:rPr>
                        <a:t>The 2.3M VaR benchmark on a real server, both formats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2.9.6</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VAR_GUIDE.md §27.3</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93776">
                <a:tc>
                  <a:txBody>
                    <a:bodyPr wrap="square"/>
                    <a:lstStyle/>
                    <a:p>
                      <a:r>
                        <a:rPr sz="1200" b="1" i="0">
                          <a:solidFill>
                            <a:srgbClr val="1C2433"/>
                          </a:solidFill>
                          <a:latin typeface="Calibri"/>
                        </a:rPr>
                        <a:t>Delta in-place schema evolution; Delta↔Iceberg conversion; the Glue and S3 Tables runs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2.9.6</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CHANGELOG, AWS_DEPLOYMENT.md §22</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93776">
                <a:tc>
                  <a:txBody>
                    <a:bodyPr wrap="square"/>
                    <a:lstStyle/>
                    <a:p>
                      <a:r>
                        <a:rPr sz="1200" b="1" i="0">
                          <a:solidFill>
                            <a:srgbClr val="1C2433"/>
                          </a:solidFill>
                          <a:latin typeface="Calibri"/>
                        </a:rPr>
                        <a:t>More than 100,000 hierarchy nodes or portfolios from a connector that cannot list a date whole (15,000 portfolios fit)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limit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VAR_GUIDE.md §20</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93776">
                <a:tc>
                  <a:txBody>
                    <a:bodyPr wrap="square"/>
                    <a:lstStyle/>
                    <a:p>
                      <a:r>
                        <a:rPr sz="1200" b="1" i="0">
                          <a:solidFill>
                            <a:srgbClr val="1C2433"/>
                          </a:solidFill>
                          <a:latin typeface="Calibri"/>
                        </a:rPr>
                        <a:t>VaR sharding</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DESIGNED · 2.9.6</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VAR_GUIDE.md §28</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93776">
                <a:tc>
                  <a:txBody>
                    <a:bodyPr wrap="square"/>
                    <a:lstStyle/>
                    <a:p>
                      <a:r>
                        <a:rPr sz="1200" b="1" i="0">
                          <a:solidFill>
                            <a:srgbClr val="1C2433"/>
                          </a:solidFill>
                          <a:latin typeface="Calibri"/>
                        </a:rPr>
                        <a:t>Tables by year, range maps, slice ownership (S1–S8: scale-out)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DESIGNED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SUPER_SCALE.md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93776">
                <a:tc>
                  <a:txBody>
                    <a:bodyPr wrap="square"/>
                    <a:lstStyle/>
                    <a:p>
                      <a:r>
                        <a:rPr sz="1100" b="1" i="0">
                          <a:solidFill>
                            <a:srgbClr val="0E7C86"/>
                          </a:solidFill>
                          <a:latin typeface="Consolas"/>
                        </a:rPr>
                        <a:t>lake build</a:t>
                      </a:r>
                      <a:r>
                        <a:rPr sz="1200" b="1" i="0">
                          <a:solidFill>
                            <a:srgbClr val="1C2433"/>
                          </a:solidFill>
                          <a:latin typeface="Calibri"/>
                        </a:rPr>
                        <a:t> sorts a partition only when it fits a batch</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limit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AWS_DELTA_LAKE.md §7.2</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93776">
                <a:tc>
                  <a:txBody>
                    <a:bodyPr wrap="square"/>
                    <a:lstStyle/>
                    <a:p>
                      <a:r>
                        <a:rPr sz="1200" b="1" i="0">
                          <a:solidFill>
                            <a:srgbClr val="1C2433"/>
                          </a:solidFill>
                          <a:latin typeface="Calibri"/>
                        </a:rPr>
                        <a:t>A bucket without conditional writes: one writer per table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limit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AWS_DELTA_LAKE.md §8.2</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bl>
          </a:graphicData>
        </a:graphic>
      </p:graphicFrame>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Decisions and actions for the product owner</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summary</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104</a:t>
            </a:r>
          </a:p>
        </p:txBody>
      </p:sp>
      <p:graphicFrame>
        <p:nvGraphicFramePr>
          <p:cNvPr id="9" name="Table"/>
          <p:cNvGraphicFramePr>
            <a:graphicFrameLocks noGrp="1"/>
          </p:cNvGraphicFramePr>
          <p:nvPr/>
        </p:nvGraphicFramePr>
        <p:xfrm>
          <a:off x="411480" y="1188720"/>
          <a:ext cx="11365991" cy="4974336"/>
        </p:xfrm>
        <a:graphic>
          <a:graphicData uri="http://schemas.openxmlformats.org/drawingml/2006/table">
            <a:tbl>
              <a:tblPr firstRow="0" bandRow="0">
                <a:tableStyleId>{5940675A-B579-460E-94D1-54222C63F5DA}</a:tableStyleId>
              </a:tblPr>
              <a:tblGrid>
                <a:gridCol w="457200"/>
                <a:gridCol w="4846319"/>
                <a:gridCol w="6062472"/>
              </a:tblGrid>
              <a:tr h="621792">
                <a:tc>
                  <a:txBody>
                    <a:bodyPr wrap="square"/>
                    <a:lstStyle/>
                    <a:p>
                      <a:r>
                        <a:rPr sz="1200" b="1" i="0">
                          <a:solidFill>
                            <a:srgbClr val="FFFFFF"/>
                          </a:solidFill>
                          <a:latin typeface="Calibri"/>
                        </a:rPr>
                        <a: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Decision or action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Recommendation</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621792">
                <a:tc>
                  <a:txBody>
                    <a:bodyPr wrap="square"/>
                    <a:lstStyle/>
                    <a:p>
                      <a:r>
                        <a:rPr sz="1200" b="1" i="0">
                          <a:solidFill>
                            <a:srgbClr val="1C2433"/>
                          </a:solidFill>
                          <a:latin typeface="Calibri"/>
                        </a:rPr>
                        <a:t>1</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Disk caches and VaR/exposure hot files on local NVMe (breaks the identical-path rule) or EFS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Hot files on NVMe from the start (the guides ask for fast local disk); connector caches on EFS until p99Ms shows EFS latency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621792">
                <a:tc>
                  <a:txBody>
                    <a:bodyPr wrap="square"/>
                    <a:lstStyle/>
                    <a:p>
                      <a:r>
                        <a:rPr sz="1200" b="1" i="0">
                          <a:solidFill>
                            <a:srgbClr val="1C2433"/>
                          </a:solidFill>
                          <a:latin typeface="Calibri"/>
                        </a:rPr>
                        <a:t>2</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First real run in a development AWS account (steps 0–11, runbooks 18.1–18.6)</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Before any production commitment; record the outputs in the guide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621792">
                <a:tc>
                  <a:txBody>
                    <a:bodyPr wrap="square"/>
                    <a:lstStyle/>
                    <a:p>
                      <a:r>
                        <a:rPr sz="1200" b="1" i="0">
                          <a:solidFill>
                            <a:srgbClr val="1C2433"/>
                          </a:solidFill>
                          <a:latin typeface="Calibri"/>
                        </a:rPr>
                        <a:t>3</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Official results straight to </a:t>
                      </a:r>
                      <a:r>
                        <a:rPr sz="1100" b="0" i="0">
                          <a:solidFill>
                            <a:srgbClr val="0E7C86"/>
                          </a:solidFill>
                          <a:latin typeface="Consolas"/>
                        </a:rPr>
                        <a:t>s3://</a:t>
                      </a:r>
                      <a:r>
                        <a:rPr sz="1200" b="0" i="0">
                          <a:solidFill>
                            <a:srgbClr val="1C2433"/>
                          </a:solidFill>
                          <a:latin typeface="Calibri"/>
                        </a:rPr>
                        <a:t> (BUILT 2.9.5); how Kafka windows reach S3</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Official: </a:t>
                      </a:r>
                      <a:r>
                        <a:rPr sz="1100" b="0" i="0">
                          <a:solidFill>
                            <a:srgbClr val="0E7C86"/>
                          </a:solidFill>
                          <a:latin typeface="Consolas"/>
                        </a:rPr>
                        <a:t>s3://</a:t>
                      </a:r>
                      <a:r>
                        <a:rPr sz="1200" b="0" i="0">
                          <a:solidFill>
                            <a:srgbClr val="1C2433"/>
                          </a:solidFill>
                          <a:latin typeface="Calibri"/>
                        </a:rPr>
                        <a:t> root, add </a:t>
                      </a:r>
                      <a:r>
                        <a:rPr sz="1100" b="0" i="0">
                          <a:solidFill>
                            <a:srgbClr val="0E7C86"/>
                          </a:solidFill>
                          <a:latin typeface="Consolas"/>
                        </a:rPr>
                        <a:t>s3:PutObject</a:t>
                      </a:r>
                      <a:r>
                        <a:rPr sz="1200" b="0" i="0">
                          <a:solidFill>
                            <a:srgbClr val="1C2433"/>
                          </a:solidFill>
                          <a:latin typeface="Calibri"/>
                        </a:rPr>
                        <a:t> to the server role. Kafka: EFS lake, then </a:t>
                      </a:r>
                      <a:r>
                        <a:rPr sz="1100" b="0" i="0">
                          <a:solidFill>
                            <a:srgbClr val="0E7C86"/>
                          </a:solidFill>
                          <a:latin typeface="Consolas"/>
                        </a:rPr>
                        <a:t>lake publish --mode append</a:t>
                      </a:r>
                      <a:r>
                        <a:rPr sz="1200" b="0" i="0">
                          <a:solidFill>
                            <a:srgbClr val="1C2433"/>
                          </a:solidFill>
                          <a:latin typeface="Calibri"/>
                        </a:rPr>
                        <a:t>, 7-year retention (PROPOSED)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621792">
                <a:tc>
                  <a:txBody>
                    <a:bodyPr wrap="square"/>
                    <a:lstStyle/>
                    <a:p>
                      <a:r>
                        <a:rPr sz="1200" b="1" i="0">
                          <a:solidFill>
                            <a:srgbClr val="1C2433"/>
                          </a:solidFill>
                          <a:latin typeface="Calibri"/>
                        </a:rPr>
                        <a:t>4</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A fixed gossip port on ECS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A number in node.yaml and a security-group rule node to node (PROPOSED)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621792">
                <a:tc>
                  <a:txBody>
                    <a:bodyPr wrap="square"/>
                    <a:lstStyle/>
                    <a:p>
                      <a:r>
                        <a:rPr sz="1200" b="1" i="0">
                          <a:solidFill>
                            <a:srgbClr val="1C2433"/>
                          </a:solidFill>
                          <a:latin typeface="Calibri"/>
                        </a:rPr>
                        <a:t>5</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Compaction on S3</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Re-enable after a relayout test on one S3 table; update AWS_DELTA_LAKE.md 9.3 (PROPOSED)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621792">
                <a:tc>
                  <a:txBody>
                    <a:bodyPr wrap="square"/>
                    <a:lstStyle/>
                    <a:p>
                      <a:r>
                        <a:rPr sz="1200" b="1" i="0">
                          <a:solidFill>
                            <a:srgbClr val="1C2433"/>
                          </a:solidFill>
                          <a:latin typeface="Calibri"/>
                        </a:rPr>
                        <a:t>6</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Tables by year (S2); range maps, Bloom filters (S1); slice ownership (S5, S6); VaR sharding (2.9.6)</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When live files near 100,000 per table, or one server's working set or one VaR date becomes the limit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621792">
                <a:tc>
                  <a:txBody>
                    <a:bodyPr wrap="square"/>
                    <a:lstStyle/>
                    <a:p>
                      <a:r>
                        <a:rPr sz="1200" b="1" i="0">
                          <a:solidFill>
                            <a:srgbClr val="1C2433"/>
                          </a:solidFill>
                          <a:latin typeface="Calibri"/>
                        </a:rPr>
                        <a:t>7</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Delta (the default) or Iceberg for the risk lake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Delta unless the bank's platform standardises on Iceberg; both equal to the cent (slide 10)</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bl>
          </a:graphicData>
        </a:graphic>
      </p:graphicFrame>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itle band"/>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itle rule"/>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itle"/>
          <p:cNvSpPr txBox="1"/>
          <p:nvPr/>
        </p:nvSpPr>
        <p:spPr>
          <a:xfrm>
            <a:off x="411480" y="109728"/>
            <a:ext cx="9509760" cy="685800"/>
          </a:xfrm>
          <a:prstGeom prst="rect">
            <a:avLst/>
          </a:prstGeom>
          <a:noFill/>
        </p:spPr>
        <p:txBody>
          <a:bodyPr wrap="square" lIns="0" rIns="0" tIns="0" bIns="0" anchor="ctr">
            <a:spAutoFit/>
          </a:bodyPr>
          <a:lstStyle/>
          <a:p>
            <a:pPr algn="l">
              <a:spcAft>
                <a:spcPts val="600"/>
              </a:spcAft>
              <a:buNone/>
            </a:pPr>
            <a:r>
              <a:rPr sz="2600" b="1" i="0">
                <a:solidFill>
                  <a:srgbClr val="FFFFFF"/>
                </a:solidFill>
                <a:latin typeface="Calibri"/>
              </a:rPr>
              <a:t>Related documents</a:t>
            </a:r>
          </a:p>
        </p:txBody>
      </p:sp>
      <p:sp>
        <p:nvSpPr>
          <p:cNvPr id="6" name="Kicker"/>
          <p:cNvSpPr txBox="1"/>
          <p:nvPr/>
        </p:nvSpPr>
        <p:spPr>
          <a:xfrm>
            <a:off x="8412480" y="109728"/>
            <a:ext cx="3429000" cy="685800"/>
          </a:xfrm>
          <a:prstGeom prst="rect">
            <a:avLst/>
          </a:prstGeom>
          <a:noFill/>
        </p:spPr>
        <p:txBody>
          <a:bodyPr wrap="square" lIns="0" rIns="0" tIns="0" bIns="0" anchor="ctr">
            <a:spAutoFit/>
          </a:bodyPr>
          <a:lstStyle/>
          <a:p>
            <a:pPr algn="r">
              <a:spcAft>
                <a:spcPts val="600"/>
              </a:spcAft>
              <a:buNone/>
            </a:pPr>
            <a:r>
              <a:rPr sz="1100" b="0" i="0">
                <a:solidFill>
                  <a:srgbClr val="C9D3E3"/>
                </a:solidFill>
                <a:latin typeface="Calibri"/>
              </a:rPr>
              <a:t>references</a:t>
            </a:r>
          </a:p>
        </p:txBody>
      </p:sp>
      <p:sp>
        <p:nvSpPr>
          <p:cNvPr id="7" name="Footer"/>
          <p:cNvSpPr txBox="1"/>
          <p:nvPr/>
        </p:nvSpPr>
        <p:spPr>
          <a:xfrm>
            <a:off x="411480" y="6510528"/>
            <a:ext cx="10058400" cy="274320"/>
          </a:xfrm>
          <a:prstGeom prst="rect">
            <a:avLst/>
          </a:prstGeom>
          <a:noFill/>
        </p:spPr>
        <p:txBody>
          <a:bodyPr wrap="square" lIns="0" rIns="0" tIns="0" bIns="0" anchor="ctr">
            <a:spAutoFit/>
          </a:bodyPr>
          <a:lstStyle/>
          <a:p>
            <a:pPr algn="l">
              <a:spcAft>
                <a:spcPts val="600"/>
              </a:spcAft>
              <a:buNone/>
            </a:pPr>
            <a:r>
              <a:rPr sz="900" b="0" i="0">
                <a:solidFill>
                  <a:srgbClr val="5B677A"/>
                </a:solidFill>
                <a:latin typeface="Calibri"/>
              </a:rPr>
              <a:t>Drishti · A high-performance Delta lake on AWS · Drishti 2.9.5 · source: docs/architecture/AWS_DELTA_LAKE.md and the docs named in the notes</a:t>
            </a:r>
          </a:p>
        </p:txBody>
      </p:sp>
      <p:sp>
        <p:nvSpPr>
          <p:cNvPr id="8" name="Slide number"/>
          <p:cNvSpPr txBox="1"/>
          <p:nvPr/>
        </p:nvSpPr>
        <p:spPr>
          <a:xfrm>
            <a:off x="11091672" y="6510528"/>
            <a:ext cx="731520" cy="274320"/>
          </a:xfrm>
          <a:prstGeom prst="rect">
            <a:avLst/>
          </a:prstGeom>
          <a:noFill/>
        </p:spPr>
        <p:txBody>
          <a:bodyPr wrap="square" lIns="0" rIns="0" tIns="0" bIns="0" anchor="ctr">
            <a:spAutoFit/>
          </a:bodyPr>
          <a:lstStyle/>
          <a:p>
            <a:pPr algn="r">
              <a:spcAft>
                <a:spcPts val="600"/>
              </a:spcAft>
              <a:buNone/>
            </a:pPr>
            <a:r>
              <a:rPr sz="900" b="0" i="0">
                <a:solidFill>
                  <a:srgbClr val="5B677A"/>
                </a:solidFill>
                <a:latin typeface="Calibri"/>
              </a:rPr>
              <a:t>105</a:t>
            </a:r>
          </a:p>
        </p:txBody>
      </p:sp>
      <p:graphicFrame>
        <p:nvGraphicFramePr>
          <p:cNvPr id="9" name="Table"/>
          <p:cNvGraphicFramePr>
            <a:graphicFrameLocks noGrp="1"/>
          </p:cNvGraphicFramePr>
          <p:nvPr/>
        </p:nvGraphicFramePr>
        <p:xfrm>
          <a:off x="411480" y="1188720"/>
          <a:ext cx="11365992" cy="5029200"/>
        </p:xfrm>
        <a:graphic>
          <a:graphicData uri="http://schemas.openxmlformats.org/drawingml/2006/table">
            <a:tbl>
              <a:tblPr firstRow="0" bandRow="0">
                <a:tableStyleId>{5940675A-B579-460E-94D1-54222C63F5DA}</a:tableStyleId>
              </a:tblPr>
              <a:tblGrid>
                <a:gridCol w="4572000"/>
                <a:gridCol w="6793992"/>
              </a:tblGrid>
              <a:tr h="457200">
                <a:tc>
                  <a:txBody>
                    <a:bodyPr wrap="square"/>
                    <a:lstStyle/>
                    <a:p>
                      <a:r>
                        <a:rPr sz="1200" b="1" i="0">
                          <a:solidFill>
                            <a:srgbClr val="FFFFFF"/>
                          </a:solidFill>
                          <a:latin typeface="Calibri"/>
                        </a:rPr>
                        <a:t>Document</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c>
                  <a:txBody>
                    <a:bodyPr wrap="square"/>
                    <a:lstStyle/>
                    <a:p>
                      <a:r>
                        <a:rPr sz="1200" b="1" i="0">
                          <a:solidFill>
                            <a:srgbClr val="FFFFFF"/>
                          </a:solidFill>
                          <a:latin typeface="Calibri"/>
                        </a:rPr>
                        <a:t>What it holds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0B1E3B"/>
                    </a:solidFill>
                  </a:tcPr>
                </a:tc>
              </a:tr>
              <a:tr h="457200">
                <a:tc>
                  <a:txBody>
                    <a:bodyPr wrap="square"/>
                    <a:lstStyle/>
                    <a:p>
                      <a:r>
                        <a:rPr sz="1200" b="1" i="0">
                          <a:solidFill>
                            <a:srgbClr val="1C2433"/>
                          </a:solidFill>
                          <a:latin typeface="Calibri"/>
                        </a:rPr>
                        <a:t>docs/architecture/AWS_DELTA_LAKE.md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the first source: every section, command and number of the AWS lake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57200">
                <a:tc>
                  <a:txBody>
                    <a:bodyPr wrap="square"/>
                    <a:lstStyle/>
                    <a:p>
                      <a:r>
                        <a:rPr sz="1200" b="1" i="0">
                          <a:solidFill>
                            <a:srgbClr val="1C2433"/>
                          </a:solidFill>
                          <a:latin typeface="Calibri"/>
                        </a:rPr>
                        <a:t>docs/architecture/AWS_DEPLOYMENT.md · SUPER_SCALE.md · SCALE_STRATEGY.md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ECS, EFS and the identical-path rule; 500 GB a day for 7 years (S1–S8); one server at millions a day</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57200">
                <a:tc>
                  <a:txBody>
                    <a:bodyPr wrap="square"/>
                    <a:lstStyle/>
                    <a:p>
                      <a:r>
                        <a:rPr sz="1200" b="1" i="0">
                          <a:solidFill>
                            <a:srgbClr val="1C2433"/>
                          </a:solidFill>
                          <a:latin typeface="Calibri"/>
                        </a:rPr>
                        <a:t>docs/connectors/DELTA_CONNECTOR.md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how Drishti reads a Delta table; layout, vectors, history, memory, measured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57200">
                <a:tc>
                  <a:txBody>
                    <a:bodyPr wrap="square"/>
                    <a:lstStyle/>
                    <a:p>
                      <a:r>
                        <a:rPr sz="1200" b="1" i="0">
                          <a:solidFill>
                            <a:srgbClr val="1C2433"/>
                          </a:solidFill>
                          <a:latin typeface="Calibri"/>
                        </a:rPr>
                        <a:t>docs/admin/LAKE_MAINTENANCE.md · docs/guides/TOOLS.md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lake maintain and the 7-year floor; lake build, publish, the S3 tests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57200">
                <a:tc>
                  <a:txBody>
                    <a:bodyPr wrap="square"/>
                    <a:lstStyle/>
                    <a:p>
                      <a:r>
                        <a:rPr sz="1200" b="1" i="0">
                          <a:solidFill>
                            <a:srgbClr val="1C2433"/>
                          </a:solidFill>
                          <a:latin typeface="Calibri"/>
                        </a:rPr>
                        <a:t>docs/admin/NET.md · docs/architecture/CONTENT_STORE.md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Drishti*net: gossip port, HTTP/2, routing; the content store on S3</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57200">
                <a:tc>
                  <a:txBody>
                    <a:bodyPr wrap="square"/>
                    <a:lstStyle/>
                    <a:p>
                      <a:r>
                        <a:rPr sz="1200" b="1" i="0">
                          <a:solidFill>
                            <a:srgbClr val="1C2433"/>
                          </a:solidFill>
                          <a:latin typeface="Calibri"/>
                        </a:rPr>
                        <a:t>docs/guides/DATA_FORMATS.md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JSON Lines is the standard; CSV deprecated; official results as JSONL</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57200">
                <a:tc>
                  <a:txBody>
                    <a:bodyPr wrap="square"/>
                    <a:lstStyle/>
                    <a:p>
                      <a:r>
                        <a:rPr sz="1200" b="1" i="0">
                          <a:solidFill>
                            <a:srgbClr val="1C2433"/>
                          </a:solidFill>
                          <a:latin typeface="Calibri"/>
                        </a:rPr>
                        <a:t>docs/guides/VAR_GUIDE.md · EXPOSURE_GUIDE.md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the risk lake: inputs, vectors, intraday, official results, sizes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57200">
                <a:tc>
                  <a:txBody>
                    <a:bodyPr wrap="square"/>
                    <a:lstStyle/>
                    <a:p>
                      <a:r>
                        <a:rPr sz="1200" b="1" i="0">
                          <a:solidFill>
                            <a:srgbClr val="1C2433"/>
                          </a:solidFill>
                          <a:latin typeface="Calibri"/>
                        </a:rPr>
                        <a:t>docs/connectors/DEMO_DATA.md · docs/guides/PUBLIC_DATA.md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the 85-table demo lake; the public-data packs</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r h="457200">
                <a:tc>
                  <a:txBody>
                    <a:bodyPr wrap="square"/>
                    <a:lstStyle/>
                    <a:p>
                      <a:r>
                        <a:rPr sz="1200" b="1" i="0">
                          <a:solidFill>
                            <a:srgbClr val="1C2433"/>
                          </a:solidFill>
                          <a:latin typeface="Calibri"/>
                        </a:rPr>
                        <a:t>docs/connectors/CONNECTOR_FILES.md · ICEBERG_CONNECTOR.md</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c>
                  <a:txBody>
                    <a:bodyPr wrap="square"/>
                    <a:lstStyle/>
                    <a:p>
                      <a:r>
                        <a:rPr sz="1200" b="0" i="0">
                          <a:solidFill>
                            <a:srgbClr val="1C2433"/>
                          </a:solidFill>
                          <a:latin typeface="Calibri"/>
                        </a:rPr>
                        <a:t>upgrades (2.9.5); Iceberg parity, Glue and S3 Tables (2.9.5)</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FFFFF"/>
                    </a:solidFill>
                  </a:tcPr>
                </a:tc>
              </a:tr>
              <a:tr h="457200">
                <a:tc>
                  <a:txBody>
                    <a:bodyPr wrap="square"/>
                    <a:lstStyle/>
                    <a:p>
                      <a:r>
                        <a:rPr sz="1200" b="1" i="0">
                          <a:solidFill>
                            <a:srgbClr val="1C2433"/>
                          </a:solidFill>
                          <a:latin typeface="Calibri"/>
                        </a:rPr>
                        <a:t>Drishti-AWS-Iceberg.pptx · Drishti-VaR-Engine.pptx</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c>
                  <a:txBody>
                    <a:bodyPr wrap="square"/>
                    <a:lstStyle/>
                    <a:p>
                      <a:r>
                        <a:rPr sz="1200" b="0" i="0">
                          <a:solidFill>
                            <a:srgbClr val="1C2433"/>
                          </a:solidFill>
                          <a:latin typeface="Calibri"/>
                        </a:rPr>
                        <a:t>the companion decks: Iceberg on AWS; the VaR engine</a:t>
                      </a:r>
                    </a:p>
                  </a:txBody>
                  <a:tcPr marL="64008" marR="64008" marT="32004" marB="32004" anchor="ctr">
                    <a:lnL w="6350">
                      <a:solidFill>
                        <a:srgbClr val="D5DBE5"/>
                      </a:solidFill>
                    </a:lnL>
                    <a:lnR w="6350">
                      <a:solidFill>
                        <a:srgbClr val="D5DBE5"/>
                      </a:solidFill>
                    </a:lnR>
                    <a:lnT w="6350">
                      <a:solidFill>
                        <a:srgbClr val="D5DBE5"/>
                      </a:solidFill>
                    </a:lnT>
                    <a:lnB w="6350">
                      <a:solidFill>
                        <a:srgbClr val="D5DBE5"/>
                      </a:solidFill>
                    </a:lnB>
                    <a:solidFill>
                      <a:srgbClr val="F3F5F9"/>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high-performance Delta lake for Drishti on AWS</dc:title>
  <dc:subject>Drishti 2.9.5: the Delta lake in S3, the risk lake, JSON Lines, bank scale; Delta the default, Iceberg an alternative</dc:subject>
  <dc:creator>Ashutosh Sinha</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
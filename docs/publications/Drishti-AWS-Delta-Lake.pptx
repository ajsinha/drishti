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7"/>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edition of the AWS Delta lake deck, brought up to Drishti 2.9.4.</a:t>
            </a:r>
          </a:p>
          <a:p/>
          <a:p>
            <a:r>
              <a:t>Sources: docs/architecture/AWS_DELTA_LAKE.md (unchanged in substance since 2.6.7 apart from the image tags), AWS_DEPLOYMENT.md, SCALE_STRATEGY.md, SUPER_SCALE.md, docs/connectors/DELTA_CONNECTOR.md, docs/admin/LAKE_MAINTENANCE.md, docs/admin/NET.md, docs/guides/DATA_FORMATS.md, docs/guides/VAR_GUIDE.md, docs/guides/EXPOSURE_GUIDE.md and the CHANGELOG from 2.6.0 to 2.9.4 (read from the local branch release-2.9.4 and the 2.9.4 VaR branch).</a:t>
            </a:r>
          </a:p>
          <a:p/>
          <a:p>
            <a:r>
              <a:t>Status words used throughout: BUILT = in the code and tested, shipped in a release up to 2.9.4; DESIGNED = documented as a design and not built (the docs say so); PROPOSED = a recommendation of this deck, not yet in the docs. MEASURED and ESTIMATED mark numbers. Nothing in this deck is 'in progress': the only design the product owner keeps open for VaR is scaling one VaR date out across a cluster of Drishti servers.</a:t>
            </a:r>
          </a:p>
          <a:p/>
          <a:p>
            <a:r>
              <a:t>No customer or bank is named; example account names (acme-…) are the docs' placeholders.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sections. 1 to 7 and 9, 11, 14, 15, 17 to 19 follow AWS_DELTA_LAKE.md section by section, updated to 2.9.4. New in this edition: Delta or Iceberg (1), the status of everything (3), JSON Lines as the data standard (8), S3 correctness and the simulators (10), the risk lake for VaR and exposure (12), bank scale at 1.3 million positions and 100,000 portfolios (13), the demo lake, public data and DATAMAP (16).</a:t>
            </a:r>
          </a:p>
          <a:p/>
          <a:p>
            <a:r>
              <a:t>A companion deck covers Apache Iceberg on AWS; this deck only points to it (slides 9 and 10).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Unchanged since the first edition and still the rule in 2.9.4 (AWS_DELTA_LAKE.md section 1; AWS_DEPLOYMENT.md section 8.1). What is new is what lives in the lake: the risk domains risk/ and risk-results/ (VAR_GUIDE.md 15.1, EXPOSURE_GUIDE.md 15.1), the public-data domains (us-equities, gleif, funds) and, since 2.9.4, JSON Lines copies of the official results beside the Delta tables (DATA_FORMATS.md section 4).</a:t>
            </a:r>
          </a:p>
          <a:p/>
          <a:p>
            <a:r>
              <a:t>Why S3: the product owner's requirement is super scalability and high performance. S3 gives request-rate scaling per prefix, tiered cost at 200 TB+, eleven-nines durability and Athena/Spark interop; EFS would cost 10–40x more and share one throughput budget (section 2).</a:t>
            </a:r>
          </a:p>
          <a:p/>
          <a:p>
            <a:r>
              <a:t>One caveat that is new since the first edition: the server's own lake writer (Drishti's Java LakeWriter, used by the official-results publishers and the Kafka intraday batches) writes local disk and EFS, never s3:// (AWS_DELTA_LAKE.md 8.2; VAR_GUIDE.md section 19: an s3:// root is recorded as publishError). Section 12 shows how those tables reach S3.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2.6.5 to 2.9.4 on release-2.9.4 and the 2.9.4 VaR branch: history queries H1–H14 (2.6.5); mixed Delta and Iceberg storage, gossip on its own port, HTTP/2 between nodes, lake maintain lays out the per-source tables, lake build one commit per business date (2.6.7); the content store with an s3 backend, S3 on three simulators, lake publish checks the store it commits to, us-equities and gleif on Delta, layout.&lt;kind&gt;.type-ahead, public-data refresh scripts (2.7.0); VaR computed for any scope, vector columns, the 7-year floor, published official results (2.8.0); exposure computed for any scope, exposure-path vectors, VaR and exposure in BI from the published results (2.9.0); the funds pack (2.9.2); DATAMAP (2.9.3); JSON Lines as the data standard, CSV input deprecated, official results as JSONL too, scenario PVs, intraday batches and Kafka micro-batches, the 84-table demo lake (2.9.4).</a:t>
            </a:r>
          </a:p>
          <a:p/>
          <a:p>
            <a:r>
              <a:t>Every row is BUILT. The slide numbers say where each is covered.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 words are those of the VaR engine deck (Drishti-VaR-Engine.pptx) so the two decks agree. The product owner's rule: everything shipped up to 2.9.4 is BUILT; among the VaR work only scaling one VaR date out across a cluster of Drishti servers is designed and not built (VAR_GUIDE.md section 28). Other designs are labelled DESIGNED only where their own documents say so (SUPER_SCALE.md: 'design, not built'; VAR_GUIDE.md 29.2: the bank-scale lake layout). PROPOSED marks this deck's own recommendations.</a:t>
            </a:r>
          </a:p>
          <a:p/>
          <a:p>
            <a:r>
              <a:t>Testing: tools/test_deploy_aws.py runs every deploy/aws script with --help and --dry-run against a fake settings file and an aws command that fails the test if called, renders all JSON templates, checks the lifecycle rules and that deploy/aws/env is git-ignored; tools/lake/test_publish.py; tools/lake/test_s3_simulators.py runs Delta on S3 and lake publish on moto 5.2.3 (new table, a day restated, a missing file refused, three publishes at once); the content store and the Iceberg engine on S3Mock and MinIO (TOOLS.md 4.12, CONTENT_STORE.md section 7). The first run in a real AWS account is still to do (AWS_DELTA_LAKE.md section 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AWS_DELTA_LAKE.md section 1 (the picture), updated to 2.9.4; and the two new slides on Delta or Iceberg.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 as in the first edition, with what 2.9.4 adds. Sources send JSON Lines (DATA_FORMATS.md: JSON Lines is the data standard since 2.9.4; CSV input is deprecated). The loader task runs load-day.sh per table under the table's EFS lock: sync the dumps to EFS scratch, lake build into a scratch Delta table, sync the data files to S3, lake publish one commit with an S3 conditional PUT, then CloudWatch metrics (Drishti/Lake).</a:t>
            </a:r>
          </a:p>
          <a:p/>
          <a:p>
            <a:r>
              <a:t>The servers read the lake with the native Delta engine (drishti-deltalake on drishti-lakeio: ranged GETs, footers cached) from DRISHTI_DELTA_ROOT=s3://…/lake; the VaR and exposure engines read the risk domain the same way (VAR_GUIDE.md 15.1). Drishti*net joins the servers: gossip on its own port and peer data over HTTP/2 since 2.6.7 (NET.md sections 4 and 7). EFS holds per-node state and caches, the loader's scratch and the table locks; never lake data.</a:t>
            </a:r>
          </a:p>
          <a:p/>
          <a:p>
            <a:r>
              <a:t>The risk lake's own flow (morning run, intraday batches, Kafka, official results) is drawn on slide 64.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 table, updated: the sources' dumps are JSON Lines (DATA_FORMATS.md); the servers also run the VaR engine (VAR_GUIDE.md section 24) and the exposure engine (EXPOSURE_GUIDE.md section 25) over the risk domain; Drishti*net has a gossip port and HTTP/2 (NET.md). The maintenance task applies the 7-year floor of the risk domains automatically (LAKE_MAINTENANCE.md: retention-floor).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decision of 2026-10-20 (DEMO_DATA.md, Mixed Delta and Iceberg storage): each source system's trades can be stored in Delta Lake or Apache Iceberg, chosen per system, so one installation proves that the connectors, history, search, the grouped pages and BI answer the same whatever the storage. Built in 2.6.7: tools/build_demo_lakes.py --store &lt;system&gt;=delta|iceberg; the connector file switches plugin (delta or iceberg) and keeps its name; the equality test tools/lake/stores_equality.py (five days of 1,000 trades a system, all-Delta against mixed) gives 18 answers the same: six trade pages, a 10-day history for each, two counterparty-trades pages, three searches and a BI model query.</a:t>
            </a:r>
          </a:p>
          <a:p/>
          <a:p>
            <a:r>
              <a:t>Both engines share drishti-lakeio (2.6.0): local disk and S3, byte ranges, the Parquet codecs and footer cache, an exclusive create on local disk and an S3 conditional PUT (If-None-Match: *) with a start-up probe.</a:t>
            </a:r>
          </a:p>
          <a:p/>
          <a:p>
            <a:r>
              <a:t>Where they differ on AWS today: deploy/aws/delta-lake/ (load-day.sh, lake publish, maintain.sh, the lifecycle rules) is Delta's; the streamed vector read (SourcePlugin.vectors, used by the VaR and exposure engines) is implemented by the Delta plugin (DeltaSourcePlugin), the interface's default returns false. So the risk lake stays on Delta. The companion deck covers Iceberg in depth.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Iceberg counterpart of this deck is a separate deck, Drishti-AWS-Iceberg.pptx ('Drishti on AWS with Apache Iceberg', docs/publications/ once published). It mirrors this deck section by section where Iceberg has a counterpart and adds the side-by-side comparison and a decision guide. This deck deliberately does not repeat its content.</a:t>
            </a:r>
          </a:p>
          <a:p/>
          <a:p>
            <a:r>
              <a:t>Sources for what Iceberg has, as built: DRISHTI_ICEBERG.md (built in 2.6.0, native engine the default, no Hadoop, conditional PUT on S3, REST catalogs with SigV4 for Glue), ICEBERG_CONNECTOR.md section 17 (10,000 trades a day: connector started in 0.6 s against 1.8 s for the library; a trade read in 54 ms median against 75 ms), ICEBERG_EXTERNAL_CONNECTOR.md (read-only for tables Spark, Flink, Trino, Snowflake, Glue or dbt write).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AWS_DELTA_LAKE.md section 2. Unchanged in substance since the first edition.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2, unchanged. List prices, one Region, estimates. At 200 TB+ EFS costs 10–40x more and shares one throughput budget. Drishti's reads are built for object storage: one day's files, one row group of one file, by byte ranges (DELTA_CONNECTOR.md section 2: never load a day). The same answer holds for Iceberg (the companion deck) and for the risk lake: its reads are whole columns of one date, streamed (VAR_GUIDE.md 29.3).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AWS_DELTA_LAKE.md section 3, rewritten for 2.9.4 with the status words of slide 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3 'built' rows, all still true in 2.9.4, plus the 2.6.7 fix to lake maintain (CHANGELOG 2.6.7: 'lake maintain lays out the per-source trade tables': it now finds the layout of the connector whose table it is, and relayout keeps business_date and PRODUCT_TYPE partitions; test_maintain.py). AWS_DELTA_LAKE.md 9.3 still describes the lookup before that fix; see slide 52. The scripts are built and dry-run tested; the first run in a real AWS account is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CHANGELOG between 2.6.5 and 2.9.4 and is built. Sources per row: HISTORY_QUERIES.md and DELTA_CONNECTOR.md section 8; DEMO_DATA.md mixed storage; NET.md sections 4 and 7; CONTENT_STORE.md section 7 and TOOLS.md 4.12; VAR_GUIDE.md 15.1, 19, 29.3 and 8.4; EXPOSURE_GUIDE.md 15 and 20; DATA_FORMATS.md; USER_GUIDE.md 'The data map'.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items whose documents say 'design' or 'planned, not built' are here. SUPER_SCALE.md opens with 'Status: design, not built. Release not decided (product owner, 2026-10-20)'; its steps S1–S8 are section 22. VaR sharding: VAR_GUIDE.md section 28 'The mechanism is not in place … each server holds whole dates' (the product owner's one open VaR design). The bank-scale vector layout: VAR_GUIDE.md 29.2 ('none of these is built; the sort and the partition by scenario set remain planned; file sizing is open question 7').</a:t>
            </a:r>
          </a:p>
          <a:p/>
          <a:p>
            <a:r>
              <a:t>AWS_DELTA_LAKE.md relies on S1, S2 and S5–S6 as 'planned'; this deck labels them DESIGNED to match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this deck's recommendation, derived from facts in the docs:</a:t>
            </a:r>
          </a:p>
          <a:p>
            <a:r>
              <a:t>1. NET.md section 4 'The firewall': with gossip-port auto the port changes at each start; between machines behind a firewall set a number and open it. AWS_DEPLOYMENT.md's security groups open only 18480 between nodes, so on ECS gossip falls back to the server port and loses the isolation 2.6.7 added.</a:t>
            </a:r>
          </a:p>
          <a:p>
            <a:r>
              <a:t>2. VAR_GUIDE.md section 19 and the exposure guide: the publishers write with Drishti's Java lake writer; an s3:// root is not published (publishError). Writing official results to an EFS root and copying each commit with lake publish keeps S3 the single lake.</a:t>
            </a:r>
          </a:p>
          <a:p>
            <a:r>
              <a:t>3. The 2.6.7 relayout fix makes compaction safe for the per-source tables; AWS_DELTA_LAKE.md 9.3 and lake-maintenance.s3.yaml still say compact: false.</a:t>
            </a:r>
          </a:p>
          <a:p>
            <a:r>
              <a:t>4. EXPOSURE_GUIDE.md 15.3 calls its sort and partition 'proposed'; VAR deck slide 13 proposed the node and portfolio vector table and the change data feed.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AWS_DELTA_LAKE.md section 4. The scripts have not changed since the first edition apart from the image version; what 2.9.4 changes around them is noted on steps 7, 8, 9 and 10.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Every script is bash with the AWS CLI v2, reads deploy/aws/env (git-ignored; env.example has placeholders only), has --help and --dry-run, and is safe to run again. Steps 0 to 11 in order; steps 6 to 9 are the ECS part (AWS_DEPLOYMENT.md).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0; AWS_DEPLOYMENT.md section 11.3 for the four secrets. The platform team builds these with its own CloudFormation or Terraform; the Drishti scripts take their ids from deploy/aws/env. New since 2.6.0: if the content store's s3 backend is chosen (CONTENT_STORE.md, config/store/store.yaml), its bucket or prefix needs the same conditional-write guarantee as the lake (step 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 deploy/aws/env is git-ignored and holds account ids and names, never a secret; a script run with a placeholder left names it and stops. The tables file has seven fields per line. The risk tables (risk/pnl-vector, risk/scenario-pv, …) come from the bank's risk batch (VAR_GUIDE.md 15.8) and can be listed the same way when the batch drops JSON Lines in the landing bucket.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2 and section 5.1. Idempotent: run again, it says the bucket exists, keeps it and applies the same settings. --dry-run prints each changing call as '+ aws …' and each read as '? aws …', none made.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3; deploy/aws/delta-lake/iam/. Trust policies: iam/ecs-tasks-trust.json (task roles), iam/scheduler-trust.json (the scheduler role). A policy that exists gets a new default version.</a:t>
            </a:r>
          </a:p>
          <a:p/>
          <a:p>
            <a:r>
              <a:t>Consequence for the risk lake (this deck): the server task role reads the lake and never writes it, so anything the server itself writes (official results, Kafka intraday batches) goes to a local or EFS root, not s3:// (slide 65).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4 and section 8.2. A Delta commit is the creation of _delta_log/&lt;version&gt;.json; two writers must never both create the same version. deltalake 1.x writes commits with a conditional PUT and has no DynamoDB lock store.</a:t>
            </a:r>
          </a:p>
          <a:p/>
          <a:p>
            <a:r>
              <a:t>New since 2.6.0: the same guarantee is used by drishti-lakeio's S3 conditional PUT (with a start-up probe) for the native Iceberg engine, and by the content store's s3 backend (If-None-Match for a create, If-Match on the ETag for an update; 412 or 409 becomes DRS-5057). The simulators that test this are on slide 54.</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5 and 9.4. The 129 rules: three tables from 2019, one rule per table per month still moving, one per table per year already in Glacier IR, three base rules. S3 allows 1,000 rules and the script refuses more (about 30 tables over seven years).</a:t>
            </a:r>
          </a:p>
          <a:p/>
          <a:p>
            <a:r>
              <a:t>Risk lake (this deck): the risk tables keep 7 years of dates and time travel (LAKE_MAINTENANCE.md), so their old months are in Glacier Instant Retrieval: millisecond reads, so an old official number can still be recomputed. The lifecycle rules are generated from the tables file, so risk tables added there get rules like any other table.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6; AWS_DEPLOYMENT.md's identical-path rule: every path a container writes maps to the identical path on EFS. Every access point runs as uid/gid 10001 (the image's user); 3 × 3 + 3 + 1 + 1 = 14. Idempotent: the access point's name is its client token, so running again returns the same ids.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7 (Cloud Map), NET.md sections 2, 4 and 7 (2.6.7).</a:t>
            </a:r>
          </a:p>
          <a:p/>
          <a:p>
            <a:r>
              <a:t>Address rule (2.6.0): advertise-url and seed urls that are localhost, 127.x, ::1, 0.0.0.0 or :: are refused; without advertise-url a node advertises the machine's primary IPv4 (on ECS the task's own address).</a:t>
            </a:r>
          </a:p>
          <a:p/>
          <a:p>
            <a:r>
              <a:t>Gossip port (2.6.7): node.yaml gossip-port auto (default), a number, or off; a second Tomcat connector with its own acceptor and eight platform threads serving only gossip, probes and digests. NetGossipBusyTest: with every node's request threads saturated for 12 s, no suspicion (with gossip-port off every node suspected both peers); a node that died was suspect after 3.0 s and dead after 7.0 s. A gossip port that cannot be reached falls back to the server port for 5 minutes with one warning.</a:t>
            </a:r>
          </a:p>
          <a:p/>
          <a:p>
            <a:r>
              <a:t>HTTP/2 (2.6.7): routing.yaml peer-protocol http2 (default) multiplexes forwarded views, peer documents, scatter-gather, peer history, state sync and the live relay over one connection per peer (h2c on plain HTTP, ALPN on TLS). NetPeerProtocolBench (64 users, forwarded views, warm): 1 connection instead of 227, p99 117 ms instead of 370 ms.</a:t>
            </a:r>
          </a:p>
          <a:p/>
          <a:p>
            <a:r>
              <a:t>The proposal (fixed gossip port and a security-group rule) is this deck's: AWS_DEPLOYMENT.md's drishti-node group opens only 18480 between nodes.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8 (its example tags still say 2.9.2; this deck shows the current release, 2.9.4). Java 25: --build-arg BASE_IMAGE=eclipse-temurin:25-jre (AWS_DEPLOYMENT.md). Loader tasks read the same settings (DRISHTI_AWS_ENV=/opt/drishti/app/deploy/aws/env); rebuild the loader image when the settings change. The build context is the repository root.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9. Every shipped Delta connector's root is ${DRISHTI_DELTA_ROOT:…}; that includes the market-risk pack's risk-store (VAR_GUIDE.md 15.1), the counterparty-risk pack's exposure-store (EXPOSURE_GUIDE.md 15.3) and the BI connectors over risk-results (var-results, exposure-results). So the node task's DRISHTI_DELTA_ROOT=s3://&lt;lake bucket&gt;/lake points every reader at the lake in S3 with no edit. The publishers' root (drishti.var.official.root, the exposure equivalent) defaults to the same root and cannot write s3:// (slide 65).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10 and 8.1. Since 2.9.4 the dumps are JSON Lines (one object a line, UTF-8, .jsonl or .jsonl.gz; DATA_FORMATS.md); lake build still reads JSON arrays, and a CSV export is converted first with drishti.py convert. The same runs on ECS as the loader task.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11, sections 11.3 and 11.4. 17 alarms for three tables: four per table, two for the bucket and EFS, one per node. All notify ALARM_SNS_TOPIC_ARN. report.sh is scheduled daily and sends its numbers to CloudWatch.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AWS_DELTA_LAKE.md section 5, with the 2.9.4 domains (VAR_GUIDE.md 15.1, EXPOSURE_GUIDE.md 15.1, DEMO_DATA.md).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5.1. Versioning on, with a short noncurrent window: Delta keeps its own history (time travel back to the vacuum window), so versions are a safety net, not history. A file deleted by mistake stays recoverable for NONCURRENT_KEEP_DAYS (14).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5.2 for the documents' tables; VAR_GUIDE.md 15.1 and EXPOSURE_GUIDE.md 15.1 for the risk lake (one table per kind under domain risk, partitioned by business_date; exposure-path also by run_id in the guide's tree, RUN_ID a column as built); DATA_FORMATS.md section 4 for risk-results/jsonl. Tables by year (S2) are DESIGNED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5.3. Risk lake (VAR_GUIDE.md 15.1 as built): business_date only, rows sorted by id per batch of at most 50,000 (--batch-rows); the design's partition by scenario set and sort by hierarchy are DESIGNED (VAR_GUIDE.md 29.2). Exposure paths: business_date only as built, RUN_ID a column; partition by run and sort by netting set PROPOSED in EXPOSURE_GUIDE.md 15.3.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AWS_DELTA_LAKE.md section 6 and DELTA_CONNECTOR.md section 4, with the vector columns of 2.8.0 and the type-ahead columns of 2.7.0.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6; VAR_GUIDE.md 15.1 'The physical table' (tools/lake/writers.py): id STRING, doc STRING, business_date DATE, the promoted columns (DOUBLE when every value is a number, else STRING) and the vector columns of layout.&lt;kind&gt;.vectors (list&lt;double&gt;; the document keeps the marker {"$vector": "PNL"} in their place). Since 2.9.0 the lake writer also writes float32 vector columns (vector32) and the Delta reader reads list&lt;float&gt;, widened exactly (EXPOSURE_GUIDE.md 15.3). layout.&lt;kind&gt;.type-ahead (2.7.0, DELTA_CONNECTOR.md section 4): promoted paths the type-ahead also matches.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6 table, updated: history queries (2.6.5, DELTA_CONNECTOR.md section 8: days() lists the snapshot's business_date partitions whose id map holds the entity; only those days are read, eight at once); type-ahead names (2.7.0); vector streaming (2.8.0, VAR_GUIDE.md 29.3: SourcePlugin.vectors streams a date's vectors one buffer per read, reused for every row; through Delta Kernel's list reader).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 AWS_DELTA_LAKE.md section 7, unchanged; lake build's one commit per business date (2.6.7) added.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7.1. Risk domains: lake build creates their tables with delta.logRetentionDuration and delta.deletedFileRetentionDuration of 2,557 days (7 years), and lake maintain never vacuums them below that (LAKE_MAINTENANCE.md; VAR_GUIDE.md 15.1).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7.2. lake build sorts each partition (date × product type) that fits one batch (--batch-rows, LAKE_BATCH_ROWS, 250,000); a larger one is written in the dumps' order and load-day.sh warns. Memory: about rows × average document size × 3; 250,000 trades of 10 KB need about 8 GB; the loader task has 30 GB. Since 2.9.4 bulk_trades.py writes each day's JSONL in id order (DELTA_CONNECTOR.md section 5), which is remedy 1 for the demo's scale tests. S1 is DESIGNED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7.3. One commit per table per day means about 1,500 commits a year per table including maintenance (section 12.1). CHANGELOG 2.6.7: lake build and lake demo with the deltalake writer make one commit per business date (every partition of the date in it; one per partition only with overwrite-partitions) and a checkpoint every ten commits; sixty days of trade_endur (five product types) were 300 commits replaying the whole log (98 s on Linux), now 60 commits. Intraday risk batches are the exception: one appended commit per batch (slide 64).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 is new: docs/guides/DATA_FORMATS.md (new in 2.9.4) and the CHANGELOG entries 'JSON Lines is the data standard: the generators', 'CSV input deprecated; drishti.py convert', 'JSON Lines on every server export', 'JSON Lines in every console download and CLI export', 'Official results as JSON Lines too', 'The guard of the data standard'.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sections 1 and 2. One JSON object per line, UTF-8, .jsonl or .jsonl.gz; no array, no commas, a blank line skipped; a document may be as deep as it likes on its line. Generating and loading are separate steps: make_trades.py writes trades-&lt;date&gt;.jsonl.gz, then lake build loads them. make_data.py --lake, samplegen/lake.py and the pack generators write dated lake rows (&lt;name&gt;-history.jsonl and the restatement &lt;name&gt;-restated.jsonl) and load_rows.py loads them; the lake is byte-for-byte the same data as before (every table's rows and Delta versions compared, CHANGELOG 2.9.4). bulk_trades.py writes one JSONL file a day in id order and loads each with lake build.</a:t>
            </a:r>
          </a:p>
          <a:p/>
          <a:p>
            <a:r>
              <a:t>On AWS this is exactly the landing bucket's contract: the sources write &lt;date&gt;/&lt;source&gt;/*.jsonl.gz and load-day.sh loads them.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sections 3 to 5. Readers keep what they accept: lake build, build_demo_lakes.py, data ingest and the Java loaders read JSON Lines and JSON arrays (gzipped or not). CSV input is deprecated and will be removed in a later release; today only the file connector reads CSV feed files, logging one warning per file and naming them in Admin → Health. drishti.py convert FILE [--out X.jsonl] [--rows-document] turns CSV, a JSON array (streamed), one object, gzip or a folder of &lt;id&gt;.json into JSON Lines.</a:t>
            </a:r>
          </a:p>
          <a:p/>
          <a:p>
            <a:r>
              <a:t>Out: every export offers JSON Lines beside CSV, Excel, PDF and PNG (server API, console, CLI); media type application/jsonl. The guard: tools/test_generators_write_jsonl.py and tools/test_exports_offer_jsonl.py run in the drill. Storage internals stay as they are: Delta and Iceberg Parquet, the BI store, the hot files, Arrow between server and Python.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 4; CHANGELOG 2.9.4 'Official results as JSON Lines too': VaR and exposure still publish to Delta (risk-results/var-official, exposure-official, exposure-official-cpty) and also write each published date as JSON Lines beside the tables: &lt;root&gt;/risk-results/jsonl/&lt;table&gt;/&lt;date&gt;/&lt;table&gt;-v&lt;table version&gt;.jsonl, one row a line, one file per commit (a restatement is a new file). Settings drishti.var.official.jsonl and drishti.ccr.exposure.official.jsonl, on by default. In the content store the row lists are JSONL too (var/official/&lt;date&gt;-membership-v&lt;n&gt;.jsonl, exposure/official/&lt;date&gt;-trades-v&lt;n&gt;.jsonl); records written before 2.9.4 keep their .json and are read as they are (append-only).</a:t>
            </a:r>
          </a:p>
          <a:p/>
          <a:p>
            <a:r>
              <a:t>On AWS: like the Delta table, the JSONL files are written under the publisher's root, which must be local or EFS (slide 65).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9: AWS_DELTA_LAKE.md section 8, unchanged in substance; the dumps are JSON Lines since 2.9.4.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8.1. The date defaults to today in LOAD_SCHEDULE_ZONE: an evening load in New York is already the next day in UTC. Exit codes: 0 every table published; 2 published with rejected documents (the summary says which); 1 a table failed, its S3 table unchanged; 3 a table was locked.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8.1; DATA_LOADS.md. With DRISHTI_SIGNAL_URL (a node's Cloud Map name) and DRISHTI_TOKEN_SECRET_ID (an API token with loads:write in Secrets Manager, read into a 0600 file for the run), lake publish sends POST /api/v1/packs/{pack}/loads per date. Since 2.8.0 the signal of a risk input kind (pnl-vector, scenario-set, risk-hierarchy, portfolio, scenario-pv, or trade) also drops the date from the VaR engine and captures it officially; an exposure-path signal reloads the exposure engine (VAR_GUIDE.md 15.8, EXPOSURE_GUIDE.md 15.4). An intraday batch's signal is applied on top of the loaded date (VAR_GUIDE.md 8.4). Since 2.6.7 a storm of signals no longer drives the server out of memory (QA3A-01) and reads queue at most max-queued-reads (4096).</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8.2. lake publish and lake maintain use Python deltalake 1.x: a conditional PUT of the commit file (If-None-Match: *); the second writer gets 412, re-reads the log and retries (--commit-retries, 20). AWS_S3_ALLOW_UNSAFE_RENAME=true is refused. Drishti's Java writer (lake build and the server's publishers) commits on local disk and EFS only, by a hard link of a finished commit file. The native Iceberg writer (drishti-lakeio) uses the same conditional PUT with a start-up probe. CHANGELOG 2.7.0: with --storage-option AWS_ENDPOINT_URL=… (MinIO, another S3-compatible store) lake publish now checks the files on that endpoint, as the commit does; it used to ask AWS S3 and fail (ACCESS_DENIED). moto's test: three publishes at once, one winner per version (TOOLS.md 4.12).</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8.3 and 8.4. Restatement: readers switch to the restated day at the commit; known at before the commit still shows the day as it was, for LAKE_VACUUM_HOURS (7 years for risk). Data files of an old restated day move to its tier at the next lifecycle run (rules are by date). DATA_FORMATS.md: a restatement is a second file of lake rows (&lt;name&gt;-restated.jsonl) whose rows replace the rows of the same id on their date, as a second commit, so known at shows the correction. Risk: a restated VaR date gets the next RESULT_VERSION in the official results, the earlier kept (VAR_GUIDE.md section 19).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10 is new: CONTENT_STORE.md (sections 2 and 7), TOOLS.md 4.11 and 4.12, CHANGELOG 2.7.0 'Tests: S3 on three simulators, no Docker', 'Fix: lake publish checked the files on AWS, not on the store it commits to', 'New: the content store, and Designs on every node of a cluster', 'New: BI content and BI runs on every node of a cluster'.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CONTENT_STORE.md: one small interface (get, compare-and-set put, list, delete, changes) with four backends chosen in config/store/store.yaml: filesystem (default, data/fstore; a shared mount on a cluster), sqlite and postgres (table drishti_content, in the two complete schema files) and s3 (objects &lt;prefix&gt;/items/&lt;key&gt;; the version is the ETag; create with If-None-Match: *, update with If-Match: &lt;etag&gt;; 412 or 409 answers DRS-5057; a delete compares the ETag and writes a tombstone; changes lists by LastModified). Works with AWS S3 and stores that honour the headers, such as MinIO.</a:t>
            </a:r>
          </a:p>
          <a:p/>
          <a:p>
            <a:r>
              <a:t>What lives there (2.7.0 to 2.9.4): Build workbench Designs, BI workspaces, items, versions and BI runs (a dead node's unfinished run adopted by exactly one node through a compare-and-set lease), data-load overrides, connector edits, collaboration, the VaR and exposure captures and official records (VAR_GUIDE.md section 19). On ECS: s3 or postgres need no shared disk; filesystem needs EFS mounted at the same path on every node.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TOOLS.md 4.12 and CONTENT_STORE.md section 7. Each suite first probes its simulator (com.ash.drishti.testkit.s3.ConditionalWrites: a second If-None-Match create, a stale If-Match put, a stale If-Match delete, then eight racing creates five times) and prints one line, then skips what it does not honour. Results so far: S3Mock honours create-only, update-if-match and delete-if-match but lets two racing creates both win; moto honours all three and its racing creates have one winner. MinIO no longer serves its community binaries (410 Gone), so the MinIO tests skip saying so unless DRISHTI_MINIO_BIN points at a binary. The drill runs all three (Java in verify, Python with uv).</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 AWS_DELTA_LAKE.md section 9 and LAKE_MAINTENANCE.md, updated for the 2.6.7 relayout fix and the 2.8.0 retention floor.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9.1 and deploy/aws/delta-lake/lake-maintenance.s3.yaml. --force-foreign: lake maintain maintains only tables lake build built in that location and treats every s3:// table as foreign; the S3 tables are Drishti's (lake publish wrote them from lake build's output), so the script overrides the rule, prints its warning and marks the runs forced.</a:t>
            </a:r>
          </a:p>
          <a:p/>
          <a:p>
            <a:r>
              <a:t>The 7-year floor (2.8.0, LAKE_MAINTENANCE.md): tables of the domains risk and risk-results keep 7 years of business dates and time travel whatever their settings say: a lower vacuum-hours or keep-business-days is raised to 61,368 hours and 1,827 business days and reported as retention-floor; retain-years per domain changes it. Note: LAKE_KEEP_BUSINESS_DAYS defaults to 1,800, so on the risk domains the floor (1,827) applies.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9.2 and DELTA_CONNECTOR.md section 10. Never Glacier Flexible Retrieval or Deep Archive: their objects need a restore of hours before a read; never an S3 expiry of current lake objects (removing a file a table version still names breaks the table). Only lake maintain removes table files; S3 then keeps the noncurrent versions 14 days. The risk domains' floor keeps 7 years of dates and of removed files, so their time travel reaches back 7 years (VAR_GUIDE.md 15.1).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9.3 says compact is off because lake maintain found no layout for the per-source tables (trade_endur) and would run a plain compaction out of id order. CHANGELOG 2.6.7 'Fixed: lake maintain lays out the per-source trade tables': it now finds the layout of the connector whose table it is, and relayout keeps a table's own partitions (business_date and PRODUCT_TYPE) and checks each of them (test_maintain.py). AWS_DELTA_LAKE.md 9.3 and lake-maintenance.s3.yaml (compact: false) were not updated after the fix: a documentation follow-up.</a:t>
            </a:r>
          </a:p>
          <a:p/>
          <a:p>
            <a:r>
              <a:t>This replaces the first edition's 'open finding' (decision 3 of its last slide), which is done. Re-enabling compaction on S3 after a relayout test there is this deck's proposal.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9.4. Costs to know: Standard-IA keeps an object at least 30 days, Glacier IR 90 days; a restatement of a tiered day pays the rest of that minimum on the files it replaces. Reads from Standard-IA about USD 0.01/GB, from Glacier IR about USD 0.03/GB.</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LAKE_MAINTENANCE.md: one engine, tools/lake/maintain.py; Admin → Data loads → Lakes (/admin/lakes) runs it in the console and drishti.py lake maintain from a terminal, cron or a container; both read and write &lt;data&gt;/lakes/lake-maintenance.yaml and keep the same history (maintenance-history.jsonl, the last 2,000 runs). The ownership rule: Drishti maintains only the tables its own lake build built (&lt;lake&gt;/_drishti-lake/tables-built.json); a foreign table is listed read-only and refused unless --force-foreign (the page never offers it). One run at a time per lake; each run takes the lake tool's lock exclusively. After a run each changed table built for a pack sends the data-load signal. Schedules: at a time (cron in the schedule zone) or after every build of the table; a missed run runs once at the next start.</a:t>
            </a:r>
          </a:p>
          <a:p/>
          <a:p>
            <a:r>
              <a:t>On AWS the EventBridge schedule runs maintain.sh; run schedules in one place only (DRISHTI_LAKE_MAINTENANCE_SCHEDULES=false on the console when the daemon or EventBridge runs them).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is new. Sources: VAR_GUIDE.md (2.9.4) sections 8.4, 15, 19, 26, 29; EXPOSURE_GUIDE.md sections 15, 20, 27; LAKE_MAINTENANCE.md (7-year floor); DATA_FORMATS.md section 4; the VaR engine deck (Drishti-VaR-Engine.pptx) slides 5, 8, 11 to 13, whose status words and sizing this section follows.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15.1 (the market-risk pack's connector risk-store, plugin delta, root ${DRISHTI_DELTA_ROOT:…}, domain risk; one table per kind; promoted columns: pnl-vector 23, scenario-pv 24; vector columns PNL and SCENARIO_PV; fx-scenario keeps RATES in the document); 15.9 (scenario-pv and fx-scenario, 2.9.4); EXPOSURE_GUIDE.md 15.1 to 15.3 (simulation-run, exposure-path with the vector column MTM, served by exposure-store); section 19 and EXPOSURE_GUIDE.md 20 (the published tables, read only by the BI connectors var-results and exposure-results as the computed kinds var-official VOFF and exposure-official-cpty XOFC).</a:t>
            </a:r>
          </a:p>
          <a:p/>
          <a:p>
            <a:r>
              <a:t>Positions are not a table: Drishti derives them when it loads a date (VAR_GUIDE.md 15.6). The guard test tools/test_contracts.py fails the build when anything but a read-only Delta connector of computed kinds points at risk-results.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29.1 to 29.3. The design compared four layouts for 2 million rows × 509: long (a row per position × scenario, about 9–11 GB a date, a group-by over hundreds of millions of rows), wide (509 columns, schema coupled to the scenario count, footer bloat), vector (list&lt;double&gt;, chosen) and blob (opaque bytes, unreadable by other tools). As built: lake build --vector and both writers write list&lt;double&gt; (pyarrow pa.list_(pa.float64()); type vector in the Java LakeWriter), the document keeps {"$vector": "PNL"}; the Delta plugin streams a date's vectors (SourcePlugin.vectors, VectorSink) one buffer per read, reused for every row, through Delta Kernel's list reader; Snappy and default encodings. Before 2.8.0 the arrays were in the doc JSON: about 5 KB of text per vector, 10 GB of JSON a date at bank scale. Test: DeltaVectorColumnTest and tools/lake/test_vectors.py (JSON Lines → Delta → double[] → document equal to the bit). Exposure (2.9.0): list&lt;float&gt; read too, widened exactly; vector32 written. Only the Delta plugin implements vectors(): VaR and exposure inputs on Iceberg are not built (the companion deck lists them as PROPOSED).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15.8 (cadence and the load signal), 8.4 'Intraday updates, as built (2.9.4)' and 'Intraday updates from Kafka, as built (2.9.4)'. Morning: RUN_KIND FULL, every live trade, one BATCH_ID; lake build replaces the date; the signal reloads the date and the official capture follows. Intraday files: only changed trades, RUN_KIND INTRADAY, own BATCH_ID, a later COMPUTED_AT, appended (lake build --mode append; drishti.py var intraday --load FILE); the row id is the morning id with the batch. Kafka: the market-risk pack's connector pv-updates (plugin var-pv-stream, off by default, DRISHTI_VAR_PV_STREAM=true) reads the PV topic; each message is JSONL text; everything received in drishti.var.intraday.kafka.window (5m) keeps the latest COMPUTED_AT per trade and is appended to the lake as ONE intraday batch (BATCH_ID K-&lt;date&gt;-&lt;time&gt;-&lt;n&gt;) by Drishti's lake writer, then applied after one data-load signal; earlier at max-trades (500) or an administrator's Apply now. The lake is the record: a restart rebuilds the intraday layer from the lake; replaying the topic writes nothing twice. Measured: VarIntradayApiTest, 200 batches of 3 trades: equal to the same data loaded as one run, to the cent, on every node; batch time does not grow; the lake's 1-second refresh dominates. Sizing from the guide: a record is 4–8 KB, so 10,000 updates a day are 40–80 MB on the topic.</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Facts: lake build and Drishti's Java writer write local disk or EFS only; lake publish commits a built table into S3 with --mode overwrite-dates (default), overwrite-partitions or append, creating a new table with --log-retention-days (30) and --deleted-file-retention-days (7) unless told otherwise (TOOLS.md 4.11). The official-results publishers use Drishti's lake writer; drishti.var.official.root defaults to ${DRISHTI_DELTA_ROOT}; 'an s3:// root is not published by this writer' (EXPOSURE_GUIDE.md section 12; VAR_GUIDE.md section 19: the failure is recorded as publishError in the date's record and logged, the capture stands). The Kafka stream's batches are appended by the same writer to its lake (default ${DRISHTI_DELTA_ROOT}).</a:t>
            </a:r>
          </a:p>
          <a:p/>
          <a:p>
            <a:r>
              <a:t>So with the whole lake in S3: morning runs and intraday files load through the loader task like any table (BUILT tools); the official results and the Kafka batches need a writable root. The two right-hand boxes are this deck's proposals; they use only built tools (lake publish with --mode append and its retention options). Consistent with the companion Iceberg deck: official results on Delta, local or EFS root: BUILT; to S3: PROPOSED.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section 19: official captures of every node of MGMT and LEGAL (88 nodes in the test data) after the data-load signal of an input kind, at start for the newest date without a record, or by an administrator; one capture at a time; unchanged inputs not captured again; a restatement gets the next result version, the earlier kept. Published by VarPublisher, one Delta commit per run, created delta.appendOnly with 7 years of log and removed files (interval 2557 days). Columns: business_date (partition), id, doc, HIERARCHY, NODE_ID, NODE_NAME, PARENT_ID, LEVEL, CAPTURE_ID, RESULT_VERSION, INPUT_VERSIONS, COMPUTED_AT, CONTRACT_VERSION, VAR, ES, CONFIDENCE, ES_CONFIDENCE, SCENARIO_SET_ID, STANDALONE_SUM, DIVERSIFICATION, HYPO_PNL, LIMIT, LIMIT_USE, TRADE_COUNT, POSITION_COUNT, EXCEPTIONS_250, TRAFFIC_LIGHT. No vectors and no trade or position rows are published. Exposure (EXPOSURE_GUIDE.md 20): exposure-official (hierarchy nodes) and exposure-official-cpty (netting sets, counterparties, groups) with CE, EPE, EEPE, PEAK_EE, PEAK_PFE_95/99, EAD_IMM and the profile as JSON text. BI (2.9.0): var-official (VOFF) and exposure-official-cpty (XOFC), the reports Market risk: VaR and Counterparty risk; no measure sums VaR.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EXPOSURE_GUIDE.md 27.2 (sizes) and 27.3 (seven-year retention: the product owner decided 7 years for VaR's input vectors; for exposure paths that is about 3.5 PB at a large bank; the tiers proposed were accepted on 2026-10-26 and built in 2.9.0 as the settings drishti.ccr.exposure.retention: trade-paths-days 20, trade-paths-month-end-years 1, set-matrices-years 1, set-matrices-month-end-years 7, statistics-years 7, trade-contributions-years 7). Under the tiers the standing storage is about 150 TB at full size instead of 3.5 PB; at P = 2,000 and G = 50 every number is a fifth. The trade paths are the lake owner's: GET /api/v1/exposure/retention lists each date held and whether its paths are beyond their window. Partition by run and sort by netting set, 512 MB files, BYTE_STREAM_SPLIT + ZSTD: proposed in EXPOSURE_GUIDE.md 15.3.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is new and follows the VaR engine deck's sizing (Drishti-VaR-Engine.pptx slides 11 to 13) so the two decks agree: the same per-date arithmetic, the same measured points, the same status words. ESTIMATED means scaled linearly from measured 100,000-trade figures or computed from the formula given; not measured at 1.3 million.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as in the VaR deck slide 12 notes (all decimal GB): 1,300,000 × 509 × 8 bytes = 5.29 GB per date per currency in float64; Parquet about 0.75 × raw (the design's estimate, VAR_GUIDE.md 27.4) ≈ 4.0 GB; × 252 business dates ≈ 1.0 TB a year; ≈ 7 TB over the 7 years kept. A system sending scenario PVs instead sends one 509-vector per row as well (plus the base PV), so the size order is the same; one system sends one form and grain per date (DRS-5210), never both. 100,000 portfolio definitions are 100,000 small rows a date in risk/portfolio; storing every portfolio's vector would be 100,000 × 509 × 8 B = 407 MB a date a currency (PROPOSED in the VaR deck; today only captures keep a vector). Intraday: a 5-minute Kafka window is at most 12 appended commits an hour on a risk table (arithmetic); a record is 4–8 KB, so 10,000 updates a day are 40–80 MB (VAR_GUIDE.md 8.4). Official results: one row per hierarchy node per date and version (88 in the demo; the design's reference bank has 5,000 nodes, VAR_GUIDE.md 27.4). The documents' lake past 200 TB is AWS_DELTA_LAKE.md 12.1 (slide 88).</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grid as the VaR deck slide 13, restricted to the lake. BUILT: partition by business_date with whole-date replace and intraday appends (VAR_GUIDE.md 15.1, 8.4); the vector column (29.3); 7-year time travel and restatement as a new commit (15.1, 29.2); checkpoints and lake maintain (LAKE_MAINTENANCE.md); append-only official results with JSONL beside (19; DATA_FORMATS.md 4); reading Delta from S3 (AWS_DELTA_LAKE.md). DESIGNED: the bank-scale layout (sort by legal entity, desk, book; ZSTD and byte-stream split; ~512 MB files; partition by scenario set: VAR_GUIDE.md 29.2, 'none of these is built'); VaR sharding (28). PROPOSED (VaR deck): Z-order or liquid clustering by book and portfolio; a published node and portfolio vector table; the change data feed; and (this deck) official results to S3 through lake publish.</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DELTA_CONNECTOR.md section 11: measured by hand on 2026-10-01 on a developer workstation (24 cores, server heap limit 15.6 GB), the trading pack's lake with 1,000,000 trades a day over three business days, over HTTP from the same machine. The search figures were measured in 2.2 with camel-case fields; today's equivalents use UPPER_SNAKE fields; not re-measured for 2.3. Section 8: a table of 1,800 business days and 7,200 files: start-up 729 ms; a trade on 2019-12-05 22 ms; on 2022-06-15 13 ms; the file list re-read 84 ms; an old day's columns 13 ms.</a:t>
            </a:r>
          </a:p>
          <a:p/>
          <a:p>
            <a:r>
              <a:t>Why it matters at 1.3 million positions: the trades behind the positions are read with the same paths; the measured million-a-day figures are the closest real points. Above that the SUPER_SCALE design (DESIGNED) takes over.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 deck slide 12 and VAR_GUIDE.md 27.3, 27.4, 26 and 12. Measured (VarTierBenchmark, 100,000 trades × 5 dates, one workstation: 24 threads, 61 GB, JDK 25, NVMe): first load 0.8–1.2 s per date after the lake read; reopening a date from its hot file 23 ms; a node 0.48 ms; the whole bank from float32 rows 3.4 ms (≈ 60 GB/s); hot file 237.7 MB per 100,000; heap ≈ 80 MB per open date. Scaled × 13 for 1.3 million: hot file ≈ 3.1 GB a date, first load ≈ 10–16 s, reopen ≈ 0.3 s, whole bank resident ≈ 45 ms, cold from NVMe ≈ 0.9 s; USD hot files for disk-dates 60 ≈ 185 GB of local disk. The cold lake read: the guide estimates 10 to 40 s for a whole-bank pass decoding Parquet at roughly 0.5–1 GB/s per core on one server. drishti.var.tier.dir: 'put it on fast local disk' (VAR_GUIDE.md section 12); exposure's hot-folder likewise (EXPOSURE_GUIDE.md section 12). The full 1 M × 50 benchmark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AWS_DELTA_LAKE.md section 10, with the history cache (2.6.5–2.6.7) and the risk engines' hot files (2.8.0, 2.9.0).</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10 and DELTA_CONNECTOR.md 9 (one memory budget: id maps 20 %, column sets 20 %, documents 5 %, whole small tables 5 % of the heap, shared by every Delta connector that does not set its own). History cache: drishti.history.cache-mb, default 256 MB since 2.6.7 (counted in real heap; SOAK3-02, SOAK4-02). VaR: drishti.var.tier.dir (DRISHTI_VAR_HOT_DIR), hot-dates 2, disk-dates 60, keep-on-shutdown false (VAR_GUIDE.md 12, 26). Exposure: hot-folder (DRISHTI_EXPOSURE_HOT_DIR), EXPOSURE_GUIDE.md 12 and 26.2. The disk caches default to &lt;data dir&gt;/cache/&lt;connector&gt;/…, on ECS /opt/drishti/data/cache/… on EFS.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10. Recommendation there: start on EFS (warm after any restart, no host affinity); move the document cache to NVMe if Admin → Caches shows cold reads dominate and EFS latency shows in p99Ms. NVMe breaks the identical-path rule; allowed only for rebuildable caches, by the product owner's decision.</a:t>
            </a:r>
          </a:p>
          <a:p/>
          <a:p>
            <a:r>
              <a:t>New for 2.9.4: VAR_GUIDE.md section 12 says to put drishti.var.tier.dir on fast local disk and EXPOSURE_GUIDE.md section 26.2 the same for the exposure hot files: they are memory-mapped, one file a date (≈ 3.1 GB at 1.3 million positions, estimated), rebuilt from the lake. They are the clearest case for the NVMe exception (decision 1 on slide 102).</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AWS_DELTA_LAKE.md section 11, with history queries (2.6.5) and the Drishti*net transport (2.6.7).</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11.1, plus: history (DELTA_CONNECTOR.md 8: days() from the snapshot's partitions and the id maps; one read per day held, eight at once); a VaR date (VAR_GUIDE.md 25, 26: one streamed read of the date's vectors, then memory); vacuum lists the table's prefix (≈ 1,000 objects per LIST). Questions over all of history are not interactive: Athena, Trino or Spark on the same tables.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HISTORY_QUERIES.md (built in 2.6.5) and DELTA_CONNECTOR.md section 8. GET /api/v1/history/{kind}/{id}?days=30 | range=3M | from=&amp;to= answers the entity over the business days it has data: one row per day with its top-level fields, the fields that changed, list counts, versions; diff=true adds each day's changes; knownAt reads as the store stood then (time travel). Every day is masked for the caller first. The Delta fast path (H5): days() lists the snapshot's business_date partitions whose id map holds the entity; only those days are read. Across Drishti*net (H4): a node with the pack but not the data reads the history from the peer that holds it in one call (GET /api/v1/net/history/{kind}/~), masked there and again here. drishti.py history KIND ID and the Python client's history(); the history cache (256 MB). Not yet built: reading only promoted columns when every field asked is promoted; the number of versions of a day. The soak (2.6.7) asks histories under node kills: only complete answers or partial ones naming the dead node.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11.2; DRISHTI_NET.md section 10; NET.md section 7. Nodes whose connectors read different tables of a kind are shards: a search asks every one; a read goes to the node that holds the table. Nodes that read the same table are replicas: a search asks one; a forwarded read goes to the same node for the same entity (stable hash of its id). Every node can read every table from S3: a failed node costs speed, never answers. 2.6.7: peer data over HTTP/2 (one connection per peer) and gossip on its own port; history across the cluster. VaR: each server that reads the risk lake loads whole dates and answers on its own; sharding one date is DESIGNED (VAR_GUIDE.md 28). S5, S6 (slice ownership) are DESIGNED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11.3. Illustrative numbers for a lake of about 200 TB. report.sh is scheduled daily (REPORT_SCHEDULE), prints these and sends them to CloudWatch. The risk tables appear in the same report when listed in the tables file; their behind and file counts grow with intraday commits (a Kafka window is at most 12 commits an hour), which checkpoints every 10 commits keep short.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11.3 table; NET.md section 12 for the gossip line (Admin → Health gossipPort; 0 means gossip shares the server port); DELTA_CONNECTOR.md 14 for max-queued-reads.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11.4. All notify ALARM_SNS_TOPIC_ARN. The AWS_DEPLOYMENT.md alarms (heap, Drishti*net member dead, backup failed) come with the platform's Prometheus or CloudWatch agent; drishti_net_gossip_exchange_seconds (2.6.7) is a Prometheus metric for gossip latency.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is new: DEMO_DATA.md (84 tables in 2.9.4), PUBLIC_DATA.md and the pack CHANGELOG entries (us-equities, gleif 2.7.0; funds 2.9.2), USER_GUIDE.md 'The data map' (2.9.3).</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DEMO_DATA.md (2.9.4): drishti.py lake demo (or tools/build_demo_lakes.py) builds sixty business days ending today from the committed test data (about 120 MB of .jsonl.gz): measured 943 s (about 15 minutes), 84 tables, about 2.7 GB. Domains (the Windows QA guide): trading, reference, legal, collateral, credit, risk, market, macro, news, civic, us-equities, gleif and funds. Trades: one table per source system, partitioned by business date and PRODUCT_TYPE; 15,000 trades on the last day. The count grew from 64 (2.6.5) to 66, 77 (us-equities and gleif, 2.7.0), 82 (release-2.9.4) and 84 with the 2.9.4 risk inputs (scenario-pv, fx-scenario). The data pattern (product owner): data/testdata/&lt;domain&gt;/&lt;kind&gt;/*.jsonl.gz → build_demo_lakes → Delta → the pack's Delta connector, tested with the demo connector off (PacksServedWithoutDemoTest). The demo lake has exposure for 22 of 24 counterparties (73 netting sets, 9,000 trades, 200 paths). config/demo/names.yaml renames the demo's bank and legal entities as they load (2.9.4).</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PUBLIC_DATA.md and the CHANGELOG: us-equities (2.7.0: 479 companies of the Dow 30, Nasdaq-100 and S&amp;P 500 with SEC filings; kinds us-company, filing, financial-fact, index-membership, sic-sector; prices internal only and off), gleif (2.7.0: about 9,500 legal entities in 540 ownership groups across 132 countries), funds (2.9.2: the 200 largest US mutual funds and ETFs with their holdings from SEC N-PORT, N-CEN and prospectus data). Each kind is one committed snapshot, data/testdata/&lt;pack&gt;/&lt;kind&gt;/snapshot-&lt;date&gt;.jsonl.gz, built into &lt;pack&gt;/&lt;kind&gt; on every demo day and served by the pack's Delta connector. One refresh script per pack in tools/publicdata/ (status, refresh, --dry-run, --offline, --internal-ok) with .sh and .ps1 wrappers; a polite, cached, checksummed download; data marked internal-only (IMF, Yahoo, news) never goes into a committed folder without --internal-ok. Sources' licences: SEC EDGAR public domain, GLEIF and Wikidata CC0. The type-ahead on names (USEQ Ford finds F) is layout.&lt;kind&gt;.type-ahead.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USER_GUIDE.md 'The data map' and CHANGELOG 2.9.3. Views → Data map (/datamap, DATAMAP &lt;GO&gt;, DATAMAP trade): every kind the user's packs hold, how much on the business date and how the kinds join. Inferred, never drawn by hand: kinds from the enabled packs and their contracts (computed kinds dashed), joins from the contracts' links, fields' link: and graph.fields, each checked against the lake (15,000 of 15,000 ids match; under 95 % a finding); counts read at request time and kept per business date (drishti.datamap.ttl, 15 minutes). On the default demo lake (10 packs): 96 kinds, 226 joins, 176 checked in about 1.5 s, 11 findings to fix in the contracts or the data. API GET /api/v1/datamap (only kinds the caller may open). Counts and join checks read the day's column sets (id and promoted columns), never documents. The screenshot is from the USER_GUIDE (7 packs).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17: AWS_DELTA_LAKE.md section 12, unchanged; the risk lake's sizes are on slides of section 13.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12.1: estimates, to be replaced by the measurements of SUPER_SCALE step S8 (DESIGNED). The risk lake adds about 7 TB of VaR vectors over 7 years at 1.3 million positions (slide 69) and the exposure paths under their decided tiers (slide 67).</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12.2. The VaR server's sizing at bank scale is in the VaR deck (slide 12): heap ≈ 1 GB per open date at 1.3M (estimated), 2 dates open; hot files ≈ 3.1 GB a date on local disk (estimated).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12.3, unchanged. For comparison: the same 200 TB on EFS: USD 60,000 a month in Standard; about USD 3,200 in Infrequent Access plus USD 0.03 per GB read.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18: AWS_DELTA_LAKE.md section 13, plus a risk-date runbook from VAR_GUIDE.md 15.8 and 19.</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13.2 and 13.3; DATA_FORMATS.md (a restatement is a second JSONL file).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13.4; DELTA_CONNECTOR.md 12. warm-dates (3) warms the newest days at start. A promoted column added changes the table's columns, so publish refuses the next day: write the new layout into a new folder (trade_endur_v2) with backfill.sh, then switch the connector's table.trade.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15.8 (restatement: rewrite the whole date, RESTATEMENT + 1, a new BATCH_ID; the signal reloads the date, a new hot file is built, its name the digest of the new inputs, and the official capture is taken again with the next result version, the earlier kept), 8.4 (a full run of the date drops the intraday layer), 19 (append-only publication; publishError on an s3:// root), 20 (DRS-5203: mixed runs or scenario sets answer the date before with a warning). EXPOSURE_GUIDE.md 15.4 (a new RUN_ID, or the same rewritten whole).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13.5. The content store's s3 backend (if chosen) is replicated with the lake bucket's settings or its own; a filesystem content store on EFS is covered by AWS Backup and EFS replication.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19: AWS_DELTA_LAKE.md section 14, with the lake tools added since 2.6.0 (tools/lake/).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14; TOOLS.md sections 4.9 to 4.12 and 7. New in tools/lake since the first edition: stores.py and stores_equality.py (mixed Delta and Iceberg, 2.6.7), s3sim.py and test_s3_simulators.py (2.7.0), test_vectors.py (2.8.0), test_retention.py (the 7-year floor), test_names.py (2.9.4); tools/samplegen/load_rows.py and tools/convertcmd.py (2.9.4).</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14 conventions; tools/test_deploy_aws.py (7 tests); both test files run in the drill.</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20: AWS_DELTA_LAKE.md section 15, rewritten for 2.9.4.</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AWS_DELTA_LAKE.md 15 (not yet run in AWS; a bucket without conditional writes; sorting only within a batch; one table for every year until S2); VAR_GUIDE.md 19 and EXPOSURE_GUIDE.md 12 (s3:// not published by the writer); VAR_GUIDE.md 8.4 (the Kafka stream's lake), 20 (only the first 100,000 hierarchy nodes or portfolios read from a connector that cannot list a date whole), 27.3 (the 1 M × 50 benchmark not run), 28 (VaR sharding designed, not built), 29.2 (the bank-scale layout designed); the SourcePlugin.vectors default (VaR and exposure inputs on Delta only); DELTA_CONNECTOR.md 8 (history: promoted-columns-only reads and per-day versions not built). The first edition's open finding on lake maintain's layout lookup is fixed (2.6.7).</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1 and 2 carried over from the first edition, with the hot files added to 1. The first edition's decision 3 (fix lake maintain's layout lookup) is done in 2.6.7; its decisions 4 and 5 (S2; S1, S5, S6) remain DESIGNED and are now decision 6. Decisions 3 to 5 are new and follow from this deck's proposals (slide 17).</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documents read for this edition from the local branch release-2.9.4 (and, for the 2.9.4 VaR material, the 2.9.4 VaR branch). The companion decks: Drishti-AWS-Iceberg.pptx (Iceberg on AWS) and Drishti-VaR-Engine.pptx (the VaR engine, whose sizing and status words section 13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1.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over rule"/>
          <p:cNvSpPr/>
          <p:nvPr/>
        </p:nvSpPr>
        <p:spPr>
          <a:xfrm>
            <a:off x="0" y="4754880"/>
            <a:ext cx="12191695" cy="7315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extBox 3"/>
          <p:cNvSpPr txBox="1"/>
          <p:nvPr/>
        </p:nvSpPr>
        <p:spPr>
          <a:xfrm>
            <a:off x="731520" y="1051560"/>
            <a:ext cx="10789920" cy="1463040"/>
          </a:xfrm>
          <a:prstGeom prst="rect">
            <a:avLst/>
          </a:prstGeom>
          <a:noFill/>
        </p:spPr>
        <p:txBody>
          <a:bodyPr wrap="square" lIns="0" rIns="0" tIns="0" bIns="0" anchor="b">
            <a:spAutoFit/>
          </a:bodyPr>
          <a:lstStyle/>
          <a:p>
            <a:pPr algn="l">
              <a:spcAft>
                <a:spcPts val="600"/>
              </a:spcAft>
              <a:buNone/>
            </a:pPr>
            <a:r>
              <a:rPr sz="4400" b="1" i="0">
                <a:solidFill>
                  <a:srgbClr val="FFFFFF"/>
                </a:solidFill>
                <a:latin typeface="Calibri"/>
              </a:rPr>
              <a:t>A high-performance Delta lake for Drishti on AWS</a:t>
            </a:r>
          </a:p>
        </p:txBody>
      </p:sp>
      <p:sp>
        <p:nvSpPr>
          <p:cNvPr id="5" name="TextBox 4"/>
          <p:cNvSpPr txBox="1"/>
          <p:nvPr/>
        </p:nvSpPr>
        <p:spPr>
          <a:xfrm>
            <a:off x="731520" y="2606040"/>
            <a:ext cx="10789920" cy="822960"/>
          </a:xfrm>
          <a:prstGeom prst="rect">
            <a:avLst/>
          </a:prstGeom>
          <a:noFill/>
        </p:spPr>
        <p:txBody>
          <a:bodyPr wrap="square" lIns="0" rIns="0" tIns="0" bIns="0" anchor="t">
            <a:spAutoFit/>
          </a:bodyPr>
          <a:lstStyle/>
          <a:p>
            <a:pPr algn="l">
              <a:spcAft>
                <a:spcPts val="600"/>
              </a:spcAft>
              <a:buNone/>
            </a:pPr>
            <a:r>
              <a:rPr sz="2000" b="0" i="0">
                <a:solidFill>
                  <a:srgbClr val="C9D3E3"/>
                </a:solidFill>
                <a:latin typeface="Calibri"/>
              </a:rPr>
              <a:t>Past 200 TB and at bank scale: the lake in S3, the risk lake, JSON Lines in, the scripts, the keys, the partitions and every optimisation</a:t>
            </a:r>
          </a:p>
        </p:txBody>
      </p:sp>
      <p:sp>
        <p:nvSpPr>
          <p:cNvPr id="6" name="TextBox 5"/>
          <p:cNvSpPr txBox="1"/>
          <p:nvPr/>
        </p:nvSpPr>
        <p:spPr>
          <a:xfrm>
            <a:off x="731520" y="3566160"/>
            <a:ext cx="10789920" cy="1097280"/>
          </a:xfrm>
          <a:prstGeom prst="rect">
            <a:avLst/>
          </a:prstGeom>
          <a:noFill/>
        </p:spPr>
        <p:txBody>
          <a:bodyPr wrap="square" lIns="0" rIns="0" tIns="0" bIns="0" anchor="t">
            <a:spAutoFit/>
          </a:bodyPr>
          <a:lstStyle/>
          <a:p>
            <a:pPr algn="l">
              <a:spcAft>
                <a:spcPts val="400"/>
              </a:spcAft>
              <a:buNone/>
            </a:pPr>
            <a:r>
              <a:rPr sz="1300" b="0" i="0">
                <a:solidFill>
                  <a:srgbClr val="A9B6CB"/>
                </a:solidFill>
                <a:latin typeface="Calibri"/>
              </a:rPr>
              <a:t>Drishti 2.9.4 · everything shipped up to 2.9.4 is built · only scaling VaR out across a cluster of Drishti servers is designed, not built</a:t>
            </a:r>
          </a:p>
          <a:p>
            <a:pPr algn="l">
              <a:spcAft>
                <a:spcPts val="400"/>
              </a:spcAft>
              <a:buNone/>
            </a:pPr>
            <a:r>
              <a:rPr sz="1300" b="0" i="0">
                <a:solidFill>
                  <a:srgbClr val="A9B6CB"/>
                </a:solidFill>
                <a:latin typeface="Calibri"/>
              </a:rPr>
              <a:t>AWS scripts tested with --help and --dry-run; Delta on S3 and lake publish tested on S3 simulators; first run in a real AWS account still to do</a:t>
            </a:r>
          </a:p>
        </p:txBody>
      </p:sp>
      <p:sp>
        <p:nvSpPr>
          <p:cNvPr id="7" name="TextBox 6"/>
          <p:cNvSpPr txBox="1"/>
          <p:nvPr/>
        </p:nvSpPr>
        <p:spPr>
          <a:xfrm>
            <a:off x="731520" y="5029200"/>
            <a:ext cx="10789920" cy="548640"/>
          </a:xfrm>
          <a:prstGeom prst="rect">
            <a:avLst/>
          </a:prstGeom>
          <a:noFill/>
        </p:spPr>
        <p:txBody>
          <a:bodyPr wrap="square" lIns="0" rIns="0" tIns="0" bIns="0" anchor="t">
            <a:spAutoFit/>
          </a:bodyPr>
          <a:lstStyle/>
          <a:p>
            <a:pPr algn="l">
              <a:spcAft>
                <a:spcPts val="600"/>
              </a:spcAft>
              <a:buNone/>
            </a:pPr>
            <a:r>
              <a:rPr sz="1600" b="1" i="0">
                <a:solidFill>
                  <a:srgbClr val="E87A1E"/>
                </a:solidFill>
                <a:latin typeface="Calibri"/>
              </a:rPr>
              <a:t>Drishti · Any data. Any domain. One grammar.</a:t>
            </a:r>
          </a:p>
        </p:txBody>
      </p:sp>
      <p:sp>
        <p:nvSpPr>
          <p:cNvPr id="8" name="TextBox 7"/>
          <p:cNvSpPr txBox="1"/>
          <p:nvPr/>
        </p:nvSpPr>
        <p:spPr>
          <a:xfrm>
            <a:off x="731520" y="5623560"/>
            <a:ext cx="10789920" cy="365760"/>
          </a:xfrm>
          <a:prstGeom prst="rect">
            <a:avLst/>
          </a:prstGeom>
          <a:noFill/>
        </p:spPr>
        <p:txBody>
          <a:bodyPr wrap="square" lIns="0" rIns="0" tIns="0" bIns="0" anchor="t">
            <a:spAutoFit/>
          </a:bodyPr>
          <a:lstStyle/>
          <a:p>
            <a:pPr algn="l">
              <a:spcAft>
                <a:spcPts val="600"/>
              </a:spcAft>
              <a:buNone/>
            </a:pPr>
            <a:r>
              <a:rPr sz="1200" b="0" i="0">
                <a:solidFill>
                  <a:srgbClr val="A9B6CB"/>
                </a:solidFill>
                <a:latin typeface="Calibri"/>
              </a:rPr>
              <a:t>Second edition, 2026-10-27 (first edition 2026-10-20, Drishti 2.6.5)</a:t>
            </a:r>
          </a:p>
        </p:txBody>
      </p:sp>
      <p:sp>
        <p:nvSpPr>
          <p:cNvPr id="9" name="TextBox 8"/>
          <p:cNvSpPr txBox="1"/>
          <p:nvPr/>
        </p:nvSpPr>
        <p:spPr>
          <a:xfrm>
            <a:off x="731520" y="6035040"/>
            <a:ext cx="10789920" cy="457200"/>
          </a:xfrm>
          <a:prstGeom prst="rect">
            <a:avLst/>
          </a:prstGeom>
          <a:noFill/>
        </p:spPr>
        <p:txBody>
          <a:bodyPr wrap="square" lIns="0" rIns="0" tIns="0" bIns="0" anchor="t">
            <a:spAutoFit/>
          </a:bodyPr>
          <a:lstStyle/>
          <a:p>
            <a:pPr algn="l">
              <a:spcAft>
                <a:spcPts val="600"/>
              </a:spcAft>
              <a:buNone/>
            </a:pPr>
            <a:r>
              <a:rPr sz="1000" b="0" i="0">
                <a:solidFill>
                  <a:srgbClr val="8A96A8"/>
                </a:solidFill>
                <a:latin typeface="Calibri"/>
              </a:rPr>
              <a:t>Copyright © 2026 Ashutosh Sinha. All rights reserved. Proprietary and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this deck covers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contents</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a:t>
            </a:r>
          </a:p>
        </p:txBody>
      </p:sp>
      <p:sp>
        <p:nvSpPr>
          <p:cNvPr id="9" name="TextBox 8"/>
          <p:cNvSpPr txBox="1"/>
          <p:nvPr/>
        </p:nvSpPr>
        <p:spPr>
          <a:xfrm>
            <a:off x="548640" y="1234440"/>
            <a:ext cx="5577840" cy="5029200"/>
          </a:xfrm>
          <a:prstGeom prst="rect">
            <a:avLst/>
          </a:prstGeom>
          <a:noFill/>
        </p:spPr>
        <p:txBody>
          <a:bodyPr wrap="square" lIns="0" rIns="0" tIns="0" bIns="0" anchor="t">
            <a:spAutoFit/>
          </a:bodyPr>
          <a:lstStyle/>
          <a:p>
            <a:pPr algn="l">
              <a:spcAft>
                <a:spcPts val="900"/>
              </a:spcAft>
              <a:buNone/>
            </a:pPr>
            <a:r>
              <a:rPr sz="1600" b="0" i="0">
                <a:solidFill>
                  <a:srgbClr val="1C2433"/>
                </a:solidFill>
                <a:latin typeface="Calibri"/>
              </a:rPr>
              <a:t>1  The picture, and Delta or Iceberg</a:t>
            </a:r>
          </a:p>
          <a:p>
            <a:pPr algn="l">
              <a:spcAft>
                <a:spcPts val="900"/>
              </a:spcAft>
              <a:buNone/>
            </a:pPr>
            <a:r>
              <a:rPr sz="1600" b="0" i="0">
                <a:solidFill>
                  <a:srgbClr val="1C2433"/>
                </a:solidFill>
                <a:latin typeface="Calibri"/>
              </a:rPr>
              <a:t>2  Why S3 and not EFS for the lake</a:t>
            </a:r>
          </a:p>
          <a:p>
            <a:pPr algn="l">
              <a:spcAft>
                <a:spcPts val="900"/>
              </a:spcAft>
              <a:buNone/>
            </a:pPr>
            <a:r>
              <a:rPr sz="1600" b="0" i="0">
                <a:solidFill>
                  <a:srgbClr val="1C2433"/>
                </a:solidFill>
                <a:latin typeface="Calibri"/>
              </a:rPr>
              <a:t>3  Built, designed, proposed</a:t>
            </a:r>
          </a:p>
          <a:p>
            <a:pPr algn="l">
              <a:spcAft>
                <a:spcPts val="900"/>
              </a:spcAft>
              <a:buNone/>
            </a:pPr>
            <a:r>
              <a:rPr sz="1600" b="0" i="0">
                <a:solidFill>
                  <a:srgbClr val="1C2433"/>
                </a:solidFill>
                <a:latin typeface="Calibri"/>
              </a:rPr>
              <a:t>4  First-time setup, steps 0–11</a:t>
            </a:r>
          </a:p>
          <a:p>
            <a:pPr algn="l">
              <a:spcAft>
                <a:spcPts val="900"/>
              </a:spcAft>
              <a:buNone/>
            </a:pPr>
            <a:r>
              <a:rPr sz="1600" b="0" i="0">
                <a:solidFill>
                  <a:srgbClr val="1C2433"/>
                </a:solidFill>
                <a:latin typeface="Calibri"/>
              </a:rPr>
              <a:t>5  The layout: buckets, prefixes, partitions</a:t>
            </a:r>
          </a:p>
          <a:p>
            <a:pPr algn="l">
              <a:spcAft>
                <a:spcPts val="900"/>
              </a:spcAft>
              <a:buNone/>
            </a:pPr>
            <a:r>
              <a:rPr sz="1600" b="0" i="0">
                <a:solidFill>
                  <a:srgbClr val="1C2433"/>
                </a:solidFill>
                <a:latin typeface="Calibri"/>
              </a:rPr>
              <a:t>6  Keys: id, promoted, vectors</a:t>
            </a:r>
          </a:p>
          <a:p>
            <a:pPr algn="l">
              <a:spcAft>
                <a:spcPts val="900"/>
              </a:spcAft>
              <a:buNone/>
            </a:pPr>
            <a:r>
              <a:rPr sz="1600" b="0" i="0">
                <a:solidFill>
                  <a:srgbClr val="1C2433"/>
                </a:solidFill>
                <a:latin typeface="Calibri"/>
              </a:rPr>
              <a:t>7  Files: sizes, row groups, sorting</a:t>
            </a:r>
          </a:p>
          <a:p>
            <a:pPr algn="l">
              <a:spcAft>
                <a:spcPts val="900"/>
              </a:spcAft>
              <a:buNone/>
            </a:pPr>
            <a:r>
              <a:rPr sz="1600" b="0" i="0">
                <a:solidFill>
                  <a:srgbClr val="1C2433"/>
                </a:solidFill>
                <a:latin typeface="Calibri"/>
              </a:rPr>
              <a:t>8  Data in: JSON Lines, then Delta</a:t>
            </a:r>
          </a:p>
          <a:p>
            <a:pPr algn="l">
              <a:spcAft>
                <a:spcPts val="900"/>
              </a:spcAft>
              <a:buNone/>
            </a:pPr>
            <a:r>
              <a:rPr sz="1600" b="0" i="0">
                <a:solidFill>
                  <a:srgbClr val="1C2433"/>
                </a:solidFill>
                <a:latin typeface="Calibri"/>
              </a:rPr>
              <a:t>9  Loading: daily, backfill, restatement</a:t>
            </a:r>
          </a:p>
          <a:p>
            <a:pPr algn="l">
              <a:spcAft>
                <a:spcPts val="900"/>
              </a:spcAft>
              <a:buNone/>
            </a:pPr>
            <a:r>
              <a:rPr sz="1600" b="0" i="0">
                <a:solidFill>
                  <a:srgbClr val="1C2433"/>
                </a:solidFill>
                <a:latin typeface="Calibri"/>
              </a:rPr>
              <a:t>10  S3: safe commits and three simulators</a:t>
            </a:r>
          </a:p>
        </p:txBody>
      </p:sp>
      <p:sp>
        <p:nvSpPr>
          <p:cNvPr id="10" name="TextBox 9"/>
          <p:cNvSpPr txBox="1"/>
          <p:nvPr/>
        </p:nvSpPr>
        <p:spPr>
          <a:xfrm>
            <a:off x="6309360" y="1234440"/>
            <a:ext cx="5577840" cy="5029200"/>
          </a:xfrm>
          <a:prstGeom prst="rect">
            <a:avLst/>
          </a:prstGeom>
          <a:noFill/>
        </p:spPr>
        <p:txBody>
          <a:bodyPr wrap="square" lIns="0" rIns="0" tIns="0" bIns="0" anchor="t">
            <a:spAutoFit/>
          </a:bodyPr>
          <a:lstStyle/>
          <a:p>
            <a:pPr algn="l">
              <a:spcAft>
                <a:spcPts val="900"/>
              </a:spcAft>
              <a:buNone/>
            </a:pPr>
            <a:r>
              <a:rPr sz="1600" b="0" i="0">
                <a:solidFill>
                  <a:srgbClr val="1C2433"/>
                </a:solidFill>
                <a:latin typeface="Calibri"/>
              </a:rPr>
              <a:t>11  Maintenance: retention, 7-year floor, tiers</a:t>
            </a:r>
          </a:p>
          <a:p>
            <a:pPr algn="l">
              <a:spcAft>
                <a:spcPts val="900"/>
              </a:spcAft>
              <a:buNone/>
            </a:pPr>
            <a:r>
              <a:rPr sz="1600" b="0" i="0">
                <a:solidFill>
                  <a:srgbClr val="1C2433"/>
                </a:solidFill>
                <a:latin typeface="Calibri"/>
              </a:rPr>
              <a:t>12  The risk lake: VaR and exposure</a:t>
            </a:r>
          </a:p>
          <a:p>
            <a:pPr algn="l">
              <a:spcAft>
                <a:spcPts val="900"/>
              </a:spcAft>
              <a:buNone/>
            </a:pPr>
            <a:r>
              <a:rPr sz="1600" b="0" i="0">
                <a:solidFill>
                  <a:srgbClr val="1C2433"/>
                </a:solidFill>
                <a:latin typeface="Calibri"/>
              </a:rPr>
              <a:t>13  Bank scale: 1.3M positions, 100k portfolios</a:t>
            </a:r>
          </a:p>
          <a:p>
            <a:pPr algn="l">
              <a:spcAft>
                <a:spcPts val="900"/>
              </a:spcAft>
              <a:buNone/>
            </a:pPr>
            <a:r>
              <a:rPr sz="1600" b="0" i="0">
                <a:solidFill>
                  <a:srgbClr val="1C2433"/>
                </a:solidFill>
                <a:latin typeface="Calibri"/>
              </a:rPr>
              <a:t>14  Caches: EFS or local NVMe</a:t>
            </a:r>
          </a:p>
          <a:p>
            <a:pPr algn="l">
              <a:spcAft>
                <a:spcPts val="900"/>
              </a:spcAft>
              <a:buNone/>
            </a:pPr>
            <a:r>
              <a:rPr sz="1600" b="0" i="0">
                <a:solidFill>
                  <a:srgbClr val="1C2433"/>
                </a:solidFill>
                <a:latin typeface="Calibri"/>
              </a:rPr>
              <a:t>15  Staying fast: history, Drishti*net, alarms</a:t>
            </a:r>
          </a:p>
          <a:p>
            <a:pPr algn="l">
              <a:spcAft>
                <a:spcPts val="900"/>
              </a:spcAft>
              <a:buNone/>
            </a:pPr>
            <a:r>
              <a:rPr sz="1600" b="0" i="0">
                <a:solidFill>
                  <a:srgbClr val="1C2433"/>
                </a:solidFill>
                <a:latin typeface="Calibri"/>
              </a:rPr>
              <a:t>16  The demo lake, public data, DATAMAP</a:t>
            </a:r>
          </a:p>
          <a:p>
            <a:pPr algn="l">
              <a:spcAft>
                <a:spcPts val="900"/>
              </a:spcAft>
              <a:buNone/>
            </a:pPr>
            <a:r>
              <a:rPr sz="1600" b="0" i="0">
                <a:solidFill>
                  <a:srgbClr val="1C2433"/>
                </a:solidFill>
                <a:latin typeface="Calibri"/>
              </a:rPr>
              <a:t>17  Sizing and cost</a:t>
            </a:r>
          </a:p>
          <a:p>
            <a:pPr algn="l">
              <a:spcAft>
                <a:spcPts val="900"/>
              </a:spcAft>
              <a:buNone/>
            </a:pPr>
            <a:r>
              <a:rPr sz="1600" b="0" i="0">
                <a:solidFill>
                  <a:srgbClr val="1C2433"/>
                </a:solidFill>
                <a:latin typeface="Calibri"/>
              </a:rPr>
              <a:t>18  Runbooks</a:t>
            </a:r>
          </a:p>
          <a:p>
            <a:pPr algn="l">
              <a:spcAft>
                <a:spcPts val="900"/>
              </a:spcAft>
              <a:buNone/>
            </a:pPr>
            <a:r>
              <a:rPr sz="1600" b="0" i="0">
                <a:solidFill>
                  <a:srgbClr val="1C2433"/>
                </a:solidFill>
                <a:latin typeface="Calibri"/>
              </a:rPr>
              <a:t>19  The scripts</a:t>
            </a:r>
          </a:p>
          <a:p>
            <a:pPr algn="l">
              <a:spcAft>
                <a:spcPts val="900"/>
              </a:spcAft>
              <a:buNone/>
            </a:pPr>
            <a:r>
              <a:rPr sz="1600" b="0" i="0">
                <a:solidFill>
                  <a:srgbClr val="1C2433"/>
                </a:solidFill>
                <a:latin typeface="Calibri"/>
              </a:rPr>
              <a:t>20  Limits, decisions, related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one rule: the lake lives in Amazon S3</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read this first</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a:t>
            </a:r>
          </a:p>
        </p:txBody>
      </p:sp>
      <p:sp>
        <p:nvSpPr>
          <p:cNvPr id="9" name="Callout"/>
          <p:cNvSpPr/>
          <p:nvPr/>
        </p:nvSpPr>
        <p:spPr>
          <a:xfrm>
            <a:off x="411480" y="1188720"/>
            <a:ext cx="11365992" cy="11430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allout edge"/>
          <p:cNvSpPr/>
          <p:nvPr/>
        </p:nvSpPr>
        <p:spPr>
          <a:xfrm>
            <a:off x="411480" y="1207008"/>
            <a:ext cx="82296" cy="11064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11000232" cy="996696"/>
          </a:xfrm>
          <a:prstGeom prst="rect">
            <a:avLst/>
          </a:prstGeom>
          <a:noFill/>
        </p:spPr>
        <p:txBody>
          <a:bodyPr wrap="square" lIns="0" rIns="0" tIns="0" bIns="0" anchor="ctr">
            <a:spAutoFit/>
          </a:bodyPr>
          <a:lstStyle/>
          <a:p>
            <a:pPr algn="l">
              <a:spcAft>
                <a:spcPts val="600"/>
              </a:spcAft>
              <a:buNone/>
            </a:pPr>
            <a:r>
              <a:rPr sz="1600" b="1" i="0">
                <a:solidFill>
                  <a:srgbClr val="1C2433"/>
                </a:solidFill>
                <a:latin typeface="Calibri"/>
              </a:rPr>
              <a:t>Every table's Parquet data files AND its _delta_log are in S3. Nothing of the lake is on EFS.</a:t>
            </a:r>
          </a:p>
          <a:p>
            <a:pPr algn="l">
              <a:spcAft>
                <a:spcPts val="600"/>
              </a:spcAft>
              <a:buNone/>
            </a:pPr>
            <a:r>
              <a:rPr sz="1400" b="0" i="0">
                <a:solidFill>
                  <a:srgbClr val="1C2433"/>
                </a:solidFill>
                <a:latin typeface="Calibri"/>
              </a:rPr>
              <a:t>EFS holds only what a node must find again after a restart: configuration, users and tokens, Drishti*net state, the content store's filesystem backend if chosen, and the caches that should be warm after a restart.</a:t>
            </a:r>
          </a:p>
        </p:txBody>
      </p:sp>
      <p:sp>
        <p:nvSpPr>
          <p:cNvPr id="12" name="TextBox 11"/>
          <p:cNvSpPr txBox="1"/>
          <p:nvPr/>
        </p:nvSpPr>
        <p:spPr>
          <a:xfrm>
            <a:off x="411480" y="2560320"/>
            <a:ext cx="11365992" cy="3749039"/>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S3 (the lake):</a:t>
            </a:r>
            <a:r>
              <a:rPr sz="1400" b="0" i="0">
                <a:solidFill>
                  <a:srgbClr val="1C2433"/>
                </a:solidFill>
                <a:latin typeface="Calibri"/>
              </a:rPr>
              <a:t> </a:t>
            </a:r>
            <a:r>
              <a:rPr sz="1300" b="0" i="0">
                <a:solidFill>
                  <a:srgbClr val="0E7C86"/>
                </a:solidFill>
                <a:latin typeface="Consolas"/>
              </a:rPr>
              <a:t>s3://&lt;org&gt;-drishti-&lt;env&gt;-lake/lake/&lt;domain&gt;/&lt;table&gt;/</a:t>
            </a:r>
            <a:r>
              <a:rPr sz="1400" b="0" i="0">
                <a:solidFill>
                  <a:srgbClr val="1C2433"/>
                </a:solidFill>
                <a:latin typeface="Calibri"/>
              </a:rPr>
              <a:t> with </a:t>
            </a:r>
            <a:r>
              <a:rPr sz="1300" b="0" i="0">
                <a:solidFill>
                  <a:srgbClr val="0E7C86"/>
                </a:solidFill>
                <a:latin typeface="Consolas"/>
              </a:rPr>
              <a:t>business_date=…/PRODUCT_TYPE=…/part-….snappy.parquet</a:t>
            </a:r>
            <a:r>
              <a:rPr sz="1400" b="0" i="0">
                <a:solidFill>
                  <a:srgbClr val="1C2433"/>
                </a:solidFill>
                <a:latin typeface="Calibri"/>
              </a:rPr>
              <a:t> and </a:t>
            </a:r>
            <a:r>
              <a:rPr sz="1300" b="0" i="0">
                <a:solidFill>
                  <a:srgbClr val="0E7C86"/>
                </a:solidFill>
                <a:latin typeface="Consolas"/>
              </a:rPr>
              <a:t>_delta_log/</a:t>
            </a:r>
          </a:p>
          <a:p>
            <a:pPr algn="l" marL="201168" indent="-201168">
              <a:spcAft>
                <a:spcPts val="700"/>
              </a:spcAft>
              <a:buClr>
                <a:srgbClr val="E87A1E"/>
              </a:buClr>
              <a:buSzPct val="100000"/>
              <a:buFont typeface="Arial"/>
              <a:buChar char="•"/>
            </a:pPr>
            <a:r>
              <a:rPr sz="1400" b="1" i="0">
                <a:solidFill>
                  <a:srgbClr val="1C2433"/>
                </a:solidFill>
                <a:latin typeface="Calibri"/>
              </a:rPr>
              <a:t>Domains in 2.9.4:</a:t>
            </a:r>
            <a:r>
              <a:rPr sz="1400" b="0" i="0">
                <a:solidFill>
                  <a:srgbClr val="1C2433"/>
                </a:solidFill>
                <a:latin typeface="Calibri"/>
              </a:rPr>
              <a:t> trading, reference, legal, collateral, credit, market, macro, news, civic, </a:t>
            </a:r>
            <a:r>
              <a:rPr sz="1400" b="1" i="0">
                <a:solidFill>
                  <a:srgbClr val="1C2433"/>
                </a:solidFill>
                <a:latin typeface="Calibri"/>
              </a:rPr>
              <a:t>risk</a:t>
            </a:r>
            <a:r>
              <a:rPr sz="1400" b="0" i="0">
                <a:solidFill>
                  <a:srgbClr val="1C2433"/>
                </a:solidFill>
                <a:latin typeface="Calibri"/>
              </a:rPr>
              <a:t> (VaR and exposure inputs), </a:t>
            </a:r>
            <a:r>
              <a:rPr sz="1400" b="1" i="0">
                <a:solidFill>
                  <a:srgbClr val="1C2433"/>
                </a:solidFill>
                <a:latin typeface="Calibri"/>
              </a:rPr>
              <a:t>risk-results</a:t>
            </a:r>
            <a:r>
              <a:rPr sz="1400" b="0" i="0">
                <a:solidFill>
                  <a:srgbClr val="1C2433"/>
                </a:solidFill>
                <a:latin typeface="Calibri"/>
              </a:rPr>
              <a:t> (official results, append-only), us-equities, gleif, funds</a:t>
            </a:r>
          </a:p>
          <a:p>
            <a:pPr algn="l" marL="201168" indent="-201168">
              <a:spcAft>
                <a:spcPts val="700"/>
              </a:spcAft>
              <a:buClr>
                <a:srgbClr val="E87A1E"/>
              </a:buClr>
              <a:buSzPct val="100000"/>
              <a:buFont typeface="Arial"/>
              <a:buChar char="•"/>
            </a:pPr>
            <a:r>
              <a:rPr sz="1400" b="1" i="0">
                <a:solidFill>
                  <a:srgbClr val="1C2433"/>
                </a:solidFill>
                <a:latin typeface="Calibri"/>
              </a:rPr>
              <a:t>S3 (landing):</a:t>
            </a:r>
            <a:r>
              <a:rPr sz="1400" b="0" i="0">
                <a:solidFill>
                  <a:srgbClr val="1C2433"/>
                </a:solidFill>
                <a:latin typeface="Calibri"/>
              </a:rPr>
              <a:t> the sources' dumps as JSON Lines, </a:t>
            </a:r>
            <a:r>
              <a:rPr sz="1300" b="0" i="0">
                <a:solidFill>
                  <a:srgbClr val="0E7C86"/>
                </a:solidFill>
                <a:latin typeface="Consolas"/>
              </a:rPr>
              <a:t>&lt;date&gt;/&lt;source&gt;/*.jsonl.gz</a:t>
            </a:r>
            <a:r>
              <a:rPr sz="1400" b="0" i="0">
                <a:solidFill>
                  <a:srgbClr val="1C2433"/>
                </a:solidFill>
                <a:latin typeface="Calibri"/>
              </a:rPr>
              <a:t>, kept 30 days (</a:t>
            </a:r>
            <a:r>
              <a:rPr sz="1300" b="0" i="0">
                <a:solidFill>
                  <a:srgbClr val="0E7C86"/>
                </a:solidFill>
                <a:latin typeface="Consolas"/>
              </a:rPr>
              <a:t>LANDING_KEEP_DAYS</a:t>
            </a:r>
            <a:r>
              <a:rPr sz="1400" b="0" i="0">
                <a:solidFill>
                  <a:srgbClr val="1C2433"/>
                </a:solidFill>
                <a:latin typeface="Calibri"/>
              </a:rPr>
              <a:t>)</a:t>
            </a:r>
          </a:p>
          <a:p>
            <a:pPr algn="l" marL="201168" indent="-201168">
              <a:spcAft>
                <a:spcPts val="700"/>
              </a:spcAft>
              <a:buClr>
                <a:srgbClr val="E87A1E"/>
              </a:buClr>
              <a:buSzPct val="100000"/>
              <a:buFont typeface="Arial"/>
              <a:buChar char="•"/>
            </a:pPr>
            <a:r>
              <a:rPr sz="1400" b="1" i="0">
                <a:solidFill>
                  <a:srgbClr val="1C2433"/>
                </a:solidFill>
                <a:latin typeface="Calibri"/>
              </a:rPr>
              <a:t>S3 (logs):</a:t>
            </a:r>
            <a:r>
              <a:rPr sz="1400" b="0" i="0">
                <a:solidFill>
                  <a:srgbClr val="1C2433"/>
                </a:solidFill>
                <a:latin typeface="Calibri"/>
              </a:rPr>
              <a:t> access logs, SSE-S3, expire after 400 days</a:t>
            </a:r>
          </a:p>
          <a:p>
            <a:pPr algn="l" marL="201168" indent="-201168">
              <a:spcAft>
                <a:spcPts val="700"/>
              </a:spcAft>
              <a:buClr>
                <a:srgbClr val="E87A1E"/>
              </a:buClr>
              <a:buSzPct val="100000"/>
              <a:buFont typeface="Arial"/>
              <a:buChar char="•"/>
            </a:pPr>
            <a:r>
              <a:rPr sz="1400" b="1" i="0">
                <a:solidFill>
                  <a:srgbClr val="1C2433"/>
                </a:solidFill>
                <a:latin typeface="Calibri"/>
              </a:rPr>
              <a:t>EFS (state):</a:t>
            </a:r>
            <a:r>
              <a:rPr sz="1400" b="0" i="0">
                <a:solidFill>
                  <a:srgbClr val="1C2433"/>
                </a:solidFill>
                <a:latin typeface="Calibri"/>
              </a:rPr>
              <a:t> </a:t>
            </a:r>
            <a:r>
              <a:rPr sz="1300" b="0" i="0">
                <a:solidFill>
                  <a:srgbClr val="0E7C86"/>
                </a:solidFill>
                <a:latin typeface="Consolas"/>
              </a:rPr>
              <a:t>/drishti/&lt;env&gt;/&lt;node&gt;/opt/drishti/{data,config,sutras}</a:t>
            </a:r>
            <a:r>
              <a:rPr sz="1400" b="0" i="0">
                <a:solidFill>
                  <a:srgbClr val="1C2433"/>
                </a:solidFill>
                <a:latin typeface="Calibri"/>
              </a:rPr>
              <a:t>, one access point per node per path, identical path inside the container</a:t>
            </a:r>
          </a:p>
          <a:p>
            <a:pPr algn="l" marL="201168" indent="-201168">
              <a:spcAft>
                <a:spcPts val="700"/>
              </a:spcAft>
              <a:buClr>
                <a:srgbClr val="E87A1E"/>
              </a:buClr>
              <a:buSzPct val="100000"/>
              <a:buFont typeface="Arial"/>
              <a:buChar char="•"/>
            </a:pPr>
            <a:r>
              <a:rPr sz="1400" b="1" i="0">
                <a:solidFill>
                  <a:srgbClr val="1C2433"/>
                </a:solidFill>
                <a:latin typeface="Calibri"/>
              </a:rPr>
              <a:t>EFS (loader scratch):</a:t>
            </a:r>
            <a:r>
              <a:rPr sz="1400" b="0" i="0">
                <a:solidFill>
                  <a:srgbClr val="1C2433"/>
                </a:solidFill>
                <a:latin typeface="Calibri"/>
              </a:rPr>
              <a:t> one day of one table for the minutes of a load, then removed; the per-table lock files</a:t>
            </a:r>
          </a:p>
          <a:p>
            <a:pPr algn="l" marL="201168" indent="-201168">
              <a:spcAft>
                <a:spcPts val="700"/>
              </a:spcAft>
              <a:buClr>
                <a:srgbClr val="E87A1E"/>
              </a:buClr>
              <a:buSzPct val="100000"/>
              <a:buFont typeface="Arial"/>
              <a:buChar char="•"/>
            </a:pPr>
            <a:r>
              <a:rPr sz="1400" b="1" i="0">
                <a:solidFill>
                  <a:srgbClr val="1C2433"/>
                </a:solidFill>
                <a:latin typeface="Calibri"/>
              </a:rPr>
              <a:t>Never on EFS:</a:t>
            </a:r>
            <a:r>
              <a:rPr sz="1400" b="0" i="0">
                <a:solidFill>
                  <a:srgbClr val="1C2433"/>
                </a:solidFill>
                <a:latin typeface="Calibri"/>
              </a:rPr>
              <a:t> lake data, </a:t>
            </a:r>
            <a:r>
              <a:rPr sz="1300" b="0" i="0">
                <a:solidFill>
                  <a:srgbClr val="0E7C86"/>
                </a:solidFill>
                <a:latin typeface="Consolas"/>
              </a:rPr>
              <a:t>_delta_log</a:t>
            </a:r>
            <a:r>
              <a:rPr sz="1400" b="0" i="0">
                <a:solidFill>
                  <a:srgbClr val="1C2433"/>
                </a:solidFill>
                <a:latin typeface="Calibri"/>
              </a:rPr>
              <a:t> (EFS is a staging place only, for tables the server's own writer builds)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changed for Delta and AWS since 2.6.0</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new in this edition</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a:t>
            </a:r>
          </a:p>
        </p:txBody>
      </p:sp>
      <p:graphicFrame>
        <p:nvGraphicFramePr>
          <p:cNvPr id="9" name="Table"/>
          <p:cNvGraphicFramePr>
            <a:graphicFrameLocks noGrp="1"/>
          </p:cNvGraphicFramePr>
          <p:nvPr/>
        </p:nvGraphicFramePr>
        <p:xfrm>
          <a:off x="411480" y="1188720"/>
          <a:ext cx="11365990" cy="4389120"/>
        </p:xfrm>
        <a:graphic>
          <a:graphicData uri="http://schemas.openxmlformats.org/drawingml/2006/table">
            <a:tbl>
              <a:tblPr firstRow="0" bandRow="0">
                <a:tableStyleId>{5940675A-B579-460E-94D1-54222C63F5DA}</a:tableStyleId>
              </a:tblPr>
              <a:tblGrid>
                <a:gridCol w="1099934"/>
                <a:gridCol w="8799477"/>
                <a:gridCol w="1466579"/>
              </a:tblGrid>
              <a:tr h="548640">
                <a:tc>
                  <a:txBody>
                    <a:bodyPr wrap="square"/>
                    <a:lstStyle/>
                    <a:p>
                      <a:r>
                        <a:rPr sz="1200" b="1" i="0">
                          <a:solidFill>
                            <a:srgbClr val="FFFFFF"/>
                          </a:solidFill>
                          <a:latin typeface="Calibri"/>
                        </a:rPr>
                        <a:t>Release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changed for the lake and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Slides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2.6.5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History queries over the lake: </a:t>
                      </a:r>
                      <a:r>
                        <a:rPr sz="1100" b="0" i="0">
                          <a:solidFill>
                            <a:srgbClr val="0E7C86"/>
                          </a:solidFill>
                          <a:latin typeface="Consolas"/>
                        </a:rPr>
                        <a:t>TRD &lt;id&gt; 30</a:t>
                      </a:r>
                      <a:r>
                        <a:rPr sz="1200" b="0" i="0">
                          <a:solidFill>
                            <a:srgbClr val="1C2433"/>
                          </a:solidFill>
                          <a:latin typeface="Calibri"/>
                        </a:rPr>
                        <a:t>; the Delta fast path lists an entity's days from partitions and id maps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Delta and Iceberg side by side (</a:t>
                      </a:r>
                      <a:r>
                        <a:rPr sz="1100" b="0" i="0">
                          <a:solidFill>
                            <a:srgbClr val="0E7C86"/>
                          </a:solidFill>
                          <a:latin typeface="Consolas"/>
                        </a:rPr>
                        <a:t>--store calypso=iceberg</a:t>
                      </a:r>
                      <a:r>
                        <a:rPr sz="1200" b="0" i="0">
                          <a:solidFill>
                            <a:srgbClr val="1C2433"/>
                          </a:solidFill>
                          <a:latin typeface="Calibri"/>
                        </a:rPr>
                        <a:t>); Drishti*net gossip on its own port and HTTP/2 between nodes; </a:t>
                      </a:r>
                      <a:r>
                        <a:rPr sz="1100" b="0" i="0">
                          <a:solidFill>
                            <a:srgbClr val="0E7C86"/>
                          </a:solidFill>
                          <a:latin typeface="Consolas"/>
                        </a:rPr>
                        <a:t>lake maintain</a:t>
                      </a:r>
                      <a:r>
                        <a:rPr sz="1200" b="0" i="0">
                          <a:solidFill>
                            <a:srgbClr val="1C2433"/>
                          </a:solidFill>
                          <a:latin typeface="Calibri"/>
                        </a:rPr>
                        <a:t> lays out the per-source trade tables; </a:t>
                      </a:r>
                      <a:r>
                        <a:rPr sz="1100" b="0" i="0">
                          <a:solidFill>
                            <a:srgbClr val="0E7C86"/>
                          </a:solidFill>
                          <a:latin typeface="Consolas"/>
                        </a:rPr>
                        <a:t>lake build</a:t>
                      </a:r>
                      <a:r>
                        <a:rPr sz="1200" b="0" i="0">
                          <a:solidFill>
                            <a:srgbClr val="1C2433"/>
                          </a:solidFill>
                          <a:latin typeface="Calibri"/>
                        </a:rPr>
                        <a:t> one commit per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9, 27, 58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2.7.0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content store (filesystem, sqlite, postgres, </a:t>
                      </a:r>
                      <a:r>
                        <a:rPr sz="1200" b="1" i="0">
                          <a:solidFill>
                            <a:srgbClr val="1C2433"/>
                          </a:solidFill>
                          <a:latin typeface="Calibri"/>
                        </a:rPr>
                        <a:t>s3</a:t>
                      </a:r>
                      <a:r>
                        <a:rPr sz="1200" b="0" i="0">
                          <a:solidFill>
                            <a:srgbClr val="1C2433"/>
                          </a:solidFill>
                          <a:latin typeface="Calibri"/>
                        </a:rPr>
                        <a:t> with conditional PUT); S3 tested on S3Mock, moto and MinIO; </a:t>
                      </a:r>
                      <a:r>
                        <a:rPr sz="1100" b="0" i="0">
                          <a:solidFill>
                            <a:srgbClr val="0E7C86"/>
                          </a:solidFill>
                          <a:latin typeface="Consolas"/>
                        </a:rPr>
                        <a:t>lake publish</a:t>
                      </a:r>
                      <a:r>
                        <a:rPr sz="1200" b="0" i="0">
                          <a:solidFill>
                            <a:srgbClr val="1C2433"/>
                          </a:solidFill>
                          <a:latin typeface="Calibri"/>
                        </a:rPr>
                        <a:t> checks the store it commits to; us-equities and gleif served from 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53, 54, 85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 computed for any scope from P&amp;L vectors in Delta (</a:t>
                      </a:r>
                      <a:r>
                        <a:rPr sz="1100" b="0" i="0">
                          <a:solidFill>
                            <a:srgbClr val="0E7C86"/>
                          </a:solidFill>
                          <a:latin typeface="Consolas"/>
                        </a:rPr>
                        <a:t>list&lt;double&gt;</a:t>
                      </a:r>
                      <a:r>
                        <a:rPr sz="1200" b="0" i="0">
                          <a:solidFill>
                            <a:srgbClr val="1C2433"/>
                          </a:solidFill>
                          <a:latin typeface="Calibri"/>
                        </a:rPr>
                        <a:t> columns); risk lake kept 7 years; official VaR published append-only to </a:t>
                      </a:r>
                      <a:r>
                        <a:rPr sz="1100" b="0" i="0">
                          <a:solidFill>
                            <a:srgbClr val="0E7C86"/>
                          </a:solidFill>
                          <a:latin typeface="Consolas"/>
                        </a:rPr>
                        <a:t>risk-results/var-official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62, 63, 65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Exposure computed for any scope from </a:t>
                      </a:r>
                      <a:r>
                        <a:rPr sz="1100" b="0" i="0">
                          <a:solidFill>
                            <a:srgbClr val="0E7C86"/>
                          </a:solidFill>
                          <a:latin typeface="Consolas"/>
                        </a:rPr>
                        <a:t>exposure-path</a:t>
                      </a:r>
                      <a:r>
                        <a:rPr sz="1200" b="0" i="0">
                          <a:solidFill>
                            <a:srgbClr val="1C2433"/>
                          </a:solidFill>
                          <a:latin typeface="Calibri"/>
                        </a:rPr>
                        <a:t> vectors; official exposure published; VaR and exposure in BI read the published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2.9.2–2.9.3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funds pack (SEC public data, on Delta); DATAMAP: every kind, count and join checked against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85, 86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JSON Lines is the data standard (generate, then load); CSV input deprecated; official results also as JSONL beside Delta; scenario PVs, intraday batches and Kafka micro-batches appended to the lake; the demo lake has 84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44, 64, 84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Status: what exists today, and how it was tested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read this first</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a:t>
            </a:r>
          </a:p>
        </p:txBody>
      </p:sp>
      <p:sp>
        <p:nvSpPr>
          <p:cNvPr id="9" name="Status BUILT"/>
          <p:cNvSpPr/>
          <p:nvPr/>
        </p:nvSpPr>
        <p:spPr>
          <a:xfrm>
            <a:off x="411480" y="1243584"/>
            <a:ext cx="1234440" cy="292608"/>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FFFFFF"/>
                </a:solidFill>
                <a:latin typeface="Calibri"/>
              </a:rPr>
              <a:t>BUILT</a:t>
            </a:r>
          </a:p>
        </p:txBody>
      </p:sp>
      <p:sp>
        <p:nvSpPr>
          <p:cNvPr id="10" name="TextBox 9"/>
          <p:cNvSpPr txBox="1"/>
          <p:nvPr/>
        </p:nvSpPr>
        <p:spPr>
          <a:xfrm>
            <a:off x="1874520" y="1188720"/>
            <a:ext cx="9875520" cy="502920"/>
          </a:xfrm>
          <a:prstGeom prst="rect">
            <a:avLst/>
          </a:prstGeom>
          <a:noFill/>
        </p:spPr>
        <p:txBody>
          <a:bodyPr wrap="square" lIns="0" rIns="0" tIns="0" bIns="0" anchor="ctr">
            <a:spAutoFit/>
          </a:bodyPr>
          <a:lstStyle/>
          <a:p>
            <a:pPr algn="l">
              <a:spcAft>
                <a:spcPts val="600"/>
              </a:spcAft>
              <a:buNone/>
            </a:pPr>
            <a:r>
              <a:rPr sz="1400" b="0" i="0">
                <a:solidFill>
                  <a:srgbClr val="1C2433"/>
                </a:solidFill>
                <a:latin typeface="Calibri"/>
              </a:rPr>
              <a:t>In the code and tested; shipped in a release up to 2.9.4. Everything on the AWS lake, the risk lake, JSON Lines, the S3 work and Drishti*net in this deck is built.</a:t>
            </a:r>
          </a:p>
        </p:txBody>
      </p:sp>
      <p:sp>
        <p:nvSpPr>
          <p:cNvPr id="11" name="Status DESIGNED"/>
          <p:cNvSpPr/>
          <p:nvPr/>
        </p:nvSpPr>
        <p:spPr>
          <a:xfrm>
            <a:off x="411480" y="1847088"/>
            <a:ext cx="1234440" cy="292608"/>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0B1E3B"/>
                </a:solidFill>
                <a:latin typeface="Calibri"/>
              </a:rPr>
              <a:t>DESIGNED</a:t>
            </a:r>
          </a:p>
        </p:txBody>
      </p:sp>
      <p:sp>
        <p:nvSpPr>
          <p:cNvPr id="12" name="TextBox 11"/>
          <p:cNvSpPr txBox="1"/>
          <p:nvPr/>
        </p:nvSpPr>
        <p:spPr>
          <a:xfrm>
            <a:off x="1874520" y="1792224"/>
            <a:ext cx="9875520" cy="502920"/>
          </a:xfrm>
          <a:prstGeom prst="rect">
            <a:avLst/>
          </a:prstGeom>
          <a:noFill/>
        </p:spPr>
        <p:txBody>
          <a:bodyPr wrap="square" lIns="0" rIns="0" tIns="0" bIns="0" anchor="ctr">
            <a:spAutoFit/>
          </a:bodyPr>
          <a:lstStyle/>
          <a:p>
            <a:pPr algn="l">
              <a:spcAft>
                <a:spcPts val="600"/>
              </a:spcAft>
              <a:buNone/>
            </a:pPr>
            <a:r>
              <a:rPr sz="1400" b="0" i="0">
                <a:solidFill>
                  <a:srgbClr val="1C2433"/>
                </a:solidFill>
                <a:latin typeface="Calibri"/>
              </a:rPr>
              <a:t>A design its own document describes and says is not built: SUPER_SCALE steps S1–S8; VaR sharding across a cluster of Drishti servers; the bank-scale vector layout (sort, ZSTD, byte-stream split).</a:t>
            </a:r>
          </a:p>
        </p:txBody>
      </p:sp>
      <p:sp>
        <p:nvSpPr>
          <p:cNvPr id="13" name="Status PROPOSED"/>
          <p:cNvSpPr/>
          <p:nvPr/>
        </p:nvSpPr>
        <p:spPr>
          <a:xfrm>
            <a:off x="411480" y="2450592"/>
            <a:ext cx="1234440" cy="292608"/>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E87A1E"/>
                </a:solidFill>
                <a:latin typeface="Calibri"/>
              </a:rPr>
              <a:t>PROPOSED</a:t>
            </a:r>
          </a:p>
        </p:txBody>
      </p:sp>
      <p:sp>
        <p:nvSpPr>
          <p:cNvPr id="14" name="TextBox 13"/>
          <p:cNvSpPr txBox="1"/>
          <p:nvPr/>
        </p:nvSpPr>
        <p:spPr>
          <a:xfrm>
            <a:off x="1874520" y="2395728"/>
            <a:ext cx="9875520" cy="502920"/>
          </a:xfrm>
          <a:prstGeom prst="rect">
            <a:avLst/>
          </a:prstGeom>
          <a:noFill/>
        </p:spPr>
        <p:txBody>
          <a:bodyPr wrap="square" lIns="0" rIns="0" tIns="0" bIns="0" anchor="ctr">
            <a:spAutoFit/>
          </a:bodyPr>
          <a:lstStyle/>
          <a:p>
            <a:pPr algn="l">
              <a:spcAft>
                <a:spcPts val="600"/>
              </a:spcAft>
              <a:buNone/>
            </a:pPr>
            <a:r>
              <a:rPr sz="1400" b="0" i="0">
                <a:solidFill>
                  <a:srgbClr val="1C2433"/>
                </a:solidFill>
                <a:latin typeface="Calibri"/>
              </a:rPr>
              <a:t>This deck's recommendation, not yet in the docs (each one is marked where it appears).</a:t>
            </a:r>
          </a:p>
        </p:txBody>
      </p:sp>
      <p:sp>
        <p:nvSpPr>
          <p:cNvPr id="15" name="Status MEASURED"/>
          <p:cNvSpPr/>
          <p:nvPr/>
        </p:nvSpPr>
        <p:spPr>
          <a:xfrm>
            <a:off x="411480" y="3054096"/>
            <a:ext cx="1234440" cy="292608"/>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FFFFFF"/>
                </a:solidFill>
                <a:latin typeface="Calibri"/>
              </a:rPr>
              <a:t>MEASURED</a:t>
            </a:r>
          </a:p>
        </p:txBody>
      </p:sp>
      <p:sp>
        <p:nvSpPr>
          <p:cNvPr id="16" name="TextBox 15"/>
          <p:cNvSpPr txBox="1"/>
          <p:nvPr/>
        </p:nvSpPr>
        <p:spPr>
          <a:xfrm>
            <a:off x="1874520" y="2999232"/>
            <a:ext cx="9875520" cy="502920"/>
          </a:xfrm>
          <a:prstGeom prst="rect">
            <a:avLst/>
          </a:prstGeom>
          <a:noFill/>
        </p:spPr>
        <p:txBody>
          <a:bodyPr wrap="square" lIns="0" rIns="0" tIns="0" bIns="0" anchor="ctr">
            <a:spAutoFit/>
          </a:bodyPr>
          <a:lstStyle/>
          <a:p>
            <a:pPr algn="l">
              <a:spcAft>
                <a:spcPts val="600"/>
              </a:spcAft>
              <a:buNone/>
            </a:pPr>
            <a:r>
              <a:rPr sz="1400" b="0" i="0">
                <a:solidFill>
                  <a:srgbClr val="1C2433"/>
                </a:solidFill>
                <a:latin typeface="Calibri"/>
              </a:rPr>
              <a:t>A number measured on Drishti (the doc names the test or benchmark).</a:t>
            </a:r>
          </a:p>
        </p:txBody>
      </p:sp>
      <p:sp>
        <p:nvSpPr>
          <p:cNvPr id="17" name="Status ESTIMATED"/>
          <p:cNvSpPr/>
          <p:nvPr/>
        </p:nvSpPr>
        <p:spPr>
          <a:xfrm>
            <a:off x="411480" y="3657600"/>
            <a:ext cx="1234440" cy="29260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5B677A"/>
                </a:solidFill>
                <a:latin typeface="Calibri"/>
              </a:rPr>
              <a:t>ESTIMATED</a:t>
            </a:r>
          </a:p>
        </p:txBody>
      </p:sp>
      <p:sp>
        <p:nvSpPr>
          <p:cNvPr id="18" name="TextBox 17"/>
          <p:cNvSpPr txBox="1"/>
          <p:nvPr/>
        </p:nvSpPr>
        <p:spPr>
          <a:xfrm>
            <a:off x="1874520" y="3602736"/>
            <a:ext cx="9875520" cy="502920"/>
          </a:xfrm>
          <a:prstGeom prst="rect">
            <a:avLst/>
          </a:prstGeom>
          <a:noFill/>
        </p:spPr>
        <p:txBody>
          <a:bodyPr wrap="square" lIns="0" rIns="0" tIns="0" bIns="0" anchor="ctr">
            <a:spAutoFit/>
          </a:bodyPr>
          <a:lstStyle/>
          <a:p>
            <a:pPr algn="l">
              <a:spcAft>
                <a:spcPts val="600"/>
              </a:spcAft>
              <a:buNone/>
            </a:pPr>
            <a:r>
              <a:rPr sz="1400" b="0" i="0">
                <a:solidFill>
                  <a:srgbClr val="1C2433"/>
                </a:solidFill>
                <a:latin typeface="Calibri"/>
              </a:rPr>
              <a:t>A number from arithmetic or a linear extrapolation of measured points; to be replaced by measurement.</a:t>
            </a:r>
          </a:p>
        </p:txBody>
      </p:sp>
      <p:sp>
        <p:nvSpPr>
          <p:cNvPr id="19" name="Callout"/>
          <p:cNvSpPr/>
          <p:nvPr/>
        </p:nvSpPr>
        <p:spPr>
          <a:xfrm>
            <a:off x="411480" y="4343400"/>
            <a:ext cx="11365992" cy="1920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Callout edge"/>
          <p:cNvSpPr/>
          <p:nvPr/>
        </p:nvSpPr>
        <p:spPr>
          <a:xfrm>
            <a:off x="411480" y="4361688"/>
            <a:ext cx="82296" cy="18836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640080" y="4416552"/>
            <a:ext cx="11000232" cy="1773936"/>
          </a:xfrm>
          <a:prstGeom prst="rect">
            <a:avLst/>
          </a:prstGeom>
          <a:noFill/>
        </p:spPr>
        <p:txBody>
          <a:bodyPr wrap="square" lIns="0" rIns="0" tIns="0" bIns="0" anchor="ctr">
            <a:spAutoFit/>
          </a:bodyPr>
          <a:lstStyle/>
          <a:p>
            <a:pPr algn="l">
              <a:spcAft>
                <a:spcPts val="600"/>
              </a:spcAft>
              <a:buNone/>
            </a:pPr>
            <a:r>
              <a:rPr sz="1500" b="1" i="0">
                <a:solidFill>
                  <a:srgbClr val="1C2433"/>
                </a:solidFill>
                <a:latin typeface="Calibri"/>
              </a:rPr>
              <a:t>How it was tested</a:t>
            </a:r>
          </a:p>
          <a:p>
            <a:pPr algn="l">
              <a:spcAft>
                <a:spcPts val="600"/>
              </a:spcAft>
              <a:buNone/>
            </a:pPr>
            <a:r>
              <a:rPr sz="1300" b="0" i="0">
                <a:solidFill>
                  <a:srgbClr val="1C2433"/>
                </a:solidFill>
                <a:latin typeface="Calibri"/>
              </a:rPr>
              <a:t>Every AWS script with --help and --dry-run (</a:t>
            </a:r>
            <a:r>
              <a:rPr sz="1200" b="0" i="0">
                <a:solidFill>
                  <a:srgbClr val="0E7C86"/>
                </a:solidFill>
                <a:latin typeface="Consolas"/>
              </a:rPr>
              <a:t>tools/test_deploy_aws.py</a:t>
            </a:r>
            <a:r>
              <a:rPr sz="1300" b="0" i="0">
                <a:solidFill>
                  <a:srgbClr val="1C2433"/>
                </a:solidFill>
                <a:latin typeface="Calibri"/>
              </a:rPr>
              <a:t>, an aws that fails if called). Delta on S3 and </a:t>
            </a:r>
            <a:r>
              <a:rPr sz="1200" b="0" i="0">
                <a:solidFill>
                  <a:srgbClr val="0E7C86"/>
                </a:solidFill>
                <a:latin typeface="Consolas"/>
              </a:rPr>
              <a:t>lake publish</a:t>
            </a:r>
            <a:r>
              <a:rPr sz="1300" b="0" i="0">
                <a:solidFill>
                  <a:srgbClr val="1C2433"/>
                </a:solidFill>
                <a:latin typeface="Calibri"/>
              </a:rPr>
              <a:t> on moto, including three publishes at once; the content store and the Iceberg engine on S3Mock and MinIO; mixed Delta and Iceberg storage by an equality test (18 answers the same).</a:t>
            </a:r>
          </a:p>
          <a:p>
            <a:pPr algn="l">
              <a:spcAft>
                <a:spcPts val="600"/>
              </a:spcAft>
              <a:buNone/>
            </a:pPr>
            <a:r>
              <a:rPr sz="1300" b="1" i="0">
                <a:solidFill>
                  <a:srgbClr val="1C2433"/>
                </a:solidFill>
                <a:latin typeface="Calibri"/>
              </a:rPr>
              <a:t>Not yet: the first run in a real AWS account (steps 0–11 and runbooks 18). Every number marked ESTIMATED waits for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01</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picture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From the source systems' JSON Lines dumps to a trader's screen: landing bucket → loader task → the lake in S3 → Drishti servers → EFS for state; and Delta or Iceberg underneath, with the same Drishti above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picture: the whole flow on one page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a:t>
            </a:r>
          </a:p>
        </p:txBody>
      </p:sp>
      <p:sp>
        <p:nvSpPr>
          <p:cNvPr id="9" name="Rounded Rectangle 8"/>
          <p:cNvSpPr/>
          <p:nvPr/>
        </p:nvSpPr>
        <p:spPr>
          <a:xfrm>
            <a:off x="411480" y="1097280"/>
            <a:ext cx="2514600" cy="118872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43000"/>
            <a:ext cx="23317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Sources</a:t>
            </a:r>
          </a:p>
        </p:txBody>
      </p:sp>
      <p:sp>
        <p:nvSpPr>
          <p:cNvPr id="11" name="TextBox 10"/>
          <p:cNvSpPr txBox="1"/>
          <p:nvPr/>
        </p:nvSpPr>
        <p:spPr>
          <a:xfrm>
            <a:off x="502920" y="1463040"/>
            <a:ext cx="233172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ENDUR, CALYPSO, MUREX, reference, risk batch</a:t>
            </a:r>
          </a:p>
          <a:p>
            <a:pPr algn="l" marL="201168" indent="-201168">
              <a:spcAft>
                <a:spcPts val="200"/>
              </a:spcAft>
              <a:buClr>
                <a:srgbClr val="E87A1E"/>
              </a:buClr>
              <a:buSzPct val="100000"/>
              <a:buFont typeface="Arial"/>
              <a:buChar char="•"/>
            </a:pPr>
            <a:r>
              <a:rPr sz="1200" b="0" i="0">
                <a:solidFill>
                  <a:srgbClr val="1C2433"/>
                </a:solidFill>
                <a:latin typeface="Calibri"/>
              </a:rPr>
              <a:t>JSON Lines </a:t>
            </a:r>
            <a:r>
              <a:rPr sz="1100" b="0" i="0">
                <a:solidFill>
                  <a:srgbClr val="0E7C86"/>
                </a:solidFill>
                <a:latin typeface="Consolas"/>
              </a:rPr>
              <a:t>.jsonl(.gz)</a:t>
            </a:r>
            <a:r>
              <a:rPr sz="1200" b="0" i="0">
                <a:solidFill>
                  <a:srgbClr val="1C2433"/>
                </a:solidFill>
                <a:latin typeface="Calibri"/>
              </a:rPr>
              <a:t>; CSV deprecated</a:t>
            </a:r>
          </a:p>
        </p:txBody>
      </p:sp>
      <p:sp>
        <p:nvSpPr>
          <p:cNvPr id="12" name="Rounded Rectangle 11"/>
          <p:cNvSpPr/>
          <p:nvPr/>
        </p:nvSpPr>
        <p:spPr>
          <a:xfrm>
            <a:off x="3200400" y="1097280"/>
            <a:ext cx="406908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3291840" y="1143000"/>
            <a:ext cx="38862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 &lt;org&gt;-drishti-&lt;env&gt;-landing</a:t>
            </a:r>
          </a:p>
        </p:txBody>
      </p:sp>
      <p:sp>
        <p:nvSpPr>
          <p:cNvPr id="14" name="TextBox 13"/>
          <p:cNvSpPr txBox="1"/>
          <p:nvPr/>
        </p:nvSpPr>
        <p:spPr>
          <a:xfrm>
            <a:off x="3291840" y="1463040"/>
            <a:ext cx="388620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2026-10-20/endur/*.jsonl.gz</a:t>
            </a:r>
            <a:r>
              <a:rPr sz="1200" b="0" i="0">
                <a:solidFill>
                  <a:srgbClr val="1C2433"/>
                </a:solidFill>
                <a:latin typeface="Calibri"/>
              </a:rPr>
              <a:t>, …/calypso/, …/murex/</a:t>
            </a:r>
          </a:p>
          <a:p>
            <a:pPr algn="l" marL="201168" indent="-201168">
              <a:spcAft>
                <a:spcPts val="200"/>
              </a:spcAft>
              <a:buClr>
                <a:srgbClr val="E87A1E"/>
              </a:buClr>
              <a:buSzPct val="100000"/>
              <a:buFont typeface="Arial"/>
              <a:buChar char="•"/>
            </a:pPr>
            <a:r>
              <a:rPr sz="1200" b="0" i="0">
                <a:solidFill>
                  <a:srgbClr val="1C2433"/>
                </a:solidFill>
                <a:latin typeface="Calibri"/>
              </a:rPr>
              <a:t>kept </a:t>
            </a:r>
            <a:r>
              <a:rPr sz="1100" b="0" i="0">
                <a:solidFill>
                  <a:srgbClr val="0E7C86"/>
                </a:solidFill>
                <a:latin typeface="Consolas"/>
              </a:rPr>
              <a:t>LANDING_KEEP_DAYS</a:t>
            </a:r>
            <a:r>
              <a:rPr sz="1200" b="0" i="0">
                <a:solidFill>
                  <a:srgbClr val="1C2433"/>
                </a:solidFill>
                <a:latin typeface="Calibri"/>
              </a:rPr>
              <a:t> (30), then expired</a:t>
            </a:r>
          </a:p>
        </p:txBody>
      </p:sp>
      <p:sp>
        <p:nvSpPr>
          <p:cNvPr id="15" name="Rounded Rectangle 14"/>
          <p:cNvSpPr/>
          <p:nvPr/>
        </p:nvSpPr>
        <p:spPr>
          <a:xfrm>
            <a:off x="7543800" y="1097280"/>
            <a:ext cx="4233672"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7635240" y="1143000"/>
            <a:ext cx="40507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EventBridge Scheduler</a:t>
            </a:r>
          </a:p>
        </p:txBody>
      </p:sp>
      <p:sp>
        <p:nvSpPr>
          <p:cNvPr id="17" name="TextBox 16"/>
          <p:cNvSpPr txBox="1"/>
          <p:nvPr/>
        </p:nvSpPr>
        <p:spPr>
          <a:xfrm>
            <a:off x="7635240" y="1463040"/>
            <a:ext cx="4050791"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22:30 New York, Monday to Friday</a:t>
            </a:r>
          </a:p>
          <a:p>
            <a:pPr algn="l" marL="201168" indent="-201168">
              <a:spcAft>
                <a:spcPts val="200"/>
              </a:spcAft>
              <a:buClr>
                <a:srgbClr val="E87A1E"/>
              </a:buClr>
              <a:buSzPct val="100000"/>
              <a:buFont typeface="Arial"/>
              <a:buChar char="•"/>
            </a:pPr>
            <a:r>
              <a:rPr sz="1200" b="0" i="0">
                <a:solidFill>
                  <a:srgbClr val="1C2433"/>
                </a:solidFill>
                <a:latin typeface="Calibri"/>
              </a:rPr>
              <a:t>runs the loader task; nightly maintain, daily report</a:t>
            </a:r>
          </a:p>
        </p:txBody>
      </p:sp>
      <p:cxnSp>
        <p:nvCxnSpPr>
          <p:cNvPr id="18" name="Connector 17"/>
          <p:cNvCxnSpPr/>
          <p:nvPr/>
        </p:nvCxnSpPr>
        <p:spPr>
          <a:xfrm>
            <a:off x="2926080" y="1691640"/>
            <a:ext cx="27432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269480" y="1691640"/>
            <a:ext cx="27432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2514600"/>
            <a:ext cx="1136599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2560320"/>
            <a:ext cx="11183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task · loader · load-day.sh, per table, under the table's lock (EFS)</a:t>
            </a:r>
          </a:p>
        </p:txBody>
      </p:sp>
      <p:sp>
        <p:nvSpPr>
          <p:cNvPr id="22" name="TextBox 21"/>
          <p:cNvSpPr txBox="1"/>
          <p:nvPr/>
        </p:nvSpPr>
        <p:spPr>
          <a:xfrm>
            <a:off x="502920" y="2880360"/>
            <a:ext cx="11183112"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1 </a:t>
            </a:r>
            <a:r>
              <a:rPr sz="1100" b="0" i="0">
                <a:solidFill>
                  <a:srgbClr val="0E7C86"/>
                </a:solidFill>
                <a:latin typeface="Consolas"/>
              </a:rPr>
              <a:t>aws s3 sync</a:t>
            </a:r>
            <a:r>
              <a:rPr sz="1200" b="0" i="0">
                <a:solidFill>
                  <a:srgbClr val="1C2433"/>
                </a:solidFill>
                <a:latin typeface="Calibri"/>
              </a:rPr>
              <a:t> landing → EFS scratch   2 </a:t>
            </a:r>
            <a:r>
              <a:rPr sz="1100" b="0" i="0">
                <a:solidFill>
                  <a:srgbClr val="0E7C86"/>
                </a:solidFill>
                <a:latin typeface="Consolas"/>
              </a:rPr>
              <a:t>lake build</a:t>
            </a:r>
            <a:r>
              <a:rPr sz="1200" b="0" i="0">
                <a:solidFill>
                  <a:srgbClr val="1C2433"/>
                </a:solidFill>
                <a:latin typeface="Calibri"/>
              </a:rPr>
              <a:t> → scratch Delta table: promoted and vector columns, sorted by id, row groups 1 MB</a:t>
            </a:r>
          </a:p>
          <a:p>
            <a:pPr algn="l" marL="201168" indent="-201168">
              <a:spcAft>
                <a:spcPts val="200"/>
              </a:spcAft>
              <a:buClr>
                <a:srgbClr val="E87A1E"/>
              </a:buClr>
              <a:buSzPct val="100000"/>
              <a:buFont typeface="Arial"/>
              <a:buChar char="•"/>
            </a:pPr>
            <a:r>
              <a:rPr sz="1200" b="0" i="0">
                <a:solidFill>
                  <a:srgbClr val="1C2433"/>
                </a:solidFill>
                <a:latin typeface="Calibri"/>
              </a:rPr>
              <a:t>3 </a:t>
            </a:r>
            <a:r>
              <a:rPr sz="1100" b="0" i="0">
                <a:solidFill>
                  <a:srgbClr val="0E7C86"/>
                </a:solidFill>
                <a:latin typeface="Consolas"/>
              </a:rPr>
              <a:t>aws s3 sync</a:t>
            </a:r>
            <a:r>
              <a:rPr sz="1200" b="0" i="0">
                <a:solidFill>
                  <a:srgbClr val="1C2433"/>
                </a:solidFill>
                <a:latin typeface="Calibri"/>
              </a:rPr>
              <a:t> data files → S3 (new UUID names)   4 </a:t>
            </a:r>
            <a:r>
              <a:rPr sz="1100" b="0" i="0">
                <a:solidFill>
                  <a:srgbClr val="0E7C86"/>
                </a:solidFill>
                <a:latin typeface="Consolas"/>
              </a:rPr>
              <a:t>lake publish</a:t>
            </a:r>
            <a:r>
              <a:rPr sz="1200" b="0" i="0">
                <a:solidFill>
                  <a:srgbClr val="1C2433"/>
                </a:solidFill>
                <a:latin typeface="Calibri"/>
              </a:rPr>
              <a:t> ONE commit (conditional PUT)   5 metrics Drishti/Lake + data-load signal</a:t>
            </a:r>
          </a:p>
        </p:txBody>
      </p:sp>
      <p:cxnSp>
        <p:nvCxnSpPr>
          <p:cNvPr id="23" name="Connector 22"/>
          <p:cNvCxnSpPr/>
          <p:nvPr/>
        </p:nvCxnSpPr>
        <p:spPr>
          <a:xfrm>
            <a:off x="5212080" y="22860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01200" y="22860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11480" y="3886200"/>
            <a:ext cx="598932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02920" y="3931920"/>
            <a:ext cx="58064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 &lt;org&gt;-drishti-&lt;env&gt;-lake (THE LAKE)</a:t>
            </a:r>
          </a:p>
        </p:txBody>
      </p:sp>
      <p:sp>
        <p:nvSpPr>
          <p:cNvPr id="27" name="TextBox 26"/>
          <p:cNvSpPr txBox="1"/>
          <p:nvPr/>
        </p:nvSpPr>
        <p:spPr>
          <a:xfrm>
            <a:off x="502920" y="4251960"/>
            <a:ext cx="580644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lake/&lt;domain&gt;/&lt;table&gt;/_delta_log/</a:t>
            </a:r>
            <a:r>
              <a:rPr sz="1200" b="0" i="0">
                <a:solidFill>
                  <a:srgbClr val="1C2433"/>
                </a:solidFill>
                <a:latin typeface="Calibri"/>
              </a:rPr>
              <a:t> + </a:t>
            </a:r>
            <a:r>
              <a:rPr sz="1100" b="0" i="0">
                <a:solidFill>
                  <a:srgbClr val="0E7C86"/>
                </a:solidFill>
                <a:latin typeface="Consolas"/>
              </a:rPr>
              <a:t>business_date=…/</a:t>
            </a:r>
            <a:r>
              <a:rPr sz="1200" b="0" i="0">
                <a:solidFill>
                  <a:srgbClr val="1C2433"/>
                </a:solidFill>
                <a:latin typeface="Calibri"/>
              </a:rPr>
              <a:t> Parquet</a:t>
            </a:r>
          </a:p>
          <a:p>
            <a:pPr algn="l" marL="201168" indent="-201168">
              <a:spcAft>
                <a:spcPts val="200"/>
              </a:spcAft>
              <a:buClr>
                <a:srgbClr val="E87A1E"/>
              </a:buClr>
              <a:buSzPct val="100000"/>
              <a:buFont typeface="Arial"/>
              <a:buChar char="•"/>
            </a:pPr>
            <a:r>
              <a:rPr sz="1200" b="0" i="0">
                <a:solidFill>
                  <a:srgbClr val="1C2433"/>
                </a:solidFill>
                <a:latin typeface="Calibri"/>
              </a:rPr>
              <a:t>domains: trading … market, </a:t>
            </a:r>
            <a:r>
              <a:rPr sz="1200" b="1" i="0">
                <a:solidFill>
                  <a:srgbClr val="1C2433"/>
                </a:solidFill>
                <a:latin typeface="Calibri"/>
              </a:rPr>
              <a:t>risk</a:t>
            </a:r>
            <a:r>
              <a:rPr sz="1200" b="0" i="0">
                <a:solidFill>
                  <a:srgbClr val="1C2433"/>
                </a:solidFill>
                <a:latin typeface="Calibri"/>
              </a:rPr>
              <a:t>, </a:t>
            </a:r>
            <a:r>
              <a:rPr sz="1200" b="1" i="0">
                <a:solidFill>
                  <a:srgbClr val="1C2433"/>
                </a:solidFill>
                <a:latin typeface="Calibri"/>
              </a:rPr>
              <a:t>risk-results</a:t>
            </a:r>
            <a:r>
              <a:rPr sz="1200" b="0" i="0">
                <a:solidFill>
                  <a:srgbClr val="1C2433"/>
                </a:solidFill>
                <a:latin typeface="Calibri"/>
              </a:rPr>
              <a:t>, public data</a:t>
            </a:r>
          </a:p>
          <a:p>
            <a:pPr algn="l" marL="201168" indent="-201168">
              <a:spcAft>
                <a:spcPts val="200"/>
              </a:spcAft>
              <a:buClr>
                <a:srgbClr val="E87A1E"/>
              </a:buClr>
              <a:buSzPct val="100000"/>
              <a:buFont typeface="Arial"/>
              <a:buChar char="•"/>
            </a:pPr>
            <a:r>
              <a:rPr sz="1200" b="0" i="0">
                <a:solidFill>
                  <a:srgbClr val="1C2433"/>
                </a:solidFill>
                <a:latin typeface="Calibri"/>
              </a:rPr>
              <a:t>versioning · SSE-KMS · VPC endpoint only · tiers by business date</a:t>
            </a:r>
          </a:p>
        </p:txBody>
      </p:sp>
      <p:cxnSp>
        <p:nvCxnSpPr>
          <p:cNvPr id="28" name="Connector 27"/>
          <p:cNvCxnSpPr/>
          <p:nvPr/>
        </p:nvCxnSpPr>
        <p:spPr>
          <a:xfrm>
            <a:off x="3200400" y="36576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720840" y="3886200"/>
            <a:ext cx="5056632"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812279" y="3931920"/>
            <a:ext cx="487375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services drishti-a, -b, -c (server + console)</a:t>
            </a:r>
          </a:p>
        </p:txBody>
      </p:sp>
      <p:sp>
        <p:nvSpPr>
          <p:cNvPr id="31" name="TextBox 30"/>
          <p:cNvSpPr txBox="1"/>
          <p:nvPr/>
        </p:nvSpPr>
        <p:spPr>
          <a:xfrm>
            <a:off x="6812279" y="4251960"/>
            <a:ext cx="4873752"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Delta connectors, native engine, ranged GETs from </a:t>
            </a:r>
            <a:r>
              <a:rPr sz="1100" b="0" i="0">
                <a:solidFill>
                  <a:srgbClr val="0E7C86"/>
                </a:solidFill>
                <a:latin typeface="Consolas"/>
              </a:rPr>
              <a:t>DRISHTI_DELTA_ROOT</a:t>
            </a:r>
          </a:p>
          <a:p>
            <a:pPr algn="l" marL="201168" indent="-201168">
              <a:spcAft>
                <a:spcPts val="200"/>
              </a:spcAft>
              <a:buClr>
                <a:srgbClr val="E87A1E"/>
              </a:buClr>
              <a:buSzPct val="100000"/>
              <a:buFont typeface="Arial"/>
              <a:buChar char="•"/>
            </a:pPr>
            <a:r>
              <a:rPr sz="1200" b="0" i="0">
                <a:solidFill>
                  <a:srgbClr val="1C2433"/>
                </a:solidFill>
                <a:latin typeface="Calibri"/>
              </a:rPr>
              <a:t>VaR and exposure engines read </a:t>
            </a:r>
            <a:r>
              <a:rPr sz="1100" b="0" i="0">
                <a:solidFill>
                  <a:srgbClr val="0E7C86"/>
                </a:solidFill>
                <a:latin typeface="Consolas"/>
              </a:rPr>
              <a:t>risk/</a:t>
            </a:r>
            <a:r>
              <a:rPr sz="1200" b="0" i="0">
                <a:solidFill>
                  <a:srgbClr val="1C2433"/>
                </a:solidFill>
                <a:latin typeface="Calibri"/>
              </a:rPr>
              <a:t>; caches in heap and on disk</a:t>
            </a:r>
          </a:p>
          <a:p>
            <a:pPr algn="l" marL="201168" indent="-201168">
              <a:spcAft>
                <a:spcPts val="200"/>
              </a:spcAft>
              <a:buClr>
                <a:srgbClr val="E87A1E"/>
              </a:buClr>
              <a:buSzPct val="100000"/>
              <a:buFont typeface="Arial"/>
              <a:buChar char="•"/>
            </a:pPr>
            <a:r>
              <a:rPr sz="1200" b="0" i="0">
                <a:solidFill>
                  <a:srgbClr val="1C2433"/>
                </a:solidFill>
                <a:latin typeface="Calibri"/>
              </a:rPr>
              <a:t>Drishti*net: gossip port + HTTP/2 between task IPs</a:t>
            </a:r>
          </a:p>
        </p:txBody>
      </p:sp>
      <p:cxnSp>
        <p:nvCxnSpPr>
          <p:cNvPr id="32" name="Connector 31"/>
          <p:cNvCxnSpPr/>
          <p:nvPr/>
        </p:nvCxnSpPr>
        <p:spPr>
          <a:xfrm>
            <a:off x="6400800" y="4572000"/>
            <a:ext cx="32004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411480" y="5486400"/>
            <a:ext cx="5989320" cy="8686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02920" y="5532120"/>
            <a:ext cx="58064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task · maintenance (nightly)</a:t>
            </a:r>
          </a:p>
        </p:txBody>
      </p:sp>
      <p:sp>
        <p:nvSpPr>
          <p:cNvPr id="35" name="TextBox 34"/>
          <p:cNvSpPr txBox="1"/>
          <p:nvPr/>
        </p:nvSpPr>
        <p:spPr>
          <a:xfrm>
            <a:off x="502920" y="5852160"/>
            <a:ext cx="5806440"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checkpoint, retention (7-year floor on risk), vacuum; lifecycle rules</a:t>
            </a:r>
          </a:p>
        </p:txBody>
      </p:sp>
      <p:sp>
        <p:nvSpPr>
          <p:cNvPr id="36" name="Rounded Rectangle 35"/>
          <p:cNvSpPr/>
          <p:nvPr/>
        </p:nvSpPr>
        <p:spPr>
          <a:xfrm>
            <a:off x="6720840" y="5486400"/>
            <a:ext cx="5056632" cy="8686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812279" y="5532120"/>
            <a:ext cx="487375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EFS (Regional, encrypted, Elastic)</a:t>
            </a:r>
          </a:p>
        </p:txBody>
      </p:sp>
      <p:sp>
        <p:nvSpPr>
          <p:cNvPr id="38" name="TextBox 37"/>
          <p:cNvSpPr txBox="1"/>
          <p:nvPr/>
        </p:nvSpPr>
        <p:spPr>
          <a:xfrm>
            <a:off x="6812279" y="5852160"/>
            <a:ext cx="4873752"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state, caches, loader scratch, locks; NO lake data</a:t>
            </a:r>
          </a:p>
        </p:txBody>
      </p:sp>
      <p:cxnSp>
        <p:nvCxnSpPr>
          <p:cNvPr id="39" name="Connector 38"/>
          <p:cNvCxnSpPr/>
          <p:nvPr/>
        </p:nvCxnSpPr>
        <p:spPr>
          <a:xfrm>
            <a:off x="3200400" y="53035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235440" y="53035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picture, in words: each box</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a:t>
            </a:r>
          </a:p>
        </p:txBody>
      </p:sp>
      <p:graphicFrame>
        <p:nvGraphicFramePr>
          <p:cNvPr id="9" name="Table"/>
          <p:cNvGraphicFramePr>
            <a:graphicFrameLocks noGrp="1"/>
          </p:cNvGraphicFramePr>
          <p:nvPr/>
        </p:nvGraphicFramePr>
        <p:xfrm>
          <a:off x="411480" y="1188720"/>
          <a:ext cx="11365990" cy="4937760"/>
        </p:xfrm>
        <a:graphic>
          <a:graphicData uri="http://schemas.openxmlformats.org/drawingml/2006/table">
            <a:tbl>
              <a:tblPr firstRow="0" bandRow="0">
                <a:tableStyleId>{5940675A-B579-460E-94D1-54222C63F5DA}</a:tableStyleId>
              </a:tblPr>
              <a:tblGrid>
                <a:gridCol w="1558240"/>
                <a:gridCol w="3208142"/>
                <a:gridCol w="6599608"/>
              </a:tblGrid>
              <a:tr h="548640">
                <a:tc>
                  <a:txBody>
                    <a:bodyPr wrap="square"/>
                    <a:lstStyle/>
                    <a:p>
                      <a:r>
                        <a:rPr sz="1200" b="1" i="0">
                          <a:solidFill>
                            <a:srgbClr val="FFFFFF"/>
                          </a:solidFill>
                          <a:latin typeface="Calibri"/>
                        </a:rPr>
                        <a:t>Box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Key facts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Sources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ENDUR, CALYPSO, MUREX, reference systems, the risk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send JSON Lines, gzipped or not; one folder per date and source; CSV input deprecated in 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Landing 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&lt;org&gt;-drishti-&lt;env&gt;-landing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&lt;date&gt;/&lt;source&gt;/…</a:t>
                      </a:r>
                      <a:r>
                        <a:rPr sz="1200" b="0" i="0">
                          <a:solidFill>
                            <a:srgbClr val="1C2433"/>
                          </a:solidFill>
                          <a:latin typeface="Calibri"/>
                        </a:rPr>
                        <a:t>; dumps expire after 30 days (</a:t>
                      </a:r>
                      <a:r>
                        <a:rPr sz="1100" b="0" i="0">
                          <a:solidFill>
                            <a:srgbClr val="0E7C86"/>
                          </a:solidFill>
                          <a:latin typeface="Consolas"/>
                        </a:rPr>
                        <a:t>LANDING_KEEP_DAYS</a:t>
                      </a:r>
                      <a:r>
                        <a:rPr sz="1200" b="0" i="0">
                          <a:solidFill>
                            <a:srgbClr val="1C2433"/>
                          </a:solidFill>
                          <a:latin typeface="Calibri"/>
                        </a:rPr>
                        <a:t>); same protections as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EventBridge 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LOAD_SCHEDULE</a:t>
                      </a:r>
                      <a:r>
                        <a:rPr sz="1200" b="0" i="0">
                          <a:solidFill>
                            <a:srgbClr val="1C2433"/>
                          </a:solidFill>
                          <a:latin typeface="Calibri"/>
                        </a:rPr>
                        <a:t> 22:30 in </a:t>
                      </a:r>
                      <a:r>
                        <a:rPr sz="1100" b="0" i="0">
                          <a:solidFill>
                            <a:srgbClr val="0E7C86"/>
                          </a:solidFill>
                          <a:latin typeface="Consolas"/>
                        </a:rPr>
                        <a:t>LOAD_SCHEDULE_ZONE</a:t>
                      </a:r>
                      <a:r>
                        <a:rPr sz="1200" b="0" i="0">
                          <a:solidFill>
                            <a:srgbClr val="1C2433"/>
                          </a:solidFill>
                          <a:latin typeface="Calibri"/>
                        </a:rPr>
                        <a:t> (New York), Mon–Fri; also -maintain and -report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Loader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task </a:t>
                      </a:r>
                      <a:r>
                        <a:rPr sz="1100" b="0" i="0">
                          <a:solidFill>
                            <a:srgbClr val="0E7C86"/>
                          </a:solidFill>
                          <a:latin typeface="Consolas"/>
                        </a:rPr>
                        <a:t>drishti-&lt;env&gt;-loader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load-day.sh: sync → build → sync → publish → metrics, per table, under the table's EFS lock; scratch always removed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&lt;org&gt;-drishti-&lt;env&gt;-lake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tables: Parquet + </a:t>
                      </a:r>
                      <a:r>
                        <a:rPr sz="1100" b="0" i="0">
                          <a:solidFill>
                            <a:srgbClr val="0E7C86"/>
                          </a:solidFill>
                          <a:latin typeface="Consolas"/>
                        </a:rPr>
                        <a:t>_delta_log</a:t>
                      </a:r>
                      <a:r>
                        <a:rPr sz="1200" b="0" i="0">
                          <a:solidFill>
                            <a:srgbClr val="1C2433"/>
                          </a:solidFill>
                          <a:latin typeface="Calibri"/>
                        </a:rPr>
                        <a:t>; versioning, SSE-KMS, VPC endpoint only, tiers by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Server nodes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services </a:t>
                      </a:r>
                      <a:r>
                        <a:rPr sz="1100" b="0" i="0">
                          <a:solidFill>
                            <a:srgbClr val="0E7C86"/>
                          </a:solidFill>
                          <a:latin typeface="Consolas"/>
                        </a:rPr>
                        <a:t>drishti-a/-b/-c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server + console per task; ranged GETs; VaR and exposure engines; Drishti*net gossip port + 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Maintenance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ECS task, nightly (</a:t>
                      </a:r>
                      <a:r>
                        <a:rPr sz="1100" b="0" i="0">
                          <a:solidFill>
                            <a:srgbClr val="0E7C86"/>
                          </a:solidFill>
                          <a:latin typeface="Consolas"/>
                        </a:rPr>
                        <a:t>MAINTAIN_SCHEDULE</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 maintain</a:t>
                      </a:r>
                      <a:r>
                        <a:rPr sz="1200" b="0" i="0">
                          <a:solidFill>
                            <a:srgbClr val="1C2433"/>
                          </a:solidFill>
                          <a:latin typeface="Calibri"/>
                        </a:rPr>
                        <a:t> per table under its lock (risk domains never below 7 years), then setup-lifecycle.sh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Regional, encrypted, Elastic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/drishti/&lt;env&gt;/&lt;node&gt;/opt/drishti/{data,config,sutras}</a:t>
                      </a:r>
                      <a:r>
                        <a:rPr sz="1200" b="0" i="0">
                          <a:solidFill>
                            <a:srgbClr val="1C2433"/>
                          </a:solidFill>
                          <a:latin typeface="Calibri"/>
                        </a:rPr>
                        <a:t>; scratch and locks; never lake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Delta or Iceberg: the architecture above storage is identical</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a:t>
            </a:r>
          </a:p>
        </p:txBody>
      </p:sp>
      <p:sp>
        <p:nvSpPr>
          <p:cNvPr id="9" name="Rounded Rectangle 8"/>
          <p:cNvSpPr/>
          <p:nvPr/>
        </p:nvSpPr>
        <p:spPr>
          <a:xfrm>
            <a:off x="411480" y="1143000"/>
            <a:ext cx="7315200" cy="91440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88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Everything a user or another system touches: identical</a:t>
            </a:r>
          </a:p>
        </p:txBody>
      </p:sp>
      <p:sp>
        <p:nvSpPr>
          <p:cNvPr id="11" name="TextBox 10"/>
          <p:cNvSpPr txBox="1"/>
          <p:nvPr/>
        </p:nvSpPr>
        <p:spPr>
          <a:xfrm>
            <a:off x="502920" y="1508760"/>
            <a:ext cx="7132320" cy="502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console, commands, history, search, BI, DATAMAP, REST, CLI, Drishti*net routing</a:t>
            </a:r>
          </a:p>
        </p:txBody>
      </p:sp>
      <p:sp>
        <p:nvSpPr>
          <p:cNvPr id="12" name="Rounded Rectangle 11"/>
          <p:cNvSpPr/>
          <p:nvPr/>
        </p:nvSpPr>
        <p:spPr>
          <a:xfrm>
            <a:off x="411480" y="2286000"/>
            <a:ext cx="7315200" cy="8686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331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connector contract: SourcePlugin, SourceRouter</a:t>
            </a:r>
          </a:p>
        </p:txBody>
      </p:sp>
      <p:sp>
        <p:nvSpPr>
          <p:cNvPr id="14" name="TextBox 13"/>
          <p:cNvSpPr txBox="1"/>
          <p:nvPr/>
        </p:nvSpPr>
        <p:spPr>
          <a:xfrm>
            <a:off x="502920" y="2651760"/>
            <a:ext cx="7132320"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connector file per table: </a:t>
            </a:r>
            <a:r>
              <a:rPr sz="1100" b="0" i="0">
                <a:solidFill>
                  <a:srgbClr val="0E7C86"/>
                </a:solidFill>
                <a:latin typeface="Consolas"/>
              </a:rPr>
              <a:t>plugin: delta</a:t>
            </a:r>
            <a:r>
              <a:rPr sz="1200" b="0" i="0">
                <a:solidFill>
                  <a:srgbClr val="1C2433"/>
                </a:solidFill>
                <a:latin typeface="Calibri"/>
              </a:rPr>
              <a:t> or </a:t>
            </a:r>
            <a:r>
              <a:rPr sz="1100" b="0" i="0">
                <a:solidFill>
                  <a:srgbClr val="0E7C86"/>
                </a:solidFill>
                <a:latin typeface="Consolas"/>
              </a:rPr>
              <a:t>plugin: iceberg</a:t>
            </a:r>
            <a:r>
              <a:rPr sz="1200" b="0" i="0">
                <a:solidFill>
                  <a:srgbClr val="1C2433"/>
                </a:solidFill>
                <a:latin typeface="Calibri"/>
              </a:rPr>
              <a:t>; its name and kinds stay</a:t>
            </a:r>
          </a:p>
        </p:txBody>
      </p:sp>
      <p:cxnSp>
        <p:nvCxnSpPr>
          <p:cNvPr id="15" name="Connector 14"/>
          <p:cNvCxnSpPr/>
          <p:nvPr/>
        </p:nvCxnSpPr>
        <p:spPr>
          <a:xfrm>
            <a:off x="4069080" y="20574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11480" y="3383280"/>
            <a:ext cx="3520440"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02920" y="342900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plugin</a:t>
            </a:r>
          </a:p>
        </p:txBody>
      </p:sp>
      <p:sp>
        <p:nvSpPr>
          <p:cNvPr id="18" name="TextBox 17"/>
          <p:cNvSpPr txBox="1"/>
          <p:nvPr/>
        </p:nvSpPr>
        <p:spPr>
          <a:xfrm>
            <a:off x="502920" y="3749040"/>
            <a:ext cx="333756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drishti-deltalake (native)</a:t>
            </a:r>
          </a:p>
          <a:p>
            <a:pPr algn="l" marL="201168" indent="-201168">
              <a:spcAft>
                <a:spcPts val="200"/>
              </a:spcAft>
              <a:buClr>
                <a:srgbClr val="E87A1E"/>
              </a:buClr>
              <a:buSzPct val="100000"/>
              <a:buFont typeface="Arial"/>
              <a:buChar char="•"/>
            </a:pPr>
            <a:r>
              <a:rPr sz="1200" b="0" i="0">
                <a:solidFill>
                  <a:srgbClr val="1C2433"/>
                </a:solidFill>
                <a:latin typeface="Calibri"/>
              </a:rPr>
              <a:t>vectors streamed (risk lake)</a:t>
            </a:r>
          </a:p>
        </p:txBody>
      </p:sp>
      <p:sp>
        <p:nvSpPr>
          <p:cNvPr id="19" name="Rounded Rectangle 18"/>
          <p:cNvSpPr/>
          <p:nvPr/>
        </p:nvSpPr>
        <p:spPr>
          <a:xfrm>
            <a:off x="4206240" y="3383280"/>
            <a:ext cx="3520440"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4297679" y="342900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Iceberg plugin</a:t>
            </a:r>
          </a:p>
        </p:txBody>
      </p:sp>
      <p:sp>
        <p:nvSpPr>
          <p:cNvPr id="21" name="TextBox 20"/>
          <p:cNvSpPr txBox="1"/>
          <p:nvPr/>
        </p:nvSpPr>
        <p:spPr>
          <a:xfrm>
            <a:off x="4297679" y="3749040"/>
            <a:ext cx="333756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drishti-iceberg (native, no Hadoop)</a:t>
            </a:r>
          </a:p>
          <a:p>
            <a:pPr algn="l" marL="201168" indent="-201168">
              <a:spcAft>
                <a:spcPts val="200"/>
              </a:spcAft>
              <a:buClr>
                <a:srgbClr val="E87A1E"/>
              </a:buClr>
              <a:buSzPct val="100000"/>
              <a:buFont typeface="Arial"/>
              <a:buChar char="•"/>
            </a:pPr>
            <a:r>
              <a:rPr sz="1200" b="0" i="0">
                <a:solidFill>
                  <a:srgbClr val="1C2433"/>
                </a:solidFill>
                <a:latin typeface="Calibri"/>
              </a:rPr>
              <a:t>iceberg-external: others' tables</a:t>
            </a:r>
          </a:p>
        </p:txBody>
      </p:sp>
      <p:cxnSp>
        <p:nvCxnSpPr>
          <p:cNvPr id="22" name="Connector 21"/>
          <p:cNvCxnSpPr/>
          <p:nvPr/>
        </p:nvCxnSpPr>
        <p:spPr>
          <a:xfrm>
            <a:off x="2194560" y="31546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43600" y="31546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11480" y="4754880"/>
            <a:ext cx="7315200" cy="7772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02920" y="480060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drishti-lakeio</a:t>
            </a:r>
          </a:p>
        </p:txBody>
      </p:sp>
      <p:sp>
        <p:nvSpPr>
          <p:cNvPr id="26" name="TextBox 25"/>
          <p:cNvSpPr txBox="1"/>
          <p:nvPr/>
        </p:nvSpPr>
        <p:spPr>
          <a:xfrm>
            <a:off x="502920" y="5120640"/>
            <a:ext cx="7132320" cy="36575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local disk and S3, byte ranges, Parquet codecs, footer cache, conditional PUT</a:t>
            </a:r>
          </a:p>
        </p:txBody>
      </p:sp>
      <p:cxnSp>
        <p:nvCxnSpPr>
          <p:cNvPr id="27" name="Connector 26"/>
          <p:cNvCxnSpPr/>
          <p:nvPr/>
        </p:nvCxnSpPr>
        <p:spPr>
          <a:xfrm>
            <a:off x="2194560" y="45262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943600" y="45262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11480" y="5715000"/>
            <a:ext cx="7315200" cy="6400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502920" y="5760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Amazon S3 (the lake) · EFS (state) · local disk</a:t>
            </a:r>
          </a:p>
        </p:txBody>
      </p:sp>
      <p:cxnSp>
        <p:nvCxnSpPr>
          <p:cNvPr id="31" name="Connector 30"/>
          <p:cNvCxnSpPr/>
          <p:nvPr/>
        </p:nvCxnSpPr>
        <p:spPr>
          <a:xfrm>
            <a:off x="4069080" y="55321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Status BUILT"/>
          <p:cNvSpPr/>
          <p:nvPr/>
        </p:nvSpPr>
        <p:spPr>
          <a:xfrm>
            <a:off x="6583680" y="123444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33" name="TextBox 32"/>
          <p:cNvSpPr txBox="1"/>
          <p:nvPr/>
        </p:nvSpPr>
        <p:spPr>
          <a:xfrm>
            <a:off x="8092440" y="1143000"/>
            <a:ext cx="3657600"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same on both</a:t>
            </a:r>
          </a:p>
        </p:txBody>
      </p:sp>
      <p:sp>
        <p:nvSpPr>
          <p:cNvPr id="34" name="TextBox 33"/>
          <p:cNvSpPr txBox="1"/>
          <p:nvPr/>
        </p:nvSpPr>
        <p:spPr>
          <a:xfrm>
            <a:off x="8092440" y="1554480"/>
            <a:ext cx="3657600" cy="210312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pages, searches, history, BI: 18 of 18 answers equal in the mixed-storage test</a:t>
            </a:r>
          </a:p>
          <a:p>
            <a:pPr algn="l" marL="201168" indent="-201168">
              <a:spcAft>
                <a:spcPts val="500"/>
              </a:spcAft>
              <a:buClr>
                <a:srgbClr val="E87A1E"/>
              </a:buClr>
              <a:buSzPct val="100000"/>
              <a:buFont typeface="Arial"/>
              <a:buChar char="•"/>
            </a:pPr>
            <a:r>
              <a:rPr sz="1300" b="0" i="0">
                <a:solidFill>
                  <a:srgbClr val="1C2433"/>
                </a:solidFill>
                <a:latin typeface="Calibri"/>
              </a:rPr>
              <a:t>commits: S3 conditional PUT, probed at start</a:t>
            </a:r>
          </a:p>
          <a:p>
            <a:pPr algn="l" marL="201168" indent="-201168">
              <a:spcAft>
                <a:spcPts val="500"/>
              </a:spcAft>
              <a:buClr>
                <a:srgbClr val="E87A1E"/>
              </a:buClr>
              <a:buSzPct val="100000"/>
              <a:buFont typeface="Arial"/>
              <a:buChar char="•"/>
            </a:pPr>
            <a:r>
              <a:rPr sz="1300" b="0" i="0">
                <a:solidFill>
                  <a:srgbClr val="1C2433"/>
                </a:solidFill>
                <a:latin typeface="Calibri"/>
              </a:rPr>
              <a:t>S3, IAM, KMS, ECS, EFS and Cloud Map set-up</a:t>
            </a:r>
          </a:p>
        </p:txBody>
      </p:sp>
      <p:sp>
        <p:nvSpPr>
          <p:cNvPr id="35" name="TextBox 34"/>
          <p:cNvSpPr txBox="1"/>
          <p:nvPr/>
        </p:nvSpPr>
        <p:spPr>
          <a:xfrm>
            <a:off x="8092440" y="3749039"/>
            <a:ext cx="3657600"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Where they differ today</a:t>
            </a:r>
          </a:p>
        </p:txBody>
      </p:sp>
      <p:sp>
        <p:nvSpPr>
          <p:cNvPr id="36" name="TextBox 35"/>
          <p:cNvSpPr txBox="1"/>
          <p:nvPr/>
        </p:nvSpPr>
        <p:spPr>
          <a:xfrm>
            <a:off x="8092440" y="4160520"/>
            <a:ext cx="3657600" cy="219456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200" b="0" i="0">
                <a:solidFill>
                  <a:srgbClr val="0E7C86"/>
                </a:solidFill>
                <a:latin typeface="Consolas"/>
              </a:rPr>
              <a:t>deploy/aws/delta-lake/</a:t>
            </a:r>
            <a:r>
              <a:rPr sz="1300" b="0" i="0">
                <a:solidFill>
                  <a:srgbClr val="1C2433"/>
                </a:solidFill>
                <a:latin typeface="Calibri"/>
              </a:rPr>
              <a:t>: load, publish, maintain, lifecycle are Delta's</a:t>
            </a:r>
          </a:p>
          <a:p>
            <a:pPr algn="l" marL="201168" indent="-201168">
              <a:spcAft>
                <a:spcPts val="500"/>
              </a:spcAft>
              <a:buClr>
                <a:srgbClr val="E87A1E"/>
              </a:buClr>
              <a:buSzPct val="100000"/>
              <a:buFont typeface="Arial"/>
              <a:buChar char="•"/>
            </a:pPr>
            <a:r>
              <a:rPr sz="1300" b="0" i="0">
                <a:solidFill>
                  <a:srgbClr val="1C2433"/>
                </a:solidFill>
                <a:latin typeface="Calibri"/>
              </a:rPr>
              <a:t>VaR and exposure inputs: Delta only (streamed vectors); on Iceberg not built</a:t>
            </a:r>
          </a:p>
          <a:p>
            <a:pPr algn="l" marL="201168" indent="-201168">
              <a:spcAft>
                <a:spcPts val="500"/>
              </a:spcAft>
              <a:buClr>
                <a:srgbClr val="E87A1E"/>
              </a:buClr>
              <a:buSzPct val="100000"/>
              <a:buFont typeface="Arial"/>
              <a:buChar char="•"/>
            </a:pPr>
            <a:r>
              <a:rPr sz="1300" b="0" i="0">
                <a:solidFill>
                  <a:srgbClr val="1C2433"/>
                </a:solidFill>
                <a:latin typeface="Calibri"/>
              </a:rPr>
              <a:t>official results: Delta on a local or EFS root (+ JSONL); to S3 PROPOSED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companion deck: Drishti on AWS with Apache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a:t>
            </a:r>
          </a:p>
        </p:txBody>
      </p:sp>
      <p:sp>
        <p:nvSpPr>
          <p:cNvPr id="9" name="Rounded Rectangle 8"/>
          <p:cNvSpPr/>
          <p:nvPr/>
        </p:nvSpPr>
        <p:spPr>
          <a:xfrm>
            <a:off x="411480" y="1234440"/>
            <a:ext cx="4754880" cy="5029200"/>
          </a:xfrm>
          <a:prstGeom prst="roundRect">
            <a:avLst>
              <a:gd name="adj" fmla="val 4000"/>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731520" y="1463040"/>
            <a:ext cx="4206240" cy="457200"/>
          </a:xfrm>
          <a:prstGeom prst="rect">
            <a:avLst/>
          </a:prstGeom>
          <a:noFill/>
        </p:spPr>
        <p:txBody>
          <a:bodyPr wrap="square" lIns="0" rIns="0" tIns="0" bIns="0" anchor="t">
            <a:spAutoFit/>
          </a:bodyPr>
          <a:lstStyle/>
          <a:p>
            <a:pPr algn="l">
              <a:spcAft>
                <a:spcPts val="600"/>
              </a:spcAft>
              <a:buNone/>
            </a:pPr>
            <a:r>
              <a:rPr sz="1300" b="1" i="0">
                <a:solidFill>
                  <a:srgbClr val="E87A1E"/>
                </a:solidFill>
                <a:latin typeface="Calibri"/>
              </a:rPr>
              <a:t>COMPANION DECK</a:t>
            </a:r>
          </a:p>
        </p:txBody>
      </p:sp>
      <p:sp>
        <p:nvSpPr>
          <p:cNvPr id="11" name="TextBox 10"/>
          <p:cNvSpPr txBox="1"/>
          <p:nvPr/>
        </p:nvSpPr>
        <p:spPr>
          <a:xfrm>
            <a:off x="731520" y="1920240"/>
            <a:ext cx="4206240" cy="1280160"/>
          </a:xfrm>
          <a:prstGeom prst="rect">
            <a:avLst/>
          </a:prstGeom>
          <a:noFill/>
        </p:spPr>
        <p:txBody>
          <a:bodyPr wrap="square" lIns="0" rIns="0" tIns="0" bIns="0" anchor="t">
            <a:spAutoFit/>
          </a:bodyPr>
          <a:lstStyle/>
          <a:p>
            <a:pPr algn="l">
              <a:spcAft>
                <a:spcPts val="600"/>
              </a:spcAft>
              <a:buNone/>
            </a:pPr>
            <a:r>
              <a:rPr sz="2800" b="1" i="0">
                <a:solidFill>
                  <a:srgbClr val="FFFFFF"/>
                </a:solidFill>
                <a:latin typeface="Calibri"/>
              </a:rPr>
              <a:t>Drishti on AWS with Apache Iceberg</a:t>
            </a:r>
          </a:p>
        </p:txBody>
      </p:sp>
      <p:sp>
        <p:nvSpPr>
          <p:cNvPr id="12" name="TextBox 11"/>
          <p:cNvSpPr txBox="1"/>
          <p:nvPr/>
        </p:nvSpPr>
        <p:spPr>
          <a:xfrm>
            <a:off x="731520" y="3337560"/>
            <a:ext cx="4206240" cy="457200"/>
          </a:xfrm>
          <a:prstGeom prst="rect">
            <a:avLst/>
          </a:prstGeom>
          <a:noFill/>
        </p:spPr>
        <p:txBody>
          <a:bodyPr wrap="square" lIns="0" rIns="0" tIns="0" bIns="0" anchor="t">
            <a:spAutoFit/>
          </a:bodyPr>
          <a:lstStyle/>
          <a:p>
            <a:pPr algn="l">
              <a:spcAft>
                <a:spcPts val="600"/>
              </a:spcAft>
              <a:buNone/>
            </a:pPr>
            <a:r>
              <a:rPr sz="1400" b="0" i="0">
                <a:solidFill>
                  <a:srgbClr val="C9D3E3"/>
                </a:solidFill>
                <a:latin typeface="Calibri"/>
              </a:rPr>
              <a:t>Drishti-AWS-Iceberg.pptx · 77 slides</a:t>
            </a:r>
          </a:p>
        </p:txBody>
      </p:sp>
      <p:sp>
        <p:nvSpPr>
          <p:cNvPr id="13" name="TextBox 12"/>
          <p:cNvSpPr txBox="1"/>
          <p:nvPr/>
        </p:nvSpPr>
        <p:spPr>
          <a:xfrm>
            <a:off x="731520" y="3931920"/>
            <a:ext cx="4206240" cy="2103120"/>
          </a:xfrm>
          <a:prstGeom prst="rect">
            <a:avLst/>
          </a:prstGeom>
          <a:noFill/>
        </p:spPr>
        <p:txBody>
          <a:bodyPr wrap="square" lIns="0" rIns="0" tIns="0" bIns="0" anchor="t">
            <a:spAutoFit/>
          </a:bodyPr>
          <a:lstStyle/>
          <a:p>
            <a:pPr algn="l">
              <a:spcAft>
                <a:spcPts val="600"/>
              </a:spcAft>
              <a:buNone/>
            </a:pPr>
            <a:r>
              <a:rPr sz="1400" b="0" i="0">
                <a:solidFill>
                  <a:srgbClr val="C9D3E3"/>
                </a:solidFill>
                <a:latin typeface="Calibri"/>
              </a:rPr>
              <a:t>Read it with this deck: the same picture, the same S3-not-EFS answer, the same Drishti above the storage; Iceberg's own catalog, files, maintenance and a guide to choosing.</a:t>
            </a:r>
          </a:p>
        </p:txBody>
      </p:sp>
      <p:sp>
        <p:nvSpPr>
          <p:cNvPr id="14" name="TextBox 13"/>
          <p:cNvSpPr txBox="1"/>
          <p:nvPr/>
        </p:nvSpPr>
        <p:spPr>
          <a:xfrm>
            <a:off x="5486400" y="1234440"/>
            <a:ext cx="6309360" cy="411480"/>
          </a:xfrm>
          <a:prstGeom prst="rect">
            <a:avLst/>
          </a:prstGeom>
          <a:noFill/>
        </p:spPr>
        <p:txBody>
          <a:bodyPr wrap="square" lIns="0" rIns="0" tIns="0" bIns="0" anchor="t">
            <a:spAutoFit/>
          </a:bodyPr>
          <a:lstStyle/>
          <a:p>
            <a:pPr algn="l">
              <a:spcAft>
                <a:spcPts val="600"/>
              </a:spcAft>
              <a:buNone/>
            </a:pPr>
            <a:r>
              <a:rPr sz="1700" b="1" i="0">
                <a:solidFill>
                  <a:srgbClr val="0B1E3B"/>
                </a:solidFill>
                <a:latin typeface="Calibri"/>
              </a:rPr>
              <a:t>What it covers</a:t>
            </a:r>
          </a:p>
        </p:txBody>
      </p:sp>
      <p:sp>
        <p:nvSpPr>
          <p:cNvPr id="15" name="TextBox 14"/>
          <p:cNvSpPr txBox="1"/>
          <p:nvPr/>
        </p:nvSpPr>
        <p:spPr>
          <a:xfrm>
            <a:off x="5486400" y="1691640"/>
            <a:ext cx="6309360" cy="32918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drishti-iceberg as built: native engine, no Hadoop; path-based tables and REST catalogs (SigV4 for Glue)</a:t>
            </a:r>
          </a:p>
          <a:p>
            <a:pPr algn="l" marL="201168" indent="-201168">
              <a:spcAft>
                <a:spcPts val="700"/>
              </a:spcAft>
              <a:buClr>
                <a:srgbClr val="E87A1E"/>
              </a:buClr>
              <a:buSzPct val="100000"/>
              <a:buFont typeface="Arial"/>
              <a:buChar char="•"/>
            </a:pPr>
            <a:r>
              <a:rPr sz="1400" b="0" i="0">
                <a:solidFill>
                  <a:srgbClr val="1C2433"/>
                </a:solidFill>
                <a:latin typeface="Calibri"/>
              </a:rPr>
              <a:t>deploying on AWS with Iceberg: catalog, IAM, KMS, network</a:t>
            </a:r>
          </a:p>
          <a:p>
            <a:pPr algn="l" marL="201168" indent="-201168">
              <a:spcAft>
                <a:spcPts val="700"/>
              </a:spcAft>
              <a:buClr>
                <a:srgbClr val="E87A1E"/>
              </a:buClr>
              <a:buSzPct val="100000"/>
              <a:buFont typeface="Arial"/>
              <a:buChar char="•"/>
            </a:pPr>
            <a:r>
              <a:rPr sz="1400" b="0" i="0">
                <a:solidFill>
                  <a:srgbClr val="1C2433"/>
                </a:solidFill>
                <a:latin typeface="Calibri"/>
              </a:rPr>
              <a:t>layout, files, loading and maintenance in Iceberg terms</a:t>
            </a:r>
          </a:p>
          <a:p>
            <a:pPr algn="l" marL="201168" indent="-201168">
              <a:spcAft>
                <a:spcPts val="700"/>
              </a:spcAft>
              <a:buClr>
                <a:srgbClr val="E87A1E"/>
              </a:buClr>
              <a:buSzPct val="100000"/>
              <a:buFont typeface="Arial"/>
              <a:buChar char="•"/>
            </a:pPr>
            <a:r>
              <a:rPr sz="1400" b="1" i="0">
                <a:solidFill>
                  <a:srgbClr val="1C2433"/>
                </a:solidFill>
                <a:latin typeface="Calibri"/>
              </a:rPr>
              <a:t>Delta Lake and Iceberg side by side</a:t>
            </a:r>
            <a:r>
              <a:rPr sz="1400" b="0" i="0">
                <a:solidFill>
                  <a:srgbClr val="1C2433"/>
                </a:solidFill>
                <a:latin typeface="Calibri"/>
              </a:rPr>
              <a:t>, and </a:t>
            </a:r>
            <a:r>
              <a:rPr sz="1400" b="1" i="0">
                <a:solidFill>
                  <a:srgbClr val="1C2433"/>
                </a:solidFill>
                <a:latin typeface="Calibri"/>
              </a:rPr>
              <a:t>which to choose: a guide for a bank</a:t>
            </a:r>
          </a:p>
          <a:p>
            <a:pPr algn="l" marL="201168" indent="-201168">
              <a:spcAft>
                <a:spcPts val="700"/>
              </a:spcAft>
              <a:buClr>
                <a:srgbClr val="E87A1E"/>
              </a:buClr>
              <a:buSzPct val="100000"/>
              <a:buFont typeface="Arial"/>
              <a:buChar char="•"/>
            </a:pPr>
            <a:r>
              <a:rPr sz="1400" b="0" i="0">
                <a:solidFill>
                  <a:srgbClr val="1C2433"/>
                </a:solidFill>
                <a:latin typeface="Calibri"/>
              </a:rPr>
              <a:t>risk workloads: VaR and exposure inputs and official results are Delta BUILT (local/EFS), Iceberg PROPOSED</a:t>
            </a:r>
          </a:p>
          <a:p>
            <a:pPr algn="l" marL="201168" indent="-201168">
              <a:spcAft>
                <a:spcPts val="700"/>
              </a:spcAft>
              <a:buClr>
                <a:srgbClr val="E87A1E"/>
              </a:buClr>
              <a:buSzPct val="100000"/>
              <a:buFont typeface="Arial"/>
              <a:buChar char="•"/>
            </a:pPr>
            <a:r>
              <a:rPr sz="1400" b="0" i="0">
                <a:solidFill>
                  <a:srgbClr val="1C2433"/>
                </a:solidFill>
                <a:latin typeface="Calibri"/>
              </a:rPr>
              <a:t>migration and coexistence</a:t>
            </a:r>
          </a:p>
          <a:p>
            <a:pPr algn="l" marL="201168" indent="-201168">
              <a:spcAft>
                <a:spcPts val="700"/>
              </a:spcAft>
              <a:buClr>
                <a:srgbClr val="E87A1E"/>
              </a:buClr>
              <a:buSzPct val="100000"/>
              <a:buFont typeface="Arial"/>
              <a:buChar char="•"/>
            </a:pPr>
            <a:r>
              <a:rPr sz="1300" b="0" i="0">
                <a:solidFill>
                  <a:srgbClr val="0E7C86"/>
                </a:solidFill>
                <a:latin typeface="Consolas"/>
              </a:rPr>
              <a:t>iceberg-external</a:t>
            </a:r>
            <a:r>
              <a:rPr sz="1400" b="0" i="0">
                <a:solidFill>
                  <a:srgbClr val="1C2433"/>
                </a:solidFill>
                <a:latin typeface="Calibri"/>
              </a:rPr>
              <a:t>: reading tables Spark, Flink, Trino or Glue write</a:t>
            </a:r>
          </a:p>
        </p:txBody>
      </p:sp>
      <p:sp>
        <p:nvSpPr>
          <p:cNvPr id="16" name="Callout"/>
          <p:cNvSpPr/>
          <p:nvPr/>
        </p:nvSpPr>
        <p:spPr>
          <a:xfrm>
            <a:off x="5486400" y="5120640"/>
            <a:ext cx="6291072" cy="11430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Callout edge"/>
          <p:cNvSpPr/>
          <p:nvPr/>
        </p:nvSpPr>
        <p:spPr>
          <a:xfrm>
            <a:off x="5486400" y="5138927"/>
            <a:ext cx="82296" cy="11064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5715000" y="5193792"/>
            <a:ext cx="5925312" cy="9966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This deck stays on Delta: the AWS scripts, the risk lake and the bank-scale sizing are Delta's. Choose the format per connector; slide 9 shows why nothing above it changes.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02</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Why S3 and not EFS for the lake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Cost, request rate, latency, durability, tiers, other readers and writers, compared at 200 TB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Why S3 and not EFS: the comparison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12</a:t>
            </a:r>
          </a:p>
        </p:txBody>
      </p:sp>
      <p:graphicFrame>
        <p:nvGraphicFramePr>
          <p:cNvPr id="9" name="Table"/>
          <p:cNvGraphicFramePr>
            <a:graphicFrameLocks noGrp="1"/>
          </p:cNvGraphicFramePr>
          <p:nvPr/>
        </p:nvGraphicFramePr>
        <p:xfrm>
          <a:off x="411480" y="1143000"/>
          <a:ext cx="11365992" cy="4023360"/>
        </p:xfrm>
        <a:graphic>
          <a:graphicData uri="http://schemas.openxmlformats.org/drawingml/2006/table">
            <a:tbl>
              <a:tblPr firstRow="0" bandRow="0">
                <a:tableStyleId>{5940675A-B579-460E-94D1-54222C63F5DA}</a:tableStyleId>
              </a:tblPr>
              <a:tblGrid>
                <a:gridCol w="2377440"/>
                <a:gridCol w="4572000"/>
                <a:gridCol w="4416552"/>
              </a:tblGrid>
              <a:tr h="50292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Amazon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Amazon 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Cost of 200 TB (list prices, one Region)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a:t>
                      </a:r>
                      <a:r>
                        <a:rPr sz="1200" b="1" i="0">
                          <a:solidFill>
                            <a:srgbClr val="1C2433"/>
                          </a:solidFill>
                          <a:latin typeface="Calibri"/>
                        </a:rPr>
                        <a:t>USD 1,400 a month</a:t>
                      </a:r>
                      <a:r>
                        <a:rPr sz="1200" b="0" i="0">
                          <a:solidFill>
                            <a:srgbClr val="1C2433"/>
                          </a:solidFill>
                          <a:latin typeface="Calibri"/>
                        </a:rPr>
                        <a:t> tiered by business date; USD 4,600 all in Standard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USD 60,000 a month</a:t>
                      </a:r>
                      <a:r>
                        <a:rPr sz="1200" b="0" i="0">
                          <a:solidFill>
                            <a:srgbClr val="1C2433"/>
                          </a:solidFill>
                          <a:latin typeface="Calibri"/>
                        </a:rPr>
                        <a:t> in EFS Standard; USD 3,200 in Infrequent Access plus a charge on every byte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Request rate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at least 3,500 writes and 5,500 reads a second per prefix; every </a:t>
                      </a:r>
                      <a:r>
                        <a:rPr sz="1100" b="0" i="0">
                          <a:solidFill>
                            <a:srgbClr val="0E7C86"/>
                          </a:solidFill>
                          <a:latin typeface="Consolas"/>
                        </a:rPr>
                        <a:t>business_date=…/PRODUCT_TYPE=…/</a:t>
                      </a:r>
                      <a:r>
                        <a:rPr sz="1200" b="0" i="0">
                          <a:solidFill>
                            <a:srgbClr val="1C2433"/>
                          </a:solidFill>
                          <a:latin typeface="Calibri"/>
                        </a:rPr>
                        <a:t> folder is a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file system's limits, shared by every node, loader and maintenance job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Latency of a single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10–30 ms to the first byte in-Region; Drishti reads one 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1 ms for hot data in Standard; tens of ms in IA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Durability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eleven nines, ≥ 3 AZs, versioning, Cross-Region Replication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Regional (three zones); backup by AWS Backup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Tiers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Standard → Standard-IA → Glacier Instant Retrieval (still ms), by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Standard → IA → Archive by last access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Other readers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Athena, Trino, Spark, EMR, Glue read the same Delta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only something that mounts the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Writers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conditional writes make concurrent commits safe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hard link on a POSIX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532120"/>
            <a:ext cx="11365992" cy="7772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550407"/>
            <a:ext cx="82296" cy="7406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605272"/>
            <a:ext cx="11000232" cy="6309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At 200 TB+ EFS costs 10–40× more and shares one throughput budget. Drishti reads one day's files, one row group of one file, by byte ranges: built for object storage. </a:t>
            </a:r>
            <a:r>
              <a:rPr sz="1300" b="1" i="0">
                <a:solidFill>
                  <a:srgbClr val="1C2433"/>
                </a:solidFill>
                <a:latin typeface="Calibri"/>
              </a:rPr>
              <a:t>The lake is in S3; EFS keeps the small, hot, per-node state.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03</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Built, designed, proposed</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runs today (everything up to 2.9.4), what its own documents describe as designed, and what this deck proposes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Built (1/2): the lake on S3, as in the first edition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14</a:t>
            </a:r>
          </a:p>
        </p:txBody>
      </p:sp>
      <p:graphicFrame>
        <p:nvGraphicFramePr>
          <p:cNvPr id="9" name="Table"/>
          <p:cNvGraphicFramePr>
            <a:graphicFrameLocks noGrp="1"/>
          </p:cNvGraphicFramePr>
          <p:nvPr/>
        </p:nvGraphicFramePr>
        <p:xfrm>
          <a:off x="411480" y="1143000"/>
          <a:ext cx="11365991" cy="4535424"/>
        </p:xfrm>
        <a:graphic>
          <a:graphicData uri="http://schemas.openxmlformats.org/drawingml/2006/table">
            <a:tbl>
              <a:tblPr firstRow="0" bandRow="0">
                <a:tableStyleId>{5940675A-B579-460E-94D1-54222C63F5DA}</a:tableStyleId>
              </a:tblPr>
              <a:tblGrid>
                <a:gridCol w="6400799"/>
                <a:gridCol w="1737360"/>
                <a:gridCol w="3227832"/>
              </a:tblGrid>
              <a:tr h="566928">
                <a:tc>
                  <a:txBody>
                    <a:bodyPr wrap="square"/>
                    <a:lstStyle/>
                    <a:p>
                      <a:r>
                        <a:rPr sz="1200" b="1" i="0">
                          <a:solidFill>
                            <a:srgbClr val="FFFFFF"/>
                          </a:solidFill>
                          <a:latin typeface="Calibri"/>
                        </a:rPr>
                        <a:t>Capability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Status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Reading Delta tables in S3: file lists from the last checkpoint, id maps, one row group per read, footers cached, documents cached on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drishti-deltalake, drishti-lakeio, plugins/drishti-plugin-delta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lake build</a:t>
                      </a:r>
                      <a:r>
                        <a:rPr sz="1200" b="1" i="0">
                          <a:solidFill>
                            <a:srgbClr val="1C2433"/>
                          </a:solidFill>
                          <a:latin typeface="Calibri"/>
                        </a:rPr>
                        <a:t>: JSON Lines into a Delta table on local disk or EFS: promoted and vector columns, partitions, sorted by id per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tools/lake/build.py, the Java writer in the server jar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1" i="0">
                          <a:solidFill>
                            <a:srgbClr val="0E7C86"/>
                          </a:solidFill>
                          <a:latin typeface="Consolas"/>
                        </a:rPr>
                        <a:t>lake publish</a:t>
                      </a:r>
                      <a:r>
                        <a:rPr sz="1200" b="1" i="0">
                          <a:solidFill>
                            <a:srgbClr val="1C2433"/>
                          </a:solidFill>
                          <a:latin typeface="Calibri"/>
                        </a:rPr>
                        <a:t>: a built table committed into an S3 table as ONE commit (S3 conditional writes)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tools/lake/publish.py, test_publish.py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lake maintain</a:t>
                      </a:r>
                      <a:r>
                        <a:rPr sz="1200" b="1" i="0">
                          <a:solidFill>
                            <a:srgbClr val="1C2433"/>
                          </a:solidFill>
                          <a:latin typeface="Calibri"/>
                        </a:rPr>
                        <a:t> on </a:t>
                      </a:r>
                      <a:r>
                        <a:rPr sz="1100" b="1" i="0">
                          <a:solidFill>
                            <a:srgbClr val="0E7C86"/>
                          </a:solidFill>
                          <a:latin typeface="Consolas"/>
                        </a:rPr>
                        <a:t>s3://</a:t>
                      </a:r>
                      <a:r>
                        <a:rPr sz="1200" b="1" i="0">
                          <a:solidFill>
                            <a:srgbClr val="1C2433"/>
                          </a:solidFill>
                          <a:latin typeface="Calibri"/>
                        </a:rPr>
                        <a:t>: retention, checkpoint, vacuum; relayout of the per-source trade tables (fixed in 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tools/lake/maintain.py (</a:t>
                      </a:r>
                      <a:r>
                        <a:rPr sz="1100" b="0" i="0">
                          <a:solidFill>
                            <a:srgbClr val="0E7C86"/>
                          </a:solidFill>
                          <a:latin typeface="Consolas"/>
                        </a:rPr>
                        <a:t>--force-foreign</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Buckets, IAM, conditional-write check, lifecycle tiers, alarms, report, load, backfill, maintenance, EFS, Cloud Map, task definitions, schedules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 · dry-run tested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deploy/aws/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ECS images (server, console, loader) and entry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alibri"/>
                        </a:rPr>
                        <a:t>BUILT ·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deploy/docker/ecs/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Drishti*net shards by table; replicas send one entity to the same node by a hash of its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DRISHTI_NET.md §7,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Built (2/2): added since 2.6.0</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15</a:t>
            </a:r>
          </a:p>
        </p:txBody>
      </p:sp>
      <p:graphicFrame>
        <p:nvGraphicFramePr>
          <p:cNvPr id="9" name="Table"/>
          <p:cNvGraphicFramePr>
            <a:graphicFrameLocks noGrp="1"/>
          </p:cNvGraphicFramePr>
          <p:nvPr/>
        </p:nvGraphicFramePr>
        <p:xfrm>
          <a:off x="411480" y="1143000"/>
          <a:ext cx="11365992" cy="4937760"/>
        </p:xfrm>
        <a:graphic>
          <a:graphicData uri="http://schemas.openxmlformats.org/drawingml/2006/table">
            <a:tbl>
              <a:tblPr firstRow="0" bandRow="0">
                <a:tableStyleId>{5940675A-B579-460E-94D1-54222C63F5DA}</a:tableStyleId>
              </a:tblPr>
              <a:tblGrid>
                <a:gridCol w="6949440"/>
                <a:gridCol w="1005840"/>
                <a:gridCol w="3410712"/>
              </a:tblGrid>
              <a:tr h="548640">
                <a:tc>
                  <a:txBody>
                    <a:bodyPr wrap="square"/>
                    <a:lstStyle/>
                    <a:p>
                      <a:r>
                        <a:rPr sz="1200" b="1" i="0">
                          <a:solidFill>
                            <a:srgbClr val="FFFFFF"/>
                          </a:solidFill>
                          <a:latin typeface="Calibri"/>
                        </a:rPr>
                        <a:t>Capability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Release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History queries over the lake (</a:t>
                      </a:r>
                      <a:r>
                        <a:rPr sz="1100" b="1" i="0">
                          <a:solidFill>
                            <a:srgbClr val="0E7C86"/>
                          </a:solidFill>
                          <a:latin typeface="Consolas"/>
                        </a:rPr>
                        <a:t>TRD &lt;id&gt; 30</a:t>
                      </a:r>
                      <a:r>
                        <a:rPr sz="1200" b="1" i="0">
                          <a:solidFill>
                            <a:srgbClr val="1C2433"/>
                          </a:solidFill>
                          <a:latin typeface="Calibri"/>
                        </a:rPr>
                        <a:t>, </a:t>
                      </a:r>
                      <a:r>
                        <a:rPr sz="1100" b="1" i="0">
                          <a:solidFill>
                            <a:srgbClr val="0E7C86"/>
                          </a:solidFill>
                          <a:latin typeface="Consolas"/>
                        </a:rPr>
                        <a:t>knownAt</a:t>
                      </a:r>
                      <a:r>
                        <a:rPr sz="1200" b="1" i="0">
                          <a:solidFill>
                            <a:srgbClr val="1C2433"/>
                          </a:solidFill>
                          <a:latin typeface="Calibri"/>
                        </a:rPr>
                        <a:t>), the Delta fast path, across Drishti*net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HISTORY_QUERIES.md, DELTA_CONNECTOR.md §8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Delta and Iceberg side by side, per source system; one connector per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build_demo_lakes.py </a:t>
                      </a:r>
                      <a:r>
                        <a:rPr sz="1100" b="0" i="0">
                          <a:solidFill>
                            <a:srgbClr val="0E7C86"/>
                          </a:solidFill>
                          <a:latin typeface="Consolas"/>
                        </a:rPr>
                        <a:t>--store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Drishti*net gossip on its own port; peer data over 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NET.md §4, §7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Content store with an S3 backend (conditional PUT, ETag); S3 on S3Mock, moto, MinIO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2.7.0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CONTENT_STORE.md, TOOLS.md §4.12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Vector columns </a:t>
                      </a:r>
                      <a:r>
                        <a:rPr sz="1100" b="1" i="0">
                          <a:solidFill>
                            <a:srgbClr val="0E7C86"/>
                          </a:solidFill>
                          <a:latin typeface="Consolas"/>
                        </a:rPr>
                        <a:t>list&lt;double&gt;</a:t>
                      </a:r>
                      <a:r>
                        <a:rPr sz="1200" b="1" i="0">
                          <a:solidFill>
                            <a:srgbClr val="1C2433"/>
                          </a:solidFill>
                          <a:latin typeface="Calibri"/>
                        </a:rPr>
                        <a:t>; VaR inputs in </a:t>
                      </a:r>
                      <a:r>
                        <a:rPr sz="1100" b="1" i="0">
                          <a:solidFill>
                            <a:srgbClr val="0E7C86"/>
                          </a:solidFill>
                          <a:latin typeface="Consolas"/>
                        </a:rPr>
                        <a:t>risk/</a:t>
                      </a:r>
                      <a:r>
                        <a:rPr sz="1200" b="1" i="0">
                          <a:solidFill>
                            <a:srgbClr val="1C2433"/>
                          </a:solidFill>
                          <a:latin typeface="Calibri"/>
                        </a:rPr>
                        <a:t>; 7-year floor; official VaR append-only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VAR_GUIDE.md §15, §19, §29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100" b="1" i="0">
                          <a:solidFill>
                            <a:srgbClr val="0E7C86"/>
                          </a:solidFill>
                          <a:latin typeface="Consolas"/>
                        </a:rPr>
                        <a:t>exposure-path</a:t>
                      </a:r>
                      <a:r>
                        <a:rPr sz="1200" b="1" i="0">
                          <a:solidFill>
                            <a:srgbClr val="1C2433"/>
                          </a:solidFill>
                          <a:latin typeface="Calibri"/>
                        </a:rPr>
                        <a:t> vectors; official exposure; VaR and exposure in BI from the published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EXPOSURE_GUIDE.md §15, §20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DATAMAP: kinds, counts and joins checked against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2.9.3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USER_GUIDE.md, </a:t>
                      </a:r>
                      <a:r>
                        <a:rPr sz="1100" b="0" i="0">
                          <a:solidFill>
                            <a:srgbClr val="0E7C86"/>
                          </a:solidFill>
                          <a:latin typeface="Consolas"/>
                        </a:rPr>
                        <a:t>/api/v1/datamap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JSON Lines standard; CSV deprecated; official results as JSONL; scenario PVs; intraday and Kafka batches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DATA_FORMATS.md, VAR_GUIDE.md §8.4, §15.9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Designed, not built: what their own documents say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16</a:t>
            </a:r>
          </a:p>
        </p:txBody>
      </p:sp>
      <p:graphicFrame>
        <p:nvGraphicFramePr>
          <p:cNvPr id="9" name="Table"/>
          <p:cNvGraphicFramePr>
            <a:graphicFrameLocks noGrp="1"/>
          </p:cNvGraphicFramePr>
          <p:nvPr/>
        </p:nvGraphicFramePr>
        <p:xfrm>
          <a:off x="411480" y="1143000"/>
          <a:ext cx="11365992" cy="4608576"/>
        </p:xfrm>
        <a:graphic>
          <a:graphicData uri="http://schemas.openxmlformats.org/drawingml/2006/table">
            <a:tbl>
              <a:tblPr firstRow="0" bandRow="0">
                <a:tableStyleId>{5940675A-B579-460E-94D1-54222C63F5DA}</a:tableStyleId>
              </a:tblPr>
              <a:tblGrid>
                <a:gridCol w="1463040"/>
                <a:gridCol w="5760720"/>
                <a:gridCol w="4142232"/>
              </a:tblGrid>
              <a:tr h="512064">
                <a:tc>
                  <a:txBody>
                    <a:bodyPr wrap="square"/>
                    <a:lstStyle/>
                    <a:p>
                      <a:r>
                        <a:rPr sz="1200" b="1" i="0">
                          <a:solidFill>
                            <a:srgbClr val="FFFFFF"/>
                          </a:solidFill>
                          <a:latin typeface="Calibri"/>
                        </a:rPr>
                        <a:t>Item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adds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 it matters at scale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200" b="1" i="0">
                          <a:solidFill>
                            <a:srgbClr val="1C2433"/>
                          </a:solidFill>
                          <a:latin typeface="Calibri"/>
                        </a:rPr>
                        <a:t>S1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Range maps from the log's per-file id statistics; Parquet Bloom filters on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find an id without building a day's id map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S2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Tables by year (</a:t>
                      </a:r>
                      <a:r>
                        <a:rPr sz="1100" b="0" i="0">
                          <a:solidFill>
                            <a:srgbClr val="0E7C86"/>
                          </a:solidFill>
                          <a:latin typeface="Consolas"/>
                        </a:rPr>
                        <a:t>root: …/{year}</a:t>
                      </a:r>
                      <a:r>
                        <a:rPr sz="1200" b="0" i="0">
                          <a:solidFill>
                            <a:srgbClr val="1C2433"/>
                          </a:solidFill>
                          <a:latin typeface="Calibri"/>
                        </a:rPr>
                        <a:t>), closing a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table's checkpoint stops growing with seven years of live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loader fleet writing slices of one table at once; a day register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loads of very large days finish in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S4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Products (link indexes, group totals, rollups, id lists) written with the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aggregates and links without scanning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S5, S6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server owns a share of (table, day) slices on the 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 servers hold N × one server's working set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S7, S8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Warm tier of memory-mapped column files; benchmark at scale in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hot days from memory; measured numbers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VaR sharding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server maps only its ranges of a VaR date; partial vectors added in a fixed order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VaR date larger than one server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Vector layout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Rows sorted by legal entity, desk, book; ZSTD + byte-stream split; ~512 MB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node is a contiguous run of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Status DESIGNED"/>
          <p:cNvSpPr/>
          <p:nvPr/>
        </p:nvSpPr>
        <p:spPr>
          <a:xfrm>
            <a:off x="10698480" y="5897880"/>
            <a:ext cx="1051560" cy="237744"/>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0B1E3B"/>
                </a:solidFill>
                <a:latin typeface="Calibri"/>
              </a:rPr>
              <a:t>DESIGNED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Proposed by this deck: not yet in the docs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17</a:t>
            </a:r>
          </a:p>
        </p:txBody>
      </p:sp>
      <p:graphicFrame>
        <p:nvGraphicFramePr>
          <p:cNvPr id="9" name="Table"/>
          <p:cNvGraphicFramePr>
            <a:graphicFrameLocks noGrp="1"/>
          </p:cNvGraphicFramePr>
          <p:nvPr/>
        </p:nvGraphicFramePr>
        <p:xfrm>
          <a:off x="411480" y="1143000"/>
          <a:ext cx="11365991" cy="4224528"/>
        </p:xfrm>
        <a:graphic>
          <a:graphicData uri="http://schemas.openxmlformats.org/drawingml/2006/table">
            <a:tbl>
              <a:tblPr firstRow="0" bandRow="0">
                <a:tableStyleId>{5940675A-B579-460E-94D1-54222C63F5DA}</a:tableStyleId>
              </a:tblPr>
              <a:tblGrid>
                <a:gridCol w="457200"/>
                <a:gridCol w="6309359"/>
                <a:gridCol w="4599432"/>
              </a:tblGrid>
              <a:tr h="603504">
                <a:tc>
                  <a:txBody>
                    <a:bodyPr wrap="square"/>
                    <a:lstStyle/>
                    <a:p>
                      <a:r>
                        <a:rPr sz="120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Proposal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03504">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Set node.yaml </a:t>
                      </a:r>
                      <a:r>
                        <a:rPr sz="1100" b="0" i="0">
                          <a:solidFill>
                            <a:srgbClr val="0E7C86"/>
                          </a:solidFill>
                          <a:latin typeface="Consolas"/>
                        </a:rPr>
                        <a:t>gossip-port</a:t>
                      </a:r>
                      <a:r>
                        <a:rPr sz="1200" b="0" i="0">
                          <a:solidFill>
                            <a:srgbClr val="1C2433"/>
                          </a:solidFill>
                          <a:latin typeface="Calibri"/>
                        </a:rPr>
                        <a:t> to a fixed number on ECS and open it in the </a:t>
                      </a:r>
                      <a:r>
                        <a:rPr sz="1100" b="0" i="0">
                          <a:solidFill>
                            <a:srgbClr val="0E7C86"/>
                          </a:solidFill>
                          <a:latin typeface="Consolas"/>
                        </a:rPr>
                        <a:t>drishti-node</a:t>
                      </a:r>
                      <a:r>
                        <a:rPr sz="1200" b="0" i="0">
                          <a:solidFill>
                            <a:srgbClr val="1C2433"/>
                          </a:solidFill>
                          <a:latin typeface="Calibri"/>
                        </a:rPr>
                        <a:t> security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auto</a:t>
                      </a:r>
                      <a:r>
                        <a:rPr sz="1200" b="0" i="0">
                          <a:solidFill>
                            <a:srgbClr val="1C2433"/>
                          </a:solidFill>
                          <a:latin typeface="Calibri"/>
                        </a:rPr>
                        <a:t> changes the port at each start; behind a security group gossip falls back to 18480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Official results (</a:t>
                      </a:r>
                      <a:r>
                        <a:rPr sz="1100" b="0" i="0">
                          <a:solidFill>
                            <a:srgbClr val="0E7C86"/>
                          </a:solidFill>
                          <a:latin typeface="Consolas"/>
                        </a:rPr>
                        <a:t>risk-results/</a:t>
                      </a:r>
                      <a:r>
                        <a:rPr sz="1200" b="0" i="0">
                          <a:solidFill>
                            <a:srgbClr val="1C2433"/>
                          </a:solidFill>
                          <a:latin typeface="Calibri"/>
                        </a:rPr>
                        <a:t>) written to an EFS root, then copied to S3 by </a:t>
                      </a:r>
                      <a:r>
                        <a:rPr sz="1100" b="0" i="0">
                          <a:solidFill>
                            <a:srgbClr val="0E7C86"/>
                          </a:solidFill>
                          <a:latin typeface="Consolas"/>
                        </a:rPr>
                        <a:t>lake publish</a:t>
                      </a:r>
                      <a:r>
                        <a:rPr sz="1200" b="0" i="0">
                          <a:solidFill>
                            <a:srgbClr val="1C2433"/>
                          </a:solidFill>
                          <a:latin typeface="Calibri"/>
                        </a:rPr>
                        <a:t> after each capture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publishers' Java writer does not write </a:t>
                      </a:r>
                      <a:r>
                        <a:rPr sz="1100" b="0" i="0">
                          <a:solidFill>
                            <a:srgbClr val="0E7C86"/>
                          </a:solidFill>
                          <a:latin typeface="Consolas"/>
                        </a:rPr>
                        <a:t>s3://</a:t>
                      </a:r>
                      <a:r>
                        <a:rPr sz="1200" b="0" i="0">
                          <a:solidFill>
                            <a:srgbClr val="1C2433"/>
                          </a:solidFill>
                          <a:latin typeface="Calibri"/>
                        </a:rPr>
                        <a:t> (publishError)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Re-enable </a:t>
                      </a:r>
                      <a:r>
                        <a:rPr sz="1100" b="0" i="0">
                          <a:solidFill>
                            <a:srgbClr val="0E7C86"/>
                          </a:solidFill>
                          <a:latin typeface="Consolas"/>
                        </a:rPr>
                        <a:t>compact</a:t>
                      </a:r>
                      <a:r>
                        <a:rPr sz="1200" b="0" i="0">
                          <a:solidFill>
                            <a:srgbClr val="1C2433"/>
                          </a:solidFill>
                          <a:latin typeface="Calibri"/>
                        </a:rPr>
                        <a:t> for the S3 trade tables after a relayout test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2.6.7 fix lays out per-source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exposure-path</a:t>
                      </a:r>
                      <a:r>
                        <a:rPr sz="1200" b="0" i="0">
                          <a:solidFill>
                            <a:srgbClr val="1C2433"/>
                          </a:solidFill>
                          <a:latin typeface="Calibri"/>
                        </a:rPr>
                        <a:t> partitioned by date and run, sorted by netting set (as EXPOSURE_GUIDE.md proposes)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netting set in one streaming pass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published Delta table of node and portfolio vectors per currency (from the VaR deck)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BI and peers read sums, not 1.3M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Change data feed on the risk input tables (from the VaR deck)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followers see intraday deltas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Status PROPOSED"/>
          <p:cNvSpPr/>
          <p:nvPr/>
        </p:nvSpPr>
        <p:spPr>
          <a:xfrm>
            <a:off x="10698480" y="589788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04</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First-time setup, step by step</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Twelve steps (0–11). Each: the script, the exact command, what you should see. Always --dry-run first, read it, then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Setup at a glance: steps 0 to 11</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19</a:t>
            </a:r>
          </a:p>
        </p:txBody>
      </p:sp>
      <p:sp>
        <p:nvSpPr>
          <p:cNvPr id="9" name="Rounded Rectangle 8"/>
          <p:cNvSpPr/>
          <p:nvPr/>
        </p:nvSpPr>
        <p:spPr>
          <a:xfrm>
            <a:off x="411480"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0</a:t>
            </a:r>
          </a:p>
        </p:txBody>
      </p:sp>
      <p:sp>
        <p:nvSpPr>
          <p:cNvPr id="11" name="TextBox 10"/>
          <p:cNvSpPr txBox="1"/>
          <p:nvPr/>
        </p:nvSpPr>
        <p:spPr>
          <a:xfrm>
            <a:off x="1069848"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Prerequisites</a:t>
            </a:r>
          </a:p>
        </p:txBody>
      </p:sp>
      <p:sp>
        <p:nvSpPr>
          <p:cNvPr id="12" name="TextBox 11"/>
          <p:cNvSpPr txBox="1"/>
          <p:nvPr/>
        </p:nvSpPr>
        <p:spPr>
          <a:xfrm>
            <a:off x="548640" y="1920240"/>
            <a:ext cx="2331720" cy="54864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VPC, endpoints, EFS, KMS, ECS, ALB, SNS, secrets</a:t>
            </a:r>
          </a:p>
        </p:txBody>
      </p:sp>
      <p:cxnSp>
        <p:nvCxnSpPr>
          <p:cNvPr id="13" name="Connector 12"/>
          <p:cNvCxnSpPr/>
          <p:nvPr/>
        </p:nvCxnSpPr>
        <p:spPr>
          <a:xfrm>
            <a:off x="3017520"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28416"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val 14"/>
          <p:cNvSpPr/>
          <p:nvPr/>
        </p:nvSpPr>
        <p:spPr>
          <a:xfrm>
            <a:off x="3438144"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a:t>
            </a:r>
          </a:p>
        </p:txBody>
      </p:sp>
      <p:sp>
        <p:nvSpPr>
          <p:cNvPr id="16" name="TextBox 15"/>
          <p:cNvSpPr txBox="1"/>
          <p:nvPr/>
        </p:nvSpPr>
        <p:spPr>
          <a:xfrm>
            <a:off x="3986784"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Settings</a:t>
            </a:r>
          </a:p>
        </p:txBody>
      </p:sp>
      <p:sp>
        <p:nvSpPr>
          <p:cNvPr id="17" name="TextBox 16"/>
          <p:cNvSpPr txBox="1"/>
          <p:nvPr/>
        </p:nvSpPr>
        <p:spPr>
          <a:xfrm>
            <a:off x="3465576"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deploy/aws/env from env.example</a:t>
            </a:r>
          </a:p>
        </p:txBody>
      </p:sp>
      <p:cxnSp>
        <p:nvCxnSpPr>
          <p:cNvPr id="18" name="Connector 17"/>
          <p:cNvCxnSpPr/>
          <p:nvPr/>
        </p:nvCxnSpPr>
        <p:spPr>
          <a:xfrm>
            <a:off x="5934456"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45352"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Oval 19"/>
          <p:cNvSpPr/>
          <p:nvPr/>
        </p:nvSpPr>
        <p:spPr>
          <a:xfrm>
            <a:off x="6355080"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2</a:t>
            </a:r>
          </a:p>
        </p:txBody>
      </p:sp>
      <p:sp>
        <p:nvSpPr>
          <p:cNvPr id="21" name="TextBox 20"/>
          <p:cNvSpPr txBox="1"/>
          <p:nvPr/>
        </p:nvSpPr>
        <p:spPr>
          <a:xfrm>
            <a:off x="6903720"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Buckets</a:t>
            </a:r>
          </a:p>
        </p:txBody>
      </p:sp>
      <p:sp>
        <p:nvSpPr>
          <p:cNvPr id="22" name="TextBox 21"/>
          <p:cNvSpPr txBox="1"/>
          <p:nvPr/>
        </p:nvSpPr>
        <p:spPr>
          <a:xfrm>
            <a:off x="6382512"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setup-buckets.sh</a:t>
            </a:r>
          </a:p>
        </p:txBody>
      </p:sp>
      <p:cxnSp>
        <p:nvCxnSpPr>
          <p:cNvPr id="23" name="Connector 22"/>
          <p:cNvCxnSpPr/>
          <p:nvPr/>
        </p:nvCxnSpPr>
        <p:spPr>
          <a:xfrm>
            <a:off x="8851392"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162288"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Oval 24"/>
          <p:cNvSpPr/>
          <p:nvPr/>
        </p:nvSpPr>
        <p:spPr>
          <a:xfrm>
            <a:off x="9272015"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3</a:t>
            </a:r>
          </a:p>
        </p:txBody>
      </p:sp>
      <p:sp>
        <p:nvSpPr>
          <p:cNvPr id="26" name="TextBox 25"/>
          <p:cNvSpPr txBox="1"/>
          <p:nvPr/>
        </p:nvSpPr>
        <p:spPr>
          <a:xfrm>
            <a:off x="9820656"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IAM</a:t>
            </a:r>
          </a:p>
        </p:txBody>
      </p:sp>
      <p:sp>
        <p:nvSpPr>
          <p:cNvPr id="27" name="TextBox 26"/>
          <p:cNvSpPr txBox="1"/>
          <p:nvPr/>
        </p:nvSpPr>
        <p:spPr>
          <a:xfrm>
            <a:off x="9299448"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setup-iam.sh</a:t>
            </a:r>
          </a:p>
        </p:txBody>
      </p:sp>
      <p:sp>
        <p:nvSpPr>
          <p:cNvPr id="28" name="Rounded Rectangle 27"/>
          <p:cNvSpPr/>
          <p:nvPr/>
        </p:nvSpPr>
        <p:spPr>
          <a:xfrm>
            <a:off x="411480"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Oval 28"/>
          <p:cNvSpPr/>
          <p:nvPr/>
        </p:nvSpPr>
        <p:spPr>
          <a:xfrm>
            <a:off x="521208"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4</a:t>
            </a:r>
          </a:p>
        </p:txBody>
      </p:sp>
      <p:sp>
        <p:nvSpPr>
          <p:cNvPr id="30" name="TextBox 29"/>
          <p:cNvSpPr txBox="1"/>
          <p:nvPr/>
        </p:nvSpPr>
        <p:spPr>
          <a:xfrm>
            <a:off x="1069848"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Prove commits safe</a:t>
            </a:r>
          </a:p>
        </p:txBody>
      </p:sp>
      <p:sp>
        <p:nvSpPr>
          <p:cNvPr id="31" name="TextBox 30"/>
          <p:cNvSpPr txBox="1"/>
          <p:nvPr/>
        </p:nvSpPr>
        <p:spPr>
          <a:xfrm>
            <a:off x="548640"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check-conditional-writes.sh</a:t>
            </a:r>
          </a:p>
        </p:txBody>
      </p:sp>
      <p:cxnSp>
        <p:nvCxnSpPr>
          <p:cNvPr id="32" name="Connector 31"/>
          <p:cNvCxnSpPr/>
          <p:nvPr/>
        </p:nvCxnSpPr>
        <p:spPr>
          <a:xfrm>
            <a:off x="3017520"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328416"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3438144"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5</a:t>
            </a:r>
          </a:p>
        </p:txBody>
      </p:sp>
      <p:sp>
        <p:nvSpPr>
          <p:cNvPr id="35" name="TextBox 34"/>
          <p:cNvSpPr txBox="1"/>
          <p:nvPr/>
        </p:nvSpPr>
        <p:spPr>
          <a:xfrm>
            <a:off x="3986784"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Storage tiers</a:t>
            </a:r>
          </a:p>
        </p:txBody>
      </p:sp>
      <p:sp>
        <p:nvSpPr>
          <p:cNvPr id="36" name="TextBox 35"/>
          <p:cNvSpPr txBox="1"/>
          <p:nvPr/>
        </p:nvSpPr>
        <p:spPr>
          <a:xfrm>
            <a:off x="3465576"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setup-lifecycle.sh</a:t>
            </a:r>
          </a:p>
        </p:txBody>
      </p:sp>
      <p:cxnSp>
        <p:nvCxnSpPr>
          <p:cNvPr id="37" name="Connector 36"/>
          <p:cNvCxnSpPr/>
          <p:nvPr/>
        </p:nvCxnSpPr>
        <p:spPr>
          <a:xfrm>
            <a:off x="5934456"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245352"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6355080"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6</a:t>
            </a:r>
          </a:p>
        </p:txBody>
      </p:sp>
      <p:sp>
        <p:nvSpPr>
          <p:cNvPr id="40" name="TextBox 39"/>
          <p:cNvSpPr txBox="1"/>
          <p:nvPr/>
        </p:nvSpPr>
        <p:spPr>
          <a:xfrm>
            <a:off x="6903720"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EFS access points</a:t>
            </a:r>
          </a:p>
        </p:txBody>
      </p:sp>
      <p:sp>
        <p:nvSpPr>
          <p:cNvPr id="41" name="TextBox 40"/>
          <p:cNvSpPr txBox="1"/>
          <p:nvPr/>
        </p:nvSpPr>
        <p:spPr>
          <a:xfrm>
            <a:off x="6382512"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ecs/setup-efs.sh</a:t>
            </a:r>
          </a:p>
        </p:txBody>
      </p:sp>
      <p:cxnSp>
        <p:nvCxnSpPr>
          <p:cNvPr id="42" name="Connector 41"/>
          <p:cNvCxnSpPr/>
          <p:nvPr/>
        </p:nvCxnSpPr>
        <p:spPr>
          <a:xfrm>
            <a:off x="8851392"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162288"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Oval 43"/>
          <p:cNvSpPr/>
          <p:nvPr/>
        </p:nvSpPr>
        <p:spPr>
          <a:xfrm>
            <a:off x="9272015"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7</a:t>
            </a:r>
          </a:p>
        </p:txBody>
      </p:sp>
      <p:sp>
        <p:nvSpPr>
          <p:cNvPr id="45" name="TextBox 44"/>
          <p:cNvSpPr txBox="1"/>
          <p:nvPr/>
        </p:nvSpPr>
        <p:spPr>
          <a:xfrm>
            <a:off x="9820656"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Cloud Map seeds</a:t>
            </a:r>
          </a:p>
        </p:txBody>
      </p:sp>
      <p:sp>
        <p:nvSpPr>
          <p:cNvPr id="46" name="TextBox 45"/>
          <p:cNvSpPr txBox="1"/>
          <p:nvPr/>
        </p:nvSpPr>
        <p:spPr>
          <a:xfrm>
            <a:off x="9299448"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ecs/setup-cloud-map.sh (twice)</a:t>
            </a:r>
          </a:p>
        </p:txBody>
      </p:sp>
      <p:sp>
        <p:nvSpPr>
          <p:cNvPr id="47" name="Rounded Rectangle 46"/>
          <p:cNvSpPr/>
          <p:nvPr/>
        </p:nvSpPr>
        <p:spPr>
          <a:xfrm>
            <a:off x="411480"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Oval 47"/>
          <p:cNvSpPr/>
          <p:nvPr/>
        </p:nvSpPr>
        <p:spPr>
          <a:xfrm>
            <a:off x="521208"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8</a:t>
            </a:r>
          </a:p>
        </p:txBody>
      </p:sp>
      <p:sp>
        <p:nvSpPr>
          <p:cNvPr id="49" name="TextBox 48"/>
          <p:cNvSpPr txBox="1"/>
          <p:nvPr/>
        </p:nvSpPr>
        <p:spPr>
          <a:xfrm>
            <a:off x="1069848"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Images</a:t>
            </a:r>
          </a:p>
        </p:txBody>
      </p:sp>
      <p:sp>
        <p:nvSpPr>
          <p:cNvPr id="50" name="TextBox 49"/>
          <p:cNvSpPr txBox="1"/>
          <p:nvPr/>
        </p:nvSpPr>
        <p:spPr>
          <a:xfrm>
            <a:off x="548640" y="5303520"/>
            <a:ext cx="2331720" cy="54864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docker build ×3, push to ECR</a:t>
            </a:r>
          </a:p>
        </p:txBody>
      </p:sp>
      <p:cxnSp>
        <p:nvCxnSpPr>
          <p:cNvPr id="51" name="Connector 50"/>
          <p:cNvCxnSpPr/>
          <p:nvPr/>
        </p:nvCxnSpPr>
        <p:spPr>
          <a:xfrm>
            <a:off x="3017520"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3328416"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Oval 52"/>
          <p:cNvSpPr/>
          <p:nvPr/>
        </p:nvSpPr>
        <p:spPr>
          <a:xfrm>
            <a:off x="3438144"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9</a:t>
            </a:r>
          </a:p>
        </p:txBody>
      </p:sp>
      <p:sp>
        <p:nvSpPr>
          <p:cNvPr id="54" name="TextBox 53"/>
          <p:cNvSpPr txBox="1"/>
          <p:nvPr/>
        </p:nvSpPr>
        <p:spPr>
          <a:xfrm>
            <a:off x="3986784"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Tasks, services, schedules</a:t>
            </a:r>
          </a:p>
        </p:txBody>
      </p:sp>
      <p:sp>
        <p:nvSpPr>
          <p:cNvPr id="55" name="TextBox 54"/>
          <p:cNvSpPr txBox="1"/>
          <p:nvPr/>
        </p:nvSpPr>
        <p:spPr>
          <a:xfrm>
            <a:off x="3465576"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ecs/register.sh</a:t>
            </a:r>
          </a:p>
        </p:txBody>
      </p:sp>
      <p:cxnSp>
        <p:nvCxnSpPr>
          <p:cNvPr id="56" name="Connector 55"/>
          <p:cNvCxnSpPr/>
          <p:nvPr/>
        </p:nvCxnSpPr>
        <p:spPr>
          <a:xfrm>
            <a:off x="5934456"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6245352"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Oval 57"/>
          <p:cNvSpPr/>
          <p:nvPr/>
        </p:nvSpPr>
        <p:spPr>
          <a:xfrm>
            <a:off x="6355080"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10</a:t>
            </a:r>
          </a:p>
        </p:txBody>
      </p:sp>
      <p:sp>
        <p:nvSpPr>
          <p:cNvPr id="59" name="TextBox 58"/>
          <p:cNvSpPr txBox="1"/>
          <p:nvPr/>
        </p:nvSpPr>
        <p:spPr>
          <a:xfrm>
            <a:off x="6903720"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First load</a:t>
            </a:r>
          </a:p>
        </p:txBody>
      </p:sp>
      <p:sp>
        <p:nvSpPr>
          <p:cNvPr id="60" name="TextBox 59"/>
          <p:cNvSpPr txBox="1"/>
          <p:nvPr/>
        </p:nvSpPr>
        <p:spPr>
          <a:xfrm>
            <a:off x="6382512"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load-day.sh --date …</a:t>
            </a:r>
          </a:p>
        </p:txBody>
      </p:sp>
      <p:cxnSp>
        <p:nvCxnSpPr>
          <p:cNvPr id="61" name="Connector 60"/>
          <p:cNvCxnSpPr/>
          <p:nvPr/>
        </p:nvCxnSpPr>
        <p:spPr>
          <a:xfrm>
            <a:off x="8851392"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9162288"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Oval 62"/>
          <p:cNvSpPr/>
          <p:nvPr/>
        </p:nvSpPr>
        <p:spPr>
          <a:xfrm>
            <a:off x="9272015"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11</a:t>
            </a:r>
          </a:p>
        </p:txBody>
      </p:sp>
      <p:sp>
        <p:nvSpPr>
          <p:cNvPr id="64" name="TextBox 63"/>
          <p:cNvSpPr txBox="1"/>
          <p:nvPr/>
        </p:nvSpPr>
        <p:spPr>
          <a:xfrm>
            <a:off x="9820656"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Alarms and report</a:t>
            </a:r>
          </a:p>
        </p:txBody>
      </p:sp>
      <p:sp>
        <p:nvSpPr>
          <p:cNvPr id="65" name="TextBox 64"/>
          <p:cNvSpPr txBox="1"/>
          <p:nvPr/>
        </p:nvSpPr>
        <p:spPr>
          <a:xfrm>
            <a:off x="9299448"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setup-alarms.sh, report.sh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0: prerequisites (the platform team's templates)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20</a:t>
            </a:r>
          </a:p>
        </p:txBody>
      </p:sp>
      <p:sp>
        <p:nvSpPr>
          <p:cNvPr id="9" name="TextBox 8"/>
          <p:cNvSpPr txBox="1"/>
          <p:nvPr/>
        </p:nvSpPr>
        <p:spPr>
          <a:xfrm>
            <a:off x="411480" y="1188720"/>
            <a:ext cx="6949440" cy="51206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A VPC with private subnets in three Availability Zones</a:t>
            </a:r>
          </a:p>
          <a:p>
            <a:pPr algn="l" marL="201168" indent="-201168">
              <a:spcAft>
                <a:spcPts val="700"/>
              </a:spcAft>
              <a:buClr>
                <a:srgbClr val="E87A1E"/>
              </a:buClr>
              <a:buSzPct val="100000"/>
              <a:buFont typeface="Arial"/>
              <a:buChar char="•"/>
            </a:pPr>
            <a:r>
              <a:rPr sz="1400" b="0" i="0">
                <a:solidFill>
                  <a:srgbClr val="1C2433"/>
                </a:solidFill>
                <a:latin typeface="Calibri"/>
              </a:rPr>
              <a:t>A gateway VPC endpoint for S3 on their route tables (lake traffic never leaves the VPC; the bucket policy requires it)</a:t>
            </a:r>
          </a:p>
          <a:p>
            <a:pPr algn="l" marL="201168" indent="-201168">
              <a:spcAft>
                <a:spcPts val="700"/>
              </a:spcAft>
              <a:buClr>
                <a:srgbClr val="E87A1E"/>
              </a:buClr>
              <a:buSzPct val="100000"/>
              <a:buFont typeface="Arial"/>
              <a:buChar char="•"/>
            </a:pPr>
            <a:r>
              <a:rPr sz="1400" b="0" i="0">
                <a:solidFill>
                  <a:srgbClr val="1C2433"/>
                </a:solidFill>
                <a:latin typeface="Calibri"/>
              </a:rPr>
              <a:t>Interface endpoints for ECR, CloudWatch Logs, Secrets Manager and STS</a:t>
            </a:r>
          </a:p>
          <a:p>
            <a:pPr algn="l" marL="201168" indent="-201168">
              <a:spcAft>
                <a:spcPts val="700"/>
              </a:spcAft>
              <a:buClr>
                <a:srgbClr val="E87A1E"/>
              </a:buClr>
              <a:buSzPct val="100000"/>
              <a:buFont typeface="Arial"/>
              <a:buChar char="•"/>
            </a:pPr>
            <a:r>
              <a:rPr sz="1400" b="0" i="0">
                <a:solidFill>
                  <a:srgbClr val="1C2433"/>
                </a:solidFill>
                <a:latin typeface="Calibri"/>
              </a:rPr>
              <a:t>An EFS file system: Regional, encrypted, Elastic throughput, a mount target per subnet</a:t>
            </a:r>
          </a:p>
          <a:p>
            <a:pPr algn="l" marL="201168" indent="-201168">
              <a:spcAft>
                <a:spcPts val="700"/>
              </a:spcAft>
              <a:buClr>
                <a:srgbClr val="E87A1E"/>
              </a:buClr>
              <a:buSzPct val="100000"/>
              <a:buFont typeface="Arial"/>
              <a:buChar char="•"/>
            </a:pPr>
            <a:r>
              <a:rPr sz="1400" b="0" i="0">
                <a:solidFill>
                  <a:srgbClr val="1C2433"/>
                </a:solidFill>
                <a:latin typeface="Calibri"/>
              </a:rPr>
              <a:t>A KMS key for the lake; its key policy allows the roles of step 3</a:t>
            </a:r>
          </a:p>
          <a:p>
            <a:pPr algn="l" marL="201168" indent="-201168">
              <a:spcAft>
                <a:spcPts val="700"/>
              </a:spcAft>
              <a:buClr>
                <a:srgbClr val="E87A1E"/>
              </a:buClr>
              <a:buSzPct val="100000"/>
              <a:buFont typeface="Arial"/>
              <a:buChar char="•"/>
            </a:pPr>
            <a:r>
              <a:rPr sz="1400" b="0" i="0">
                <a:solidFill>
                  <a:srgbClr val="1C2433"/>
                </a:solidFill>
                <a:latin typeface="Calibri"/>
              </a:rPr>
              <a:t>An ECS cluster</a:t>
            </a:r>
          </a:p>
          <a:p>
            <a:pPr algn="l" marL="201168" indent="-201168">
              <a:spcAft>
                <a:spcPts val="700"/>
              </a:spcAft>
              <a:buClr>
                <a:srgbClr val="E87A1E"/>
              </a:buClr>
              <a:buSzPct val="100000"/>
              <a:buFont typeface="Arial"/>
              <a:buChar char="•"/>
            </a:pPr>
            <a:r>
              <a:rPr sz="1400" b="0" i="0">
                <a:solidFill>
                  <a:srgbClr val="1C2433"/>
                </a:solidFill>
                <a:latin typeface="Calibri"/>
              </a:rPr>
              <a:t>An Application Load Balancer with a target group for the consoles on port 17480</a:t>
            </a:r>
          </a:p>
          <a:p>
            <a:pPr algn="l" marL="201168" indent="-201168">
              <a:spcAft>
                <a:spcPts val="700"/>
              </a:spcAft>
              <a:buClr>
                <a:srgbClr val="E87A1E"/>
              </a:buClr>
              <a:buSzPct val="100000"/>
              <a:buFont typeface="Arial"/>
              <a:buChar char="•"/>
            </a:pPr>
            <a:r>
              <a:rPr sz="1400" b="0" i="0">
                <a:solidFill>
                  <a:srgbClr val="1C2433"/>
                </a:solidFill>
                <a:latin typeface="Calibri"/>
              </a:rPr>
              <a:t>An SNS topic for alarms</a:t>
            </a:r>
          </a:p>
          <a:p>
            <a:pPr algn="l" marL="201168" indent="-201168">
              <a:spcAft>
                <a:spcPts val="700"/>
              </a:spcAft>
              <a:buClr>
                <a:srgbClr val="E87A1E"/>
              </a:buClr>
              <a:buSzPct val="100000"/>
              <a:buFont typeface="Arial"/>
              <a:buChar char="•"/>
            </a:pPr>
            <a:r>
              <a:rPr sz="1400" b="0" i="0">
                <a:solidFill>
                  <a:srgbClr val="1C2433"/>
                </a:solidFill>
                <a:latin typeface="Calibri"/>
              </a:rPr>
              <a:t>The four secrets of AWS_DEPLOYMENT.md §11.3 (token secret, session secret, cluster key, admin seed)</a:t>
            </a:r>
          </a:p>
        </p:txBody>
      </p:sp>
      <p:sp>
        <p:nvSpPr>
          <p:cNvPr id="10" name="Callout"/>
          <p:cNvSpPr/>
          <p:nvPr/>
        </p:nvSpPr>
        <p:spPr>
          <a:xfrm>
            <a:off x="7635240" y="1188720"/>
            <a:ext cx="4142232" cy="23774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635240" y="1207008"/>
            <a:ext cx="82296" cy="23408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863840" y="1261872"/>
            <a:ext cx="3776472" cy="22311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Who builds these?</a:t>
            </a:r>
          </a:p>
          <a:p>
            <a:pPr algn="l">
              <a:spcAft>
                <a:spcPts val="600"/>
              </a:spcAft>
              <a:buNone/>
            </a:pPr>
            <a:r>
              <a:rPr sz="1300" b="0" i="0">
                <a:solidFill>
                  <a:srgbClr val="1C2433"/>
                </a:solidFill>
                <a:latin typeface="Calibri"/>
              </a:rPr>
              <a:t>The platform team, with its own CloudFormation or Terraform templates. The Drishti scripts take their ids (subnets, file system, key ARN, cluster, target group, topic) from </a:t>
            </a:r>
            <a:r>
              <a:rPr sz="1200" b="0" i="0">
                <a:solidFill>
                  <a:srgbClr val="0E7C86"/>
                </a:solidFill>
                <a:latin typeface="Consolas"/>
              </a:rPr>
              <a:t>deploy/aws/env</a:t>
            </a:r>
            <a:r>
              <a:rPr sz="1300" b="0" i="0">
                <a:solidFill>
                  <a:srgbClr val="1C2433"/>
                </a:solidFill>
                <a:latin typeface="Calibri"/>
              </a:rPr>
              <a:t>.</a:t>
            </a:r>
          </a:p>
        </p:txBody>
      </p:sp>
      <p:sp>
        <p:nvSpPr>
          <p:cNvPr id="13" name="Callout"/>
          <p:cNvSpPr/>
          <p:nvPr/>
        </p:nvSpPr>
        <p:spPr>
          <a:xfrm>
            <a:off x="7635240" y="3794760"/>
            <a:ext cx="4142232" cy="25146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7635240" y="3813048"/>
            <a:ext cx="82296" cy="24780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863840" y="3867912"/>
            <a:ext cx="3776472" cy="23682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Run the scripts from</a:t>
            </a:r>
          </a:p>
          <a:p>
            <a:pPr algn="l">
              <a:spcAft>
                <a:spcPts val="600"/>
              </a:spcAft>
              <a:buNone/>
            </a:pPr>
            <a:r>
              <a:rPr sz="1300" b="0" i="0">
                <a:solidFill>
                  <a:srgbClr val="1C2433"/>
                </a:solidFill>
                <a:latin typeface="Calibri"/>
              </a:rPr>
              <a:t>a workstation or admin host with AWS CLI v2, the repository, Java 21 and </a:t>
            </a:r>
            <a:r>
              <a:rPr sz="1200" b="0" i="0">
                <a:solidFill>
                  <a:srgbClr val="0E7C86"/>
                </a:solidFill>
                <a:latin typeface="Consolas"/>
              </a:rPr>
              <a:t>drishti-console/.venv</a:t>
            </a:r>
            <a:r>
              <a:rPr sz="1300" b="0" i="0">
                <a:solidFill>
                  <a:srgbClr val="1C2433"/>
                </a:solidFill>
                <a:latin typeface="Calibri"/>
              </a:rPr>
              <a:t>.</a:t>
            </a:r>
          </a:p>
          <a:p>
            <a:pPr algn="l">
              <a:spcAft>
                <a:spcPts val="600"/>
              </a:spcAft>
              <a:buNone/>
            </a:pPr>
            <a:r>
              <a:rPr sz="1300" b="0" i="0">
                <a:solidFill>
                  <a:srgbClr val="1C2433"/>
                </a:solidFill>
                <a:latin typeface="Calibri"/>
              </a:rPr>
              <a:t>Content store on S3 (optional, 2.7.0): its bucket needs conditional writes too (step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 the settings file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21</a:t>
            </a:r>
          </a:p>
        </p:txBody>
      </p:sp>
      <p:sp>
        <p:nvSpPr>
          <p:cNvPr id="9" name="Code block"/>
          <p:cNvSpPr/>
          <p:nvPr/>
        </p:nvSpPr>
        <p:spPr>
          <a:xfrm>
            <a:off x="411480" y="1188720"/>
            <a:ext cx="11365992" cy="9144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863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cp deploy/aws/env.example deploy/aws/env      </a:t>
            </a:r>
            <a:r>
              <a:rPr sz="1100" b="0" i="0">
                <a:solidFill>
                  <a:srgbClr val="8B9BB4"/>
                </a:solidFill>
                <a:latin typeface="Consolas"/>
              </a:rPr>
              <a:t>  # git-ignored; holds account ids and names, never a secret</a:t>
            </a:r>
          </a:p>
          <a:p>
            <a:pPr>
              <a:spcAft>
                <a:spcPts val="0"/>
              </a:spcAft>
              <a:buNone/>
            </a:pPr>
            <a:r>
              <a:rPr sz="1100" b="0" i="0">
                <a:solidFill>
                  <a:srgbClr val="E6EDF3"/>
                </a:solidFill>
                <a:latin typeface="Consolas"/>
              </a:rPr>
              <a:t>$EDITOR deploy/aws/env                        </a:t>
            </a:r>
            <a:r>
              <a:rPr sz="1100" b="0" i="0">
                <a:solidFill>
                  <a:srgbClr val="8B9BB4"/>
                </a:solidFill>
                <a:latin typeface="Consolas"/>
              </a:rPr>
              <a:t>  # replace every &lt;placeholder&gt;</a:t>
            </a:r>
          </a:p>
          <a:p>
            <a:pPr>
              <a:spcAft>
                <a:spcPts val="0"/>
              </a:spcAft>
              <a:buNone/>
            </a:pPr>
            <a:r>
              <a:rPr sz="1100" b="0" i="0">
                <a:solidFill>
                  <a:srgbClr val="E6EDF3"/>
                </a:solidFill>
                <a:latin typeface="Consolas"/>
              </a:rPr>
              <a:t>cp deploy/aws/delta-lake/tables.example deploy/aws/delta-lake/tables.conf </a:t>
            </a:r>
            <a:r>
              <a:rPr sz="1100" b="0" i="0">
                <a:solidFill>
                  <a:srgbClr val="8B9BB4"/>
                </a:solidFill>
                <a:latin typeface="Consolas"/>
              </a:rPr>
              <a:t>  # your tables; set LAKE_TABLES_FILE</a:t>
            </a:r>
          </a:p>
        </p:txBody>
      </p:sp>
      <p:sp>
        <p:nvSpPr>
          <p:cNvPr id="11" name="TextBox 10"/>
          <p:cNvSpPr txBox="1"/>
          <p:nvPr/>
        </p:nvSpPr>
        <p:spPr>
          <a:xfrm>
            <a:off x="411480" y="2240280"/>
            <a:ext cx="11365992" cy="6400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nothing yet. A script run with a placeholder left names it: </a:t>
            </a:r>
            <a:r>
              <a:rPr sz="1200" b="0" i="0">
                <a:solidFill>
                  <a:srgbClr val="0E7C86"/>
                </a:solidFill>
                <a:latin typeface="Consolas"/>
              </a:rPr>
              <a:t>setup-buckets.sh: LAKE_KMS_KEY_ARN is still a placeholder (&lt;arn:aws:kms:…&gt;) in deploy/aws/env</a:t>
            </a:r>
          </a:p>
        </p:txBody>
      </p:sp>
      <p:sp>
        <p:nvSpPr>
          <p:cNvPr id="12" name="Code block"/>
          <p:cNvSpPr/>
          <p:nvPr/>
        </p:nvSpPr>
        <p:spPr>
          <a:xfrm>
            <a:off x="411480" y="2926080"/>
            <a:ext cx="11365992" cy="4114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521208" y="2990088"/>
            <a:ext cx="11146536" cy="2834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trading/trade_endur      trade   config/packs/trading   trade-endur     {date}/endur/           -      PRODUCT_TYPE</a:t>
            </a:r>
          </a:p>
        </p:txBody>
      </p:sp>
      <p:graphicFrame>
        <p:nvGraphicFramePr>
          <p:cNvPr id="14" name="Table"/>
          <p:cNvGraphicFramePr>
            <a:graphicFrameLocks noGrp="1"/>
          </p:cNvGraphicFramePr>
          <p:nvPr/>
        </p:nvGraphicFramePr>
        <p:xfrm>
          <a:off x="411480" y="3474720"/>
          <a:ext cx="11365990" cy="2852928"/>
        </p:xfrm>
        <a:graphic>
          <a:graphicData uri="http://schemas.openxmlformats.org/drawingml/2006/table">
            <a:tbl>
              <a:tblPr firstRow="0" bandRow="0">
                <a:tableStyleId>{5940675A-B579-460E-94D1-54222C63F5DA}</a:tableStyleId>
              </a:tblPr>
              <a:tblGrid>
                <a:gridCol w="2016546"/>
                <a:gridCol w="2933159"/>
                <a:gridCol w="6416285"/>
              </a:tblGrid>
              <a:tr h="356616">
                <a:tc>
                  <a:txBody>
                    <a:bodyPr wrap="square"/>
                    <a:lstStyle/>
                    <a:p>
                      <a:r>
                        <a:rPr sz="1200" b="1" i="0">
                          <a:solidFill>
                            <a:srgbClr val="FFFFFF"/>
                          </a:solidFill>
                          <a:latin typeface="Calibri"/>
                        </a:rPr>
                        <a:t>Field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Example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56616">
                <a:tc>
                  <a:txBody>
                    <a:bodyPr wrap="square"/>
                    <a:lstStyle/>
                    <a:p>
                      <a:r>
                        <a:rPr sz="1200" b="1" i="0">
                          <a:solidFill>
                            <a:srgbClr val="1C2433"/>
                          </a:solidFill>
                          <a:latin typeface="Calibri"/>
                        </a:rPr>
                        <a:t>folder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trading/trade_endur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table's folder under the lake prefix (domain /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kind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trade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Drishti kind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pack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config/packs/trading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pack whose layout (key, promoted and vector columns) is used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trade-endur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pack's connector that reads this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landing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{date}/endur/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where the JSON Lines dumps are; </a:t>
                      </a:r>
                      <a:r>
                        <a:rPr sz="1100" b="0" i="0">
                          <a:solidFill>
                            <a:srgbClr val="0E7C86"/>
                          </a:solidFill>
                          <a:latin typeface="Consolas"/>
                        </a:rPr>
                        <a:t>{date}</a:t>
                      </a:r>
                      <a:r>
                        <a:rPr sz="1200" b="0" i="0">
                          <a:solidFill>
                            <a:srgbClr val="1C2433"/>
                          </a:solidFill>
                          <a:latin typeface="Calibri"/>
                        </a:rPr>
                        <a:t> is the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business-date field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field holding the date, or - for the day being 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partition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PRODUCT_TYPE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second partition 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2: the buckets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22</a:t>
            </a:r>
          </a:p>
        </p:txBody>
      </p:sp>
      <p:sp>
        <p:nvSpPr>
          <p:cNvPr id="9" name="Code block"/>
          <p:cNvSpPr/>
          <p:nvPr/>
        </p:nvSpPr>
        <p:spPr>
          <a:xfrm>
            <a:off x="411480" y="1188720"/>
            <a:ext cx="11365992" cy="19659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83794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deploy/aws/delta-lake/setup-buckets.sh --dry-run</a:t>
            </a:r>
          </a:p>
          <a:p>
            <a:pPr>
              <a:spcAft>
                <a:spcPts val="0"/>
              </a:spcAft>
              <a:buNone/>
            </a:pPr>
            <a:r>
              <a:rPr sz="1100" b="0" i="0">
                <a:solidFill>
                  <a:srgbClr val="E6EDF3"/>
                </a:solidFill>
                <a:latin typeface="Consolas"/>
              </a:rPr>
              <a:t>deploy/aws/delta-lake/setup-buckets.sh</a:t>
            </a:r>
          </a:p>
          <a:p>
            <a:pPr>
              <a:spcAft>
                <a:spcPts val="0"/>
              </a:spcAft>
              <a:buNone/>
            </a:pPr>
            <a:r>
              <a:rPr sz="1100" b="0" i="0">
                <a:solidFill>
                  <a:srgbClr val="E6EDF3"/>
                </a:solidFill>
                <a:latin typeface="Consolas"/>
              </a:rPr>
              <a:t>+ aws s3api create-bucket --bucket acme-drishti-prod-lake --object-ownership BucketOwnerEnforced \</a:t>
            </a:r>
          </a:p>
          <a:p>
            <a:pPr>
              <a:spcAft>
                <a:spcPts val="0"/>
              </a:spcAft>
              <a:buNone/>
            </a:pPr>
            <a:r>
              <a:rPr sz="1100" b="0" i="0">
                <a:solidFill>
                  <a:srgbClr val="E6EDF3"/>
                </a:solidFill>
                <a:latin typeface="Consolas"/>
              </a:rPr>
              <a:t>      --create-bucket-configuration LocationConstraint=eu-west-2</a:t>
            </a:r>
          </a:p>
          <a:p>
            <a:pPr>
              <a:spcAft>
                <a:spcPts val="0"/>
              </a:spcAft>
              <a:buNone/>
            </a:pPr>
            <a:r>
              <a:rPr sz="1100" b="0" i="0">
                <a:solidFill>
                  <a:srgbClr val="E6EDF3"/>
                </a:solidFill>
                <a:latin typeface="Consolas"/>
              </a:rPr>
              <a:t>+ aws s3api put-bucket-versioning --bucket acme-drishti-prod-lake --versioning-configuration Status=Enabled</a:t>
            </a:r>
          </a:p>
          <a:p>
            <a:pPr>
              <a:spcAft>
                <a:spcPts val="0"/>
              </a:spcAft>
              <a:buNone/>
            </a:pPr>
            <a:r>
              <a:rPr sz="1100" b="0" i="0">
                <a:solidFill>
                  <a:srgbClr val="E6EDF3"/>
                </a:solidFill>
                <a:latin typeface="Consolas"/>
              </a:rPr>
              <a:t>+ aws s3api put-bucket-encryption --bucket acme-drishti-prod-lake --server-side-encryption-configuration file://…</a:t>
            </a:r>
          </a:p>
          <a:p>
            <a:pPr>
              <a:spcAft>
                <a:spcPts val="0"/>
              </a:spcAft>
              <a:buNone/>
            </a:pPr>
            <a:r>
              <a:rPr sz="1100" b="0" i="0">
                <a:solidFill>
                  <a:srgbClr val="E6EDF3"/>
                </a:solidFill>
                <a:latin typeface="Consolas"/>
              </a:rPr>
              <a:t>+ aws s3api put-bucket-policy --bucket acme-drishti-prod-lake --policy file://…/policy-….json</a:t>
            </a:r>
          </a:p>
          <a:p>
            <a:pPr>
              <a:spcAft>
                <a:spcPts val="0"/>
              </a:spcAft>
              <a:buNone/>
            </a:pPr>
            <a:r>
              <a:rPr sz="1100" b="0" i="0">
                <a:solidFill>
                  <a:srgbClr val="E6EDF3"/>
                </a:solidFill>
                <a:latin typeface="Consolas"/>
              </a:rPr>
              <a:t>setup-buckets.sh: done: acme-drishti-prod-lake, acme-drishti-prod-landing, acme-drishti-prod-logs</a:t>
            </a:r>
          </a:p>
        </p:txBody>
      </p:sp>
      <p:sp>
        <p:nvSpPr>
          <p:cNvPr id="11" name="TextBox 10"/>
          <p:cNvSpPr txBox="1"/>
          <p:nvPr/>
        </p:nvSpPr>
        <p:spPr>
          <a:xfrm>
            <a:off x="411480" y="3337560"/>
            <a:ext cx="11365992" cy="30175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Three buckets:</a:t>
            </a:r>
            <a:r>
              <a:rPr sz="1400" b="0" i="0">
                <a:solidFill>
                  <a:srgbClr val="1C2433"/>
                </a:solidFill>
                <a:latin typeface="Calibri"/>
              </a:rPr>
              <a:t> </a:t>
            </a:r>
            <a:r>
              <a:rPr sz="1300" b="0" i="0">
                <a:solidFill>
                  <a:srgbClr val="0E7C86"/>
                </a:solidFill>
                <a:latin typeface="Consolas"/>
              </a:rPr>
              <a:t>-lake</a:t>
            </a:r>
            <a:r>
              <a:rPr sz="1400" b="0" i="0">
                <a:solidFill>
                  <a:srgbClr val="1C2433"/>
                </a:solidFill>
                <a:latin typeface="Calibri"/>
              </a:rPr>
              <a:t> (every Delta table, the risk lake included), </a:t>
            </a:r>
            <a:r>
              <a:rPr sz="1300" b="0" i="0">
                <a:solidFill>
                  <a:srgbClr val="0E7C86"/>
                </a:solidFill>
                <a:latin typeface="Consolas"/>
              </a:rPr>
              <a:t>-landing</a:t>
            </a:r>
            <a:r>
              <a:rPr sz="1400" b="0" i="0">
                <a:solidFill>
                  <a:srgbClr val="1C2433"/>
                </a:solidFill>
                <a:latin typeface="Calibri"/>
              </a:rPr>
              <a:t> (JSON Lines dumps, 30 days), </a:t>
            </a:r>
            <a:r>
              <a:rPr sz="1300" b="0" i="0">
                <a:solidFill>
                  <a:srgbClr val="0E7C86"/>
                </a:solidFill>
                <a:latin typeface="Consolas"/>
              </a:rPr>
              <a:t>-logs</a:t>
            </a:r>
            <a:r>
              <a:rPr sz="1400" b="0" i="0">
                <a:solidFill>
                  <a:srgbClr val="1C2433"/>
                </a:solidFill>
                <a:latin typeface="Calibri"/>
              </a:rPr>
              <a:t> (access logs, 400 days)</a:t>
            </a:r>
          </a:p>
          <a:p>
            <a:pPr algn="l" marL="201168" indent="-201168">
              <a:spcAft>
                <a:spcPts val="700"/>
              </a:spcAft>
              <a:buClr>
                <a:srgbClr val="E87A1E"/>
              </a:buClr>
              <a:buSzPct val="100000"/>
              <a:buFont typeface="Arial"/>
              <a:buChar char="•"/>
            </a:pPr>
            <a:r>
              <a:rPr sz="1400" b="1" i="0">
                <a:solidFill>
                  <a:srgbClr val="1C2433"/>
                </a:solidFill>
                <a:latin typeface="Calibri"/>
              </a:rPr>
              <a:t>On the lake:</a:t>
            </a:r>
            <a:r>
              <a:rPr sz="1400" b="0" i="0">
                <a:solidFill>
                  <a:srgbClr val="1C2433"/>
                </a:solidFill>
                <a:latin typeface="Calibri"/>
              </a:rPr>
              <a:t> versioning on; SSE-KMS with S3 Bucket Keys; Block Public Access; bucket-owner-enforced ownership; TLS only; VPC endpoint only (plus </a:t>
            </a:r>
            <a:r>
              <a:rPr sz="1300" b="0" i="0">
                <a:solidFill>
                  <a:srgbClr val="0E7C86"/>
                </a:solidFill>
                <a:latin typeface="Consolas"/>
              </a:rPr>
              <a:t>drishti-&lt;env&gt;-admin*</a:t>
            </a:r>
            <a:r>
              <a:rPr sz="1400" b="0" i="0">
                <a:solidFill>
                  <a:srgbClr val="1C2433"/>
                </a:solidFill>
                <a:latin typeface="Calibri"/>
              </a:rPr>
              <a:t> roles); access logs; request metrics on </a:t>
            </a:r>
            <a:r>
              <a:rPr sz="1300" b="0" i="0">
                <a:solidFill>
                  <a:srgbClr val="0E7C86"/>
                </a:solidFill>
                <a:latin typeface="Consolas"/>
              </a:rPr>
              <a:t>lake/</a:t>
            </a:r>
          </a:p>
          <a:p>
            <a:pPr algn="l" marL="201168" indent="-201168">
              <a:spcAft>
                <a:spcPts val="700"/>
              </a:spcAft>
              <a:buClr>
                <a:srgbClr val="E87A1E"/>
              </a:buClr>
              <a:buSzPct val="100000"/>
              <a:buFont typeface="Arial"/>
              <a:buChar char="•"/>
            </a:pPr>
            <a:r>
              <a:rPr sz="1400" b="1" i="0">
                <a:solidFill>
                  <a:srgbClr val="1C2433"/>
                </a:solidFill>
                <a:latin typeface="Calibri"/>
              </a:rPr>
              <a:t>Safety net:</a:t>
            </a:r>
            <a:r>
              <a:rPr sz="1400" b="0" i="0">
                <a:solidFill>
                  <a:srgbClr val="1C2433"/>
                </a:solidFill>
                <a:latin typeface="Calibri"/>
              </a:rPr>
              <a:t> noncurrent versions expire after 14 days; incomplete multipart uploads abort after 2 days</a:t>
            </a:r>
          </a:p>
          <a:p>
            <a:pPr algn="l" marL="201168" indent="-201168">
              <a:spcAft>
                <a:spcPts val="700"/>
              </a:spcAft>
              <a:buClr>
                <a:srgbClr val="E87A1E"/>
              </a:buClr>
              <a:buSzPct val="100000"/>
              <a:buFont typeface="Arial"/>
              <a:buChar char="•"/>
            </a:pPr>
            <a:r>
              <a:rPr sz="1400" b="1" i="0">
                <a:solidFill>
                  <a:srgbClr val="1C2433"/>
                </a:solidFill>
                <a:latin typeface="Calibri"/>
              </a:rPr>
              <a:t>Idempotent:</a:t>
            </a:r>
            <a:r>
              <a:rPr sz="1400" b="0" i="0">
                <a:solidFill>
                  <a:srgbClr val="1C2433"/>
                </a:solidFill>
                <a:latin typeface="Calibri"/>
              </a:rPr>
              <a:t> run again, it says </a:t>
            </a:r>
            <a:r>
              <a:rPr sz="1300" b="0" i="0">
                <a:solidFill>
                  <a:srgbClr val="0E7C86"/>
                </a:solidFill>
                <a:latin typeface="Consolas"/>
              </a:rPr>
              <a:t>acme-drishti-prod-lake exists: kept, settings applied again</a:t>
            </a:r>
          </a:p>
          <a:p>
            <a:pPr algn="l" marL="201168" indent="-201168">
              <a:spcAft>
                <a:spcPts val="700"/>
              </a:spcAft>
              <a:buClr>
                <a:srgbClr val="E87A1E"/>
              </a:buClr>
              <a:buSzPct val="100000"/>
              <a:buFont typeface="Arial"/>
              <a:buChar char="•"/>
            </a:pPr>
            <a:r>
              <a:rPr sz="1300" b="0" i="0">
                <a:solidFill>
                  <a:srgbClr val="0E7C86"/>
                </a:solidFill>
                <a:latin typeface="Consolas"/>
              </a:rPr>
              <a:t>--dry-run</a:t>
            </a:r>
            <a:r>
              <a:rPr sz="1400" b="0" i="0">
                <a:solidFill>
                  <a:srgbClr val="1C2433"/>
                </a:solidFill>
                <a:latin typeface="Calibri"/>
              </a:rPr>
              <a:t> prints each changing call as </a:t>
            </a:r>
            <a:r>
              <a:rPr sz="1300" b="0" i="0">
                <a:solidFill>
                  <a:srgbClr val="0E7C86"/>
                </a:solidFill>
                <a:latin typeface="Consolas"/>
              </a:rPr>
              <a:t>+ aws …</a:t>
            </a:r>
            <a:r>
              <a:rPr sz="1400" b="0" i="0">
                <a:solidFill>
                  <a:srgbClr val="1C2433"/>
                </a:solidFill>
                <a:latin typeface="Calibri"/>
              </a:rPr>
              <a:t> and each read as </a:t>
            </a:r>
            <a:r>
              <a:rPr sz="1300" b="0" i="0">
                <a:solidFill>
                  <a:srgbClr val="0E7C86"/>
                </a:solidFill>
                <a:latin typeface="Consolas"/>
              </a:rPr>
              <a:t>? aws …</a:t>
            </a:r>
            <a:r>
              <a:rPr sz="1400" b="0" i="0">
                <a:solidFill>
                  <a:srgbClr val="1C2433"/>
                </a:solidFill>
                <a:latin typeface="Calibri"/>
              </a:rPr>
              <a:t>; none is made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3: who may do what (IAM)</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23</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deploy/aws/delta-lake/setup-iam.sh --dry-run</a:t>
            </a:r>
          </a:p>
          <a:p>
            <a:pPr>
              <a:spcAft>
                <a:spcPts val="0"/>
              </a:spcAft>
              <a:buNone/>
            </a:pPr>
            <a:r>
              <a:rPr sz="1100" b="0" i="0">
                <a:solidFill>
                  <a:srgbClr val="E6EDF3"/>
                </a:solidFill>
                <a:latin typeface="Consolas"/>
              </a:rPr>
              <a:t>deploy/aws/delta-lake/setup-iam.sh</a:t>
            </a:r>
          </a:p>
        </p:txBody>
      </p:sp>
      <p:graphicFrame>
        <p:nvGraphicFramePr>
          <p:cNvPr id="11" name="Table"/>
          <p:cNvGraphicFramePr>
            <a:graphicFrameLocks noGrp="1"/>
          </p:cNvGraphicFramePr>
          <p:nvPr/>
        </p:nvGraphicFramePr>
        <p:xfrm>
          <a:off x="411480" y="1920240"/>
          <a:ext cx="11365990" cy="3401568"/>
        </p:xfrm>
        <a:graphic>
          <a:graphicData uri="http://schemas.openxmlformats.org/drawingml/2006/table">
            <a:tbl>
              <a:tblPr firstRow="0" bandRow="0">
                <a:tableStyleId>{5940675A-B579-460E-94D1-54222C63F5DA}</a:tableStyleId>
              </a:tblPr>
              <a:tblGrid>
                <a:gridCol w="2933159"/>
                <a:gridCol w="3574787"/>
                <a:gridCol w="4858044"/>
              </a:tblGrid>
              <a:tr h="566928">
                <a:tc>
                  <a:txBody>
                    <a:bodyPr wrap="square"/>
                    <a:lstStyle/>
                    <a:p>
                      <a:r>
                        <a:rPr sz="1200" b="1" i="0">
                          <a:solidFill>
                            <a:srgbClr val="FFFFFF"/>
                          </a:solidFill>
                          <a:latin typeface="Calibri"/>
                        </a:rPr>
                        <a:t>Role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Policy (deploy/aws/delta-lake/iam/)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0" i="0">
                          <a:solidFill>
                            <a:srgbClr val="0E7C86"/>
                          </a:solidFill>
                          <a:latin typeface="Consolas"/>
                        </a:rPr>
                        <a:t>drishti-&lt;env&gt;-server-task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server-policy.json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 the lake prefix (GET, LIST), decrypt; mount EFS through access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drishti-&lt;env&gt;-loader-task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loader-policy.json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read the landing bucket; write data files and commits; never delete (an explicit deny)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drishti-&lt;env&gt;-maintenance-task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maintenance-policy.json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checkpoints, retention and vacuum: the only role that deletes; the lifecycle rules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drishti-&lt;env&gt;-execution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AmazonECSTaskExecutionRolePolicy + </a:t>
                      </a:r>
                      <a:r>
                        <a:rPr sz="1100" b="0" i="0">
                          <a:solidFill>
                            <a:srgbClr val="0E7C86"/>
                          </a:solidFill>
                          <a:latin typeface="Consolas"/>
                        </a:rPr>
                        <a:t>drishti/&lt;env&gt;/*</a:t>
                      </a:r>
                      <a:r>
                        <a:rPr sz="1200" b="0" i="0">
                          <a:solidFill>
                            <a:srgbClr val="1C2433"/>
                          </a:solidFill>
                          <a:latin typeface="Calibri"/>
                        </a:rPr>
                        <a:t> secrets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pulls images, writes logs, injects secrets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drishti-&lt;env&gt;-scheduler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inline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EventBridge Scheduler runs the lake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Callout"/>
          <p:cNvSpPr/>
          <p:nvPr/>
        </p:nvSpPr>
        <p:spPr>
          <a:xfrm>
            <a:off x="411480" y="5486400"/>
            <a:ext cx="11365992" cy="8229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5504688"/>
            <a:ext cx="82296" cy="7863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5559552"/>
            <a:ext cx="11000232" cy="67665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setup-iam.sh: done: three policies, five roles (…)</a:t>
            </a:r>
            <a:r>
              <a:rPr sz="1300" b="0" i="0">
                <a:solidFill>
                  <a:srgbClr val="1C2433"/>
                </a:solidFill>
                <a:latin typeface="Calibri"/>
              </a:rPr>
              <a:t>. The servers only read the lake: what a server writes itself (official results, Kafka intraday batches) needs its own path to S3 (slide 65).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4: prove that commits are safe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24</a:t>
            </a:r>
          </a:p>
        </p:txBody>
      </p:sp>
      <p:sp>
        <p:nvSpPr>
          <p:cNvPr id="9" name="Code block"/>
          <p:cNvSpPr/>
          <p:nvPr/>
        </p:nvSpPr>
        <p:spPr>
          <a:xfrm>
            <a:off x="411480" y="1188720"/>
            <a:ext cx="11365992" cy="6858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5577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deploy/aws/delta-lake/check-conditional-writes.sh</a:t>
            </a:r>
          </a:p>
          <a:p>
            <a:pPr>
              <a:spcAft>
                <a:spcPts val="0"/>
              </a:spcAft>
              <a:buNone/>
            </a:pPr>
            <a:r>
              <a:rPr sz="1100" b="0" i="0">
                <a:solidFill>
                  <a:srgbClr val="E6EDF3"/>
                </a:solidFill>
                <a:latin typeface="Consolas"/>
              </a:rPr>
              <a:t>check-conditional-writes.sh: ok: the second create was refused (412 PreconditionFailed): concurrent commits are safe</a:t>
            </a:r>
          </a:p>
        </p:txBody>
      </p:sp>
      <p:sp>
        <p:nvSpPr>
          <p:cNvPr id="11" name="TextBox 10"/>
          <p:cNvSpPr txBox="1"/>
          <p:nvPr/>
        </p:nvSpPr>
        <p:spPr>
          <a:xfrm>
            <a:off x="411480" y="2103120"/>
            <a:ext cx="6949440" cy="42062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1" i="0">
                <a:solidFill>
                  <a:srgbClr val="1C2433"/>
                </a:solidFill>
                <a:latin typeface="Calibri"/>
              </a:rPr>
              <a:t>What it does:</a:t>
            </a:r>
            <a:r>
              <a:rPr sz="1400" b="0" i="0">
                <a:solidFill>
                  <a:srgbClr val="1C2433"/>
                </a:solidFill>
                <a:latin typeface="Calibri"/>
              </a:rPr>
              <a:t> creates a test object with </a:t>
            </a:r>
            <a:r>
              <a:rPr sz="1300" b="0" i="0">
                <a:solidFill>
                  <a:srgbClr val="0E7C86"/>
                </a:solidFill>
                <a:latin typeface="Consolas"/>
              </a:rPr>
              <a:t>If-None-Match: *</a:t>
            </a:r>
            <a:r>
              <a:rPr sz="1400" b="0" i="0">
                <a:solidFill>
                  <a:srgbClr val="1C2433"/>
                </a:solidFill>
                <a:latin typeface="Calibri"/>
              </a:rPr>
              <a:t>, then tries again; S3 must refuse the second with 412</a:t>
            </a:r>
          </a:p>
          <a:p>
            <a:pPr algn="l" marL="201168" indent="-201168">
              <a:spcAft>
                <a:spcPts val="800"/>
              </a:spcAft>
              <a:buClr>
                <a:srgbClr val="E87A1E"/>
              </a:buClr>
              <a:buSzPct val="100000"/>
              <a:buFont typeface="Arial"/>
              <a:buChar char="•"/>
            </a:pPr>
            <a:r>
              <a:rPr sz="1400" b="1" i="0">
                <a:solidFill>
                  <a:srgbClr val="1C2433"/>
                </a:solidFill>
                <a:latin typeface="Calibri"/>
              </a:rPr>
              <a:t>Why it matters:</a:t>
            </a:r>
            <a:r>
              <a:rPr sz="1400" b="0" i="0">
                <a:solidFill>
                  <a:srgbClr val="1C2433"/>
                </a:solidFill>
                <a:latin typeface="Calibri"/>
              </a:rPr>
              <a:t> a Delta commit is the creation of </a:t>
            </a:r>
            <a:r>
              <a:rPr sz="1300" b="0" i="0">
                <a:solidFill>
                  <a:srgbClr val="0E7C86"/>
                </a:solidFill>
                <a:latin typeface="Consolas"/>
              </a:rPr>
              <a:t>_delta_log/&lt;version&gt;.json</a:t>
            </a:r>
            <a:r>
              <a:rPr sz="1400" b="0" i="0">
                <a:solidFill>
                  <a:srgbClr val="1C2433"/>
                </a:solidFill>
                <a:latin typeface="Calibri"/>
              </a:rPr>
              <a:t>; two writers must never both create one version</a:t>
            </a:r>
          </a:p>
          <a:p>
            <a:pPr algn="l" marL="201168" indent="-201168">
              <a:spcAft>
                <a:spcPts val="800"/>
              </a:spcAft>
              <a:buClr>
                <a:srgbClr val="E87A1E"/>
              </a:buClr>
              <a:buSzPct val="100000"/>
              <a:buFont typeface="Arial"/>
              <a:buChar char="•"/>
            </a:pPr>
            <a:r>
              <a:rPr sz="1400" b="1" i="0">
                <a:solidFill>
                  <a:srgbClr val="1C2433"/>
                </a:solidFill>
                <a:latin typeface="Calibri"/>
              </a:rPr>
              <a:t>Any other answer: stop.</a:t>
            </a:r>
            <a:r>
              <a:rPr sz="1400" b="0" i="0">
                <a:solidFill>
                  <a:srgbClr val="1C2433"/>
                </a:solidFill>
                <a:latin typeface="Calibri"/>
              </a:rPr>
              <a:t> A store or proxy that drops the header cannot guarantee safe concurrent commits; then only one writer per table (the scripts' per-table locks give that if nothing else writes)</a:t>
            </a:r>
          </a:p>
          <a:p>
            <a:pPr algn="l" marL="201168" indent="-201168">
              <a:spcAft>
                <a:spcPts val="800"/>
              </a:spcAft>
              <a:buClr>
                <a:srgbClr val="E87A1E"/>
              </a:buClr>
              <a:buSzPct val="100000"/>
              <a:buFont typeface="Arial"/>
              <a:buChar char="•"/>
            </a:pPr>
            <a:r>
              <a:rPr sz="1400" b="1" i="0">
                <a:solidFill>
                  <a:srgbClr val="1C2433"/>
                </a:solidFill>
                <a:latin typeface="Calibri"/>
              </a:rPr>
              <a:t>No DynamoDB lock table:</a:t>
            </a:r>
            <a:r>
              <a:rPr sz="1400" b="0" i="0">
                <a:solidFill>
                  <a:srgbClr val="1C2433"/>
                </a:solidFill>
                <a:latin typeface="Calibri"/>
              </a:rPr>
              <a:t> deltalake 1.x commits with conditional PUT</a:t>
            </a:r>
          </a:p>
        </p:txBody>
      </p:sp>
      <p:sp>
        <p:nvSpPr>
          <p:cNvPr id="12" name="Callout"/>
          <p:cNvSpPr/>
          <p:nvPr/>
        </p:nvSpPr>
        <p:spPr>
          <a:xfrm>
            <a:off x="7635240" y="2103120"/>
            <a:ext cx="4142232" cy="4206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635240" y="2121408"/>
            <a:ext cx="82296" cy="416966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863840" y="2176272"/>
            <a:ext cx="3776472" cy="4059935"/>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The same guarantee, used three times</a:t>
            </a:r>
          </a:p>
          <a:p>
            <a:pPr algn="l" marL="201168" indent="-201168">
              <a:spcAft>
                <a:spcPts val="600"/>
              </a:spcAft>
              <a:buClr>
                <a:srgbClr val="E87A1E"/>
              </a:buClr>
              <a:buSzPct val="100000"/>
              <a:buFont typeface="Arial"/>
              <a:buChar char="•"/>
            </a:pPr>
            <a:r>
              <a:rPr sz="1300" b="1" i="0">
                <a:solidFill>
                  <a:srgbClr val="1C2433"/>
                </a:solidFill>
                <a:latin typeface="Calibri"/>
              </a:rPr>
              <a:t>Delta commits:</a:t>
            </a:r>
            <a:r>
              <a:rPr sz="1300" b="0" i="0">
                <a:solidFill>
                  <a:srgbClr val="1C2433"/>
                </a:solidFill>
                <a:latin typeface="Calibri"/>
              </a:rPr>
              <a:t> </a:t>
            </a:r>
            <a:r>
              <a:rPr sz="1200" b="0" i="0">
                <a:solidFill>
                  <a:srgbClr val="0E7C86"/>
                </a:solidFill>
                <a:latin typeface="Consolas"/>
              </a:rPr>
              <a:t>lake publish</a:t>
            </a:r>
            <a:r>
              <a:rPr sz="1300" b="0" i="0">
                <a:solidFill>
                  <a:srgbClr val="1C2433"/>
                </a:solidFill>
                <a:latin typeface="Calibri"/>
              </a:rPr>
              <a:t>, </a:t>
            </a:r>
            <a:r>
              <a:rPr sz="1200" b="0" i="0">
                <a:solidFill>
                  <a:srgbClr val="0E7C86"/>
                </a:solidFill>
                <a:latin typeface="Consolas"/>
              </a:rPr>
              <a:t>lake maintain</a:t>
            </a:r>
            <a:r>
              <a:rPr sz="1300" b="0" i="0">
                <a:solidFill>
                  <a:srgbClr val="1C2433"/>
                </a:solidFill>
                <a:latin typeface="Calibri"/>
              </a:rPr>
              <a:t> (deltalake 1.x)</a:t>
            </a:r>
          </a:p>
          <a:p>
            <a:pPr algn="l" marL="201168" indent="-201168">
              <a:spcAft>
                <a:spcPts val="600"/>
              </a:spcAft>
              <a:buClr>
                <a:srgbClr val="E87A1E"/>
              </a:buClr>
              <a:buSzPct val="100000"/>
              <a:buFont typeface="Arial"/>
              <a:buChar char="•"/>
            </a:pPr>
            <a:r>
              <a:rPr sz="1300" b="1" i="0">
                <a:solidFill>
                  <a:srgbClr val="1C2433"/>
                </a:solidFill>
                <a:latin typeface="Calibri"/>
              </a:rPr>
              <a:t>Iceberg commits:</a:t>
            </a:r>
            <a:r>
              <a:rPr sz="1300" b="0" i="0">
                <a:solidFill>
                  <a:srgbClr val="1C2433"/>
                </a:solidFill>
                <a:latin typeface="Calibri"/>
              </a:rPr>
              <a:t> drishti-lakeio's conditional PUT, probed at start (a store without it: single writer)</a:t>
            </a:r>
          </a:p>
          <a:p>
            <a:pPr algn="l" marL="201168" indent="-201168">
              <a:spcAft>
                <a:spcPts val="600"/>
              </a:spcAft>
              <a:buClr>
                <a:srgbClr val="E87A1E"/>
              </a:buClr>
              <a:buSzPct val="100000"/>
              <a:buFont typeface="Arial"/>
              <a:buChar char="•"/>
            </a:pPr>
            <a:r>
              <a:rPr sz="1300" b="1" i="0">
                <a:solidFill>
                  <a:srgbClr val="1C2433"/>
                </a:solidFill>
                <a:latin typeface="Calibri"/>
              </a:rPr>
              <a:t>Content store on S3:</a:t>
            </a:r>
            <a:r>
              <a:rPr sz="1300" b="0" i="0">
                <a:solidFill>
                  <a:srgbClr val="1C2433"/>
                </a:solidFill>
                <a:latin typeface="Calibri"/>
              </a:rPr>
              <a:t> create </a:t>
            </a:r>
            <a:r>
              <a:rPr sz="1200" b="0" i="0">
                <a:solidFill>
                  <a:srgbClr val="0E7C86"/>
                </a:solidFill>
                <a:latin typeface="Consolas"/>
              </a:rPr>
              <a:t>If-None-Match: *</a:t>
            </a:r>
            <a:r>
              <a:rPr sz="1300" b="0" i="0">
                <a:solidFill>
                  <a:srgbClr val="1C2433"/>
                </a:solidFill>
                <a:latin typeface="Calibri"/>
              </a:rPr>
              <a:t>, update </a:t>
            </a:r>
            <a:r>
              <a:rPr sz="1200" b="0" i="0">
                <a:solidFill>
                  <a:srgbClr val="0E7C86"/>
                </a:solidFill>
                <a:latin typeface="Consolas"/>
              </a:rPr>
              <a:t>If-Match: &lt;ETag&gt;</a:t>
            </a:r>
            <a:r>
              <a:rPr sz="1300" b="0" i="0">
                <a:solidFill>
                  <a:srgbClr val="1C2433"/>
                </a:solidFill>
                <a:latin typeface="Calibri"/>
              </a:rPr>
              <a:t>; a lost race is </a:t>
            </a:r>
            <a:r>
              <a:rPr sz="1200" b="0" i="0">
                <a:solidFill>
                  <a:srgbClr val="0E7C86"/>
                </a:solidFill>
                <a:latin typeface="Consolas"/>
              </a:rPr>
              <a:t>409 DRS-5057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5: storage tiers by business date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25</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deploy/aws/delta-lake/setup-lifecycle.sh --print | head -20   </a:t>
            </a:r>
            <a:r>
              <a:rPr sz="1100" b="0" i="0">
                <a:solidFill>
                  <a:srgbClr val="8B9BB4"/>
                </a:solidFill>
                <a:latin typeface="Consolas"/>
              </a:rPr>
              <a:t>  # the rules, no AWS call</a:t>
            </a:r>
          </a:p>
          <a:p>
            <a:pPr>
              <a:spcAft>
                <a:spcPts val="0"/>
              </a:spcAft>
              <a:buNone/>
            </a:pPr>
            <a:r>
              <a:rPr sz="1100" b="0" i="0">
                <a:solidFill>
                  <a:srgbClr val="E6EDF3"/>
                </a:solidFill>
                <a:latin typeface="Consolas"/>
              </a:rPr>
              <a:t>deploy/aws/delta-lake/setup-lifecycle.sh</a:t>
            </a:r>
          </a:p>
        </p:txBody>
      </p:sp>
      <p:sp>
        <p:nvSpPr>
          <p:cNvPr id="11" name="TextBox 10"/>
          <p:cNvSpPr txBox="1"/>
          <p:nvPr/>
        </p:nvSpPr>
        <p:spPr>
          <a:xfrm>
            <a:off x="411480" y="1920240"/>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setup-lifecycle.sh: 129 rules for acme-drishti-prod-lake</a:t>
            </a:r>
            <a:r>
              <a:rPr sz="1300" b="0" i="0">
                <a:solidFill>
                  <a:srgbClr val="1C2433"/>
                </a:solidFill>
                <a:latin typeface="Calibri"/>
              </a:rPr>
              <a:t> (three tables from 2019).</a:t>
            </a:r>
          </a:p>
        </p:txBody>
      </p:sp>
      <p:sp>
        <p:nvSpPr>
          <p:cNvPr id="12" name="TextBox 11"/>
          <p:cNvSpPr txBox="1"/>
          <p:nvPr/>
        </p:nvSpPr>
        <p:spPr>
          <a:xfrm>
            <a:off x="411480" y="2423160"/>
            <a:ext cx="11365992" cy="39319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By date, not by age:</a:t>
            </a:r>
            <a:r>
              <a:rPr sz="1400" b="0" i="0">
                <a:solidFill>
                  <a:srgbClr val="1C2433"/>
                </a:solidFill>
                <a:latin typeface="Calibri"/>
              </a:rPr>
              <a:t> age is the time since an object was written, wrong for a restated or backfilled day; one rule per table per business month, with transition dates</a:t>
            </a:r>
          </a:p>
          <a:p>
            <a:pPr algn="l" marL="201168" indent="-201168">
              <a:spcAft>
                <a:spcPts val="700"/>
              </a:spcAft>
              <a:buClr>
                <a:srgbClr val="E87A1E"/>
              </a:buClr>
              <a:buSzPct val="100000"/>
              <a:buFont typeface="Arial"/>
              <a:buChar char="•"/>
            </a:pPr>
            <a:r>
              <a:rPr sz="1400" b="0" i="0">
                <a:solidFill>
                  <a:srgbClr val="1C2433"/>
                </a:solidFill>
                <a:latin typeface="Calibri"/>
              </a:rPr>
              <a:t>Standard → Standard-IA when the month's last day is 90 days old (</a:t>
            </a:r>
            <a:r>
              <a:rPr sz="1300" b="0" i="0">
                <a:solidFill>
                  <a:srgbClr val="0E7C86"/>
                </a:solidFill>
                <a:latin typeface="Consolas"/>
              </a:rPr>
              <a:t>TIER_IA_AFTER_DAYS</a:t>
            </a:r>
            <a:r>
              <a:rPr sz="1400" b="0" i="0">
                <a:solidFill>
                  <a:srgbClr val="1C2433"/>
                </a:solidFill>
                <a:latin typeface="Calibri"/>
              </a:rPr>
              <a:t>); → Glacier Instant Retrieval at two years (</a:t>
            </a:r>
            <a:r>
              <a:rPr sz="1300" b="0" i="0">
                <a:solidFill>
                  <a:srgbClr val="0E7C86"/>
                </a:solidFill>
                <a:latin typeface="Consolas"/>
              </a:rPr>
              <a:t>TIER_GLACIER_IR_AFTER_DAYS</a:t>
            </a:r>
            <a:r>
              <a:rPr sz="1400" b="0" i="0">
                <a:solidFill>
                  <a:srgbClr val="1C2433"/>
                </a:solidFill>
                <a:latin typeface="Calibri"/>
              </a:rPr>
              <a:t>)</a:t>
            </a:r>
          </a:p>
          <a:p>
            <a:pPr algn="l" marL="201168" indent="-201168">
              <a:spcAft>
                <a:spcPts val="700"/>
              </a:spcAft>
              <a:buClr>
                <a:srgbClr val="E87A1E"/>
              </a:buClr>
              <a:buSzPct val="100000"/>
              <a:buFont typeface="Arial"/>
              <a:buChar char="•"/>
            </a:pPr>
            <a:r>
              <a:rPr sz="1400" b="0" i="0">
                <a:solidFill>
                  <a:srgbClr val="1C2433"/>
                </a:solidFill>
                <a:latin typeface="Calibri"/>
              </a:rPr>
              <a:t>Never Glacier Flexible Retrieval or Deep Archive (hours to restore); never an S3 expiry of current lake objects</a:t>
            </a:r>
          </a:p>
          <a:p>
            <a:pPr algn="l" marL="201168" indent="-201168">
              <a:spcAft>
                <a:spcPts val="700"/>
              </a:spcAft>
              <a:buClr>
                <a:srgbClr val="E87A1E"/>
              </a:buClr>
              <a:buSzPct val="100000"/>
              <a:buFont typeface="Arial"/>
              <a:buChar char="•"/>
            </a:pPr>
            <a:r>
              <a:rPr sz="1300" b="0" i="0">
                <a:solidFill>
                  <a:srgbClr val="0E7C86"/>
                </a:solidFill>
                <a:latin typeface="Consolas"/>
              </a:rPr>
              <a:t>_delta_log/</a:t>
            </a:r>
            <a:r>
              <a:rPr sz="1400" b="0" i="0">
                <a:solidFill>
                  <a:srgbClr val="1C2433"/>
                </a:solidFill>
                <a:latin typeface="Calibri"/>
              </a:rPr>
              <a:t> never matches: commits and checkpoints stay in Standard; objects under 128 KB stay where they are</a:t>
            </a:r>
          </a:p>
          <a:p>
            <a:pPr algn="l" marL="201168" indent="-201168">
              <a:spcAft>
                <a:spcPts val="700"/>
              </a:spcAft>
              <a:buClr>
                <a:srgbClr val="E87A1E"/>
              </a:buClr>
              <a:buSzPct val="100000"/>
              <a:buFont typeface="Arial"/>
              <a:buChar char="•"/>
            </a:pPr>
            <a:r>
              <a:rPr sz="1400" b="0" i="0">
                <a:solidFill>
                  <a:srgbClr val="1C2433"/>
                </a:solidFill>
                <a:latin typeface="Calibri"/>
              </a:rPr>
              <a:t>Rules exist three months ahead; maintain.sh rewrites them nightly; S3 allows 1,000 rules and the script refuses more</a:t>
            </a:r>
          </a:p>
          <a:p>
            <a:pPr algn="l" marL="201168" indent="-201168">
              <a:spcAft>
                <a:spcPts val="700"/>
              </a:spcAft>
              <a:buClr>
                <a:srgbClr val="E87A1E"/>
              </a:buClr>
              <a:buSzPct val="100000"/>
              <a:buFont typeface="Arial"/>
              <a:buChar char="•"/>
            </a:pPr>
            <a:r>
              <a:rPr sz="1400" b="1" i="0">
                <a:solidFill>
                  <a:srgbClr val="1C2433"/>
                </a:solidFill>
                <a:latin typeface="Calibri"/>
              </a:rPr>
              <a:t>Risk tables:</a:t>
            </a:r>
            <a:r>
              <a:rPr sz="1400" b="0" i="0">
                <a:solidFill>
                  <a:srgbClr val="1C2433"/>
                </a:solidFill>
                <a:latin typeface="Calibri"/>
              </a:rPr>
              <a:t> 7 years kept, old months in Glacier IR, still read in milliseconds (official numbers stay reproducible)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6: EFS access points, one per node per path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26</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deploy/aws/ecs/setup-efs.sh --dry-run</a:t>
            </a:r>
          </a:p>
          <a:p>
            <a:pPr>
              <a:spcAft>
                <a:spcPts val="0"/>
              </a:spcAft>
              <a:buNone/>
            </a:pPr>
            <a:r>
              <a:rPr sz="1100" b="0" i="0">
                <a:solidFill>
                  <a:srgbClr val="E6EDF3"/>
                </a:solidFill>
                <a:latin typeface="Consolas"/>
              </a:rPr>
              <a:t>deploy/aws/ecs/setup-efs.sh</a:t>
            </a:r>
          </a:p>
        </p:txBody>
      </p:sp>
      <p:sp>
        <p:nvSpPr>
          <p:cNvPr id="11" name="TextBox 10"/>
          <p:cNvSpPr txBox="1"/>
          <p:nvPr/>
        </p:nvSpPr>
        <p:spPr>
          <a:xfrm>
            <a:off x="411480" y="1874519"/>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one access point id per line (</a:t>
            </a:r>
            <a:r>
              <a:rPr sz="1200" b="0" i="0">
                <a:solidFill>
                  <a:srgbClr val="0E7C86"/>
                </a:solidFill>
                <a:latin typeface="Consolas"/>
              </a:rPr>
              <a:t>fsap-0a1b…</a:t>
            </a:r>
            <a:r>
              <a:rPr sz="1300" b="0" i="0">
                <a:solidFill>
                  <a:srgbClr val="1C2433"/>
                </a:solidFill>
                <a:latin typeface="Calibri"/>
              </a:rPr>
              <a:t>) and </a:t>
            </a:r>
            <a:r>
              <a:rPr sz="1200" b="0" i="0">
                <a:solidFill>
                  <a:srgbClr val="0E7C86"/>
                </a:solidFill>
                <a:latin typeface="Consolas"/>
              </a:rPr>
              <a:t>setup-efs.sh: 14 access points on fs-… for three nodes</a:t>
            </a:r>
            <a:r>
              <a:rPr sz="1300" b="0" i="0">
                <a:solidFill>
                  <a:srgbClr val="1C2433"/>
                </a:solidFill>
                <a:latin typeface="Calibri"/>
              </a:rPr>
              <a:t>.</a:t>
            </a:r>
          </a:p>
        </p:txBody>
      </p:sp>
      <p:graphicFrame>
        <p:nvGraphicFramePr>
          <p:cNvPr id="12" name="Table"/>
          <p:cNvGraphicFramePr>
            <a:graphicFrameLocks noGrp="1"/>
          </p:cNvGraphicFramePr>
          <p:nvPr/>
        </p:nvGraphicFramePr>
        <p:xfrm>
          <a:off x="411480" y="2423160"/>
          <a:ext cx="11365990" cy="2286000"/>
        </p:xfrm>
        <a:graphic>
          <a:graphicData uri="http://schemas.openxmlformats.org/drawingml/2006/table">
            <a:tbl>
              <a:tblPr firstRow="0" bandRow="0">
                <a:tableStyleId>{5940675A-B579-460E-94D1-54222C63F5DA}</a:tableStyleId>
              </a:tblPr>
              <a:tblGrid>
                <a:gridCol w="2749836"/>
                <a:gridCol w="2199869"/>
                <a:gridCol w="6416285"/>
              </a:tblGrid>
              <a:tr h="457200">
                <a:tc>
                  <a:txBody>
                    <a:bodyPr wrap="square"/>
                    <a:lstStyle/>
                    <a:p>
                      <a:r>
                        <a:rPr sz="1200" b="1" i="0">
                          <a:solidFill>
                            <a:srgbClr val="FFFFFF"/>
                          </a:solidFill>
                          <a:latin typeface="Calibri"/>
                        </a:rPr>
                        <a:t>Owner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Access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Root (identical path inside the container)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each node (drishti-a, -b, -c)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data, config, sutras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/drishti/&lt;env&gt;/&lt;node&gt;/opt/drishti/&lt;path&gt;</a:t>
                      </a:r>
                      <a:r>
                        <a:rPr sz="1200" b="0" i="0">
                          <a:solidFill>
                            <a:srgbClr val="1C2433"/>
                          </a:solidFill>
                          <a:latin typeface="Calibri"/>
                        </a:rPr>
                        <a:t> → </a:t>
                      </a:r>
                      <a:r>
                        <a:rPr sz="1100" b="0" i="0">
                          <a:solidFill>
                            <a:srgbClr val="0E7C86"/>
                          </a:solidFill>
                          <a:latin typeface="Consolas"/>
                        </a:rPr>
                        <a:t>/opt/drishti/&lt;path&gt;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consoles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 config, sutras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/drishti/&lt;env&gt;/consoles/opt/drishti/&lt;path&gt;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/drishti/&lt;env&gt;/loader/opt/drishti/data</a:t>
                      </a:r>
                      <a:r>
                        <a:rPr sz="1200" b="0" i="0">
                          <a:solidFill>
                            <a:srgbClr val="1C2433"/>
                          </a:solidFill>
                          <a:latin typeface="Calibri"/>
                        </a:rPr>
                        <a:t> (scratch lakes, table locks)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maintenance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/drishti/&lt;env&gt;/maintenance/opt/drishti/data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3" name="TextBox 12"/>
          <p:cNvSpPr txBox="1"/>
          <p:nvPr/>
        </p:nvSpPr>
        <p:spPr>
          <a:xfrm>
            <a:off x="411480" y="4892040"/>
            <a:ext cx="11365992" cy="146304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400" b="0" i="0">
                <a:solidFill>
                  <a:srgbClr val="1C2433"/>
                </a:solidFill>
                <a:latin typeface="Calibri"/>
              </a:rPr>
              <a:t>Every access point runs as uid/gid 10001 (the image's user); 3 × 3 + 3 + 1 + 1 = 14</a:t>
            </a:r>
          </a:p>
          <a:p>
            <a:pPr algn="l" marL="201168" indent="-201168">
              <a:spcAft>
                <a:spcPts val="500"/>
              </a:spcAft>
              <a:buClr>
                <a:srgbClr val="E87A1E"/>
              </a:buClr>
              <a:buSzPct val="100000"/>
              <a:buFont typeface="Arial"/>
              <a:buChar char="•"/>
            </a:pPr>
            <a:r>
              <a:rPr sz="1400" b="0" i="0">
                <a:solidFill>
                  <a:srgbClr val="1C2433"/>
                </a:solidFill>
                <a:latin typeface="Calibri"/>
              </a:rPr>
              <a:t>Idempotent: the access point's name is its client token, so running again returns the same ids</a:t>
            </a:r>
          </a:p>
          <a:p>
            <a:pPr algn="l" marL="201168" indent="-201168">
              <a:spcAft>
                <a:spcPts val="500"/>
              </a:spcAft>
              <a:buClr>
                <a:srgbClr val="E87A1E"/>
              </a:buClr>
              <a:buSzPct val="100000"/>
              <a:buFont typeface="Arial"/>
              <a:buChar char="•"/>
            </a:pPr>
            <a:r>
              <a:rPr sz="1400" b="0" i="0">
                <a:solidFill>
                  <a:srgbClr val="1C2433"/>
                </a:solidFill>
                <a:latin typeface="Calibri"/>
              </a:rPr>
              <a:t>The rule from AWS_DEPLOYMENT.md: every path a container writes maps to the identical path on EFS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7: Cloud Map seeds and the Drishti*net transport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27</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deploy/aws/ecs/setup-cloud-map.sh      </a:t>
            </a:r>
            <a:r>
              <a:rPr sz="1100" b="0" i="0">
                <a:solidFill>
                  <a:srgbClr val="8B9BB4"/>
                </a:solidFill>
                <a:latin typeface="Consolas"/>
              </a:rPr>
              <a:t>  # once for the namespace (it takes a minute) …</a:t>
            </a:r>
          </a:p>
          <a:p>
            <a:pPr>
              <a:spcAft>
                <a:spcPts val="0"/>
              </a:spcAft>
              <a:buNone/>
            </a:pPr>
            <a:r>
              <a:rPr sz="1100" b="0" i="0">
                <a:solidFill>
                  <a:srgbClr val="E6EDF3"/>
                </a:solidFill>
                <a:latin typeface="Consolas"/>
              </a:rPr>
              <a:t>deploy/aws/ecs/setup-cloud-map.sh      </a:t>
            </a:r>
            <a:r>
              <a:rPr sz="1100" b="0" i="0">
                <a:solidFill>
                  <a:srgbClr val="8B9BB4"/>
                </a:solidFill>
                <a:latin typeface="Consolas"/>
              </a:rPr>
              <a:t>  # … and again for one service per node</a:t>
            </a:r>
          </a:p>
        </p:txBody>
      </p:sp>
      <p:sp>
        <p:nvSpPr>
          <p:cNvPr id="11" name="TextBox 10"/>
          <p:cNvSpPr txBox="1"/>
          <p:nvPr/>
        </p:nvSpPr>
        <p:spPr>
          <a:xfrm>
            <a:off x="411480" y="1920240"/>
            <a:ext cx="5669280" cy="438912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ECS registers each node's task under </a:t>
            </a:r>
            <a:r>
              <a:rPr sz="1300" b="0" i="0">
                <a:solidFill>
                  <a:srgbClr val="0E7C86"/>
                </a:solidFill>
                <a:latin typeface="Consolas"/>
              </a:rPr>
              <a:t>drishti-a.drishti.local</a:t>
            </a:r>
            <a:r>
              <a:rPr sz="1400" b="0" i="0">
                <a:solidFill>
                  <a:srgbClr val="1C2433"/>
                </a:solidFill>
                <a:latin typeface="Calibri"/>
              </a:rPr>
              <a:t> with the task's own address</a:t>
            </a:r>
          </a:p>
          <a:p>
            <a:pPr algn="l" marL="201168" indent="-201168">
              <a:spcAft>
                <a:spcPts val="800"/>
              </a:spcAft>
              <a:buClr>
                <a:srgbClr val="E87A1E"/>
              </a:buClr>
              <a:buSzPct val="100000"/>
              <a:buFont typeface="Arial"/>
              <a:buChar char="•"/>
            </a:pPr>
            <a:r>
              <a:rPr sz="1400" b="0" i="0">
                <a:solidFill>
                  <a:srgbClr val="1C2433"/>
                </a:solidFill>
                <a:latin typeface="Calibri"/>
              </a:rPr>
              <a:t>Servers advertise </a:t>
            </a:r>
            <a:r>
              <a:rPr sz="1300" b="0" i="0">
                <a:solidFill>
                  <a:srgbClr val="0E7C86"/>
                </a:solidFill>
                <a:latin typeface="Consolas"/>
              </a:rPr>
              <a:t>http://&lt;task IP&gt;:18480</a:t>
            </a:r>
            <a:r>
              <a:rPr sz="1400" b="0" i="0">
                <a:solidFill>
                  <a:srgbClr val="1C2433"/>
                </a:solidFill>
                <a:latin typeface="Calibri"/>
              </a:rPr>
              <a:t>, never loopback (refused since 2.6.0)</a:t>
            </a:r>
          </a:p>
          <a:p>
            <a:pPr algn="l" marL="201168" indent="-201168">
              <a:spcAft>
                <a:spcPts val="800"/>
              </a:spcAft>
              <a:buClr>
                <a:srgbClr val="E87A1E"/>
              </a:buClr>
              <a:buSzPct val="100000"/>
              <a:buFont typeface="Arial"/>
              <a:buChar char="•"/>
            </a:pPr>
            <a:r>
              <a:rPr sz="1400" b="0" i="0">
                <a:solidFill>
                  <a:srgbClr val="1C2433"/>
                </a:solidFill>
                <a:latin typeface="Calibri"/>
              </a:rPr>
              <a:t>A new node finds the cluster through its seed's Cloud Map name, then learns the rest by gossip</a:t>
            </a:r>
          </a:p>
          <a:p>
            <a:pPr algn="l" marL="201168" indent="-201168">
              <a:spcAft>
                <a:spcPts val="800"/>
              </a:spcAft>
              <a:buClr>
                <a:srgbClr val="E87A1E"/>
              </a:buClr>
              <a:buSzPct val="100000"/>
              <a:buFont typeface="Arial"/>
              <a:buChar char="•"/>
            </a:pPr>
            <a:r>
              <a:rPr sz="1400" b="0" i="0">
                <a:solidFill>
                  <a:srgbClr val="1C2433"/>
                </a:solidFill>
                <a:latin typeface="Calibri"/>
              </a:rPr>
              <a:t>The loader's data-load signal (</a:t>
            </a:r>
            <a:r>
              <a:rPr sz="1300" b="0" i="0">
                <a:solidFill>
                  <a:srgbClr val="0E7C86"/>
                </a:solidFill>
                <a:latin typeface="Consolas"/>
              </a:rPr>
              <a:t>DRISHTI_SIGNAL_URL</a:t>
            </a:r>
            <a:r>
              <a:rPr sz="1400" b="0" i="0">
                <a:solidFill>
                  <a:srgbClr val="1C2433"/>
                </a:solidFill>
                <a:latin typeface="Calibri"/>
              </a:rPr>
              <a:t>) also uses a node's Cloud Map name</a:t>
            </a:r>
          </a:p>
        </p:txBody>
      </p:sp>
      <p:sp>
        <p:nvSpPr>
          <p:cNvPr id="12" name="Rounded Rectangle 11"/>
          <p:cNvSpPr/>
          <p:nvPr/>
        </p:nvSpPr>
        <p:spPr>
          <a:xfrm>
            <a:off x="6355080" y="1920240"/>
            <a:ext cx="5422392" cy="13716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46520" y="1965960"/>
            <a:ext cx="40965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Gossip on its own port (2.6.7)</a:t>
            </a:r>
          </a:p>
        </p:txBody>
      </p:sp>
      <p:sp>
        <p:nvSpPr>
          <p:cNvPr id="14" name="Status BUILT"/>
          <p:cNvSpPr/>
          <p:nvPr/>
        </p:nvSpPr>
        <p:spPr>
          <a:xfrm>
            <a:off x="10634472" y="201168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5" name="TextBox 14"/>
          <p:cNvSpPr txBox="1"/>
          <p:nvPr/>
        </p:nvSpPr>
        <p:spPr>
          <a:xfrm>
            <a:off x="6446520" y="228600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node.yaml </a:t>
            </a:r>
            <a:r>
              <a:rPr sz="1100" b="0" i="0">
                <a:solidFill>
                  <a:srgbClr val="0E7C86"/>
                </a:solidFill>
                <a:latin typeface="Consolas"/>
              </a:rPr>
              <a:t>gossip-port</a:t>
            </a:r>
            <a:r>
              <a:rPr sz="1200" b="0" i="0">
                <a:solidFill>
                  <a:srgbClr val="1C2433"/>
                </a:solidFill>
                <a:latin typeface="Calibri"/>
              </a:rPr>
              <a:t>: auto · a number · off</a:t>
            </a:r>
          </a:p>
          <a:p>
            <a:pPr algn="l" marL="201168" indent="-201168">
              <a:spcAft>
                <a:spcPts val="200"/>
              </a:spcAft>
              <a:buClr>
                <a:srgbClr val="E87A1E"/>
              </a:buClr>
              <a:buSzPct val="100000"/>
              <a:buFont typeface="Arial"/>
              <a:buChar char="•"/>
            </a:pPr>
            <a:r>
              <a:rPr sz="1200" b="0" i="0">
                <a:solidFill>
                  <a:srgbClr val="1C2433"/>
                </a:solidFill>
                <a:latin typeface="Calibri"/>
              </a:rPr>
              <a:t>busy nodes never suspected: 12 s saturated, no suspicion</a:t>
            </a:r>
          </a:p>
        </p:txBody>
      </p:sp>
      <p:sp>
        <p:nvSpPr>
          <p:cNvPr id="16" name="Rounded Rectangle 15"/>
          <p:cNvSpPr/>
          <p:nvPr/>
        </p:nvSpPr>
        <p:spPr>
          <a:xfrm>
            <a:off x="6355080" y="3429000"/>
            <a:ext cx="5422392" cy="13716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6446520" y="3474720"/>
            <a:ext cx="40965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HTTP/2 between nodes (2.6.7)</a:t>
            </a:r>
          </a:p>
        </p:txBody>
      </p:sp>
      <p:sp>
        <p:nvSpPr>
          <p:cNvPr id="18" name="Status BUILT"/>
          <p:cNvSpPr/>
          <p:nvPr/>
        </p:nvSpPr>
        <p:spPr>
          <a:xfrm>
            <a:off x="10634472" y="352044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9" name="TextBox 18"/>
          <p:cNvSpPr txBox="1"/>
          <p:nvPr/>
        </p:nvSpPr>
        <p:spPr>
          <a:xfrm>
            <a:off x="6446520" y="379476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routing.yaml </a:t>
            </a:r>
            <a:r>
              <a:rPr sz="1100" b="0" i="0">
                <a:solidFill>
                  <a:srgbClr val="0E7C86"/>
                </a:solidFill>
                <a:latin typeface="Consolas"/>
              </a:rPr>
              <a:t>peer-protocol: http2</a:t>
            </a:r>
            <a:r>
              <a:rPr sz="1200" b="0" i="0">
                <a:solidFill>
                  <a:srgbClr val="1C2433"/>
                </a:solidFill>
                <a:latin typeface="Calibri"/>
              </a:rPr>
              <a:t> (h2c), one connection per peer</a:t>
            </a:r>
          </a:p>
          <a:p>
            <a:pPr algn="l" marL="201168" indent="-201168">
              <a:spcAft>
                <a:spcPts val="200"/>
              </a:spcAft>
              <a:buClr>
                <a:srgbClr val="E87A1E"/>
              </a:buClr>
              <a:buSzPct val="100000"/>
              <a:buFont typeface="Arial"/>
              <a:buChar char="•"/>
            </a:pPr>
            <a:r>
              <a:rPr sz="1200" b="0" i="0">
                <a:solidFill>
                  <a:srgbClr val="1C2433"/>
                </a:solidFill>
                <a:latin typeface="Calibri"/>
              </a:rPr>
              <a:t>1 connection instead of 227; p99 117 ms vs 370 ms</a:t>
            </a:r>
          </a:p>
        </p:txBody>
      </p:sp>
      <p:sp>
        <p:nvSpPr>
          <p:cNvPr id="20" name="Rounded Rectangle 19"/>
          <p:cNvSpPr/>
          <p:nvPr/>
        </p:nvSpPr>
        <p:spPr>
          <a:xfrm>
            <a:off x="6355080" y="4937760"/>
            <a:ext cx="5422392" cy="13716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6446520" y="4983480"/>
            <a:ext cx="40965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 ECS: a fixed gossip port</a:t>
            </a:r>
          </a:p>
        </p:txBody>
      </p:sp>
      <p:sp>
        <p:nvSpPr>
          <p:cNvPr id="22" name="Status PROPOSED"/>
          <p:cNvSpPr/>
          <p:nvPr/>
        </p:nvSpPr>
        <p:spPr>
          <a:xfrm>
            <a:off x="10634472" y="502920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23" name="TextBox 22"/>
          <p:cNvSpPr txBox="1"/>
          <p:nvPr/>
        </p:nvSpPr>
        <p:spPr>
          <a:xfrm>
            <a:off x="6446520" y="530352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set </a:t>
            </a:r>
            <a:r>
              <a:rPr sz="1100" b="0" i="0">
                <a:solidFill>
                  <a:srgbClr val="0E7C86"/>
                </a:solidFill>
                <a:latin typeface="Consolas"/>
              </a:rPr>
              <a:t>gossip-port</a:t>
            </a:r>
            <a:r>
              <a:rPr sz="1200" b="0" i="0">
                <a:solidFill>
                  <a:srgbClr val="1C2433"/>
                </a:solidFill>
                <a:latin typeface="Calibri"/>
              </a:rPr>
              <a:t> to a number (e.g. 18490) on every node</a:t>
            </a:r>
          </a:p>
          <a:p>
            <a:pPr algn="l" marL="201168" indent="-201168">
              <a:spcAft>
                <a:spcPts val="200"/>
              </a:spcAft>
              <a:buClr>
                <a:srgbClr val="E87A1E"/>
              </a:buClr>
              <a:buSzPct val="100000"/>
              <a:buFont typeface="Arial"/>
              <a:buChar char="•"/>
            </a:pPr>
            <a:r>
              <a:rPr sz="1200" b="0" i="0">
                <a:solidFill>
                  <a:srgbClr val="1C2433"/>
                </a:solidFill>
                <a:latin typeface="Calibri"/>
              </a:rPr>
              <a:t>open it node to node in the </a:t>
            </a:r>
            <a:r>
              <a:rPr sz="1100" b="0" i="0">
                <a:solidFill>
                  <a:srgbClr val="0E7C86"/>
                </a:solidFill>
                <a:latin typeface="Consolas"/>
              </a:rPr>
              <a:t>drishti-node</a:t>
            </a:r>
            <a:r>
              <a:rPr sz="1200" b="0" i="0">
                <a:solidFill>
                  <a:srgbClr val="1C2433"/>
                </a:solidFill>
                <a:latin typeface="Calibri"/>
              </a:rPr>
              <a:t> security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8: the images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28</a:t>
            </a:r>
          </a:p>
        </p:txBody>
      </p:sp>
      <p:sp>
        <p:nvSpPr>
          <p:cNvPr id="9" name="Code block"/>
          <p:cNvSpPr/>
          <p:nvPr/>
        </p:nvSpPr>
        <p:spPr>
          <a:xfrm>
            <a:off x="411480" y="1188720"/>
            <a:ext cx="11365992" cy="11430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01498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./mvnw -q clean package -DskipTests</a:t>
            </a:r>
          </a:p>
          <a:p>
            <a:pPr>
              <a:spcAft>
                <a:spcPts val="0"/>
              </a:spcAft>
              <a:buNone/>
            </a:pPr>
            <a:r>
              <a:rPr sz="1100" b="0" i="0">
                <a:solidFill>
                  <a:srgbClr val="E6EDF3"/>
                </a:solidFill>
                <a:latin typeface="Consolas"/>
              </a:rPr>
              <a:t>docker build -f deploy/docker/ecs/server.Dockerfile  -t "$ECR_REGISTRY/drishti-server-ecs:2.9.4" .</a:t>
            </a:r>
          </a:p>
          <a:p>
            <a:pPr>
              <a:spcAft>
                <a:spcPts val="0"/>
              </a:spcAft>
              <a:buNone/>
            </a:pPr>
            <a:r>
              <a:rPr sz="1100" b="0" i="0">
                <a:solidFill>
                  <a:srgbClr val="E6EDF3"/>
                </a:solidFill>
                <a:latin typeface="Consolas"/>
              </a:rPr>
              <a:t>docker build -f deploy/docker/ecs/console.Dockerfile -t "$ECR_REGISTRY/drishti-console-ecs:2.9.4" .</a:t>
            </a:r>
          </a:p>
          <a:p>
            <a:pPr>
              <a:spcAft>
                <a:spcPts val="0"/>
              </a:spcAft>
              <a:buNone/>
            </a:pPr>
            <a:r>
              <a:rPr sz="1100" b="0" i="0">
                <a:solidFill>
                  <a:srgbClr val="E6EDF3"/>
                </a:solidFill>
                <a:latin typeface="Consolas"/>
              </a:rPr>
              <a:t>docker build -f deploy/docker/ecs/loader.Dockerfile  -t "$ECR_REGISTRY/drishti-loader-ecs:2.9.4" . </a:t>
            </a:r>
            <a:r>
              <a:rPr sz="1100" b="0" i="0">
                <a:solidFill>
                  <a:srgbClr val="8B9BB4"/>
                </a:solidFill>
                <a:latin typeface="Consolas"/>
              </a:rPr>
              <a:t>  # carries env</a:t>
            </a:r>
          </a:p>
          <a:p>
            <a:pPr>
              <a:spcAft>
                <a:spcPts val="0"/>
              </a:spcAft>
              <a:buNone/>
            </a:pPr>
            <a:r>
              <a:rPr sz="1100" b="0" i="0">
                <a:solidFill>
                  <a:srgbClr val="E6EDF3"/>
                </a:solidFill>
                <a:latin typeface="Consolas"/>
              </a:rPr>
              <a:t>docker push …                                       </a:t>
            </a:r>
            <a:r>
              <a:rPr sz="1100" b="0" i="0">
                <a:solidFill>
                  <a:srgbClr val="8B9BB4"/>
                </a:solidFill>
                <a:latin typeface="Consolas"/>
              </a:rPr>
              <a:t>  # each of the three, after aws ecr get-login-password</a:t>
            </a:r>
          </a:p>
        </p:txBody>
      </p:sp>
      <p:graphicFrame>
        <p:nvGraphicFramePr>
          <p:cNvPr id="11" name="Table"/>
          <p:cNvGraphicFramePr>
            <a:graphicFrameLocks noGrp="1"/>
          </p:cNvGraphicFramePr>
          <p:nvPr/>
        </p:nvGraphicFramePr>
        <p:xfrm>
          <a:off x="411480" y="2514600"/>
          <a:ext cx="11365991" cy="2267712"/>
        </p:xfrm>
        <a:graphic>
          <a:graphicData uri="http://schemas.openxmlformats.org/drawingml/2006/table">
            <a:tbl>
              <a:tblPr firstRow="0" bandRow="0">
                <a:tableStyleId>{5940675A-B579-460E-94D1-54222C63F5DA}</a:tableStyleId>
              </a:tblPr>
              <a:tblGrid>
                <a:gridCol w="2199869"/>
                <a:gridCol w="3299804"/>
                <a:gridCol w="5866318"/>
              </a:tblGrid>
              <a:tr h="566928">
                <a:tc>
                  <a:txBody>
                    <a:bodyPr wrap="square"/>
                    <a:lstStyle/>
                    <a:p>
                      <a:r>
                        <a:rPr sz="1200" b="1" i="0">
                          <a:solidFill>
                            <a:srgbClr val="FFFFFF"/>
                          </a:solidFill>
                          <a:latin typeface="Calibri"/>
                        </a:rPr>
                        <a:t>Image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Built from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Entry point checks / role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0" i="0">
                          <a:solidFill>
                            <a:srgbClr val="0E7C86"/>
                          </a:solidFill>
                          <a:latin typeface="Consolas"/>
                        </a:rPr>
                        <a:t>drishti-server-ecs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deploy/docker/ecs/server.Dockerfile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server-entrypoint.sh: EFS mounted and writable, real IPv4 (never loopback), first-start node.yaml and peers; health check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drishti-console-ecs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deploy/docker/ecs/console.Dockerfile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console-entrypoint.sh: the console, a separate container from the server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drishti-loader-ecs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deploy/docker/ecs/loader.Dockerfile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loader-entrypoint.sh: EFS mounted and writable; runs the lake scripts; copies deploy/aws/ with your env (no secret)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TextBox 11"/>
          <p:cNvSpPr txBox="1"/>
          <p:nvPr/>
        </p:nvSpPr>
        <p:spPr>
          <a:xfrm>
            <a:off x="411480" y="4983480"/>
            <a:ext cx="11365992" cy="137160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300" b="0" i="0">
                <a:solidFill>
                  <a:srgbClr val="1C2433"/>
                </a:solidFill>
                <a:latin typeface="Calibri"/>
              </a:rPr>
              <a:t>Loader tasks read the same settings: </a:t>
            </a:r>
            <a:r>
              <a:rPr sz="1200" b="0" i="0">
                <a:solidFill>
                  <a:srgbClr val="0E7C86"/>
                </a:solidFill>
                <a:latin typeface="Consolas"/>
              </a:rPr>
              <a:t>DRISHTI_AWS_ENV=/opt/drishti/app/deploy/aws/env</a:t>
            </a:r>
            <a:r>
              <a:rPr sz="1300" b="0" i="0">
                <a:solidFill>
                  <a:srgbClr val="1C2433"/>
                </a:solidFill>
                <a:latin typeface="Calibri"/>
              </a:rPr>
              <a:t>; rebuild the loader image when they change</a:t>
            </a:r>
          </a:p>
          <a:p>
            <a:pPr algn="l" marL="201168" indent="-201168">
              <a:spcAft>
                <a:spcPts val="400"/>
              </a:spcAft>
              <a:buClr>
                <a:srgbClr val="E87A1E"/>
              </a:buClr>
              <a:buSzPct val="100000"/>
              <a:buFont typeface="Arial"/>
              <a:buChar char="•"/>
            </a:pPr>
            <a:r>
              <a:rPr sz="1300" b="0" i="0">
                <a:solidFill>
                  <a:srgbClr val="1C2433"/>
                </a:solidFill>
                <a:latin typeface="Calibri"/>
              </a:rPr>
              <a:t>The loader image carries the Python lake tools (</a:t>
            </a:r>
            <a:r>
              <a:rPr sz="1200" b="0" i="0">
                <a:solidFill>
                  <a:srgbClr val="0E7C86"/>
                </a:solidFill>
                <a:latin typeface="Consolas"/>
              </a:rPr>
              <a:t>lake build</a:t>
            </a:r>
            <a:r>
              <a:rPr sz="1300" b="0" i="0">
                <a:solidFill>
                  <a:srgbClr val="1C2433"/>
                </a:solidFill>
                <a:latin typeface="Calibri"/>
              </a:rPr>
              <a:t>, </a:t>
            </a:r>
            <a:r>
              <a:rPr sz="1200" b="0" i="0">
                <a:solidFill>
                  <a:srgbClr val="0E7C86"/>
                </a:solidFill>
                <a:latin typeface="Consolas"/>
              </a:rPr>
              <a:t>lake publish</a:t>
            </a:r>
            <a:r>
              <a:rPr sz="1300" b="0" i="0">
                <a:solidFill>
                  <a:srgbClr val="1C2433"/>
                </a:solidFill>
                <a:latin typeface="Calibri"/>
              </a:rPr>
              <a:t>, </a:t>
            </a:r>
            <a:r>
              <a:rPr sz="1200" b="0" i="0">
                <a:solidFill>
                  <a:srgbClr val="0E7C86"/>
                </a:solidFill>
                <a:latin typeface="Consolas"/>
              </a:rPr>
              <a:t>lake maintain</a:t>
            </a:r>
            <a:r>
              <a:rPr sz="1300" b="0" i="0">
                <a:solidFill>
                  <a:srgbClr val="1C2433"/>
                </a:solidFill>
                <a:latin typeface="Calibri"/>
              </a:rPr>
              <a:t>, </a:t>
            </a:r>
            <a:r>
              <a:rPr sz="1200" b="0" i="0">
                <a:solidFill>
                  <a:srgbClr val="0E7C86"/>
                </a:solidFill>
                <a:latin typeface="Consolas"/>
              </a:rPr>
              <a:t>drishti.py convert</a:t>
            </a:r>
            <a:r>
              <a:rPr sz="1300" b="0" i="0">
                <a:solidFill>
                  <a:srgbClr val="1C2433"/>
                </a:solidFill>
                <a:latin typeface="Calibri"/>
              </a:rPr>
              <a:t>)</a:t>
            </a:r>
          </a:p>
          <a:p>
            <a:pPr algn="l" marL="201168" indent="-201168">
              <a:spcAft>
                <a:spcPts val="400"/>
              </a:spcAft>
              <a:buClr>
                <a:srgbClr val="E87A1E"/>
              </a:buClr>
              <a:buSzPct val="100000"/>
              <a:buFont typeface="Arial"/>
              <a:buChar char="•"/>
            </a:pPr>
            <a:r>
              <a:rPr sz="1300" b="0" i="0">
                <a:solidFill>
                  <a:srgbClr val="1C2433"/>
                </a:solidFill>
                <a:latin typeface="Calibri"/>
              </a:rPr>
              <a:t>The build context is the repository root; nothing is built or run on a developer laptop by the scripts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9: task definitions, services and schedules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29</a:t>
            </a:r>
          </a:p>
        </p:txBody>
      </p:sp>
      <p:sp>
        <p:nvSpPr>
          <p:cNvPr id="9" name="Code block"/>
          <p:cNvSpPr/>
          <p:nvPr/>
        </p:nvSpPr>
        <p:spPr>
          <a:xfrm>
            <a:off x="411480" y="1188720"/>
            <a:ext cx="11365992" cy="8686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406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deploy/aws/ecs/register.sh --dry-run</a:t>
            </a:r>
          </a:p>
          <a:p>
            <a:pPr>
              <a:spcAft>
                <a:spcPts val="0"/>
              </a:spcAft>
              <a:buNone/>
            </a:pPr>
            <a:r>
              <a:rPr sz="1100" b="0" i="0">
                <a:solidFill>
                  <a:srgbClr val="E6EDF3"/>
                </a:solidFill>
                <a:latin typeface="Consolas"/>
              </a:rPr>
              <a:t>deploy/aws/ecs/register.sh                        </a:t>
            </a:r>
            <a:r>
              <a:rPr sz="1100" b="0" i="0">
                <a:solidFill>
                  <a:srgbClr val="8B9BB4"/>
                </a:solidFill>
                <a:latin typeface="Consolas"/>
              </a:rPr>
              <a:t>  # --nodes --lake-jobs</a:t>
            </a:r>
          </a:p>
          <a:p>
            <a:pPr>
              <a:spcAft>
                <a:spcPts val="0"/>
              </a:spcAft>
              <a:buNone/>
            </a:pPr>
            <a:r>
              <a:rPr sz="1100" b="0" i="0">
                <a:solidFill>
                  <a:srgbClr val="E6EDF3"/>
                </a:solidFill>
                <a:latin typeface="Consolas"/>
              </a:rPr>
              <a:t>deploy/aws/ecs/register.sh --consoles 4           </a:t>
            </a:r>
            <a:r>
              <a:rPr sz="1100" b="0" i="0">
                <a:solidFill>
                  <a:srgbClr val="8B9BB4"/>
                </a:solidFill>
                <a:latin typeface="Consolas"/>
              </a:rPr>
              <a:t>  # optional: a console service of its own</a:t>
            </a:r>
          </a:p>
        </p:txBody>
      </p:sp>
      <p:sp>
        <p:nvSpPr>
          <p:cNvPr id="11" name="TextBox 10"/>
          <p:cNvSpPr txBox="1"/>
          <p:nvPr/>
        </p:nvSpPr>
        <p:spPr>
          <a:xfrm>
            <a:off x="411480" y="2194560"/>
            <a:ext cx="11365992" cy="6400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 task definition and a service per node (</a:t>
            </a:r>
            <a:r>
              <a:rPr sz="1200" b="0" i="0">
                <a:solidFill>
                  <a:srgbClr val="0E7C86"/>
                </a:solidFill>
                <a:latin typeface="Consolas"/>
              </a:rPr>
              <a:t>drishti-prod-drishti-a</a:t>
            </a:r>
            <a:r>
              <a:rPr sz="1300" b="0" i="0">
                <a:solidFill>
                  <a:srgbClr val="1C2433"/>
                </a:solidFill>
                <a:latin typeface="Calibri"/>
              </a:rPr>
              <a:t>, …), the loader, maintenance and report task definitions, three schedules (</a:t>
            </a:r>
            <a:r>
              <a:rPr sz="1200" b="0" i="0">
                <a:solidFill>
                  <a:srgbClr val="0E7C86"/>
                </a:solidFill>
                <a:latin typeface="Consolas"/>
              </a:rPr>
              <a:t>drishti-prod-load-day</a:t>
            </a:r>
            <a:r>
              <a:rPr sz="1300" b="0" i="0">
                <a:solidFill>
                  <a:srgbClr val="1C2433"/>
                </a:solidFill>
                <a:latin typeface="Calibri"/>
              </a:rPr>
              <a:t>, </a:t>
            </a:r>
            <a:r>
              <a:rPr sz="1200" b="0" i="0">
                <a:solidFill>
                  <a:srgbClr val="0E7C86"/>
                </a:solidFill>
                <a:latin typeface="Consolas"/>
              </a:rPr>
              <a:t>-maintain</a:t>
            </a:r>
            <a:r>
              <a:rPr sz="1300" b="0" i="0">
                <a:solidFill>
                  <a:srgbClr val="1C2433"/>
                </a:solidFill>
                <a:latin typeface="Calibri"/>
              </a:rPr>
              <a:t>, </a:t>
            </a:r>
            <a:r>
              <a:rPr sz="1200" b="0" i="0">
                <a:solidFill>
                  <a:srgbClr val="0E7C86"/>
                </a:solidFill>
                <a:latin typeface="Consolas"/>
              </a:rPr>
              <a:t>-report</a:t>
            </a:r>
            <a:r>
              <a:rPr sz="1300" b="0" i="0">
                <a:solidFill>
                  <a:srgbClr val="1C2433"/>
                </a:solidFill>
                <a:latin typeface="Calibri"/>
              </a:rPr>
              <a:t>), then </a:t>
            </a:r>
            <a:r>
              <a:rPr sz="1200" b="0" i="0">
                <a:solidFill>
                  <a:srgbClr val="0E7C86"/>
                </a:solidFill>
                <a:latin typeface="Consolas"/>
              </a:rPr>
              <a:t>register.sh: done</a:t>
            </a:r>
            <a:r>
              <a:rPr sz="1300" b="0" i="0">
                <a:solidFill>
                  <a:srgbClr val="1C2433"/>
                </a:solidFill>
                <a:latin typeface="Calibri"/>
              </a:rPr>
              <a:t>.</a:t>
            </a:r>
          </a:p>
        </p:txBody>
      </p:sp>
      <p:sp>
        <p:nvSpPr>
          <p:cNvPr id="12" name="TextBox 11"/>
          <p:cNvSpPr txBox="1"/>
          <p:nvPr/>
        </p:nvSpPr>
        <p:spPr>
          <a:xfrm>
            <a:off x="411480" y="2971800"/>
            <a:ext cx="11365992" cy="338328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The node task sets </a:t>
            </a:r>
            <a:r>
              <a:rPr sz="1300" b="0" i="0">
                <a:solidFill>
                  <a:srgbClr val="0E7C86"/>
                </a:solidFill>
                <a:latin typeface="Consolas"/>
              </a:rPr>
              <a:t>DRISHTI_DELTA_ROOT=s3://&lt;lake bucket&gt;/lake</a:t>
            </a:r>
            <a:r>
              <a:rPr sz="1400" b="0" i="0">
                <a:solidFill>
                  <a:srgbClr val="1C2433"/>
                </a:solidFill>
                <a:latin typeface="Calibri"/>
              </a:rPr>
              <a:t>: every shipped Delta connector reads the lake in S3 with no edit, </a:t>
            </a:r>
            <a:r>
              <a:rPr sz="1400" b="1" i="0">
                <a:solidFill>
                  <a:srgbClr val="1C2433"/>
                </a:solidFill>
                <a:latin typeface="Calibri"/>
              </a:rPr>
              <a:t>the risk lake's</a:t>
            </a:r>
            <a:r>
              <a:rPr sz="1400" b="0" i="0">
                <a:solidFill>
                  <a:srgbClr val="1C2433"/>
                </a:solidFill>
                <a:latin typeface="Calibri"/>
              </a:rPr>
              <a:t> </a:t>
            </a:r>
            <a:r>
              <a:rPr sz="1300" b="0" i="0">
                <a:solidFill>
                  <a:srgbClr val="0E7C86"/>
                </a:solidFill>
                <a:latin typeface="Consolas"/>
              </a:rPr>
              <a:t>risk-store</a:t>
            </a:r>
            <a:r>
              <a:rPr sz="1400" b="0" i="0">
                <a:solidFill>
                  <a:srgbClr val="1C2433"/>
                </a:solidFill>
                <a:latin typeface="Calibri"/>
              </a:rPr>
              <a:t>, </a:t>
            </a:r>
            <a:r>
              <a:rPr sz="1300" b="0" i="0">
                <a:solidFill>
                  <a:srgbClr val="0E7C86"/>
                </a:solidFill>
                <a:latin typeface="Consolas"/>
              </a:rPr>
              <a:t>exposure-store</a:t>
            </a:r>
            <a:r>
              <a:rPr sz="1400" b="0" i="0">
                <a:solidFill>
                  <a:srgbClr val="1C2433"/>
                </a:solidFill>
                <a:latin typeface="Calibri"/>
              </a:rPr>
              <a:t>, </a:t>
            </a:r>
            <a:r>
              <a:rPr sz="1300" b="0" i="0">
                <a:solidFill>
                  <a:srgbClr val="0E7C86"/>
                </a:solidFill>
                <a:latin typeface="Consolas"/>
              </a:rPr>
              <a:t>var-results</a:t>
            </a:r>
            <a:r>
              <a:rPr sz="1400" b="0" i="0">
                <a:solidFill>
                  <a:srgbClr val="1C2433"/>
                </a:solidFill>
                <a:latin typeface="Calibri"/>
              </a:rPr>
              <a:t> and </a:t>
            </a:r>
            <a:r>
              <a:rPr sz="1300" b="0" i="0">
                <a:solidFill>
                  <a:srgbClr val="0E7C86"/>
                </a:solidFill>
                <a:latin typeface="Consolas"/>
              </a:rPr>
              <a:t>exposure-results</a:t>
            </a:r>
            <a:r>
              <a:rPr sz="1400" b="0" i="0">
                <a:solidFill>
                  <a:srgbClr val="1C2433"/>
                </a:solidFill>
                <a:latin typeface="Calibri"/>
              </a:rPr>
              <a:t> included</a:t>
            </a:r>
          </a:p>
          <a:p>
            <a:pPr algn="l" marL="201168" indent="-201168">
              <a:spcAft>
                <a:spcPts val="700"/>
              </a:spcAft>
              <a:buClr>
                <a:srgbClr val="E87A1E"/>
              </a:buClr>
              <a:buSzPct val="100000"/>
              <a:buFont typeface="Arial"/>
              <a:buChar char="•"/>
            </a:pPr>
            <a:r>
              <a:rPr sz="1400" b="0" i="0">
                <a:solidFill>
                  <a:srgbClr val="1C2433"/>
                </a:solidFill>
                <a:latin typeface="Calibri"/>
              </a:rPr>
              <a:t>The official-results publishers default to the same root and do not write </a:t>
            </a:r>
            <a:r>
              <a:rPr sz="1300" b="0" i="0">
                <a:solidFill>
                  <a:srgbClr val="0E7C86"/>
                </a:solidFill>
                <a:latin typeface="Consolas"/>
              </a:rPr>
              <a:t>s3://</a:t>
            </a:r>
            <a:r>
              <a:rPr sz="1400" b="0" i="0">
                <a:solidFill>
                  <a:srgbClr val="1C2433"/>
                </a:solidFill>
                <a:latin typeface="Calibri"/>
              </a:rPr>
              <a:t>: give them an EFS root (slide 65)</a:t>
            </a:r>
          </a:p>
          <a:p>
            <a:pPr algn="l" marL="201168" indent="-201168">
              <a:spcAft>
                <a:spcPts val="700"/>
              </a:spcAft>
              <a:buClr>
                <a:srgbClr val="E87A1E"/>
              </a:buClr>
              <a:buSzPct val="100000"/>
              <a:buFont typeface="Arial"/>
              <a:buChar char="•"/>
            </a:pPr>
            <a:r>
              <a:rPr sz="1400" b="0" i="0">
                <a:solidFill>
                  <a:srgbClr val="1C2433"/>
                </a:solidFill>
                <a:latin typeface="Calibri"/>
              </a:rPr>
              <a:t>Templates: </a:t>
            </a:r>
            <a:r>
              <a:rPr sz="1300" b="0" i="0">
                <a:solidFill>
                  <a:srgbClr val="0E7C86"/>
                </a:solidFill>
                <a:latin typeface="Consolas"/>
              </a:rPr>
              <a:t>deploy/aws/ecs/templates/</a:t>
            </a:r>
            <a:r>
              <a:rPr sz="1400" b="0" i="0">
                <a:solidFill>
                  <a:srgbClr val="1C2433"/>
                </a:solidFill>
                <a:latin typeface="Calibri"/>
              </a:rPr>
              <a:t> → node-task, node-service, console-task, console-service, lake-task, schedule-target</a:t>
            </a:r>
          </a:p>
          <a:p>
            <a:pPr algn="l" marL="201168" indent="-201168">
              <a:spcAft>
                <a:spcPts val="700"/>
              </a:spcAft>
              <a:buClr>
                <a:srgbClr val="E87A1E"/>
              </a:buClr>
              <a:buSzPct val="100000"/>
              <a:buFont typeface="Arial"/>
              <a:buChar char="•"/>
            </a:pPr>
            <a:r>
              <a:rPr sz="1300" b="0" i="0">
                <a:solidFill>
                  <a:srgbClr val="0E7C86"/>
                </a:solidFill>
                <a:latin typeface="Consolas"/>
              </a:rPr>
              <a:t>--cache nvme</a:t>
            </a:r>
            <a:r>
              <a:rPr sz="1400" b="0" i="0">
                <a:solidFill>
                  <a:srgbClr val="1C2433"/>
                </a:solidFill>
                <a:latin typeface="Calibri"/>
              </a:rPr>
              <a:t> (EC2 launch type) mounts the host's </a:t>
            </a:r>
            <a:r>
              <a:rPr sz="1300" b="0" i="0">
                <a:solidFill>
                  <a:srgbClr val="0E7C86"/>
                </a:solidFill>
                <a:latin typeface="Consolas"/>
              </a:rPr>
              <a:t>/mnt/nvme/drishti/&lt;node&gt;</a:t>
            </a:r>
            <a:r>
              <a:rPr sz="1400" b="0" i="0">
                <a:solidFill>
                  <a:srgbClr val="1C2433"/>
                </a:solidFill>
                <a:latin typeface="Calibri"/>
              </a:rPr>
              <a:t> at </a:t>
            </a:r>
            <a:r>
              <a:rPr sz="1300" b="0" i="0">
                <a:solidFill>
                  <a:srgbClr val="0E7C86"/>
                </a:solidFill>
                <a:latin typeface="Consolas"/>
              </a:rPr>
              <a:t>/opt/drishti/nvme</a:t>
            </a:r>
            <a:r>
              <a:rPr sz="1400" b="0" i="0">
                <a:solidFill>
                  <a:srgbClr val="1C2433"/>
                </a:solidFill>
                <a:latin typeface="Calibri"/>
              </a:rPr>
              <a:t> (section 14)</a:t>
            </a:r>
          </a:p>
          <a:p>
            <a:pPr algn="l" marL="201168" indent="-201168">
              <a:spcAft>
                <a:spcPts val="700"/>
              </a:spcAft>
              <a:buClr>
                <a:srgbClr val="E87A1E"/>
              </a:buClr>
              <a:buSzPct val="100000"/>
              <a:buFont typeface="Arial"/>
              <a:buChar char="•"/>
            </a:pPr>
            <a:r>
              <a:rPr sz="1400" b="0" i="0">
                <a:solidFill>
                  <a:srgbClr val="1C2433"/>
                </a:solidFill>
                <a:latin typeface="Calibri"/>
              </a:rPr>
              <a:t>Schedules: </a:t>
            </a:r>
            <a:r>
              <a:rPr sz="1300" b="0" i="0">
                <a:solidFill>
                  <a:srgbClr val="0E7C86"/>
                </a:solidFill>
                <a:latin typeface="Consolas"/>
              </a:rPr>
              <a:t>LOAD_SCHEDULE</a:t>
            </a:r>
            <a:r>
              <a:rPr sz="1400" b="0" i="0">
                <a:solidFill>
                  <a:srgbClr val="1C2433"/>
                </a:solidFill>
                <a:latin typeface="Calibri"/>
              </a:rPr>
              <a:t> (22:30 Mon–Fri), </a:t>
            </a:r>
            <a:r>
              <a:rPr sz="1300" b="0" i="0">
                <a:solidFill>
                  <a:srgbClr val="0E7C86"/>
                </a:solidFill>
                <a:latin typeface="Consolas"/>
              </a:rPr>
              <a:t>MAINTAIN_SCHEDULE</a:t>
            </a:r>
            <a:r>
              <a:rPr sz="1400" b="0" i="0">
                <a:solidFill>
                  <a:srgbClr val="1C2433"/>
                </a:solidFill>
                <a:latin typeface="Calibri"/>
              </a:rPr>
              <a:t> (Tue–Sat 02:30), </a:t>
            </a:r>
            <a:r>
              <a:rPr sz="1300" b="0" i="0">
                <a:solidFill>
                  <a:srgbClr val="0E7C86"/>
                </a:solidFill>
                <a:latin typeface="Consolas"/>
              </a:rPr>
              <a:t>REPORT_SCHEDULE</a:t>
            </a:r>
            <a:r>
              <a:rPr sz="1400" b="0" i="0">
                <a:solidFill>
                  <a:srgbClr val="1C2433"/>
                </a:solidFill>
                <a:latin typeface="Calibri"/>
              </a:rPr>
              <a:t> (daily)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10: the first load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30</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deploy/aws/delta-lake/load-day.sh --dry-run --date 2026-10-20 --tables trading/trade_endur</a:t>
            </a:r>
          </a:p>
          <a:p>
            <a:pPr>
              <a:spcAft>
                <a:spcPts val="0"/>
              </a:spcAft>
              <a:buNone/>
            </a:pPr>
            <a:r>
              <a:rPr sz="1100" b="0" i="0">
                <a:solidFill>
                  <a:srgbClr val="E6EDF3"/>
                </a:solidFill>
                <a:latin typeface="Consolas"/>
              </a:rPr>
              <a:t>deploy/aws/delta-lake/load-day.sh --date 2026-10-20 --tables trading/trade_endur</a:t>
            </a:r>
          </a:p>
        </p:txBody>
      </p:sp>
      <p:sp>
        <p:nvSpPr>
          <p:cNvPr id="11" name="TextBox 10"/>
          <p:cNvSpPr txBox="1"/>
          <p:nvPr/>
        </p:nvSpPr>
        <p:spPr>
          <a:xfrm>
            <a:off x="411480" y="1920240"/>
            <a:ext cx="11365992" cy="32004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the five steps of section 9, then:</a:t>
            </a:r>
          </a:p>
        </p:txBody>
      </p:sp>
      <p:sp>
        <p:nvSpPr>
          <p:cNvPr id="12" name="Code block"/>
          <p:cNvSpPr/>
          <p:nvPr/>
        </p:nvSpPr>
        <p:spPr>
          <a:xfrm>
            <a:off x="411480" y="228600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521208" y="235000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lake publish: ok exit=0 published &lt;n&gt; file(s), &lt;bytes&gt; bytes, dates 2026-10-20 to s3://…/trade_endur version=0 (new table)</a:t>
            </a:r>
          </a:p>
          <a:p>
            <a:pPr>
              <a:spcAft>
                <a:spcPts val="0"/>
              </a:spcAft>
              <a:buNone/>
            </a:pPr>
            <a:r>
              <a:rPr sz="1100" b="0" i="0">
                <a:solidFill>
                  <a:srgbClr val="E6EDF3"/>
                </a:solidFill>
                <a:latin typeface="Consolas"/>
              </a:rPr>
              <a:t>load-day.sh: business date 2026-10-20: exit 0</a:t>
            </a:r>
          </a:p>
        </p:txBody>
      </p:sp>
      <p:sp>
        <p:nvSpPr>
          <p:cNvPr id="14" name="TextBox 13"/>
          <p:cNvSpPr txBox="1"/>
          <p:nvPr/>
        </p:nvSpPr>
        <p:spPr>
          <a:xfrm>
            <a:off x="411480" y="3017520"/>
            <a:ext cx="11365992" cy="32004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On ECS the same runs as the loader task:</a:t>
            </a:r>
          </a:p>
        </p:txBody>
      </p:sp>
      <p:sp>
        <p:nvSpPr>
          <p:cNvPr id="15" name="Code block"/>
          <p:cNvSpPr/>
          <p:nvPr/>
        </p:nvSpPr>
        <p:spPr>
          <a:xfrm>
            <a:off x="411480" y="338328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44728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aws ecs run-task --task-definition drishti-prod-loader \</a:t>
            </a:r>
          </a:p>
          <a:p>
            <a:pPr>
              <a:spcAft>
                <a:spcPts val="0"/>
              </a:spcAft>
              <a:buNone/>
            </a:pPr>
            <a:r>
              <a:rPr sz="1100" b="0" i="0">
                <a:solidFill>
                  <a:srgbClr val="E6EDF3"/>
                </a:solidFill>
                <a:latin typeface="Consolas"/>
              </a:rPr>
              <a:t>  --overrides '{"containerOverrides":[{"name":"loader","command":["deploy/aws/delta-lake/load-day.sh","--date","2026-10-20"]}]}' …</a:t>
            </a:r>
          </a:p>
        </p:txBody>
      </p:sp>
      <p:sp>
        <p:nvSpPr>
          <p:cNvPr id="17" name="Callout"/>
          <p:cNvSpPr/>
          <p:nvPr/>
        </p:nvSpPr>
        <p:spPr>
          <a:xfrm>
            <a:off x="411480" y="4206240"/>
            <a:ext cx="5486400" cy="21031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4224527"/>
            <a:ext cx="82296" cy="206654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4279392"/>
            <a:ext cx="5120640" cy="19568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In the console</a:t>
            </a:r>
          </a:p>
          <a:p>
            <a:pPr algn="l">
              <a:spcAft>
                <a:spcPts val="600"/>
              </a:spcAft>
              <a:buNone/>
            </a:pPr>
            <a:r>
              <a:rPr sz="1200" b="0" i="0">
                <a:solidFill>
                  <a:srgbClr val="0E7C86"/>
                </a:solidFill>
                <a:latin typeface="Consolas"/>
              </a:rPr>
              <a:t>TRD &lt;id&gt;</a:t>
            </a:r>
            <a:r>
              <a:rPr sz="1300" b="0" i="0">
                <a:solidFill>
                  <a:srgbClr val="1C2433"/>
                </a:solidFill>
                <a:latin typeface="Calibri"/>
              </a:rPr>
              <a:t> on 2026-10-20 opens the trade; </a:t>
            </a:r>
            <a:r>
              <a:rPr sz="1300" b="1" i="0">
                <a:solidFill>
                  <a:srgbClr val="1C2433"/>
                </a:solidFill>
                <a:latin typeface="Calibri"/>
              </a:rPr>
              <a:t>Admin → Health</a:t>
            </a:r>
            <a:r>
              <a:rPr sz="1300" b="0" i="0">
                <a:solidFill>
                  <a:srgbClr val="1C2433"/>
                </a:solidFill>
                <a:latin typeface="Calibri"/>
              </a:rPr>
              <a:t> shows </a:t>
            </a:r>
            <a:r>
              <a:rPr sz="1200" b="0" i="0">
                <a:solidFill>
                  <a:srgbClr val="0E7C86"/>
                </a:solidFill>
                <a:latin typeface="Consolas"/>
              </a:rPr>
              <a:t>trade-endur UP (engine: native)</a:t>
            </a:r>
            <a:r>
              <a:rPr sz="1300" b="0" i="0">
                <a:solidFill>
                  <a:srgbClr val="1C2433"/>
                </a:solidFill>
                <a:latin typeface="Calibri"/>
              </a:rPr>
              <a:t>; </a:t>
            </a:r>
            <a:r>
              <a:rPr sz="1200" b="0" i="0">
                <a:solidFill>
                  <a:srgbClr val="0E7C86"/>
                </a:solidFill>
                <a:latin typeface="Consolas"/>
              </a:rPr>
              <a:t>DATAMAP trade</a:t>
            </a:r>
            <a:r>
              <a:rPr sz="1300" b="0" i="0">
                <a:solidFill>
                  <a:srgbClr val="1C2433"/>
                </a:solidFill>
                <a:latin typeface="Calibri"/>
              </a:rPr>
              <a:t> counts the day's trades and checks their joins against the lake.</a:t>
            </a:r>
          </a:p>
        </p:txBody>
      </p:sp>
      <p:sp>
        <p:nvSpPr>
          <p:cNvPr id="20" name="Callout"/>
          <p:cNvSpPr/>
          <p:nvPr/>
        </p:nvSpPr>
        <p:spPr>
          <a:xfrm>
            <a:off x="6172200" y="4206240"/>
            <a:ext cx="5605272" cy="21031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llout edge"/>
          <p:cNvSpPr/>
          <p:nvPr/>
        </p:nvSpPr>
        <p:spPr>
          <a:xfrm>
            <a:off x="6172200" y="4224527"/>
            <a:ext cx="82296" cy="206654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0" y="4279392"/>
            <a:ext cx="5239512" cy="19568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The dumps are JSON Lines (2.9.4)</a:t>
            </a:r>
          </a:p>
          <a:p>
            <a:pPr algn="l">
              <a:spcAft>
                <a:spcPts val="600"/>
              </a:spcAft>
              <a:buNone/>
            </a:pPr>
            <a:r>
              <a:rPr sz="1300" b="0" i="0">
                <a:solidFill>
                  <a:srgbClr val="1C2433"/>
                </a:solidFill>
                <a:latin typeface="Calibri"/>
              </a:rPr>
              <a:t>One object a line, </a:t>
            </a:r>
            <a:r>
              <a:rPr sz="1200" b="0" i="0">
                <a:solidFill>
                  <a:srgbClr val="0E7C86"/>
                </a:solidFill>
                <a:latin typeface="Consolas"/>
              </a:rPr>
              <a:t>.jsonl.gz</a:t>
            </a:r>
            <a:r>
              <a:rPr sz="1300" b="0" i="0">
                <a:solidFill>
                  <a:srgbClr val="1C2433"/>
                </a:solidFill>
                <a:latin typeface="Calibri"/>
              </a:rPr>
              <a:t>. JSON arrays still load; a CSV export is converted first: </a:t>
            </a:r>
            <a:r>
              <a:rPr sz="1200" b="0" i="0">
                <a:solidFill>
                  <a:srgbClr val="0E7C86"/>
                </a:solidFill>
                <a:latin typeface="Consolas"/>
              </a:rPr>
              <a:t>drishti.py convert trades.csv</a:t>
            </a:r>
            <a:r>
              <a:rPr sz="1300" b="0" i="0">
                <a:solidFill>
                  <a:srgbClr val="1C2433"/>
                </a:solidFill>
                <a:latin typeface="Calibri"/>
              </a:rPr>
              <a:t> (CSV input is deprecated).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11: alarms and the report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31</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deploy/aws/delta-lake/setup-alarms.sh</a:t>
            </a:r>
          </a:p>
          <a:p>
            <a:pPr>
              <a:spcAft>
                <a:spcPts val="0"/>
              </a:spcAft>
              <a:buNone/>
            </a:pPr>
            <a:r>
              <a:rPr sz="1100" b="0" i="0">
                <a:solidFill>
                  <a:srgbClr val="E6EDF3"/>
                </a:solidFill>
                <a:latin typeface="Consolas"/>
              </a:rPr>
              <a:t>deploy/aws/delta-lake/report.sh</a:t>
            </a:r>
          </a:p>
        </p:txBody>
      </p:sp>
      <p:sp>
        <p:nvSpPr>
          <p:cNvPr id="11" name="TextBox 10"/>
          <p:cNvSpPr txBox="1"/>
          <p:nvPr/>
        </p:nvSpPr>
        <p:spPr>
          <a:xfrm>
            <a:off x="411480" y="1874519"/>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setup-alarms.sh: 17 alarms put</a:t>
            </a:r>
            <a:r>
              <a:rPr sz="1300" b="0" i="0">
                <a:solidFill>
                  <a:srgbClr val="1C2433"/>
                </a:solidFill>
                <a:latin typeface="Calibri"/>
              </a:rPr>
              <a:t> (four per table, two for the bucket and EFS, one per node) and the report of section 15.</a:t>
            </a:r>
          </a:p>
        </p:txBody>
      </p:sp>
      <p:sp>
        <p:nvSpPr>
          <p:cNvPr id="12" name="Rounded Rectangle 11"/>
          <p:cNvSpPr/>
          <p:nvPr/>
        </p:nvSpPr>
        <p:spPr>
          <a:xfrm>
            <a:off x="411480"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Per table (× 3 = 12)</a:t>
            </a:r>
          </a:p>
        </p:txBody>
      </p:sp>
      <p:sp>
        <p:nvSpPr>
          <p:cNvPr id="14" name="TextBox 13"/>
          <p:cNvSpPr txBox="1"/>
          <p:nvPr/>
        </p:nvSpPr>
        <p:spPr>
          <a:xfrm>
            <a:off x="502920"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load-failed</a:t>
            </a:r>
          </a:p>
          <a:p>
            <a:pPr algn="l" marL="201168" indent="-201168">
              <a:spcAft>
                <a:spcPts val="200"/>
              </a:spcAft>
              <a:buClr>
                <a:srgbClr val="E87A1E"/>
              </a:buClr>
              <a:buSzPct val="100000"/>
              <a:buFont typeface="Arial"/>
              <a:buChar char="•"/>
            </a:pPr>
            <a:r>
              <a:rPr sz="1300" b="0" i="0">
                <a:solidFill>
                  <a:srgbClr val="1C2433"/>
                </a:solidFill>
                <a:latin typeface="Calibri"/>
              </a:rPr>
              <a:t>not-loaded</a:t>
            </a:r>
          </a:p>
          <a:p>
            <a:pPr algn="l" marL="201168" indent="-201168">
              <a:spcAft>
                <a:spcPts val="200"/>
              </a:spcAft>
              <a:buClr>
                <a:srgbClr val="E87A1E"/>
              </a:buClr>
              <a:buSzPct val="100000"/>
              <a:buFont typeface="Arial"/>
              <a:buChar char="•"/>
            </a:pPr>
            <a:r>
              <a:rPr sz="1300" b="0" i="0">
                <a:solidFill>
                  <a:srgbClr val="1C2433"/>
                </a:solidFill>
                <a:latin typeface="Calibri"/>
              </a:rPr>
              <a:t>load-slow</a:t>
            </a:r>
          </a:p>
          <a:p>
            <a:pPr algn="l" marL="201168" indent="-201168">
              <a:spcAft>
                <a:spcPts val="200"/>
              </a:spcAft>
              <a:buClr>
                <a:srgbClr val="E87A1E"/>
              </a:buClr>
              <a:buSzPct val="100000"/>
              <a:buFont typeface="Arial"/>
              <a:buChar char="•"/>
            </a:pPr>
            <a:r>
              <a:rPr sz="1300" b="0" i="0">
                <a:solidFill>
                  <a:srgbClr val="1C2433"/>
                </a:solidFill>
                <a:latin typeface="Calibri"/>
              </a:rPr>
              <a:t>log-long</a:t>
            </a:r>
          </a:p>
        </p:txBody>
      </p:sp>
      <p:sp>
        <p:nvSpPr>
          <p:cNvPr id="15" name="Rounded Rectangle 14"/>
          <p:cNvSpPr/>
          <p:nvPr/>
        </p:nvSpPr>
        <p:spPr>
          <a:xfrm>
            <a:off x="4288536"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4379976"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Bucket and EFS (2)</a:t>
            </a:r>
          </a:p>
        </p:txBody>
      </p:sp>
      <p:sp>
        <p:nvSpPr>
          <p:cNvPr id="17" name="TextBox 16"/>
          <p:cNvSpPr txBox="1"/>
          <p:nvPr/>
        </p:nvSpPr>
        <p:spPr>
          <a:xfrm>
            <a:off x="4379976"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lake-s3-5xx</a:t>
            </a:r>
          </a:p>
          <a:p>
            <a:pPr algn="l" marL="201168" indent="-201168">
              <a:spcAft>
                <a:spcPts val="200"/>
              </a:spcAft>
              <a:buClr>
                <a:srgbClr val="E87A1E"/>
              </a:buClr>
              <a:buSzPct val="100000"/>
              <a:buFont typeface="Arial"/>
              <a:buChar char="•"/>
            </a:pPr>
            <a:r>
              <a:rPr sz="1300" b="0" i="0">
                <a:solidFill>
                  <a:srgbClr val="1C2433"/>
                </a:solidFill>
                <a:latin typeface="Calibri"/>
              </a:rPr>
              <a:t>efs-io-limit</a:t>
            </a:r>
          </a:p>
        </p:txBody>
      </p:sp>
      <p:sp>
        <p:nvSpPr>
          <p:cNvPr id="18" name="Rounded Rectangle 17"/>
          <p:cNvSpPr/>
          <p:nvPr/>
        </p:nvSpPr>
        <p:spPr>
          <a:xfrm>
            <a:off x="8165592"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8257031"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Per node (× 3)</a:t>
            </a:r>
          </a:p>
        </p:txBody>
      </p:sp>
      <p:sp>
        <p:nvSpPr>
          <p:cNvPr id="20" name="TextBox 19"/>
          <p:cNvSpPr txBox="1"/>
          <p:nvPr/>
        </p:nvSpPr>
        <p:spPr>
          <a:xfrm>
            <a:off x="8257031"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&lt;node&gt;-down</a:t>
            </a:r>
          </a:p>
        </p:txBody>
      </p:sp>
      <p:sp>
        <p:nvSpPr>
          <p:cNvPr id="21" name="TextBox 20"/>
          <p:cNvSpPr txBox="1"/>
          <p:nvPr/>
        </p:nvSpPr>
        <p:spPr>
          <a:xfrm>
            <a:off x="411480" y="4389120"/>
            <a:ext cx="11365992" cy="15544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All notify </a:t>
            </a:r>
            <a:r>
              <a:rPr sz="1300" b="0" i="0">
                <a:solidFill>
                  <a:srgbClr val="0E7C86"/>
                </a:solidFill>
                <a:latin typeface="Consolas"/>
              </a:rPr>
              <a:t>ALARM_SNS_TOPIC_ARN</a:t>
            </a:r>
            <a:r>
              <a:rPr sz="1400" b="0" i="0">
                <a:solidFill>
                  <a:srgbClr val="1C2433"/>
                </a:solidFill>
                <a:latin typeface="Calibri"/>
              </a:rPr>
              <a:t>; details on slide 82</a:t>
            </a:r>
          </a:p>
          <a:p>
            <a:pPr algn="l" marL="201168" indent="-201168">
              <a:spcAft>
                <a:spcPts val="600"/>
              </a:spcAft>
              <a:buClr>
                <a:srgbClr val="E87A1E"/>
              </a:buClr>
              <a:buSzPct val="100000"/>
              <a:buFont typeface="Arial"/>
              <a:buChar char="•"/>
            </a:pPr>
            <a:r>
              <a:rPr sz="1300" b="0" i="0">
                <a:solidFill>
                  <a:srgbClr val="0E7C86"/>
                </a:solidFill>
                <a:latin typeface="Consolas"/>
              </a:rPr>
              <a:t>report.sh</a:t>
            </a:r>
            <a:r>
              <a:rPr sz="1400" b="0" i="0">
                <a:solidFill>
                  <a:srgbClr val="1C2433"/>
                </a:solidFill>
                <a:latin typeface="Calibri"/>
              </a:rPr>
              <a:t> is also scheduled daily (</a:t>
            </a:r>
            <a:r>
              <a:rPr sz="1300" b="0" i="0">
                <a:solidFill>
                  <a:srgbClr val="0E7C86"/>
                </a:solidFill>
                <a:latin typeface="Consolas"/>
              </a:rPr>
              <a:t>REPORT_SCHEDULE</a:t>
            </a:r>
            <a:r>
              <a:rPr sz="1400" b="0" i="0">
                <a:solidFill>
                  <a:srgbClr val="1C2433"/>
                </a:solidFill>
                <a:latin typeface="Calibri"/>
              </a:rPr>
              <a:t>) and sends its numbers to CloudWatch</a:t>
            </a:r>
          </a:p>
          <a:p>
            <a:pPr algn="l" marL="201168" indent="-201168">
              <a:spcAft>
                <a:spcPts val="600"/>
              </a:spcAft>
              <a:buClr>
                <a:srgbClr val="E87A1E"/>
              </a:buClr>
              <a:buSzPct val="100000"/>
              <a:buFont typeface="Arial"/>
              <a:buChar char="•"/>
            </a:pPr>
            <a:r>
              <a:rPr sz="1400" b="0" i="0">
                <a:solidFill>
                  <a:srgbClr val="1C2433"/>
                </a:solidFill>
                <a:latin typeface="Calibri"/>
              </a:rPr>
              <a:t>Drishti*net health (gossip port, peer protocol) is on </a:t>
            </a:r>
            <a:r>
              <a:rPr sz="1400" b="1" i="0">
                <a:solidFill>
                  <a:srgbClr val="1C2433"/>
                </a:solidFill>
                <a:latin typeface="Calibri"/>
              </a:rPr>
              <a:t>Admin → Health</a:t>
            </a:r>
            <a:r>
              <a:rPr sz="1400" b="0" i="0">
                <a:solidFill>
                  <a:srgbClr val="1C2433"/>
                </a:solidFill>
                <a:latin typeface="Calibri"/>
              </a:rPr>
              <a:t> and </a:t>
            </a:r>
            <a:r>
              <a:rPr sz="1400" b="1" i="0">
                <a:solidFill>
                  <a:srgbClr val="1C2433"/>
                </a:solidFill>
                <a:latin typeface="Calibri"/>
              </a:rPr>
              <a:t>Admin → Net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05</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layout</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Buckets, prefixes, tables and partitions: what goes where in S3, and why; the risk lake's domains beside the documents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5.1 Buckets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33</a:t>
            </a:r>
          </a:p>
        </p:txBody>
      </p:sp>
      <p:graphicFrame>
        <p:nvGraphicFramePr>
          <p:cNvPr id="9" name="Table"/>
          <p:cNvGraphicFramePr>
            <a:graphicFrameLocks noGrp="1"/>
          </p:cNvGraphicFramePr>
          <p:nvPr/>
        </p:nvGraphicFramePr>
        <p:xfrm>
          <a:off x="411480" y="1188720"/>
          <a:ext cx="11365990" cy="3291840"/>
        </p:xfrm>
        <a:graphic>
          <a:graphicData uri="http://schemas.openxmlformats.org/drawingml/2006/table">
            <a:tbl>
              <a:tblPr firstRow="0" bandRow="0">
                <a:tableStyleId>{5940675A-B579-460E-94D1-54222C63F5DA}</a:tableStyleId>
              </a:tblPr>
              <a:tblGrid>
                <a:gridCol w="2749836"/>
                <a:gridCol w="3574787"/>
                <a:gridCol w="5041367"/>
              </a:tblGrid>
              <a:tr h="822960">
                <a:tc>
                  <a:txBody>
                    <a:bodyPr wrap="square"/>
                    <a:lstStyle/>
                    <a:p>
                      <a:r>
                        <a:rPr sz="1200" b="1" i="0">
                          <a:solidFill>
                            <a:srgbClr val="FFFFFF"/>
                          </a:solidFill>
                          <a:latin typeface="Calibri"/>
                        </a:rPr>
                        <a:t>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Holds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Settings (setup-buckets.sh)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22960">
                <a:tc>
                  <a:txBody>
                    <a:bodyPr wrap="square"/>
                    <a:lstStyle/>
                    <a:p>
                      <a:r>
                        <a:rPr sz="1100" b="0" i="0">
                          <a:solidFill>
                            <a:srgbClr val="0E7C86"/>
                          </a:solidFill>
                          <a:latin typeface="Consolas"/>
                        </a:rPr>
                        <a:t>&lt;org&gt;-drishti-&lt;env&gt;-lake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Delta table: data files and </a:t>
                      </a:r>
                      <a:r>
                        <a:rPr sz="1100" b="0" i="0">
                          <a:solidFill>
                            <a:srgbClr val="0E7C86"/>
                          </a:solidFill>
                          <a:latin typeface="Consolas"/>
                        </a:rPr>
                        <a:t>_delta_log</a:t>
                      </a:r>
                      <a:r>
                        <a:rPr sz="1200" b="0" i="0">
                          <a:solidFill>
                            <a:srgbClr val="1C2433"/>
                          </a:solidFill>
                          <a:latin typeface="Calibri"/>
                        </a:rPr>
                        <a:t>; the risk lake; JSONL copies of official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versioning on; SSE-KMS with S3 Bucket Keys; Block Public Access; owner-enforced; TLS only; VPC endpoint only; access logs; request metrics on </a:t>
                      </a:r>
                      <a:r>
                        <a:rPr sz="1100" b="0" i="0">
                          <a:solidFill>
                            <a:srgbClr val="0E7C86"/>
                          </a:solidFill>
                          <a:latin typeface="Consolas"/>
                        </a:rPr>
                        <a:t>lake/</a:t>
                      </a:r>
                      <a:r>
                        <a:rPr sz="1200" b="0" i="0">
                          <a:solidFill>
                            <a:srgbClr val="1C2433"/>
                          </a:solidFill>
                          <a:latin typeface="Calibri"/>
                        </a:rPr>
                        <a:t>; noncurrent versions 14 days; multipart aborts after 2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22960">
                <a:tc>
                  <a:txBody>
                    <a:bodyPr wrap="square"/>
                    <a:lstStyle/>
                    <a:p>
                      <a:r>
                        <a:rPr sz="1100" b="0" i="0">
                          <a:solidFill>
                            <a:srgbClr val="0E7C86"/>
                          </a:solidFill>
                          <a:latin typeface="Consolas"/>
                        </a:rPr>
                        <a:t>&lt;org&gt;-drishti-&lt;env&gt;-landing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sources' JSON Lines dumps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same protections; dumps expire after 30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22960">
                <a:tc>
                  <a:txBody>
                    <a:bodyPr wrap="square"/>
                    <a:lstStyle/>
                    <a:p>
                      <a:r>
                        <a:rPr sz="1100" b="0" i="0">
                          <a:solidFill>
                            <a:srgbClr val="0E7C86"/>
                          </a:solidFill>
                          <a:latin typeface="Consolas"/>
                        </a:rPr>
                        <a:t>&lt;org&gt;-drishti-&lt;env&gt;-logs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access logs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SSE-S3; expire after 400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4572000"/>
            <a:ext cx="11365992" cy="16916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4590288"/>
            <a:ext cx="82296" cy="16550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645152"/>
            <a:ext cx="11000232" cy="15453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Versioning on, with a short noncurrent window.</a:t>
            </a:r>
          </a:p>
          <a:p>
            <a:pPr algn="l">
              <a:spcAft>
                <a:spcPts val="600"/>
              </a:spcAft>
              <a:buNone/>
            </a:pPr>
            <a:r>
              <a:rPr sz="1300" b="0" i="0">
                <a:solidFill>
                  <a:srgbClr val="1C2433"/>
                </a:solidFill>
                <a:latin typeface="Calibri"/>
              </a:rPr>
              <a:t>Delta keeps its own history (time travel back to the vacuum window; 7 years for the risk domains), so versions are a safety net, not history. A file deleted by mistake (a wrong vacuum, a script against the wrong prefix) stays recoverable for </a:t>
            </a:r>
            <a:r>
              <a:rPr sz="1200" b="0" i="0">
                <a:solidFill>
                  <a:srgbClr val="0E7C86"/>
                </a:solidFill>
                <a:latin typeface="Consolas"/>
              </a:rPr>
              <a:t>NONCURRENT_KEEP_DAYS</a:t>
            </a:r>
            <a:r>
              <a:rPr sz="1300" b="0" i="0">
                <a:solidFill>
                  <a:srgbClr val="1C2433"/>
                </a:solidFill>
                <a:latin typeface="Calibri"/>
              </a:rPr>
              <a:t> (14); then the lifecycle expires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5.2 Prefixes and tables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34</a:t>
            </a:r>
          </a:p>
        </p:txBody>
      </p:sp>
      <p:graphicFrame>
        <p:nvGraphicFramePr>
          <p:cNvPr id="9" name="Table"/>
          <p:cNvGraphicFramePr>
            <a:graphicFrameLocks noGrp="1"/>
          </p:cNvGraphicFramePr>
          <p:nvPr/>
        </p:nvGraphicFramePr>
        <p:xfrm>
          <a:off x="411480" y="1188720"/>
          <a:ext cx="5120639" cy="4343400"/>
        </p:xfrm>
        <a:graphic>
          <a:graphicData uri="http://schemas.openxmlformats.org/drawingml/2006/table">
            <a:tbl>
              <a:tblPr firstRow="0" bandRow="0">
                <a:tableStyleId>{5940675A-B579-460E-94D1-54222C63F5DA}</a:tableStyleId>
              </a:tblPr>
              <a:tblGrid>
                <a:gridCol w="2926079"/>
                <a:gridCol w="2194560"/>
              </a:tblGrid>
              <a:tr h="868680">
                <a:tc>
                  <a:txBody>
                    <a:bodyPr wrap="square"/>
                    <a:lstStyle/>
                    <a:p>
                      <a:r>
                        <a:rPr sz="1100" b="1" i="0">
                          <a:solidFill>
                            <a:srgbClr val="FFFFFF"/>
                          </a:solidFill>
                          <a:latin typeface="Calibri"/>
                        </a:rPr>
                        <a:t>Choice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68680">
                <a:tc>
                  <a:txBody>
                    <a:bodyPr wrap="square"/>
                    <a:lstStyle/>
                    <a:p>
                      <a:r>
                        <a:rPr sz="1100" b="1" i="0">
                          <a:solidFill>
                            <a:srgbClr val="1C2433"/>
                          </a:solidFill>
                          <a:latin typeface="Calibri"/>
                        </a:rPr>
                        <a:t>One table per source system and kind (</a:t>
                      </a:r>
                      <a:r>
                        <a:rPr sz="1100" b="1" i="0">
                          <a:solidFill>
                            <a:srgbClr val="0E7C86"/>
                          </a:solidFill>
                          <a:latin typeface="Consolas"/>
                        </a:rPr>
                        <a:t>trade_endur</a:t>
                      </a:r>
                      <a:r>
                        <a:rPr sz="1100" b="1" i="0">
                          <a:solidFill>
                            <a:srgbClr val="1C2433"/>
                          </a:solidFill>
                          <a:latin typeface="Calibri"/>
                        </a:rPr>
                        <a:t>, </a:t>
                      </a:r>
                      <a:r>
                        <a:rPr sz="1100" b="1" i="0">
                          <a:solidFill>
                            <a:srgbClr val="0E7C86"/>
                          </a:solidFill>
                          <a:latin typeface="Consolas"/>
                        </a:rPr>
                        <a:t>_calypso</a:t>
                      </a:r>
                      <a:r>
                        <a:rPr sz="1100" b="1" i="0">
                          <a:solidFill>
                            <a:srgbClr val="1C2433"/>
                          </a:solidFill>
                          <a:latin typeface="Calibri"/>
                        </a:rPr>
                        <a:t>, </a:t>
                      </a:r>
                      <a:r>
                        <a:rPr sz="1100" b="1" i="0">
                          <a:solidFill>
                            <a:srgbClr val="0E7C86"/>
                          </a:solidFill>
                          <a:latin typeface="Consolas"/>
                        </a:rPr>
                        <a:t>_murex</a:t>
                      </a:r>
                      <a:r>
                        <a:rPr sz="1100" b="1" i="0">
                          <a:solidFill>
                            <a:srgbClr val="1C2433"/>
                          </a:solidFill>
                          <a:latin typeface="Calibri"/>
                        </a:rPr>
                        <a:t>, read as a union)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each source loads, restates and fails on its own; each log a third the 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100" b="1" i="0">
                          <a:solidFill>
                            <a:srgbClr val="1C2433"/>
                          </a:solidFill>
                          <a:latin typeface="Calibri"/>
                        </a:rPr>
                        <a:t>Domain as the first folder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matches the connector's domain; IAM and lifecycle rules can name a domain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68680">
                <a:tc>
                  <a:txBody>
                    <a:bodyPr wrap="square"/>
                    <a:lstStyle/>
                    <a:p>
                      <a:r>
                        <a:rPr sz="1100" b="1" i="0">
                          <a:solidFill>
                            <a:srgbClr val="0E7C86"/>
                          </a:solidFill>
                          <a:latin typeface="Consolas"/>
                        </a:rPr>
                        <a:t>risk/</a:t>
                      </a:r>
                      <a:r>
                        <a:rPr sz="1100" b="1" i="0">
                          <a:solidFill>
                            <a:srgbClr val="1C2433"/>
                          </a:solidFill>
                          <a:latin typeface="Calibri"/>
                        </a:rPr>
                        <a:t> one table per input kind; </a:t>
                      </a:r>
                      <a:r>
                        <a:rPr sz="1100" b="1" i="0">
                          <a:solidFill>
                            <a:srgbClr val="0E7C86"/>
                          </a:solidFill>
                          <a:latin typeface="Consolas"/>
                        </a:rPr>
                        <a:t>risk-results/</a:t>
                      </a:r>
                      <a:r>
                        <a:rPr sz="1100" b="1" i="0">
                          <a:solidFill>
                            <a:srgbClr val="1C2433"/>
                          </a:solidFill>
                          <a:latin typeface="Calibri"/>
                        </a:rPr>
                        <a:t> written only by the publishers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engines read </a:t>
                      </a:r>
                      <a:r>
                        <a:rPr sz="1100" b="0" i="0">
                          <a:solidFill>
                            <a:srgbClr val="0E7C86"/>
                          </a:solidFill>
                          <a:latin typeface="Consolas"/>
                        </a:rPr>
                        <a:t>risk/</a:t>
                      </a:r>
                      <a:r>
                        <a:rPr sz="1100" b="0" i="0">
                          <a:solidFill>
                            <a:srgbClr val="1C2433"/>
                          </a:solidFill>
                          <a:latin typeface="Calibri"/>
                        </a:rPr>
                        <a:t>; no engine reads </a:t>
                      </a:r>
                      <a:r>
                        <a:rPr sz="1100" b="0" i="0">
                          <a:solidFill>
                            <a:srgbClr val="0E7C86"/>
                          </a:solidFill>
                          <a:latin typeface="Consolas"/>
                        </a:rPr>
                        <a:t>risk-results/</a:t>
                      </a:r>
                      <a:r>
                        <a:rPr sz="1100" b="0" i="0">
                          <a:solidFill>
                            <a:srgbClr val="1C2433"/>
                          </a:solidFill>
                          <a:latin typeface="Calibri"/>
                        </a:rPr>
                        <a:t> (a guard 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100" b="1" i="0">
                          <a:solidFill>
                            <a:srgbClr val="1C2433"/>
                          </a:solidFill>
                          <a:latin typeface="Calibri"/>
                        </a:rPr>
                        <a:t>Tables by year (</a:t>
                      </a:r>
                      <a:r>
                        <a:rPr sz="1100" b="1" i="0">
                          <a:solidFill>
                            <a:srgbClr val="0E7C86"/>
                          </a:solidFill>
                          <a:latin typeface="Consolas"/>
                        </a:rPr>
                        <a:t>trade_endur/2026/</a:t>
                      </a:r>
                      <a:r>
                        <a:rPr sz="11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DESIGNED (S2): until then one table holds every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5760720" y="1188720"/>
            <a:ext cx="6016752" cy="36576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5870448" y="1252728"/>
            <a:ext cx="5797296" cy="352958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s3://acme-drishti-prod-lake/</a:t>
            </a:r>
          </a:p>
          <a:p>
            <a:pPr>
              <a:spcAft>
                <a:spcPts val="0"/>
              </a:spcAft>
              <a:buNone/>
            </a:pPr>
            <a:r>
              <a:rPr sz="1200" b="0" i="0">
                <a:solidFill>
                  <a:srgbClr val="E6EDF3"/>
                </a:solidFill>
                <a:latin typeface="Consolas"/>
              </a:rPr>
              <a:t>└── lake/                  DRISHTI_DELTA_ROOT</a:t>
            </a:r>
          </a:p>
          <a:p>
            <a:pPr>
              <a:spcAft>
                <a:spcPts val="0"/>
              </a:spcAft>
              <a:buNone/>
            </a:pPr>
            <a:r>
              <a:rPr sz="1200" b="0" i="0">
                <a:solidFill>
                  <a:srgbClr val="E6EDF3"/>
                </a:solidFill>
                <a:latin typeface="Consolas"/>
              </a:rPr>
              <a:t>    ├── trading/</a:t>
            </a:r>
          </a:p>
          <a:p>
            <a:pPr>
              <a:spcAft>
                <a:spcPts val="0"/>
              </a:spcAft>
              <a:buNone/>
            </a:pPr>
            <a:r>
              <a:rPr sz="1200" b="0" i="0">
                <a:solidFill>
                  <a:srgbClr val="E6EDF3"/>
                </a:solidFill>
                <a:latin typeface="Consolas"/>
              </a:rPr>
              <a:t>    │   ├── trade_endur/   _delta_log/</a:t>
            </a:r>
          </a:p>
          <a:p>
            <a:pPr>
              <a:spcAft>
                <a:spcPts val="0"/>
              </a:spcAft>
              <a:buNone/>
            </a:pPr>
            <a:r>
              <a:rPr sz="1200" b="0" i="0">
                <a:solidFill>
                  <a:srgbClr val="E6EDF3"/>
                </a:solidFill>
                <a:latin typeface="Consolas"/>
              </a:rPr>
              <a:t>    │   │   └── business_date=2026-10-20/</a:t>
            </a:r>
          </a:p>
          <a:p>
            <a:pPr>
              <a:spcAft>
                <a:spcPts val="0"/>
              </a:spcAft>
              <a:buNone/>
            </a:pPr>
            <a:r>
              <a:rPr sz="1200" b="0" i="0">
                <a:solidFill>
                  <a:srgbClr val="E6EDF3"/>
                </a:solidFill>
                <a:latin typeface="Consolas"/>
              </a:rPr>
              <a:t>    │   │       └── PRODUCT_TYPE=IRS_FIXFLOAT/part-….parquet</a:t>
            </a:r>
          </a:p>
          <a:p>
            <a:pPr>
              <a:spcAft>
                <a:spcPts val="0"/>
              </a:spcAft>
              <a:buNone/>
            </a:pPr>
            <a:r>
              <a:rPr sz="1200" b="0" i="0">
                <a:solidFill>
                  <a:srgbClr val="E6EDF3"/>
                </a:solidFill>
                <a:latin typeface="Consolas"/>
              </a:rPr>
              <a:t>    │   ├── trade_calypso/ …</a:t>
            </a:r>
          </a:p>
          <a:p>
            <a:pPr>
              <a:spcAft>
                <a:spcPts val="0"/>
              </a:spcAft>
              <a:buNone/>
            </a:pPr>
            <a:r>
              <a:rPr sz="1200" b="0" i="0">
                <a:solidFill>
                  <a:srgbClr val="E6EDF3"/>
                </a:solidFill>
                <a:latin typeface="Consolas"/>
              </a:rPr>
              <a:t>    │   └── trade_murex/ …</a:t>
            </a:r>
          </a:p>
          <a:p>
            <a:pPr>
              <a:spcAft>
                <a:spcPts val="0"/>
              </a:spcAft>
              <a:buNone/>
            </a:pPr>
            <a:r>
              <a:rPr sz="1200" b="0" i="0">
                <a:solidFill>
                  <a:srgbClr val="E6EDF3"/>
                </a:solidFill>
                <a:latin typeface="Consolas"/>
              </a:rPr>
              <a:t>    ├── reference/ counterparty/ market/ …</a:t>
            </a:r>
          </a:p>
          <a:p>
            <a:pPr>
              <a:spcAft>
                <a:spcPts val="0"/>
              </a:spcAft>
              <a:buNone/>
            </a:pPr>
            <a:r>
              <a:rPr sz="1200" b="0" i="0">
                <a:solidFill>
                  <a:srgbClr val="E6EDF3"/>
                </a:solidFill>
                <a:latin typeface="Consolas"/>
              </a:rPr>
              <a:t>    ├── risk/              the engines' inputs</a:t>
            </a:r>
          </a:p>
          <a:p>
            <a:pPr>
              <a:spcAft>
                <a:spcPts val="0"/>
              </a:spcAft>
              <a:buNone/>
            </a:pPr>
            <a:r>
              <a:rPr sz="1200" b="0" i="0">
                <a:solidFill>
                  <a:srgbClr val="E6EDF3"/>
                </a:solidFill>
                <a:latin typeface="Consolas"/>
              </a:rPr>
              <a:t>    │   ├── pnl-vector/  scenario-pv/  fx-scenario/</a:t>
            </a:r>
          </a:p>
          <a:p>
            <a:pPr>
              <a:spcAft>
                <a:spcPts val="0"/>
              </a:spcAft>
              <a:buNone/>
            </a:pPr>
            <a:r>
              <a:rPr sz="1200" b="0" i="0">
                <a:solidFill>
                  <a:srgbClr val="E6EDF3"/>
                </a:solidFill>
                <a:latin typeface="Consolas"/>
              </a:rPr>
              <a:t>    │   ├── scenario-set/  risk-hierarchy/  portfolio/</a:t>
            </a:r>
          </a:p>
          <a:p>
            <a:pPr>
              <a:spcAft>
                <a:spcPts val="0"/>
              </a:spcAft>
              <a:buNone/>
            </a:pPr>
            <a:r>
              <a:rPr sz="1200" b="0" i="0">
                <a:solidFill>
                  <a:srgbClr val="E6EDF3"/>
                </a:solidFill>
                <a:latin typeface="Consolas"/>
              </a:rPr>
              <a:t>    │   └── simulation-run/  exposure-path/</a:t>
            </a:r>
          </a:p>
          <a:p>
            <a:pPr>
              <a:spcAft>
                <a:spcPts val="0"/>
              </a:spcAft>
              <a:buNone/>
            </a:pPr>
            <a:r>
              <a:rPr sz="1200" b="0" i="0">
                <a:solidFill>
                  <a:srgbClr val="E6EDF3"/>
                </a:solidFill>
                <a:latin typeface="Consolas"/>
              </a:rPr>
              <a:t>    ├── risk-results/      append-only, never read back</a:t>
            </a:r>
          </a:p>
          <a:p>
            <a:pPr>
              <a:spcAft>
                <a:spcPts val="0"/>
              </a:spcAft>
              <a:buNone/>
            </a:pPr>
            <a:r>
              <a:rPr sz="1200" b="0" i="0">
                <a:solidFill>
                  <a:srgbClr val="E6EDF3"/>
                </a:solidFill>
                <a:latin typeface="Consolas"/>
              </a:rPr>
              <a:t>    │   ├── var-official/  exposure-official/ …</a:t>
            </a:r>
          </a:p>
          <a:p>
            <a:pPr>
              <a:spcAft>
                <a:spcPts val="0"/>
              </a:spcAft>
              <a:buNone/>
            </a:pPr>
            <a:r>
              <a:rPr sz="1200" b="0" i="0">
                <a:solidFill>
                  <a:srgbClr val="E6EDF3"/>
                </a:solidFill>
                <a:latin typeface="Consolas"/>
              </a:rPr>
              <a:t>    │   └── jsonl/&lt;table&gt;/&lt;date&gt;/  (2.9.4)</a:t>
            </a:r>
          </a:p>
          <a:p>
            <a:pPr>
              <a:spcAft>
                <a:spcPts val="0"/>
              </a:spcAft>
              <a:buNone/>
            </a:pPr>
            <a:r>
              <a:rPr sz="1200" b="0" i="0">
                <a:solidFill>
                  <a:srgbClr val="E6EDF3"/>
                </a:solidFill>
                <a:latin typeface="Consolas"/>
              </a:rPr>
              <a:t>    └── us-equities/ gleif/ funds/   public data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5.3 Partition keys and request-rate-friendly prefixes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35</a:t>
            </a:r>
          </a:p>
        </p:txBody>
      </p:sp>
      <p:graphicFrame>
        <p:nvGraphicFramePr>
          <p:cNvPr id="9" name="Table"/>
          <p:cNvGraphicFramePr>
            <a:graphicFrameLocks noGrp="1"/>
          </p:cNvGraphicFramePr>
          <p:nvPr/>
        </p:nvGraphicFramePr>
        <p:xfrm>
          <a:off x="411480" y="1188720"/>
          <a:ext cx="11365991" cy="2834640"/>
        </p:xfrm>
        <a:graphic>
          <a:graphicData uri="http://schemas.openxmlformats.org/drawingml/2006/table">
            <a:tbl>
              <a:tblPr firstRow="0" bandRow="0">
                <a:tableStyleId>{5940675A-B579-460E-94D1-54222C63F5DA}</a:tableStyleId>
              </a:tblPr>
              <a:tblGrid>
                <a:gridCol w="3116481"/>
                <a:gridCol w="8249510"/>
              </a:tblGrid>
              <a:tr h="566928">
                <a:tc>
                  <a:txBody>
                    <a:bodyPr wrap="square"/>
                    <a:lstStyle/>
                    <a:p>
                      <a:r>
                        <a:rPr sz="12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1" i="0">
                          <a:solidFill>
                            <a:srgbClr val="0E7C86"/>
                          </a:solidFill>
                          <a:latin typeface="Consolas"/>
                        </a:rPr>
                        <a:t>business_date</a:t>
                      </a:r>
                      <a:r>
                        <a:rPr sz="1200" b="1" i="0">
                          <a:solidFill>
                            <a:srgbClr val="1C2433"/>
                          </a:solidFill>
                          <a:latin typeface="Calibri"/>
                        </a:rPr>
                        <a:t> (always first)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interactive read names a date; a load and a restatement replace one day; retention removes whole days; tiers by the folder's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PRODUCT_TYPE</a:t>
                      </a:r>
                      <a:r>
                        <a:rPr sz="1200" b="1" i="0">
                          <a:solidFill>
                            <a:srgbClr val="1C2433"/>
                          </a:solidFill>
                          <a:latin typeface="Calibri"/>
                        </a:rPr>
                        <a:t> for trades (second 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spreads a day over several S3 prefixes; keeps each partition small enough to sort in one batch; lets a source restate one product 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nothing finer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partition column multiplies the folders and small files of a day; two for trades, one for everything else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risk tables: </a:t>
                      </a:r>
                      <a:r>
                        <a:rPr sz="1100" b="1" i="0">
                          <a:solidFill>
                            <a:srgbClr val="0E7C86"/>
                          </a:solidFill>
                          <a:latin typeface="Consolas"/>
                        </a:rPr>
                        <a:t>business_date</a:t>
                      </a:r>
                      <a:r>
                        <a:rPr sz="1200" b="1" i="0">
                          <a:solidFill>
                            <a:srgbClr val="1C2433"/>
                          </a:solidFill>
                          <a:latin typeface="Calibri"/>
                        </a:rPr>
                        <a:t>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engine reads a whole date's vectors in one streamed pass; it sorts into hierarchy order in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343400"/>
            <a:ext cx="11365992" cy="20116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S3 scales each prefix to ≥ 3,500 writes and 5,500 reads a second and splits busy prefixes by itself</a:t>
            </a:r>
          </a:p>
          <a:p>
            <a:pPr algn="l" marL="201168" indent="-201168">
              <a:spcAft>
                <a:spcPts val="600"/>
              </a:spcAft>
              <a:buClr>
                <a:srgbClr val="E87A1E"/>
              </a:buClr>
              <a:buSzPct val="100000"/>
              <a:buFont typeface="Arial"/>
              <a:buChar char="•"/>
            </a:pPr>
            <a:r>
              <a:rPr sz="1400" b="0" i="0">
                <a:solidFill>
                  <a:srgbClr val="1C2433"/>
                </a:solidFill>
                <a:latin typeface="Calibri"/>
              </a:rPr>
              <a:t>A day's reads spread over its product-type folders, and over three tables for trades</a:t>
            </a:r>
          </a:p>
          <a:p>
            <a:pPr algn="l" marL="201168" indent="-201168">
              <a:spcAft>
                <a:spcPts val="600"/>
              </a:spcAft>
              <a:buClr>
                <a:srgbClr val="E87A1E"/>
              </a:buClr>
              <a:buSzPct val="100000"/>
              <a:buFont typeface="Arial"/>
              <a:buChar char="•"/>
            </a:pPr>
            <a:r>
              <a:rPr sz="1400" b="0" i="0">
                <a:solidFill>
                  <a:srgbClr val="1C2433"/>
                </a:solidFill>
                <a:latin typeface="Calibri"/>
              </a:rPr>
              <a:t>Delta paths cannot be hashed (Drishti's writers name the folders): the spread comes from the partition keys</a:t>
            </a:r>
          </a:p>
          <a:p>
            <a:pPr algn="l" marL="201168" indent="-201168">
              <a:spcAft>
                <a:spcPts val="600"/>
              </a:spcAft>
              <a:buClr>
                <a:srgbClr val="E87A1E"/>
              </a:buClr>
              <a:buSzPct val="100000"/>
              <a:buFont typeface="Arial"/>
              <a:buChar char="•"/>
            </a:pPr>
            <a:r>
              <a:rPr sz="1400" b="0" i="0">
                <a:solidFill>
                  <a:srgbClr val="1C2433"/>
                </a:solidFill>
                <a:latin typeface="Calibri"/>
              </a:rPr>
              <a:t>A 503 Slow Down is retried with back-off and counted in Health; alarm </a:t>
            </a:r>
            <a:r>
              <a:rPr sz="1300" b="0" i="0">
                <a:solidFill>
                  <a:srgbClr val="0E7C86"/>
                </a:solidFill>
                <a:latin typeface="Consolas"/>
              </a:rPr>
              <a:t>drishti-&lt;env&gt;-lake-s3-5xx</a:t>
            </a:r>
            <a:r>
              <a:rPr sz="1400" b="0" i="0">
                <a:solidFill>
                  <a:srgbClr val="1C2433"/>
                </a:solidFill>
                <a:latin typeface="Calibri"/>
              </a:rPr>
              <a:t> fires on a sustained rate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06</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Keys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id, the promoted columns, the vector columns and the statistics: what each kind of read needs from the table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6. Columns of every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37</a:t>
            </a:r>
          </a:p>
        </p:txBody>
      </p:sp>
      <p:graphicFrame>
        <p:nvGraphicFramePr>
          <p:cNvPr id="9" name="Table"/>
          <p:cNvGraphicFramePr>
            <a:graphicFrameLocks noGrp="1"/>
          </p:cNvGraphicFramePr>
          <p:nvPr/>
        </p:nvGraphicFramePr>
        <p:xfrm>
          <a:off x="411480" y="1188720"/>
          <a:ext cx="11365990" cy="3200400"/>
        </p:xfrm>
        <a:graphic>
          <a:graphicData uri="http://schemas.openxmlformats.org/drawingml/2006/table">
            <a:tbl>
              <a:tblPr firstRow="0" bandRow="0">
                <a:tableStyleId>{5940675A-B579-460E-94D1-54222C63F5DA}</a:tableStyleId>
              </a:tblPr>
              <a:tblGrid>
                <a:gridCol w="2383191"/>
                <a:gridCol w="2658175"/>
                <a:gridCol w="6324624"/>
              </a:tblGrid>
              <a:tr h="457200">
                <a:tc>
                  <a:txBody>
                    <a:bodyPr wrap="square"/>
                    <a:lstStyle/>
                    <a:p>
                      <a:r>
                        <a:rPr sz="1200" b="1" i="0">
                          <a:solidFill>
                            <a:srgbClr val="FFFFFF"/>
                          </a:solidFill>
                          <a:latin typeface="Calibri"/>
                        </a:rPr>
                        <a:t>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Content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100" b="1" i="0">
                          <a:solidFill>
                            <a:srgbClr val="0E7C86"/>
                          </a:solidFill>
                          <a:latin typeface="Consolas"/>
                        </a:rPr>
                        <a:t>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entity's id (the pack's key: </a:t>
                      </a:r>
                      <a:r>
                        <a:rPr sz="1100" b="0" i="0">
                          <a:solidFill>
                            <a:srgbClr val="0E7C86"/>
                          </a:solidFill>
                          <a:latin typeface="Consolas"/>
                        </a:rPr>
                        <a:t>TRADE_ID</a:t>
                      </a:r>
                      <a:r>
                        <a:rPr sz="1200" b="0" i="0">
                          <a:solidFill>
                            <a:srgbClr val="1C2433"/>
                          </a:solidFill>
                          <a:latin typeface="Calibri"/>
                        </a:rPr>
                        <a:t>, </a:t>
                      </a:r>
                      <a:r>
                        <a:rPr sz="1100" b="0" i="0">
                          <a:solidFill>
                            <a:srgbClr val="0E7C86"/>
                          </a:solidFill>
                          <a:latin typeface="Consolas"/>
                        </a:rPr>
                        <a:t>VECTOR_ID</a:t>
                      </a:r>
                      <a:r>
                        <a:rPr sz="1200" b="0" i="0">
                          <a:solidFill>
                            <a:srgbClr val="1C2433"/>
                          </a:solidFill>
                          <a:latin typeface="Calibri"/>
                        </a:rPr>
                        <a:t>,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whole JSON document as the source sent it (a vector replaced by a marker)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0E7C86"/>
                          </a:solidFill>
                          <a:latin typeface="Consolas"/>
                        </a:rPr>
                        <a:t>business_date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partition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PRODUCT_TYPE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promoted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string or double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copies of the fields searches, lists, links and BI read: </a:t>
                      </a:r>
                      <a:r>
                        <a:rPr sz="1100" b="0" i="0">
                          <a:solidFill>
                            <a:srgbClr val="0E7C86"/>
                          </a:solidFill>
                          <a:latin typeface="Consolas"/>
                        </a:rPr>
                        <a:t>layout.&lt;kind&gt;.columns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vector columns (2.8.0)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list&lt;double&gt;</a:t>
                      </a:r>
                      <a:r>
                        <a:rPr sz="1200" b="0" i="0">
                          <a:solidFill>
                            <a:srgbClr val="1C2433"/>
                          </a:solidFill>
                          <a:latin typeface="Calibri"/>
                        </a:rPr>
                        <a:t> (or </a:t>
                      </a:r>
                      <a:r>
                        <a:rPr sz="1100" b="0" i="0">
                          <a:solidFill>
                            <a:srgbClr val="0E7C86"/>
                          </a:solidFill>
                          <a:latin typeface="Consolas"/>
                        </a:rPr>
                        <a:t>list&lt;float&gt;</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layout.&lt;kind&gt;.vectors</a:t>
                      </a:r>
                      <a:r>
                        <a:rPr sz="1200" b="0" i="0">
                          <a:solidFill>
                            <a:srgbClr val="1C2433"/>
                          </a:solidFill>
                          <a:latin typeface="Calibri"/>
                        </a:rPr>
                        <a:t>: </a:t>
                      </a:r>
                      <a:r>
                        <a:rPr sz="1100" b="0" i="0">
                          <a:solidFill>
                            <a:srgbClr val="0E7C86"/>
                          </a:solidFill>
                          <a:latin typeface="Consolas"/>
                        </a:rPr>
                        <a:t>PNL</a:t>
                      </a:r>
                      <a:r>
                        <a:rPr sz="1200" b="0" i="0">
                          <a:solidFill>
                            <a:srgbClr val="1C2433"/>
                          </a:solidFill>
                          <a:latin typeface="Calibri"/>
                        </a:rPr>
                        <a:t>, </a:t>
                      </a:r>
                      <a:r>
                        <a:rPr sz="1100" b="0" i="0">
                          <a:solidFill>
                            <a:srgbClr val="0E7C86"/>
                          </a:solidFill>
                          <a:latin typeface="Consolas"/>
                        </a:rPr>
                        <a:t>SCENARIO_PV</a:t>
                      </a:r>
                      <a:r>
                        <a:rPr sz="1200" b="0" i="0">
                          <a:solidFill>
                            <a:srgbClr val="1C2433"/>
                          </a:solidFill>
                          <a:latin typeface="Calibri"/>
                        </a:rPr>
                        <a:t>, </a:t>
                      </a:r>
                      <a:r>
                        <a:rPr sz="1100" b="0" i="0">
                          <a:solidFill>
                            <a:srgbClr val="0E7C86"/>
                          </a:solidFill>
                          <a:latin typeface="Consolas"/>
                        </a:rPr>
                        <a:t>MTM</a:t>
                      </a:r>
                      <a:r>
                        <a:rPr sz="1200" b="0" i="0">
                          <a:solidFill>
                            <a:srgbClr val="1C2433"/>
                          </a:solidFill>
                          <a:latin typeface="Calibri"/>
                        </a:rPr>
                        <a:t>; one column, the length is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572000"/>
            <a:ext cx="11365992" cy="17830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Choosing what to promote is a pack decision (DELTA_CONNECTOR.md §4); </a:t>
            </a:r>
            <a:r>
              <a:rPr sz="1200" b="0" i="0">
                <a:solidFill>
                  <a:srgbClr val="0E7C86"/>
                </a:solidFill>
                <a:latin typeface="Consolas"/>
              </a:rPr>
              <a:t>layout.&lt;kind&gt;.type-ahead</a:t>
            </a:r>
            <a:r>
              <a:rPr sz="1300" b="0" i="0">
                <a:solidFill>
                  <a:srgbClr val="1C2433"/>
                </a:solidFill>
                <a:latin typeface="Calibri"/>
              </a:rPr>
              <a:t> adds promoted names to the type-ahead (</a:t>
            </a:r>
            <a:r>
              <a:rPr sz="1200" b="0" i="0">
                <a:solidFill>
                  <a:srgbClr val="0E7C86"/>
                </a:solidFill>
                <a:latin typeface="Consolas"/>
              </a:rPr>
              <a:t>USEQ Ford</a:t>
            </a:r>
            <a:r>
              <a:rPr sz="1300" b="0" i="0">
                <a:solidFill>
                  <a:srgbClr val="1C2433"/>
                </a:solidFill>
                <a:latin typeface="Calibri"/>
              </a:rPr>
              <a:t> finds </a:t>
            </a:r>
            <a:r>
              <a:rPr sz="1200" b="0" i="0">
                <a:solidFill>
                  <a:srgbClr val="0E7C86"/>
                </a:solidFill>
                <a:latin typeface="Consolas"/>
              </a:rPr>
              <a:t>F</a:t>
            </a:r>
            <a:r>
              <a:rPr sz="1300" b="0" i="0">
                <a:solidFill>
                  <a:srgbClr val="1C2433"/>
                </a:solidFill>
                <a:latin typeface="Calibri"/>
              </a:rPr>
              <a:t>)</a:t>
            </a:r>
          </a:p>
          <a:p>
            <a:pPr algn="l" marL="201168" indent="-201168">
              <a:spcAft>
                <a:spcPts val="600"/>
              </a:spcAft>
              <a:buClr>
                <a:srgbClr val="E87A1E"/>
              </a:buClr>
              <a:buSzPct val="100000"/>
              <a:buFont typeface="Arial"/>
              <a:buChar char="•"/>
            </a:pPr>
            <a:r>
              <a:rPr sz="1300" b="0" i="0">
                <a:solidFill>
                  <a:srgbClr val="1C2433"/>
                </a:solidFill>
                <a:latin typeface="Calibri"/>
              </a:rPr>
              <a:t>Adding a promoted column changes the table's columns: </a:t>
            </a:r>
            <a:r>
              <a:rPr sz="1200" b="0" i="0">
                <a:solidFill>
                  <a:srgbClr val="0E7C86"/>
                </a:solidFill>
                <a:latin typeface="Consolas"/>
              </a:rPr>
              <a:t>lake publish</a:t>
            </a:r>
            <a:r>
              <a:rPr sz="1300" b="0" i="0">
                <a:solidFill>
                  <a:srgbClr val="1C2433"/>
                </a:solidFill>
                <a:latin typeface="Calibri"/>
              </a:rPr>
              <a:t> refuses a day whose columns differ → runbook (slide 94)</a:t>
            </a:r>
          </a:p>
          <a:p>
            <a:pPr algn="l" marL="201168" indent="-201168">
              <a:spcAft>
                <a:spcPts val="600"/>
              </a:spcAft>
              <a:buClr>
                <a:srgbClr val="E87A1E"/>
              </a:buClr>
              <a:buSzPct val="100000"/>
              <a:buFont typeface="Arial"/>
              <a:buChar char="•"/>
            </a:pPr>
            <a:r>
              <a:rPr sz="1300" b="0" i="0">
                <a:solidFill>
                  <a:srgbClr val="1C2433"/>
                </a:solidFill>
                <a:latin typeface="Calibri"/>
              </a:rPr>
              <a:t>Vectors are never stored twice: the document keeps </a:t>
            </a:r>
            <a:r>
              <a:rPr sz="1200" b="0" i="0">
                <a:solidFill>
                  <a:srgbClr val="0E7C86"/>
                </a:solidFill>
                <a:latin typeface="Consolas"/>
              </a:rPr>
              <a:t>{"$vector": "PNL"}</a:t>
            </a:r>
            <a:r>
              <a:rPr sz="1300" b="0" i="0">
                <a:solidFill>
                  <a:srgbClr val="1C2433"/>
                </a:solidFill>
                <a:latin typeface="Calibri"/>
              </a:rPr>
              <a:t> and a fetched document gets the vector 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6. What each read needs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38</a:t>
            </a:r>
          </a:p>
        </p:txBody>
      </p:sp>
      <p:graphicFrame>
        <p:nvGraphicFramePr>
          <p:cNvPr id="9" name="Table"/>
          <p:cNvGraphicFramePr>
            <a:graphicFrameLocks noGrp="1"/>
          </p:cNvGraphicFramePr>
          <p:nvPr/>
        </p:nvGraphicFramePr>
        <p:xfrm>
          <a:off x="411480" y="1188720"/>
          <a:ext cx="11365991" cy="4608576"/>
        </p:xfrm>
        <a:graphic>
          <a:graphicData uri="http://schemas.openxmlformats.org/drawingml/2006/table">
            <a:tbl>
              <a:tblPr firstRow="0" bandRow="0">
                <a:tableStyleId>{5940675A-B579-460E-94D1-54222C63F5DA}</a:tableStyleId>
              </a:tblPr>
              <a:tblGrid>
                <a:gridCol w="2834640"/>
                <a:gridCol w="4480560"/>
                <a:gridCol w="4050791"/>
              </a:tblGrid>
              <a:tr h="658368">
                <a:tc>
                  <a:txBody>
                    <a:bodyPr wrap="square"/>
                    <a:lstStyle/>
                    <a:p>
                      <a:r>
                        <a:rPr sz="1200" b="1" i="0">
                          <a:solidFill>
                            <a:srgbClr val="FFFFFF"/>
                          </a:solidFill>
                          <a:latin typeface="Calibri"/>
                        </a:rPr>
                        <a:t>Need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So the table needs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200" b="1" i="0">
                          <a:solidFill>
                            <a:srgbClr val="1C2433"/>
                          </a:solidFill>
                          <a:latin typeface="Calibri"/>
                        </a:rPr>
                        <a:t>One entity (</a:t>
                      </a:r>
                      <a:r>
                        <a:rPr sz="1100" b="1" i="0">
                          <a:solidFill>
                            <a:srgbClr val="0E7C86"/>
                          </a:solidFill>
                          <a:latin typeface="Consolas"/>
                        </a:rPr>
                        <a:t>TRD MX-20000017</a:t>
                      </a:r>
                      <a:r>
                        <a:rPr sz="12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day's id map, then one row group of one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rows sorted by id per file; small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History (</a:t>
                      </a:r>
                      <a:r>
                        <a:rPr sz="1100" b="1" i="0">
                          <a:solidFill>
                            <a:srgbClr val="0E7C86"/>
                          </a:solidFill>
                          <a:latin typeface="Consolas"/>
                        </a:rPr>
                        <a:t>TRD MX-20000017 30</a:t>
                      </a:r>
                      <a:r>
                        <a:rPr sz="12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whose id map holds it, one read per day, eight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business_date</a:t>
                      </a:r>
                      <a:r>
                        <a:rPr sz="1200" b="0" i="0">
                          <a:solidFill>
                            <a:srgbClr val="1C2433"/>
                          </a:solidFill>
                          <a:latin typeface="Calibri"/>
                        </a:rPr>
                        <a:t> as the partition; nothing else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Type-ahead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newest day's ids (and </a:t>
                      </a:r>
                      <a:r>
                        <a:rPr sz="1100" b="0" i="0">
                          <a:solidFill>
                            <a:srgbClr val="0E7C86"/>
                          </a:solidFill>
                          <a:latin typeface="Consolas"/>
                        </a:rPr>
                        <a:t>index.days</a:t>
                      </a:r>
                      <a:r>
                        <a:rPr sz="1200" b="0" i="0">
                          <a:solidFill>
                            <a:srgbClr val="1C2433"/>
                          </a:solidFill>
                          <a:latin typeface="Calibri"/>
                        </a:rPr>
                        <a:t>), plus promoted name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id</a:t>
                      </a:r>
                      <a:r>
                        <a:rPr sz="1200" b="0" i="0">
                          <a:solidFill>
                            <a:srgbClr val="1C2433"/>
                          </a:solidFill>
                          <a:latin typeface="Calibri"/>
                        </a:rPr>
                        <a:t>; </a:t>
                      </a:r>
                      <a:r>
                        <a:rPr sz="1100" b="0" i="0">
                          <a:solidFill>
                            <a:srgbClr val="0E7C86"/>
                          </a:solidFill>
                          <a:latin typeface="Consolas"/>
                        </a:rPr>
                        <a:t>layout.&lt;kind&gt;.type-ahead</a:t>
                      </a:r>
                      <a:r>
                        <a:rPr sz="1200" b="0" i="0">
                          <a:solidFill>
                            <a:srgbClr val="1C2433"/>
                          </a:solidFill>
                          <a:latin typeface="Calibri"/>
                        </a:rPr>
                        <a:t> for names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Search, pick lists, derived kinds, impact, links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column set: id and every promoted column, never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field a search filters, sorts or shows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A date's vectors (VaR, exposure)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vector column and a few text columns, streamed file by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layout.&lt;kind&gt;.vectors</a:t>
                      </a:r>
                      <a:r>
                        <a:rPr sz="1200" b="0" i="0">
                          <a:solidFill>
                            <a:srgbClr val="1C2433"/>
                          </a:solidFill>
                          <a:latin typeface="Calibri"/>
                        </a:rPr>
                        <a:t>; whole dates, no deletion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File skipping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per-file min/max in the log; per-row-group min/max in the footer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delta.dataSkippingStatsColumns</a:t>
                      </a:r>
                      <a:r>
                        <a:rPr sz="1200" b="0" i="0">
                          <a:solidFill>
                            <a:srgbClr val="1C2433"/>
                          </a:solidFill>
                          <a:latin typeface="Calibri"/>
                        </a:rPr>
                        <a:t> = id, business_date,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07</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Files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Sizes, row groups, compression, statistics, checkpoints, retention, sorting by id, and one commit per day per table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7.1 The numbers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40</a:t>
            </a:r>
          </a:p>
        </p:txBody>
      </p:sp>
      <p:graphicFrame>
        <p:nvGraphicFramePr>
          <p:cNvPr id="9" name="Table"/>
          <p:cNvGraphicFramePr>
            <a:graphicFrameLocks noGrp="1"/>
          </p:cNvGraphicFramePr>
          <p:nvPr/>
        </p:nvGraphicFramePr>
        <p:xfrm>
          <a:off x="411480" y="1188720"/>
          <a:ext cx="11365992" cy="4828032"/>
        </p:xfrm>
        <a:graphic>
          <a:graphicData uri="http://schemas.openxmlformats.org/drawingml/2006/table">
            <a:tbl>
              <a:tblPr firstRow="0" bandRow="0">
                <a:tableStyleId>{5940675A-B579-460E-94D1-54222C63F5DA}</a:tableStyleId>
              </a:tblPr>
              <a:tblGrid>
                <a:gridCol w="2103120"/>
                <a:gridCol w="4206240"/>
                <a:gridCol w="5056632"/>
              </a:tblGrid>
              <a:tr h="603504">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03504">
                <a:tc>
                  <a:txBody>
                    <a:bodyPr wrap="square"/>
                    <a:lstStyle/>
                    <a:p>
                      <a:r>
                        <a:rPr sz="1200" b="1" i="0">
                          <a:solidFill>
                            <a:srgbClr val="1C2433"/>
                          </a:solidFill>
                          <a:latin typeface="Calibri"/>
                        </a:rPr>
                        <a:t>Rows per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layout.&lt;kind&gt;.file-rows</a:t>
                      </a:r>
                      <a:r>
                        <a:rPr sz="1200" b="0" i="0">
                          <a:solidFill>
                            <a:srgbClr val="1C2433"/>
                          </a:solidFill>
                          <a:latin typeface="Calibri"/>
                        </a:rPr>
                        <a:t> (250,000)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few files per day, each large enough for S3 (hundreds of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 MB (</a:t>
                      </a:r>
                      <a:r>
                        <a:rPr sz="1100" b="0" i="0">
                          <a:solidFill>
                            <a:srgbClr val="0E7C86"/>
                          </a:solidFill>
                          <a:latin typeface="Consolas"/>
                        </a:rPr>
                        <a:t>LAKE_ROW_GROUP_KB=1024</a:t>
                      </a:r>
                      <a:r>
                        <a:rPr sz="1200" b="0" i="0">
                          <a:solidFill>
                            <a:srgbClr val="1C2433"/>
                          </a:solidFill>
                          <a:latin typeface="Calibri"/>
                        </a:rPr>
                        <a:t>; writer default 256 KB)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single read fetches one row group: 1 MB balances bytes against 10–30 ms GETs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Compression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Snappy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native engine also reads ZSTD, GZIP, LZ4_RAW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Statistics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id, business_date, promoted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file and row-group skipping without documents in the 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10 commits and after every maintenance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reader replays the last checkpoint plus a few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Log 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30 days (</a:t>
                      </a:r>
                      <a:r>
                        <a:rPr sz="1100" b="0" i="0">
                          <a:solidFill>
                            <a:srgbClr val="0E7C86"/>
                          </a:solidFill>
                          <a:latin typeface="Consolas"/>
                        </a:rPr>
                        <a:t>delta.logRetentionDuration</a:t>
                      </a:r>
                      <a:r>
                        <a:rPr sz="1200" b="0" i="0">
                          <a:solidFill>
                            <a:srgbClr val="1C2433"/>
                          </a:solidFill>
                          <a:latin typeface="Calibri"/>
                        </a:rPr>
                        <a:t>); </a:t>
                      </a:r>
                      <a:r>
                        <a:rPr sz="1200" b="1" i="0">
                          <a:solidFill>
                            <a:srgbClr val="1C2433"/>
                          </a:solidFill>
                          <a:latin typeface="Calibri"/>
                        </a:rPr>
                        <a:t>7 years for 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older commit files removed by </a:t>
                      </a:r>
                      <a:r>
                        <a:rPr sz="1100" b="0" i="0">
                          <a:solidFill>
                            <a:srgbClr val="0E7C86"/>
                          </a:solidFill>
                          <a:latin typeface="Consolas"/>
                        </a:rPr>
                        <a:t>lake 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Removed files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days (</a:t>
                      </a:r>
                      <a:r>
                        <a:rPr sz="1100" b="0" i="0">
                          <a:solidFill>
                            <a:srgbClr val="0E7C86"/>
                          </a:solidFill>
                          <a:latin typeface="Consolas"/>
                        </a:rPr>
                        <a:t>LAKE_VACUUM_HOURS</a:t>
                      </a:r>
                      <a:r>
                        <a:rPr sz="1200" b="0" i="0">
                          <a:solidFill>
                            <a:srgbClr val="1C2433"/>
                          </a:solidFill>
                          <a:latin typeface="Calibri"/>
                        </a:rPr>
                        <a:t> 168); </a:t>
                      </a:r>
                      <a:r>
                        <a:rPr sz="1200" b="1" i="0">
                          <a:solidFill>
                            <a:srgbClr val="1C2433"/>
                          </a:solidFill>
                          <a:latin typeface="Calibri"/>
                        </a:rPr>
                        <a:t>7 years for 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readers in flight and *known at* reach back a week (risk: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7.2 Sorted by id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41</a:t>
            </a:r>
          </a:p>
        </p:txBody>
      </p:sp>
      <p:sp>
        <p:nvSpPr>
          <p:cNvPr id="9" name="TextBox 8"/>
          <p:cNvSpPr txBox="1"/>
          <p:nvPr/>
        </p:nvSpPr>
        <p:spPr>
          <a:xfrm>
            <a:off x="411480" y="1188720"/>
            <a:ext cx="6400800" cy="301752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A file holds a contiguous id range and each row group a smaller one: a read of one id skips every other row group by its statistics</a:t>
            </a:r>
          </a:p>
          <a:p>
            <a:pPr algn="l" marL="201168" indent="-201168">
              <a:spcAft>
                <a:spcPts val="800"/>
              </a:spcAft>
              <a:buClr>
                <a:srgbClr val="E87A1E"/>
              </a:buClr>
              <a:buSzPct val="100000"/>
              <a:buFont typeface="Arial"/>
              <a:buChar char="•"/>
            </a:pPr>
            <a:r>
              <a:rPr sz="1300" b="0" i="0">
                <a:solidFill>
                  <a:srgbClr val="0E7C86"/>
                </a:solidFill>
                <a:latin typeface="Consolas"/>
              </a:rPr>
              <a:t>lake build</a:t>
            </a:r>
            <a:r>
              <a:rPr sz="1400" b="0" i="0">
                <a:solidFill>
                  <a:srgbClr val="1C2433"/>
                </a:solidFill>
                <a:latin typeface="Calibri"/>
              </a:rPr>
              <a:t> sorts each partition (date × product type) that fits one batch (</a:t>
            </a:r>
            <a:r>
              <a:rPr sz="1300" b="0" i="0">
                <a:solidFill>
                  <a:srgbClr val="0E7C86"/>
                </a:solidFill>
                <a:latin typeface="Consolas"/>
              </a:rPr>
              <a:t>LAKE_BATCH_ROWS</a:t>
            </a:r>
            <a:r>
              <a:rPr sz="1400" b="0" i="0">
                <a:solidFill>
                  <a:srgbClr val="1C2433"/>
                </a:solidFill>
                <a:latin typeface="Calibri"/>
              </a:rPr>
              <a:t>, 250,000)</a:t>
            </a:r>
          </a:p>
          <a:p>
            <a:pPr algn="l" marL="201168" indent="-201168">
              <a:spcAft>
                <a:spcPts val="800"/>
              </a:spcAft>
              <a:buClr>
                <a:srgbClr val="E87A1E"/>
              </a:buClr>
              <a:buSzPct val="100000"/>
              <a:buFont typeface="Arial"/>
              <a:buChar char="•"/>
            </a:pPr>
            <a:r>
              <a:rPr sz="1400" b="0" i="0">
                <a:solidFill>
                  <a:srgbClr val="1C2433"/>
                </a:solidFill>
                <a:latin typeface="Calibri"/>
              </a:rPr>
              <a:t>A larger partition is written in the dumps' order; load-day.sh prints a warning for each</a:t>
            </a:r>
          </a:p>
          <a:p>
            <a:pPr algn="l" marL="201168" indent="-201168">
              <a:spcAft>
                <a:spcPts val="800"/>
              </a:spcAft>
              <a:buClr>
                <a:srgbClr val="E87A1E"/>
              </a:buClr>
              <a:buSzPct val="100000"/>
              <a:buFont typeface="Arial"/>
              <a:buChar char="•"/>
            </a:pPr>
            <a:r>
              <a:rPr sz="1400" b="0" i="0">
                <a:solidFill>
                  <a:srgbClr val="1C2433"/>
                </a:solidFill>
                <a:latin typeface="Calibri"/>
              </a:rPr>
              <a:t>A table written elsewhere (Spark): </a:t>
            </a:r>
            <a:r>
              <a:rPr sz="1300" b="0" i="0">
                <a:solidFill>
                  <a:srgbClr val="0E7C86"/>
                </a:solidFill>
                <a:latin typeface="Consolas"/>
              </a:rPr>
              <a:t>repartitionByRange(…, "id").sortWithinPartitions("id")</a:t>
            </a:r>
          </a:p>
        </p:txBody>
      </p:sp>
      <p:sp>
        <p:nvSpPr>
          <p:cNvPr id="10" name="Callout"/>
          <p:cNvSpPr/>
          <p:nvPr/>
        </p:nvSpPr>
        <p:spPr>
          <a:xfrm>
            <a:off x="7040880" y="1188720"/>
            <a:ext cx="4736592" cy="30175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040880" y="1207008"/>
            <a:ext cx="82296" cy="29809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269480" y="1261872"/>
            <a:ext cx="4370831" cy="2871215"/>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Three remedies, in order of preference</a:t>
            </a:r>
          </a:p>
          <a:p>
            <a:pPr algn="l">
              <a:spcAft>
                <a:spcPts val="600"/>
              </a:spcAft>
              <a:buNone/>
            </a:pPr>
            <a:r>
              <a:rPr sz="1300" b="0" i="0">
                <a:solidFill>
                  <a:srgbClr val="1C2433"/>
                </a:solidFill>
                <a:latin typeface="Calibri"/>
              </a:rPr>
              <a:t>1. </a:t>
            </a:r>
            <a:r>
              <a:rPr sz="1300" b="1" i="0">
                <a:solidFill>
                  <a:srgbClr val="1C2433"/>
                </a:solidFill>
                <a:latin typeface="Calibri"/>
              </a:rPr>
              <a:t>Ask the source to export sorted by id.</a:t>
            </a:r>
            <a:r>
              <a:rPr sz="1300" b="0" i="0">
                <a:solidFill>
                  <a:srgbClr val="1C2433"/>
                </a:solidFill>
                <a:latin typeface="Calibri"/>
              </a:rPr>
              <a:t> The JSON Lines order becomes the file's order: sorted at any size, no memory cost (the demo's </a:t>
            </a:r>
            <a:r>
              <a:rPr sz="1200" b="0" i="0">
                <a:solidFill>
                  <a:srgbClr val="0E7C86"/>
                </a:solidFill>
                <a:latin typeface="Consolas"/>
              </a:rPr>
              <a:t>bulk_trades.py</a:t>
            </a:r>
            <a:r>
              <a:rPr sz="1300" b="0" i="0">
                <a:solidFill>
                  <a:srgbClr val="1C2433"/>
                </a:solidFill>
                <a:latin typeface="Calibri"/>
              </a:rPr>
              <a:t> does so since 2.9.4).</a:t>
            </a:r>
          </a:p>
          <a:p>
            <a:pPr algn="l">
              <a:spcAft>
                <a:spcPts val="600"/>
              </a:spcAft>
              <a:buNone/>
            </a:pPr>
            <a:r>
              <a:rPr sz="1300" b="0" i="0">
                <a:solidFill>
                  <a:srgbClr val="1C2433"/>
                </a:solidFill>
                <a:latin typeface="Calibri"/>
              </a:rPr>
              <a:t>2. </a:t>
            </a:r>
            <a:r>
              <a:rPr sz="1300" b="1" i="0">
                <a:solidFill>
                  <a:srgbClr val="1C2433"/>
                </a:solidFill>
                <a:latin typeface="Calibri"/>
              </a:rPr>
              <a:t>Partition finer</a:t>
            </a:r>
            <a:r>
              <a:rPr sz="1300" b="0" i="0">
                <a:solidFill>
                  <a:srgbClr val="1C2433"/>
                </a:solidFill>
                <a:latin typeface="Calibri"/>
              </a:rPr>
              <a:t> (</a:t>
            </a:r>
            <a:r>
              <a:rPr sz="1200" b="0" i="0">
                <a:solidFill>
                  <a:srgbClr val="0E7C86"/>
                </a:solidFill>
                <a:latin typeface="Consolas"/>
              </a:rPr>
              <a:t>PRODUCT_TYPE</a:t>
            </a:r>
            <a:r>
              <a:rPr sz="1300" b="0" i="0">
                <a:solidFill>
                  <a:srgbClr val="1C2433"/>
                </a:solidFill>
                <a:latin typeface="Calibri"/>
              </a:rPr>
              <a:t>, or a book or desk column) so each partition fits a batch.</a:t>
            </a:r>
          </a:p>
          <a:p>
            <a:pPr algn="l">
              <a:spcAft>
                <a:spcPts val="600"/>
              </a:spcAft>
              <a:buNone/>
            </a:pPr>
            <a:r>
              <a:rPr sz="1300" b="0" i="0">
                <a:solidFill>
                  <a:srgbClr val="1C2433"/>
                </a:solidFill>
                <a:latin typeface="Calibri"/>
              </a:rPr>
              <a:t>3. </a:t>
            </a:r>
            <a:r>
              <a:rPr sz="1300" b="1" i="0">
                <a:solidFill>
                  <a:srgbClr val="1C2433"/>
                </a:solidFill>
                <a:latin typeface="Calibri"/>
              </a:rPr>
              <a:t>Raise </a:t>
            </a:r>
            <a:r>
              <a:rPr sz="1200" b="1" i="0">
                <a:solidFill>
                  <a:srgbClr val="0E7C86"/>
                </a:solidFill>
                <a:latin typeface="Consolas"/>
              </a:rPr>
              <a:t>LAKE_BATCH_ROWS</a:t>
            </a:r>
            <a:r>
              <a:rPr sz="1300" b="0" i="0">
                <a:solidFill>
                  <a:srgbClr val="1C2433"/>
                </a:solidFill>
                <a:latin typeface="Calibri"/>
              </a:rPr>
              <a:t> with the loader's memory: rows × document size × 3; 250,000 trades of 10 KB ≈ 8 GB; the loader has 30 GB.</a:t>
            </a:r>
          </a:p>
        </p:txBody>
      </p:sp>
      <p:sp>
        <p:nvSpPr>
          <p:cNvPr id="13" name="Callout"/>
          <p:cNvSpPr/>
          <p:nvPr/>
        </p:nvSpPr>
        <p:spPr>
          <a:xfrm>
            <a:off x="411480" y="3429000"/>
            <a:ext cx="6400800" cy="9144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3447288"/>
            <a:ext cx="82296" cy="8778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3502152"/>
            <a:ext cx="6035040" cy="7680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DESIGNED (SUPER_SCALE S1): range maps from the log's per-file id ranges instead of id maps, and Parquet Bloom filters on id.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7.3 One commit per day per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42</a:t>
            </a:r>
          </a:p>
        </p:txBody>
      </p:sp>
      <p:sp>
        <p:nvSpPr>
          <p:cNvPr id="9" name="Rounded Rectangle 8"/>
          <p:cNvSpPr/>
          <p:nvPr/>
        </p:nvSpPr>
        <p:spPr>
          <a:xfrm>
            <a:off x="411480"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build</a:t>
            </a:r>
          </a:p>
        </p:txBody>
      </p:sp>
      <p:sp>
        <p:nvSpPr>
          <p:cNvPr id="11" name="TextBox 10"/>
          <p:cNvSpPr txBox="1"/>
          <p:nvPr/>
        </p:nvSpPr>
        <p:spPr>
          <a:xfrm>
            <a:off x="502920"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writes the day into a FRESH scratch table on EFS: every file there is live</a:t>
            </a:r>
          </a:p>
        </p:txBody>
      </p:sp>
      <p:cxnSp>
        <p:nvCxnSpPr>
          <p:cNvPr id="12" name="Connector 11"/>
          <p:cNvCxnSpPr/>
          <p:nvPr/>
        </p:nvCxnSpPr>
        <p:spPr>
          <a:xfrm>
            <a:off x="3931920" y="1892807"/>
            <a:ext cx="40233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34256"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425696"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aws s3 sync</a:t>
            </a:r>
          </a:p>
        </p:txBody>
      </p:sp>
      <p:sp>
        <p:nvSpPr>
          <p:cNvPr id="15" name="TextBox 14"/>
          <p:cNvSpPr txBox="1"/>
          <p:nvPr/>
        </p:nvSpPr>
        <p:spPr>
          <a:xfrm>
            <a:off x="4425696"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copies the data files to S3: new UUID names, nothing in S3 is overwritten</a:t>
            </a:r>
          </a:p>
        </p:txBody>
      </p:sp>
      <p:cxnSp>
        <p:nvCxnSpPr>
          <p:cNvPr id="16" name="Connector 15"/>
          <p:cNvCxnSpPr/>
          <p:nvPr/>
        </p:nvCxnSpPr>
        <p:spPr>
          <a:xfrm>
            <a:off x="7854696" y="1892807"/>
            <a:ext cx="40233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57032"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348472"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publish</a:t>
            </a:r>
          </a:p>
        </p:txBody>
      </p:sp>
      <p:sp>
        <p:nvSpPr>
          <p:cNvPr id="19" name="TextBox 18"/>
          <p:cNvSpPr txBox="1"/>
          <p:nvPr/>
        </p:nvSpPr>
        <p:spPr>
          <a:xfrm>
            <a:off x="8348472"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ONE commit that adds the new files and removes the day's previous files</a:t>
            </a:r>
          </a:p>
        </p:txBody>
      </p:sp>
      <p:sp>
        <p:nvSpPr>
          <p:cNvPr id="20" name="TextBox 19"/>
          <p:cNvSpPr txBox="1"/>
          <p:nvPr/>
        </p:nvSpPr>
        <p:spPr>
          <a:xfrm>
            <a:off x="411480" y="2880360"/>
            <a:ext cx="11365992" cy="21031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A reader sees </a:t>
            </a:r>
            <a:r>
              <a:rPr sz="1400" b="1" i="0">
                <a:solidFill>
                  <a:srgbClr val="1C2433"/>
                </a:solidFill>
                <a:latin typeface="Calibri"/>
              </a:rPr>
              <a:t>the old day or the new day, never a mixture</a:t>
            </a:r>
          </a:p>
          <a:p>
            <a:pPr algn="l" marL="201168" indent="-201168">
              <a:spcAft>
                <a:spcPts val="700"/>
              </a:spcAft>
              <a:buClr>
                <a:srgbClr val="E87A1E"/>
              </a:buClr>
              <a:buSzPct val="100000"/>
              <a:buFont typeface="Arial"/>
              <a:buChar char="•"/>
            </a:pPr>
            <a:r>
              <a:rPr sz="1400" b="0" i="0">
                <a:solidFill>
                  <a:srgbClr val="1C2433"/>
                </a:solidFill>
                <a:latin typeface="Calibri"/>
              </a:rPr>
              <a:t>The previous version stays readable (time travel, *known at*) until vacuum (</a:t>
            </a:r>
            <a:r>
              <a:rPr sz="1300" b="0" i="0">
                <a:solidFill>
                  <a:srgbClr val="0E7C86"/>
                </a:solidFill>
                <a:latin typeface="Consolas"/>
              </a:rPr>
              <a:t>LAKE_VACUUM_HOURS</a:t>
            </a:r>
            <a:r>
              <a:rPr sz="1400" b="0" i="0">
                <a:solidFill>
                  <a:srgbClr val="1C2433"/>
                </a:solidFill>
                <a:latin typeface="Calibri"/>
              </a:rPr>
              <a:t>, 168 h; 7 years for risk)</a:t>
            </a:r>
          </a:p>
          <a:p>
            <a:pPr algn="l" marL="201168" indent="-201168">
              <a:spcAft>
                <a:spcPts val="700"/>
              </a:spcAft>
              <a:buClr>
                <a:srgbClr val="E87A1E"/>
              </a:buClr>
              <a:buSzPct val="100000"/>
              <a:buFont typeface="Arial"/>
              <a:buChar char="•"/>
            </a:pPr>
            <a:r>
              <a:rPr sz="1400" b="0" i="0">
                <a:solidFill>
                  <a:srgbClr val="1C2433"/>
                </a:solidFill>
                <a:latin typeface="Calibri"/>
              </a:rPr>
              <a:t>One commit per table per day ⇒ about </a:t>
            </a:r>
            <a:r>
              <a:rPr sz="1400" b="1" i="0">
                <a:solidFill>
                  <a:srgbClr val="1C2433"/>
                </a:solidFill>
                <a:latin typeface="Calibri"/>
              </a:rPr>
              <a:t>1,500 commits a year per table</a:t>
            </a:r>
            <a:r>
              <a:rPr sz="1400" b="0" i="0">
                <a:solidFill>
                  <a:srgbClr val="1C2433"/>
                </a:solidFill>
                <a:latin typeface="Calibri"/>
              </a:rPr>
              <a:t> including maintenance</a:t>
            </a:r>
          </a:p>
          <a:p>
            <a:pPr algn="l" marL="201168" indent="-201168">
              <a:spcAft>
                <a:spcPts val="700"/>
              </a:spcAft>
              <a:buClr>
                <a:srgbClr val="E87A1E"/>
              </a:buClr>
              <a:buSzPct val="100000"/>
              <a:buFont typeface="Arial"/>
              <a:buChar char="•"/>
            </a:pPr>
            <a:r>
              <a:rPr sz="1300" b="0" i="0">
                <a:solidFill>
                  <a:srgbClr val="0E7C86"/>
                </a:solidFill>
                <a:latin typeface="Consolas"/>
              </a:rPr>
              <a:t>lake publish</a:t>
            </a:r>
            <a:r>
              <a:rPr sz="1400" b="0" i="0">
                <a:solidFill>
                  <a:srgbClr val="1C2433"/>
                </a:solidFill>
                <a:latin typeface="Calibri"/>
              </a:rPr>
              <a:t> checks every file is in S3 before committing (on the store it commits to, since 2.7.0) and refuses a change of columns</a:t>
            </a:r>
          </a:p>
        </p:txBody>
      </p:sp>
      <p:sp>
        <p:nvSpPr>
          <p:cNvPr id="21" name="Callout"/>
          <p:cNvSpPr/>
          <p:nvPr/>
        </p:nvSpPr>
        <p:spPr>
          <a:xfrm>
            <a:off x="411480" y="5120640"/>
            <a:ext cx="11365992" cy="11887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Callout edge"/>
          <p:cNvSpPr/>
          <p:nvPr/>
        </p:nvSpPr>
        <p:spPr>
          <a:xfrm>
            <a:off x="411480" y="5138927"/>
            <a:ext cx="82296" cy="11521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640080" y="5193792"/>
            <a:ext cx="11000232" cy="104241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Since 2.6.7 </a:t>
            </a:r>
            <a:r>
              <a:rPr sz="1200" b="0" i="0">
                <a:solidFill>
                  <a:srgbClr val="0E7C86"/>
                </a:solidFill>
                <a:latin typeface="Consolas"/>
              </a:rPr>
              <a:t>lake build</a:t>
            </a:r>
            <a:r>
              <a:rPr sz="1300" b="0" i="0">
                <a:solidFill>
                  <a:srgbClr val="1C2433"/>
                </a:solidFill>
                <a:latin typeface="Calibri"/>
              </a:rPr>
              <a:t> and </a:t>
            </a:r>
            <a:r>
              <a:rPr sz="1200" b="0" i="0">
                <a:solidFill>
                  <a:srgbClr val="0E7C86"/>
                </a:solidFill>
                <a:latin typeface="Consolas"/>
              </a:rPr>
              <a:t>lake demo</a:t>
            </a:r>
            <a:r>
              <a:rPr sz="1300" b="0" i="0">
                <a:solidFill>
                  <a:srgbClr val="1C2433"/>
                </a:solidFill>
                <a:latin typeface="Calibri"/>
              </a:rPr>
              <a:t> make one commit per business date (not per partition): sixty days of </a:t>
            </a:r>
            <a:r>
              <a:rPr sz="1200" b="0" i="0">
                <a:solidFill>
                  <a:srgbClr val="0E7C86"/>
                </a:solidFill>
                <a:latin typeface="Consolas"/>
              </a:rPr>
              <a:t>trade_endur</a:t>
            </a:r>
            <a:r>
              <a:rPr sz="1300" b="0" i="0">
                <a:solidFill>
                  <a:srgbClr val="1C2433"/>
                </a:solidFill>
                <a:latin typeface="Calibri"/>
              </a:rPr>
              <a:t> went from 300 commits replaying the whole log (98 s) to 60 with a short log. Intraday risk batches are the one exception: an appended commit per batch (slide 64).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08</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Data in: JSON Lines, then Delta</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Since 2.9.4 JSON Lines is Drishti's data format: generate JSON Lines, then load it into Delta. CSV input is deprecated; every export offers JSON Lines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Generate JSON Lines, then load it into Delta</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44</a:t>
            </a:r>
          </a:p>
        </p:txBody>
      </p:sp>
      <p:sp>
        <p:nvSpPr>
          <p:cNvPr id="9" name="Rounded Rectangle 8"/>
          <p:cNvSpPr/>
          <p:nvPr/>
        </p:nvSpPr>
        <p:spPr>
          <a:xfrm>
            <a:off x="411480" y="1188720"/>
            <a:ext cx="2606040" cy="118872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Source or generator</a:t>
            </a:r>
          </a:p>
        </p:txBody>
      </p:sp>
      <p:sp>
        <p:nvSpPr>
          <p:cNvPr id="11" name="TextBox 10"/>
          <p:cNvSpPr txBox="1"/>
          <p:nvPr/>
        </p:nvSpPr>
        <p:spPr>
          <a:xfrm>
            <a:off x="502920"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writes JSON Lines</a:t>
            </a:r>
          </a:p>
          <a:p>
            <a:pPr algn="l" marL="201168" indent="-201168">
              <a:spcAft>
                <a:spcPts val="200"/>
              </a:spcAft>
              <a:buClr>
                <a:srgbClr val="E87A1E"/>
              </a:buClr>
              <a:buSzPct val="100000"/>
              <a:buFont typeface="Arial"/>
              <a:buChar char="•"/>
            </a:pPr>
            <a:r>
              <a:rPr sz="1100" b="0" i="0">
                <a:solidFill>
                  <a:srgbClr val="0E7C86"/>
                </a:solidFill>
                <a:latin typeface="Consolas"/>
              </a:rPr>
              <a:t>trades-&lt;date&gt;.jsonl.gz</a:t>
            </a:r>
          </a:p>
        </p:txBody>
      </p:sp>
      <p:cxnSp>
        <p:nvCxnSpPr>
          <p:cNvPr id="12" name="Connector 11"/>
          <p:cNvCxnSpPr/>
          <p:nvPr/>
        </p:nvCxnSpPr>
        <p:spPr>
          <a:xfrm>
            <a:off x="3017520"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28416" y="1188720"/>
            <a:ext cx="260604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419856"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Landing / build folder</a:t>
            </a:r>
          </a:p>
        </p:txBody>
      </p:sp>
      <p:sp>
        <p:nvSpPr>
          <p:cNvPr id="15" name="TextBox 14"/>
          <p:cNvSpPr txBox="1"/>
          <p:nvPr/>
        </p:nvSpPr>
        <p:spPr>
          <a:xfrm>
            <a:off x="3419856"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&lt;date&gt;/&lt;source&gt;/*.jsonl.gz</a:t>
            </a:r>
          </a:p>
          <a:p>
            <a:pPr algn="l" marL="201168" indent="-201168">
              <a:spcAft>
                <a:spcPts val="200"/>
              </a:spcAft>
              <a:buClr>
                <a:srgbClr val="E87A1E"/>
              </a:buClr>
              <a:buSzPct val="100000"/>
              <a:buFont typeface="Arial"/>
              <a:buChar char="•"/>
            </a:pPr>
            <a:r>
              <a:rPr sz="1200" b="0" i="0">
                <a:solidFill>
                  <a:srgbClr val="1C2433"/>
                </a:solidFill>
                <a:latin typeface="Calibri"/>
              </a:rPr>
              <a:t>a restatement: a second file</a:t>
            </a:r>
          </a:p>
        </p:txBody>
      </p:sp>
      <p:cxnSp>
        <p:nvCxnSpPr>
          <p:cNvPr id="16" name="Connector 15"/>
          <p:cNvCxnSpPr/>
          <p:nvPr/>
        </p:nvCxnSpPr>
        <p:spPr>
          <a:xfrm>
            <a:off x="5934456"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45352" y="118872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336792"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build · load_rows.py</a:t>
            </a:r>
          </a:p>
        </p:txBody>
      </p:sp>
      <p:sp>
        <p:nvSpPr>
          <p:cNvPr id="19" name="TextBox 18"/>
          <p:cNvSpPr txBox="1"/>
          <p:nvPr/>
        </p:nvSpPr>
        <p:spPr>
          <a:xfrm>
            <a:off x="6336792"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promoted and vector columns</a:t>
            </a:r>
          </a:p>
          <a:p>
            <a:pPr algn="l" marL="201168" indent="-201168">
              <a:spcAft>
                <a:spcPts val="200"/>
              </a:spcAft>
              <a:buClr>
                <a:srgbClr val="E87A1E"/>
              </a:buClr>
              <a:buSzPct val="100000"/>
              <a:buFont typeface="Arial"/>
              <a:buChar char="•"/>
            </a:pPr>
            <a:r>
              <a:rPr sz="1200" b="0" i="0">
                <a:solidFill>
                  <a:srgbClr val="1C2433"/>
                </a:solidFill>
                <a:latin typeface="Calibri"/>
              </a:rPr>
              <a:t>sorted by id; one commit a date</a:t>
            </a:r>
          </a:p>
        </p:txBody>
      </p:sp>
      <p:cxnSp>
        <p:nvCxnSpPr>
          <p:cNvPr id="20" name="Connector 19"/>
          <p:cNvCxnSpPr/>
          <p:nvPr/>
        </p:nvCxnSpPr>
        <p:spPr>
          <a:xfrm>
            <a:off x="8851392"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62288" y="1188720"/>
            <a:ext cx="260604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253728"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table</a:t>
            </a:r>
          </a:p>
        </p:txBody>
      </p:sp>
      <p:sp>
        <p:nvSpPr>
          <p:cNvPr id="23" name="TextBox 22"/>
          <p:cNvSpPr txBox="1"/>
          <p:nvPr/>
        </p:nvSpPr>
        <p:spPr>
          <a:xfrm>
            <a:off x="9253728"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lake/&lt;domain&gt;/&lt;table&gt;/</a:t>
            </a:r>
          </a:p>
          <a:p>
            <a:pPr algn="l" marL="201168" indent="-201168">
              <a:spcAft>
                <a:spcPts val="200"/>
              </a:spcAft>
              <a:buClr>
                <a:srgbClr val="E87A1E"/>
              </a:buClr>
              <a:buSzPct val="100000"/>
              <a:buFont typeface="Arial"/>
              <a:buChar char="•"/>
            </a:pPr>
            <a:r>
              <a:rPr sz="1200" b="0" i="0">
                <a:solidFill>
                  <a:srgbClr val="1C2433"/>
                </a:solidFill>
                <a:latin typeface="Calibri"/>
              </a:rPr>
              <a:t>read by the Delta connector</a:t>
            </a:r>
          </a:p>
        </p:txBody>
      </p:sp>
      <p:graphicFrame>
        <p:nvGraphicFramePr>
          <p:cNvPr id="24" name="Table"/>
          <p:cNvGraphicFramePr>
            <a:graphicFrameLocks noGrp="1"/>
          </p:cNvGraphicFramePr>
          <p:nvPr/>
        </p:nvGraphicFramePr>
        <p:xfrm>
          <a:off x="411480" y="2834640"/>
          <a:ext cx="11365990" cy="2377440"/>
        </p:xfrm>
        <a:graphic>
          <a:graphicData uri="http://schemas.openxmlformats.org/drawingml/2006/table">
            <a:tbl>
              <a:tblPr firstRow="0" bandRow="0">
                <a:tableStyleId>{5940675A-B579-460E-94D1-54222C63F5DA}</a:tableStyleId>
              </a:tblPr>
              <a:tblGrid>
                <a:gridCol w="1558240"/>
                <a:gridCol w="5133028"/>
                <a:gridCol w="4674722"/>
              </a:tblGrid>
              <a:tr h="475488">
                <a:tc>
                  <a:txBody>
                    <a:bodyPr wrap="square"/>
                    <a:lstStyle/>
                    <a:p>
                      <a:r>
                        <a:rPr sz="1200" b="1" i="0">
                          <a:solidFill>
                            <a:srgbClr val="FFFFFF"/>
                          </a:solidFill>
                          <a:latin typeface="Calibri"/>
                        </a:rPr>
                        <a:t>Form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One line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Written by → read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Document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entity as its source holds it: </a:t>
                      </a:r>
                      <a:r>
                        <a:rPr sz="1100" b="0" i="0">
                          <a:solidFill>
                            <a:srgbClr val="0E7C86"/>
                          </a:solidFill>
                          <a:latin typeface="Consolas"/>
                        </a:rPr>
                        <a:t>{"TRADE_ID": "1000015", "LEGS":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make_trades, bulk_trades, pack samples → </a:t>
                      </a:r>
                      <a:r>
                        <a:rPr sz="1100" b="0" i="0">
                          <a:solidFill>
                            <a:srgbClr val="0E7C86"/>
                          </a:solidFill>
                          <a:latin typeface="Consolas"/>
                        </a:rPr>
                        <a:t>lake build</a:t>
                      </a:r>
                      <a:r>
                        <a:rPr sz="1200" b="0" i="0">
                          <a:solidFill>
                            <a:srgbClr val="1C2433"/>
                          </a:solidFill>
                          <a:latin typeface="Calibri"/>
                        </a:rPr>
                        <a:t>, the file 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Loader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{"domain", "kind", "id", "date", "doc",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make_data.py --jsonl</a:t>
                      </a:r>
                      <a:r>
                        <a:rPr sz="1200" b="0" i="0">
                          <a:solidFill>
                            <a:srgbClr val="1C2433"/>
                          </a:solidFill>
                          <a:latin typeface="Calibri"/>
                        </a:rPr>
                        <a:t> → PostgreSQL, Cassandra, Iceberg … loaders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Lake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{"domain", "kind", "table", "id", "date",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make_data.py --lake</a:t>
                      </a:r>
                      <a:r>
                        <a:rPr sz="1200" b="0" i="0">
                          <a:solidFill>
                            <a:srgbClr val="1C2433"/>
                          </a:solidFill>
                          <a:latin typeface="Calibri"/>
                        </a:rPr>
                        <a:t>, generators → </a:t>
                      </a:r>
                      <a:r>
                        <a:rPr sz="1100" b="0" i="0">
                          <a:solidFill>
                            <a:srgbClr val="0E7C86"/>
                          </a:solidFill>
                          <a:latin typeface="Consolas"/>
                        </a:rPr>
                        <a:t>load_rows.py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Staged lake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{"id", "doc",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lake build's staging, official-results publishers → Java </a:t>
                      </a:r>
                      <a:r>
                        <a:rPr sz="1100" b="0" i="0">
                          <a:solidFill>
                            <a:srgbClr val="0E7C86"/>
                          </a:solidFill>
                          <a:latin typeface="Consolas"/>
                        </a:rPr>
                        <a:t>LakeWriter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25" name="Callout"/>
          <p:cNvSpPr/>
          <p:nvPr/>
        </p:nvSpPr>
        <p:spPr>
          <a:xfrm>
            <a:off x="411480" y="5440680"/>
            <a:ext cx="11365992" cy="86868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llout edge"/>
          <p:cNvSpPr/>
          <p:nvPr/>
        </p:nvSpPr>
        <p:spPr>
          <a:xfrm>
            <a:off x="411480" y="5458968"/>
            <a:ext cx="82296" cy="83210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513832"/>
            <a:ext cx="11000232" cy="722375"/>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The rule:</a:t>
            </a:r>
            <a:r>
              <a:rPr sz="1300" b="0" i="0">
                <a:solidFill>
                  <a:srgbClr val="1C2433"/>
                </a:solidFill>
                <a:latin typeface="Calibri"/>
              </a:rPr>
              <a:t> one JSON object per line, UTF-8, </a:t>
            </a:r>
            <a:r>
              <a:rPr sz="1200" b="0" i="0">
                <a:solidFill>
                  <a:srgbClr val="0E7C86"/>
                </a:solidFill>
                <a:latin typeface="Consolas"/>
              </a:rPr>
              <a:t>.jsonl</a:t>
            </a:r>
            <a:r>
              <a:rPr sz="1300" b="0" i="0">
                <a:solidFill>
                  <a:srgbClr val="1C2433"/>
                </a:solidFill>
                <a:latin typeface="Calibri"/>
              </a:rPr>
              <a:t> or </a:t>
            </a:r>
            <a:r>
              <a:rPr sz="1200" b="0" i="0">
                <a:solidFill>
                  <a:srgbClr val="0E7C86"/>
                </a:solidFill>
                <a:latin typeface="Consolas"/>
              </a:rPr>
              <a:t>.jsonl.gz</a:t>
            </a:r>
            <a:r>
              <a:rPr sz="1300" b="0" i="0">
                <a:solidFill>
                  <a:srgbClr val="1C2433"/>
                </a:solidFill>
                <a:latin typeface="Calibri"/>
              </a:rPr>
              <a:t>. Generating and loading are separate steps; a loader never rewrites a pack's samples. The lake built from JSONL is byte-for-byte the lake built before.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CSV in is deprecated; JSON Lines out beside every format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45</a:t>
            </a:r>
          </a:p>
        </p:txBody>
      </p:sp>
      <p:sp>
        <p:nvSpPr>
          <p:cNvPr id="9" name="Rounded Rectangle 8"/>
          <p:cNvSpPr/>
          <p:nvPr/>
        </p:nvSpPr>
        <p:spPr>
          <a:xfrm>
            <a:off x="411480" y="1188720"/>
            <a:ext cx="5532120" cy="205740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Coming in</a:t>
            </a:r>
          </a:p>
        </p:txBody>
      </p:sp>
      <p:sp>
        <p:nvSpPr>
          <p:cNvPr id="11" name="TextBox 10"/>
          <p:cNvSpPr txBox="1"/>
          <p:nvPr/>
        </p:nvSpPr>
        <p:spPr>
          <a:xfrm>
            <a:off x="502920" y="1554480"/>
            <a:ext cx="5349240" cy="1645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1" i="0">
                <a:solidFill>
                  <a:srgbClr val="1C2433"/>
                </a:solidFill>
                <a:latin typeface="Calibri"/>
              </a:rPr>
              <a:t>JSON Lines first</a:t>
            </a:r>
            <a:r>
              <a:rPr sz="1300" b="0" i="0">
                <a:solidFill>
                  <a:srgbClr val="1C2433"/>
                </a:solidFill>
                <a:latin typeface="Calibri"/>
              </a:rPr>
              <a:t>; JSON arrays and per-entity </a:t>
            </a:r>
            <a:r>
              <a:rPr sz="1200" b="0" i="0">
                <a:solidFill>
                  <a:srgbClr val="0E7C86"/>
                </a:solidFill>
                <a:latin typeface="Consolas"/>
              </a:rPr>
              <a:t>.json</a:t>
            </a:r>
            <a:r>
              <a:rPr sz="1300" b="0" i="0">
                <a:solidFill>
                  <a:srgbClr val="1C2433"/>
                </a:solidFill>
                <a:latin typeface="Calibri"/>
              </a:rPr>
              <a:t> still read</a:t>
            </a:r>
          </a:p>
          <a:p>
            <a:pPr algn="l" marL="201168" indent="-201168">
              <a:spcAft>
                <a:spcPts val="200"/>
              </a:spcAft>
              <a:buClr>
                <a:srgbClr val="E87A1E"/>
              </a:buClr>
              <a:buSzPct val="100000"/>
              <a:buFont typeface="Arial"/>
              <a:buChar char="•"/>
            </a:pPr>
            <a:r>
              <a:rPr sz="1300" b="1" i="0">
                <a:solidFill>
                  <a:srgbClr val="1C2433"/>
                </a:solidFill>
                <a:latin typeface="Calibri"/>
              </a:rPr>
              <a:t>CSV input deprecated</a:t>
            </a:r>
            <a:r>
              <a:rPr sz="1300" b="0" i="0">
                <a:solidFill>
                  <a:srgbClr val="1C2433"/>
                </a:solidFill>
                <a:latin typeface="Calibri"/>
              </a:rPr>
              <a:t> (2.9.4): the file connector still serves feed files, warns once per file, names them in Admin → Health</a:t>
            </a:r>
          </a:p>
          <a:p>
            <a:pPr algn="l" marL="201168" indent="-201168">
              <a:spcAft>
                <a:spcPts val="200"/>
              </a:spcAft>
              <a:buClr>
                <a:srgbClr val="E87A1E"/>
              </a:buClr>
              <a:buSzPct val="100000"/>
              <a:buFont typeface="Arial"/>
              <a:buChar char="•"/>
            </a:pPr>
            <a:r>
              <a:rPr sz="1200" b="0" i="0">
                <a:solidFill>
                  <a:srgbClr val="0E7C86"/>
                </a:solidFill>
                <a:latin typeface="Consolas"/>
              </a:rPr>
              <a:t>drishti.py convert trades.csv</a:t>
            </a:r>
            <a:r>
              <a:rPr sz="1300" b="0" i="0">
                <a:solidFill>
                  <a:srgbClr val="1C2433"/>
                </a:solidFill>
                <a:latin typeface="Calibri"/>
              </a:rPr>
              <a:t> → </a:t>
            </a:r>
            <a:r>
              <a:rPr sz="1200" b="0" i="0">
                <a:solidFill>
                  <a:srgbClr val="0E7C86"/>
                </a:solidFill>
                <a:latin typeface="Consolas"/>
              </a:rPr>
              <a:t>trades.jsonl</a:t>
            </a:r>
            <a:r>
              <a:rPr sz="1300" b="0" i="0">
                <a:solidFill>
                  <a:srgbClr val="1C2433"/>
                </a:solidFill>
                <a:latin typeface="Calibri"/>
              </a:rPr>
              <a:t> (also JSON arrays, gzip, folders)</a:t>
            </a:r>
          </a:p>
        </p:txBody>
      </p:sp>
      <p:sp>
        <p:nvSpPr>
          <p:cNvPr id="12" name="Rounded Rectangle 11"/>
          <p:cNvSpPr/>
          <p:nvPr/>
        </p:nvSpPr>
        <p:spPr>
          <a:xfrm>
            <a:off x="6245352" y="1188720"/>
            <a:ext cx="5532120" cy="20574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336792" y="1234440"/>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Going out</a:t>
            </a:r>
          </a:p>
        </p:txBody>
      </p:sp>
      <p:sp>
        <p:nvSpPr>
          <p:cNvPr id="14" name="TextBox 13"/>
          <p:cNvSpPr txBox="1"/>
          <p:nvPr/>
        </p:nvSpPr>
        <p:spPr>
          <a:xfrm>
            <a:off x="6336792" y="1554480"/>
            <a:ext cx="5349240" cy="1645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every export and download offers JSONL </a:t>
            </a:r>
            <a:r>
              <a:rPr sz="1300" b="1" i="0">
                <a:solidFill>
                  <a:srgbClr val="1C2433"/>
                </a:solidFill>
                <a:latin typeface="Calibri"/>
              </a:rPr>
              <a:t>beside</a:t>
            </a:r>
            <a:r>
              <a:rPr sz="1300" b="0" i="0">
                <a:solidFill>
                  <a:srgbClr val="1C2433"/>
                </a:solidFill>
                <a:latin typeface="Calibri"/>
              </a:rPr>
              <a:t> CSV, Excel, PDF, PNG</a:t>
            </a:r>
          </a:p>
          <a:p>
            <a:pPr algn="l" marL="201168" indent="-201168">
              <a:spcAft>
                <a:spcPts val="200"/>
              </a:spcAft>
              <a:buClr>
                <a:srgbClr val="E87A1E"/>
              </a:buClr>
              <a:buSzPct val="100000"/>
              <a:buFont typeface="Arial"/>
              <a:buChar char="•"/>
            </a:pPr>
            <a:r>
              <a:rPr sz="1300" b="0" i="0">
                <a:solidFill>
                  <a:srgbClr val="1C2433"/>
                </a:solidFill>
                <a:latin typeface="Calibri"/>
              </a:rPr>
              <a:t>server: </a:t>
            </a:r>
            <a:r>
              <a:rPr sz="1200" b="0" i="0">
                <a:solidFill>
                  <a:srgbClr val="0E7C86"/>
                </a:solidFill>
                <a:latin typeface="Consolas"/>
              </a:rPr>
              <a:t>search/jsonl</a:t>
            </a:r>
            <a:r>
              <a:rPr sz="1300" b="0" i="0">
                <a:solidFill>
                  <a:srgbClr val="1C2433"/>
                </a:solidFill>
                <a:latin typeface="Calibri"/>
              </a:rPr>
              <a:t>, SQL </a:t>
            </a:r>
            <a:r>
              <a:rPr sz="1200" b="0" i="0">
                <a:solidFill>
                  <a:srgbClr val="0E7C86"/>
                </a:solidFill>
                <a:latin typeface="Consolas"/>
              </a:rPr>
              <a:t>format=jsonl</a:t>
            </a:r>
            <a:r>
              <a:rPr sz="1300" b="0" i="0">
                <a:solidFill>
                  <a:srgbClr val="1C2433"/>
                </a:solidFill>
                <a:latin typeface="Calibri"/>
              </a:rPr>
              <a:t>, BI runs, statements, VaR and exposure captures</a:t>
            </a:r>
          </a:p>
          <a:p>
            <a:pPr algn="l" marL="201168" indent="-201168">
              <a:spcAft>
                <a:spcPts val="200"/>
              </a:spcAft>
              <a:buClr>
                <a:srgbClr val="E87A1E"/>
              </a:buClr>
              <a:buSzPct val="100000"/>
              <a:buFont typeface="Arial"/>
              <a:buChar char="•"/>
            </a:pPr>
            <a:r>
              <a:rPr sz="1300" b="0" i="0">
                <a:solidFill>
                  <a:srgbClr val="1C2433"/>
                </a:solidFill>
                <a:latin typeface="Calibri"/>
              </a:rPr>
              <a:t>console menus and CLI </a:t>
            </a:r>
            <a:r>
              <a:rPr sz="1200" b="0" i="0">
                <a:solidFill>
                  <a:srgbClr val="0E7C86"/>
                </a:solidFill>
                <a:latin typeface="Consolas"/>
              </a:rPr>
              <a:t>--jsonl</a:t>
            </a:r>
            <a:r>
              <a:rPr sz="1300" b="0" i="0">
                <a:solidFill>
                  <a:srgbClr val="1C2433"/>
                </a:solidFill>
                <a:latin typeface="Calibri"/>
              </a:rPr>
              <a:t>; media type </a:t>
            </a:r>
            <a:r>
              <a:rPr sz="1200" b="0" i="0">
                <a:solidFill>
                  <a:srgbClr val="0E7C86"/>
                </a:solidFill>
                <a:latin typeface="Consolas"/>
              </a:rPr>
              <a:t>application/jsonl</a:t>
            </a:r>
          </a:p>
        </p:txBody>
      </p:sp>
      <p:sp>
        <p:nvSpPr>
          <p:cNvPr id="15" name="Code block"/>
          <p:cNvSpPr/>
          <p:nvPr/>
        </p:nvSpPr>
        <p:spPr>
          <a:xfrm>
            <a:off x="411480" y="3474720"/>
            <a:ext cx="11365992" cy="9144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538727"/>
            <a:ext cx="11146536" cy="7863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convert trades.csv                                    </a:t>
            </a:r>
            <a:r>
              <a:rPr sz="1100" b="0" i="0">
                <a:solidFill>
                  <a:srgbClr val="8B9BB4"/>
                </a:solidFill>
                <a:latin typeface="Consolas"/>
              </a:rPr>
              <a:t>  # trades.jsonl, a line per row</a:t>
            </a:r>
          </a:p>
          <a:p>
            <a:pPr>
              <a:spcAft>
                <a:spcPts val="0"/>
              </a:spcAft>
              <a:buNone/>
            </a:pPr>
            <a:r>
              <a:rPr sz="1100" b="0" i="0">
                <a:solidFill>
                  <a:srgbClr val="E6EDF3"/>
                </a:solidFill>
                <a:latin typeface="Consolas"/>
              </a:rPr>
              <a:t>drishti.py convert data/feeds/fixing/SOFR-HISTORY.csv --rows-document --out data/feeds/fixing.jsonl</a:t>
            </a:r>
          </a:p>
          <a:p>
            <a:pPr>
              <a:spcAft>
                <a:spcPts val="0"/>
              </a:spcAft>
              <a:buNone/>
            </a:pPr>
            <a:r>
              <a:rPr sz="1100" b="0" i="0">
                <a:solidFill>
                  <a:srgbClr val="E6EDF3"/>
                </a:solidFill>
                <a:latin typeface="Consolas"/>
              </a:rPr>
              <a:t>drishti.py convert data/feeds/settlement                         </a:t>
            </a:r>
            <a:r>
              <a:rPr sz="1100" b="0" i="0">
                <a:solidFill>
                  <a:srgbClr val="8B9BB4"/>
                </a:solidFill>
                <a:latin typeface="Consolas"/>
              </a:rPr>
              <a:t>  # settlement.jsonl, the file name as "id"</a:t>
            </a:r>
          </a:p>
        </p:txBody>
      </p:sp>
      <p:sp>
        <p:nvSpPr>
          <p:cNvPr id="17" name="Callout"/>
          <p:cNvSpPr/>
          <p:nvPr/>
        </p:nvSpPr>
        <p:spPr>
          <a:xfrm>
            <a:off x="411480" y="4617720"/>
            <a:ext cx="11365992" cy="1234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4636007"/>
            <a:ext cx="82296" cy="1197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4690872"/>
            <a:ext cx="11000232" cy="10881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Not data, so not JSONL:</a:t>
            </a:r>
            <a:r>
              <a:rPr sz="1300" b="0" i="0">
                <a:solidFill>
                  <a:srgbClr val="1C2433"/>
                </a:solidFill>
                <a:latin typeface="Calibri"/>
              </a:rPr>
              <a:t> Delta and Iceberg Parquet, the BI store, the VaR and exposure hot files, Arrow between the server and Python, manifests. </a:t>
            </a:r>
            <a:r>
              <a:rPr sz="1300" b="1" i="0">
                <a:solidFill>
                  <a:srgbClr val="1C2433"/>
                </a:solidFill>
                <a:latin typeface="Calibri"/>
              </a:rPr>
              <a:t>The guard:</a:t>
            </a:r>
            <a:r>
              <a:rPr sz="1300" b="0" i="0">
                <a:solidFill>
                  <a:srgbClr val="1C2433"/>
                </a:solidFill>
                <a:latin typeface="Calibri"/>
              </a:rPr>
              <a:t> two drill tests check that every generator writes JSON Lines and every export entry point offers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Official results: Delta, and JSON Lines beside it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46</a:t>
            </a:r>
          </a:p>
        </p:txBody>
      </p:sp>
      <p:sp>
        <p:nvSpPr>
          <p:cNvPr id="9" name="Code block"/>
          <p:cNvSpPr/>
          <p:nvPr/>
        </p:nvSpPr>
        <p:spPr>
          <a:xfrm>
            <a:off x="411480" y="1188720"/>
            <a:ext cx="11365992" cy="12344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10642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&lt;root&gt;/risk-results/</a:t>
            </a:r>
          </a:p>
          <a:p>
            <a:pPr>
              <a:spcAft>
                <a:spcPts val="0"/>
              </a:spcAft>
              <a:buNone/>
            </a:pPr>
            <a:r>
              <a:rPr sz="1200" b="0" i="0">
                <a:solidFill>
                  <a:srgbClr val="E6EDF3"/>
                </a:solidFill>
                <a:latin typeface="Consolas"/>
              </a:rPr>
              <a:t>├── var-official/              business_date=…/   Delta, append-only, 7 years</a:t>
            </a:r>
          </a:p>
          <a:p>
            <a:pPr>
              <a:spcAft>
                <a:spcPts val="0"/>
              </a:spcAft>
              <a:buNone/>
            </a:pPr>
            <a:r>
              <a:rPr sz="1200" b="0" i="0">
                <a:solidFill>
                  <a:srgbClr val="E6EDF3"/>
                </a:solidFill>
                <a:latin typeface="Consolas"/>
              </a:rPr>
              <a:t>├── exposure-official/  exposure-official-cpty/   Delta, append-only</a:t>
            </a:r>
          </a:p>
          <a:p>
            <a:pPr>
              <a:spcAft>
                <a:spcPts val="0"/>
              </a:spcAft>
              <a:buNone/>
            </a:pPr>
            <a:r>
              <a:rPr sz="1200" b="0" i="0">
                <a:solidFill>
                  <a:srgbClr val="E6EDF3"/>
                </a:solidFill>
                <a:latin typeface="Consolas"/>
              </a:rPr>
              <a:t>└── jsonl/&lt;table&gt;/&lt;date&gt;/&lt;table&gt;-v&lt;table version&gt;.jsonl      one file per commit (2.9.4)</a:t>
            </a:r>
          </a:p>
        </p:txBody>
      </p:sp>
      <p:graphicFrame>
        <p:nvGraphicFramePr>
          <p:cNvPr id="11" name="Table"/>
          <p:cNvGraphicFramePr>
            <a:graphicFrameLocks noGrp="1"/>
          </p:cNvGraphicFramePr>
          <p:nvPr/>
        </p:nvGraphicFramePr>
        <p:xfrm>
          <a:off x="411480" y="2651760"/>
          <a:ext cx="11365991" cy="1828800"/>
        </p:xfrm>
        <a:graphic>
          <a:graphicData uri="http://schemas.openxmlformats.org/drawingml/2006/table">
            <a:tbl>
              <a:tblPr firstRow="0" bandRow="0">
                <a:tableStyleId>{5940675A-B579-460E-94D1-54222C63F5DA}</a:tableStyleId>
              </a:tblPr>
              <a:tblGrid>
                <a:gridCol w="3666449"/>
                <a:gridCol w="2383191"/>
                <a:gridCol w="5316351"/>
              </a:tblGrid>
              <a:tr h="457200">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Effect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100" b="1" i="0">
                          <a:solidFill>
                            <a:srgbClr val="0E7C86"/>
                          </a:solidFill>
                          <a:latin typeface="Consolas"/>
                        </a:rPr>
                        <a:t>drishti.var.official.jsonl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VaR publish also written as JSONL beside the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0E7C86"/>
                          </a:solidFill>
                          <a:latin typeface="Consolas"/>
                        </a:rPr>
                        <a:t>drishti.ccr.exposure.official.jsonl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each exposure publish also written as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0E7C86"/>
                          </a:solidFill>
                          <a:latin typeface="Consolas"/>
                        </a:rPr>
                        <a:t>drishti.var.official.root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${DRISHTI_DELTA_ROOT}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where both are written; an </a:t>
                      </a:r>
                      <a:r>
                        <a:rPr sz="1100" b="0" i="0">
                          <a:solidFill>
                            <a:srgbClr val="0E7C86"/>
                          </a:solidFill>
                          <a:latin typeface="Consolas"/>
                        </a:rPr>
                        <a:t>s3://</a:t>
                      </a:r>
                      <a:r>
                        <a:rPr sz="1200" b="0" i="0">
                          <a:solidFill>
                            <a:srgbClr val="1C2433"/>
                          </a:solidFill>
                          <a:latin typeface="Calibri"/>
                        </a:rPr>
                        <a:t> root is not written (publishError)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TextBox 11"/>
          <p:cNvSpPr txBox="1"/>
          <p:nvPr/>
        </p:nvSpPr>
        <p:spPr>
          <a:xfrm>
            <a:off x="411480" y="4617720"/>
            <a:ext cx="11365992" cy="173736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A restatement is a new file, never a rewrite: the files follow the table's append-only versions</a:t>
            </a:r>
          </a:p>
          <a:p>
            <a:pPr algn="l" marL="201168" indent="-201168">
              <a:spcAft>
                <a:spcPts val="600"/>
              </a:spcAft>
              <a:buClr>
                <a:srgbClr val="E87A1E"/>
              </a:buClr>
              <a:buSzPct val="100000"/>
              <a:buFont typeface="Arial"/>
              <a:buChar char="•"/>
            </a:pPr>
            <a:r>
              <a:rPr sz="1400" b="0" i="0">
                <a:solidFill>
                  <a:srgbClr val="1C2433"/>
                </a:solidFill>
                <a:latin typeface="Calibri"/>
              </a:rPr>
              <a:t>Content-store row lists are JSONL too: </a:t>
            </a:r>
            <a:r>
              <a:rPr sz="1300" b="0" i="0">
                <a:solidFill>
                  <a:srgbClr val="0E7C86"/>
                </a:solidFill>
                <a:latin typeface="Consolas"/>
              </a:rPr>
              <a:t>var/official/&lt;date&gt;-membership-v&lt;n&gt;.jsonl</a:t>
            </a:r>
            <a:r>
              <a:rPr sz="1400" b="0" i="0">
                <a:solidFill>
                  <a:srgbClr val="1C2433"/>
                </a:solidFill>
                <a:latin typeface="Calibri"/>
              </a:rPr>
              <a:t>, </a:t>
            </a:r>
            <a:r>
              <a:rPr sz="1300" b="0" i="0">
                <a:solidFill>
                  <a:srgbClr val="0E7C86"/>
                </a:solidFill>
                <a:latin typeface="Consolas"/>
              </a:rPr>
              <a:t>exposure/official/&lt;date&gt;-trades-v&lt;n&gt;.jsonl</a:t>
            </a:r>
          </a:p>
          <a:p>
            <a:pPr algn="l" marL="201168" indent="-201168">
              <a:spcAft>
                <a:spcPts val="600"/>
              </a:spcAft>
              <a:buClr>
                <a:srgbClr val="E87A1E"/>
              </a:buClr>
              <a:buSzPct val="100000"/>
              <a:buFont typeface="Arial"/>
              <a:buChar char="•"/>
            </a:pPr>
            <a:r>
              <a:rPr sz="1400" b="0" i="0">
                <a:solidFill>
                  <a:srgbClr val="1C2433"/>
                </a:solidFill>
                <a:latin typeface="Calibri"/>
              </a:rPr>
              <a:t>Records written before 2.9.4 stay </a:t>
            </a:r>
            <a:r>
              <a:rPr sz="1300" b="0" i="0">
                <a:solidFill>
                  <a:srgbClr val="0E7C86"/>
                </a:solidFill>
                <a:latin typeface="Consolas"/>
              </a:rPr>
              <a:t>.json</a:t>
            </a:r>
            <a:r>
              <a:rPr sz="1400" b="0" i="0">
                <a:solidFill>
                  <a:srgbClr val="1C2433"/>
                </a:solidFill>
                <a:latin typeface="Calibri"/>
              </a:rPr>
              <a:t> and are read as they are: the store is append-only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09</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Loading</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daily load, the data-load signal, why concurrent commits are safe, backfill and restatement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9.1 The daily load (load-day.sh)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48</a:t>
            </a:r>
          </a:p>
        </p:txBody>
      </p:sp>
      <p:sp>
        <p:nvSpPr>
          <p:cNvPr id="9" name="Code block"/>
          <p:cNvSpPr/>
          <p:nvPr/>
        </p:nvSpPr>
        <p:spPr>
          <a:xfrm>
            <a:off x="411480" y="1188720"/>
            <a:ext cx="11365992" cy="30632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293522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 EventBridge Scheduler (LOAD_SCHEDULE, LOAD_SCHEDULE_ZONE)</a:t>
            </a:r>
          </a:p>
          <a:p>
            <a:pPr>
              <a:spcAft>
                <a:spcPts val="0"/>
              </a:spcAft>
              <a:buNone/>
            </a:pPr>
            <a:r>
              <a:rPr sz="1100" b="0" i="0">
                <a:solidFill>
                  <a:srgbClr val="E6EDF3"/>
                </a:solidFill>
                <a:latin typeface="Consolas"/>
              </a:rPr>
              <a:t>   └─► ECS RunTask drishti-&lt;env&gt;-loader ─► loader-entrypoint.sh (EFS mounted? writable?) ─► load-day.sh</a:t>
            </a:r>
          </a:p>
          <a:p>
            <a:pPr>
              <a:spcAft>
                <a:spcPts val="0"/>
              </a:spcAft>
              <a:buNone/>
            </a:pPr>
            <a:r>
              <a:rPr sz="1100" b="0" i="0">
                <a:solidFill>
                  <a:srgbClr val="E6EDF3"/>
                </a:solidFill>
                <a:latin typeface="Consolas"/>
              </a:rPr>
              <a:t>          for each table of LAKE_TABLES_FILE:</a:t>
            </a:r>
          </a:p>
          <a:p>
            <a:pPr>
              <a:spcAft>
                <a:spcPts val="0"/>
              </a:spcAft>
              <a:buNone/>
            </a:pPr>
            <a:r>
              <a:rPr sz="1100" b="0" i="0">
                <a:solidFill>
                  <a:srgbClr val="E6EDF3"/>
                </a:solidFill>
                <a:latin typeface="Consolas"/>
              </a:rPr>
              <a:t>            flock  /opt/drishti/data/lake-locks/&lt;domain&gt;--&lt;table&gt;.lock   (held: exit 3)</a:t>
            </a:r>
          </a:p>
          <a:p>
            <a:pPr>
              <a:spcAft>
                <a:spcPts val="0"/>
              </a:spcAft>
              <a:buNone/>
            </a:pPr>
            <a:r>
              <a:rPr sz="1100" b="0" i="0">
                <a:solidFill>
                  <a:srgbClr val="E6EDF3"/>
                </a:solidFill>
                <a:latin typeface="Consolas"/>
              </a:rPr>
              <a:t>            aws s3 sync   s3://landing/&lt;date&gt;/&lt;source&gt;/  →  scratch/in/&lt;table&gt;/      (JSON Lines)</a:t>
            </a:r>
          </a:p>
          <a:p>
            <a:pPr>
              <a:spcAft>
                <a:spcPts val="0"/>
              </a:spcAft>
              <a:buNone/>
            </a:pPr>
            <a:r>
              <a:rPr sz="1100" b="0" i="0">
                <a:solidFill>
                  <a:srgbClr val="E6EDF3"/>
                </a:solidFill>
                <a:latin typeface="Consolas"/>
              </a:rPr>
              <a:t>            drishti.py lake build   --from scratch/in/&lt;table&gt; -r --kind trade --pack config/packs/trading</a:t>
            </a:r>
          </a:p>
          <a:p>
            <a:pPr>
              <a:spcAft>
                <a:spcPts val="0"/>
              </a:spcAft>
              <a:buNone/>
            </a:pPr>
            <a:r>
              <a:rPr sz="1100" b="0" i="0">
                <a:solidFill>
                  <a:srgbClr val="E6EDF3"/>
                </a:solidFill>
                <a:latin typeface="Consolas"/>
              </a:rPr>
              <a:t>                                    --mode overwrite-dates --batch-rows 250000 --partition-by PRODUCT_TYPE …</a:t>
            </a:r>
          </a:p>
          <a:p>
            <a:pPr>
              <a:spcAft>
                <a:spcPts val="0"/>
              </a:spcAft>
              <a:buNone/>
            </a:pPr>
            <a:r>
              <a:rPr sz="1100" b="0" i="0">
                <a:solidFill>
                  <a:srgbClr val="E6EDF3"/>
                </a:solidFill>
                <a:latin typeface="Consolas"/>
              </a:rPr>
              <a:t>            aws s3 sync   scratch/lake/trading/trade_endur/ → s3://lake/…/trade_endur/  --exclude "_delta_log/*"</a:t>
            </a:r>
          </a:p>
          <a:p>
            <a:pPr>
              <a:spcAft>
                <a:spcPts val="0"/>
              </a:spcAft>
              <a:buNone/>
            </a:pPr>
            <a:r>
              <a:rPr sz="1100" b="0" i="0">
                <a:solidFill>
                  <a:srgbClr val="E6EDF3"/>
                </a:solidFill>
                <a:latin typeface="Consolas"/>
              </a:rPr>
              <a:t>            drishti.py lake publish --from scratch/lake/… --to s3://…/trade_endur --dates &lt;date&gt; [--signal …]</a:t>
            </a:r>
          </a:p>
          <a:p>
            <a:pPr>
              <a:spcAft>
                <a:spcPts val="0"/>
              </a:spcAft>
              <a:buNone/>
            </a:pPr>
            <a:r>
              <a:rPr sz="1100" b="0" i="0">
                <a:solidFill>
                  <a:srgbClr val="E6EDF3"/>
                </a:solidFill>
                <a:latin typeface="Consolas"/>
              </a:rPr>
              <a:t>            CloudWatch Drishti/Lake: LoadSucceeded, PublishedBusinessDate, LoadSeconds</a:t>
            </a:r>
          </a:p>
          <a:p>
            <a:pPr>
              <a:spcAft>
                <a:spcPts val="0"/>
              </a:spcAft>
              <a:buNone/>
            </a:pPr>
            <a:r>
              <a:rPr sz="1100" b="0" i="0">
                <a:solidFill>
                  <a:srgbClr val="E6EDF3"/>
                </a:solidFill>
                <a:latin typeface="Consolas"/>
              </a:rPr>
              <a:t>          scratch removed (always)</a:t>
            </a:r>
          </a:p>
        </p:txBody>
      </p:sp>
      <p:graphicFrame>
        <p:nvGraphicFramePr>
          <p:cNvPr id="11" name="Table"/>
          <p:cNvGraphicFramePr>
            <a:graphicFrameLocks noGrp="1"/>
          </p:cNvGraphicFramePr>
          <p:nvPr/>
        </p:nvGraphicFramePr>
        <p:xfrm>
          <a:off x="411480" y="4434840"/>
          <a:ext cx="6035040" cy="1828800"/>
        </p:xfrm>
        <a:graphic>
          <a:graphicData uri="http://schemas.openxmlformats.org/drawingml/2006/table">
            <a:tbl>
              <a:tblPr firstRow="0" bandRow="0">
                <a:tableStyleId>{5940675A-B579-460E-94D1-54222C63F5DA}</a:tableStyleId>
              </a:tblPr>
              <a:tblGrid>
                <a:gridCol w="731520"/>
                <a:gridCol w="5303520"/>
              </a:tblGrid>
              <a:tr h="365760">
                <a:tc>
                  <a:txBody>
                    <a:bodyPr wrap="square"/>
                    <a:lstStyle/>
                    <a:p>
                      <a:r>
                        <a:rPr sz="1200" b="1" i="0">
                          <a:solidFill>
                            <a:srgbClr val="FFFFFF"/>
                          </a:solidFill>
                          <a:latin typeface="Calibri"/>
                        </a:rPr>
                        <a:t>Exit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65760">
                <a:tc>
                  <a:txBody>
                    <a:bodyPr wrap="square"/>
                    <a:lstStyle/>
                    <a:p>
                      <a:r>
                        <a:rPr sz="1200" b="1" i="0">
                          <a:solidFill>
                            <a:srgbClr val="1C2433"/>
                          </a:solidFill>
                          <a:latin typeface="Calibri"/>
                        </a:rPr>
                        <a:t>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table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65760">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published with rejected documents (the summary says which)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65760">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table failed: its S3 table is unchanged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65760">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table was locked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2" name="Callout"/>
          <p:cNvSpPr/>
          <p:nvPr/>
        </p:nvSpPr>
        <p:spPr>
          <a:xfrm>
            <a:off x="6720840" y="4434840"/>
            <a:ext cx="5056632" cy="18288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6720840" y="4453127"/>
            <a:ext cx="82296" cy="17922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949440" y="4507992"/>
            <a:ext cx="4690872" cy="16824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date defaults to today in </a:t>
            </a:r>
            <a:r>
              <a:rPr sz="1200" b="0" i="0">
                <a:solidFill>
                  <a:srgbClr val="0E7C86"/>
                </a:solidFill>
                <a:latin typeface="Consolas"/>
              </a:rPr>
              <a:t>LOAD_SCHEDULE_ZONE</a:t>
            </a:r>
            <a:r>
              <a:rPr sz="1300" b="0" i="0">
                <a:solidFill>
                  <a:srgbClr val="1C2433"/>
                </a:solidFill>
                <a:latin typeface="Calibri"/>
              </a:rPr>
              <a:t>, the zone the schedule runs in: an evening load in New York is already the next day in UTC.</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9.1 The data-load signal</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49</a:t>
            </a:r>
          </a:p>
        </p:txBody>
      </p:sp>
      <p:sp>
        <p:nvSpPr>
          <p:cNvPr id="9" name="Rounded Rectangle 8"/>
          <p:cNvSpPr/>
          <p:nvPr/>
        </p:nvSpPr>
        <p:spPr>
          <a:xfrm>
            <a:off x="411480"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publish</a:t>
            </a:r>
          </a:p>
        </p:txBody>
      </p:sp>
      <p:sp>
        <p:nvSpPr>
          <p:cNvPr id="11" name="TextBox 10"/>
          <p:cNvSpPr txBox="1"/>
          <p:nvPr/>
        </p:nvSpPr>
        <p:spPr>
          <a:xfrm>
            <a:off x="502920"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commit on S3</a:t>
            </a:r>
          </a:p>
        </p:txBody>
      </p:sp>
      <p:cxnSp>
        <p:nvCxnSpPr>
          <p:cNvPr id="12" name="Connector 11"/>
          <p:cNvCxnSpPr/>
          <p:nvPr/>
        </p:nvCxnSpPr>
        <p:spPr>
          <a:xfrm>
            <a:off x="3017520"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28416"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419856"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POST /api/v1/packs/{pack}/loads</a:t>
            </a:r>
          </a:p>
        </p:txBody>
      </p:sp>
      <p:sp>
        <p:nvSpPr>
          <p:cNvPr id="15" name="TextBox 14"/>
          <p:cNvSpPr txBox="1"/>
          <p:nvPr/>
        </p:nvSpPr>
        <p:spPr>
          <a:xfrm>
            <a:off x="3419856"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per date, a </a:t>
            </a:r>
            <a:r>
              <a:rPr sz="1100" b="0" i="0">
                <a:solidFill>
                  <a:srgbClr val="0E7C86"/>
                </a:solidFill>
                <a:latin typeface="Consolas"/>
              </a:rPr>
              <a:t>loads:write</a:t>
            </a:r>
            <a:r>
              <a:rPr sz="1200" b="0" i="0">
                <a:solidFill>
                  <a:srgbClr val="1C2433"/>
                </a:solidFill>
                <a:latin typeface="Calibri"/>
              </a:rPr>
              <a:t> token</a:t>
            </a:r>
          </a:p>
        </p:txBody>
      </p:sp>
      <p:cxnSp>
        <p:nvCxnSpPr>
          <p:cNvPr id="16" name="Connector 15"/>
          <p:cNvCxnSpPr/>
          <p:nvPr/>
        </p:nvCxnSpPr>
        <p:spPr>
          <a:xfrm>
            <a:off x="5934456"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45352"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336792"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server</a:t>
            </a:r>
          </a:p>
        </p:txBody>
      </p:sp>
      <p:sp>
        <p:nvSpPr>
          <p:cNvPr id="19" name="TextBox 18"/>
          <p:cNvSpPr txBox="1"/>
          <p:nvPr/>
        </p:nvSpPr>
        <p:spPr>
          <a:xfrm>
            <a:off x="6336792"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refresh, verify, alert (DATA_LOADS.md)</a:t>
            </a:r>
          </a:p>
        </p:txBody>
      </p:sp>
      <p:cxnSp>
        <p:nvCxnSpPr>
          <p:cNvPr id="20" name="Connector 19"/>
          <p:cNvCxnSpPr/>
          <p:nvPr/>
        </p:nvCxnSpPr>
        <p:spPr>
          <a:xfrm>
            <a:off x="8851392"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62288" y="1188720"/>
            <a:ext cx="2606040" cy="10972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253728"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 engines</a:t>
            </a:r>
          </a:p>
        </p:txBody>
      </p:sp>
      <p:sp>
        <p:nvSpPr>
          <p:cNvPr id="23" name="TextBox 22"/>
          <p:cNvSpPr txBox="1"/>
          <p:nvPr/>
        </p:nvSpPr>
        <p:spPr>
          <a:xfrm>
            <a:off x="9253728"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VaR: reload + official capture</a:t>
            </a:r>
          </a:p>
          <a:p>
            <a:pPr algn="l" marL="201168" indent="-201168">
              <a:spcAft>
                <a:spcPts val="200"/>
              </a:spcAft>
              <a:buClr>
                <a:srgbClr val="E87A1E"/>
              </a:buClr>
              <a:buSzPct val="100000"/>
              <a:buFont typeface="Arial"/>
              <a:buChar char="•"/>
            </a:pPr>
            <a:r>
              <a:rPr sz="1200" b="0" i="0">
                <a:solidFill>
                  <a:srgbClr val="1C2433"/>
                </a:solidFill>
                <a:latin typeface="Calibri"/>
              </a:rPr>
              <a:t>exposure: reload</a:t>
            </a:r>
          </a:p>
        </p:txBody>
      </p:sp>
      <p:sp>
        <p:nvSpPr>
          <p:cNvPr id="24" name="TextBox 23"/>
          <p:cNvSpPr txBox="1"/>
          <p:nvPr/>
        </p:nvSpPr>
        <p:spPr>
          <a:xfrm>
            <a:off x="411480" y="2697480"/>
            <a:ext cx="11365992" cy="27432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With </a:t>
            </a:r>
            <a:r>
              <a:rPr sz="1300" b="0" i="0">
                <a:solidFill>
                  <a:srgbClr val="0E7C86"/>
                </a:solidFill>
                <a:latin typeface="Consolas"/>
              </a:rPr>
              <a:t>DRISHTI_SIGNAL_URL</a:t>
            </a:r>
            <a:r>
              <a:rPr sz="1400" b="0" i="0">
                <a:solidFill>
                  <a:srgbClr val="1C2433"/>
                </a:solidFill>
                <a:latin typeface="Calibri"/>
              </a:rPr>
              <a:t> (a node's Cloud Map name) and </a:t>
            </a:r>
            <a:r>
              <a:rPr sz="1300" b="0" i="0">
                <a:solidFill>
                  <a:srgbClr val="0E7C86"/>
                </a:solidFill>
                <a:latin typeface="Consolas"/>
              </a:rPr>
              <a:t>DRISHTI_TOKEN_SECRET_ID</a:t>
            </a:r>
            <a:r>
              <a:rPr sz="1400" b="0" i="0">
                <a:solidFill>
                  <a:srgbClr val="1C2433"/>
                </a:solidFill>
                <a:latin typeface="Calibri"/>
              </a:rPr>
              <a:t> (an API token with </a:t>
            </a:r>
            <a:r>
              <a:rPr sz="1300" b="0" i="0">
                <a:solidFill>
                  <a:srgbClr val="0E7C86"/>
                </a:solidFill>
                <a:latin typeface="Consolas"/>
              </a:rPr>
              <a:t>loads:write</a:t>
            </a:r>
            <a:r>
              <a:rPr sz="1400" b="0" i="0">
                <a:solidFill>
                  <a:srgbClr val="1C2433"/>
                </a:solidFill>
                <a:latin typeface="Calibri"/>
              </a:rPr>
              <a:t>, read into a 0600 file)</a:t>
            </a:r>
          </a:p>
          <a:p>
            <a:pPr algn="l" marL="201168" indent="-201168">
              <a:spcAft>
                <a:spcPts val="700"/>
              </a:spcAft>
              <a:buClr>
                <a:srgbClr val="E87A1E"/>
              </a:buClr>
              <a:buSzPct val="100000"/>
              <a:buFont typeface="Arial"/>
              <a:buChar char="•"/>
            </a:pPr>
            <a:r>
              <a:rPr sz="1400" b="0" i="0">
                <a:solidFill>
                  <a:srgbClr val="1C2433"/>
                </a:solidFill>
                <a:latin typeface="Calibri"/>
              </a:rPr>
              <a:t>Without it, servers see the new table version at their next refresh (</a:t>
            </a:r>
            <a:r>
              <a:rPr sz="1300" b="0" i="0">
                <a:solidFill>
                  <a:srgbClr val="0E7C86"/>
                </a:solidFill>
                <a:latin typeface="Consolas"/>
              </a:rPr>
              <a:t>refresh-seconds</a:t>
            </a:r>
            <a:r>
              <a:rPr sz="1400" b="0" i="0">
                <a:solidFill>
                  <a:srgbClr val="1C2433"/>
                </a:solidFill>
                <a:latin typeface="Calibri"/>
              </a:rPr>
              <a:t>, 10)</a:t>
            </a:r>
          </a:p>
          <a:p>
            <a:pPr algn="l" marL="201168" indent="-201168">
              <a:spcAft>
                <a:spcPts val="700"/>
              </a:spcAft>
              <a:buClr>
                <a:srgbClr val="E87A1E"/>
              </a:buClr>
              <a:buSzPct val="100000"/>
              <a:buFont typeface="Arial"/>
              <a:buChar char="•"/>
            </a:pPr>
            <a:r>
              <a:rPr sz="1400" b="0" i="0">
                <a:solidFill>
                  <a:srgbClr val="1C2433"/>
                </a:solidFill>
                <a:latin typeface="Calibri"/>
              </a:rPr>
              <a:t>Either way readers switch at the commit; the signal makes it immediate and runs the load's expectations and alerts</a:t>
            </a:r>
          </a:p>
          <a:p>
            <a:pPr algn="l" marL="201168" indent="-201168">
              <a:spcAft>
                <a:spcPts val="700"/>
              </a:spcAft>
              <a:buClr>
                <a:srgbClr val="E87A1E"/>
              </a:buClr>
              <a:buSzPct val="100000"/>
              <a:buFont typeface="Arial"/>
              <a:buChar char="•"/>
            </a:pPr>
            <a:r>
              <a:rPr sz="1400" b="1" i="0">
                <a:solidFill>
                  <a:srgbClr val="1C2433"/>
                </a:solidFill>
                <a:latin typeface="Calibri"/>
              </a:rPr>
              <a:t>Risk kinds (2.8.0):</a:t>
            </a:r>
            <a:r>
              <a:rPr sz="1400" b="0" i="0">
                <a:solidFill>
                  <a:srgbClr val="1C2433"/>
                </a:solidFill>
                <a:latin typeface="Calibri"/>
              </a:rPr>
              <a:t> a </a:t>
            </a:r>
            <a:r>
              <a:rPr sz="1300" b="0" i="0">
                <a:solidFill>
                  <a:srgbClr val="0E7C86"/>
                </a:solidFill>
                <a:latin typeface="Consolas"/>
              </a:rPr>
              <a:t>pnl-vector</a:t>
            </a:r>
            <a:r>
              <a:rPr sz="1400" b="0" i="0">
                <a:solidFill>
                  <a:srgbClr val="1C2433"/>
                </a:solidFill>
                <a:latin typeface="Calibri"/>
              </a:rPr>
              <a:t>, </a:t>
            </a:r>
            <a:r>
              <a:rPr sz="1300" b="0" i="0">
                <a:solidFill>
                  <a:srgbClr val="0E7C86"/>
                </a:solidFill>
                <a:latin typeface="Consolas"/>
              </a:rPr>
              <a:t>scenario-pv</a:t>
            </a:r>
            <a:r>
              <a:rPr sz="1400" b="0" i="0">
                <a:solidFill>
                  <a:srgbClr val="1C2433"/>
                </a:solidFill>
                <a:latin typeface="Calibri"/>
              </a:rPr>
              <a:t>, </a:t>
            </a:r>
            <a:r>
              <a:rPr sz="1300" b="0" i="0">
                <a:solidFill>
                  <a:srgbClr val="0E7C86"/>
                </a:solidFill>
                <a:latin typeface="Consolas"/>
              </a:rPr>
              <a:t>scenario-set</a:t>
            </a:r>
            <a:r>
              <a:rPr sz="1400" b="0" i="0">
                <a:solidFill>
                  <a:srgbClr val="1C2433"/>
                </a:solidFill>
                <a:latin typeface="Calibri"/>
              </a:rPr>
              <a:t>, </a:t>
            </a:r>
            <a:r>
              <a:rPr sz="1300" b="0" i="0">
                <a:solidFill>
                  <a:srgbClr val="0E7C86"/>
                </a:solidFill>
                <a:latin typeface="Consolas"/>
              </a:rPr>
              <a:t>risk-hierarchy</a:t>
            </a:r>
            <a:r>
              <a:rPr sz="1400" b="0" i="0">
                <a:solidFill>
                  <a:srgbClr val="1C2433"/>
                </a:solidFill>
                <a:latin typeface="Calibri"/>
              </a:rPr>
              <a:t> or </a:t>
            </a:r>
            <a:r>
              <a:rPr sz="1300" b="0" i="0">
                <a:solidFill>
                  <a:srgbClr val="0E7C86"/>
                </a:solidFill>
                <a:latin typeface="Consolas"/>
              </a:rPr>
              <a:t>portfolio</a:t>
            </a:r>
            <a:r>
              <a:rPr sz="1400" b="0" i="0">
                <a:solidFill>
                  <a:srgbClr val="1C2433"/>
                </a:solidFill>
                <a:latin typeface="Calibri"/>
              </a:rPr>
              <a:t> signal reloads the VaR date and captures it officially; an intraday batch is applied on top; an </a:t>
            </a:r>
            <a:r>
              <a:rPr sz="1300" b="0" i="0">
                <a:solidFill>
                  <a:srgbClr val="0E7C86"/>
                </a:solidFill>
                <a:latin typeface="Consolas"/>
              </a:rPr>
              <a:t>exposure-path</a:t>
            </a:r>
            <a:r>
              <a:rPr sz="1400" b="0" i="0">
                <a:solidFill>
                  <a:srgbClr val="1C2433"/>
                </a:solidFill>
                <a:latin typeface="Calibri"/>
              </a:rPr>
              <a:t> signal reloads exposure</a:t>
            </a:r>
          </a:p>
        </p:txBody>
      </p:sp>
      <p:sp>
        <p:nvSpPr>
          <p:cNvPr id="25" name="Callout"/>
          <p:cNvSpPr/>
          <p:nvPr/>
        </p:nvSpPr>
        <p:spPr>
          <a:xfrm>
            <a:off x="411480" y="5532120"/>
            <a:ext cx="11365992" cy="777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llout edge"/>
          <p:cNvSpPr/>
          <p:nvPr/>
        </p:nvSpPr>
        <p:spPr>
          <a:xfrm>
            <a:off x="411480" y="5550407"/>
            <a:ext cx="82296" cy="7406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605272"/>
            <a:ext cx="11000232" cy="6309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Signals are safe in bursts since 2.6.7: reads queue at most </a:t>
            </a:r>
            <a:r>
              <a:rPr sz="1200" b="0" i="0">
                <a:solidFill>
                  <a:srgbClr val="0E7C86"/>
                </a:solidFill>
                <a:latin typeface="Consolas"/>
              </a:rPr>
              <a:t>max-queued-reads</a:t>
            </a:r>
            <a:r>
              <a:rPr sz="1300" b="0" i="0">
                <a:solidFill>
                  <a:srgbClr val="1C2433"/>
                </a:solidFill>
                <a:latin typeface="Calibri"/>
              </a:rPr>
              <a:t> (4,096) and a read whose caller has gone leaves the queue.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9.2 Why concurrent commits are safe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50</a:t>
            </a:r>
          </a:p>
        </p:txBody>
      </p:sp>
      <p:graphicFrame>
        <p:nvGraphicFramePr>
          <p:cNvPr id="9" name="Table"/>
          <p:cNvGraphicFramePr>
            <a:graphicFrameLocks noGrp="1"/>
          </p:cNvGraphicFramePr>
          <p:nvPr/>
        </p:nvGraphicFramePr>
        <p:xfrm>
          <a:off x="411480" y="1188720"/>
          <a:ext cx="11365991" cy="3566160"/>
        </p:xfrm>
        <a:graphic>
          <a:graphicData uri="http://schemas.openxmlformats.org/drawingml/2006/table">
            <a:tbl>
              <a:tblPr firstRow="0" bandRow="0">
                <a:tableStyleId>{5940675A-B579-460E-94D1-54222C63F5DA}</a:tableStyleId>
              </a:tblPr>
              <a:tblGrid>
                <a:gridCol w="4033093"/>
                <a:gridCol w="7332898"/>
              </a:tblGrid>
              <a:tr h="713232">
                <a:tc>
                  <a:txBody>
                    <a:bodyPr wrap="square"/>
                    <a:lstStyle/>
                    <a:p>
                      <a:r>
                        <a:rPr sz="1200" b="1" i="0">
                          <a:solidFill>
                            <a:srgbClr val="FFFFFF"/>
                          </a:solidFill>
                          <a:latin typeface="Calibri"/>
                        </a:rPr>
                        <a:t>Writer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How it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13232">
                <a:tc>
                  <a:txBody>
                    <a:bodyPr wrap="square"/>
                    <a:lstStyle/>
                    <a:p>
                      <a:r>
                        <a:rPr sz="1100" b="1" i="0">
                          <a:solidFill>
                            <a:srgbClr val="0E7C86"/>
                          </a:solidFill>
                          <a:latin typeface="Consolas"/>
                        </a:rPr>
                        <a:t>lake publish</a:t>
                      </a:r>
                      <a:r>
                        <a:rPr sz="1200" b="1" i="0">
                          <a:solidFill>
                            <a:srgbClr val="1C2433"/>
                          </a:solidFill>
                          <a:latin typeface="Calibri"/>
                        </a:rPr>
                        <a:t>, </a:t>
                      </a:r>
                      <a:r>
                        <a:rPr sz="1100" b="1" i="0">
                          <a:solidFill>
                            <a:srgbClr val="0E7C86"/>
                          </a:solidFill>
                          <a:latin typeface="Consolas"/>
                        </a:rPr>
                        <a:t>lake maintain</a:t>
                      </a:r>
                      <a:r>
                        <a:rPr sz="1200" b="1" i="0">
                          <a:solidFill>
                            <a:srgbClr val="1C2433"/>
                          </a:solidFill>
                          <a:latin typeface="Calibri"/>
                        </a:rPr>
                        <a:t> (Python deltalake 1.x)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conditional PUT of the commit file (</a:t>
                      </a:r>
                      <a:r>
                        <a:rPr sz="1100" b="0" i="0">
                          <a:solidFill>
                            <a:srgbClr val="0E7C86"/>
                          </a:solidFill>
                          <a:latin typeface="Consolas"/>
                        </a:rPr>
                        <a:t>If-None-Match: *</a:t>
                      </a:r>
                      <a:r>
                        <a:rPr sz="1200" b="0" i="0">
                          <a:solidFill>
                            <a:srgbClr val="1C2433"/>
                          </a:solidFill>
                          <a:latin typeface="Calibri"/>
                        </a:rPr>
                        <a:t>): the second writer gets 412, re-reads the log and retries (20); no DynamoDB lock; unsafe rename refused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13232">
                <a:tc>
                  <a:txBody>
                    <a:bodyPr wrap="square"/>
                    <a:lstStyle/>
                    <a:p>
                      <a:r>
                        <a:rPr sz="1200" b="1" i="0">
                          <a:solidFill>
                            <a:srgbClr val="1C2433"/>
                          </a:solidFill>
                          <a:latin typeface="Calibri"/>
                        </a:rPr>
                        <a:t>Drishti's Java writer (</a:t>
                      </a:r>
                      <a:r>
                        <a:rPr sz="1100" b="1" i="0">
                          <a:solidFill>
                            <a:srgbClr val="0E7C86"/>
                          </a:solidFill>
                          <a:latin typeface="Consolas"/>
                        </a:rPr>
                        <a:t>lake build</a:t>
                      </a:r>
                      <a:r>
                        <a:rPr sz="1200" b="1" i="0">
                          <a:solidFill>
                            <a:srgbClr val="1C2433"/>
                          </a:solidFill>
                          <a:latin typeface="Calibri"/>
                        </a:rPr>
                        <a:t>, the official-results publishers, Kafka intraday batches)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local disk and EFS only (a hard link of a finished commit file); never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13232">
                <a:tc>
                  <a:txBody>
                    <a:bodyPr wrap="square"/>
                    <a:lstStyle/>
                    <a:p>
                      <a:r>
                        <a:rPr sz="1200" b="1" i="0">
                          <a:solidFill>
                            <a:srgbClr val="1C2433"/>
                          </a:solidFill>
                          <a:latin typeface="Calibri"/>
                        </a:rPr>
                        <a:t>Drishti's native Iceberg writer (drishti-lakeio)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same conditional PUT, with a start-up probe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13232">
                <a:tc>
                  <a:txBody>
                    <a:bodyPr wrap="square"/>
                    <a:lstStyle/>
                    <a:p>
                      <a:r>
                        <a:rPr sz="1200" b="1" i="0">
                          <a:solidFill>
                            <a:srgbClr val="1C2433"/>
                          </a:solidFill>
                          <a:latin typeface="Calibri"/>
                        </a:rPr>
                        <a:t>The content store's s3 backend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If-None-Match: *</a:t>
                      </a:r>
                      <a:r>
                        <a:rPr sz="1200" b="0" i="0">
                          <a:solidFill>
                            <a:srgbClr val="1C2433"/>
                          </a:solidFill>
                          <a:latin typeface="Calibri"/>
                        </a:rPr>
                        <a:t> to create, </a:t>
                      </a:r>
                      <a:r>
                        <a:rPr sz="1100" b="0" i="0">
                          <a:solidFill>
                            <a:srgbClr val="0E7C86"/>
                          </a:solidFill>
                          <a:latin typeface="Consolas"/>
                        </a:rPr>
                        <a:t>If-Match: &lt;ETag&gt;</a:t>
                      </a:r>
                      <a:r>
                        <a:rPr sz="1200" b="0" i="0">
                          <a:solidFill>
                            <a:srgbClr val="1C2433"/>
                          </a:solidFill>
                          <a:latin typeface="Calibri"/>
                        </a:rPr>
                        <a:t> to update; the loser gets </a:t>
                      </a:r>
                      <a:r>
                        <a:rPr sz="1100" b="0" i="0">
                          <a:solidFill>
                            <a:srgbClr val="0E7C86"/>
                          </a:solidFill>
                          <a:latin typeface="Consolas"/>
                        </a:rPr>
                        <a:t>409 DRS-5057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411480" y="4892040"/>
            <a:ext cx="11365992" cy="14173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4910327"/>
            <a:ext cx="82296" cy="13807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Two layers of safety.</a:t>
            </a:r>
            <a:r>
              <a:rPr sz="1300" b="0" i="0">
                <a:solidFill>
                  <a:srgbClr val="1C2433"/>
                </a:solidFill>
                <a:latin typeface="Calibri"/>
              </a:rPr>
              <a:t> </a:t>
            </a:r>
            <a:r>
              <a:rPr sz="1200" b="0" i="0">
                <a:solidFill>
                  <a:srgbClr val="0E7C86"/>
                </a:solidFill>
                <a:latin typeface="Consolas"/>
              </a:rPr>
              <a:t>check-conditional-writes.sh</a:t>
            </a:r>
            <a:r>
              <a:rPr sz="1300" b="0" i="0">
                <a:solidFill>
                  <a:srgbClr val="1C2433"/>
                </a:solidFill>
                <a:latin typeface="Calibri"/>
              </a:rPr>
              <a:t> proves the bucket refuses a second create. On top, the scripts take a lock per table on EFS (flock, NFSv4 byte-range locks, released if a task dies), so a load, a backfill and maintenance of one table never overlap. </a:t>
            </a:r>
            <a:r>
              <a:rPr sz="1300" b="1" i="0">
                <a:solidFill>
                  <a:srgbClr val="1C2433"/>
                </a:solidFill>
                <a:latin typeface="Calibri"/>
              </a:rPr>
              <a:t>Tested:</a:t>
            </a:r>
            <a:r>
              <a:rPr sz="1300" b="0" i="0">
                <a:solidFill>
                  <a:srgbClr val="1C2433"/>
                </a:solidFill>
                <a:latin typeface="Calibri"/>
              </a:rPr>
              <a:t> three </a:t>
            </a:r>
            <a:r>
              <a:rPr sz="1200" b="0" i="0">
                <a:solidFill>
                  <a:srgbClr val="0E7C86"/>
                </a:solidFill>
                <a:latin typeface="Consolas"/>
              </a:rPr>
              <a:t>lake publish</a:t>
            </a:r>
            <a:r>
              <a:rPr sz="1300" b="0" i="0">
                <a:solidFill>
                  <a:srgbClr val="1C2433"/>
                </a:solidFill>
                <a:latin typeface="Calibri"/>
              </a:rPr>
              <a:t> runs at once on moto, one winner per version.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9.3 Backfill and 9.4 restatement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51</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deploy/aws/delta-lake/backfill.sh --from 2026-01-02 --to 2026-10-16 --skip-missing        </a:t>
            </a:r>
            <a:r>
              <a:rPr sz="1100" b="0" i="0">
                <a:solidFill>
                  <a:srgbClr val="8B9BB4"/>
                </a:solidFill>
                <a:latin typeface="Consolas"/>
              </a:rPr>
              <a:t>  # weekdays; dates without dumps skipped</a:t>
            </a:r>
          </a:p>
          <a:p>
            <a:pPr>
              <a:spcAft>
                <a:spcPts val="0"/>
              </a:spcAft>
              <a:buNone/>
            </a:pPr>
            <a:r>
              <a:rPr sz="1100" b="0" i="0">
                <a:solidFill>
                  <a:srgbClr val="E6EDF3"/>
                </a:solidFill>
                <a:latin typeface="Consolas"/>
              </a:rPr>
              <a:t>deploy/aws/delta-lake/backfill.sh --from 2025-01-02 --to 2025-12-31 --from-dir /opt/drishti/data/history</a:t>
            </a:r>
          </a:p>
        </p:txBody>
      </p:sp>
      <p:sp>
        <p:nvSpPr>
          <p:cNvPr id="11" name="TextBox 10"/>
          <p:cNvSpPr txBox="1"/>
          <p:nvPr/>
        </p:nvSpPr>
        <p:spPr>
          <a:xfrm>
            <a:off x="411480" y="1965960"/>
            <a:ext cx="5760720" cy="27432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Backfill:</a:t>
            </a:r>
            <a:r>
              <a:rPr sz="1400" b="0" i="0">
                <a:solidFill>
                  <a:srgbClr val="1C2433"/>
                </a:solidFill>
                <a:latin typeface="Calibri"/>
              </a:rPr>
              <a:t> oldest date first, one load-day.sh per date</a:t>
            </a:r>
          </a:p>
          <a:p>
            <a:pPr algn="l" marL="201168" indent="-201168">
              <a:spcAft>
                <a:spcPts val="700"/>
              </a:spcAft>
              <a:buClr>
                <a:srgbClr val="E87A1E"/>
              </a:buClr>
              <a:buSzPct val="100000"/>
              <a:buFont typeface="Arial"/>
              <a:buChar char="•"/>
            </a:pPr>
            <a:r>
              <a:rPr sz="1400" b="0" i="0">
                <a:solidFill>
                  <a:srgbClr val="1C2433"/>
                </a:solidFill>
                <a:latin typeface="Calibri"/>
              </a:rPr>
              <a:t>Stops at the first date that fails and prints the command that resumes from there</a:t>
            </a:r>
          </a:p>
          <a:p>
            <a:pPr algn="l" marL="201168" indent="-201168">
              <a:spcAft>
                <a:spcPts val="700"/>
              </a:spcAft>
              <a:buClr>
                <a:srgbClr val="E87A1E"/>
              </a:buClr>
              <a:buSzPct val="100000"/>
              <a:buFont typeface="Arial"/>
              <a:buChar char="•"/>
            </a:pPr>
            <a:r>
              <a:rPr sz="1400" b="0" i="0">
                <a:solidFill>
                  <a:srgbClr val="1C2433"/>
                </a:solidFill>
                <a:latin typeface="Calibri"/>
              </a:rPr>
              <a:t>Re-running a date replaces it: a backfill can always be run again</a:t>
            </a:r>
          </a:p>
          <a:p>
            <a:pPr algn="l" marL="201168" indent="-201168">
              <a:spcAft>
                <a:spcPts val="700"/>
              </a:spcAft>
              <a:buClr>
                <a:srgbClr val="E87A1E"/>
              </a:buClr>
              <a:buSzPct val="100000"/>
              <a:buFont typeface="Arial"/>
              <a:buChar char="•"/>
            </a:pPr>
            <a:r>
              <a:rPr sz="1400" b="0" i="0">
                <a:solidFill>
                  <a:srgbClr val="1C2433"/>
                </a:solidFill>
                <a:latin typeface="Calibri"/>
              </a:rPr>
              <a:t>Large backfill: several loader tasks side by side on different tables (</a:t>
            </a:r>
            <a:r>
              <a:rPr sz="1300" b="0" i="0">
                <a:solidFill>
                  <a:srgbClr val="0E7C86"/>
                </a:solidFill>
                <a:latin typeface="Consolas"/>
              </a:rPr>
              <a:t>--tables</a:t>
            </a:r>
            <a:r>
              <a:rPr sz="1400" b="0" i="0">
                <a:solidFill>
                  <a:srgbClr val="1C2433"/>
                </a:solidFill>
                <a:latin typeface="Calibri"/>
              </a:rPr>
              <a:t>); the per-table lock keeps two apart</a:t>
            </a:r>
          </a:p>
        </p:txBody>
      </p:sp>
      <p:graphicFrame>
        <p:nvGraphicFramePr>
          <p:cNvPr id="12" name="Table"/>
          <p:cNvGraphicFramePr>
            <a:graphicFrameLocks noGrp="1"/>
          </p:cNvGraphicFramePr>
          <p:nvPr/>
        </p:nvGraphicFramePr>
        <p:xfrm>
          <a:off x="6400800" y="1965960"/>
          <a:ext cx="5376672" cy="2057400"/>
        </p:xfrm>
        <a:graphic>
          <a:graphicData uri="http://schemas.openxmlformats.org/drawingml/2006/table">
            <a:tbl>
              <a:tblPr firstRow="0" bandRow="0">
                <a:tableStyleId>{5940675A-B579-460E-94D1-54222C63F5DA}</a:tableStyleId>
              </a:tblPr>
              <a:tblGrid>
                <a:gridCol w="1737360"/>
                <a:gridCol w="3639312"/>
              </a:tblGrid>
              <a:tr h="685800">
                <a:tc>
                  <a:txBody>
                    <a:bodyPr wrap="square"/>
                    <a:lstStyle/>
                    <a:p>
                      <a:r>
                        <a:rPr sz="1200" b="1" i="0">
                          <a:solidFill>
                            <a:srgbClr val="FFFFFF"/>
                          </a:solidFill>
                          <a:latin typeface="Calibri"/>
                        </a:rPr>
                        <a:t>A source re-sent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85800">
                <a:tc>
                  <a:txBody>
                    <a:bodyPr wrap="square"/>
                    <a:lstStyle/>
                    <a:p>
                      <a:r>
                        <a:rPr sz="1200" b="1" i="0">
                          <a:solidFill>
                            <a:srgbClr val="1C2433"/>
                          </a:solidFill>
                          <a:latin typeface="Calibri"/>
                        </a:rPr>
                        <a:t>some whole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backfill.sh --dates 2026-10-14,2026-10-15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200" b="1" i="0">
                          <a:solidFill>
                            <a:srgbClr val="1C2433"/>
                          </a:solidFill>
                          <a:latin typeface="Calibri"/>
                        </a:rPr>
                        <a:t>one product type of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load-day.sh --date 2026-10-15 --tables trading/trade_endur --mode overwrite-partitions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3" name="Callout"/>
          <p:cNvSpPr/>
          <p:nvPr/>
        </p:nvSpPr>
        <p:spPr>
          <a:xfrm>
            <a:off x="411480" y="4846320"/>
            <a:ext cx="11365992" cy="14630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4864607"/>
            <a:ext cx="82296" cy="14264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4919472"/>
            <a:ext cx="11000232" cy="13167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Restatement:</a:t>
            </a:r>
            <a:r>
              <a:rPr sz="1300" b="0" i="0">
                <a:solidFill>
                  <a:srgbClr val="1C2433"/>
                </a:solidFill>
                <a:latin typeface="Calibri"/>
              </a:rPr>
              <a:t> readers switch at the commit; *known at* before it still shows the day as it was, for </a:t>
            </a:r>
            <a:r>
              <a:rPr sz="1200" b="0" i="0">
                <a:solidFill>
                  <a:srgbClr val="0E7C86"/>
                </a:solidFill>
                <a:latin typeface="Consolas"/>
              </a:rPr>
              <a:t>LAKE_VACUUM_HOURS</a:t>
            </a:r>
            <a:r>
              <a:rPr sz="1300" b="0" i="0">
                <a:solidFill>
                  <a:srgbClr val="1C2433"/>
                </a:solidFill>
                <a:latin typeface="Calibri"/>
              </a:rPr>
              <a:t> (7 years for risk). A restated old day's files move to its tier at the next lifecycle run. A restated VaR or exposure date gets the next </a:t>
            </a:r>
            <a:r>
              <a:rPr sz="1200" b="0" i="0">
                <a:solidFill>
                  <a:srgbClr val="0E7C86"/>
                </a:solidFill>
                <a:latin typeface="Consolas"/>
              </a:rPr>
              <a:t>RESULT_VERSION</a:t>
            </a:r>
            <a:r>
              <a:rPr sz="1300" b="0" i="0">
                <a:solidFill>
                  <a:srgbClr val="1C2433"/>
                </a:solidFill>
                <a:latin typeface="Calibri"/>
              </a:rPr>
              <a:t> in the official results; the earlier one is kept.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10</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S3: safe commits and three simulators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content store on S3, the conditional writes each piece relies on, and how they are tested without an AWS account (2.7.0)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content store: cluster state on S3 without a shared disk</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53</a:t>
            </a:r>
          </a:p>
        </p:txBody>
      </p:sp>
      <p:sp>
        <p:nvSpPr>
          <p:cNvPr id="9" name="Rounded Rectangle 8"/>
          <p:cNvSpPr/>
          <p:nvPr/>
        </p:nvSpPr>
        <p:spPr>
          <a:xfrm>
            <a:off x="411480" y="1188720"/>
            <a:ext cx="6583680"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2578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One interface, four backends (config/store/store.yaml)</a:t>
            </a:r>
          </a:p>
        </p:txBody>
      </p:sp>
      <p:sp>
        <p:nvSpPr>
          <p:cNvPr id="11" name="Status BUILT"/>
          <p:cNvSpPr/>
          <p:nvPr/>
        </p:nvSpPr>
        <p:spPr>
          <a:xfrm>
            <a:off x="5852160"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2" name="TextBox 11"/>
          <p:cNvSpPr txBox="1"/>
          <p:nvPr/>
        </p:nvSpPr>
        <p:spPr>
          <a:xfrm>
            <a:off x="502920" y="1554480"/>
            <a:ext cx="640080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get · compare-and-set put · list · delete · changes</a:t>
            </a:r>
          </a:p>
        </p:txBody>
      </p:sp>
      <p:sp>
        <p:nvSpPr>
          <p:cNvPr id="13" name="Rounded Rectangle 12"/>
          <p:cNvSpPr/>
          <p:nvPr/>
        </p:nvSpPr>
        <p:spPr>
          <a:xfrm>
            <a:off x="411480"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filesystem</a:t>
            </a:r>
          </a:p>
        </p:txBody>
      </p:sp>
      <p:sp>
        <p:nvSpPr>
          <p:cNvPr id="15" name="TextBox 14"/>
          <p:cNvSpPr txBox="1"/>
          <p:nvPr/>
        </p:nvSpPr>
        <p:spPr>
          <a:xfrm>
            <a:off x="502920"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default; a shared mount (EFS) on a cluster</a:t>
            </a:r>
          </a:p>
        </p:txBody>
      </p:sp>
      <p:sp>
        <p:nvSpPr>
          <p:cNvPr id="16" name="Rounded Rectangle 15"/>
          <p:cNvSpPr/>
          <p:nvPr/>
        </p:nvSpPr>
        <p:spPr>
          <a:xfrm>
            <a:off x="2084832"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2176272"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sqlite</a:t>
            </a:r>
          </a:p>
        </p:txBody>
      </p:sp>
      <p:sp>
        <p:nvSpPr>
          <p:cNvPr id="18" name="TextBox 17"/>
          <p:cNvSpPr txBox="1"/>
          <p:nvPr/>
        </p:nvSpPr>
        <p:spPr>
          <a:xfrm>
            <a:off x="2176272"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single node</a:t>
            </a:r>
          </a:p>
        </p:txBody>
      </p:sp>
      <p:sp>
        <p:nvSpPr>
          <p:cNvPr id="19" name="Rounded Rectangle 18"/>
          <p:cNvSpPr/>
          <p:nvPr/>
        </p:nvSpPr>
        <p:spPr>
          <a:xfrm>
            <a:off x="3758184"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3849624"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postgres</a:t>
            </a:r>
          </a:p>
        </p:txBody>
      </p:sp>
      <p:sp>
        <p:nvSpPr>
          <p:cNvPr id="21" name="TextBox 20"/>
          <p:cNvSpPr txBox="1"/>
          <p:nvPr/>
        </p:nvSpPr>
        <p:spPr>
          <a:xfrm>
            <a:off x="3849624"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SQL table</a:t>
            </a:r>
          </a:p>
        </p:txBody>
      </p:sp>
      <p:sp>
        <p:nvSpPr>
          <p:cNvPr id="22" name="Rounded Rectangle 21"/>
          <p:cNvSpPr/>
          <p:nvPr/>
        </p:nvSpPr>
        <p:spPr>
          <a:xfrm>
            <a:off x="5431536" y="2514600"/>
            <a:ext cx="1554480" cy="13716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5522976"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a:t>
            </a:r>
          </a:p>
        </p:txBody>
      </p:sp>
      <p:sp>
        <p:nvSpPr>
          <p:cNvPr id="24" name="TextBox 23"/>
          <p:cNvSpPr txBox="1"/>
          <p:nvPr/>
        </p:nvSpPr>
        <p:spPr>
          <a:xfrm>
            <a:off x="5522976"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conditional PUT; ETag versions</a:t>
            </a:r>
          </a:p>
        </p:txBody>
      </p:sp>
      <p:sp>
        <p:nvSpPr>
          <p:cNvPr id="25" name="TextBox 24"/>
          <p:cNvSpPr txBox="1"/>
          <p:nvPr/>
        </p:nvSpPr>
        <p:spPr>
          <a:xfrm>
            <a:off x="411480" y="4114800"/>
            <a:ext cx="6583680" cy="22402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s3:</a:t>
            </a:r>
            <a:r>
              <a:rPr sz="1300" b="0" i="0">
                <a:solidFill>
                  <a:srgbClr val="1C2433"/>
                </a:solidFill>
                <a:latin typeface="Calibri"/>
              </a:rPr>
              <a:t> </a:t>
            </a:r>
            <a:r>
              <a:rPr sz="1200" b="0" i="0">
                <a:solidFill>
                  <a:srgbClr val="0E7C86"/>
                </a:solidFill>
                <a:latin typeface="Consolas"/>
              </a:rPr>
              <a:t>&lt;prefix&gt;/items/&lt;key&gt;</a:t>
            </a:r>
            <a:r>
              <a:rPr sz="1300" b="0" i="0">
                <a:solidFill>
                  <a:srgbClr val="1C2433"/>
                </a:solidFill>
                <a:latin typeface="Calibri"/>
              </a:rPr>
              <a:t>; create </a:t>
            </a:r>
            <a:r>
              <a:rPr sz="1200" b="0" i="0">
                <a:solidFill>
                  <a:srgbClr val="0E7C86"/>
                </a:solidFill>
                <a:latin typeface="Consolas"/>
              </a:rPr>
              <a:t>If-None-Match: *</a:t>
            </a:r>
            <a:r>
              <a:rPr sz="1300" b="0" i="0">
                <a:solidFill>
                  <a:srgbClr val="1C2433"/>
                </a:solidFill>
                <a:latin typeface="Calibri"/>
              </a:rPr>
              <a:t>; update </a:t>
            </a:r>
            <a:r>
              <a:rPr sz="1200" b="0" i="0">
                <a:solidFill>
                  <a:srgbClr val="0E7C86"/>
                </a:solidFill>
                <a:latin typeface="Consolas"/>
              </a:rPr>
              <a:t>If-Match: &lt;ETag&gt;</a:t>
            </a:r>
            <a:r>
              <a:rPr sz="1300" b="0" i="0">
                <a:solidFill>
                  <a:srgbClr val="1C2433"/>
                </a:solidFill>
                <a:latin typeface="Calibri"/>
              </a:rPr>
              <a:t>; a lost race is </a:t>
            </a:r>
            <a:r>
              <a:rPr sz="1200" b="0" i="0">
                <a:solidFill>
                  <a:srgbClr val="0E7C86"/>
                </a:solidFill>
                <a:latin typeface="Consolas"/>
              </a:rPr>
              <a:t>409 DRS-5057</a:t>
            </a:r>
          </a:p>
          <a:p>
            <a:pPr algn="l" marL="201168" indent="-201168">
              <a:spcAft>
                <a:spcPts val="600"/>
              </a:spcAft>
              <a:buClr>
                <a:srgbClr val="E87A1E"/>
              </a:buClr>
              <a:buSzPct val="100000"/>
              <a:buFont typeface="Arial"/>
              <a:buChar char="•"/>
            </a:pPr>
            <a:r>
              <a:rPr sz="1300" b="0" i="0">
                <a:solidFill>
                  <a:srgbClr val="1C2433"/>
                </a:solidFill>
                <a:latin typeface="Calibri"/>
              </a:rPr>
              <a:t>Two nodes saving one item at once: one success, one </a:t>
            </a:r>
            <a:r>
              <a:rPr sz="1200" b="0" i="0">
                <a:solidFill>
                  <a:srgbClr val="0E7C86"/>
                </a:solidFill>
                <a:latin typeface="Consolas"/>
              </a:rPr>
              <a:t>409</a:t>
            </a:r>
            <a:r>
              <a:rPr sz="1300" b="0" i="0">
                <a:solidFill>
                  <a:srgbClr val="1C2433"/>
                </a:solidFill>
                <a:latin typeface="Calibri"/>
              </a:rPr>
              <a:t>; an unreachable store </a:t>
            </a:r>
            <a:r>
              <a:rPr sz="1200" b="0" i="0">
                <a:solidFill>
                  <a:srgbClr val="0E7C86"/>
                </a:solidFill>
                <a:latin typeface="Consolas"/>
              </a:rPr>
              <a:t>503 DRS-5059</a:t>
            </a:r>
          </a:p>
          <a:p>
            <a:pPr algn="l" marL="201168" indent="-201168">
              <a:spcAft>
                <a:spcPts val="600"/>
              </a:spcAft>
              <a:buClr>
                <a:srgbClr val="E87A1E"/>
              </a:buClr>
              <a:buSzPct val="100000"/>
              <a:buFont typeface="Arial"/>
              <a:buChar char="•"/>
            </a:pPr>
            <a:r>
              <a:rPr sz="1300" b="0" i="0">
                <a:solidFill>
                  <a:srgbClr val="1C2433"/>
                </a:solidFill>
                <a:latin typeface="Calibri"/>
              </a:rPr>
              <a:t>A dead node's BI run is adopted by exactly one node, by a compare-and-set lease</a:t>
            </a:r>
          </a:p>
        </p:txBody>
      </p:sp>
      <p:sp>
        <p:nvSpPr>
          <p:cNvPr id="26" name="TextBox 25"/>
          <p:cNvSpPr txBox="1"/>
          <p:nvPr/>
        </p:nvSpPr>
        <p:spPr>
          <a:xfrm>
            <a:off x="7269480" y="1188720"/>
            <a:ext cx="4507992"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What it holds on a cluster</a:t>
            </a:r>
          </a:p>
        </p:txBody>
      </p:sp>
      <p:sp>
        <p:nvSpPr>
          <p:cNvPr id="27" name="TextBox 26"/>
          <p:cNvSpPr txBox="1"/>
          <p:nvPr/>
        </p:nvSpPr>
        <p:spPr>
          <a:xfrm>
            <a:off x="7269480" y="1600200"/>
            <a:ext cx="4507992" cy="274320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Designs; BI workspaces, items, versions, runs, schedules</a:t>
            </a:r>
          </a:p>
          <a:p>
            <a:pPr algn="l" marL="201168" indent="-201168">
              <a:spcAft>
                <a:spcPts val="600"/>
              </a:spcAft>
              <a:buClr>
                <a:srgbClr val="E87A1E"/>
              </a:buClr>
              <a:buSzPct val="100000"/>
              <a:buFont typeface="Arial"/>
              <a:buChar char="•"/>
            </a:pPr>
            <a:r>
              <a:rPr sz="1300" b="0" i="0">
                <a:solidFill>
                  <a:srgbClr val="1C2433"/>
                </a:solidFill>
                <a:latin typeface="Calibri"/>
              </a:rPr>
              <a:t>data-load overrides, connector edits, collaboration</a:t>
            </a:r>
          </a:p>
          <a:p>
            <a:pPr algn="l" marL="201168" indent="-201168">
              <a:spcAft>
                <a:spcPts val="600"/>
              </a:spcAft>
              <a:buClr>
                <a:srgbClr val="E87A1E"/>
              </a:buClr>
              <a:buSzPct val="100000"/>
              <a:buFont typeface="Arial"/>
              <a:buChar char="•"/>
            </a:pPr>
            <a:r>
              <a:rPr sz="1300" b="0" i="0">
                <a:solidFill>
                  <a:srgbClr val="1C2433"/>
                </a:solidFill>
                <a:latin typeface="Calibri"/>
              </a:rPr>
              <a:t>VaR and exposure captures and official records (append-only; row lists JSONL since 2.9.4)</a:t>
            </a:r>
          </a:p>
        </p:txBody>
      </p:sp>
      <p:sp>
        <p:nvSpPr>
          <p:cNvPr id="28" name="Callout"/>
          <p:cNvSpPr/>
          <p:nvPr/>
        </p:nvSpPr>
        <p:spPr>
          <a:xfrm>
            <a:off x="7269480" y="4114800"/>
            <a:ext cx="4507992" cy="17373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Callout edge"/>
          <p:cNvSpPr/>
          <p:nvPr/>
        </p:nvSpPr>
        <p:spPr>
          <a:xfrm>
            <a:off x="7269480" y="4133087"/>
            <a:ext cx="82296" cy="17007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498079" y="4187952"/>
            <a:ext cx="4142231" cy="159105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ECS</a:t>
            </a:r>
          </a:p>
          <a:p>
            <a:pPr algn="l">
              <a:spcAft>
                <a:spcPts val="600"/>
              </a:spcAft>
              <a:buNone/>
            </a:pPr>
            <a:r>
              <a:rPr sz="1200" b="0" i="0">
                <a:solidFill>
                  <a:srgbClr val="0E7C86"/>
                </a:solidFill>
                <a:latin typeface="Consolas"/>
              </a:rPr>
              <a:t>s3</a:t>
            </a:r>
            <a:r>
              <a:rPr sz="1300" b="0" i="0">
                <a:solidFill>
                  <a:srgbClr val="1C2433"/>
                </a:solidFill>
                <a:latin typeface="Calibri"/>
              </a:rPr>
              <a:t> or </a:t>
            </a:r>
            <a:r>
              <a:rPr sz="1200" b="0" i="0">
                <a:solidFill>
                  <a:srgbClr val="0E7C86"/>
                </a:solidFill>
                <a:latin typeface="Consolas"/>
              </a:rPr>
              <a:t>postgres</a:t>
            </a:r>
            <a:r>
              <a:rPr sz="1300" b="0" i="0">
                <a:solidFill>
                  <a:srgbClr val="1C2433"/>
                </a:solidFill>
                <a:latin typeface="Calibri"/>
              </a:rPr>
              <a:t> need no shared disk; </a:t>
            </a:r>
            <a:r>
              <a:rPr sz="1200" b="0" i="0">
                <a:solidFill>
                  <a:srgbClr val="0E7C86"/>
                </a:solidFill>
                <a:latin typeface="Consolas"/>
              </a:rPr>
              <a:t>filesystem</a:t>
            </a:r>
            <a:r>
              <a:rPr sz="1300" b="0" i="0">
                <a:solidFill>
                  <a:srgbClr val="1C2433"/>
                </a:solidFill>
                <a:latin typeface="Calibri"/>
              </a:rPr>
              <a:t> needs EFS at the same path on every node. The s3 bucket needs the conditional-write check of step 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Three S3 simulators, no Docker, and what each covers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54</a:t>
            </a:r>
          </a:p>
        </p:txBody>
      </p:sp>
      <p:graphicFrame>
        <p:nvGraphicFramePr>
          <p:cNvPr id="9" name="Table"/>
          <p:cNvGraphicFramePr>
            <a:graphicFrameLocks noGrp="1"/>
          </p:cNvGraphicFramePr>
          <p:nvPr/>
        </p:nvGraphicFramePr>
        <p:xfrm>
          <a:off x="411480" y="1188720"/>
          <a:ext cx="11365992" cy="3474720"/>
        </p:xfrm>
        <a:graphic>
          <a:graphicData uri="http://schemas.openxmlformats.org/drawingml/2006/table">
            <a:tbl>
              <a:tblPr firstRow="0" bandRow="0">
                <a:tableStyleId>{5940675A-B579-460E-94D1-54222C63F5DA}</a:tableStyleId>
              </a:tblPr>
              <a:tblGrid>
                <a:gridCol w="2651760"/>
                <a:gridCol w="4023360"/>
                <a:gridCol w="1554480"/>
                <a:gridCol w="3136392"/>
              </a:tblGrid>
              <a:tr h="868680">
                <a:tc>
                  <a:txBody>
                    <a:bodyPr wrap="square"/>
                    <a:lstStyle/>
                    <a:p>
                      <a:r>
                        <a:rPr sz="1200" b="1" i="0">
                          <a:solidFill>
                            <a:srgbClr val="FFFFFF"/>
                          </a:solidFill>
                          <a:latin typeface="Calibri"/>
                        </a:rPr>
                        <a:t>Simulator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tests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Runs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Conditional writes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68680">
                <a:tc>
                  <a:txBody>
                    <a:bodyPr wrap="square"/>
                    <a:lstStyle/>
                    <a:p>
                      <a:r>
                        <a:rPr sz="1200" b="1" i="0">
                          <a:solidFill>
                            <a:srgbClr val="1C2433"/>
                          </a:solidFill>
                          <a:latin typeface="Calibri"/>
                        </a:rPr>
                        <a:t>Adobe S3Mock 4.12.4 (in the test JVM)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content store on S3; Iceberg native engine's table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Linux,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create-only, update-if-match, delete-if-match; racing creates </a:t>
                      </a:r>
                      <a:r>
                        <a:rPr sz="1200" b="1" i="0">
                          <a:solidFill>
                            <a:srgbClr val="1C2433"/>
                          </a:solidFill>
                          <a:latin typeface="Calibri"/>
                        </a:rPr>
                        <a:t>not</a:t>
                      </a:r>
                      <a:r>
                        <a:rPr sz="1200" b="0" i="0">
                          <a:solidFill>
                            <a:srgbClr val="1C2433"/>
                          </a:solidFill>
                          <a:latin typeface="Calibri"/>
                        </a:rPr>
                        <a:t> atomic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200" b="1" i="0">
                          <a:solidFill>
                            <a:srgbClr val="1C2433"/>
                          </a:solidFill>
                          <a:latin typeface="Calibri"/>
                        </a:rPr>
                        <a:t>moto 5.2.3 (</a:t>
                      </a:r>
                      <a:r>
                        <a:rPr sz="1100" b="1" i="0">
                          <a:solidFill>
                            <a:srgbClr val="0E7C86"/>
                          </a:solidFill>
                          <a:latin typeface="Consolas"/>
                        </a:rPr>
                        <a:t>moto[server]</a:t>
                      </a:r>
                      <a:r>
                        <a:rPr sz="1200" b="1" i="0">
                          <a:solidFill>
                            <a:srgbClr val="1C2433"/>
                          </a:solidFill>
                          <a:latin typeface="Calibri"/>
                        </a:rPr>
                        <a:t>, pure Python)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Delta on S3 via deltalake; </a:t>
                      </a:r>
                      <a:r>
                        <a:rPr sz="1100" b="0" i="0">
                          <a:solidFill>
                            <a:srgbClr val="0E7C86"/>
                          </a:solidFill>
                          <a:latin typeface="Consolas"/>
                        </a:rPr>
                        <a:t>lake publish</a:t>
                      </a:r>
                      <a:r>
                        <a:rPr sz="1200" b="0" i="0">
                          <a:solidFill>
                            <a:srgbClr val="1C2433"/>
                          </a:solidFill>
                          <a:latin typeface="Calibri"/>
                        </a:rPr>
                        <a:t>: new table, a day restated, a missing file refused, three publishes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Linux,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all three; racing creates have one winner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68680">
                <a:tc>
                  <a:txBody>
                    <a:bodyPr wrap="square"/>
                    <a:lstStyle/>
                    <a:p>
                      <a:r>
                        <a:rPr sz="1200" b="1" i="0">
                          <a:solidFill>
                            <a:srgbClr val="1C2433"/>
                          </a:solidFill>
                          <a:latin typeface="Calibri"/>
                        </a:rPr>
                        <a:t>MinIO server binary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all of the above, the most faithful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Linux only (binary needed)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all; skipped with the reason when no binary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ode block"/>
          <p:cNvSpPr/>
          <p:nvPr/>
        </p:nvSpPr>
        <p:spPr>
          <a:xfrm>
            <a:off x="411480" y="4800600"/>
            <a:ext cx="11365992" cy="6858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521208" y="4864608"/>
            <a:ext cx="11146536" cy="5577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./mvnw -q -pl drishti-identity,plugins/drishti-plugin-iceberg -am test -Dtest='S3MockContentStoreTest,NativeOnS3SimulatorTest' …</a:t>
            </a:r>
          </a:p>
          <a:p>
            <a:pPr>
              <a:spcAft>
                <a:spcPts val="0"/>
              </a:spcAft>
              <a:buNone/>
            </a:pPr>
            <a:r>
              <a:rPr sz="1100" b="0" i="0">
                <a:solidFill>
                  <a:srgbClr val="E6EDF3"/>
                </a:solidFill>
                <a:latin typeface="Consolas"/>
              </a:rPr>
              <a:t>drishti-console/.venv/bin/python -m unittest -v tools/lake/test_s3_simulators.py    </a:t>
            </a:r>
            <a:r>
              <a:rPr sz="1100" b="0" i="0">
                <a:solidFill>
                  <a:srgbClr val="8B9BB4"/>
                </a:solidFill>
                <a:latin typeface="Consolas"/>
              </a:rPr>
              <a:t>  # moto: Delta and lake publish</a:t>
            </a:r>
          </a:p>
        </p:txBody>
      </p:sp>
      <p:sp>
        <p:nvSpPr>
          <p:cNvPr id="12" name="Callout"/>
          <p:cNvSpPr/>
          <p:nvPr/>
        </p:nvSpPr>
        <p:spPr>
          <a:xfrm>
            <a:off x="411480" y="5669280"/>
            <a:ext cx="11365992" cy="6400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5687568"/>
            <a:ext cx="82296" cy="60350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5742432"/>
            <a:ext cx="11000232" cy="493775"/>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Fixed in 2.7.0: </a:t>
            </a:r>
            <a:r>
              <a:rPr sz="1200" b="0" i="0">
                <a:solidFill>
                  <a:srgbClr val="0E7C86"/>
                </a:solidFill>
                <a:latin typeface="Consolas"/>
              </a:rPr>
              <a:t>lake publish --storage-option AWS_ENDPOINT_URL=…</a:t>
            </a:r>
            <a:r>
              <a:rPr sz="1300" b="0" i="0">
                <a:solidFill>
                  <a:srgbClr val="1C2433"/>
                </a:solidFill>
                <a:latin typeface="Calibri"/>
              </a:rPr>
              <a:t> checks the files on that endpoint, as the commit does.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11</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Maintenance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Checkpoints, retention and the risk lake's 7-year floor, vacuum, compaction now that relayout knows the per-source tables, the lifecycle rules, and Admin → Lakes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11.1 What maintain.sh runs (nightly)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56</a:t>
            </a:r>
          </a:p>
        </p:txBody>
      </p:sp>
      <p:sp>
        <p:nvSpPr>
          <p:cNvPr id="9" name="Code block"/>
          <p:cNvSpPr/>
          <p:nvPr/>
        </p:nvSpPr>
        <p:spPr>
          <a:xfrm>
            <a:off x="411480" y="1188720"/>
            <a:ext cx="11365992" cy="4114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2834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maintain --config &lt;lake-maintenance.s3.yaml rendered&gt; --once --force-foreign --tables trading/trade_endur</a:t>
            </a:r>
          </a:p>
        </p:txBody>
      </p:sp>
      <p:sp>
        <p:nvSpPr>
          <p:cNvPr id="11" name="TextBox 10"/>
          <p:cNvSpPr txBox="1"/>
          <p:nvPr/>
        </p:nvSpPr>
        <p:spPr>
          <a:xfrm>
            <a:off x="411480" y="1691640"/>
            <a:ext cx="11365992" cy="4572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Nightly (</a:t>
            </a:r>
            <a:r>
              <a:rPr sz="1200" b="0" i="0">
                <a:solidFill>
                  <a:srgbClr val="0E7C86"/>
                </a:solidFill>
                <a:latin typeface="Consolas"/>
              </a:rPr>
              <a:t>MAINTAIN_SCHEDULE</a:t>
            </a:r>
            <a:r>
              <a:rPr sz="1300" b="0" i="0">
                <a:solidFill>
                  <a:srgbClr val="1C2433"/>
                </a:solidFill>
                <a:latin typeface="Calibri"/>
              </a:rPr>
              <a:t>, Tuesday to Saturday 02:30) as the maintenance task, per table under the table's lock; then setup-lifecycle.sh.</a:t>
            </a:r>
          </a:p>
        </p:txBody>
      </p:sp>
      <p:graphicFrame>
        <p:nvGraphicFramePr>
          <p:cNvPr id="12" name="Table"/>
          <p:cNvGraphicFramePr>
            <a:graphicFrameLocks noGrp="1"/>
          </p:cNvGraphicFramePr>
          <p:nvPr/>
        </p:nvGraphicFramePr>
        <p:xfrm>
          <a:off x="411480" y="2240280"/>
          <a:ext cx="11365992" cy="3401568"/>
        </p:xfrm>
        <a:graphic>
          <a:graphicData uri="http://schemas.openxmlformats.org/drawingml/2006/table">
            <a:tbl>
              <a:tblPr firstRow="0" bandRow="0">
                <a:tableStyleId>{5940675A-B579-460E-94D1-54222C63F5DA}</a:tableStyleId>
              </a:tblPr>
              <a:tblGrid>
                <a:gridCol w="2194560"/>
                <a:gridCol w="3017520"/>
                <a:gridCol w="6153912"/>
              </a:tblGrid>
              <a:tr h="566928">
                <a:tc>
                  <a:txBody>
                    <a:bodyPr wrap="square"/>
                    <a:lstStyle/>
                    <a:p>
                      <a:r>
                        <a:rPr sz="12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lake maintain does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1" i="0">
                          <a:solidFill>
                            <a:srgbClr val="0E7C86"/>
                          </a:solidFill>
                          <a:latin typeface="Consolas"/>
                        </a:rPr>
                        <a:t>keep-business-days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LAKE_KEEP_BUSINESS_DAYS</a:t>
                      </a:r>
                      <a:r>
                        <a:rPr sz="1200" b="0" i="0">
                          <a:solidFill>
                            <a:srgbClr val="1C2433"/>
                          </a:solidFill>
                          <a:latin typeface="Calibri"/>
                        </a:rPr>
                        <a:t> (1800)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removes dates older than that, counted back from today: one commit; refuses to remove more than </a:t>
                      </a:r>
                      <a:r>
                        <a:rPr sz="1100" b="0" i="0">
                          <a:solidFill>
                            <a:srgbClr val="0E7C86"/>
                          </a:solidFill>
                          <a:latin typeface="Consolas"/>
                        </a:rPr>
                        <a:t>max-drop-share</a:t>
                      </a:r>
                      <a:r>
                        <a:rPr sz="1200" b="0" i="0">
                          <a:solidFill>
                            <a:srgbClr val="1C2433"/>
                          </a:solidFill>
                          <a:latin typeface="Calibri"/>
                        </a:rPr>
                        <a:t> (0.5)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writes a checkpoint and removes commit files past </a:t>
                      </a:r>
                      <a:r>
                        <a:rPr sz="1100" b="0" i="0">
                          <a:solidFill>
                            <a:srgbClr val="0E7C86"/>
                          </a:solidFill>
                          <a:latin typeface="Consolas"/>
                        </a:rPr>
                        <a:t>delta.logRetentionDuration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1" i="0">
                          <a:solidFill>
                            <a:srgbClr val="0E7C86"/>
                          </a:solidFill>
                          <a:latin typeface="Consolas"/>
                        </a:rPr>
                        <a:t>vacuum-hours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LAKE_VACUUM_HOURS</a:t>
                      </a:r>
                      <a:r>
                        <a:rPr sz="1200" b="0" i="0">
                          <a:solidFill>
                            <a:srgbClr val="1C2433"/>
                          </a:solidFill>
                          <a:latin typeface="Calibri"/>
                        </a:rPr>
                        <a:t> (168)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deletes files no version uses, older than a week; S3 keeps them 14 more days as noncurrent versions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compact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false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see 11.3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risk floor (2.8.0)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years: 1,827 days, 61,368 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risk/</a:t>
                      </a:r>
                      <a:r>
                        <a:rPr sz="1200" b="0" i="0">
                          <a:solidFill>
                            <a:srgbClr val="1C2433"/>
                          </a:solidFill>
                          <a:latin typeface="Calibri"/>
                        </a:rPr>
                        <a:t> and </a:t>
                      </a:r>
                      <a:r>
                        <a:rPr sz="1100" b="0" i="0">
                          <a:solidFill>
                            <a:srgbClr val="0E7C86"/>
                          </a:solidFill>
                          <a:latin typeface="Consolas"/>
                        </a:rPr>
                        <a:t>risk-results/</a:t>
                      </a:r>
                      <a:r>
                        <a:rPr sz="1200" b="0" i="0">
                          <a:solidFill>
                            <a:srgbClr val="1C2433"/>
                          </a:solidFill>
                          <a:latin typeface="Calibri"/>
                        </a:rPr>
                        <a:t> never below it, whatever the settings (</a:t>
                      </a:r>
                      <a:r>
                        <a:rPr sz="1100" b="0" i="0">
                          <a:solidFill>
                            <a:srgbClr val="0E7C86"/>
                          </a:solidFill>
                          <a:latin typeface="Consolas"/>
                        </a:rPr>
                        <a:t>retention-floor</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3" name="Callout"/>
          <p:cNvSpPr/>
          <p:nvPr/>
        </p:nvSpPr>
        <p:spPr>
          <a:xfrm>
            <a:off x="411480" y="5715000"/>
            <a:ext cx="11365992" cy="5943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5733288"/>
            <a:ext cx="82296" cy="5577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5788152"/>
            <a:ext cx="11000232" cy="448056"/>
          </a:xfrm>
          <a:prstGeom prst="rect">
            <a:avLst/>
          </a:prstGeom>
          <a:noFill/>
        </p:spPr>
        <p:txBody>
          <a:bodyPr wrap="square" lIns="0" rIns="0" tIns="0" bIns="0" anchor="ctr">
            <a:spAutoFit/>
          </a:bodyPr>
          <a:lstStyle/>
          <a:p>
            <a:pPr algn="l">
              <a:spcAft>
                <a:spcPts val="600"/>
              </a:spcAft>
              <a:buNone/>
            </a:pPr>
            <a:r>
              <a:rPr sz="1100" b="0" i="0">
                <a:solidFill>
                  <a:srgbClr val="0E7C86"/>
                </a:solidFill>
                <a:latin typeface="Consolas"/>
              </a:rPr>
              <a:t>--force-foreign</a:t>
            </a:r>
            <a:r>
              <a:rPr sz="1200" b="0" i="0">
                <a:solidFill>
                  <a:srgbClr val="1C2433"/>
                </a:solidFill>
                <a:latin typeface="Calibri"/>
              </a:rPr>
              <a:t>: the S3 tables are Drishti's (lake publish wrote them), so the script overrides the ownership rule and marks the runs forced.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11.2 Retention and the tiers together</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57</a:t>
            </a:r>
          </a:p>
        </p:txBody>
      </p:sp>
      <p:sp>
        <p:nvSpPr>
          <p:cNvPr id="9" name="Rounded Rectangle 8"/>
          <p:cNvSpPr/>
          <p:nvPr/>
        </p:nvSpPr>
        <p:spPr>
          <a:xfrm>
            <a:off x="411480" y="1234440"/>
            <a:ext cx="2286000" cy="146304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98448"/>
            <a:ext cx="206654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0 – 90 days</a:t>
            </a:r>
          </a:p>
        </p:txBody>
      </p:sp>
      <p:sp>
        <p:nvSpPr>
          <p:cNvPr id="11" name="TextBox 10"/>
          <p:cNvSpPr txBox="1"/>
          <p:nvPr/>
        </p:nvSpPr>
        <p:spPr>
          <a:xfrm>
            <a:off x="521208" y="1737360"/>
            <a:ext cx="206654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S3 Standard</a:t>
            </a:r>
          </a:p>
        </p:txBody>
      </p:sp>
      <p:sp>
        <p:nvSpPr>
          <p:cNvPr id="12" name="Rounded Rectangle 11"/>
          <p:cNvSpPr/>
          <p:nvPr/>
        </p:nvSpPr>
        <p:spPr>
          <a:xfrm>
            <a:off x="2788920" y="1234440"/>
            <a:ext cx="2743200" cy="146304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2898648" y="1298448"/>
            <a:ext cx="252374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90 days – 2 years</a:t>
            </a:r>
          </a:p>
        </p:txBody>
      </p:sp>
      <p:sp>
        <p:nvSpPr>
          <p:cNvPr id="14" name="TextBox 13"/>
          <p:cNvSpPr txBox="1"/>
          <p:nvPr/>
        </p:nvSpPr>
        <p:spPr>
          <a:xfrm>
            <a:off x="2898648" y="1737360"/>
            <a:ext cx="252374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Standard-IA (</a:t>
            </a:r>
            <a:r>
              <a:rPr sz="1200" b="0" i="0">
                <a:solidFill>
                  <a:srgbClr val="0E7C86"/>
                </a:solidFill>
                <a:latin typeface="Consolas"/>
              </a:rPr>
              <a:t>TIER_IA_AFTER_DAYS</a:t>
            </a:r>
            <a:r>
              <a:rPr sz="1300" b="0" i="0">
                <a:solidFill>
                  <a:srgbClr val="1C2433"/>
                </a:solidFill>
                <a:latin typeface="Calibri"/>
              </a:rPr>
              <a:t>)</a:t>
            </a:r>
          </a:p>
        </p:txBody>
      </p:sp>
      <p:sp>
        <p:nvSpPr>
          <p:cNvPr id="15" name="Rounded Rectangle 14"/>
          <p:cNvSpPr/>
          <p:nvPr/>
        </p:nvSpPr>
        <p:spPr>
          <a:xfrm>
            <a:off x="5623560" y="1234440"/>
            <a:ext cx="3566160" cy="14630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733288" y="1298448"/>
            <a:ext cx="334670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2 years – </a:t>
            </a:r>
            <a:r>
              <a:rPr sz="1200" b="1" i="0">
                <a:solidFill>
                  <a:srgbClr val="0E7C86"/>
                </a:solidFill>
                <a:latin typeface="Consolas"/>
              </a:rPr>
              <a:t>LAKE_KEEP_BUSINESS_DAYS</a:t>
            </a:r>
          </a:p>
        </p:txBody>
      </p:sp>
      <p:sp>
        <p:nvSpPr>
          <p:cNvPr id="17" name="TextBox 16"/>
          <p:cNvSpPr txBox="1"/>
          <p:nvPr/>
        </p:nvSpPr>
        <p:spPr>
          <a:xfrm>
            <a:off x="5733288" y="1737360"/>
            <a:ext cx="334670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Glacier Instant Retrieval</a:t>
            </a:r>
          </a:p>
        </p:txBody>
      </p:sp>
      <p:sp>
        <p:nvSpPr>
          <p:cNvPr id="18" name="Rounded Rectangle 17"/>
          <p:cNvSpPr/>
          <p:nvPr/>
        </p:nvSpPr>
        <p:spPr>
          <a:xfrm>
            <a:off x="9281160" y="1234440"/>
            <a:ext cx="2404872" cy="146304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9390888" y="1298448"/>
            <a:ext cx="2185416"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beyond</a:t>
            </a:r>
          </a:p>
        </p:txBody>
      </p:sp>
      <p:sp>
        <p:nvSpPr>
          <p:cNvPr id="20" name="TextBox 19"/>
          <p:cNvSpPr txBox="1"/>
          <p:nvPr/>
        </p:nvSpPr>
        <p:spPr>
          <a:xfrm>
            <a:off x="9390888" y="1737360"/>
            <a:ext cx="2185416"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removed by lake maintain → vacuum → noncurrent expiry</a:t>
            </a:r>
          </a:p>
        </p:txBody>
      </p:sp>
      <p:cxnSp>
        <p:nvCxnSpPr>
          <p:cNvPr id="21" name="Connector 20"/>
          <p:cNvCxnSpPr/>
          <p:nvPr/>
        </p:nvCxnSpPr>
        <p:spPr>
          <a:xfrm>
            <a:off x="411480" y="2880360"/>
            <a:ext cx="11365992"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1480" y="2926080"/>
            <a:ext cx="11365992" cy="32004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business date age →   read latency: milliseconds in every tier</a:t>
            </a:r>
          </a:p>
        </p:txBody>
      </p:sp>
      <p:sp>
        <p:nvSpPr>
          <p:cNvPr id="23" name="TextBox 22"/>
          <p:cNvSpPr txBox="1"/>
          <p:nvPr/>
        </p:nvSpPr>
        <p:spPr>
          <a:xfrm>
            <a:off x="411480" y="3429000"/>
            <a:ext cx="11365992" cy="18288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Never</a:t>
            </a:r>
            <a:r>
              <a:rPr sz="1400" b="0" i="0">
                <a:solidFill>
                  <a:srgbClr val="1C2433"/>
                </a:solidFill>
                <a:latin typeface="Calibri"/>
              </a:rPr>
              <a:t> Glacier Flexible Retrieval or Deep Archive: a restore of hours before a read; Drishti reads any day in milliseconds</a:t>
            </a:r>
          </a:p>
          <a:p>
            <a:pPr algn="l" marL="201168" indent="-201168">
              <a:spcAft>
                <a:spcPts val="700"/>
              </a:spcAft>
              <a:buClr>
                <a:srgbClr val="E87A1E"/>
              </a:buClr>
              <a:buSzPct val="100000"/>
              <a:buFont typeface="Arial"/>
              <a:buChar char="•"/>
            </a:pPr>
            <a:r>
              <a:rPr sz="1400" b="1" i="0">
                <a:solidFill>
                  <a:srgbClr val="1C2433"/>
                </a:solidFill>
                <a:latin typeface="Calibri"/>
              </a:rPr>
              <a:t>Never</a:t>
            </a:r>
            <a:r>
              <a:rPr sz="1400" b="0" i="0">
                <a:solidFill>
                  <a:srgbClr val="1C2433"/>
                </a:solidFill>
                <a:latin typeface="Calibri"/>
              </a:rPr>
              <a:t> an S3 expiry of current lake objects: removing a file a table version still names breaks the table</a:t>
            </a:r>
          </a:p>
          <a:p>
            <a:pPr algn="l" marL="201168" indent="-201168">
              <a:spcAft>
                <a:spcPts val="700"/>
              </a:spcAft>
              <a:buClr>
                <a:srgbClr val="E87A1E"/>
              </a:buClr>
              <a:buSzPct val="100000"/>
              <a:buFont typeface="Arial"/>
              <a:buChar char="•"/>
            </a:pPr>
            <a:r>
              <a:rPr sz="1400" b="0" i="0">
                <a:solidFill>
                  <a:srgbClr val="1C2433"/>
                </a:solidFill>
                <a:latin typeface="Calibri"/>
              </a:rPr>
              <a:t>Only </a:t>
            </a:r>
            <a:r>
              <a:rPr sz="1300" b="0" i="0">
                <a:solidFill>
                  <a:srgbClr val="0E7C86"/>
                </a:solidFill>
                <a:latin typeface="Consolas"/>
              </a:rPr>
              <a:t>lake maintain</a:t>
            </a:r>
            <a:r>
              <a:rPr sz="1400" b="0" i="0">
                <a:solidFill>
                  <a:srgbClr val="1C2433"/>
                </a:solidFill>
                <a:latin typeface="Calibri"/>
              </a:rPr>
              <a:t> removes table files; S3 then keeps the noncurrent versions 14 days</a:t>
            </a:r>
          </a:p>
        </p:txBody>
      </p:sp>
      <p:sp>
        <p:nvSpPr>
          <p:cNvPr id="24" name="Callout"/>
          <p:cNvSpPr/>
          <p:nvPr/>
        </p:nvSpPr>
        <p:spPr>
          <a:xfrm>
            <a:off x="411480" y="5303520"/>
            <a:ext cx="11365992" cy="10058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llout edge"/>
          <p:cNvSpPr/>
          <p:nvPr/>
        </p:nvSpPr>
        <p:spPr>
          <a:xfrm>
            <a:off x="411480" y="5321807"/>
            <a:ext cx="82296" cy="9692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640080" y="5376672"/>
            <a:ext cx="11000232" cy="8595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The risk lake (2.8.0):</a:t>
            </a:r>
            <a:r>
              <a:rPr sz="1300" b="0" i="0">
                <a:solidFill>
                  <a:srgbClr val="1C2433"/>
                </a:solidFill>
                <a:latin typeface="Calibri"/>
              </a:rPr>
              <a:t> </a:t>
            </a:r>
            <a:r>
              <a:rPr sz="1200" b="0" i="0">
                <a:solidFill>
                  <a:srgbClr val="0E7C86"/>
                </a:solidFill>
                <a:latin typeface="Consolas"/>
              </a:rPr>
              <a:t>risk/</a:t>
            </a:r>
            <a:r>
              <a:rPr sz="1300" b="0" i="0">
                <a:solidFill>
                  <a:srgbClr val="1C2433"/>
                </a:solidFill>
                <a:latin typeface="Calibri"/>
              </a:rPr>
              <a:t> and </a:t>
            </a:r>
            <a:r>
              <a:rPr sz="1200" b="0" i="0">
                <a:solidFill>
                  <a:srgbClr val="0E7C86"/>
                </a:solidFill>
                <a:latin typeface="Consolas"/>
              </a:rPr>
              <a:t>risk-results/</a:t>
            </a:r>
            <a:r>
              <a:rPr sz="1300" b="0" i="0">
                <a:solidFill>
                  <a:srgbClr val="1C2433"/>
                </a:solidFill>
                <a:latin typeface="Calibri"/>
              </a:rPr>
              <a:t> keep 7 years of dates and time travel. Their old months sit in Glacier IR, still read in milliseconds, so any official VaR or exposure figure can be recomputed from its inputs years later.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11.3 Compaction: off for S3, and now safe to turn 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58</a:t>
            </a:r>
          </a:p>
        </p:txBody>
      </p:sp>
      <p:sp>
        <p:nvSpPr>
          <p:cNvPr id="9" name="TextBox 8"/>
          <p:cNvSpPr txBox="1"/>
          <p:nvPr/>
        </p:nvSpPr>
        <p:spPr>
          <a:xfrm>
            <a:off x="411480" y="1188720"/>
            <a:ext cx="6675120" cy="310896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Each day arrives laid out: files of </a:t>
            </a:r>
            <a:r>
              <a:rPr sz="1300" b="0" i="0">
                <a:solidFill>
                  <a:srgbClr val="0E7C86"/>
                </a:solidFill>
                <a:latin typeface="Consolas"/>
              </a:rPr>
              <a:t>file-rows</a:t>
            </a:r>
            <a:r>
              <a:rPr sz="1400" b="0" i="0">
                <a:solidFill>
                  <a:srgbClr val="1C2433"/>
                </a:solidFill>
                <a:latin typeface="Calibri"/>
              </a:rPr>
              <a:t>, sorted by id, one commit ⇒ the S3 tables need no compaction</a:t>
            </a:r>
          </a:p>
          <a:p>
            <a:pPr algn="l" marL="201168" indent="-201168">
              <a:spcAft>
                <a:spcPts val="800"/>
              </a:spcAft>
              <a:buClr>
                <a:srgbClr val="E87A1E"/>
              </a:buClr>
              <a:buSzPct val="100000"/>
              <a:buFont typeface="Arial"/>
              <a:buChar char="•"/>
            </a:pPr>
            <a:r>
              <a:rPr sz="1400" b="0" i="0">
                <a:solidFill>
                  <a:srgbClr val="1C2433"/>
                </a:solidFill>
                <a:latin typeface="Calibri"/>
              </a:rPr>
              <a:t>A plain Delta compaction would merge files out of id order (single-entity reads would touch many row groups)</a:t>
            </a:r>
          </a:p>
          <a:p>
            <a:pPr algn="l" marL="201168" indent="-201168">
              <a:spcAft>
                <a:spcPts val="800"/>
              </a:spcAft>
              <a:buClr>
                <a:srgbClr val="E87A1E"/>
              </a:buClr>
              <a:buSzPct val="100000"/>
              <a:buFont typeface="Arial"/>
              <a:buChar char="•"/>
            </a:pPr>
            <a:r>
              <a:rPr sz="1300" b="0" i="0">
                <a:solidFill>
                  <a:srgbClr val="0E7C86"/>
                </a:solidFill>
                <a:latin typeface="Consolas"/>
              </a:rPr>
              <a:t>lake maintain</a:t>
            </a:r>
            <a:r>
              <a:rPr sz="1400" b="0" i="0">
                <a:solidFill>
                  <a:srgbClr val="1C2433"/>
                </a:solidFill>
                <a:latin typeface="Calibri"/>
              </a:rPr>
              <a:t> re-sorts (</a:t>
            </a:r>
            <a:r>
              <a:rPr sz="1400" b="1" i="0">
                <a:solidFill>
                  <a:srgbClr val="1C2433"/>
                </a:solidFill>
                <a:latin typeface="Calibri"/>
              </a:rPr>
              <a:t>relayout</a:t>
            </a:r>
            <a:r>
              <a:rPr sz="1400" b="0" i="0">
                <a:solidFill>
                  <a:srgbClr val="1C2433"/>
                </a:solidFill>
                <a:latin typeface="Calibri"/>
              </a:rPr>
              <a:t>) instead of compacting where the pack declares a layout</a:t>
            </a:r>
          </a:p>
          <a:p>
            <a:pPr algn="l" marL="201168" indent="-201168">
              <a:spcAft>
                <a:spcPts val="800"/>
              </a:spcAft>
              <a:buClr>
                <a:srgbClr val="E87A1E"/>
              </a:buClr>
              <a:buSzPct val="100000"/>
              <a:buFont typeface="Arial"/>
              <a:buChar char="•"/>
            </a:pPr>
            <a:r>
              <a:rPr sz="1400" b="0" i="0">
                <a:solidFill>
                  <a:srgbClr val="1C2433"/>
                </a:solidFill>
                <a:latin typeface="Calibri"/>
              </a:rPr>
              <a:t>So </a:t>
            </a:r>
            <a:r>
              <a:rPr sz="1300" b="0" i="0">
                <a:solidFill>
                  <a:srgbClr val="0E7C86"/>
                </a:solidFill>
                <a:latin typeface="Consolas"/>
              </a:rPr>
              <a:t>compact: false</a:t>
            </a:r>
            <a:r>
              <a:rPr sz="1400" b="0" i="0">
                <a:solidFill>
                  <a:srgbClr val="1C2433"/>
                </a:solidFill>
                <a:latin typeface="Calibri"/>
              </a:rPr>
              <a:t> stays the shipped S3 setting; a day that needs re-laying is restated (slide 94)</a:t>
            </a:r>
          </a:p>
        </p:txBody>
      </p:sp>
      <p:sp>
        <p:nvSpPr>
          <p:cNvPr id="10" name="Callout"/>
          <p:cNvSpPr/>
          <p:nvPr/>
        </p:nvSpPr>
        <p:spPr>
          <a:xfrm>
            <a:off x="7269480" y="1188720"/>
            <a:ext cx="4507992" cy="2377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269480" y="1207008"/>
            <a:ext cx="82296" cy="2340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498079" y="1261872"/>
            <a:ext cx="4142231" cy="2231136"/>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Fixed in 2.6.7</a:t>
            </a:r>
          </a:p>
          <a:p>
            <a:pPr algn="l">
              <a:spcAft>
                <a:spcPts val="600"/>
              </a:spcAft>
              <a:buNone/>
            </a:pPr>
            <a:r>
              <a:rPr sz="1200" b="0" i="0">
                <a:solidFill>
                  <a:srgbClr val="0E7C86"/>
                </a:solidFill>
                <a:latin typeface="Consolas"/>
              </a:rPr>
              <a:t>lake maintain</a:t>
            </a:r>
            <a:r>
              <a:rPr sz="1300" b="0" i="0">
                <a:solidFill>
                  <a:srgbClr val="1C2433"/>
                </a:solidFill>
                <a:latin typeface="Calibri"/>
              </a:rPr>
              <a:t> finds the layout of the connector whose table it is, so </a:t>
            </a:r>
            <a:r>
              <a:rPr sz="1200" b="0" i="0">
                <a:solidFill>
                  <a:srgbClr val="0E7C86"/>
                </a:solidFill>
                <a:latin typeface="Consolas"/>
              </a:rPr>
              <a:t>trade_endur</a:t>
            </a:r>
            <a:r>
              <a:rPr sz="1300" b="0" i="0">
                <a:solidFill>
                  <a:srgbClr val="1C2433"/>
                </a:solidFill>
                <a:latin typeface="Calibri"/>
              </a:rPr>
              <a:t>, </a:t>
            </a:r>
            <a:r>
              <a:rPr sz="1200" b="0" i="0">
                <a:solidFill>
                  <a:srgbClr val="0E7C86"/>
                </a:solidFill>
                <a:latin typeface="Consolas"/>
              </a:rPr>
              <a:t>trade_calypso</a:t>
            </a:r>
            <a:r>
              <a:rPr sz="1300" b="0" i="0">
                <a:solidFill>
                  <a:srgbClr val="1C2433"/>
                </a:solidFill>
                <a:latin typeface="Calibri"/>
              </a:rPr>
              <a:t> and </a:t>
            </a:r>
            <a:r>
              <a:rPr sz="1200" b="0" i="0">
                <a:solidFill>
                  <a:srgbClr val="0E7C86"/>
                </a:solidFill>
                <a:latin typeface="Consolas"/>
              </a:rPr>
              <a:t>trade_murex</a:t>
            </a:r>
            <a:r>
              <a:rPr sz="1300" b="0" i="0">
                <a:solidFill>
                  <a:srgbClr val="1C2433"/>
                </a:solidFill>
                <a:latin typeface="Calibri"/>
              </a:rPr>
              <a:t> are re-laid out by id, not compacted out of order; relayout keeps </a:t>
            </a:r>
            <a:r>
              <a:rPr sz="1200" b="0" i="0">
                <a:solidFill>
                  <a:srgbClr val="0E7C86"/>
                </a:solidFill>
                <a:latin typeface="Consolas"/>
              </a:rPr>
              <a:t>business_date</a:t>
            </a:r>
            <a:r>
              <a:rPr sz="1300" b="0" i="0">
                <a:solidFill>
                  <a:srgbClr val="1C2433"/>
                </a:solidFill>
                <a:latin typeface="Calibri"/>
              </a:rPr>
              <a:t> and </a:t>
            </a:r>
            <a:r>
              <a:rPr sz="1200" b="0" i="0">
                <a:solidFill>
                  <a:srgbClr val="0E7C86"/>
                </a:solidFill>
                <a:latin typeface="Consolas"/>
              </a:rPr>
              <a:t>PRODUCT_TYPE</a:t>
            </a:r>
            <a:r>
              <a:rPr sz="1300" b="0" i="0">
                <a:solidFill>
                  <a:srgbClr val="1C2433"/>
                </a:solidFill>
                <a:latin typeface="Calibri"/>
              </a:rPr>
              <a:t> and checks each.</a:t>
            </a:r>
          </a:p>
        </p:txBody>
      </p:sp>
      <p:sp>
        <p:nvSpPr>
          <p:cNvPr id="13" name="Rounded Rectangle 12"/>
          <p:cNvSpPr/>
          <p:nvPr/>
        </p:nvSpPr>
        <p:spPr>
          <a:xfrm>
            <a:off x="411480" y="3931920"/>
            <a:ext cx="11365992" cy="128016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3977639"/>
            <a:ext cx="10040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Turn compaction on for S3 after a relayout test there</a:t>
            </a:r>
          </a:p>
        </p:txBody>
      </p:sp>
      <p:sp>
        <p:nvSpPr>
          <p:cNvPr id="15" name="Status PROPOSED"/>
          <p:cNvSpPr/>
          <p:nvPr/>
        </p:nvSpPr>
        <p:spPr>
          <a:xfrm>
            <a:off x="10634472" y="402335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6" name="TextBox 15"/>
          <p:cNvSpPr txBox="1"/>
          <p:nvPr/>
        </p:nvSpPr>
        <p:spPr>
          <a:xfrm>
            <a:off x="502920" y="4297680"/>
            <a:ext cx="11183112" cy="8686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the first edition's open finding is closed; AWS_DELTA_LAKE.md 9.3 and </a:t>
            </a:r>
            <a:r>
              <a:rPr sz="1200" b="0" i="0">
                <a:solidFill>
                  <a:srgbClr val="0E7C86"/>
                </a:solidFill>
                <a:latin typeface="Consolas"/>
              </a:rPr>
              <a:t>lake-maintenance.s3.yaml</a:t>
            </a:r>
            <a:r>
              <a:rPr sz="1300" b="0" i="0">
                <a:solidFill>
                  <a:srgbClr val="1C2433"/>
                </a:solidFill>
                <a:latin typeface="Calibri"/>
              </a:rPr>
              <a:t> still describe it as open</a:t>
            </a:r>
          </a:p>
          <a:p>
            <a:pPr algn="l" marL="201168" indent="-201168">
              <a:spcAft>
                <a:spcPts val="200"/>
              </a:spcAft>
              <a:buClr>
                <a:srgbClr val="E87A1E"/>
              </a:buClr>
              <a:buSzPct val="100000"/>
              <a:buFont typeface="Arial"/>
              <a:buChar char="•"/>
            </a:pPr>
            <a:r>
              <a:rPr sz="1300" b="0" i="0">
                <a:solidFill>
                  <a:srgbClr val="1C2433"/>
                </a:solidFill>
                <a:latin typeface="Calibri"/>
              </a:rPr>
              <a:t>run </a:t>
            </a:r>
            <a:r>
              <a:rPr sz="1200" b="0" i="0">
                <a:solidFill>
                  <a:srgbClr val="0E7C86"/>
                </a:solidFill>
                <a:latin typeface="Consolas"/>
              </a:rPr>
              <a:t>lake maintain --dry-run</a:t>
            </a:r>
            <a:r>
              <a:rPr sz="1300" b="0" i="0">
                <a:solidFill>
                  <a:srgbClr val="1C2433"/>
                </a:solidFill>
                <a:latin typeface="Calibri"/>
              </a:rPr>
              <a:t> with </a:t>
            </a:r>
            <a:r>
              <a:rPr sz="1200" b="0" i="0">
                <a:solidFill>
                  <a:srgbClr val="0E7C86"/>
                </a:solidFill>
                <a:latin typeface="Consolas"/>
              </a:rPr>
              <a:t>compact: true</a:t>
            </a:r>
            <a:r>
              <a:rPr sz="1300" b="0" i="0">
                <a:solidFill>
                  <a:srgbClr val="1C2433"/>
                </a:solidFill>
                <a:latin typeface="Calibri"/>
              </a:rPr>
              <a:t> on one S3 table, check id order per row group, then enable it nightly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11.4 The lifecycle rules (setup-lifecycle.sh)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59</a:t>
            </a:r>
          </a:p>
        </p:txBody>
      </p:sp>
      <p:sp>
        <p:nvSpPr>
          <p:cNvPr id="9" name="Code block"/>
          <p:cNvSpPr/>
          <p:nvPr/>
        </p:nvSpPr>
        <p:spPr>
          <a:xfrm>
            <a:off x="411480" y="1188720"/>
            <a:ext cx="11365992" cy="118872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06070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{"ID": "tier-trading-trade_endur-2026-03", "Status": "Enabled",</a:t>
            </a:r>
          </a:p>
          <a:p>
            <a:pPr>
              <a:spcAft>
                <a:spcPts val="0"/>
              </a:spcAft>
              <a:buNone/>
            </a:pPr>
            <a:r>
              <a:rPr sz="1100" b="0" i="0">
                <a:solidFill>
                  <a:srgbClr val="E6EDF3"/>
                </a:solidFill>
                <a:latin typeface="Consolas"/>
              </a:rPr>
              <a:t> "Filter": {"And": {"Prefix": "lake/trading/trade_endur/business_date=2026-03",</a:t>
            </a:r>
          </a:p>
          <a:p>
            <a:pPr>
              <a:spcAft>
                <a:spcPts val="0"/>
              </a:spcAft>
              <a:buNone/>
            </a:pPr>
            <a:r>
              <a:rPr sz="1100" b="0" i="0">
                <a:solidFill>
                  <a:srgbClr val="E6EDF3"/>
                </a:solidFill>
                <a:latin typeface="Consolas"/>
              </a:rPr>
              <a:t>                    "ObjectSizeGreaterThan": 131072}},</a:t>
            </a:r>
          </a:p>
          <a:p>
            <a:pPr>
              <a:spcAft>
                <a:spcPts val="0"/>
              </a:spcAft>
              <a:buNone/>
            </a:pPr>
            <a:r>
              <a:rPr sz="1100" b="0" i="0">
                <a:solidFill>
                  <a:srgbClr val="E6EDF3"/>
                </a:solidFill>
                <a:latin typeface="Consolas"/>
              </a:rPr>
              <a:t> "Transitions": [{"Date": "2026-06-29T00:00:00Z", "StorageClass": "STANDARD_IA"},</a:t>
            </a:r>
          </a:p>
          <a:p>
            <a:pPr>
              <a:spcAft>
                <a:spcPts val="0"/>
              </a:spcAft>
              <a:buNone/>
            </a:pPr>
            <a:r>
              <a:rPr sz="1100" b="0" i="0">
                <a:solidFill>
                  <a:srgbClr val="E6EDF3"/>
                </a:solidFill>
                <a:latin typeface="Consolas"/>
              </a:rPr>
              <a:t>                 {"Date": "2028-03-30T00:00:00Z", "StorageClass": "GLACIER_IR"}]}</a:t>
            </a:r>
          </a:p>
        </p:txBody>
      </p:sp>
      <p:sp>
        <p:nvSpPr>
          <p:cNvPr id="11" name="TextBox 10"/>
          <p:cNvSpPr txBox="1"/>
          <p:nvPr/>
        </p:nvSpPr>
        <p:spPr>
          <a:xfrm>
            <a:off x="411480" y="2606040"/>
            <a:ext cx="11365992" cy="24688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Rules match prefixes and move on a date or an age; age is wrong for restated days ⇒ one rule per table per business month, with dates</a:t>
            </a:r>
          </a:p>
          <a:p>
            <a:pPr algn="l" marL="201168" indent="-201168">
              <a:spcAft>
                <a:spcPts val="600"/>
              </a:spcAft>
              <a:buClr>
                <a:srgbClr val="E87A1E"/>
              </a:buClr>
              <a:buSzPct val="100000"/>
              <a:buFont typeface="Arial"/>
              <a:buChar char="•"/>
            </a:pPr>
            <a:r>
              <a:rPr sz="1400" b="0" i="0">
                <a:solidFill>
                  <a:srgbClr val="1C2433"/>
                </a:solidFill>
                <a:latin typeface="Calibri"/>
              </a:rPr>
              <a:t>A month's files move to Standard-IA when its last day is 90 days old, and to Glacier IR at two years</a:t>
            </a:r>
          </a:p>
          <a:p>
            <a:pPr algn="l" marL="201168" indent="-201168">
              <a:spcAft>
                <a:spcPts val="600"/>
              </a:spcAft>
              <a:buClr>
                <a:srgbClr val="E87A1E"/>
              </a:buClr>
              <a:buSzPct val="100000"/>
              <a:buFont typeface="Arial"/>
              <a:buChar char="•"/>
            </a:pPr>
            <a:r>
              <a:rPr sz="1400" b="0" i="0">
                <a:solidFill>
                  <a:srgbClr val="1C2433"/>
                </a:solidFill>
                <a:latin typeface="Calibri"/>
              </a:rPr>
              <a:t>Rules exist three months ahead; maintain.sh rewrites them nightly</a:t>
            </a:r>
          </a:p>
          <a:p>
            <a:pPr algn="l" marL="201168" indent="-201168">
              <a:spcAft>
                <a:spcPts val="600"/>
              </a:spcAft>
              <a:buClr>
                <a:srgbClr val="E87A1E"/>
              </a:buClr>
              <a:buSzPct val="100000"/>
              <a:buFont typeface="Arial"/>
              <a:buChar char="•"/>
            </a:pPr>
            <a:r>
              <a:rPr sz="1300" b="0" i="0">
                <a:solidFill>
                  <a:srgbClr val="0E7C86"/>
                </a:solidFill>
                <a:latin typeface="Consolas"/>
              </a:rPr>
              <a:t>_delta_log/</a:t>
            </a:r>
            <a:r>
              <a:rPr sz="1400" b="0" i="0">
                <a:solidFill>
                  <a:srgbClr val="1C2433"/>
                </a:solidFill>
                <a:latin typeface="Calibri"/>
              </a:rPr>
              <a:t> never matches: commits and checkpoints stay in Standard; objects under 128 KB stay where they are</a:t>
            </a:r>
          </a:p>
          <a:p>
            <a:pPr algn="l" marL="201168" indent="-201168">
              <a:spcAft>
                <a:spcPts val="600"/>
              </a:spcAft>
              <a:buClr>
                <a:srgbClr val="E87A1E"/>
              </a:buClr>
              <a:buSzPct val="100000"/>
              <a:buFont typeface="Arial"/>
              <a:buChar char="•"/>
            </a:pPr>
            <a:r>
              <a:rPr sz="1400" b="0" i="0">
                <a:solidFill>
                  <a:srgbClr val="1C2433"/>
                </a:solidFill>
                <a:latin typeface="Calibri"/>
              </a:rPr>
              <a:t>S3 allows 1,000 rules; the script refuses more (≈ 30 tables over seven years)</a:t>
            </a:r>
          </a:p>
        </p:txBody>
      </p:sp>
      <p:sp>
        <p:nvSpPr>
          <p:cNvPr id="12" name="Callout"/>
          <p:cNvSpPr/>
          <p:nvPr/>
        </p:nvSpPr>
        <p:spPr>
          <a:xfrm>
            <a:off x="411480" y="4480560"/>
            <a:ext cx="11365992" cy="9144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4498848"/>
            <a:ext cx="82296" cy="8778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4553712"/>
            <a:ext cx="11000232" cy="76809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Costs to know:</a:t>
            </a:r>
            <a:r>
              <a:rPr sz="1300" b="0" i="0">
                <a:solidFill>
                  <a:srgbClr val="1C2433"/>
                </a:solidFill>
                <a:latin typeface="Calibri"/>
              </a:rPr>
              <a:t> Standard-IA keeps an object at least 30 days, Glacier IR 90 days; a restatement of a tiered day pays the rest of that minimum. Reads from Standard-IA ≈ USD 0.01/GB, from Glacier IR ≈ USD 0.03/GB.</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11.5 Admin → Lakes: the same engine in the console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60</a:t>
            </a:r>
          </a:p>
        </p:txBody>
      </p:sp>
      <p:graphicFrame>
        <p:nvGraphicFramePr>
          <p:cNvPr id="9" name="Table"/>
          <p:cNvGraphicFramePr>
            <a:graphicFrameLocks noGrp="1"/>
          </p:cNvGraphicFramePr>
          <p:nvPr/>
        </p:nvGraphicFramePr>
        <p:xfrm>
          <a:off x="411480" y="1188720"/>
          <a:ext cx="6766560" cy="2834640"/>
        </p:xfrm>
        <a:graphic>
          <a:graphicData uri="http://schemas.openxmlformats.org/drawingml/2006/table">
            <a:tbl>
              <a:tblPr firstRow="0" bandRow="0">
                <a:tableStyleId>{5940675A-B579-460E-94D1-54222C63F5DA}</a:tableStyleId>
              </a:tblPr>
              <a:tblGrid>
                <a:gridCol w="1371600"/>
                <a:gridCol w="3931920"/>
                <a:gridCol w="1463040"/>
              </a:tblGrid>
              <a:tr h="566928">
                <a:tc>
                  <a:txBody>
                    <a:bodyPr wrap="square"/>
                    <a:lstStyle/>
                    <a:p>
                      <a:r>
                        <a:rPr sz="1200" b="1" i="0">
                          <a:solidFill>
                            <a:srgbClr val="FFFFFF"/>
                          </a:solidFill>
                          <a:latin typeface="Calibri"/>
                        </a:rPr>
                        <a:t>Step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does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deletes business dates older than the window, counted from today; refuses to drop more than half a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keep-business-days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Compaction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merges small files, or re-lays a table in its pack's layout (dates that drifted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target-file-mb</a:t>
                      </a:r>
                      <a:r>
                        <a:rPr sz="1200" b="0" i="0">
                          <a:solidFill>
                            <a:srgbClr val="1C2433"/>
                          </a:solidFill>
                          <a:latin typeface="Calibri"/>
                        </a:rPr>
                        <a:t> (128)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readers replay a short 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checkpoint</a:t>
                      </a:r>
                      <a:r>
                        <a:rPr sz="1200" b="0" i="0">
                          <a:solidFill>
                            <a:srgbClr val="1C2433"/>
                          </a:solidFill>
                          <a:latin typeface="Calibri"/>
                        </a:rPr>
                        <a:t>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Vacuum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removes files no version uses, older than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vacuum-hours</a:t>
                      </a:r>
                      <a:r>
                        <a:rPr sz="1200" b="0" i="0">
                          <a:solidFill>
                            <a:srgbClr val="1C2433"/>
                          </a:solidFill>
                          <a:latin typeface="Calibri"/>
                        </a:rPr>
                        <a:t> (168)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206240"/>
            <a:ext cx="6766560" cy="214884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Dry run</a:t>
            </a:r>
            <a:r>
              <a:rPr sz="1300" b="0" i="0">
                <a:solidFill>
                  <a:srgbClr val="1C2433"/>
                </a:solidFill>
                <a:latin typeface="Calibri"/>
              </a:rPr>
              <a:t> first: files and size before → after, dates retention would drop, what vacuum would delete</a:t>
            </a:r>
          </a:p>
          <a:p>
            <a:pPr algn="l" marL="201168" indent="-201168">
              <a:spcAft>
                <a:spcPts val="600"/>
              </a:spcAft>
              <a:buClr>
                <a:srgbClr val="E87A1E"/>
              </a:buClr>
              <a:buSzPct val="100000"/>
              <a:buFont typeface="Arial"/>
              <a:buChar char="•"/>
            </a:pPr>
            <a:r>
              <a:rPr sz="1300" b="1" i="0">
                <a:solidFill>
                  <a:srgbClr val="1C2433"/>
                </a:solidFill>
                <a:latin typeface="Calibri"/>
              </a:rPr>
              <a:t>Ownership rule:</a:t>
            </a:r>
            <a:r>
              <a:rPr sz="1300" b="0" i="0">
                <a:solidFill>
                  <a:srgbClr val="1C2433"/>
                </a:solidFill>
                <a:latin typeface="Calibri"/>
              </a:rPr>
              <a:t> only tables </a:t>
            </a:r>
            <a:r>
              <a:rPr sz="1200" b="0" i="0">
                <a:solidFill>
                  <a:srgbClr val="0E7C86"/>
                </a:solidFill>
                <a:latin typeface="Consolas"/>
              </a:rPr>
              <a:t>lake build</a:t>
            </a:r>
            <a:r>
              <a:rPr sz="1300" b="0" i="0">
                <a:solidFill>
                  <a:srgbClr val="1C2433"/>
                </a:solidFill>
                <a:latin typeface="Calibri"/>
              </a:rPr>
              <a:t> built; a foreign table is read-only</a:t>
            </a:r>
          </a:p>
          <a:p>
            <a:pPr algn="l" marL="201168" indent="-201168">
              <a:spcAft>
                <a:spcPts val="600"/>
              </a:spcAft>
              <a:buClr>
                <a:srgbClr val="E87A1E"/>
              </a:buClr>
              <a:buSzPct val="100000"/>
              <a:buFont typeface="Arial"/>
              <a:buChar char="•"/>
            </a:pPr>
            <a:r>
              <a:rPr sz="1300" b="0" i="0">
                <a:solidFill>
                  <a:srgbClr val="1C2433"/>
                </a:solidFill>
                <a:latin typeface="Calibri"/>
              </a:rPr>
              <a:t>Schedules at a time or after every build; history kept in </a:t>
            </a:r>
            <a:r>
              <a:rPr sz="1200" b="0" i="0">
                <a:solidFill>
                  <a:srgbClr val="0E7C86"/>
                </a:solidFill>
                <a:latin typeface="Consolas"/>
              </a:rPr>
              <a:t>maintenance-history.jsonl</a:t>
            </a:r>
          </a:p>
        </p:txBody>
      </p:sp>
      <p:sp>
        <p:nvSpPr>
          <p:cNvPr id="11" name="Callout"/>
          <p:cNvSpPr/>
          <p:nvPr/>
        </p:nvSpPr>
        <p:spPr>
          <a:xfrm>
            <a:off x="7452360" y="1188720"/>
            <a:ext cx="4325112" cy="51206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7452360" y="1207008"/>
            <a:ext cx="82296" cy="50840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7680960" y="1261872"/>
            <a:ext cx="3959352" cy="4974336"/>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On AWS: one scheduler</a:t>
            </a:r>
          </a:p>
          <a:p>
            <a:pPr algn="l">
              <a:spcAft>
                <a:spcPts val="600"/>
              </a:spcAft>
              <a:buNone/>
            </a:pPr>
            <a:r>
              <a:rPr sz="1300" b="0" i="0">
                <a:solidFill>
                  <a:srgbClr val="1C2433"/>
                </a:solidFill>
                <a:latin typeface="Calibri"/>
              </a:rPr>
              <a:t>EventBridge runs </a:t>
            </a:r>
            <a:r>
              <a:rPr sz="1200" b="0" i="0">
                <a:solidFill>
                  <a:srgbClr val="0E7C86"/>
                </a:solidFill>
                <a:latin typeface="Consolas"/>
              </a:rPr>
              <a:t>maintain.sh</a:t>
            </a:r>
            <a:r>
              <a:rPr sz="1300" b="0" i="0">
                <a:solidFill>
                  <a:srgbClr val="1C2433"/>
                </a:solidFill>
                <a:latin typeface="Calibri"/>
              </a:rPr>
              <a:t> nightly against </a:t>
            </a:r>
            <a:r>
              <a:rPr sz="1200" b="0" i="0">
                <a:solidFill>
                  <a:srgbClr val="0E7C86"/>
                </a:solidFill>
                <a:latin typeface="Consolas"/>
              </a:rPr>
              <a:t>s3://</a:t>
            </a:r>
            <a:r>
              <a:rPr sz="1300" b="0" i="0">
                <a:solidFill>
                  <a:srgbClr val="1C2433"/>
                </a:solidFill>
                <a:latin typeface="Calibri"/>
              </a:rPr>
              <a:t> with </a:t>
            </a:r>
            <a:r>
              <a:rPr sz="1200" b="0" i="0">
                <a:solidFill>
                  <a:srgbClr val="0E7C86"/>
                </a:solidFill>
                <a:latin typeface="Consolas"/>
              </a:rPr>
              <a:t>--force-foreign</a:t>
            </a:r>
            <a:r>
              <a:rPr sz="1300" b="0" i="0">
                <a:solidFill>
                  <a:srgbClr val="1C2433"/>
                </a:solidFill>
                <a:latin typeface="Calibri"/>
              </a:rPr>
              <a:t>.</a:t>
            </a:r>
          </a:p>
          <a:p>
            <a:pPr algn="l">
              <a:spcAft>
                <a:spcPts val="600"/>
              </a:spcAft>
              <a:buNone/>
            </a:pPr>
            <a:r>
              <a:rPr sz="1300" b="0" i="0">
                <a:solidFill>
                  <a:srgbClr val="1C2433"/>
                </a:solidFill>
                <a:latin typeface="Calibri"/>
              </a:rPr>
              <a:t>Admin → Lakes maintains the lakes listed in </a:t>
            </a:r>
            <a:r>
              <a:rPr sz="1200" b="0" i="0">
                <a:solidFill>
                  <a:srgbClr val="0E7C86"/>
                </a:solidFill>
                <a:latin typeface="Consolas"/>
              </a:rPr>
              <a:t>lakes.roots</a:t>
            </a:r>
            <a:r>
              <a:rPr sz="1300" b="0" i="0">
                <a:solidFill>
                  <a:srgbClr val="1C2433"/>
                </a:solidFill>
                <a:latin typeface="Calibri"/>
              </a:rPr>
              <a:t> and the file </a:t>
            </a:r>
            <a:r>
              <a:rPr sz="1200" b="0" i="0">
                <a:solidFill>
                  <a:srgbClr val="0E7C86"/>
                </a:solidFill>
                <a:latin typeface="Consolas"/>
              </a:rPr>
              <a:t>&lt;data&gt;/lakes/lake-maintenance.yaml</a:t>
            </a:r>
            <a:r>
              <a:rPr sz="1300" b="0" i="0">
                <a:solidFill>
                  <a:srgbClr val="1C2433"/>
                </a:solidFill>
                <a:latin typeface="Calibri"/>
              </a:rPr>
              <a:t>; dry runs and history work the same.</a:t>
            </a:r>
          </a:p>
          <a:p>
            <a:pPr algn="l">
              <a:spcAft>
                <a:spcPts val="600"/>
              </a:spcAft>
              <a:buNone/>
            </a:pPr>
            <a:r>
              <a:rPr sz="1300" b="0" i="0">
                <a:solidFill>
                  <a:srgbClr val="1C2433"/>
                </a:solidFill>
                <a:latin typeface="Calibri"/>
              </a:rPr>
              <a:t>Run schedules in </a:t>
            </a:r>
            <a:r>
              <a:rPr sz="1300" b="1" i="0">
                <a:solidFill>
                  <a:srgbClr val="1C2433"/>
                </a:solidFill>
                <a:latin typeface="Calibri"/>
              </a:rPr>
              <a:t>one</a:t>
            </a:r>
            <a:r>
              <a:rPr sz="1300" b="0" i="0">
                <a:solidFill>
                  <a:srgbClr val="1C2433"/>
                </a:solidFill>
                <a:latin typeface="Calibri"/>
              </a:rPr>
              <a:t> place: set </a:t>
            </a:r>
            <a:r>
              <a:rPr sz="1200" b="0" i="0">
                <a:solidFill>
                  <a:srgbClr val="0E7C86"/>
                </a:solidFill>
                <a:latin typeface="Consolas"/>
              </a:rPr>
              <a:t>DRISHTI_LAKE_MAINTENANCE_SCHEDULES=false</a:t>
            </a:r>
            <a:r>
              <a:rPr sz="1300" b="0" i="0">
                <a:solidFill>
                  <a:srgbClr val="1C2433"/>
                </a:solidFill>
                <a:latin typeface="Calibri"/>
              </a:rPr>
              <a:t> on the console when EventBridge or the daemon runs them.</a:t>
            </a:r>
          </a:p>
          <a:p>
            <a:pPr algn="l">
              <a:spcAft>
                <a:spcPts val="600"/>
              </a:spcAft>
              <a:buNone/>
            </a:pPr>
            <a:r>
              <a:rPr sz="1300" b="0" i="0">
                <a:solidFill>
                  <a:srgbClr val="1C2433"/>
                </a:solidFill>
                <a:latin typeface="Calibri"/>
              </a:rPr>
              <a:t>The risk floor applies in every place it runs.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12</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risk lake: VaR and exposure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Inputs as vectors in Delta, computed for any scope when asked, official results published append-only with JSON Lines beside them; morning runs, intraday batches and Kafka micro-batches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risk lake's tables: inputs in risk/, results in risk-results/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62</a:t>
            </a:r>
          </a:p>
        </p:txBody>
      </p:sp>
      <p:graphicFrame>
        <p:nvGraphicFramePr>
          <p:cNvPr id="9" name="Table"/>
          <p:cNvGraphicFramePr>
            <a:graphicFrameLocks noGrp="1"/>
          </p:cNvGraphicFramePr>
          <p:nvPr/>
        </p:nvGraphicFramePr>
        <p:xfrm>
          <a:off x="411480" y="1188720"/>
          <a:ext cx="11365992" cy="4279392"/>
        </p:xfrm>
        <a:graphic>
          <a:graphicData uri="http://schemas.openxmlformats.org/drawingml/2006/table">
            <a:tbl>
              <a:tblPr firstRow="0" bandRow="0">
                <a:tableStyleId>{5940675A-B579-460E-94D1-54222C63F5DA}</a:tableStyleId>
              </a:tblPr>
              <a:tblGrid>
                <a:gridCol w="3017520"/>
                <a:gridCol w="3566160"/>
                <a:gridCol w="1554480"/>
                <a:gridCol w="1691640"/>
                <a:gridCol w="1536192"/>
              </a:tblGrid>
              <a:tr h="475488">
                <a:tc>
                  <a:txBody>
                    <a:bodyPr wrap="square"/>
                    <a:lstStyle/>
                    <a:p>
                      <a:r>
                        <a:rPr sz="1100" b="1" i="0">
                          <a:solidFill>
                            <a:srgbClr val="FFFFFF"/>
                          </a:solidFill>
                          <a:latin typeface="Calibri"/>
                        </a:rPr>
                        <a:t>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One row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Vector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Read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100" b="1" i="0">
                          <a:solidFill>
                            <a:srgbClr val="0E7C86"/>
                          </a:solidFill>
                          <a:latin typeface="Consolas"/>
                        </a:rPr>
                        <a:t>risk/pnl-vector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trade's (or position's) P&amp;L over 509 scenarios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VECTOR_ID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0E7C86"/>
                          </a:solidFill>
                          <a:latin typeface="Consolas"/>
                        </a:rPr>
                        <a:t>risk/scenario-pv</a:t>
                      </a:r>
                      <a:r>
                        <a:rPr sz="1100" b="1" i="0">
                          <a:solidFill>
                            <a:srgbClr val="1C2433"/>
                          </a:solidFill>
                          <a:latin typeface="Calibri"/>
                        </a:rPr>
                        <a:t> (2.9.4)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trade's scenario PVs and base PV, its own currency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SCENARIO_PV_ID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SCENARIO_PV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00" b="1" i="0">
                          <a:solidFill>
                            <a:srgbClr val="0E7C86"/>
                          </a:solidFill>
                          <a:latin typeface="Consolas"/>
                        </a:rPr>
                        <a:t>risk/fx-scenario</a:t>
                      </a:r>
                      <a:r>
                        <a:rPr sz="1100" b="1" i="0">
                          <a:solidFill>
                            <a:srgbClr val="1C2433"/>
                          </a:solidFill>
                          <a:latin typeface="Calibri"/>
                        </a:rPr>
                        <a:t> (2.9.4)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currency's rate today and per 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FX_SCENARIO_ID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 (</a:t>
                      </a:r>
                      <a:r>
                        <a:rPr sz="1100" b="0" i="0">
                          <a:solidFill>
                            <a:srgbClr val="0E7C86"/>
                          </a:solidFill>
                          <a:latin typeface="Consolas"/>
                        </a:rPr>
                        <a:t>RATES</a:t>
                      </a:r>
                      <a:r>
                        <a:rPr sz="1100" b="0" i="0">
                          <a:solidFill>
                            <a:srgbClr val="1C2433"/>
                          </a:solidFill>
                          <a:latin typeface="Calibri"/>
                        </a:rPr>
                        <a:t> in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0E7C86"/>
                          </a:solidFill>
                          <a:latin typeface="Consolas"/>
                        </a:rPr>
                        <a:t>risk/scenario-set</a:t>
                      </a:r>
                      <a:r>
                        <a:rPr sz="1100" b="1" i="0">
                          <a:solidFill>
                            <a:srgbClr val="1C2433"/>
                          </a:solidFill>
                          <a:latin typeface="Calibri"/>
                        </a:rPr>
                        <a:t> · </a:t>
                      </a:r>
                      <a:r>
                        <a:rPr sz="1100" b="1" i="0">
                          <a:solidFill>
                            <a:srgbClr val="0E7C86"/>
                          </a:solidFill>
                          <a:latin typeface="Consolas"/>
                        </a:rPr>
                        <a:t>risk-hierarchy</a:t>
                      </a:r>
                      <a:r>
                        <a:rPr sz="1100" b="1" i="0">
                          <a:solidFill>
                            <a:srgbClr val="1C2433"/>
                          </a:solidFill>
                          <a:latin typeface="Calibri"/>
                        </a:rPr>
                        <a:t> · </a:t>
                      </a:r>
                      <a:r>
                        <a:rPr sz="1100" b="1" i="0">
                          <a:solidFill>
                            <a:srgbClr val="0E7C86"/>
                          </a:solidFill>
                          <a:latin typeface="Consolas"/>
                        </a:rPr>
                        <a:t>portfolio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scenario days · a tree node with its limit · a portfolio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SCENARIO_SET_ID</a:t>
                      </a:r>
                      <a:r>
                        <a:rPr sz="1100" b="0" i="0">
                          <a:solidFill>
                            <a:srgbClr val="1C2433"/>
                          </a:solidFill>
                          <a:latin typeface="Calibri"/>
                        </a:rPr>
                        <a:t>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00" b="1" i="0">
                          <a:solidFill>
                            <a:srgbClr val="0E7C86"/>
                          </a:solidFill>
                          <a:latin typeface="Consolas"/>
                        </a:rPr>
                        <a:t>risk/simulation-run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an exposure run's grid and identity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RUN_ID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exposure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0E7C86"/>
                          </a:solidFill>
                          <a:latin typeface="Consolas"/>
                        </a:rPr>
                        <a:t>risk/exposure-path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trade × grid date: MtM over the P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PATH_ROW_ID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MTM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exposure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00" b="1" i="0">
                          <a:solidFill>
                            <a:srgbClr val="0E7C86"/>
                          </a:solidFill>
                          <a:latin typeface="Consolas"/>
                        </a:rPr>
                        <a:t>risk-results/var-official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node × date × result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node@date#v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BI only (</a:t>
                      </a:r>
                      <a:r>
                        <a:rPr sz="1100" b="0" i="0">
                          <a:solidFill>
                            <a:srgbClr val="0E7C86"/>
                          </a:solidFill>
                          <a:latin typeface="Consolas"/>
                        </a:rPr>
                        <a:t>VOFF</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0E7C86"/>
                          </a:solidFill>
                          <a:latin typeface="Consolas"/>
                        </a:rPr>
                        <a:t>risk-results/exposure-official(-cpty)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node, set, counterparty or group ×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scope@date#v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 (profile as 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BI only (</a:t>
                      </a:r>
                      <a:r>
                        <a:rPr sz="1100" b="0" i="0">
                          <a:solidFill>
                            <a:srgbClr val="0E7C86"/>
                          </a:solidFill>
                          <a:latin typeface="Consolas"/>
                        </a:rPr>
                        <a:t>XOFC</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411480" y="5852160"/>
            <a:ext cx="11365992" cy="530352"/>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870448"/>
            <a:ext cx="82296" cy="493775"/>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925312"/>
            <a:ext cx="11000232" cy="384047"/>
          </a:xfrm>
          <a:prstGeom prst="rect">
            <a:avLst/>
          </a:prstGeom>
          <a:noFill/>
        </p:spPr>
        <p:txBody>
          <a:bodyPr wrap="square" lIns="0" rIns="0" tIns="0" bIns="0" anchor="ctr">
            <a:spAutoFit/>
          </a:bodyPr>
          <a:lstStyle/>
          <a:p>
            <a:pPr algn="l">
              <a:spcAft>
                <a:spcPts val="600"/>
              </a:spcAft>
              <a:buNone/>
            </a:pPr>
            <a:r>
              <a:rPr sz="1200" b="0" i="0">
                <a:solidFill>
                  <a:srgbClr val="1C2433"/>
                </a:solidFill>
                <a:latin typeface="Calibri"/>
              </a:rPr>
              <a:t>Engines read </a:t>
            </a:r>
            <a:r>
              <a:rPr sz="1100" b="0" i="0">
                <a:solidFill>
                  <a:srgbClr val="0E7C86"/>
                </a:solidFill>
                <a:latin typeface="Consolas"/>
              </a:rPr>
              <a:t>risk/</a:t>
            </a:r>
            <a:r>
              <a:rPr sz="1200" b="0" i="0">
                <a:solidFill>
                  <a:srgbClr val="1C2433"/>
                </a:solidFill>
                <a:latin typeface="Calibri"/>
              </a:rPr>
              <a:t> only; nothing reads </a:t>
            </a:r>
            <a:r>
              <a:rPr sz="1100" b="0" i="0">
                <a:solidFill>
                  <a:srgbClr val="0E7C86"/>
                </a:solidFill>
                <a:latin typeface="Consolas"/>
              </a:rPr>
              <a:t>risk-results/</a:t>
            </a:r>
            <a:r>
              <a:rPr sz="1200" b="0" i="0">
                <a:solidFill>
                  <a:srgbClr val="1C2433"/>
                </a:solidFill>
                <a:latin typeface="Calibri"/>
              </a:rPr>
              <a:t> back except BI's read-only connectors (a guard test). Positions are derived, never stored.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 vector is one list&lt;double&gt; column: why, and how it is carried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63</a:t>
            </a:r>
          </a:p>
        </p:txBody>
      </p:sp>
      <p:graphicFrame>
        <p:nvGraphicFramePr>
          <p:cNvPr id="9" name="Table"/>
          <p:cNvGraphicFramePr>
            <a:graphicFrameLocks noGrp="1"/>
          </p:cNvGraphicFramePr>
          <p:nvPr/>
        </p:nvGraphicFramePr>
        <p:xfrm>
          <a:off x="411480" y="1188720"/>
          <a:ext cx="11365992" cy="2286000"/>
        </p:xfrm>
        <a:graphic>
          <a:graphicData uri="http://schemas.openxmlformats.org/drawingml/2006/table">
            <a:tbl>
              <a:tblPr firstRow="0" bandRow="0">
                <a:tableStyleId>{5940675A-B579-460E-94D1-54222C63F5DA}</a:tableStyleId>
              </a:tblPr>
              <a:tblGrid>
                <a:gridCol w="3474720"/>
                <a:gridCol w="2194560"/>
                <a:gridCol w="3291840"/>
                <a:gridCol w="2404872"/>
              </a:tblGrid>
              <a:tr h="457200">
                <a:tc>
                  <a:txBody>
                    <a:bodyPr wrap="square"/>
                    <a:lstStyle/>
                    <a:p>
                      <a:r>
                        <a:rPr sz="1200" b="1" i="0">
                          <a:solidFill>
                            <a:srgbClr val="FFFFFF"/>
                          </a:solidFill>
                          <a:latin typeface="Calibri"/>
                        </a:rPr>
                        <a:t>Layout (one date, 2M rows × 509)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Size, compressed (estimate)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Sum a scope's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Verdict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A. Long: a row per position × 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~9–11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group-by over hundreds of millions of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rejected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B. Wide: 509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~5.5–6.5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509 column chunks per 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rejected (schema = scenario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C. Vector: </a:t>
                      </a:r>
                      <a:r>
                        <a:rPr sz="1100" b="1" i="0">
                          <a:solidFill>
                            <a:srgbClr val="0E7C86"/>
                          </a:solidFill>
                          <a:latin typeface="Consolas"/>
                        </a:rPr>
                        <a:t>PNL list&lt;double&gt;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~5.5–6.5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column, decoded into one array, added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chosen,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D. Blob: 4,072 bytes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column, copy bytes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rejected (other tools cannot read 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Rounded Rectangle 9"/>
          <p:cNvSpPr/>
          <p:nvPr/>
        </p:nvSpPr>
        <p:spPr>
          <a:xfrm>
            <a:off x="411480" y="3703320"/>
            <a:ext cx="5532120" cy="21945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3749039"/>
            <a:ext cx="4206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As built (2.8.0, exposure 2.9.0)</a:t>
            </a:r>
          </a:p>
        </p:txBody>
      </p:sp>
      <p:sp>
        <p:nvSpPr>
          <p:cNvPr id="12" name="Status BUILT"/>
          <p:cNvSpPr/>
          <p:nvPr/>
        </p:nvSpPr>
        <p:spPr>
          <a:xfrm>
            <a:off x="4800600" y="3794759"/>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3" name="TextBox 12"/>
          <p:cNvSpPr txBox="1"/>
          <p:nvPr/>
        </p:nvSpPr>
        <p:spPr>
          <a:xfrm>
            <a:off x="502920" y="4069080"/>
            <a:ext cx="5349240" cy="17830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layout.&lt;kind&gt;.vectors: [PNL]</a:t>
            </a:r>
            <a:r>
              <a:rPr sz="1200" b="0" i="0">
                <a:solidFill>
                  <a:srgbClr val="1C2433"/>
                </a:solidFill>
                <a:latin typeface="Calibri"/>
              </a:rPr>
              <a:t>; </a:t>
            </a:r>
            <a:r>
              <a:rPr sz="1100" b="0" i="0">
                <a:solidFill>
                  <a:srgbClr val="0E7C86"/>
                </a:solidFill>
                <a:latin typeface="Consolas"/>
              </a:rPr>
              <a:t>lake build --vector</a:t>
            </a:r>
            <a:r>
              <a:rPr sz="1200" b="0" i="0">
                <a:solidFill>
                  <a:srgbClr val="1C2433"/>
                </a:solidFill>
                <a:latin typeface="Calibri"/>
              </a:rPr>
              <a:t>; both writers</a:t>
            </a:r>
          </a:p>
          <a:p>
            <a:pPr algn="l" marL="201168" indent="-201168">
              <a:spcAft>
                <a:spcPts val="200"/>
              </a:spcAft>
              <a:buClr>
                <a:srgbClr val="E87A1E"/>
              </a:buClr>
              <a:buSzPct val="100000"/>
              <a:buFont typeface="Arial"/>
              <a:buChar char="•"/>
            </a:pPr>
            <a:r>
              <a:rPr sz="1200" b="0" i="0">
                <a:solidFill>
                  <a:srgbClr val="1C2433"/>
                </a:solidFill>
                <a:latin typeface="Calibri"/>
              </a:rPr>
              <a:t>the document keeps </a:t>
            </a:r>
            <a:r>
              <a:rPr sz="1100" b="0" i="0">
                <a:solidFill>
                  <a:srgbClr val="0E7C86"/>
                </a:solidFill>
                <a:latin typeface="Consolas"/>
              </a:rPr>
              <a:t>{"$vector": "PNL"}</a:t>
            </a:r>
            <a:r>
              <a:rPr sz="1200" b="0" i="0">
                <a:solidFill>
                  <a:srgbClr val="1C2433"/>
                </a:solidFill>
                <a:latin typeface="Calibri"/>
              </a:rPr>
              <a:t>: never stored twice</a:t>
            </a:r>
          </a:p>
          <a:p>
            <a:pPr algn="l" marL="201168" indent="-201168">
              <a:spcAft>
                <a:spcPts val="200"/>
              </a:spcAft>
              <a:buClr>
                <a:srgbClr val="E87A1E"/>
              </a:buClr>
              <a:buSzPct val="100000"/>
              <a:buFont typeface="Arial"/>
              <a:buChar char="•"/>
            </a:pPr>
            <a:r>
              <a:rPr sz="1200" b="0" i="0">
                <a:solidFill>
                  <a:srgbClr val="1C2433"/>
                </a:solidFill>
                <a:latin typeface="Calibri"/>
              </a:rPr>
              <a:t>streamed per date, one buffer reused for every row</a:t>
            </a:r>
          </a:p>
          <a:p>
            <a:pPr algn="l" marL="201168" indent="-201168">
              <a:spcAft>
                <a:spcPts val="200"/>
              </a:spcAft>
              <a:buClr>
                <a:srgbClr val="E87A1E"/>
              </a:buClr>
              <a:buSzPct val="100000"/>
              <a:buFont typeface="Arial"/>
              <a:buChar char="•"/>
            </a:pPr>
            <a:r>
              <a:rPr sz="1200" b="0" i="0">
                <a:solidFill>
                  <a:srgbClr val="1C2433"/>
                </a:solidFill>
                <a:latin typeface="Calibri"/>
              </a:rPr>
              <a:t>round trip JSONL → Delta → </a:t>
            </a:r>
            <a:r>
              <a:rPr sz="1100" b="0" i="0">
                <a:solidFill>
                  <a:srgbClr val="0E7C86"/>
                </a:solidFill>
                <a:latin typeface="Consolas"/>
              </a:rPr>
              <a:t>double[]</a:t>
            </a:r>
            <a:r>
              <a:rPr sz="1200" b="0" i="0">
                <a:solidFill>
                  <a:srgbClr val="1C2433"/>
                </a:solidFill>
                <a:latin typeface="Calibri"/>
              </a:rPr>
              <a:t> equal to the bit</a:t>
            </a:r>
          </a:p>
          <a:p>
            <a:pPr algn="l" marL="201168" indent="-201168">
              <a:spcAft>
                <a:spcPts val="200"/>
              </a:spcAft>
              <a:buClr>
                <a:srgbClr val="E87A1E"/>
              </a:buClr>
              <a:buSzPct val="100000"/>
              <a:buFont typeface="Arial"/>
              <a:buChar char="•"/>
            </a:pPr>
            <a:r>
              <a:rPr sz="1100" b="0" i="0">
                <a:solidFill>
                  <a:srgbClr val="0E7C86"/>
                </a:solidFill>
                <a:latin typeface="Consolas"/>
              </a:rPr>
              <a:t>list&lt;float&gt;</a:t>
            </a:r>
            <a:r>
              <a:rPr sz="1200" b="0" i="0">
                <a:solidFill>
                  <a:srgbClr val="1C2433"/>
                </a:solidFill>
                <a:latin typeface="Calibri"/>
              </a:rPr>
              <a:t> read and written for exposure paths</a:t>
            </a:r>
          </a:p>
        </p:txBody>
      </p:sp>
      <p:sp>
        <p:nvSpPr>
          <p:cNvPr id="14" name="Rounded Rectangle 13"/>
          <p:cNvSpPr/>
          <p:nvPr/>
        </p:nvSpPr>
        <p:spPr>
          <a:xfrm>
            <a:off x="6245352" y="3703320"/>
            <a:ext cx="5532120" cy="21945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336792" y="3749039"/>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Where it runs</a:t>
            </a:r>
          </a:p>
        </p:txBody>
      </p:sp>
      <p:sp>
        <p:nvSpPr>
          <p:cNvPr id="16" name="TextBox 15"/>
          <p:cNvSpPr txBox="1"/>
          <p:nvPr/>
        </p:nvSpPr>
        <p:spPr>
          <a:xfrm>
            <a:off x="6336792" y="4069080"/>
            <a:ext cx="5349240" cy="17830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streamed reads: the </a:t>
            </a:r>
            <a:r>
              <a:rPr sz="1200" b="1" i="0">
                <a:solidFill>
                  <a:srgbClr val="1C2433"/>
                </a:solidFill>
                <a:latin typeface="Calibri"/>
              </a:rPr>
              <a:t>Delta plugin only</a:t>
            </a:r>
            <a:r>
              <a:rPr sz="1200" b="0" i="0">
                <a:solidFill>
                  <a:srgbClr val="1C2433"/>
                </a:solidFill>
                <a:latin typeface="Calibri"/>
              </a:rPr>
              <a:t> (</a:t>
            </a:r>
            <a:r>
              <a:rPr sz="1100" b="0" i="0">
                <a:solidFill>
                  <a:srgbClr val="0E7C86"/>
                </a:solidFill>
                <a:latin typeface="Consolas"/>
              </a:rPr>
              <a:t>SourcePlugin.vectors</a:t>
            </a:r>
            <a:r>
              <a:rPr sz="1200" b="0" i="0">
                <a:solidFill>
                  <a:srgbClr val="1C2433"/>
                </a:solidFill>
                <a:latin typeface="Calibri"/>
              </a:rPr>
              <a:t>)</a:t>
            </a:r>
          </a:p>
          <a:p>
            <a:pPr algn="l" marL="201168" indent="-201168">
              <a:spcAft>
                <a:spcPts val="200"/>
              </a:spcAft>
              <a:buClr>
                <a:srgbClr val="E87A1E"/>
              </a:buClr>
              <a:buSzPct val="100000"/>
              <a:buFont typeface="Arial"/>
              <a:buChar char="•"/>
            </a:pPr>
            <a:r>
              <a:rPr sz="1200" b="0" i="0">
                <a:solidFill>
                  <a:srgbClr val="1C2433"/>
                </a:solidFill>
                <a:latin typeface="Calibri"/>
              </a:rPr>
              <a:t>VaR and exposure inputs on Iceberg: not built (companion deck: PROPOSED)</a:t>
            </a:r>
          </a:p>
          <a:p>
            <a:pPr algn="l" marL="201168" indent="-201168">
              <a:spcAft>
                <a:spcPts val="200"/>
              </a:spcAft>
              <a:buClr>
                <a:srgbClr val="E87A1E"/>
              </a:buClr>
              <a:buSzPct val="100000"/>
              <a:buFont typeface="Arial"/>
              <a:buChar char="•"/>
            </a:pPr>
            <a:r>
              <a:rPr sz="1200" b="0" i="0">
                <a:solidFill>
                  <a:srgbClr val="1C2433"/>
                </a:solidFill>
                <a:latin typeface="Calibri"/>
              </a:rPr>
              <a:t>bank-scale layout (sort by hierarchy, ZSTD + byte-stream split): DESIGNED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Morning run, intraday batches, Kafka micro-batches: all into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64</a:t>
            </a:r>
          </a:p>
        </p:txBody>
      </p:sp>
      <p:sp>
        <p:nvSpPr>
          <p:cNvPr id="9" name="Rounded Rectangle 8"/>
          <p:cNvSpPr/>
          <p:nvPr/>
        </p:nvSpPr>
        <p:spPr>
          <a:xfrm>
            <a:off x="411480" y="118872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Morning run · RUN_KIND FULL</a:t>
            </a:r>
          </a:p>
        </p:txBody>
      </p:sp>
      <p:sp>
        <p:nvSpPr>
          <p:cNvPr id="11" name="TextBox 10"/>
          <p:cNvSpPr txBox="1"/>
          <p:nvPr/>
        </p:nvSpPr>
        <p:spPr>
          <a:xfrm>
            <a:off x="502920" y="155448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every live trade, one BATCH_ID</a:t>
            </a:r>
          </a:p>
          <a:p>
            <a:pPr algn="l" marL="201168" indent="-201168">
              <a:spcAft>
                <a:spcPts val="200"/>
              </a:spcAft>
              <a:buClr>
                <a:srgbClr val="E87A1E"/>
              </a:buClr>
              <a:buSzPct val="100000"/>
              <a:buFont typeface="Arial"/>
              <a:buChar char="•"/>
            </a:pPr>
            <a:r>
              <a:rPr sz="1200" b="0" i="0">
                <a:solidFill>
                  <a:srgbClr val="1C2433"/>
                </a:solidFill>
                <a:latin typeface="Calibri"/>
              </a:rPr>
              <a:t>JSONL → </a:t>
            </a:r>
            <a:r>
              <a:rPr sz="1100" b="0" i="0">
                <a:solidFill>
                  <a:srgbClr val="0E7C86"/>
                </a:solidFill>
                <a:latin typeface="Consolas"/>
              </a:rPr>
              <a:t>lake build</a:t>
            </a:r>
            <a:r>
              <a:rPr sz="1200" b="0" i="0">
                <a:solidFill>
                  <a:srgbClr val="1C2433"/>
                </a:solidFill>
                <a:latin typeface="Calibri"/>
              </a:rPr>
              <a:t> replaces the date</a:t>
            </a:r>
          </a:p>
        </p:txBody>
      </p:sp>
      <p:sp>
        <p:nvSpPr>
          <p:cNvPr id="12" name="Rounded Rectangle 11"/>
          <p:cNvSpPr/>
          <p:nvPr/>
        </p:nvSpPr>
        <p:spPr>
          <a:xfrm>
            <a:off x="411480" y="283464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88036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Intraday files · INTRADAY</a:t>
            </a:r>
          </a:p>
        </p:txBody>
      </p:sp>
      <p:sp>
        <p:nvSpPr>
          <p:cNvPr id="14" name="TextBox 13"/>
          <p:cNvSpPr txBox="1"/>
          <p:nvPr/>
        </p:nvSpPr>
        <p:spPr>
          <a:xfrm>
            <a:off x="502920" y="320040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changed trades only, own BATCH_ID</a:t>
            </a:r>
          </a:p>
          <a:p>
            <a:pPr algn="l" marL="201168" indent="-201168">
              <a:spcAft>
                <a:spcPts val="200"/>
              </a:spcAft>
              <a:buClr>
                <a:srgbClr val="E87A1E"/>
              </a:buClr>
              <a:buSzPct val="100000"/>
              <a:buFont typeface="Arial"/>
              <a:buChar char="•"/>
            </a:pPr>
            <a:r>
              <a:rPr sz="1100" b="0" i="0">
                <a:solidFill>
                  <a:srgbClr val="0E7C86"/>
                </a:solidFill>
                <a:latin typeface="Consolas"/>
              </a:rPr>
              <a:t>drishti.py var intraday --load</a:t>
            </a:r>
            <a:r>
              <a:rPr sz="1200" b="0" i="0">
                <a:solidFill>
                  <a:srgbClr val="1C2433"/>
                </a:solidFill>
                <a:latin typeface="Calibri"/>
              </a:rPr>
              <a:t> (append)</a:t>
            </a:r>
          </a:p>
        </p:txBody>
      </p:sp>
      <p:sp>
        <p:nvSpPr>
          <p:cNvPr id="15" name="Rounded Rectangle 14"/>
          <p:cNvSpPr/>
          <p:nvPr/>
        </p:nvSpPr>
        <p:spPr>
          <a:xfrm>
            <a:off x="411480" y="448056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452628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Kafka PV topic · micro-batches</a:t>
            </a:r>
          </a:p>
        </p:txBody>
      </p:sp>
      <p:sp>
        <p:nvSpPr>
          <p:cNvPr id="17" name="TextBox 16"/>
          <p:cNvSpPr txBox="1"/>
          <p:nvPr/>
        </p:nvSpPr>
        <p:spPr>
          <a:xfrm>
            <a:off x="502920" y="484632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pv-updates</a:t>
            </a:r>
            <a:r>
              <a:rPr sz="1200" b="0" i="0">
                <a:solidFill>
                  <a:srgbClr val="1C2433"/>
                </a:solidFill>
                <a:latin typeface="Calibri"/>
              </a:rPr>
              <a:t> (var-pv-stream), JSONL text</a:t>
            </a:r>
          </a:p>
          <a:p>
            <a:pPr algn="l" marL="201168" indent="-201168">
              <a:spcAft>
                <a:spcPts val="200"/>
              </a:spcAft>
              <a:buClr>
                <a:srgbClr val="E87A1E"/>
              </a:buClr>
              <a:buSzPct val="100000"/>
              <a:buFont typeface="Arial"/>
              <a:buChar char="•"/>
            </a:pPr>
            <a:r>
              <a:rPr sz="1200" b="0" i="0">
                <a:solidFill>
                  <a:srgbClr val="1C2433"/>
                </a:solidFill>
                <a:latin typeface="Calibri"/>
              </a:rPr>
              <a:t>window 5 min · flush at 500 · Apply now</a:t>
            </a:r>
          </a:p>
        </p:txBody>
      </p:sp>
      <p:sp>
        <p:nvSpPr>
          <p:cNvPr id="18" name="Rounded Rectangle 17"/>
          <p:cNvSpPr/>
          <p:nvPr/>
        </p:nvSpPr>
        <p:spPr>
          <a:xfrm>
            <a:off x="4434840" y="1188720"/>
            <a:ext cx="3429000" cy="47548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4526279" y="1234440"/>
            <a:ext cx="32461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 in Delta (business_date=D)</a:t>
            </a:r>
          </a:p>
        </p:txBody>
      </p:sp>
      <p:sp>
        <p:nvSpPr>
          <p:cNvPr id="20" name="TextBox 19"/>
          <p:cNvSpPr txBox="1"/>
          <p:nvPr/>
        </p:nvSpPr>
        <p:spPr>
          <a:xfrm>
            <a:off x="4526279" y="1554480"/>
            <a:ext cx="3246120" cy="43434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the morning commit replaces D</a:t>
            </a:r>
          </a:p>
          <a:p>
            <a:pPr algn="l" marL="201168" indent="-201168">
              <a:spcAft>
                <a:spcPts val="200"/>
              </a:spcAft>
              <a:buClr>
                <a:srgbClr val="E87A1E"/>
              </a:buClr>
              <a:buSzPct val="100000"/>
              <a:buFont typeface="Arial"/>
              <a:buChar char="•"/>
            </a:pPr>
            <a:r>
              <a:rPr sz="1200" b="0" i="0">
                <a:solidFill>
                  <a:srgbClr val="1C2433"/>
                </a:solidFill>
                <a:latin typeface="Calibri"/>
              </a:rPr>
              <a:t>each intraday batch: one appended commit</a:t>
            </a:r>
          </a:p>
          <a:p>
            <a:pPr algn="l" marL="201168" indent="-201168">
              <a:spcAft>
                <a:spcPts val="200"/>
              </a:spcAft>
              <a:buClr>
                <a:srgbClr val="E87A1E"/>
              </a:buClr>
              <a:buSzPct val="100000"/>
              <a:buFont typeface="Arial"/>
              <a:buChar char="•"/>
            </a:pPr>
            <a:r>
              <a:rPr sz="1200" b="0" i="0">
                <a:solidFill>
                  <a:srgbClr val="1C2433"/>
                </a:solidFill>
                <a:latin typeface="Calibri"/>
              </a:rPr>
              <a:t>each Kafka window: ONE batch, </a:t>
            </a:r>
            <a:r>
              <a:rPr sz="1100" b="0" i="0">
                <a:solidFill>
                  <a:srgbClr val="0E7C86"/>
                </a:solidFill>
                <a:latin typeface="Consolas"/>
              </a:rPr>
              <a:t>K-&lt;date&gt;-&lt;time&gt;-&lt;n&gt;</a:t>
            </a:r>
          </a:p>
          <a:p>
            <a:pPr algn="l" marL="201168" indent="-201168">
              <a:spcAft>
                <a:spcPts val="200"/>
              </a:spcAft>
              <a:buClr>
                <a:srgbClr val="E87A1E"/>
              </a:buClr>
              <a:buSzPct val="100000"/>
              <a:buFont typeface="Arial"/>
              <a:buChar char="•"/>
            </a:pPr>
            <a:r>
              <a:rPr sz="1200" b="0" i="0">
                <a:solidFill>
                  <a:srgbClr val="1C2433"/>
                </a:solidFill>
                <a:latin typeface="Calibri"/>
              </a:rPr>
              <a:t>latest </a:t>
            </a:r>
            <a:r>
              <a:rPr sz="1100" b="0" i="0">
                <a:solidFill>
                  <a:srgbClr val="0E7C86"/>
                </a:solidFill>
                <a:latin typeface="Consolas"/>
              </a:rPr>
              <a:t>COMPUTED_AT</a:t>
            </a:r>
            <a:r>
              <a:rPr sz="1200" b="0" i="0">
                <a:solidFill>
                  <a:srgbClr val="1C2433"/>
                </a:solidFill>
                <a:latin typeface="Calibri"/>
              </a:rPr>
              <a:t> per trade wins</a:t>
            </a:r>
          </a:p>
          <a:p>
            <a:pPr algn="l" marL="201168" indent="-201168">
              <a:spcAft>
                <a:spcPts val="200"/>
              </a:spcAft>
              <a:buClr>
                <a:srgbClr val="E87A1E"/>
              </a:buClr>
              <a:buSzPct val="100000"/>
              <a:buFont typeface="Arial"/>
              <a:buChar char="•"/>
            </a:pPr>
            <a:r>
              <a:rPr sz="1200" b="0" i="0">
                <a:solidFill>
                  <a:srgbClr val="1C2433"/>
                </a:solidFill>
                <a:latin typeface="Calibri"/>
              </a:rPr>
              <a:t>the lake is the record: a restart rebuilds</a:t>
            </a:r>
          </a:p>
          <a:p>
            <a:pPr algn="l" marL="201168" indent="-201168">
              <a:spcAft>
                <a:spcPts val="200"/>
              </a:spcAft>
              <a:buClr>
                <a:srgbClr val="E87A1E"/>
              </a:buClr>
              <a:buSzPct val="100000"/>
              <a:buFont typeface="Arial"/>
              <a:buChar char="•"/>
            </a:pPr>
            <a:r>
              <a:rPr sz="1200" b="0" i="0">
                <a:solidFill>
                  <a:srgbClr val="1C2433"/>
                </a:solidFill>
                <a:latin typeface="Calibri"/>
              </a:rPr>
              <a:t>7 years of time travel</a:t>
            </a:r>
          </a:p>
        </p:txBody>
      </p:sp>
      <p:cxnSp>
        <p:nvCxnSpPr>
          <p:cNvPr id="21" name="Connector 20"/>
          <p:cNvCxnSpPr/>
          <p:nvPr/>
        </p:nvCxnSpPr>
        <p:spPr>
          <a:xfrm>
            <a:off x="3977639" y="192024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77639" y="356616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977639" y="521208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321040" y="1188720"/>
            <a:ext cx="3456432" cy="2286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8412480" y="1234440"/>
            <a:ext cx="327355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VaR engine (one date hot)</a:t>
            </a:r>
          </a:p>
        </p:txBody>
      </p:sp>
      <p:sp>
        <p:nvSpPr>
          <p:cNvPr id="26" name="TextBox 25"/>
          <p:cNvSpPr txBox="1"/>
          <p:nvPr/>
        </p:nvSpPr>
        <p:spPr>
          <a:xfrm>
            <a:off x="8412480" y="1554480"/>
            <a:ext cx="3273551" cy="187451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full run: date reloads</a:t>
            </a:r>
          </a:p>
          <a:p>
            <a:pPr algn="l" marL="201168" indent="-201168">
              <a:spcAft>
                <a:spcPts val="200"/>
              </a:spcAft>
              <a:buClr>
                <a:srgbClr val="E87A1E"/>
              </a:buClr>
              <a:buSzPct val="100000"/>
              <a:buFont typeface="Arial"/>
              <a:buChar char="•"/>
            </a:pPr>
            <a:r>
              <a:rPr sz="1200" b="0" i="0">
                <a:solidFill>
                  <a:srgbClr val="1C2433"/>
                </a:solidFill>
                <a:latin typeface="Calibri"/>
              </a:rPr>
              <a:t>batch: new − old into the book and every node above</a:t>
            </a:r>
          </a:p>
          <a:p>
            <a:pPr algn="l" marL="201168" indent="-201168">
              <a:spcAft>
                <a:spcPts val="200"/>
              </a:spcAft>
              <a:buClr>
                <a:srgbClr val="E87A1E"/>
              </a:buClr>
              <a:buSzPct val="100000"/>
              <a:buFont typeface="Arial"/>
              <a:buChar char="•"/>
            </a:pPr>
            <a:r>
              <a:rPr sz="1200" b="0" i="0">
                <a:solidFill>
                  <a:srgbClr val="1C2433"/>
                </a:solidFill>
                <a:latin typeface="Calibri"/>
              </a:rPr>
              <a:t>official capture from the morning run only</a:t>
            </a:r>
          </a:p>
        </p:txBody>
      </p:sp>
      <p:sp>
        <p:nvSpPr>
          <p:cNvPr id="27" name="Rounded Rectangle 26"/>
          <p:cNvSpPr/>
          <p:nvPr/>
        </p:nvSpPr>
        <p:spPr>
          <a:xfrm>
            <a:off x="8321040" y="3657600"/>
            <a:ext cx="3456432" cy="2286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412480" y="3703320"/>
            <a:ext cx="327355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risk-results/var-official</a:t>
            </a:r>
          </a:p>
        </p:txBody>
      </p:sp>
      <p:sp>
        <p:nvSpPr>
          <p:cNvPr id="29" name="TextBox 28"/>
          <p:cNvSpPr txBox="1"/>
          <p:nvPr/>
        </p:nvSpPr>
        <p:spPr>
          <a:xfrm>
            <a:off x="8412480" y="4023360"/>
            <a:ext cx="3273551" cy="187451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append-only Delta, a row per node and version</a:t>
            </a:r>
          </a:p>
          <a:p>
            <a:pPr algn="l" marL="201168" indent="-201168">
              <a:spcAft>
                <a:spcPts val="200"/>
              </a:spcAft>
              <a:buClr>
                <a:srgbClr val="E87A1E"/>
              </a:buClr>
              <a:buSzPct val="100000"/>
              <a:buFont typeface="Arial"/>
              <a:buChar char="•"/>
            </a:pPr>
            <a:r>
              <a:rPr sz="1200" b="0" i="0">
                <a:solidFill>
                  <a:srgbClr val="1C2433"/>
                </a:solidFill>
                <a:latin typeface="Calibri"/>
              </a:rPr>
              <a:t>JSONL beside it (2.9.4)</a:t>
            </a:r>
          </a:p>
          <a:p>
            <a:pPr algn="l" marL="201168" indent="-201168">
              <a:spcAft>
                <a:spcPts val="200"/>
              </a:spcAft>
              <a:buClr>
                <a:srgbClr val="E87A1E"/>
              </a:buClr>
              <a:buSzPct val="100000"/>
              <a:buFont typeface="Arial"/>
              <a:buChar char="•"/>
            </a:pPr>
            <a:r>
              <a:rPr sz="1200" b="0" i="0">
                <a:solidFill>
                  <a:srgbClr val="1C2433"/>
                </a:solidFill>
                <a:latin typeface="Calibri"/>
              </a:rPr>
              <a:t>read by BI as </a:t>
            </a:r>
            <a:r>
              <a:rPr sz="1100" b="0" i="0">
                <a:solidFill>
                  <a:srgbClr val="0E7C86"/>
                </a:solidFill>
                <a:latin typeface="Consolas"/>
              </a:rPr>
              <a:t>VOFF</a:t>
            </a:r>
          </a:p>
        </p:txBody>
      </p:sp>
      <p:cxnSp>
        <p:nvCxnSpPr>
          <p:cNvPr id="30" name="Connector 29"/>
          <p:cNvCxnSpPr/>
          <p:nvPr/>
        </p:nvCxnSpPr>
        <p:spPr>
          <a:xfrm>
            <a:off x="7863840" y="2331720"/>
            <a:ext cx="457200"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058400" y="3474720"/>
            <a:ext cx="0" cy="18288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882127" y="2377440"/>
            <a:ext cx="457200" cy="274320"/>
          </a:xfrm>
          <a:prstGeom prst="rect">
            <a:avLst/>
          </a:prstGeom>
          <a:noFill/>
        </p:spPr>
        <p:txBody>
          <a:bodyPr wrap="square" lIns="0" rIns="0" tIns="0" bIns="0" anchor="t">
            <a:spAutoFit/>
          </a:bodyPr>
          <a:lstStyle/>
          <a:p>
            <a:pPr algn="l">
              <a:spcAft>
                <a:spcPts val="600"/>
              </a:spcAft>
              <a:buNone/>
            </a:pPr>
            <a:r>
              <a:rPr sz="1000" b="0" i="0">
                <a:solidFill>
                  <a:srgbClr val="5B677A"/>
                </a:solidFill>
                <a:latin typeface="Calibri"/>
              </a:rPr>
              <a:t>signal</a:t>
            </a:r>
          </a:p>
        </p:txBody>
      </p:sp>
      <p:sp>
        <p:nvSpPr>
          <p:cNvPr id="33" name="Status BUILT"/>
          <p:cNvSpPr/>
          <p:nvPr/>
        </p:nvSpPr>
        <p:spPr>
          <a:xfrm>
            <a:off x="411480" y="6053328"/>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34" name="TextBox 33"/>
          <p:cNvSpPr txBox="1"/>
          <p:nvPr/>
        </p:nvSpPr>
        <p:spPr>
          <a:xfrm>
            <a:off x="1600200" y="6016752"/>
            <a:ext cx="10149840" cy="36576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Measured: 200 batches of 3 trades equal one full load to the cent, on every node; batch time does not grow.</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On AWS: who writes the risk lake, and where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65</a:t>
            </a:r>
          </a:p>
        </p:txBody>
      </p:sp>
      <p:graphicFrame>
        <p:nvGraphicFramePr>
          <p:cNvPr id="9" name="Table"/>
          <p:cNvGraphicFramePr>
            <a:graphicFrameLocks noGrp="1"/>
          </p:cNvGraphicFramePr>
          <p:nvPr/>
        </p:nvGraphicFramePr>
        <p:xfrm>
          <a:off x="411480" y="1188720"/>
          <a:ext cx="6583680" cy="3657600"/>
        </p:xfrm>
        <a:graphic>
          <a:graphicData uri="http://schemas.openxmlformats.org/drawingml/2006/table">
            <a:tbl>
              <a:tblPr firstRow="0" bandRow="0">
                <a:tableStyleId>{5940675A-B579-460E-94D1-54222C63F5DA}</a:tableStyleId>
              </a:tblPr>
              <a:tblGrid>
                <a:gridCol w="2011680"/>
                <a:gridCol w="2743200"/>
                <a:gridCol w="1828800"/>
              </a:tblGrid>
              <a:tr h="731520">
                <a:tc>
                  <a:txBody>
                    <a:bodyPr wrap="square"/>
                    <a:lstStyle/>
                    <a:p>
                      <a:r>
                        <a:rPr sz="1100" b="1" i="0">
                          <a:solidFill>
                            <a:srgbClr val="FFFFFF"/>
                          </a:solidFill>
                          <a:latin typeface="Calibri"/>
                        </a:rPr>
                        <a:t>Table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Written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On an S3 lake today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31520">
                <a:tc>
                  <a:txBody>
                    <a:bodyPr wrap="square"/>
                    <a:lstStyle/>
                    <a:p>
                      <a:r>
                        <a:rPr sz="1100" b="1" i="0">
                          <a:solidFill>
                            <a:srgbClr val="0E7C86"/>
                          </a:solidFill>
                          <a:latin typeface="Consolas"/>
                        </a:rPr>
                        <a:t>risk/</a:t>
                      </a:r>
                      <a:r>
                        <a:rPr sz="1100" b="1" i="0">
                          <a:solidFill>
                            <a:srgbClr val="1C2433"/>
                          </a:solidFill>
                          <a:latin typeface="Calibri"/>
                        </a:rPr>
                        <a:t> morning runs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bank's batch: JSONL → </a:t>
                      </a:r>
                      <a:r>
                        <a:rPr sz="1100" b="0" i="0">
                          <a:solidFill>
                            <a:srgbClr val="0E7C86"/>
                          </a:solidFill>
                          <a:latin typeface="Consolas"/>
                        </a:rPr>
                        <a:t>lake build</a:t>
                      </a:r>
                      <a:r>
                        <a:rPr sz="1100" b="0" i="0">
                          <a:solidFill>
                            <a:srgbClr val="1C2433"/>
                          </a:solidFill>
                          <a:latin typeface="Calibri"/>
                        </a:rPr>
                        <a:t> → </a:t>
                      </a:r>
                      <a:r>
                        <a:rPr sz="1100" b="0" i="0">
                          <a:solidFill>
                            <a:srgbClr val="0E7C86"/>
                          </a:solidFill>
                          <a:latin typeface="Consolas"/>
                        </a:rPr>
                        <a:t>lake publish</a:t>
                      </a:r>
                      <a:r>
                        <a:rPr sz="1100" b="0" i="0">
                          <a:solidFill>
                            <a:srgbClr val="1C2433"/>
                          </a:solidFill>
                          <a:latin typeface="Calibri"/>
                        </a:rPr>
                        <a:t> (overwrite-dates)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BUILT: load-day.sh, like any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100" b="1" i="0">
                          <a:solidFill>
                            <a:srgbClr val="0E7C86"/>
                          </a:solidFill>
                          <a:latin typeface="Consolas"/>
                        </a:rPr>
                        <a:t>risk/</a:t>
                      </a:r>
                      <a:r>
                        <a:rPr sz="1100" b="1" i="0">
                          <a:solidFill>
                            <a:srgbClr val="1C2433"/>
                          </a:solidFill>
                          <a:latin typeface="Calibri"/>
                        </a:rPr>
                        <a:t> intraday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lake build --mode append</a:t>
                      </a:r>
                      <a:r>
                        <a:rPr sz="1100" b="0" i="0">
                          <a:solidFill>
                            <a:srgbClr val="1C2433"/>
                          </a:solidFill>
                          <a:latin typeface="Calibri"/>
                        </a:rPr>
                        <a:t> → </a:t>
                      </a:r>
                      <a:r>
                        <a:rPr sz="1100" b="0" i="0">
                          <a:solidFill>
                            <a:srgbClr val="0E7C86"/>
                          </a:solidFill>
                          <a:latin typeface="Consolas"/>
                        </a:rPr>
                        <a:t>lake publish --mode append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BUILT tools; no script yet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100" b="1" i="0">
                          <a:solidFill>
                            <a:srgbClr val="0E7C86"/>
                          </a:solidFill>
                          <a:latin typeface="Consolas"/>
                        </a:rPr>
                        <a:t>risk/</a:t>
                      </a:r>
                      <a:r>
                        <a:rPr sz="1100" b="1" i="0">
                          <a:solidFill>
                            <a:srgbClr val="1C2433"/>
                          </a:solidFill>
                          <a:latin typeface="Calibri"/>
                        </a:rPr>
                        <a:t> Kafka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server's Java lake writer (</a:t>
                      </a:r>
                      <a:r>
                        <a:rPr sz="1100" b="0" i="0">
                          <a:solidFill>
                            <a:srgbClr val="0E7C86"/>
                          </a:solidFill>
                          <a:latin typeface="Consolas"/>
                        </a:rPr>
                        <a:t>pv-updates</a:t>
                      </a:r>
                      <a:r>
                        <a:rPr sz="1100" b="0" i="0">
                          <a:solidFill>
                            <a:srgbClr val="1C2433"/>
                          </a:solidFill>
                          <a:latin typeface="Calibri"/>
                        </a:rPr>
                        <a:t>' </a:t>
                      </a:r>
                      <a:r>
                        <a:rPr sz="1100" b="0" i="0">
                          <a:solidFill>
                            <a:srgbClr val="0E7C86"/>
                          </a:solidFill>
                          <a:latin typeface="Consolas"/>
                        </a:rPr>
                        <a:t>lake</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local or EFS root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100" b="1" i="0">
                          <a:solidFill>
                            <a:srgbClr val="0E7C86"/>
                          </a:solidFill>
                          <a:latin typeface="Consolas"/>
                        </a:rPr>
                        <a:t>risk-results/</a:t>
                      </a:r>
                      <a:r>
                        <a:rPr sz="1100" b="1" i="0">
                          <a:solidFill>
                            <a:srgbClr val="1C2433"/>
                          </a:solidFill>
                          <a:latin typeface="Calibri"/>
                        </a:rPr>
                        <a:t> 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server's publishers (Java lake writer) +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local or EFS root only; </a:t>
                      </a:r>
                      <a:r>
                        <a:rPr sz="1100" b="0" i="0">
                          <a:solidFill>
                            <a:srgbClr val="0E7C86"/>
                          </a:solidFill>
                          <a:latin typeface="Consolas"/>
                        </a:rPr>
                        <a:t>s3://</a:t>
                      </a:r>
                      <a:r>
                        <a:rPr sz="1100" b="0" i="0">
                          <a:solidFill>
                            <a:srgbClr val="1C2433"/>
                          </a:solidFill>
                          <a:latin typeface="Calibri"/>
                        </a:rPr>
                        <a:t> → </a:t>
                      </a:r>
                      <a:r>
                        <a:rPr sz="1100" b="0" i="0">
                          <a:solidFill>
                            <a:srgbClr val="0E7C86"/>
                          </a:solidFill>
                          <a:latin typeface="Consolas"/>
                        </a:rPr>
                        <a:t>publishError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Rounded Rectangle 9"/>
          <p:cNvSpPr/>
          <p:nvPr/>
        </p:nvSpPr>
        <p:spPr>
          <a:xfrm>
            <a:off x="7269480" y="1188720"/>
            <a:ext cx="4507992" cy="201168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7360920" y="1234440"/>
            <a:ext cx="31821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Official results to S3</a:t>
            </a:r>
          </a:p>
        </p:txBody>
      </p:sp>
      <p:sp>
        <p:nvSpPr>
          <p:cNvPr id="12" name="Status PROPOSED"/>
          <p:cNvSpPr/>
          <p:nvPr/>
        </p:nvSpPr>
        <p:spPr>
          <a:xfrm>
            <a:off x="10634472" y="128016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3" name="TextBox 12"/>
          <p:cNvSpPr txBox="1"/>
          <p:nvPr/>
        </p:nvSpPr>
        <p:spPr>
          <a:xfrm>
            <a:off x="7360920" y="1554480"/>
            <a:ext cx="4325112" cy="16002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drishti.var.official.root</a:t>
            </a:r>
            <a:r>
              <a:rPr sz="1200" b="0" i="0">
                <a:solidFill>
                  <a:srgbClr val="1C2433"/>
                </a:solidFill>
                <a:latin typeface="Calibri"/>
              </a:rPr>
              <a:t> on EFS (and the exposure root)</a:t>
            </a:r>
          </a:p>
          <a:p>
            <a:pPr algn="l" marL="201168" indent="-201168">
              <a:spcAft>
                <a:spcPts val="200"/>
              </a:spcAft>
              <a:buClr>
                <a:srgbClr val="E87A1E"/>
              </a:buClr>
              <a:buSzPct val="100000"/>
              <a:buFont typeface="Arial"/>
              <a:buChar char="•"/>
            </a:pPr>
            <a:r>
              <a:rPr sz="1200" b="0" i="0">
                <a:solidFill>
                  <a:srgbClr val="1C2433"/>
                </a:solidFill>
                <a:latin typeface="Calibri"/>
              </a:rPr>
              <a:t>after each capture: </a:t>
            </a:r>
            <a:r>
              <a:rPr sz="1100" b="0" i="0">
                <a:solidFill>
                  <a:srgbClr val="0E7C86"/>
                </a:solidFill>
                <a:latin typeface="Consolas"/>
              </a:rPr>
              <a:t>lake publish --mode append</a:t>
            </a:r>
            <a:r>
              <a:rPr sz="1200" b="0" i="0">
                <a:solidFill>
                  <a:srgbClr val="1C2433"/>
                </a:solidFill>
                <a:latin typeface="Calibri"/>
              </a:rPr>
              <a:t> to </a:t>
            </a:r>
            <a:r>
              <a:rPr sz="1100" b="0" i="0">
                <a:solidFill>
                  <a:srgbClr val="0E7C86"/>
                </a:solidFill>
                <a:latin typeface="Consolas"/>
              </a:rPr>
              <a:t>s3://…/risk-results/…</a:t>
            </a:r>
            <a:r>
              <a:rPr sz="1200" b="0" i="0">
                <a:solidFill>
                  <a:srgbClr val="1C2433"/>
                </a:solidFill>
                <a:latin typeface="Calibri"/>
              </a:rPr>
              <a:t>; copy the JSONL files</a:t>
            </a:r>
          </a:p>
          <a:p>
            <a:pPr algn="l" marL="201168" indent="-201168">
              <a:spcAft>
                <a:spcPts val="200"/>
              </a:spcAft>
              <a:buClr>
                <a:srgbClr val="E87A1E"/>
              </a:buClr>
              <a:buSzPct val="100000"/>
              <a:buFont typeface="Arial"/>
              <a:buChar char="•"/>
            </a:pPr>
            <a:r>
              <a:rPr sz="1200" b="0" i="0">
                <a:solidFill>
                  <a:srgbClr val="1C2433"/>
                </a:solidFill>
                <a:latin typeface="Calibri"/>
              </a:rPr>
              <a:t>BI's </a:t>
            </a:r>
            <a:r>
              <a:rPr sz="1100" b="0" i="0">
                <a:solidFill>
                  <a:srgbClr val="0E7C86"/>
                </a:solidFill>
                <a:latin typeface="Consolas"/>
              </a:rPr>
              <a:t>var-results</a:t>
            </a:r>
            <a:r>
              <a:rPr sz="1200" b="0" i="0">
                <a:solidFill>
                  <a:srgbClr val="1C2433"/>
                </a:solidFill>
                <a:latin typeface="Calibri"/>
              </a:rPr>
              <a:t> reads the S3 copy</a:t>
            </a:r>
          </a:p>
        </p:txBody>
      </p:sp>
      <p:sp>
        <p:nvSpPr>
          <p:cNvPr id="14" name="Rounded Rectangle 13"/>
          <p:cNvSpPr/>
          <p:nvPr/>
        </p:nvSpPr>
        <p:spPr>
          <a:xfrm>
            <a:off x="7269480" y="3383280"/>
            <a:ext cx="4507992" cy="164592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360920" y="3429000"/>
            <a:ext cx="31821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Kafka windows to S3</a:t>
            </a:r>
          </a:p>
        </p:txBody>
      </p:sp>
      <p:sp>
        <p:nvSpPr>
          <p:cNvPr id="16" name="Status PROPOSED"/>
          <p:cNvSpPr/>
          <p:nvPr/>
        </p:nvSpPr>
        <p:spPr>
          <a:xfrm>
            <a:off x="10634472" y="347472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7" name="TextBox 16"/>
          <p:cNvSpPr txBox="1"/>
          <p:nvPr/>
        </p:nvSpPr>
        <p:spPr>
          <a:xfrm>
            <a:off x="7360920" y="3749040"/>
            <a:ext cx="4325112" cy="12344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pv-updates</a:t>
            </a:r>
            <a:r>
              <a:rPr sz="1200" b="0" i="0">
                <a:solidFill>
                  <a:srgbClr val="1C2433"/>
                </a:solidFill>
                <a:latin typeface="Calibri"/>
              </a:rPr>
              <a:t>' </a:t>
            </a:r>
            <a:r>
              <a:rPr sz="1100" b="0" i="0">
                <a:solidFill>
                  <a:srgbClr val="0E7C86"/>
                </a:solidFill>
                <a:latin typeface="Consolas"/>
              </a:rPr>
              <a:t>lake</a:t>
            </a:r>
            <a:r>
              <a:rPr sz="1200" b="0" i="0">
                <a:solidFill>
                  <a:srgbClr val="1C2433"/>
                </a:solidFill>
                <a:latin typeface="Calibri"/>
              </a:rPr>
              <a:t> on EFS; each window published with </a:t>
            </a:r>
            <a:r>
              <a:rPr sz="1100" b="0" i="0">
                <a:solidFill>
                  <a:srgbClr val="0E7C86"/>
                </a:solidFill>
                <a:latin typeface="Consolas"/>
              </a:rPr>
              <a:t>--mode append</a:t>
            </a:r>
          </a:p>
          <a:p>
            <a:pPr algn="l" marL="201168" indent="-201168">
              <a:spcAft>
                <a:spcPts val="200"/>
              </a:spcAft>
              <a:buClr>
                <a:srgbClr val="E87A1E"/>
              </a:buClr>
              <a:buSzPct val="100000"/>
              <a:buFont typeface="Arial"/>
              <a:buChar char="•"/>
            </a:pPr>
            <a:r>
              <a:rPr sz="1200" b="0" i="0">
                <a:solidFill>
                  <a:srgbClr val="1C2433"/>
                </a:solidFill>
                <a:latin typeface="Calibri"/>
              </a:rPr>
              <a:t>or keep </a:t>
            </a:r>
            <a:r>
              <a:rPr sz="1100" b="0" i="0">
                <a:solidFill>
                  <a:srgbClr val="0E7C86"/>
                </a:solidFill>
                <a:latin typeface="Consolas"/>
              </a:rPr>
              <a:t>risk/</a:t>
            </a:r>
            <a:r>
              <a:rPr sz="1200" b="0" i="0">
                <a:solidFill>
                  <a:srgbClr val="1C2433"/>
                </a:solidFill>
                <a:latin typeface="Calibri"/>
              </a:rPr>
              <a:t> on EFS if intraday must be seconds</a:t>
            </a:r>
          </a:p>
        </p:txBody>
      </p:sp>
      <p:sp>
        <p:nvSpPr>
          <p:cNvPr id="18" name="Callout"/>
          <p:cNvSpPr/>
          <p:nvPr/>
        </p:nvSpPr>
        <p:spPr>
          <a:xfrm>
            <a:off x="411480" y="5029200"/>
            <a:ext cx="6583680" cy="128016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Callout edge"/>
          <p:cNvSpPr/>
          <p:nvPr/>
        </p:nvSpPr>
        <p:spPr>
          <a:xfrm>
            <a:off x="411480" y="5047488"/>
            <a:ext cx="82296" cy="124358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40080" y="5102352"/>
            <a:ext cx="6217920" cy="1133856"/>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Risk tables in S3 keep 7 years:</a:t>
            </a:r>
            <a:r>
              <a:rPr sz="1200" b="0" i="0">
                <a:solidFill>
                  <a:srgbClr val="1C2433"/>
                </a:solidFill>
                <a:latin typeface="Calibri"/>
              </a:rPr>
              <a:t> publish them with </a:t>
            </a:r>
            <a:r>
              <a:rPr sz="1100" b="0" i="0">
                <a:solidFill>
                  <a:srgbClr val="0E7C86"/>
                </a:solidFill>
                <a:latin typeface="Consolas"/>
              </a:rPr>
              <a:t>--log-retention-days 2557 --deleted-file-retention-days 2557</a:t>
            </a:r>
            <a:r>
              <a:rPr sz="1200" b="0" i="0">
                <a:solidFill>
                  <a:srgbClr val="1C2433"/>
                </a:solidFill>
                <a:latin typeface="Calibri"/>
              </a:rPr>
              <a:t>; </a:t>
            </a:r>
            <a:r>
              <a:rPr sz="1100" b="0" i="0">
                <a:solidFill>
                  <a:srgbClr val="0E7C86"/>
                </a:solidFill>
                <a:latin typeface="Consolas"/>
              </a:rPr>
              <a:t>lake publish</a:t>
            </a:r>
            <a:r>
              <a:rPr sz="1200" b="0" i="0">
                <a:solidFill>
                  <a:srgbClr val="1C2433"/>
                </a:solidFill>
                <a:latin typeface="Calibri"/>
              </a:rPr>
              <a:t>'s defaults (30 and 7 days) would cut time travel.</a:t>
            </a:r>
          </a:p>
        </p:txBody>
      </p:sp>
      <p:sp>
        <p:nvSpPr>
          <p:cNvPr id="21" name="TextBox 20"/>
          <p:cNvSpPr txBox="1"/>
          <p:nvPr/>
        </p:nvSpPr>
        <p:spPr>
          <a:xfrm>
            <a:off x="7269480" y="5257800"/>
            <a:ext cx="4507992" cy="82296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Hot files: </a:t>
            </a:r>
            <a:r>
              <a:rPr sz="1100" b="0" i="0">
                <a:solidFill>
                  <a:srgbClr val="0E7C86"/>
                </a:solidFill>
                <a:latin typeface="Consolas"/>
              </a:rPr>
              <a:t>DRISHTI_VAR_HOT_DIR</a:t>
            </a:r>
            <a:r>
              <a:rPr sz="1200" b="0" i="0">
                <a:solidFill>
                  <a:srgbClr val="5B677A"/>
                </a:solidFill>
                <a:latin typeface="Calibri"/>
              </a:rPr>
              <a:t>, </a:t>
            </a:r>
            <a:r>
              <a:rPr sz="1100" b="0" i="0">
                <a:solidFill>
                  <a:srgbClr val="0E7C86"/>
                </a:solidFill>
                <a:latin typeface="Consolas"/>
              </a:rPr>
              <a:t>DRISHTI_EXPOSURE_HOT_DIR</a:t>
            </a:r>
            <a:r>
              <a:rPr sz="1200" b="0" i="0">
                <a:solidFill>
                  <a:srgbClr val="5B677A"/>
                </a:solidFill>
                <a:latin typeface="Calibri"/>
              </a:rPr>
              <a:t> on fast local disk, as the guides say (section 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Official results: append-only, versioned, reproducible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66</a:t>
            </a:r>
          </a:p>
        </p:txBody>
      </p:sp>
      <p:graphicFrame>
        <p:nvGraphicFramePr>
          <p:cNvPr id="9" name="Table"/>
          <p:cNvGraphicFramePr>
            <a:graphicFrameLocks noGrp="1"/>
          </p:cNvGraphicFramePr>
          <p:nvPr/>
        </p:nvGraphicFramePr>
        <p:xfrm>
          <a:off x="411480" y="1188720"/>
          <a:ext cx="6949440" cy="3511296"/>
        </p:xfrm>
        <a:graphic>
          <a:graphicData uri="http://schemas.openxmlformats.org/drawingml/2006/table">
            <a:tbl>
              <a:tblPr firstRow="0" bandRow="0">
                <a:tableStyleId>{5940675A-B579-460E-94D1-54222C63F5DA}</a:tableStyleId>
              </a:tblPr>
              <a:tblGrid>
                <a:gridCol w="2286000"/>
                <a:gridCol w="4663440"/>
              </a:tblGrid>
              <a:tr h="585216">
                <a:tc>
                  <a:txBody>
                    <a:bodyPr wrap="square"/>
                    <a:lstStyle/>
                    <a:p>
                      <a:r>
                        <a:rPr sz="1200" b="1" i="0">
                          <a:solidFill>
                            <a:srgbClr val="FFFFFF"/>
                          </a:solidFill>
                          <a:latin typeface="Calibri"/>
                        </a:rPr>
                        <a:t>Column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Content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85216">
                <a:tc>
                  <a:txBody>
                    <a:bodyPr wrap="square"/>
                    <a:lstStyle/>
                    <a:p>
                      <a:r>
                        <a:rPr sz="1100" b="1" i="0">
                          <a:solidFill>
                            <a:srgbClr val="0E7C86"/>
                          </a:solidFill>
                          <a:latin typeface="Consolas"/>
                        </a:rPr>
                        <a:t>business_date</a:t>
                      </a:r>
                      <a:r>
                        <a:rPr sz="1200" b="1" i="0">
                          <a:solidFill>
                            <a:srgbClr val="1C2433"/>
                          </a:solidFill>
                          <a:latin typeface="Calibri"/>
                        </a:rPr>
                        <a:t> · </a:t>
                      </a:r>
                      <a:r>
                        <a:rPr sz="1100" b="1" i="0">
                          <a:solidFill>
                            <a:srgbClr val="0E7C86"/>
                          </a:solidFill>
                          <a:latin typeface="Consolas"/>
                        </a:rPr>
                        <a:t>id</a:t>
                      </a:r>
                      <a:r>
                        <a:rPr sz="1200" b="1" i="0">
                          <a:solidFill>
                            <a:srgbClr val="1C2433"/>
                          </a:solidFill>
                          <a:latin typeface="Calibri"/>
                        </a:rPr>
                        <a:t> · </a:t>
                      </a:r>
                      <a:r>
                        <a:rPr sz="1100" b="1"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 </a:t>
                      </a:r>
                      <a:r>
                        <a:rPr sz="1100" b="0" i="0">
                          <a:solidFill>
                            <a:srgbClr val="0E7C86"/>
                          </a:solidFill>
                          <a:latin typeface="Consolas"/>
                        </a:rPr>
                        <a:t>&lt;NODE_ID&gt;@&lt;date&gt;#v&lt;RESULT_VERSION&gt;</a:t>
                      </a:r>
                      <a:r>
                        <a:rPr sz="1200" b="0" i="0">
                          <a:solidFill>
                            <a:srgbClr val="1C2433"/>
                          </a:solidFill>
                          <a:latin typeface="Calibri"/>
                        </a:rPr>
                        <a:t>; the row as 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85216">
                <a:tc>
                  <a:txBody>
                    <a:bodyPr wrap="square"/>
                    <a:lstStyle/>
                    <a:p>
                      <a:r>
                        <a:rPr sz="1200" b="1" i="0">
                          <a:solidFill>
                            <a:srgbClr val="1C2433"/>
                          </a:solidFill>
                          <a:latin typeface="Calibri"/>
                        </a:rPr>
                        <a:t>node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HIERARCHY</a:t>
                      </a:r>
                      <a:r>
                        <a:rPr sz="1200" b="0" i="0">
                          <a:solidFill>
                            <a:srgbClr val="1C2433"/>
                          </a:solidFill>
                          <a:latin typeface="Calibri"/>
                        </a:rPr>
                        <a:t>, </a:t>
                      </a:r>
                      <a:r>
                        <a:rPr sz="1100" b="0" i="0">
                          <a:solidFill>
                            <a:srgbClr val="0E7C86"/>
                          </a:solidFill>
                          <a:latin typeface="Consolas"/>
                        </a:rPr>
                        <a:t>NODE_ID</a:t>
                      </a:r>
                      <a:r>
                        <a:rPr sz="1200" b="0" i="0">
                          <a:solidFill>
                            <a:srgbClr val="1C2433"/>
                          </a:solidFill>
                          <a:latin typeface="Calibri"/>
                        </a:rPr>
                        <a:t>, </a:t>
                      </a:r>
                      <a:r>
                        <a:rPr sz="1100" b="0" i="0">
                          <a:solidFill>
                            <a:srgbClr val="0E7C86"/>
                          </a:solidFill>
                          <a:latin typeface="Consolas"/>
                        </a:rPr>
                        <a:t>NODE_NAME</a:t>
                      </a:r>
                      <a:r>
                        <a:rPr sz="1200" b="0" i="0">
                          <a:solidFill>
                            <a:srgbClr val="1C2433"/>
                          </a:solidFill>
                          <a:latin typeface="Calibri"/>
                        </a:rPr>
                        <a:t>, </a:t>
                      </a:r>
                      <a:r>
                        <a:rPr sz="1100" b="0" i="0">
                          <a:solidFill>
                            <a:srgbClr val="0E7C86"/>
                          </a:solidFill>
                          <a:latin typeface="Consolas"/>
                        </a:rPr>
                        <a:t>PARENT_ID</a:t>
                      </a:r>
                      <a:r>
                        <a:rPr sz="1200" b="0" i="0">
                          <a:solidFill>
                            <a:srgbClr val="1C2433"/>
                          </a:solidFill>
                          <a:latin typeface="Calibri"/>
                        </a:rPr>
                        <a:t>, </a:t>
                      </a:r>
                      <a:r>
                        <a:rPr sz="1100" b="0" i="0">
                          <a:solidFill>
                            <a:srgbClr val="0E7C86"/>
                          </a:solidFill>
                          <a:latin typeface="Consolas"/>
                        </a:rPr>
                        <a:t>LEVEL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85216">
                <a:tc>
                  <a:txBody>
                    <a:bodyPr wrap="square"/>
                    <a:lstStyle/>
                    <a:p>
                      <a:r>
                        <a:rPr sz="1200" b="1" i="0">
                          <a:solidFill>
                            <a:srgbClr val="1C2433"/>
                          </a:solidFill>
                          <a:latin typeface="Calibri"/>
                        </a:rPr>
                        <a:t>version and inputs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RESULT_VERSION</a:t>
                      </a:r>
                      <a:r>
                        <a:rPr sz="1200" b="0" i="0">
                          <a:solidFill>
                            <a:srgbClr val="1C2433"/>
                          </a:solidFill>
                          <a:latin typeface="Calibri"/>
                        </a:rPr>
                        <a:t> (1, 2 … on restatement), </a:t>
                      </a:r>
                      <a:r>
                        <a:rPr sz="1100" b="0" i="0">
                          <a:solidFill>
                            <a:srgbClr val="0E7C86"/>
                          </a:solidFill>
                          <a:latin typeface="Consolas"/>
                        </a:rPr>
                        <a:t>CAPTURE_ID</a:t>
                      </a:r>
                      <a:r>
                        <a:rPr sz="1200" b="0" i="0">
                          <a:solidFill>
                            <a:srgbClr val="1C2433"/>
                          </a:solidFill>
                          <a:latin typeface="Calibri"/>
                        </a:rPr>
                        <a:t>, </a:t>
                      </a:r>
                      <a:r>
                        <a:rPr sz="1100" b="0" i="0">
                          <a:solidFill>
                            <a:srgbClr val="0E7C86"/>
                          </a:solidFill>
                          <a:latin typeface="Consolas"/>
                        </a:rPr>
                        <a:t>INPUT_VERSIONS</a:t>
                      </a:r>
                      <a:r>
                        <a:rPr sz="1200" b="0" i="0">
                          <a:solidFill>
                            <a:srgbClr val="1C2433"/>
                          </a:solidFill>
                          <a:latin typeface="Calibri"/>
                        </a:rPr>
                        <a:t> (versions, batch ids, rules digest)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85216">
                <a:tc>
                  <a:txBody>
                    <a:bodyPr wrap="square"/>
                    <a:lstStyle/>
                    <a:p>
                      <a:r>
                        <a:rPr sz="1200" b="1" i="0">
                          <a:solidFill>
                            <a:srgbClr val="1C2433"/>
                          </a:solidFill>
                          <a:latin typeface="Calibri"/>
                        </a:rPr>
                        <a:t>figures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VAR</a:t>
                      </a:r>
                      <a:r>
                        <a:rPr sz="1200" b="0" i="0">
                          <a:solidFill>
                            <a:srgbClr val="1C2433"/>
                          </a:solidFill>
                          <a:latin typeface="Calibri"/>
                        </a:rPr>
                        <a:t>, </a:t>
                      </a:r>
                      <a:r>
                        <a:rPr sz="1100" b="0" i="0">
                          <a:solidFill>
                            <a:srgbClr val="0E7C86"/>
                          </a:solidFill>
                          <a:latin typeface="Consolas"/>
                        </a:rPr>
                        <a:t>ES</a:t>
                      </a:r>
                      <a:r>
                        <a:rPr sz="1200" b="0" i="0">
                          <a:solidFill>
                            <a:srgbClr val="1C2433"/>
                          </a:solidFill>
                          <a:latin typeface="Calibri"/>
                        </a:rPr>
                        <a:t>, </a:t>
                      </a:r>
                      <a:r>
                        <a:rPr sz="1100" b="0" i="0">
                          <a:solidFill>
                            <a:srgbClr val="0E7C86"/>
                          </a:solidFill>
                          <a:latin typeface="Consolas"/>
                        </a:rPr>
                        <a:t>CONFIDENCE</a:t>
                      </a:r>
                      <a:r>
                        <a:rPr sz="1200" b="0" i="0">
                          <a:solidFill>
                            <a:srgbClr val="1C2433"/>
                          </a:solidFill>
                          <a:latin typeface="Calibri"/>
                        </a:rPr>
                        <a:t>, </a:t>
                      </a:r>
                      <a:r>
                        <a:rPr sz="1100" b="0" i="0">
                          <a:solidFill>
                            <a:srgbClr val="0E7C86"/>
                          </a:solidFill>
                          <a:latin typeface="Consolas"/>
                        </a:rPr>
                        <a:t>ES_CONFIDENCE</a:t>
                      </a:r>
                      <a:r>
                        <a:rPr sz="1200" b="0" i="0">
                          <a:solidFill>
                            <a:srgbClr val="1C2433"/>
                          </a:solidFill>
                          <a:latin typeface="Calibri"/>
                        </a:rPr>
                        <a:t>, </a:t>
                      </a:r>
                      <a:r>
                        <a:rPr sz="1100" b="0" i="0">
                          <a:solidFill>
                            <a:srgbClr val="0E7C86"/>
                          </a:solidFill>
                          <a:latin typeface="Consolas"/>
                        </a:rPr>
                        <a:t>STANDALONE_SUM</a:t>
                      </a:r>
                      <a:r>
                        <a:rPr sz="1200" b="0" i="0">
                          <a:solidFill>
                            <a:srgbClr val="1C2433"/>
                          </a:solidFill>
                          <a:latin typeface="Calibri"/>
                        </a:rPr>
                        <a:t>, </a:t>
                      </a:r>
                      <a:r>
                        <a:rPr sz="1100" b="0" i="0">
                          <a:solidFill>
                            <a:srgbClr val="0E7C86"/>
                          </a:solidFill>
                          <a:latin typeface="Consolas"/>
                        </a:rPr>
                        <a:t>DIVERSIFICATION</a:t>
                      </a:r>
                      <a:r>
                        <a:rPr sz="1200" b="0" i="0">
                          <a:solidFill>
                            <a:srgbClr val="1C2433"/>
                          </a:solidFill>
                          <a:latin typeface="Calibri"/>
                        </a:rPr>
                        <a:t>, </a:t>
                      </a:r>
                      <a:r>
                        <a:rPr sz="1100" b="0" i="0">
                          <a:solidFill>
                            <a:srgbClr val="0E7C86"/>
                          </a:solidFill>
                          <a:latin typeface="Consolas"/>
                        </a:rPr>
                        <a:t>HYPO_PNL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85216">
                <a:tc>
                  <a:txBody>
                    <a:bodyPr wrap="square"/>
                    <a:lstStyle/>
                    <a:p>
                      <a:r>
                        <a:rPr sz="1200" b="1" i="0">
                          <a:solidFill>
                            <a:srgbClr val="1C2433"/>
                          </a:solidFill>
                          <a:latin typeface="Calibri"/>
                        </a:rPr>
                        <a:t>limits and backtest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LIMIT</a:t>
                      </a:r>
                      <a:r>
                        <a:rPr sz="1200" b="0" i="0">
                          <a:solidFill>
                            <a:srgbClr val="1C2433"/>
                          </a:solidFill>
                          <a:latin typeface="Calibri"/>
                        </a:rPr>
                        <a:t>, </a:t>
                      </a:r>
                      <a:r>
                        <a:rPr sz="1100" b="0" i="0">
                          <a:solidFill>
                            <a:srgbClr val="0E7C86"/>
                          </a:solidFill>
                          <a:latin typeface="Consolas"/>
                        </a:rPr>
                        <a:t>LIMIT_USE</a:t>
                      </a:r>
                      <a:r>
                        <a:rPr sz="1200" b="0" i="0">
                          <a:solidFill>
                            <a:srgbClr val="1C2433"/>
                          </a:solidFill>
                          <a:latin typeface="Calibri"/>
                        </a:rPr>
                        <a:t>, </a:t>
                      </a:r>
                      <a:r>
                        <a:rPr sz="1100" b="0" i="0">
                          <a:solidFill>
                            <a:srgbClr val="0E7C86"/>
                          </a:solidFill>
                          <a:latin typeface="Consolas"/>
                        </a:rPr>
                        <a:t>EXCEPTIONS_250</a:t>
                      </a:r>
                      <a:r>
                        <a:rPr sz="1200" b="0" i="0">
                          <a:solidFill>
                            <a:srgbClr val="1C2433"/>
                          </a:solidFill>
                          <a:latin typeface="Calibri"/>
                        </a:rPr>
                        <a:t>, </a:t>
                      </a:r>
                      <a:r>
                        <a:rPr sz="1100" b="0" i="0">
                          <a:solidFill>
                            <a:srgbClr val="0E7C86"/>
                          </a:solidFill>
                          <a:latin typeface="Consolas"/>
                        </a:rPr>
                        <a:t>TRAFFIC_LIGHT</a:t>
                      </a:r>
                      <a:r>
                        <a:rPr sz="1200" b="0" i="0">
                          <a:solidFill>
                            <a:srgbClr val="1C2433"/>
                          </a:solidFill>
                          <a:latin typeface="Calibri"/>
                        </a:rPr>
                        <a:t>, </a:t>
                      </a:r>
                      <a:r>
                        <a:rPr sz="1100" b="0" i="0">
                          <a:solidFill>
                            <a:srgbClr val="0E7C86"/>
                          </a:solidFill>
                          <a:latin typeface="Consolas"/>
                        </a:rPr>
                        <a:t>TRADE_COUNT</a:t>
                      </a:r>
                      <a:r>
                        <a:rPr sz="1200" b="0" i="0">
                          <a:solidFill>
                            <a:srgbClr val="1C2433"/>
                          </a:solidFill>
                          <a:latin typeface="Calibri"/>
                        </a:rPr>
                        <a:t>, </a:t>
                      </a:r>
                      <a:r>
                        <a:rPr sz="1100" b="0" i="0">
                          <a:solidFill>
                            <a:srgbClr val="0E7C86"/>
                          </a:solidFill>
                          <a:latin typeface="Consolas"/>
                        </a:rPr>
                        <a:t>POSITION_COUNT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TextBox 9"/>
          <p:cNvSpPr txBox="1"/>
          <p:nvPr/>
        </p:nvSpPr>
        <p:spPr>
          <a:xfrm>
            <a:off x="7635240" y="1188720"/>
            <a:ext cx="4142232" cy="36576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200" b="0" i="0">
                <a:solidFill>
                  <a:srgbClr val="0E7C86"/>
                </a:solidFill>
                <a:latin typeface="Consolas"/>
              </a:rPr>
              <a:t>delta.appendOnly</a:t>
            </a:r>
            <a:r>
              <a:rPr sz="1300" b="0" i="0">
                <a:solidFill>
                  <a:srgbClr val="1C2433"/>
                </a:solidFill>
                <a:latin typeface="Calibri"/>
              </a:rPr>
              <a:t>: nothing is overwritten; a restated date adds rows with the next </a:t>
            </a:r>
            <a:r>
              <a:rPr sz="1200" b="0" i="0">
                <a:solidFill>
                  <a:srgbClr val="0E7C86"/>
                </a:solidFill>
                <a:latin typeface="Consolas"/>
              </a:rPr>
              <a:t>RESULT_VERSION</a:t>
            </a:r>
          </a:p>
          <a:p>
            <a:pPr algn="l" marL="201168" indent="-201168">
              <a:spcAft>
                <a:spcPts val="700"/>
              </a:spcAft>
              <a:buClr>
                <a:srgbClr val="E87A1E"/>
              </a:buClr>
              <a:buSzPct val="100000"/>
              <a:buFont typeface="Arial"/>
              <a:buChar char="•"/>
            </a:pPr>
            <a:r>
              <a:rPr sz="1300" b="0" i="0">
                <a:solidFill>
                  <a:srgbClr val="1C2433"/>
                </a:solidFill>
                <a:latin typeface="Calibri"/>
              </a:rPr>
              <a:t>7 years of log and removed files: time travel to any published day</a:t>
            </a:r>
          </a:p>
          <a:p>
            <a:pPr algn="l" marL="201168" indent="-201168">
              <a:spcAft>
                <a:spcPts val="700"/>
              </a:spcAft>
              <a:buClr>
                <a:srgbClr val="E87A1E"/>
              </a:buClr>
              <a:buSzPct val="100000"/>
              <a:buFont typeface="Arial"/>
              <a:buChar char="•"/>
            </a:pPr>
            <a:r>
              <a:rPr sz="1300" b="0" i="0">
                <a:solidFill>
                  <a:srgbClr val="1C2433"/>
                </a:solidFill>
                <a:latin typeface="Calibri"/>
              </a:rPr>
              <a:t>no vectors, no trade rows: the capture in the content store keeps the vector for audit</a:t>
            </a:r>
          </a:p>
          <a:p>
            <a:pPr algn="l" marL="201168" indent="-201168">
              <a:spcAft>
                <a:spcPts val="700"/>
              </a:spcAft>
              <a:buClr>
                <a:srgbClr val="E87A1E"/>
              </a:buClr>
              <a:buSzPct val="100000"/>
              <a:buFont typeface="Arial"/>
              <a:buChar char="•"/>
            </a:pPr>
            <a:r>
              <a:rPr sz="1300" b="0" i="0">
                <a:solidFill>
                  <a:srgbClr val="1C2433"/>
                </a:solidFill>
                <a:latin typeface="Calibri"/>
              </a:rPr>
              <a:t>exposure: </a:t>
            </a:r>
            <a:r>
              <a:rPr sz="1200" b="0" i="0">
                <a:solidFill>
                  <a:srgbClr val="0E7C86"/>
                </a:solidFill>
                <a:latin typeface="Consolas"/>
              </a:rPr>
              <a:t>exposure-official</a:t>
            </a:r>
            <a:r>
              <a:rPr sz="1300" b="0" i="0">
                <a:solidFill>
                  <a:srgbClr val="1C2433"/>
                </a:solidFill>
                <a:latin typeface="Calibri"/>
              </a:rPr>
              <a:t> and </a:t>
            </a:r>
            <a:r>
              <a:rPr sz="1200" b="0" i="0">
                <a:solidFill>
                  <a:srgbClr val="0E7C86"/>
                </a:solidFill>
                <a:latin typeface="Consolas"/>
              </a:rPr>
              <a:t>-cpty</a:t>
            </a:r>
            <a:r>
              <a:rPr sz="1300" b="0" i="0">
                <a:solidFill>
                  <a:srgbClr val="1C2433"/>
                </a:solidFill>
                <a:latin typeface="Calibri"/>
              </a:rPr>
              <a:t>, the profile as JSON text</a:t>
            </a:r>
          </a:p>
        </p:txBody>
      </p:sp>
      <p:sp>
        <p:nvSpPr>
          <p:cNvPr id="11" name="Callout"/>
          <p:cNvSpPr/>
          <p:nvPr/>
        </p:nvSpPr>
        <p:spPr>
          <a:xfrm>
            <a:off x="411480" y="4892040"/>
            <a:ext cx="11365992" cy="14173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411480" y="4910327"/>
            <a:ext cx="82296" cy="13807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For other systems, never for engines.</a:t>
            </a:r>
            <a:r>
              <a:rPr sz="1300" b="0" i="0">
                <a:solidFill>
                  <a:srgbClr val="1C2433"/>
                </a:solidFill>
                <a:latin typeface="Calibri"/>
              </a:rPr>
              <a:t> BI reads the published tables as </a:t>
            </a:r>
            <a:r>
              <a:rPr sz="1200" b="0" i="0">
                <a:solidFill>
                  <a:srgbClr val="0E7C86"/>
                </a:solidFill>
                <a:latin typeface="Consolas"/>
              </a:rPr>
              <a:t>VOFF</a:t>
            </a:r>
            <a:r>
              <a:rPr sz="1300" b="0" i="0">
                <a:solidFill>
                  <a:srgbClr val="1C2433"/>
                </a:solidFill>
                <a:latin typeface="Calibri"/>
              </a:rPr>
              <a:t> and </a:t>
            </a:r>
            <a:r>
              <a:rPr sz="1200" b="0" i="0">
                <a:solidFill>
                  <a:srgbClr val="0E7C86"/>
                </a:solidFill>
                <a:latin typeface="Consolas"/>
              </a:rPr>
              <a:t>XOFC</a:t>
            </a:r>
            <a:r>
              <a:rPr sz="1300" b="0" i="0">
                <a:solidFill>
                  <a:srgbClr val="1C2433"/>
                </a:solidFill>
                <a:latin typeface="Calibri"/>
              </a:rPr>
              <a:t> (the reports Market risk: VaR and Counterparty risk; no measure sums VaR). Each figure can be recomputed from its inputs, the same vectors and engine version, years later.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Exposure paths: the large table, and what is kept for 7 years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67</a:t>
            </a:r>
          </a:p>
        </p:txBody>
      </p:sp>
      <p:graphicFrame>
        <p:nvGraphicFramePr>
          <p:cNvPr id="9" name="Table"/>
          <p:cNvGraphicFramePr>
            <a:graphicFrameLocks noGrp="1"/>
          </p:cNvGraphicFramePr>
          <p:nvPr/>
        </p:nvGraphicFramePr>
        <p:xfrm>
          <a:off x="411480" y="1188720"/>
          <a:ext cx="5669280" cy="2286000"/>
        </p:xfrm>
        <a:graphic>
          <a:graphicData uri="http://schemas.openxmlformats.org/drawingml/2006/table">
            <a:tbl>
              <a:tblPr firstRow="0" bandRow="0">
                <a:tableStyleId>{5940675A-B579-460E-94D1-54222C63F5DA}</a:tableStyleId>
              </a:tblPr>
              <a:tblGrid>
                <a:gridCol w="2743200"/>
                <a:gridCol w="1463040"/>
                <a:gridCol w="1463040"/>
              </a:tblGrid>
              <a:tr h="457200">
                <a:tc>
                  <a:txBody>
                    <a:bodyPr wrap="square"/>
                    <a:lstStyle/>
                    <a:p>
                      <a:r>
                        <a:rPr sz="1200" b="1" i="0">
                          <a:solidFill>
                            <a:srgbClr val="FFFFFF"/>
                          </a:solidFill>
                          <a:latin typeface="Calibri"/>
                        </a:rPr>
                        <a:t>Item (1,000,000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 = 2,000, G = 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 = 5,000, G = 100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trade paths, float32, dense,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the same, float64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netting-set V matrices (hot), 100,000 sets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for comparison: VaR vectors,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graphicFrame>
        <p:nvGraphicFramePr>
          <p:cNvPr id="10" name="Table"/>
          <p:cNvGraphicFramePr>
            <a:graphicFrameLocks noGrp="1"/>
          </p:cNvGraphicFramePr>
          <p:nvPr/>
        </p:nvGraphicFramePr>
        <p:xfrm>
          <a:off x="6309360" y="1188720"/>
          <a:ext cx="5468112" cy="2743200"/>
        </p:xfrm>
        <a:graphic>
          <a:graphicData uri="http://schemas.openxmlformats.org/drawingml/2006/table">
            <a:tbl>
              <a:tblPr firstRow="0" bandRow="0">
                <a:tableStyleId>{5940675A-B579-460E-94D1-54222C63F5DA}</a:tableStyleId>
              </a:tblPr>
              <a:tblGrid>
                <a:gridCol w="2377440"/>
                <a:gridCol w="3090672"/>
              </a:tblGrid>
              <a:tr h="457200">
                <a:tc>
                  <a:txBody>
                    <a:bodyPr wrap="square"/>
                    <a:lstStyle/>
                    <a:p>
                      <a:r>
                        <a:rPr sz="1200" b="1" i="0">
                          <a:solidFill>
                            <a:srgbClr val="FFFFFF"/>
                          </a:solidFill>
                          <a:latin typeface="Calibri"/>
                        </a:rPr>
                        <a:t>What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Kept (decided 2026-10-26, built 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trade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 business days, and each month-end for 1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netting-set matrices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date for 1 year; month-ends for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statistics per set and counterparty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date,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trade EE contributions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date,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official captures, run records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1" name="Callout"/>
          <p:cNvSpPr/>
          <p:nvPr/>
        </p:nvSpPr>
        <p:spPr>
          <a:xfrm>
            <a:off x="411480" y="4160520"/>
            <a:ext cx="11365992" cy="10058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411480" y="4178807"/>
            <a:ext cx="82296" cy="9692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4233672"/>
            <a:ext cx="11000232" cy="8595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3.5 PB → about 150 TB:</a:t>
            </a:r>
            <a:r>
              <a:rPr sz="1300" b="0" i="0">
                <a:solidFill>
                  <a:srgbClr val="1C2433"/>
                </a:solidFill>
                <a:latin typeface="Calibri"/>
              </a:rPr>
              <a:t> 7 years of dense trade paths at P = 5,000, G = 100 would be 3.5 PB; under the decided tiers the standing storage is about 150 TB at full size (a fifth at P = 2,000, G = 50). ESTIMATED from the guide's formulas.</a:t>
            </a:r>
          </a:p>
        </p:txBody>
      </p:sp>
      <p:sp>
        <p:nvSpPr>
          <p:cNvPr id="14" name="Rounded Rectangle 13"/>
          <p:cNvSpPr/>
          <p:nvPr/>
        </p:nvSpPr>
        <p:spPr>
          <a:xfrm>
            <a:off x="411480" y="5349240"/>
            <a:ext cx="11365992" cy="96012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5394959"/>
            <a:ext cx="10040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Exposure-path layout at scale (EXPOSURE_GUIDE.md 15.3)</a:t>
            </a:r>
          </a:p>
        </p:txBody>
      </p:sp>
      <p:sp>
        <p:nvSpPr>
          <p:cNvPr id="16" name="Status PROPOSED"/>
          <p:cNvSpPr/>
          <p:nvPr/>
        </p:nvSpPr>
        <p:spPr>
          <a:xfrm>
            <a:off x="10634472" y="544067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7" name="TextBox 16"/>
          <p:cNvSpPr txBox="1"/>
          <p:nvPr/>
        </p:nvSpPr>
        <p:spPr>
          <a:xfrm>
            <a:off x="502920" y="5715000"/>
            <a:ext cx="11183112"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partition by </a:t>
            </a:r>
            <a:r>
              <a:rPr sz="1100" b="0" i="0">
                <a:solidFill>
                  <a:srgbClr val="0E7C86"/>
                </a:solidFill>
                <a:latin typeface="Consolas"/>
              </a:rPr>
              <a:t>business_date</a:t>
            </a:r>
            <a:r>
              <a:rPr sz="1200" b="0" i="0">
                <a:solidFill>
                  <a:srgbClr val="1C2433"/>
                </a:solidFill>
                <a:latin typeface="Calibri"/>
              </a:rPr>
              <a:t> and </a:t>
            </a:r>
            <a:r>
              <a:rPr sz="1100" b="0" i="0">
                <a:solidFill>
                  <a:srgbClr val="0E7C86"/>
                </a:solidFill>
                <a:latin typeface="Consolas"/>
              </a:rPr>
              <a:t>run_id</a:t>
            </a:r>
            <a:r>
              <a:rPr sz="1200" b="0" i="0">
                <a:solidFill>
                  <a:srgbClr val="1C2433"/>
                </a:solidFill>
                <a:latin typeface="Calibri"/>
              </a:rPr>
              <a:t>; sort by </a:t>
            </a:r>
            <a:r>
              <a:rPr sz="1100" b="0" i="0">
                <a:solidFill>
                  <a:srgbClr val="0E7C86"/>
                </a:solidFill>
                <a:latin typeface="Consolas"/>
              </a:rPr>
              <a:t>NETTING_SET</a:t>
            </a:r>
            <a:r>
              <a:rPr sz="1200" b="0" i="0">
                <a:solidFill>
                  <a:srgbClr val="1C2433"/>
                </a:solidFill>
                <a:latin typeface="Calibri"/>
              </a:rPr>
              <a:t>, </a:t>
            </a:r>
            <a:r>
              <a:rPr sz="1100" b="0" i="0">
                <a:solidFill>
                  <a:srgbClr val="0E7C86"/>
                </a:solidFill>
                <a:latin typeface="Consolas"/>
              </a:rPr>
              <a:t>TRADE_ID</a:t>
            </a:r>
            <a:r>
              <a:rPr sz="1200" b="0" i="0">
                <a:solidFill>
                  <a:srgbClr val="1C2433"/>
                </a:solidFill>
                <a:latin typeface="Calibri"/>
              </a:rPr>
              <a:t>, </a:t>
            </a:r>
            <a:r>
              <a:rPr sz="1100" b="0" i="0">
                <a:solidFill>
                  <a:srgbClr val="0E7C86"/>
                </a:solidFill>
                <a:latin typeface="Consolas"/>
              </a:rPr>
              <a:t>GRID_INDEX</a:t>
            </a:r>
            <a:r>
              <a:rPr sz="1200" b="0" i="0">
                <a:solidFill>
                  <a:srgbClr val="1C2433"/>
                </a:solidFill>
                <a:latin typeface="Calibri"/>
              </a:rPr>
              <a:t>; ~512 MB files; </a:t>
            </a:r>
            <a:r>
              <a:rPr sz="1100" b="0" i="0">
                <a:solidFill>
                  <a:srgbClr val="0E7C86"/>
                </a:solidFill>
                <a:latin typeface="Consolas"/>
              </a:rPr>
              <a:t>MTM</a:t>
            </a:r>
            <a:r>
              <a:rPr sz="1200" b="0" i="0">
                <a:solidFill>
                  <a:srgbClr val="1C2433"/>
                </a:solidFill>
                <a:latin typeface="Calibri"/>
              </a:rPr>
              <a:t> BYTE_STREAM_SPLIT + ZSTD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13</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Bank scale: 1.3 million positions, 100,000 portfolios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a bank of that size puts in the lake each day, where Delta matters, what is measured and what is estimated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1.3 million positions put in the lake each day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69</a:t>
            </a:r>
          </a:p>
        </p:txBody>
      </p:sp>
      <p:graphicFrame>
        <p:nvGraphicFramePr>
          <p:cNvPr id="9" name="Table"/>
          <p:cNvGraphicFramePr>
            <a:graphicFrameLocks noGrp="1"/>
          </p:cNvGraphicFramePr>
          <p:nvPr/>
        </p:nvGraphicFramePr>
        <p:xfrm>
          <a:off x="411480" y="1188720"/>
          <a:ext cx="7680960" cy="4572000"/>
        </p:xfrm>
        <a:graphic>
          <a:graphicData uri="http://schemas.openxmlformats.org/drawingml/2006/table">
            <a:tbl>
              <a:tblPr firstRow="0" bandRow="0">
                <a:tableStyleId>{5940675A-B579-460E-94D1-54222C63F5DA}</a:tableStyleId>
              </a:tblPr>
              <a:tblGrid>
                <a:gridCol w="2926080"/>
                <a:gridCol w="2286000"/>
                <a:gridCol w="1463040"/>
                <a:gridCol w="1005840"/>
              </a:tblGrid>
              <a:tr h="457200">
                <a:tc>
                  <a:txBody>
                    <a:bodyPr wrap="square"/>
                    <a:lstStyle/>
                    <a:p>
                      <a:r>
                        <a:rPr sz="1200" b="1" i="0">
                          <a:solidFill>
                            <a:srgbClr val="FFFFFF"/>
                          </a:solidFill>
                          <a:latin typeface="Calibri"/>
                        </a:rPr>
                        <a:t>Per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Result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P&amp;L vectors, float64 (in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1.3M × 509 × 8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5.29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 as Parquet (≈ 0.75 × raw)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5.29 GB × 0.75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4.0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 a year; 7 years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252; × 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 TB; ≈ 7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Scenario PVs instead (a system's choice)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509-vector per row as well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same order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Portfolio definitions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100,000 rows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small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Every portfolio's vector, if stored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100k × 509 × 8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407 MB per currency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Kafka micro-batches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5-minute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12 commits an hour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Intraday records on the topic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10,000 updates × 4–8 KB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40–80 MB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guide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Official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row per node per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thousands of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8321040" y="1188720"/>
            <a:ext cx="3456432" cy="2377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8321040" y="1207008"/>
            <a:ext cx="82296" cy="2340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8549640" y="1261872"/>
            <a:ext cx="3090672" cy="22311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The risk lake is small next to the documents</a:t>
            </a:r>
          </a:p>
          <a:p>
            <a:pPr algn="l">
              <a:spcAft>
                <a:spcPts val="600"/>
              </a:spcAft>
              <a:buNone/>
            </a:pPr>
            <a:r>
              <a:rPr sz="1300" b="0" i="0">
                <a:solidFill>
                  <a:srgbClr val="1C2433"/>
                </a:solidFill>
                <a:latin typeface="Calibri"/>
              </a:rPr>
              <a:t>≈ 7 TB of VaR vectors over 7 years, against ≈ 200 TB of documents (slide 88). Exposure paths are the large table (slide 67).</a:t>
            </a:r>
          </a:p>
        </p:txBody>
      </p:sp>
      <p:sp>
        <p:nvSpPr>
          <p:cNvPr id="13" name="Callout"/>
          <p:cNvSpPr/>
          <p:nvPr/>
        </p:nvSpPr>
        <p:spPr>
          <a:xfrm>
            <a:off x="8321040" y="3749039"/>
            <a:ext cx="3456432" cy="25603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8321040" y="3767327"/>
            <a:ext cx="82296" cy="25237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8549640" y="3822191"/>
            <a:ext cx="3090672" cy="24140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Position grain (2.9.4)</a:t>
            </a:r>
          </a:p>
          <a:p>
            <a:pPr algn="l">
              <a:spcAft>
                <a:spcPts val="600"/>
              </a:spcAft>
              <a:buNone/>
            </a:pPr>
            <a:r>
              <a:rPr sz="1300" b="0" i="0">
                <a:solidFill>
                  <a:srgbClr val="1C2433"/>
                </a:solidFill>
                <a:latin typeface="Calibri"/>
              </a:rPr>
              <a:t>A system may send one row per position: rows = positions, so 1.3M rows a date whatever the trade count, and no trade matrix in the hot file.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Where Delta matters at bank scale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70</a:t>
            </a:r>
          </a:p>
        </p:txBody>
      </p:sp>
      <p:sp>
        <p:nvSpPr>
          <p:cNvPr id="9" name="Rounded Rectangle 8"/>
          <p:cNvSpPr/>
          <p:nvPr/>
        </p:nvSpPr>
        <p:spPr>
          <a:xfrm>
            <a:off x="41148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6187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Partition by business_date</a:t>
            </a:r>
          </a:p>
        </p:txBody>
      </p:sp>
      <p:sp>
        <p:nvSpPr>
          <p:cNvPr id="11" name="Status BUILT"/>
          <p:cNvSpPr/>
          <p:nvPr/>
        </p:nvSpPr>
        <p:spPr>
          <a:xfrm>
            <a:off x="2953512"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2" name="TextBox 11"/>
          <p:cNvSpPr txBox="1"/>
          <p:nvPr/>
        </p:nvSpPr>
        <p:spPr>
          <a:xfrm>
            <a:off x="521208"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a full run replaces its date; intraday batches append</a:t>
            </a:r>
          </a:p>
        </p:txBody>
      </p:sp>
      <p:sp>
        <p:nvSpPr>
          <p:cNvPr id="13" name="Rounded Rectangle 12"/>
          <p:cNvSpPr/>
          <p:nvPr/>
        </p:nvSpPr>
        <p:spPr>
          <a:xfrm>
            <a:off x="425196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361688" y="126187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Vector column list&lt;double&gt;</a:t>
            </a:r>
          </a:p>
        </p:txBody>
      </p:sp>
      <p:sp>
        <p:nvSpPr>
          <p:cNvPr id="15" name="Status BUILT"/>
          <p:cNvSpPr/>
          <p:nvPr/>
        </p:nvSpPr>
        <p:spPr>
          <a:xfrm>
            <a:off x="6793992"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6" name="TextBox 15"/>
          <p:cNvSpPr txBox="1"/>
          <p:nvPr/>
        </p:nvSpPr>
        <p:spPr>
          <a:xfrm>
            <a:off x="4361688"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standard Parquet; a sum reads one column</a:t>
            </a:r>
          </a:p>
        </p:txBody>
      </p:sp>
      <p:sp>
        <p:nvSpPr>
          <p:cNvPr id="17" name="Rounded Rectangle 16"/>
          <p:cNvSpPr/>
          <p:nvPr/>
        </p:nvSpPr>
        <p:spPr>
          <a:xfrm>
            <a:off x="809244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202167" y="126187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Time travel 7 years</a:t>
            </a:r>
          </a:p>
        </p:txBody>
      </p:sp>
      <p:sp>
        <p:nvSpPr>
          <p:cNvPr id="19" name="Status BUILT"/>
          <p:cNvSpPr/>
          <p:nvPr/>
        </p:nvSpPr>
        <p:spPr>
          <a:xfrm>
            <a:off x="10634472"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20" name="TextBox 19"/>
          <p:cNvSpPr txBox="1"/>
          <p:nvPr/>
        </p:nvSpPr>
        <p:spPr>
          <a:xfrm>
            <a:off x="8202167"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a restatement is a new commit; reproduce any official number</a:t>
            </a:r>
          </a:p>
        </p:txBody>
      </p:sp>
      <p:sp>
        <p:nvSpPr>
          <p:cNvPr id="21" name="Rounded Rectangle 20"/>
          <p:cNvSpPr/>
          <p:nvPr/>
        </p:nvSpPr>
        <p:spPr>
          <a:xfrm>
            <a:off x="41148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21208" y="254203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Checkpoints + lake maintain</a:t>
            </a:r>
          </a:p>
        </p:txBody>
      </p:sp>
      <p:sp>
        <p:nvSpPr>
          <p:cNvPr id="23" name="Status BUILT"/>
          <p:cNvSpPr/>
          <p:nvPr/>
        </p:nvSpPr>
        <p:spPr>
          <a:xfrm>
            <a:off x="2953512" y="256032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24" name="TextBox 23"/>
          <p:cNvSpPr txBox="1"/>
          <p:nvPr/>
        </p:nvSpPr>
        <p:spPr>
          <a:xfrm>
            <a:off x="521208"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many small intraday commits stay fast; 7-year floor</a:t>
            </a:r>
          </a:p>
        </p:txBody>
      </p:sp>
      <p:sp>
        <p:nvSpPr>
          <p:cNvPr id="25" name="Rounded Rectangle 24"/>
          <p:cNvSpPr/>
          <p:nvPr/>
        </p:nvSpPr>
        <p:spPr>
          <a:xfrm>
            <a:off x="425196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4361688" y="254203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Official results append-only</a:t>
            </a:r>
          </a:p>
        </p:txBody>
      </p:sp>
      <p:sp>
        <p:nvSpPr>
          <p:cNvPr id="27" name="Status BUILT"/>
          <p:cNvSpPr/>
          <p:nvPr/>
        </p:nvSpPr>
        <p:spPr>
          <a:xfrm>
            <a:off x="6793992" y="256032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28" name="TextBox 27"/>
          <p:cNvSpPr txBox="1"/>
          <p:nvPr/>
        </p:nvSpPr>
        <p:spPr>
          <a:xfrm>
            <a:off x="4361688"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Delta + JSONL beside; BI reads them</a:t>
            </a:r>
          </a:p>
        </p:txBody>
      </p:sp>
      <p:sp>
        <p:nvSpPr>
          <p:cNvPr id="29" name="Rounded Rectangle 28"/>
          <p:cNvSpPr/>
          <p:nvPr/>
        </p:nvSpPr>
        <p:spPr>
          <a:xfrm>
            <a:off x="809244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202167" y="254203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Delta read from S3</a:t>
            </a:r>
          </a:p>
        </p:txBody>
      </p:sp>
      <p:sp>
        <p:nvSpPr>
          <p:cNvPr id="31" name="Status BUILT"/>
          <p:cNvSpPr/>
          <p:nvPr/>
        </p:nvSpPr>
        <p:spPr>
          <a:xfrm>
            <a:off x="10634472" y="256032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32" name="TextBox 31"/>
          <p:cNvSpPr txBox="1"/>
          <p:nvPr/>
        </p:nvSpPr>
        <p:spPr>
          <a:xfrm>
            <a:off x="8202167"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ranged GETs; one row group; footers cached</a:t>
            </a:r>
          </a:p>
        </p:txBody>
      </p:sp>
      <p:sp>
        <p:nvSpPr>
          <p:cNvPr id="33" name="Rounded Rectangle 32"/>
          <p:cNvSpPr/>
          <p:nvPr/>
        </p:nvSpPr>
        <p:spPr>
          <a:xfrm>
            <a:off x="411480" y="3749039"/>
            <a:ext cx="368503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21208" y="382219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Sort by LE, desk, book; ZSTD + BSS</a:t>
            </a:r>
          </a:p>
        </p:txBody>
      </p:sp>
      <p:sp>
        <p:nvSpPr>
          <p:cNvPr id="35" name="Status DESIGNED"/>
          <p:cNvSpPr/>
          <p:nvPr/>
        </p:nvSpPr>
        <p:spPr>
          <a:xfrm>
            <a:off x="2953512" y="3840479"/>
            <a:ext cx="1051560" cy="237744"/>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0B1E3B"/>
                </a:solidFill>
                <a:latin typeface="Calibri"/>
              </a:rPr>
              <a:t>DESIGNED</a:t>
            </a:r>
          </a:p>
        </p:txBody>
      </p:sp>
      <p:sp>
        <p:nvSpPr>
          <p:cNvPr id="36" name="TextBox 35"/>
          <p:cNvSpPr txBox="1"/>
          <p:nvPr/>
        </p:nvSpPr>
        <p:spPr>
          <a:xfrm>
            <a:off x="521208"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a node is a contiguous run of rows</a:t>
            </a:r>
          </a:p>
        </p:txBody>
      </p:sp>
      <p:sp>
        <p:nvSpPr>
          <p:cNvPr id="37" name="Rounded Rectangle 36"/>
          <p:cNvSpPr/>
          <p:nvPr/>
        </p:nvSpPr>
        <p:spPr>
          <a:xfrm>
            <a:off x="4251960" y="3749039"/>
            <a:ext cx="368503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4361688" y="382219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VaR sharding across servers</a:t>
            </a:r>
          </a:p>
        </p:txBody>
      </p:sp>
      <p:sp>
        <p:nvSpPr>
          <p:cNvPr id="39" name="Status DESIGNED"/>
          <p:cNvSpPr/>
          <p:nvPr/>
        </p:nvSpPr>
        <p:spPr>
          <a:xfrm>
            <a:off x="6793992" y="3840479"/>
            <a:ext cx="1051560" cy="237744"/>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0B1E3B"/>
                </a:solidFill>
                <a:latin typeface="Calibri"/>
              </a:rPr>
              <a:t>DESIGNED</a:t>
            </a:r>
          </a:p>
        </p:txBody>
      </p:sp>
      <p:sp>
        <p:nvSpPr>
          <p:cNvPr id="40" name="TextBox 39"/>
          <p:cNvSpPr txBox="1"/>
          <p:nvPr/>
        </p:nvSpPr>
        <p:spPr>
          <a:xfrm>
            <a:off x="4361688"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each server maps its ranges; partial vectors added</a:t>
            </a:r>
          </a:p>
        </p:txBody>
      </p:sp>
      <p:sp>
        <p:nvSpPr>
          <p:cNvPr id="41" name="Rounded Rectangle 40"/>
          <p:cNvSpPr/>
          <p:nvPr/>
        </p:nvSpPr>
        <p:spPr>
          <a:xfrm>
            <a:off x="8092440" y="374903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202167" y="382219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Z-order / liquid clustering</a:t>
            </a:r>
          </a:p>
        </p:txBody>
      </p:sp>
      <p:sp>
        <p:nvSpPr>
          <p:cNvPr id="43" name="Status PROPOSED"/>
          <p:cNvSpPr/>
          <p:nvPr/>
        </p:nvSpPr>
        <p:spPr>
          <a:xfrm>
            <a:off x="10634472" y="384047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44" name="TextBox 43"/>
          <p:cNvSpPr txBox="1"/>
          <p:nvPr/>
        </p:nvSpPr>
        <p:spPr>
          <a:xfrm>
            <a:off x="8202167"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skip files for a desk's or portfolio's read</a:t>
            </a:r>
          </a:p>
        </p:txBody>
      </p:sp>
      <p:sp>
        <p:nvSpPr>
          <p:cNvPr id="45" name="Rounded Rectangle 44"/>
          <p:cNvSpPr/>
          <p:nvPr/>
        </p:nvSpPr>
        <p:spPr>
          <a:xfrm>
            <a:off x="41148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521208"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Node and portfolio vector table</a:t>
            </a:r>
          </a:p>
        </p:txBody>
      </p:sp>
      <p:sp>
        <p:nvSpPr>
          <p:cNvPr id="47" name="Status PROPOSED"/>
          <p:cNvSpPr/>
          <p:nvPr/>
        </p:nvSpPr>
        <p:spPr>
          <a:xfrm>
            <a:off x="295351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48" name="TextBox 47"/>
          <p:cNvSpPr txBox="1"/>
          <p:nvPr/>
        </p:nvSpPr>
        <p:spPr>
          <a:xfrm>
            <a:off x="521208"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BI and peers read sums, not 1.3M rows</a:t>
            </a:r>
          </a:p>
        </p:txBody>
      </p:sp>
      <p:sp>
        <p:nvSpPr>
          <p:cNvPr id="49" name="Rounded Rectangle 48"/>
          <p:cNvSpPr/>
          <p:nvPr/>
        </p:nvSpPr>
        <p:spPr>
          <a:xfrm>
            <a:off x="425196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4361688"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Change data feed on inputs</a:t>
            </a:r>
          </a:p>
        </p:txBody>
      </p:sp>
      <p:sp>
        <p:nvSpPr>
          <p:cNvPr id="51" name="Status PROPOSED"/>
          <p:cNvSpPr/>
          <p:nvPr/>
        </p:nvSpPr>
        <p:spPr>
          <a:xfrm>
            <a:off x="679399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52" name="TextBox 51"/>
          <p:cNvSpPr txBox="1"/>
          <p:nvPr/>
        </p:nvSpPr>
        <p:spPr>
          <a:xfrm>
            <a:off x="4361688"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followers see intraday deltas</a:t>
            </a:r>
          </a:p>
        </p:txBody>
      </p:sp>
      <p:sp>
        <p:nvSpPr>
          <p:cNvPr id="53" name="Rounded Rectangle 52"/>
          <p:cNvSpPr/>
          <p:nvPr/>
        </p:nvSpPr>
        <p:spPr>
          <a:xfrm>
            <a:off x="809244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202167"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Official results to S3</a:t>
            </a:r>
          </a:p>
        </p:txBody>
      </p:sp>
      <p:sp>
        <p:nvSpPr>
          <p:cNvPr id="55" name="Status PROPOSED"/>
          <p:cNvSpPr/>
          <p:nvPr/>
        </p:nvSpPr>
        <p:spPr>
          <a:xfrm>
            <a:off x="1063447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56" name="TextBox 55"/>
          <p:cNvSpPr txBox="1"/>
          <p:nvPr/>
        </p:nvSpPr>
        <p:spPr>
          <a:xfrm>
            <a:off x="8202167"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EFS root, then </a:t>
            </a:r>
            <a:r>
              <a:rPr sz="1100" b="0" i="0">
                <a:solidFill>
                  <a:srgbClr val="0E7C86"/>
                </a:solidFill>
                <a:latin typeface="Consolas"/>
              </a:rPr>
              <a:t>lake publish --mode append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Measured on the documents: a million trades a day, seven years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71</a:t>
            </a:r>
          </a:p>
        </p:txBody>
      </p:sp>
      <p:graphicFrame>
        <p:nvGraphicFramePr>
          <p:cNvPr id="9" name="Table"/>
          <p:cNvGraphicFramePr>
            <a:graphicFrameLocks noGrp="1"/>
          </p:cNvGraphicFramePr>
          <p:nvPr/>
        </p:nvGraphicFramePr>
        <p:xfrm>
          <a:off x="411480" y="1188720"/>
          <a:ext cx="6309360" cy="4279392"/>
        </p:xfrm>
        <a:graphic>
          <a:graphicData uri="http://schemas.openxmlformats.org/drawingml/2006/table">
            <a:tbl>
              <a:tblPr firstRow="0" bandRow="0">
                <a:tableStyleId>{5940675A-B579-460E-94D1-54222C63F5DA}</a:tableStyleId>
              </a:tblPr>
              <a:tblGrid>
                <a:gridCol w="4206240"/>
                <a:gridCol w="2103120"/>
              </a:tblGrid>
              <a:tr h="475488">
                <a:tc>
                  <a:txBody>
                    <a:bodyPr wrap="square"/>
                    <a:lstStyle/>
                    <a:p>
                      <a:r>
                        <a:rPr sz="1200" b="1" i="0">
                          <a:solidFill>
                            <a:srgbClr val="FFFFFF"/>
                          </a:solidFill>
                          <a:latin typeface="Calibri"/>
                        </a:rPr>
                        <a:t>Question (1,000,000 trades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type-ahead </a:t>
                      </a:r>
                      <a:r>
                        <a:rPr sz="1100" b="1" i="0">
                          <a:solidFill>
                            <a:srgbClr val="0E7C86"/>
                          </a:solidFill>
                          <a:latin typeface="Consolas"/>
                        </a:rPr>
                        <a:t>TRD CLY-40834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29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open a trade, first time / cached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137–157 ms / 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open a trade on a past business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288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a search over the day, exact over 1,000,000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134–322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desk P&amp;L of all desks / another desk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327 ms / 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impact of a netting set (143,982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716–881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 search on another business day, first / again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6.6 s / 306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server heap in use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graphicFrame>
        <p:nvGraphicFramePr>
          <p:cNvPr id="10" name="Table"/>
          <p:cNvGraphicFramePr>
            <a:graphicFrameLocks noGrp="1"/>
          </p:cNvGraphicFramePr>
          <p:nvPr/>
        </p:nvGraphicFramePr>
        <p:xfrm>
          <a:off x="6949440" y="1188720"/>
          <a:ext cx="4828032" cy="2852928"/>
        </p:xfrm>
        <a:graphic>
          <a:graphicData uri="http://schemas.openxmlformats.org/drawingml/2006/table">
            <a:tbl>
              <a:tblPr firstRow="0" bandRow="0">
                <a:tableStyleId>{5940675A-B579-460E-94D1-54222C63F5DA}</a:tableStyleId>
              </a:tblPr>
              <a:tblGrid>
                <a:gridCol w="3291840"/>
                <a:gridCol w="1536192"/>
              </a:tblGrid>
              <a:tr h="475488">
                <a:tc>
                  <a:txBody>
                    <a:bodyPr wrap="square"/>
                    <a:lstStyle/>
                    <a:p>
                      <a:r>
                        <a:rPr sz="1200" b="1" i="0">
                          <a:solidFill>
                            <a:srgbClr val="FFFFFF"/>
                          </a:solidFill>
                          <a:latin typeface="Calibri"/>
                        </a:rPr>
                        <a:t>Seven years: 1,800 days, 7,200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start-up incl. file list and newest ids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729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a trade on 2019-12-05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22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 trade on 2022-06-15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the file list re-read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84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an old day's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1" name="Status MEASURED"/>
          <p:cNvSpPr/>
          <p:nvPr/>
        </p:nvSpPr>
        <p:spPr>
          <a:xfrm>
            <a:off x="6949440" y="4206240"/>
            <a:ext cx="1051560" cy="237744"/>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MEASURED</a:t>
            </a:r>
          </a:p>
        </p:txBody>
      </p:sp>
      <p:sp>
        <p:nvSpPr>
          <p:cNvPr id="12" name="TextBox 11"/>
          <p:cNvSpPr txBox="1"/>
          <p:nvPr/>
        </p:nvSpPr>
        <p:spPr>
          <a:xfrm>
            <a:off x="6949440" y="4572000"/>
            <a:ext cx="4828032" cy="173736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Nothing in the read paths grows with history: a read concerns one business day, the file list comes from the last checkpoint, caches hold days by memory. A day in 2019 waits once for its id map (about a second).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Reading one VaR date at bank scale: lake, hot file, memory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72</a:t>
            </a:r>
          </a:p>
        </p:txBody>
      </p:sp>
      <p:sp>
        <p:nvSpPr>
          <p:cNvPr id="9" name="Rounded Rectangle 8"/>
          <p:cNvSpPr/>
          <p:nvPr/>
        </p:nvSpPr>
        <p:spPr>
          <a:xfrm>
            <a:off x="411480" y="1188720"/>
            <a:ext cx="6949440" cy="10972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6187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lake (S3, Parquet)</a:t>
            </a:r>
          </a:p>
        </p:txBody>
      </p:sp>
      <p:sp>
        <p:nvSpPr>
          <p:cNvPr id="11" name="Status ESTIMATED"/>
          <p:cNvSpPr/>
          <p:nvPr/>
        </p:nvSpPr>
        <p:spPr>
          <a:xfrm>
            <a:off x="6172200" y="129844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2" name="TextBox 11"/>
          <p:cNvSpPr txBox="1"/>
          <p:nvPr/>
        </p:nvSpPr>
        <p:spPr>
          <a:xfrm>
            <a:off x="548640" y="171907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 4 GB a date; a cold whole-bank pass 10–40 s on one server</a:t>
            </a:r>
          </a:p>
        </p:txBody>
      </p:sp>
      <p:cxnSp>
        <p:nvCxnSpPr>
          <p:cNvPr id="13" name="Connector 12"/>
          <p:cNvCxnSpPr/>
          <p:nvPr/>
        </p:nvCxnSpPr>
        <p:spPr>
          <a:xfrm>
            <a:off x="3886200" y="228600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11480" y="2514600"/>
            <a:ext cx="6949440" cy="10972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48640" y="258775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hot file (local disk)</a:t>
            </a:r>
          </a:p>
        </p:txBody>
      </p:sp>
      <p:sp>
        <p:nvSpPr>
          <p:cNvPr id="16" name="Status ESTIMATED"/>
          <p:cNvSpPr/>
          <p:nvPr/>
        </p:nvSpPr>
        <p:spPr>
          <a:xfrm>
            <a:off x="6172200" y="262432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7" name="TextBox 16"/>
          <p:cNvSpPr txBox="1"/>
          <p:nvPr/>
        </p:nvSpPr>
        <p:spPr>
          <a:xfrm>
            <a:off x="548640" y="304495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 3.1 GB a date; reopened in ≈ 0.3 s; 60 dates ≈ 185 GB</a:t>
            </a:r>
          </a:p>
        </p:txBody>
      </p:sp>
      <p:cxnSp>
        <p:nvCxnSpPr>
          <p:cNvPr id="18" name="Connector 17"/>
          <p:cNvCxnSpPr/>
          <p:nvPr/>
        </p:nvCxnSpPr>
        <p:spPr>
          <a:xfrm>
            <a:off x="3886200" y="361188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11480" y="3840480"/>
            <a:ext cx="69494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48640" y="391363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Memory (page cache + heap)</a:t>
            </a:r>
          </a:p>
        </p:txBody>
      </p:sp>
      <p:sp>
        <p:nvSpPr>
          <p:cNvPr id="21" name="Status ESTIMATED"/>
          <p:cNvSpPr/>
          <p:nvPr/>
        </p:nvSpPr>
        <p:spPr>
          <a:xfrm>
            <a:off x="6172200" y="395020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22" name="TextBox 21"/>
          <p:cNvSpPr txBox="1"/>
          <p:nvPr/>
        </p:nvSpPr>
        <p:spPr>
          <a:xfrm>
            <a:off x="548640" y="437083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a node 0.48 ms at 100k (MEASURED); the whole bank ≈ 45 ms resident</a:t>
            </a:r>
          </a:p>
        </p:txBody>
      </p:sp>
      <p:graphicFrame>
        <p:nvGraphicFramePr>
          <p:cNvPr id="23" name="Table"/>
          <p:cNvGraphicFramePr>
            <a:graphicFrameLocks noGrp="1"/>
          </p:cNvGraphicFramePr>
          <p:nvPr/>
        </p:nvGraphicFramePr>
        <p:xfrm>
          <a:off x="7635240" y="1188720"/>
          <a:ext cx="4142232" cy="2286000"/>
        </p:xfrm>
        <a:graphic>
          <a:graphicData uri="http://schemas.openxmlformats.org/drawingml/2006/table">
            <a:tbl>
              <a:tblPr firstRow="0" bandRow="0">
                <a:tableStyleId>{5940675A-B579-460E-94D1-54222C63F5DA}</a:tableStyleId>
              </a:tblPr>
              <a:tblGrid>
                <a:gridCol w="2834640"/>
                <a:gridCol w="1307592"/>
              </a:tblGrid>
              <a:tr h="457200">
                <a:tc>
                  <a:txBody>
                    <a:bodyPr wrap="square"/>
                    <a:lstStyle/>
                    <a:p>
                      <a:r>
                        <a:rPr sz="1200" b="1" i="0">
                          <a:solidFill>
                            <a:srgbClr val="FFFFFF"/>
                          </a:solidFill>
                          <a:latin typeface="Calibri"/>
                        </a:rPr>
                        <a:t>Measured at 100,000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first load of a date (after the lake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0.8–1.2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reopen a date from its hot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a node's VaR and 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the whole bank, float32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3.4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24" name="Callout"/>
          <p:cNvSpPr/>
          <p:nvPr/>
        </p:nvSpPr>
        <p:spPr>
          <a:xfrm>
            <a:off x="7635240" y="3703320"/>
            <a:ext cx="4142232" cy="26060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llout edge"/>
          <p:cNvSpPr/>
          <p:nvPr/>
        </p:nvSpPr>
        <p:spPr>
          <a:xfrm>
            <a:off x="7635240" y="3721607"/>
            <a:ext cx="82296" cy="25694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863840" y="3776472"/>
            <a:ext cx="3776472" cy="24597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ECS</a:t>
            </a:r>
          </a:p>
          <a:p>
            <a:pPr algn="l">
              <a:spcAft>
                <a:spcPts val="600"/>
              </a:spcAft>
              <a:buNone/>
            </a:pPr>
            <a:r>
              <a:rPr sz="1200" b="0" i="0">
                <a:solidFill>
                  <a:srgbClr val="0E7C86"/>
                </a:solidFill>
                <a:latin typeface="Consolas"/>
              </a:rPr>
              <a:t>DRISHTI_VAR_HOT_DIR</a:t>
            </a:r>
            <a:r>
              <a:rPr sz="1300" b="0" i="0">
                <a:solidFill>
                  <a:srgbClr val="1C2433"/>
                </a:solidFill>
                <a:latin typeface="Calibri"/>
              </a:rPr>
              <a:t> and </a:t>
            </a:r>
            <a:r>
              <a:rPr sz="1200" b="0" i="0">
                <a:solidFill>
                  <a:srgbClr val="0E7C86"/>
                </a:solidFill>
                <a:latin typeface="Consolas"/>
              </a:rPr>
              <a:t>DRISHTI_EXPOSURE_HOT_DIR</a:t>
            </a:r>
            <a:r>
              <a:rPr sz="1300" b="0" i="0">
                <a:solidFill>
                  <a:srgbClr val="1C2433"/>
                </a:solidFill>
                <a:latin typeface="Calibri"/>
              </a:rPr>
              <a:t> on fast local disk (NVMe), as the guides say: the default </a:t>
            </a:r>
            <a:r>
              <a:rPr sz="1200" b="0" i="0">
                <a:solidFill>
                  <a:srgbClr val="0E7C86"/>
                </a:solidFill>
                <a:latin typeface="Consolas"/>
              </a:rPr>
              <a:t>&lt;data dir&gt;</a:t>
            </a:r>
            <a:r>
              <a:rPr sz="1300" b="0" i="0">
                <a:solidFill>
                  <a:srgbClr val="1C2433"/>
                </a:solidFill>
                <a:latin typeface="Calibri"/>
              </a:rPr>
              <a:t> is on EFS. Hot files are rebuildable from the lake, so they meet the NVMe exception of slide 75.</a:t>
            </a:r>
          </a:p>
        </p:txBody>
      </p:sp>
      <p:sp>
        <p:nvSpPr>
          <p:cNvPr id="27" name="TextBox 26"/>
          <p:cNvSpPr txBox="1"/>
          <p:nvPr/>
        </p:nvSpPr>
        <p:spPr>
          <a:xfrm>
            <a:off x="411480" y="5257800"/>
            <a:ext cx="6949440" cy="105156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Scaled × 13 from the measured 100,000-trade points (VAR_GUIDE.md 27.3); the 1 M × 50 run on a real server is still to do. VaR sharding (DESIGNED) is the step for a date larger than one server.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14</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Caches: EFS or local NVMe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small, bounded structures each server keeps, where they live, and the one decision for the product owner, now with the VaR and exposure hot files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14. What each server caches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74</a:t>
            </a:r>
          </a:p>
        </p:txBody>
      </p:sp>
      <p:graphicFrame>
        <p:nvGraphicFramePr>
          <p:cNvPr id="9" name="Table"/>
          <p:cNvGraphicFramePr>
            <a:graphicFrameLocks noGrp="1"/>
          </p:cNvGraphicFramePr>
          <p:nvPr/>
        </p:nvGraphicFramePr>
        <p:xfrm>
          <a:off x="411480" y="1188720"/>
          <a:ext cx="11365991" cy="4773168"/>
        </p:xfrm>
        <a:graphic>
          <a:graphicData uri="http://schemas.openxmlformats.org/drawingml/2006/table">
            <a:tbl>
              <a:tblPr firstRow="0" bandRow="0">
                <a:tableStyleId>{5940675A-B579-460E-94D1-54222C63F5DA}</a:tableStyleId>
              </a:tblPr>
              <a:tblGrid>
                <a:gridCol w="2651760"/>
                <a:gridCol w="3657600"/>
                <a:gridCol w="2377440"/>
                <a:gridCol w="2679191"/>
              </a:tblGrid>
              <a:tr h="530352">
                <a:tc>
                  <a:txBody>
                    <a:bodyPr wrap="square"/>
                    <a:lstStyle/>
                    <a:p>
                      <a:r>
                        <a:rPr sz="1100" b="1" i="0">
                          <a:solidFill>
                            <a:srgbClr val="FFFFFF"/>
                          </a:solidFill>
                          <a:latin typeface="Calibri"/>
                        </a:rPr>
                        <a:t>Cache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Bounded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After a restart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30352">
                <a:tc>
                  <a:txBody>
                    <a:bodyPr wrap="square"/>
                    <a:lstStyle/>
                    <a:p>
                      <a:r>
                        <a:rPr sz="1100" b="1" i="0">
                          <a:solidFill>
                            <a:srgbClr val="1C2433"/>
                          </a:solidFill>
                          <a:latin typeface="Calibri"/>
                        </a:rPr>
                        <a:t>file list (snapshot) of each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table's live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re-read from the 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Parquet footers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(50,000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re-read on first use (one ranged GET)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id maps of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(20 % shared) and disk (</a:t>
                      </a:r>
                      <a:r>
                        <a:rPr sz="1100" b="0" i="0">
                          <a:solidFill>
                            <a:srgbClr val="0E7C86"/>
                          </a:solidFill>
                          <a:latin typeface="Consolas"/>
                        </a:rPr>
                        <a:t>id-map-disk.dir</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memory; a file per version and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memory-mapped from disk: no scan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column sets of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a:t>
                      </a:r>
                      <a:r>
                        <a:rPr sz="1100" b="0" i="0">
                          <a:solidFill>
                            <a:srgbClr val="0E7C86"/>
                          </a:solidFill>
                          <a:latin typeface="Consolas"/>
                        </a:rPr>
                        <a:t>columns-cache-mb</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re-read (newest day in the background)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and RocksDB on disk (</a:t>
                      </a:r>
                      <a:r>
                        <a:rPr sz="1100" b="0" i="0">
                          <a:solidFill>
                            <a:srgbClr val="0E7C86"/>
                          </a:solidFill>
                          <a:latin typeface="Consolas"/>
                        </a:rPr>
                        <a:t>doc-disk-cache.dir</a:t>
                      </a:r>
                      <a:r>
                        <a:rPr sz="1100" b="0" i="0">
                          <a:solidFill>
                            <a:srgbClr val="1C2433"/>
                          </a:solidFill>
                          <a:latin typeface="Calibri"/>
                        </a:rPr>
                        <a:t>, 1 GB, 12 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size, 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warm from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history answers (2.6.5)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a:t>
                      </a:r>
                      <a:r>
                        <a:rPr sz="1100" b="0" i="0">
                          <a:solidFill>
                            <a:srgbClr val="0E7C86"/>
                          </a:solidFill>
                          <a:latin typeface="Consolas"/>
                        </a:rPr>
                        <a:t>drishti.history.cache-mb</a:t>
                      </a:r>
                      <a:r>
                        <a:rPr sz="1100" b="0" i="0">
                          <a:solidFill>
                            <a:srgbClr val="1C2433"/>
                          </a:solidFill>
                          <a:latin typeface="Calibri"/>
                        </a:rPr>
                        <a:t>, 256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memory; by the kind's data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rebuilt on 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VaR hot files (2.8.0)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DRISHTI_VAR_HOT_DIR</a:t>
                      </a:r>
                      <a:r>
                        <a:rPr sz="1100" b="0" i="0">
                          <a:solidFill>
                            <a:srgbClr val="1C2433"/>
                          </a:solidFill>
                          <a:latin typeface="Calibri"/>
                        </a:rPr>
                        <a:t>: fast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 dates open, 60 on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rebuilt from the lake (deleted at shutdown by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exposure hot files (2.9.0)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DRISHTI_EXPOSURE_HOT_DIR</a:t>
                      </a:r>
                      <a:r>
                        <a:rPr sz="1100" b="0" i="0">
                          <a:solidFill>
                            <a:srgbClr val="1C2433"/>
                          </a:solidFill>
                          <a:latin typeface="Calibri"/>
                        </a:rPr>
                        <a: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dates within 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rebuilt from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411480" y="5989320"/>
            <a:ext cx="11365992" cy="384048"/>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6007607"/>
            <a:ext cx="82296"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6062472"/>
            <a:ext cx="11000232" cy="237744"/>
          </a:xfrm>
          <a:prstGeom prst="rect">
            <a:avLst/>
          </a:prstGeom>
          <a:noFill/>
        </p:spPr>
        <p:txBody>
          <a:bodyPr wrap="square" lIns="0" rIns="0" tIns="0" bIns="0" anchor="ctr">
            <a:spAutoFit/>
          </a:bodyPr>
          <a:lstStyle/>
          <a:p>
            <a:pPr algn="l">
              <a:spcAft>
                <a:spcPts val="600"/>
              </a:spcAft>
              <a:buNone/>
            </a:pPr>
            <a:r>
              <a:rPr sz="1200" b="0" i="0">
                <a:solidFill>
                  <a:srgbClr val="1C2433"/>
                </a:solidFill>
                <a:latin typeface="Calibri"/>
              </a:rPr>
              <a:t>The disk caches default to </a:t>
            </a:r>
            <a:r>
              <a:rPr sz="1100" b="0" i="0">
                <a:solidFill>
                  <a:srgbClr val="0E7C86"/>
                </a:solidFill>
                <a:latin typeface="Consolas"/>
              </a:rPr>
              <a:t>&lt;data dir&gt;/cache/…</a:t>
            </a:r>
            <a:r>
              <a:rPr sz="1200" b="0" i="0">
                <a:solidFill>
                  <a:srgbClr val="1C2433"/>
                </a:solidFill>
                <a:latin typeface="Calibri"/>
              </a:rPr>
              <a:t>, on ECS on EFS; the hot files default under </a:t>
            </a:r>
            <a:r>
              <a:rPr sz="1100" b="0" i="0">
                <a:solidFill>
                  <a:srgbClr val="0E7C86"/>
                </a:solidFill>
                <a:latin typeface="Consolas"/>
              </a:rPr>
              <a:t>&lt;data dir&gt;</a:t>
            </a:r>
            <a:r>
              <a:rPr sz="1200" b="0" i="0">
                <a:solidFill>
                  <a:srgbClr val="1C2433"/>
                </a:solidFill>
                <a:latin typeface="Calibri"/>
              </a:rPr>
              <a:t> too.</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14. EFS or local NVMe for the disk caches and hot files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75</a:t>
            </a:r>
          </a:p>
        </p:txBody>
      </p:sp>
      <p:graphicFrame>
        <p:nvGraphicFramePr>
          <p:cNvPr id="9" name="Table"/>
          <p:cNvGraphicFramePr>
            <a:graphicFrameLocks noGrp="1"/>
          </p:cNvGraphicFramePr>
          <p:nvPr/>
        </p:nvGraphicFramePr>
        <p:xfrm>
          <a:off x="411480" y="1188720"/>
          <a:ext cx="6492240" cy="3968496"/>
        </p:xfrm>
        <a:graphic>
          <a:graphicData uri="http://schemas.openxmlformats.org/drawingml/2006/table">
            <a:tbl>
              <a:tblPr firstRow="0" bandRow="0">
                <a:tableStyleId>{5940675A-B579-460E-94D1-54222C63F5DA}</a:tableStyleId>
              </a:tblPr>
              <a:tblGrid>
                <a:gridCol w="2103120"/>
                <a:gridCol w="2286000"/>
                <a:gridCol w="2103120"/>
              </a:tblGrid>
              <a:tr h="566928">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EFS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Local NVMe (instance 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 ms an operation (NFS); page cache serves repeated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tens of microseconds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After a task moves host or zone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warm: same folders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empty: rebuilt as users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Launch 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Fargate or EC2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EC2 only (m6id, r6id, i4i)</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Cost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EFS Standard ≈ USD 0.30/GB-month + Elastic charges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included in the instance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Identical-path rule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satisfied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not: the cache path is on the host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Memory-mapped VaR and exposure hot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works, but each page fault is an NFS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what the guides ask for: fast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7132320" y="1188720"/>
            <a:ext cx="4645152" cy="21488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7242048" y="1252728"/>
            <a:ext cx="4425696" cy="202082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 config/connectors/trade-endur.yaml</a:t>
            </a:r>
          </a:p>
          <a:p>
            <a:pPr>
              <a:spcAft>
                <a:spcPts val="0"/>
              </a:spcAft>
              <a:buNone/>
            </a:pPr>
            <a:r>
              <a:rPr sz="1100" b="0" i="0">
                <a:solidFill>
                  <a:srgbClr val="E6EDF3"/>
                </a:solidFill>
                <a:latin typeface="Consolas"/>
              </a:rPr>
              <a:t>id-map-disk.dir:</a:t>
            </a:r>
          </a:p>
          <a:p>
            <a:pPr>
              <a:spcAft>
                <a:spcPts val="0"/>
              </a:spcAft>
              <a:buNone/>
            </a:pPr>
            <a:r>
              <a:rPr sz="1100" b="0" i="0">
                <a:solidFill>
                  <a:srgbClr val="E6EDF3"/>
                </a:solidFill>
                <a:latin typeface="Consolas"/>
              </a:rPr>
              <a:t>  /opt/drishti/nvme/cache/trade-endur/idmaps</a:t>
            </a:r>
          </a:p>
          <a:p>
            <a:pPr>
              <a:spcAft>
                <a:spcPts val="0"/>
              </a:spcAft>
              <a:buNone/>
            </a:pPr>
            <a:r>
              <a:rPr sz="1100" b="0" i="0">
                <a:solidFill>
                  <a:srgbClr val="E6EDF3"/>
                </a:solidFill>
                <a:latin typeface="Consolas"/>
              </a:rPr>
              <a:t>doc-disk-cache.dir:</a:t>
            </a:r>
          </a:p>
          <a:p>
            <a:pPr>
              <a:spcAft>
                <a:spcPts val="0"/>
              </a:spcAft>
              <a:buNone/>
            </a:pPr>
            <a:r>
              <a:rPr sz="1100" b="0" i="0">
                <a:solidFill>
                  <a:srgbClr val="E6EDF3"/>
                </a:solidFill>
                <a:latin typeface="Consolas"/>
              </a:rPr>
              <a:t>  /opt/drishti/nvme/cache/trade-endur/docs</a:t>
            </a:r>
          </a:p>
          <a:p>
            <a:pPr>
              <a:spcAft>
                <a:spcPts val="0"/>
              </a:spcAft>
              <a:buNone/>
            </a:pPr>
            <a:r>
              <a:rPr sz="1100" b="0" i="0">
                <a:solidFill>
                  <a:srgbClr val="E6EDF3"/>
                </a:solidFill>
                <a:latin typeface="Consolas"/>
              </a:rPr>
              <a:t># the server task</a:t>
            </a:r>
          </a:p>
          <a:p>
            <a:pPr>
              <a:spcAft>
                <a:spcPts val="0"/>
              </a:spcAft>
              <a:buNone/>
            </a:pPr>
            <a:r>
              <a:rPr sz="1100" b="0" i="0">
                <a:solidFill>
                  <a:srgbClr val="E6EDF3"/>
                </a:solidFill>
                <a:latin typeface="Consolas"/>
              </a:rPr>
              <a:t>DRISHTI_VAR_HOT_DIR=/opt/drishti/nvme/var/hot</a:t>
            </a:r>
          </a:p>
          <a:p>
            <a:pPr>
              <a:spcAft>
                <a:spcPts val="0"/>
              </a:spcAft>
              <a:buNone/>
            </a:pPr>
            <a:r>
              <a:rPr sz="1100" b="0" i="0">
                <a:solidFill>
                  <a:srgbClr val="E6EDF3"/>
                </a:solidFill>
                <a:latin typeface="Consolas"/>
              </a:rPr>
              <a:t>DRISHTI_EXPOSURE_HOT_DIR=/opt/drishti/nvme/ccr/hot</a:t>
            </a:r>
          </a:p>
        </p:txBody>
      </p:sp>
      <p:sp>
        <p:nvSpPr>
          <p:cNvPr id="12" name="Callout"/>
          <p:cNvSpPr/>
          <p:nvPr/>
        </p:nvSpPr>
        <p:spPr>
          <a:xfrm>
            <a:off x="7132320" y="3520440"/>
            <a:ext cx="4645152" cy="18288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132320" y="3538728"/>
            <a:ext cx="82296" cy="17922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360920" y="3593592"/>
            <a:ext cx="4279392" cy="16824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Recommendation</a:t>
            </a:r>
          </a:p>
          <a:p>
            <a:pPr algn="l">
              <a:spcAft>
                <a:spcPts val="600"/>
              </a:spcAft>
              <a:buNone/>
            </a:pPr>
            <a:r>
              <a:rPr sz="1300" b="0" i="0">
                <a:solidFill>
                  <a:srgbClr val="1C2433"/>
                </a:solidFill>
                <a:latin typeface="Calibri"/>
              </a:rPr>
              <a:t>Start the connector caches on EFS. Put the VaR and exposure hot files on NVMe from the start (</a:t>
            </a:r>
            <a:r>
              <a:rPr sz="1200" b="0" i="0">
                <a:solidFill>
                  <a:srgbClr val="0E7C86"/>
                </a:solidFill>
                <a:latin typeface="Consolas"/>
              </a:rPr>
              <a:t>register.sh --nodes --cache nvme</a:t>
            </a:r>
            <a:r>
              <a:rPr sz="1300" b="0" i="0">
                <a:solidFill>
                  <a:srgbClr val="1C2433"/>
                </a:solidFill>
                <a:latin typeface="Calibri"/>
              </a:rPr>
              <a:t>, EC2): they are rebuildable and memory-mapped. The NVMe exception is the product owner's decision.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15</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Staying fast past 200 TB</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never scans the whole lake, history over the lake, spreading the work over Drishti*net, the numbers to watch and the alarms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15.1 What never scans the whole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77</a:t>
            </a:r>
          </a:p>
        </p:txBody>
      </p:sp>
      <p:graphicFrame>
        <p:nvGraphicFramePr>
          <p:cNvPr id="9" name="Table"/>
          <p:cNvGraphicFramePr>
            <a:graphicFrameLocks noGrp="1"/>
          </p:cNvGraphicFramePr>
          <p:nvPr/>
        </p:nvGraphicFramePr>
        <p:xfrm>
          <a:off x="411480" y="1188720"/>
          <a:ext cx="11365992" cy="5120640"/>
        </p:xfrm>
        <a:graphic>
          <a:graphicData uri="http://schemas.openxmlformats.org/drawingml/2006/table">
            <a:tbl>
              <a:tblPr firstRow="0" bandRow="0">
                <a:tableStyleId>{5940675A-B579-460E-94D1-54222C63F5DA}</a:tableStyleId>
              </a:tblPr>
              <a:tblGrid>
                <a:gridCol w="3291840"/>
                <a:gridCol w="5852160"/>
                <a:gridCol w="2221992"/>
              </a:tblGrid>
              <a:tr h="512064">
                <a:tc>
                  <a:txBody>
                    <a:bodyPr wrap="square"/>
                    <a:lstStyle/>
                    <a:p>
                      <a:r>
                        <a:rPr sz="1200" b="1" i="0">
                          <a:solidFill>
                            <a:srgbClr val="FFFFFF"/>
                          </a:solidFill>
                          <a:latin typeface="Calibri"/>
                        </a:rPr>
                        <a:t>Request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Grows with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200" b="1" i="0">
                          <a:solidFill>
                            <a:srgbClr val="1C2433"/>
                          </a:solidFill>
                          <a:latin typeface="Calibri"/>
                        </a:rPr>
                        <a:t>Open one entity on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snapshot (in memory, refreshed every 10 s), the day's id map, one row group (≈ 1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History of one entity over N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whose id map holds it; one read per day, eight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with N, not with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Type-ahead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newest day's ids and promoted names in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Search, pick list, derived kind, impact, DATAMAP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that day's column set (id + promoted, never 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A VaR or exposure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streamed pass over the date's vectors, then the hot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Load, restatement, intraday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day's files and one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delete by partition (the log only), one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Vacuum (weekly is enough)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listing of the table's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with the file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Questions over all of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not interactive: Athena, Trino or Spark on the same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15.2 History over the lake: TRD &lt;id&gt; 30</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78</a:t>
            </a:r>
          </a:p>
        </p:txBody>
      </p:sp>
      <p:sp>
        <p:nvSpPr>
          <p:cNvPr id="9" name="Code block"/>
          <p:cNvSpPr/>
          <p:nvPr/>
        </p:nvSpPr>
        <p:spPr>
          <a:xfrm>
            <a:off x="411480" y="1188720"/>
            <a:ext cx="11365992" cy="8686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406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TRD 1000015 30                  </a:t>
            </a:r>
            <a:r>
              <a:rPr sz="1100" b="0" i="0">
                <a:solidFill>
                  <a:srgbClr val="8B9BB4"/>
                </a:solidFill>
                <a:latin typeface="Consolas"/>
              </a:rPr>
              <a:t>  # the trade over its last 30 business days with data</a:t>
            </a:r>
          </a:p>
          <a:p>
            <a:pPr>
              <a:spcAft>
                <a:spcPts val="0"/>
              </a:spcAft>
              <a:buNone/>
            </a:pPr>
            <a:r>
              <a:rPr sz="1100" b="0" i="0">
                <a:solidFill>
                  <a:srgbClr val="E6EDF3"/>
                </a:solidFill>
                <a:latin typeface="Consolas"/>
              </a:rPr>
              <a:t>TRD 1000015 3M DIFF             </a:t>
            </a:r>
            <a:r>
              <a:rPr sz="1100" b="0" i="0">
                <a:solidFill>
                  <a:srgbClr val="8B9BB4"/>
                </a:solidFill>
                <a:latin typeface="Consolas"/>
              </a:rPr>
              <a:t>  # three months, each day's changes</a:t>
            </a:r>
          </a:p>
          <a:p>
            <a:pPr>
              <a:spcAft>
                <a:spcPts val="0"/>
              </a:spcAft>
              <a:buNone/>
            </a:pPr>
            <a:r>
              <a:rPr sz="1100" b="0" i="0">
                <a:solidFill>
                  <a:srgbClr val="E6EDF3"/>
                </a:solidFill>
                <a:latin typeface="Consolas"/>
              </a:rPr>
              <a:t>GET /api/v1/history/trade/1000015?days=30&amp;knownAt=2026-10-15T18:00:00Z  </a:t>
            </a:r>
            <a:r>
              <a:rPr sz="1100" b="0" i="0">
                <a:solidFill>
                  <a:srgbClr val="8B9BB4"/>
                </a:solidFill>
                <a:latin typeface="Consolas"/>
              </a:rPr>
              <a:t>  # as the lake stood then</a:t>
            </a:r>
          </a:p>
        </p:txBody>
      </p:sp>
      <p:sp>
        <p:nvSpPr>
          <p:cNvPr id="11" name="Rounded Rectangle 10"/>
          <p:cNvSpPr/>
          <p:nvPr/>
        </p:nvSpPr>
        <p:spPr>
          <a:xfrm>
            <a:off x="411480"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02920"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days()</a:t>
            </a:r>
          </a:p>
        </p:txBody>
      </p:sp>
      <p:sp>
        <p:nvSpPr>
          <p:cNvPr id="13" name="TextBox 12"/>
          <p:cNvSpPr txBox="1"/>
          <p:nvPr/>
        </p:nvSpPr>
        <p:spPr>
          <a:xfrm>
            <a:off x="502920"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the snapshot's </a:t>
            </a:r>
            <a:r>
              <a:rPr sz="1100" b="0" i="0">
                <a:solidFill>
                  <a:srgbClr val="0E7C86"/>
                </a:solidFill>
                <a:latin typeface="Consolas"/>
              </a:rPr>
              <a:t>business_date=</a:t>
            </a:r>
            <a:r>
              <a:rPr sz="1200" b="0" i="0">
                <a:solidFill>
                  <a:srgbClr val="1C2433"/>
                </a:solidFill>
                <a:latin typeface="Calibri"/>
              </a:rPr>
              <a:t> partitions whose id map holds the id</a:t>
            </a:r>
          </a:p>
        </p:txBody>
      </p:sp>
      <p:cxnSp>
        <p:nvCxnSpPr>
          <p:cNvPr id="14" name="Connector 13"/>
          <p:cNvCxnSpPr/>
          <p:nvPr/>
        </p:nvCxnSpPr>
        <p:spPr>
          <a:xfrm>
            <a:off x="3017520"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28416"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3419856"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one read a day</a:t>
            </a:r>
          </a:p>
        </p:txBody>
      </p:sp>
      <p:sp>
        <p:nvSpPr>
          <p:cNvPr id="17" name="TextBox 16"/>
          <p:cNvSpPr txBox="1"/>
          <p:nvPr/>
        </p:nvSpPr>
        <p:spPr>
          <a:xfrm>
            <a:off x="3419856"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id map → one row group; eight days at once</a:t>
            </a:r>
          </a:p>
        </p:txBody>
      </p:sp>
      <p:cxnSp>
        <p:nvCxnSpPr>
          <p:cNvPr id="18" name="Connector 17"/>
          <p:cNvCxnSpPr/>
          <p:nvPr/>
        </p:nvCxnSpPr>
        <p:spPr>
          <a:xfrm>
            <a:off x="5934456"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45352"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336792"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mask, then diff</a:t>
            </a:r>
          </a:p>
        </p:txBody>
      </p:sp>
      <p:sp>
        <p:nvSpPr>
          <p:cNvPr id="21" name="TextBox 20"/>
          <p:cNvSpPr txBox="1"/>
          <p:nvPr/>
        </p:nvSpPr>
        <p:spPr>
          <a:xfrm>
            <a:off x="6336792"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each day masked for the caller; changed fields</a:t>
            </a:r>
          </a:p>
        </p:txBody>
      </p:sp>
      <p:cxnSp>
        <p:nvCxnSpPr>
          <p:cNvPr id="22" name="Connector 21"/>
          <p:cNvCxnSpPr/>
          <p:nvPr/>
        </p:nvCxnSpPr>
        <p:spPr>
          <a:xfrm>
            <a:off x="8851392"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62288"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9253728"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answer, cached</a:t>
            </a:r>
          </a:p>
        </p:txBody>
      </p:sp>
      <p:sp>
        <p:nvSpPr>
          <p:cNvPr id="25" name="TextBox 24"/>
          <p:cNvSpPr txBox="1"/>
          <p:nvPr/>
        </p:nvSpPr>
        <p:spPr>
          <a:xfrm>
            <a:off x="9253728"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by the kind's data version</a:t>
            </a:r>
          </a:p>
        </p:txBody>
      </p:sp>
      <p:sp>
        <p:nvSpPr>
          <p:cNvPr id="26" name="TextBox 25"/>
          <p:cNvSpPr txBox="1"/>
          <p:nvPr/>
        </p:nvSpPr>
        <p:spPr>
          <a:xfrm>
            <a:off x="411480" y="4023360"/>
            <a:ext cx="6949440" cy="228600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A weekend, a holiday or a day the entity was not loaded costs nothing</a:t>
            </a:r>
          </a:p>
          <a:p>
            <a:pPr algn="l" marL="201168" indent="-201168">
              <a:spcAft>
                <a:spcPts val="600"/>
              </a:spcAft>
              <a:buClr>
                <a:srgbClr val="E87A1E"/>
              </a:buClr>
              <a:buSzPct val="100000"/>
              <a:buFont typeface="Arial"/>
              <a:buChar char="•"/>
            </a:pPr>
            <a:r>
              <a:rPr sz="1200" b="0" i="0">
                <a:solidFill>
                  <a:srgbClr val="0E7C86"/>
                </a:solidFill>
                <a:latin typeface="Consolas"/>
              </a:rPr>
              <a:t>knownAt</a:t>
            </a:r>
            <a:r>
              <a:rPr sz="1300" b="0" i="0">
                <a:solidFill>
                  <a:srgbClr val="1C2433"/>
                </a:solidFill>
                <a:latin typeface="Calibri"/>
              </a:rPr>
              <a:t> is Delta time travel: the day as the table stood then</a:t>
            </a:r>
          </a:p>
          <a:p>
            <a:pPr algn="l" marL="201168" indent="-201168">
              <a:spcAft>
                <a:spcPts val="600"/>
              </a:spcAft>
              <a:buClr>
                <a:srgbClr val="E87A1E"/>
              </a:buClr>
              <a:buSzPct val="100000"/>
              <a:buFont typeface="Arial"/>
              <a:buChar char="•"/>
            </a:pPr>
            <a:r>
              <a:rPr sz="1300" b="0" i="0">
                <a:solidFill>
                  <a:srgbClr val="1C2433"/>
                </a:solidFill>
                <a:latin typeface="Calibri"/>
              </a:rPr>
              <a:t>Across Drishti*net: one call to the peer that holds the data, masked on both sides</a:t>
            </a:r>
          </a:p>
          <a:p>
            <a:pPr algn="l" marL="201168" indent="-201168">
              <a:spcAft>
                <a:spcPts val="600"/>
              </a:spcAft>
              <a:buClr>
                <a:srgbClr val="E87A1E"/>
              </a:buClr>
              <a:buSzPct val="100000"/>
              <a:buFont typeface="Arial"/>
              <a:buChar char="•"/>
            </a:pPr>
            <a:r>
              <a:rPr sz="1300" b="0" i="0">
                <a:solidFill>
                  <a:srgbClr val="1C2433"/>
                </a:solidFill>
                <a:latin typeface="Calibri"/>
              </a:rPr>
              <a:t>Works the same on Iceberg (equality test) and on every connector (the contract's default)</a:t>
            </a:r>
          </a:p>
        </p:txBody>
      </p:sp>
      <p:sp>
        <p:nvSpPr>
          <p:cNvPr id="27" name="Callout"/>
          <p:cNvSpPr/>
          <p:nvPr/>
        </p:nvSpPr>
        <p:spPr>
          <a:xfrm>
            <a:off x="7635240" y="4023360"/>
            <a:ext cx="4142232" cy="22860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Callout edge"/>
          <p:cNvSpPr/>
          <p:nvPr/>
        </p:nvSpPr>
        <p:spPr>
          <a:xfrm>
            <a:off x="7635240" y="4041648"/>
            <a:ext cx="82296" cy="22494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863840" y="4096512"/>
            <a:ext cx="3776472" cy="21396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Measured on 1,800 days</a:t>
            </a:r>
          </a:p>
          <a:p>
            <a:pPr algn="l">
              <a:spcAft>
                <a:spcPts val="600"/>
              </a:spcAft>
              <a:buNone/>
            </a:pPr>
            <a:r>
              <a:rPr sz="1300" b="0" i="0">
                <a:solidFill>
                  <a:srgbClr val="1C2433"/>
                </a:solidFill>
                <a:latin typeface="Calibri"/>
              </a:rPr>
              <a:t>a trade on 2019-12-05 in 22 ms; the history reads only the days that hold the entity, so 7 years of lake cost no more than the days asked.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15.3 Spreading the work over Drishti*net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79</a:t>
            </a:r>
          </a:p>
        </p:txBody>
      </p:sp>
      <p:sp>
        <p:nvSpPr>
          <p:cNvPr id="9" name="TextBox 8"/>
          <p:cNvSpPr txBox="1"/>
          <p:nvPr/>
        </p:nvSpPr>
        <p:spPr>
          <a:xfrm>
            <a:off x="411480" y="1188720"/>
            <a:ext cx="6675120" cy="32918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Shards:</a:t>
            </a:r>
            <a:r>
              <a:rPr sz="1400" b="0" i="0">
                <a:solidFill>
                  <a:srgbClr val="1C2433"/>
                </a:solidFill>
                <a:latin typeface="Calibri"/>
              </a:rPr>
              <a:t> nodes whose connectors read different tables of a kind; a search asks every one; a read goes to the holder</a:t>
            </a:r>
          </a:p>
          <a:p>
            <a:pPr algn="l" marL="201168" indent="-201168">
              <a:spcAft>
                <a:spcPts val="700"/>
              </a:spcAft>
              <a:buClr>
                <a:srgbClr val="E87A1E"/>
              </a:buClr>
              <a:buSzPct val="100000"/>
              <a:buFont typeface="Arial"/>
              <a:buChar char="•"/>
            </a:pPr>
            <a:r>
              <a:rPr sz="1400" b="1" i="0">
                <a:solidFill>
                  <a:srgbClr val="1C2433"/>
                </a:solidFill>
                <a:latin typeface="Calibri"/>
              </a:rPr>
              <a:t>Replicas:</a:t>
            </a:r>
            <a:r>
              <a:rPr sz="1400" b="0" i="0">
                <a:solidFill>
                  <a:srgbClr val="1C2433"/>
                </a:solidFill>
                <a:latin typeface="Calibri"/>
              </a:rPr>
              <a:t> nodes on the same table; a forwarded read goes to the same node for the same entity (hash of its id)</a:t>
            </a:r>
          </a:p>
          <a:p>
            <a:pPr algn="l" marL="201168" indent="-201168">
              <a:spcAft>
                <a:spcPts val="700"/>
              </a:spcAft>
              <a:buClr>
                <a:srgbClr val="E87A1E"/>
              </a:buClr>
              <a:buSzPct val="100000"/>
              <a:buFont typeface="Arial"/>
              <a:buChar char="•"/>
            </a:pPr>
            <a:r>
              <a:rPr sz="1400" b="0" i="0">
                <a:solidFill>
                  <a:srgbClr val="1C2433"/>
                </a:solidFill>
                <a:latin typeface="Calibri"/>
              </a:rPr>
              <a:t>Every node can read every table from S3: a failed node costs speed, never answers</a:t>
            </a:r>
          </a:p>
          <a:p>
            <a:pPr algn="l" marL="201168" indent="-201168">
              <a:spcAft>
                <a:spcPts val="700"/>
              </a:spcAft>
              <a:buClr>
                <a:srgbClr val="E87A1E"/>
              </a:buClr>
              <a:buSzPct val="100000"/>
              <a:buFont typeface="Arial"/>
              <a:buChar char="•"/>
            </a:pPr>
            <a:r>
              <a:rPr sz="1400" b="1" i="0">
                <a:solidFill>
                  <a:srgbClr val="1C2433"/>
                </a:solidFill>
                <a:latin typeface="Calibri"/>
              </a:rPr>
              <a:t>Since 2.6.7:</a:t>
            </a:r>
            <a:r>
              <a:rPr sz="1400" b="0" i="0">
                <a:solidFill>
                  <a:srgbClr val="1C2433"/>
                </a:solidFill>
                <a:latin typeface="Calibri"/>
              </a:rPr>
              <a:t> peer data over HTTP/2, one connection per peer; gossip on its own port; history across nodes</a:t>
            </a:r>
          </a:p>
          <a:p>
            <a:pPr algn="l" marL="201168" indent="-201168">
              <a:spcAft>
                <a:spcPts val="700"/>
              </a:spcAft>
              <a:buClr>
                <a:srgbClr val="E87A1E"/>
              </a:buClr>
              <a:buSzPct val="100000"/>
              <a:buFont typeface="Arial"/>
              <a:buChar char="•"/>
            </a:pPr>
            <a:r>
              <a:rPr sz="1400" b="1" i="0">
                <a:solidFill>
                  <a:srgbClr val="1C2433"/>
                </a:solidFill>
                <a:latin typeface="Calibri"/>
              </a:rPr>
              <a:t>VaR:</a:t>
            </a:r>
            <a:r>
              <a:rPr sz="1400" b="0" i="0">
                <a:solidFill>
                  <a:srgbClr val="1C2433"/>
                </a:solidFill>
                <a:latin typeface="Calibri"/>
              </a:rPr>
              <a:t> each server loads whole dates; sharding one date is DESIGNED</a:t>
            </a:r>
          </a:p>
        </p:txBody>
      </p:sp>
      <p:sp>
        <p:nvSpPr>
          <p:cNvPr id="10" name="Rounded Rectangle 9"/>
          <p:cNvSpPr/>
          <p:nvPr/>
        </p:nvSpPr>
        <p:spPr>
          <a:xfrm>
            <a:off x="7315200" y="118872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7406640" y="123444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drishti-a</a:t>
            </a:r>
          </a:p>
        </p:txBody>
      </p:sp>
      <p:sp>
        <p:nvSpPr>
          <p:cNvPr id="12" name="TextBox 11"/>
          <p:cNvSpPr txBox="1"/>
          <p:nvPr/>
        </p:nvSpPr>
        <p:spPr>
          <a:xfrm>
            <a:off x="7406640" y="155448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trade_endur</a:t>
            </a:r>
          </a:p>
        </p:txBody>
      </p:sp>
      <p:sp>
        <p:nvSpPr>
          <p:cNvPr id="13" name="Rounded Rectangle 12"/>
          <p:cNvSpPr/>
          <p:nvPr/>
        </p:nvSpPr>
        <p:spPr>
          <a:xfrm>
            <a:off x="9582912" y="118872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9674352" y="123444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drishti-b</a:t>
            </a:r>
          </a:p>
        </p:txBody>
      </p:sp>
      <p:sp>
        <p:nvSpPr>
          <p:cNvPr id="15" name="TextBox 14"/>
          <p:cNvSpPr txBox="1"/>
          <p:nvPr/>
        </p:nvSpPr>
        <p:spPr>
          <a:xfrm>
            <a:off x="9674352" y="155448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trade_endur (replica)</a:t>
            </a:r>
          </a:p>
        </p:txBody>
      </p:sp>
      <p:sp>
        <p:nvSpPr>
          <p:cNvPr id="16" name="Rounded Rectangle 15"/>
          <p:cNvSpPr/>
          <p:nvPr/>
        </p:nvSpPr>
        <p:spPr>
          <a:xfrm>
            <a:off x="7315200" y="251460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7406640" y="256032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drishti-c</a:t>
            </a:r>
          </a:p>
        </p:txBody>
      </p:sp>
      <p:sp>
        <p:nvSpPr>
          <p:cNvPr id="18" name="TextBox 17"/>
          <p:cNvSpPr txBox="1"/>
          <p:nvPr/>
        </p:nvSpPr>
        <p:spPr>
          <a:xfrm>
            <a:off x="7406640" y="288036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trade_calypso, trade_murex</a:t>
            </a:r>
          </a:p>
        </p:txBody>
      </p:sp>
      <p:sp>
        <p:nvSpPr>
          <p:cNvPr id="19" name="Rounded Rectangle 18"/>
          <p:cNvSpPr/>
          <p:nvPr/>
        </p:nvSpPr>
        <p:spPr>
          <a:xfrm>
            <a:off x="9582912" y="251460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9674352" y="256032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drishti-d</a:t>
            </a:r>
          </a:p>
        </p:txBody>
      </p:sp>
      <p:sp>
        <p:nvSpPr>
          <p:cNvPr id="21" name="TextBox 20"/>
          <p:cNvSpPr txBox="1"/>
          <p:nvPr/>
        </p:nvSpPr>
        <p:spPr>
          <a:xfrm>
            <a:off x="9674352" y="288036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risk/ (VaR, exposure)</a:t>
            </a:r>
          </a:p>
        </p:txBody>
      </p:sp>
      <p:sp>
        <p:nvSpPr>
          <p:cNvPr id="22" name="Rounded Rectangle 21"/>
          <p:cNvSpPr/>
          <p:nvPr/>
        </p:nvSpPr>
        <p:spPr>
          <a:xfrm>
            <a:off x="7315200" y="3931920"/>
            <a:ext cx="4443984" cy="8229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7406640" y="3977639"/>
            <a:ext cx="4261104"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lake</a:t>
            </a:r>
          </a:p>
        </p:txBody>
      </p:sp>
      <p:sp>
        <p:nvSpPr>
          <p:cNvPr id="24" name="TextBox 23"/>
          <p:cNvSpPr txBox="1"/>
          <p:nvPr/>
        </p:nvSpPr>
        <p:spPr>
          <a:xfrm>
            <a:off x="7406640" y="4297680"/>
            <a:ext cx="4261104" cy="4114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every node can read every table</a:t>
            </a:r>
          </a:p>
        </p:txBody>
      </p:sp>
      <p:cxnSp>
        <p:nvCxnSpPr>
          <p:cNvPr id="25" name="Connector 24"/>
          <p:cNvCxnSpPr/>
          <p:nvPr/>
        </p:nvCxnSpPr>
        <p:spPr>
          <a:xfrm>
            <a:off x="9537192" y="370332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Callout"/>
          <p:cNvSpPr/>
          <p:nvPr/>
        </p:nvSpPr>
        <p:spPr>
          <a:xfrm>
            <a:off x="411480" y="4892040"/>
            <a:ext cx="11365992" cy="14173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Callout edge"/>
          <p:cNvSpPr/>
          <p:nvPr/>
        </p:nvSpPr>
        <p:spPr>
          <a:xfrm>
            <a:off x="411480" y="4910327"/>
            <a:ext cx="82296" cy="13807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DESIGNED (SUPER_SCALE S5, S6; VAR_GUIDE.md 28):</a:t>
            </a:r>
          </a:p>
          <a:p>
            <a:pPr algn="l">
              <a:spcAft>
                <a:spcPts val="600"/>
              </a:spcAft>
              <a:buNone/>
            </a:pPr>
            <a:r>
              <a:rPr sz="1300" b="0" i="0">
                <a:solidFill>
                  <a:srgbClr val="1C2433"/>
                </a:solidFill>
                <a:latin typeface="Calibri"/>
              </a:rPr>
              <a:t>ownership of (table, day) slices on the ring, so N servers on one table hold N × one server's working set; and a VaR date sharded by legal entity and desk, partial vectors added in a fixed order.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15.4 The numbers to watch: report.sh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80</a:t>
            </a:r>
          </a:p>
        </p:txBody>
      </p:sp>
      <p:sp>
        <p:nvSpPr>
          <p:cNvPr id="9" name="Code block"/>
          <p:cNvSpPr/>
          <p:nvPr/>
        </p:nvSpPr>
        <p:spPr>
          <a:xfrm>
            <a:off x="411480" y="1188720"/>
            <a:ext cx="11365992" cy="19202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79222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bucket acme-drishti-prod-lake (CloudWatch daily storage metrics):</a:t>
            </a:r>
          </a:p>
          <a:p>
            <a:pPr>
              <a:spcAft>
                <a:spcPts val="0"/>
              </a:spcAft>
              <a:buNone/>
            </a:pPr>
            <a:r>
              <a:rPr sz="1200" b="0" i="0">
                <a:solidFill>
                  <a:srgbClr val="E6EDF3"/>
                </a:solidFill>
                <a:latin typeface="Consolas"/>
              </a:rPr>
              <a:t>  StandardStorage                         10412.3 GB</a:t>
            </a:r>
          </a:p>
          <a:p>
            <a:pPr>
              <a:spcAft>
                <a:spcPts val="0"/>
              </a:spcAft>
              <a:buNone/>
            </a:pPr>
            <a:r>
              <a:rPr sz="1200" b="0" i="0">
                <a:solidFill>
                  <a:srgbClr val="E6EDF3"/>
                </a:solidFill>
                <a:latin typeface="Consolas"/>
              </a:rPr>
              <a:t>  StandardIAStorage                       46120.8 GB</a:t>
            </a:r>
          </a:p>
          <a:p>
            <a:pPr>
              <a:spcAft>
                <a:spcPts val="0"/>
              </a:spcAft>
              <a:buNone/>
            </a:pPr>
            <a:r>
              <a:rPr sz="1200" b="0" i="0">
                <a:solidFill>
                  <a:srgbClr val="E6EDF3"/>
                </a:solidFill>
                <a:latin typeface="Consolas"/>
              </a:rPr>
              <a:t>  GlacierInstantRetrievalStorage         143998.1 GB</a:t>
            </a:r>
          </a:p>
          <a:p>
            <a:pPr>
              <a:spcAft>
                <a:spcPts val="0"/>
              </a:spcAft>
              <a:buNone/>
            </a:pPr>
            <a:r>
              <a:rPr sz="1200" b="0" i="0">
                <a:solidFill>
                  <a:srgbClr val="E6EDF3"/>
                </a:solidFill>
                <a:latin typeface="Consolas"/>
              </a:rPr>
              <a:t>  objects                          672310</a:t>
            </a:r>
          </a:p>
          <a:p>
            <a:pPr>
              <a:spcAft>
                <a:spcPts val="0"/>
              </a:spcAft>
              <a:buNone/>
            </a:pPr>
          </a:p>
          <a:p>
            <a:pPr>
              <a:spcAft>
                <a:spcPts val="0"/>
              </a:spcAft>
              <a:buNone/>
            </a:pPr>
            <a:r>
              <a:rPr sz="1200" b="0" i="0">
                <a:solidFill>
                  <a:srgbClr val="E6EDF3"/>
                </a:solidFill>
                <a:latin typeface="Consolas"/>
              </a:rPr>
              <a:t>table                        version  checkpoint  behind   dates       newest   files GB(newest)    &lt;32MB</a:t>
            </a:r>
          </a:p>
          <a:p>
            <a:pPr>
              <a:spcAft>
                <a:spcPts val="0"/>
              </a:spcAft>
              <a:buNone/>
            </a:pPr>
            <a:r>
              <a:rPr sz="1200" b="0" i="0">
                <a:solidFill>
                  <a:srgbClr val="E6EDF3"/>
                </a:solidFill>
                <a:latin typeface="Consolas"/>
              </a:rPr>
              <a:t>trading/trade_endur             4512        4510       2    1764   2026-10-20     128      41.37        0</a:t>
            </a:r>
          </a:p>
        </p:txBody>
      </p:sp>
      <p:sp>
        <p:nvSpPr>
          <p:cNvPr id="11" name="TextBox 10"/>
          <p:cNvSpPr txBox="1"/>
          <p:nvPr/>
        </p:nvSpPr>
        <p:spPr>
          <a:xfrm>
            <a:off x="411480" y="3383280"/>
            <a:ext cx="11365992" cy="23774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300" b="0" i="0">
                <a:solidFill>
                  <a:srgbClr val="0E7C86"/>
                </a:solidFill>
                <a:latin typeface="Consolas"/>
              </a:rPr>
              <a:t>report.sh</a:t>
            </a:r>
            <a:r>
              <a:rPr sz="1400" b="0" i="0">
                <a:solidFill>
                  <a:srgbClr val="1C2433"/>
                </a:solidFill>
                <a:latin typeface="Calibri"/>
              </a:rPr>
              <a:t> is scheduled daily (</a:t>
            </a:r>
            <a:r>
              <a:rPr sz="1300" b="0" i="0">
                <a:solidFill>
                  <a:srgbClr val="0E7C86"/>
                </a:solidFill>
                <a:latin typeface="Consolas"/>
              </a:rPr>
              <a:t>REPORT_SCHEDULE</a:t>
            </a:r>
            <a:r>
              <a:rPr sz="1400" b="0" i="0">
                <a:solidFill>
                  <a:srgbClr val="1C2433"/>
                </a:solidFill>
                <a:latin typeface="Calibri"/>
              </a:rPr>
              <a:t>), prints these and sends them to CloudWatch; numbers illustrative for ≈ 200 TB</a:t>
            </a:r>
          </a:p>
          <a:p>
            <a:pPr algn="l" marL="201168" indent="-201168">
              <a:spcAft>
                <a:spcPts val="800"/>
              </a:spcAft>
              <a:buClr>
                <a:srgbClr val="E87A1E"/>
              </a:buClr>
              <a:buSzPct val="100000"/>
              <a:buFont typeface="Arial"/>
              <a:buChar char="•"/>
            </a:pPr>
            <a:r>
              <a:rPr sz="1400" b="1" i="0">
                <a:solidFill>
                  <a:srgbClr val="1C2433"/>
                </a:solidFill>
                <a:latin typeface="Calibri"/>
              </a:rPr>
              <a:t>behind</a:t>
            </a:r>
            <a:r>
              <a:rPr sz="1400" b="0" i="0">
                <a:solidFill>
                  <a:srgbClr val="1C2433"/>
                </a:solidFill>
                <a:latin typeface="Calibri"/>
              </a:rPr>
              <a:t> = commits since the last checkpoint: intraday risk tables add commits all day; checkpoints every 10 keep it short</a:t>
            </a:r>
          </a:p>
          <a:p>
            <a:pPr algn="l" marL="201168" indent="-201168">
              <a:spcAft>
                <a:spcPts val="800"/>
              </a:spcAft>
              <a:buClr>
                <a:srgbClr val="E87A1E"/>
              </a:buClr>
              <a:buSzPct val="100000"/>
              <a:buFont typeface="Arial"/>
              <a:buChar char="•"/>
            </a:pPr>
            <a:r>
              <a:rPr sz="1400" b="1" i="0">
                <a:solidFill>
                  <a:srgbClr val="1C2433"/>
                </a:solidFill>
                <a:latin typeface="Calibri"/>
              </a:rPr>
              <a:t>&lt;32MB</a:t>
            </a:r>
            <a:r>
              <a:rPr sz="1400" b="0" i="0">
                <a:solidFill>
                  <a:srgbClr val="1C2433"/>
                </a:solidFill>
                <a:latin typeface="Calibri"/>
              </a:rPr>
              <a:t> = small files of the newest day: should be 0 for the documents; intraday batches are small by nature (maintenance compacts them)</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15.4 The numbers to watch: healthy values and what to do</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81</a:t>
            </a:r>
          </a:p>
        </p:txBody>
      </p:sp>
      <p:graphicFrame>
        <p:nvGraphicFramePr>
          <p:cNvPr id="9" name="Table"/>
          <p:cNvGraphicFramePr>
            <a:graphicFrameLocks noGrp="1"/>
          </p:cNvGraphicFramePr>
          <p:nvPr/>
        </p:nvGraphicFramePr>
        <p:xfrm>
          <a:off x="411480" y="1188720"/>
          <a:ext cx="11365992" cy="4937760"/>
        </p:xfrm>
        <a:graphic>
          <a:graphicData uri="http://schemas.openxmlformats.org/drawingml/2006/table">
            <a:tbl>
              <a:tblPr firstRow="0" bandRow="0">
                <a:tableStyleId>{5940675A-B579-460E-94D1-54222C63F5DA}</a:tableStyleId>
              </a:tblPr>
              <a:tblGrid>
                <a:gridCol w="3291840"/>
                <a:gridCol w="3108960"/>
                <a:gridCol w="4965192"/>
              </a:tblGrid>
              <a:tr h="548640">
                <a:tc>
                  <a:txBody>
                    <a:bodyPr wrap="square"/>
                    <a:lstStyle/>
                    <a:p>
                      <a:r>
                        <a:rPr sz="1200" b="1" i="0">
                          <a:solidFill>
                            <a:srgbClr val="FFFFFF"/>
                          </a:solidFill>
                          <a:latin typeface="Calibri"/>
                        </a:rPr>
                        <a:t>Number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Healthy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If not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behind (commits since the 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under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checkpoint failed: run maintain.sh; alarm log-long above 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files of the newest day, and &lt;32MB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rows ÷ file-rows per partition; 0 small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tiny dumps or partitions too fine (5.3)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live files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under ≈ 100,000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split the table (by source, or by year: S2, 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S3 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rare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503 Slow Down on one prefix: spread with partitions; alarm lake-s3-5xx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Admin → Health p50Ms, p99Ms, cold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p95 &lt; 300 ms newest days, &lt; 1 s any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footers and id maps not warm, or EFS 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Admin → Caches: the one memory budget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under its cap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raise the heap (8 GB per million entities a day) or shard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Admin → Health </a:t>
                      </a:r>
                      <a:r>
                        <a:rPr sz="1100" b="1" i="0">
                          <a:solidFill>
                            <a:srgbClr val="0E7C86"/>
                          </a:solidFill>
                          <a:latin typeface="Consolas"/>
                        </a:rPr>
                        <a:t>gossipPort</a:t>
                      </a:r>
                      <a:r>
                        <a:rPr sz="1200" b="1" i="0">
                          <a:solidFill>
                            <a:srgbClr val="1C2433"/>
                          </a:solidFill>
                          <a:latin typeface="Calibri"/>
                        </a:rPr>
                        <a:t>, </a:t>
                      </a:r>
                      <a:r>
                        <a:rPr sz="1100" b="1" i="0">
                          <a:solidFill>
                            <a:srgbClr val="0E7C86"/>
                          </a:solidFill>
                          <a:latin typeface="Consolas"/>
                        </a:rPr>
                        <a:t>peerProtocol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port, </a:t>
                      </a:r>
                      <a:r>
                        <a:rPr sz="1100" b="0" i="0">
                          <a:solidFill>
                            <a:srgbClr val="0E7C86"/>
                          </a:solidFill>
                          <a:latin typeface="Consolas"/>
                        </a:rPr>
                        <a:t>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 gossip on the server port (a firewall; slide 27)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LoadSeconds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well inside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loader task per table, or larger loader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15.5 The CloudWatch alarms (setup-alarms.sh)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82</a:t>
            </a:r>
          </a:p>
        </p:txBody>
      </p:sp>
      <p:graphicFrame>
        <p:nvGraphicFramePr>
          <p:cNvPr id="9" name="Table"/>
          <p:cNvGraphicFramePr>
            <a:graphicFrameLocks noGrp="1"/>
          </p:cNvGraphicFramePr>
          <p:nvPr/>
        </p:nvGraphicFramePr>
        <p:xfrm>
          <a:off x="411480" y="1188720"/>
          <a:ext cx="11365992" cy="4096512"/>
        </p:xfrm>
        <a:graphic>
          <a:graphicData uri="http://schemas.openxmlformats.org/drawingml/2006/table">
            <a:tbl>
              <a:tblPr firstRow="0" bandRow="0">
                <a:tableStyleId>{5940675A-B579-460E-94D1-54222C63F5DA}</a:tableStyleId>
              </a:tblPr>
              <a:tblGrid>
                <a:gridCol w="4206240"/>
                <a:gridCol w="7159752"/>
              </a:tblGrid>
              <a:tr h="512064">
                <a:tc>
                  <a:txBody>
                    <a:bodyPr wrap="square"/>
                    <a:lstStyle/>
                    <a:p>
                      <a:r>
                        <a:rPr sz="1200" b="1" i="0">
                          <a:solidFill>
                            <a:srgbClr val="FFFFFF"/>
                          </a:solidFill>
                          <a:latin typeface="Calibri"/>
                        </a:rPr>
                        <a:t>Alarm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Fires when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100" b="1" i="0">
                          <a:solidFill>
                            <a:srgbClr val="0E7C86"/>
                          </a:solidFill>
                          <a:latin typeface="Consolas"/>
                        </a:rPr>
                        <a:t>drishti-&lt;env&gt;-&lt;table&gt;-load-failed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 of the table failed (nothing of it was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drishti-&lt;env&gt;-&lt;table&gt;-not-loaded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 successful load for three days running (a weekend is two)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drishti-&lt;env&gt;-&lt;table&gt;-load-slow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 took longer than </a:t>
                      </a:r>
                      <a:r>
                        <a:rPr sz="1100" b="0" i="0">
                          <a:solidFill>
                            <a:srgbClr val="0E7C86"/>
                          </a:solidFill>
                          <a:latin typeface="Consolas"/>
                        </a:rPr>
                        <a:t>ALARM_PUBLISH_DEADLINE_HOURS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drishti-&lt;env&gt;-&lt;table&gt;-log-long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readers replay more than </a:t>
                      </a:r>
                      <a:r>
                        <a:rPr sz="1100" b="0" i="0">
                          <a:solidFill>
                            <a:srgbClr val="0E7C86"/>
                          </a:solidFill>
                          <a:latin typeface="Consolas"/>
                        </a:rPr>
                        <a:t>ALARM_COMMITS_SINCE_CHECKPOINT</a:t>
                      </a:r>
                      <a:r>
                        <a:rPr sz="1200" b="0" i="0">
                          <a:solidFill>
                            <a:srgbClr val="1C2433"/>
                          </a:solidFill>
                          <a:latin typeface="Calibri"/>
                        </a:rPr>
                        <a:t>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drishti-&lt;env&gt;-lake-s3-5xx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more than </a:t>
                      </a:r>
                      <a:r>
                        <a:rPr sz="1100" b="0" i="0">
                          <a:solidFill>
                            <a:srgbClr val="0E7C86"/>
                          </a:solidFill>
                          <a:latin typeface="Consolas"/>
                        </a:rPr>
                        <a:t>ALARM_S3_5XX_PER_5MIN</a:t>
                      </a:r>
                      <a:r>
                        <a:rPr sz="1200" b="0" i="0">
                          <a:solidFill>
                            <a:srgbClr val="1C2433"/>
                          </a:solidFill>
                          <a:latin typeface="Calibri"/>
                        </a:rPr>
                        <a:t> server errors in 5 minutes, twice in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drishti-&lt;env&gt;-efs-io-limit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EFS PercentIOLimit above 80 %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drishti-&lt;env&gt;-&lt;node&gt;-down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node's service has no running task for 5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486400"/>
            <a:ext cx="11365992" cy="8229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504688"/>
            <a:ext cx="82296" cy="7863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59552"/>
            <a:ext cx="11000232" cy="67665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All notify </a:t>
            </a:r>
            <a:r>
              <a:rPr sz="1200" b="0" i="0">
                <a:solidFill>
                  <a:srgbClr val="0E7C86"/>
                </a:solidFill>
                <a:latin typeface="Consolas"/>
              </a:rPr>
              <a:t>ALARM_SNS_TOPIC_ARN</a:t>
            </a:r>
            <a:r>
              <a:rPr sz="1300" b="0" i="0">
                <a:solidFill>
                  <a:srgbClr val="1C2433"/>
                </a:solidFill>
                <a:latin typeface="Calibri"/>
              </a:rPr>
              <a:t>. Heap, Drishti*net member dead and backup failed come with the platform's agent; gossip latency is the metric </a:t>
            </a:r>
            <a:r>
              <a:rPr sz="1200" b="0" i="0">
                <a:solidFill>
                  <a:srgbClr val="0E7C86"/>
                </a:solidFill>
                <a:latin typeface="Consolas"/>
              </a:rPr>
              <a:t>drishti_net_gossip_exchange_seconds</a:t>
            </a:r>
            <a:r>
              <a:rPr sz="1300" b="0" i="0">
                <a:solidFill>
                  <a:srgbClr val="1C2433"/>
                </a:solidFill>
                <a:latin typeface="Calibri"/>
              </a:rPr>
              <a:t> (2.6.7).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16</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demo lake, public data and DATAMAP</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84 Delta tables from committed JSON Lines, the public-data packs on the same pattern, and the data map that checks every join against the lake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demo lake: 84 Delta tables from committed JSON Lines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84</a:t>
            </a:r>
          </a:p>
        </p:txBody>
      </p:sp>
      <p:graphicFrame>
        <p:nvGraphicFramePr>
          <p:cNvPr id="9" name="Table"/>
          <p:cNvGraphicFramePr>
            <a:graphicFrameLocks noGrp="1"/>
          </p:cNvGraphicFramePr>
          <p:nvPr/>
        </p:nvGraphicFramePr>
        <p:xfrm>
          <a:off x="411480" y="1188720"/>
          <a:ext cx="5852160" cy="3520440"/>
        </p:xfrm>
        <a:graphic>
          <a:graphicData uri="http://schemas.openxmlformats.org/drawingml/2006/table">
            <a:tbl>
              <a:tblPr firstRow="0" bandRow="0">
                <a:tableStyleId>{5940675A-B579-460E-94D1-54222C63F5DA}</a:tableStyleId>
              </a:tblPr>
              <a:tblGrid>
                <a:gridCol w="1554480"/>
                <a:gridCol w="4297680"/>
              </a:tblGrid>
              <a:tr h="502920">
                <a:tc>
                  <a:txBody>
                    <a:bodyPr wrap="square"/>
                    <a:lstStyle/>
                    <a:p>
                      <a:r>
                        <a:rPr sz="1200" b="1" i="0">
                          <a:solidFill>
                            <a:srgbClr val="FFFFFF"/>
                          </a:solidFill>
                          <a:latin typeface="Calibri"/>
                        </a:rPr>
                        <a:t>What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84</a:t>
                      </a:r>
                      <a:r>
                        <a:rPr sz="1200" b="0" i="0">
                          <a:solidFill>
                            <a:srgbClr val="1C2433"/>
                          </a:solidFill>
                          <a:latin typeface="Calibri"/>
                        </a:rPr>
                        <a:t> (2.9.4), about 2.7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Business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60, ending today's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Built 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943 s (about 15 minutes), 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From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committed </a:t>
                      </a:r>
                      <a:r>
                        <a:rPr sz="1100" b="0" i="0">
                          <a:solidFill>
                            <a:srgbClr val="0E7C86"/>
                          </a:solidFill>
                          <a:latin typeface="Consolas"/>
                        </a:rPr>
                        <a:t>data/testdata/…/*.jsonl.gz</a:t>
                      </a:r>
                      <a:r>
                        <a:rPr sz="1200" b="0" i="0">
                          <a:solidFill>
                            <a:srgbClr val="1C2433"/>
                          </a:solidFill>
                          <a:latin typeface="Calibri"/>
                        </a:rPr>
                        <a:t> (about 120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15,000 on the last day in 3 tables (ENDUR, CALYPSO, MUREX)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 inputs, scenario PVs, FX scenarios, 73 netting sets of exposure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6492240" y="1188720"/>
            <a:ext cx="5285232" cy="11430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6601968" y="1252728"/>
            <a:ext cx="5065776" cy="101498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demo                     </a:t>
            </a:r>
            <a:r>
              <a:rPr sz="1100" b="0" i="0">
                <a:solidFill>
                  <a:srgbClr val="8B9BB4"/>
                </a:solidFill>
                <a:latin typeface="Consolas"/>
              </a:rPr>
              <a:t>  # all 84 tables</a:t>
            </a:r>
          </a:p>
          <a:p>
            <a:pPr>
              <a:spcAft>
                <a:spcPts val="0"/>
              </a:spcAft>
              <a:buNone/>
            </a:pPr>
            <a:r>
              <a:rPr sz="1100" b="0" i="0">
                <a:solidFill>
                  <a:srgbClr val="E6EDF3"/>
                </a:solidFill>
                <a:latin typeface="Consolas"/>
              </a:rPr>
              <a:t>build_demo_lakes.py --store calypso=iceberg</a:t>
            </a:r>
          </a:p>
          <a:p>
            <a:pPr>
              <a:spcAft>
                <a:spcPts val="0"/>
              </a:spcAft>
              <a:buNone/>
            </a:pPr>
            <a:r>
              <a:rPr sz="1100" b="0" i="0">
                <a:solidFill>
                  <a:srgbClr val="E6EDF3"/>
                </a:solidFill>
                <a:latin typeface="Consolas"/>
              </a:rPr>
              <a:t>build_demo_lakes.py --names config/demo/names.yaml</a:t>
            </a:r>
          </a:p>
        </p:txBody>
      </p:sp>
      <p:sp>
        <p:nvSpPr>
          <p:cNvPr id="12" name="TextBox 11"/>
          <p:cNvSpPr txBox="1"/>
          <p:nvPr/>
        </p:nvSpPr>
        <p:spPr>
          <a:xfrm>
            <a:off x="6492240" y="2514600"/>
            <a:ext cx="5285232" cy="20116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The pattern:</a:t>
            </a:r>
            <a:r>
              <a:rPr sz="1300" b="0" i="0">
                <a:solidFill>
                  <a:srgbClr val="1C2433"/>
                </a:solidFill>
                <a:latin typeface="Calibri"/>
              </a:rPr>
              <a:t> </a:t>
            </a:r>
            <a:r>
              <a:rPr sz="1200" b="0" i="0">
                <a:solidFill>
                  <a:srgbClr val="0E7C86"/>
                </a:solidFill>
                <a:latin typeface="Consolas"/>
              </a:rPr>
              <a:t>data/testdata/&lt;domain&gt;/&lt;kind&gt;/*.jsonl.gz</a:t>
            </a:r>
            <a:r>
              <a:rPr sz="1300" b="0" i="0">
                <a:solidFill>
                  <a:srgbClr val="1C2433"/>
                </a:solidFill>
                <a:latin typeface="Calibri"/>
              </a:rPr>
              <a:t> → </a:t>
            </a:r>
            <a:r>
              <a:rPr sz="1200" b="0" i="0">
                <a:solidFill>
                  <a:srgbClr val="0E7C86"/>
                </a:solidFill>
                <a:latin typeface="Consolas"/>
              </a:rPr>
              <a:t>build_demo_lakes</a:t>
            </a:r>
            <a:r>
              <a:rPr sz="1300" b="0" i="0">
                <a:solidFill>
                  <a:srgbClr val="1C2433"/>
                </a:solidFill>
                <a:latin typeface="Calibri"/>
              </a:rPr>
              <a:t> → Delta → the pack's Delta connector</a:t>
            </a:r>
          </a:p>
          <a:p>
            <a:pPr algn="l" marL="201168" indent="-201168">
              <a:spcAft>
                <a:spcPts val="600"/>
              </a:spcAft>
              <a:buClr>
                <a:srgbClr val="E87A1E"/>
              </a:buClr>
              <a:buSzPct val="100000"/>
              <a:buFont typeface="Arial"/>
              <a:buChar char="•"/>
            </a:pPr>
            <a:r>
              <a:rPr sz="1300" b="0" i="0">
                <a:solidFill>
                  <a:srgbClr val="1C2433"/>
                </a:solidFill>
                <a:latin typeface="Calibri"/>
              </a:rPr>
              <a:t>tested with the demo connector </a:t>
            </a:r>
            <a:r>
              <a:rPr sz="1300" b="1" i="0">
                <a:solidFill>
                  <a:srgbClr val="1C2433"/>
                </a:solidFill>
                <a:latin typeface="Calibri"/>
              </a:rPr>
              <a:t>off</a:t>
            </a:r>
            <a:r>
              <a:rPr sz="1300" b="0" i="0">
                <a:solidFill>
                  <a:srgbClr val="1C2433"/>
                </a:solidFill>
                <a:latin typeface="Calibri"/>
              </a:rPr>
              <a:t>: a build test fails any shipped kind without a Delta connector</a:t>
            </a:r>
          </a:p>
          <a:p>
            <a:pPr algn="l" marL="201168" indent="-201168">
              <a:spcAft>
                <a:spcPts val="600"/>
              </a:spcAft>
              <a:buClr>
                <a:srgbClr val="E87A1E"/>
              </a:buClr>
              <a:buSzPct val="100000"/>
              <a:buFont typeface="Arial"/>
              <a:buChar char="•"/>
            </a:pPr>
            <a:r>
              <a:rPr sz="1300" b="0" i="0">
                <a:solidFill>
                  <a:srgbClr val="1C2433"/>
                </a:solidFill>
                <a:latin typeface="Calibri"/>
              </a:rPr>
              <a:t>the same commands build a lake on EFS for a proof of concept</a:t>
            </a:r>
          </a:p>
        </p:txBody>
      </p:sp>
      <p:sp>
        <p:nvSpPr>
          <p:cNvPr id="13" name="Callout"/>
          <p:cNvSpPr/>
          <p:nvPr/>
        </p:nvSpPr>
        <p:spPr>
          <a:xfrm>
            <a:off x="411480" y="4846320"/>
            <a:ext cx="11365992" cy="14630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4864607"/>
            <a:ext cx="82296" cy="14264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4919472"/>
            <a:ext cx="11000232" cy="13167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Domains: trading, reference, legal, collateral, credit, </a:t>
            </a:r>
            <a:r>
              <a:rPr sz="1300" b="1" i="0">
                <a:solidFill>
                  <a:srgbClr val="1C2433"/>
                </a:solidFill>
                <a:latin typeface="Calibri"/>
              </a:rPr>
              <a:t>risk</a:t>
            </a:r>
            <a:r>
              <a:rPr sz="1300" b="0" i="0">
                <a:solidFill>
                  <a:srgbClr val="1C2433"/>
                </a:solidFill>
                <a:latin typeface="Calibri"/>
              </a:rPr>
              <a:t>, market, macro, news, civic, us-equities, gleif, funds. </a:t>
            </a:r>
            <a:r>
              <a:rPr sz="1300" b="1" i="0">
                <a:solidFill>
                  <a:srgbClr val="1C2433"/>
                </a:solidFill>
                <a:latin typeface="Calibri"/>
              </a:rPr>
              <a:t>Not a production ETL:</a:t>
            </a:r>
            <a:r>
              <a:rPr sz="1300" b="0" i="0">
                <a:solidFill>
                  <a:srgbClr val="1C2433"/>
                </a:solidFill>
                <a:latin typeface="Calibri"/>
              </a:rPr>
              <a:t> in production your own loads end with the data-load signal (DATA_LOADS.md), and on AWS the loader task of section 9 does the work.</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Public-data packs: real data on the same lake pattern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85</a:t>
            </a:r>
          </a:p>
        </p:txBody>
      </p:sp>
      <p:sp>
        <p:nvSpPr>
          <p:cNvPr id="9" name="Rounded Rectangle 8"/>
          <p:cNvSpPr/>
          <p:nvPr/>
        </p:nvSpPr>
        <p:spPr>
          <a:xfrm>
            <a:off x="411480"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us-equities</a:t>
            </a:r>
          </a:p>
        </p:txBody>
      </p:sp>
      <p:sp>
        <p:nvSpPr>
          <p:cNvPr id="11" name="TextBox 10"/>
          <p:cNvSpPr txBox="1"/>
          <p:nvPr/>
        </p:nvSpPr>
        <p:spPr>
          <a:xfrm>
            <a:off x="502920"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479 companies with SEC filings</a:t>
            </a:r>
          </a:p>
          <a:p>
            <a:pPr algn="l" marL="201168" indent="-201168">
              <a:spcAft>
                <a:spcPts val="200"/>
              </a:spcAft>
              <a:buClr>
                <a:srgbClr val="E87A1E"/>
              </a:buClr>
              <a:buSzPct val="100000"/>
              <a:buFont typeface="Arial"/>
              <a:buChar char="•"/>
            </a:pPr>
            <a:r>
              <a:rPr sz="1300" b="0" i="0">
                <a:solidFill>
                  <a:srgbClr val="1C2433"/>
                </a:solidFill>
                <a:latin typeface="Calibri"/>
              </a:rPr>
              <a:t>filings, facts, index members, SIC</a:t>
            </a:r>
          </a:p>
          <a:p>
            <a:pPr algn="l" marL="201168" indent="-201168">
              <a:spcAft>
                <a:spcPts val="200"/>
              </a:spcAft>
              <a:buClr>
                <a:srgbClr val="E87A1E"/>
              </a:buClr>
              <a:buSzPct val="100000"/>
              <a:buFont typeface="Arial"/>
              <a:buChar char="•"/>
            </a:pPr>
            <a:r>
              <a:rPr sz="1300" b="0" i="0">
                <a:solidFill>
                  <a:srgbClr val="1C2433"/>
                </a:solidFill>
                <a:latin typeface="Calibri"/>
              </a:rPr>
              <a:t>prices internal only, off</a:t>
            </a:r>
          </a:p>
        </p:txBody>
      </p:sp>
      <p:sp>
        <p:nvSpPr>
          <p:cNvPr id="12" name="Rounded Rectangle 11"/>
          <p:cNvSpPr/>
          <p:nvPr/>
        </p:nvSpPr>
        <p:spPr>
          <a:xfrm>
            <a:off x="4288536"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79976"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gleif</a:t>
            </a:r>
          </a:p>
        </p:txBody>
      </p:sp>
      <p:sp>
        <p:nvSpPr>
          <p:cNvPr id="14" name="TextBox 13"/>
          <p:cNvSpPr txBox="1"/>
          <p:nvPr/>
        </p:nvSpPr>
        <p:spPr>
          <a:xfrm>
            <a:off x="4379976"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 9,500 legal entities</a:t>
            </a:r>
          </a:p>
          <a:p>
            <a:pPr algn="l" marL="201168" indent="-201168">
              <a:spcAft>
                <a:spcPts val="200"/>
              </a:spcAft>
              <a:buClr>
                <a:srgbClr val="E87A1E"/>
              </a:buClr>
              <a:buSzPct val="100000"/>
              <a:buFont typeface="Arial"/>
              <a:buChar char="•"/>
            </a:pPr>
            <a:r>
              <a:rPr sz="1300" b="0" i="0">
                <a:solidFill>
                  <a:srgbClr val="1C2433"/>
                </a:solidFill>
                <a:latin typeface="Calibri"/>
              </a:rPr>
              <a:t>540 ownership groups, 132 countries</a:t>
            </a:r>
          </a:p>
          <a:p>
            <a:pPr algn="l" marL="201168" indent="-201168">
              <a:spcAft>
                <a:spcPts val="200"/>
              </a:spcAft>
              <a:buClr>
                <a:srgbClr val="E87A1E"/>
              </a:buClr>
              <a:buSzPct val="100000"/>
              <a:buFont typeface="Arial"/>
              <a:buChar char="•"/>
            </a:pPr>
            <a:r>
              <a:rPr sz="1300" b="0" i="0">
                <a:solidFill>
                  <a:srgbClr val="1C2433"/>
                </a:solidFill>
                <a:latin typeface="Calibri"/>
              </a:rPr>
              <a:t>LEI, BIC, ISIN mappings</a:t>
            </a:r>
          </a:p>
        </p:txBody>
      </p:sp>
      <p:sp>
        <p:nvSpPr>
          <p:cNvPr id="15" name="Rounded Rectangle 14"/>
          <p:cNvSpPr/>
          <p:nvPr/>
        </p:nvSpPr>
        <p:spPr>
          <a:xfrm>
            <a:off x="8165592"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8257031"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funds</a:t>
            </a:r>
          </a:p>
        </p:txBody>
      </p:sp>
      <p:sp>
        <p:nvSpPr>
          <p:cNvPr id="17" name="TextBox 16"/>
          <p:cNvSpPr txBox="1"/>
          <p:nvPr/>
        </p:nvSpPr>
        <p:spPr>
          <a:xfrm>
            <a:off x="8257031"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200 largest US funds and ETFs</a:t>
            </a:r>
          </a:p>
          <a:p>
            <a:pPr algn="l" marL="201168" indent="-201168">
              <a:spcAft>
                <a:spcPts val="200"/>
              </a:spcAft>
              <a:buClr>
                <a:srgbClr val="E87A1E"/>
              </a:buClr>
              <a:buSzPct val="100000"/>
              <a:buFont typeface="Arial"/>
              <a:buChar char="•"/>
            </a:pPr>
            <a:r>
              <a:rPr sz="1300" b="0" i="0">
                <a:solidFill>
                  <a:srgbClr val="1C2433"/>
                </a:solidFill>
                <a:latin typeface="Calibri"/>
              </a:rPr>
              <a:t>N-PORT holdings, N-CEN facts</a:t>
            </a:r>
          </a:p>
          <a:p>
            <a:pPr algn="l" marL="201168" indent="-201168">
              <a:spcAft>
                <a:spcPts val="200"/>
              </a:spcAft>
              <a:buClr>
                <a:srgbClr val="E87A1E"/>
              </a:buClr>
              <a:buSzPct val="100000"/>
              <a:buFont typeface="Arial"/>
              <a:buChar char="•"/>
            </a:pPr>
            <a:r>
              <a:rPr sz="1300" b="0" i="0">
                <a:solidFill>
                  <a:srgbClr val="1C2433"/>
                </a:solidFill>
                <a:latin typeface="Calibri"/>
              </a:rPr>
              <a:t>index weights from SEC data</a:t>
            </a:r>
          </a:p>
        </p:txBody>
      </p:sp>
      <p:sp>
        <p:nvSpPr>
          <p:cNvPr id="18" name="Rounded Rectangle 17"/>
          <p:cNvSpPr/>
          <p:nvPr/>
        </p:nvSpPr>
        <p:spPr>
          <a:xfrm>
            <a:off x="411480"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refresh script</a:t>
            </a:r>
          </a:p>
        </p:txBody>
      </p:sp>
      <p:sp>
        <p:nvSpPr>
          <p:cNvPr id="20" name="TextBox 19"/>
          <p:cNvSpPr txBox="1"/>
          <p:nvPr/>
        </p:nvSpPr>
        <p:spPr>
          <a:xfrm>
            <a:off x="502920"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tools/publicdata/&lt;pack&gt;.py refresh</a:t>
            </a:r>
          </a:p>
        </p:txBody>
      </p:sp>
      <p:cxnSp>
        <p:nvCxnSpPr>
          <p:cNvPr id="21" name="Connector 20"/>
          <p:cNvCxnSpPr/>
          <p:nvPr/>
        </p:nvCxnSpPr>
        <p:spPr>
          <a:xfrm>
            <a:off x="3017520"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328416"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3419856"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committed snapshot</a:t>
            </a:r>
          </a:p>
        </p:txBody>
      </p:sp>
      <p:sp>
        <p:nvSpPr>
          <p:cNvPr id="24" name="TextBox 23"/>
          <p:cNvSpPr txBox="1"/>
          <p:nvPr/>
        </p:nvSpPr>
        <p:spPr>
          <a:xfrm>
            <a:off x="3419856"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snapshot-&lt;date&gt;.jsonl.gz</a:t>
            </a:r>
          </a:p>
        </p:txBody>
      </p:sp>
      <p:cxnSp>
        <p:nvCxnSpPr>
          <p:cNvPr id="25" name="Connector 24"/>
          <p:cNvCxnSpPr/>
          <p:nvPr/>
        </p:nvCxnSpPr>
        <p:spPr>
          <a:xfrm>
            <a:off x="5934456"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45352"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336792"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demo</a:t>
            </a:r>
          </a:p>
        </p:txBody>
      </p:sp>
      <p:sp>
        <p:nvSpPr>
          <p:cNvPr id="28" name="TextBox 27"/>
          <p:cNvSpPr txBox="1"/>
          <p:nvPr/>
        </p:nvSpPr>
        <p:spPr>
          <a:xfrm>
            <a:off x="6336792"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&lt;pack&gt;/&lt;kind&gt;</a:t>
            </a:r>
            <a:r>
              <a:rPr sz="1200" b="0" i="0">
                <a:solidFill>
                  <a:srgbClr val="1C2433"/>
                </a:solidFill>
                <a:latin typeface="Calibri"/>
              </a:rPr>
              <a:t> every demo day</a:t>
            </a:r>
          </a:p>
        </p:txBody>
      </p:sp>
      <p:cxnSp>
        <p:nvCxnSpPr>
          <p:cNvPr id="29" name="Connector 28"/>
          <p:cNvCxnSpPr/>
          <p:nvPr/>
        </p:nvCxnSpPr>
        <p:spPr>
          <a:xfrm>
            <a:off x="8851392"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162288"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253728"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connector</a:t>
            </a:r>
          </a:p>
        </p:txBody>
      </p:sp>
      <p:sp>
        <p:nvSpPr>
          <p:cNvPr id="32" name="TextBox 31"/>
          <p:cNvSpPr txBox="1"/>
          <p:nvPr/>
        </p:nvSpPr>
        <p:spPr>
          <a:xfrm>
            <a:off x="9253728"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us-equities-store</a:t>
            </a:r>
            <a:r>
              <a:rPr sz="1200" b="0" i="0">
                <a:solidFill>
                  <a:srgbClr val="1C2433"/>
                </a:solidFill>
                <a:latin typeface="Calibri"/>
              </a:rPr>
              <a:t>, </a:t>
            </a:r>
            <a:r>
              <a:rPr sz="1100" b="0" i="0">
                <a:solidFill>
                  <a:srgbClr val="0E7C86"/>
                </a:solidFill>
                <a:latin typeface="Consolas"/>
              </a:rPr>
              <a:t>gleif-store</a:t>
            </a:r>
            <a:r>
              <a:rPr sz="1200" b="0" i="0">
                <a:solidFill>
                  <a:srgbClr val="1C2433"/>
                </a:solidFill>
                <a:latin typeface="Calibri"/>
              </a:rPr>
              <a:t> …</a:t>
            </a:r>
          </a:p>
        </p:txBody>
      </p:sp>
      <p:sp>
        <p:nvSpPr>
          <p:cNvPr id="33" name="TextBox 32"/>
          <p:cNvSpPr txBox="1"/>
          <p:nvPr/>
        </p:nvSpPr>
        <p:spPr>
          <a:xfrm>
            <a:off x="411480" y="4343400"/>
            <a:ext cx="11365992" cy="173736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One standalone refresh script per pack (</a:t>
            </a:r>
            <a:r>
              <a:rPr sz="1200" b="0" i="0">
                <a:solidFill>
                  <a:srgbClr val="0E7C86"/>
                </a:solidFill>
                <a:latin typeface="Consolas"/>
              </a:rPr>
              <a:t>status</a:t>
            </a:r>
            <a:r>
              <a:rPr sz="1300" b="0" i="0">
                <a:solidFill>
                  <a:srgbClr val="1C2433"/>
                </a:solidFill>
                <a:latin typeface="Calibri"/>
              </a:rPr>
              <a:t>, </a:t>
            </a:r>
            <a:r>
              <a:rPr sz="1200" b="0" i="0">
                <a:solidFill>
                  <a:srgbClr val="0E7C86"/>
                </a:solidFill>
                <a:latin typeface="Consolas"/>
              </a:rPr>
              <a:t>refresh</a:t>
            </a:r>
            <a:r>
              <a:rPr sz="1300" b="0" i="0">
                <a:solidFill>
                  <a:srgbClr val="1C2433"/>
                </a:solidFill>
                <a:latin typeface="Calibri"/>
              </a:rPr>
              <a:t>, </a:t>
            </a:r>
            <a:r>
              <a:rPr sz="1200" b="0" i="0">
                <a:solidFill>
                  <a:srgbClr val="0E7C86"/>
                </a:solidFill>
                <a:latin typeface="Consolas"/>
              </a:rPr>
              <a:t>--dry-run</a:t>
            </a:r>
            <a:r>
              <a:rPr sz="1300" b="0" i="0">
                <a:solidFill>
                  <a:srgbClr val="1C2433"/>
                </a:solidFill>
                <a:latin typeface="Calibri"/>
              </a:rPr>
              <a:t>, </a:t>
            </a:r>
            <a:r>
              <a:rPr sz="1200" b="0" i="0">
                <a:solidFill>
                  <a:srgbClr val="0E7C86"/>
                </a:solidFill>
                <a:latin typeface="Consolas"/>
              </a:rPr>
              <a:t>--offline</a:t>
            </a:r>
            <a:r>
              <a:rPr sz="1300" b="0" i="0">
                <a:solidFill>
                  <a:srgbClr val="1C2433"/>
                </a:solidFill>
                <a:latin typeface="Calibri"/>
              </a:rPr>
              <a:t>), </a:t>
            </a:r>
            <a:r>
              <a:rPr sz="1200" b="0" i="0">
                <a:solidFill>
                  <a:srgbClr val="0E7C86"/>
                </a:solidFill>
                <a:latin typeface="Consolas"/>
              </a:rPr>
              <a:t>.sh</a:t>
            </a:r>
            <a:r>
              <a:rPr sz="1300" b="0" i="0">
                <a:solidFill>
                  <a:srgbClr val="1C2433"/>
                </a:solidFill>
                <a:latin typeface="Calibri"/>
              </a:rPr>
              <a:t> and </a:t>
            </a:r>
            <a:r>
              <a:rPr sz="1200" b="0" i="0">
                <a:solidFill>
                  <a:srgbClr val="0E7C86"/>
                </a:solidFill>
                <a:latin typeface="Consolas"/>
              </a:rPr>
              <a:t>.ps1</a:t>
            </a:r>
            <a:r>
              <a:rPr sz="1300" b="0" i="0">
                <a:solidFill>
                  <a:srgbClr val="1C2433"/>
                </a:solidFill>
                <a:latin typeface="Calibri"/>
              </a:rPr>
              <a:t> wrappers</a:t>
            </a:r>
          </a:p>
          <a:p>
            <a:pPr algn="l" marL="201168" indent="-201168">
              <a:spcAft>
                <a:spcPts val="500"/>
              </a:spcAft>
              <a:buClr>
                <a:srgbClr val="E87A1E"/>
              </a:buClr>
              <a:buSzPct val="100000"/>
              <a:buFont typeface="Arial"/>
              <a:buChar char="•"/>
            </a:pPr>
            <a:r>
              <a:rPr sz="1300" b="0" i="0">
                <a:solidFill>
                  <a:srgbClr val="1C2433"/>
                </a:solidFill>
                <a:latin typeface="Calibri"/>
              </a:rPr>
              <a:t>Internal-only sources (IMF, Yahoo, news) are refused in committed folders without </a:t>
            </a:r>
            <a:r>
              <a:rPr sz="1200" b="0" i="0">
                <a:solidFill>
                  <a:srgbClr val="0E7C86"/>
                </a:solidFill>
                <a:latin typeface="Consolas"/>
              </a:rPr>
              <a:t>--internal-ok</a:t>
            </a:r>
          </a:p>
          <a:p>
            <a:pPr algn="l" marL="201168" indent="-201168">
              <a:spcAft>
                <a:spcPts val="500"/>
              </a:spcAft>
              <a:buClr>
                <a:srgbClr val="E87A1E"/>
              </a:buClr>
              <a:buSzPct val="100000"/>
              <a:buFont typeface="Arial"/>
              <a:buChar char="•"/>
            </a:pPr>
            <a:r>
              <a:rPr sz="1300" b="0" i="0">
                <a:solidFill>
                  <a:srgbClr val="1C2433"/>
                </a:solidFill>
                <a:latin typeface="Calibri"/>
              </a:rPr>
              <a:t>Names in the type-ahead from promoted columns: </a:t>
            </a:r>
            <a:r>
              <a:rPr sz="1200" b="0" i="0">
                <a:solidFill>
                  <a:srgbClr val="0E7C86"/>
                </a:solidFill>
                <a:latin typeface="Consolas"/>
              </a:rPr>
              <a:t>USEQ Ford</a:t>
            </a:r>
            <a:r>
              <a:rPr sz="1300" b="0" i="0">
                <a:solidFill>
                  <a:srgbClr val="1C2433"/>
                </a:solidFill>
                <a:latin typeface="Calibri"/>
              </a:rPr>
              <a:t> finds </a:t>
            </a:r>
            <a:r>
              <a:rPr sz="1200" b="0" i="0">
                <a:solidFill>
                  <a:srgbClr val="0E7C86"/>
                </a:solidFill>
                <a:latin typeface="Consolas"/>
              </a:rPr>
              <a:t>F</a:t>
            </a:r>
            <a:r>
              <a:rPr sz="1300" b="0" i="0">
                <a:solidFill>
                  <a:srgbClr val="1C2433"/>
                </a:solidFill>
                <a:latin typeface="Calibri"/>
              </a:rPr>
              <a:t> (</a:t>
            </a:r>
            <a:r>
              <a:rPr sz="1200" b="0" i="0">
                <a:solidFill>
                  <a:srgbClr val="0E7C86"/>
                </a:solidFill>
                <a:latin typeface="Consolas"/>
              </a:rPr>
              <a:t>layout.&lt;kind&gt;.type-ahead</a:t>
            </a:r>
            <a:r>
              <a:rPr sz="1300" b="0" i="0">
                <a:solidFill>
                  <a:srgbClr val="1C2433"/>
                </a:solidFill>
                <a:latin typeface="Calibri"/>
              </a:rPr>
              <a: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DATAMAP: every kind, count and join, checked against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86</a:t>
            </a:r>
          </a:p>
        </p:txBody>
      </p:sp>
      <p:pic>
        <p:nvPicPr>
          <p:cNvPr id="9" name="DATAMAP screenshot" descr="datamap.jpg"/>
          <p:cNvPicPr>
            <a:picLocks noChangeAspect="1"/>
          </p:cNvPicPr>
          <p:nvPr/>
        </p:nvPicPr>
        <p:blipFill>
          <a:blip r:embed="rId3"/>
          <a:stretch>
            <a:fillRect/>
          </a:stretch>
        </p:blipFill>
        <p:spPr>
          <a:xfrm>
            <a:off x="411480" y="1188720"/>
            <a:ext cx="6729984" cy="4206240"/>
          </a:xfrm>
          <a:prstGeom prst="rect">
            <a:avLst/>
          </a:prstGeom>
        </p:spPr>
      </p:pic>
      <p:sp>
        <p:nvSpPr>
          <p:cNvPr id="10" name="TextBox 9"/>
          <p:cNvSpPr txBox="1"/>
          <p:nvPr/>
        </p:nvSpPr>
        <p:spPr>
          <a:xfrm>
            <a:off x="411480" y="5440680"/>
            <a:ext cx="6729984" cy="86868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DATAMAP trade</a:t>
            </a:r>
            <a:r>
              <a:rPr sz="1200" b="0" i="0">
                <a:solidFill>
                  <a:srgbClr val="5B677A"/>
                </a:solidFill>
                <a:latin typeface="Calibri"/>
              </a:rPr>
              <a:t>: the Trade kind (15,000) and its joins, each checked against the lake (USER_GUIDE.md, 2026-10-27).</a:t>
            </a:r>
          </a:p>
        </p:txBody>
      </p:sp>
      <p:sp>
        <p:nvSpPr>
          <p:cNvPr id="11" name="TextBox 10"/>
          <p:cNvSpPr txBox="1"/>
          <p:nvPr/>
        </p:nvSpPr>
        <p:spPr>
          <a:xfrm>
            <a:off x="7406640" y="1188720"/>
            <a:ext cx="4370832" cy="32004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300" b="0" i="0">
                <a:solidFill>
                  <a:srgbClr val="1C2433"/>
                </a:solidFill>
                <a:latin typeface="Calibri"/>
              </a:rPr>
              <a:t>kinds from the packs' contracts; computed kinds (VaR, exposure) dashed</a:t>
            </a:r>
          </a:p>
          <a:p>
            <a:pPr algn="l" marL="201168" indent="-201168">
              <a:spcAft>
                <a:spcPts val="700"/>
              </a:spcAft>
              <a:buClr>
                <a:srgbClr val="E87A1E"/>
              </a:buClr>
              <a:buSzPct val="100000"/>
              <a:buFont typeface="Arial"/>
              <a:buChar char="•"/>
            </a:pPr>
            <a:r>
              <a:rPr sz="1300" b="0" i="0">
                <a:solidFill>
                  <a:srgbClr val="1C2433"/>
                </a:solidFill>
                <a:latin typeface="Calibri"/>
              </a:rPr>
              <a:t>joins from </a:t>
            </a:r>
            <a:r>
              <a:rPr sz="1200" b="0" i="0">
                <a:solidFill>
                  <a:srgbClr val="0E7C86"/>
                </a:solidFill>
                <a:latin typeface="Consolas"/>
              </a:rPr>
              <a:t>links:</a:t>
            </a:r>
            <a:r>
              <a:rPr sz="1300" b="0" i="0">
                <a:solidFill>
                  <a:srgbClr val="1C2433"/>
                </a:solidFill>
                <a:latin typeface="Calibri"/>
              </a:rPr>
              <a:t>, </a:t>
            </a:r>
            <a:r>
              <a:rPr sz="1200" b="0" i="0">
                <a:solidFill>
                  <a:srgbClr val="0E7C86"/>
                </a:solidFill>
                <a:latin typeface="Consolas"/>
              </a:rPr>
              <a:t>link:</a:t>
            </a:r>
            <a:r>
              <a:rPr sz="1300" b="0" i="0">
                <a:solidFill>
                  <a:srgbClr val="1C2433"/>
                </a:solidFill>
                <a:latin typeface="Calibri"/>
              </a:rPr>
              <a:t> and </a:t>
            </a:r>
            <a:r>
              <a:rPr sz="1200" b="0" i="0">
                <a:solidFill>
                  <a:srgbClr val="0E7C86"/>
                </a:solidFill>
                <a:latin typeface="Consolas"/>
              </a:rPr>
              <a:t>graph.fields</a:t>
            </a:r>
            <a:r>
              <a:rPr sz="1300" b="0" i="0">
                <a:solidFill>
                  <a:srgbClr val="1C2433"/>
                </a:solidFill>
                <a:latin typeface="Calibri"/>
              </a:rPr>
              <a:t>, </a:t>
            </a:r>
            <a:r>
              <a:rPr sz="1300" b="1" i="0">
                <a:solidFill>
                  <a:srgbClr val="1C2433"/>
                </a:solidFill>
                <a:latin typeface="Calibri"/>
              </a:rPr>
              <a:t>each checked against the lake</a:t>
            </a:r>
            <a:r>
              <a:rPr sz="1300" b="0" i="0">
                <a:solidFill>
                  <a:srgbClr val="1C2433"/>
                </a:solidFill>
                <a:latin typeface="Calibri"/>
              </a:rPr>
              <a:t>: under 95 % match is a finding</a:t>
            </a:r>
          </a:p>
          <a:p>
            <a:pPr algn="l" marL="201168" indent="-201168">
              <a:spcAft>
                <a:spcPts val="700"/>
              </a:spcAft>
              <a:buClr>
                <a:srgbClr val="E87A1E"/>
              </a:buClr>
              <a:buSzPct val="100000"/>
              <a:buFont typeface="Arial"/>
              <a:buChar char="•"/>
            </a:pPr>
            <a:r>
              <a:rPr sz="1300" b="0" i="0">
                <a:solidFill>
                  <a:srgbClr val="1C2433"/>
                </a:solidFill>
                <a:latin typeface="Calibri"/>
              </a:rPr>
              <a:t>counts per business date, cached 15 minutes; read from the day's columns, never documents</a:t>
            </a:r>
          </a:p>
        </p:txBody>
      </p:sp>
      <p:sp>
        <p:nvSpPr>
          <p:cNvPr id="12" name="Callout"/>
          <p:cNvSpPr/>
          <p:nvPr/>
        </p:nvSpPr>
        <p:spPr>
          <a:xfrm>
            <a:off x="7406640" y="4526280"/>
            <a:ext cx="4370832" cy="17830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406640" y="4544568"/>
            <a:ext cx="82296" cy="17465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635240" y="4599432"/>
            <a:ext cx="4005072" cy="163677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the demo lake</a:t>
            </a:r>
          </a:p>
          <a:p>
            <a:pPr algn="l">
              <a:spcAft>
                <a:spcPts val="600"/>
              </a:spcAft>
              <a:buNone/>
            </a:pPr>
            <a:r>
              <a:rPr sz="1300" b="0" i="0">
                <a:solidFill>
                  <a:srgbClr val="1C2433"/>
                </a:solidFill>
                <a:latin typeface="Calibri"/>
              </a:rPr>
              <a:t>10 packs: 96 kinds, 226 joins, 176 checked in about 1.5 s; 11 findings to fix in the contracts or the data.</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17</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Sizing and cost</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200 TB of documents is, the deployment that serves it, and the monthly bill (list prices, one Region, estimates); the risk lake's share from section 13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17.1 What 200 TB is (seven years of Parquet)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88</a:t>
            </a:r>
          </a:p>
        </p:txBody>
      </p:sp>
      <p:graphicFrame>
        <p:nvGraphicFramePr>
          <p:cNvPr id="9" name="Table"/>
          <p:cNvGraphicFramePr>
            <a:graphicFrameLocks noGrp="1"/>
          </p:cNvGraphicFramePr>
          <p:nvPr/>
        </p:nvGraphicFramePr>
        <p:xfrm>
          <a:off x="411480" y="1188720"/>
          <a:ext cx="11365992" cy="4114800"/>
        </p:xfrm>
        <a:graphic>
          <a:graphicData uri="http://schemas.openxmlformats.org/drawingml/2006/table">
            <a:tbl>
              <a:tblPr firstRow="0" bandRow="0">
                <a:tableStyleId>{5940675A-B579-460E-94D1-54222C63F5DA}</a:tableStyleId>
              </a:tblPr>
              <a:tblGrid>
                <a:gridCol w="2926080"/>
                <a:gridCol w="8439912"/>
              </a:tblGrid>
              <a:tr h="68580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85800">
                <a:tc>
                  <a:txBody>
                    <a:bodyPr wrap="square"/>
                    <a:lstStyle/>
                    <a:p>
                      <a:r>
                        <a:rPr sz="1300" b="1" i="0">
                          <a:solidFill>
                            <a:srgbClr val="1C2433"/>
                          </a:solidFill>
                          <a:latin typeface="Calibri"/>
                        </a:rPr>
                        <a:t>Per business day (252 a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about 113 GB of Parquet; about 100 million documents at about 1.1 KB each compressed (Snappy)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300" b="1" i="0">
                          <a:solidFill>
                            <a:srgbClr val="1C2433"/>
                          </a:solidFill>
                          <a:latin typeface="Calibri"/>
                        </a:rPr>
                        <a:t>Files per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about 350 (330 MB each, 250,000 rows) over all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85800">
                <a:tc>
                  <a:txBody>
                    <a:bodyPr wrap="square"/>
                    <a:lstStyle/>
                    <a:p>
                      <a:r>
                        <a:rPr sz="1300" b="1" i="0">
                          <a:solidFill>
                            <a:srgbClr val="1C2433"/>
                          </a:solidFill>
                          <a:latin typeface="Calibri"/>
                        </a:rPr>
                        <a:t>Live files after seven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about 620,000 over all tables; three trade tables ≈ 200,000 each: above 100,000, so tables by year (S2) or more tables matter before year seven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300" b="1" i="0">
                          <a:solidFill>
                            <a:srgbClr val="1C2433"/>
                          </a:solidFill>
                          <a:latin typeface="Calibri"/>
                        </a:rPr>
                        <a:t>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per table per day, plus maintenance: about 1,500 a year per table (intraday risk tables more)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85800">
                <a:tc>
                  <a:txBody>
                    <a:bodyPr wrap="square"/>
                    <a:lstStyle/>
                    <a:p>
                      <a:r>
                        <a:rPr sz="1300" b="1" i="0">
                          <a:solidFill>
                            <a:srgbClr val="1C2433"/>
                          </a:solidFill>
                          <a:latin typeface="Calibri"/>
                        </a:rPr>
                        <a:t>The risk lake at 1.3M positions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 4 GB of VaR vectors a date, ≈ 7 TB over 7 years (section 13)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Status ESTIMATED"/>
          <p:cNvSpPr/>
          <p:nvPr/>
        </p:nvSpPr>
        <p:spPr>
          <a:xfrm>
            <a:off x="411480" y="5852160"/>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1" name="TextBox 10"/>
          <p:cNvSpPr txBox="1"/>
          <p:nvPr/>
        </p:nvSpPr>
        <p:spPr>
          <a:xfrm>
            <a:off x="1600200" y="5833872"/>
            <a:ext cx="10058400" cy="32004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Estimates, to be replaced by the measurements of SUPER_SCALE step S8.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17.2 The deployment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89</a:t>
            </a:r>
          </a:p>
        </p:txBody>
      </p:sp>
      <p:graphicFrame>
        <p:nvGraphicFramePr>
          <p:cNvPr id="9" name="Table"/>
          <p:cNvGraphicFramePr>
            <a:graphicFrameLocks noGrp="1"/>
          </p:cNvGraphicFramePr>
          <p:nvPr/>
        </p:nvGraphicFramePr>
        <p:xfrm>
          <a:off x="411480" y="1188720"/>
          <a:ext cx="11365992" cy="4389120"/>
        </p:xfrm>
        <a:graphic>
          <a:graphicData uri="http://schemas.openxmlformats.org/drawingml/2006/table">
            <a:tbl>
              <a:tblPr firstRow="0" bandRow="0">
                <a:tableStyleId>{5940675A-B579-460E-94D1-54222C63F5DA}</a:tableStyleId>
              </a:tblPr>
              <a:tblGrid>
                <a:gridCol w="2560320"/>
                <a:gridCol w="6583680"/>
                <a:gridCol w="2221992"/>
              </a:tblGrid>
              <a:tr h="731520">
                <a:tc>
                  <a:txBody>
                    <a:bodyPr wrap="square"/>
                    <a:lstStyle/>
                    <a:p>
                      <a:r>
                        <a:rPr sz="1300" b="1" i="0">
                          <a:solidFill>
                            <a:srgbClr val="FFFFFF"/>
                          </a:solidFill>
                          <a:latin typeface="Calibri"/>
                        </a:rPr>
                        <a:t>Part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31520">
                <a:tc>
                  <a:txBody>
                    <a:bodyPr wrap="square"/>
                    <a:lstStyle/>
                    <a:p>
                      <a:r>
                        <a:rPr sz="1300" b="1" i="0">
                          <a:solidFill>
                            <a:srgbClr val="1C2433"/>
                          </a:solidFill>
                          <a:latin typeface="Calibri"/>
                        </a:rPr>
                        <a:t>Server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4 vCPU and 12 GB for the server (8 GB heap) in a 6 vCPU, 16 GB task with its console; 16 vCPU, 64 GB at SUPER_SCALE volumes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3 to 6, sharded by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300" b="1" i="0">
                          <a:solidFill>
                            <a:srgbClr val="1C2433"/>
                          </a:solidFill>
                          <a:latin typeface="Calibri"/>
                        </a:rPr>
                        <a:t>Loader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4 vCPU, 30 GB, 21 GB ephemeral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per table at load 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300" b="1" i="0">
                          <a:solidFill>
                            <a:srgbClr val="1C2433"/>
                          </a:solidFill>
                          <a:latin typeface="Calibri"/>
                        </a:rPr>
                        <a:t>Maintenance and report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the same image and 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nightly,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3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each node's state and caches: 50–300 GB; loader scratch: one day of one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300" b="1" i="0">
                          <a:solidFill>
                            <a:srgbClr val="1C2433"/>
                          </a:solidFill>
                          <a:latin typeface="Calibri"/>
                        </a:rPr>
                        <a:t>A node reading the risk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heap ≈ 1 GB per open VaR date at 1.3M; hot files on local NVMe (EC2)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 1; whole dates each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17.3 Monthly cost (list prices, one Region, estimates)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90</a:t>
            </a:r>
          </a:p>
        </p:txBody>
      </p:sp>
      <p:graphicFrame>
        <p:nvGraphicFramePr>
          <p:cNvPr id="9" name="Table"/>
          <p:cNvGraphicFramePr>
            <a:graphicFrameLocks noGrp="1"/>
          </p:cNvGraphicFramePr>
          <p:nvPr/>
        </p:nvGraphicFramePr>
        <p:xfrm>
          <a:off x="411480" y="1188720"/>
          <a:ext cx="11365992" cy="4297680"/>
        </p:xfrm>
        <a:graphic>
          <a:graphicData uri="http://schemas.openxmlformats.org/drawingml/2006/table">
            <a:tbl>
              <a:tblPr firstRow="0" bandRow="0">
                <a:tableStyleId>{5940675A-B579-460E-94D1-54222C63F5DA}</a:tableStyleId>
              </a:tblPr>
              <a:tblGrid>
                <a:gridCol w="3566160"/>
                <a:gridCol w="5760720"/>
                <a:gridCol w="2039112"/>
              </a:tblGrid>
              <a:tr h="429768">
                <a:tc>
                  <a:txBody>
                    <a:bodyPr wrap="square"/>
                    <a:lstStyle/>
                    <a:p>
                      <a:r>
                        <a:rPr sz="1200" b="1" i="0">
                          <a:solidFill>
                            <a:srgbClr val="FFFFFF"/>
                          </a:solidFill>
                          <a:latin typeface="Calibri"/>
                        </a:rPr>
                        <a:t>Item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About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9768">
                <a:tc>
                  <a:txBody>
                    <a:bodyPr wrap="square"/>
                    <a:lstStyle/>
                    <a:p>
                      <a:r>
                        <a:rPr sz="1200" b="1" i="0">
                          <a:solidFill>
                            <a:srgbClr val="1C2433"/>
                          </a:solidFill>
                          <a:latin typeface="Calibri"/>
                        </a:rPr>
                        <a:t>S3 storage, 200 TB tiered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10 TB Standard (USD 23/TB), 46 TB Standard-IA (12.5), 144 TB Glacier IR (4)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1,400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S3 storage if all were Standard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200 TB × 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4,600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S3 requests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250 reads a second, two GETs each, USD 0.40 per million; loads and lists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500–700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Retrievals from IA and Glacier IR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month-ends, audits,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tens to a few hundred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Versioning overhead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14 days of replaced and vacuumed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few % of storage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Server nodes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 tasks of 6 vCPU, 16 GB on Fargate, always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650–750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Loader, maintenance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an hour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50–150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 TB Standard, Elastic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300 +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CloudWatch, Secrets Manager, Cloud Map, endpoints, load balancer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200–400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852160"/>
            <a:ext cx="11365992" cy="5029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870448"/>
            <a:ext cx="82296" cy="4663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925312"/>
            <a:ext cx="11000232" cy="35661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For comparison: the same 200 TB on EFS: USD 60,000 a month in Standard; about USD 3,200 in IA plus USD 0.03 per GB read.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18</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Runbooks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daily load, a backfill, a restatement, a slow table, a restated risk date, and disaster recovery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18.1 The daily load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92</a:t>
            </a:r>
          </a:p>
        </p:txBody>
      </p:sp>
      <p:graphicFrame>
        <p:nvGraphicFramePr>
          <p:cNvPr id="9" name="Table"/>
          <p:cNvGraphicFramePr>
            <a:graphicFrameLocks noGrp="1"/>
          </p:cNvGraphicFramePr>
          <p:nvPr/>
        </p:nvGraphicFramePr>
        <p:xfrm>
          <a:off x="411480" y="1188720"/>
          <a:ext cx="11365992" cy="3950208"/>
        </p:xfrm>
        <a:graphic>
          <a:graphicData uri="http://schemas.openxmlformats.org/drawingml/2006/table">
            <a:tbl>
              <a:tblPr firstRow="0" bandRow="0">
                <a:tableStyleId>{5940675A-B579-460E-94D1-54222C63F5DA}</a:tableStyleId>
              </a:tblPr>
              <a:tblGrid>
                <a:gridCol w="2194560"/>
                <a:gridCol w="9171432"/>
              </a:tblGrid>
              <a:tr h="658368">
                <a:tc>
                  <a:txBody>
                    <a:bodyPr wrap="square"/>
                    <a:lstStyle/>
                    <a:p>
                      <a:r>
                        <a:rPr sz="1300" b="1" i="0">
                          <a:solidFill>
                            <a:srgbClr val="FFFFFF"/>
                          </a:solidFill>
                          <a:latin typeface="Calibri"/>
                        </a:rPr>
                        <a:t>Check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How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300" b="1" i="0">
                          <a:solidFill>
                            <a:srgbClr val="1C2433"/>
                          </a:solidFill>
                          <a:latin typeface="Calibri"/>
                        </a:rPr>
                        <a:t>It ran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CloudWatch Logs </a:t>
                      </a:r>
                      <a:r>
                        <a:rPr sz="1200" b="0" i="0">
                          <a:solidFill>
                            <a:srgbClr val="0E7C86"/>
                          </a:solidFill>
                          <a:latin typeface="Consolas"/>
                        </a:rPr>
                        <a:t>/drishti/&lt;env&gt;</a:t>
                      </a:r>
                      <a:r>
                        <a:rPr sz="1300" b="0" i="0">
                          <a:solidFill>
                            <a:srgbClr val="1C2433"/>
                          </a:solidFill>
                          <a:latin typeface="Calibri"/>
                        </a:rPr>
                        <a:t>, stream prefix loader; </a:t>
                      </a:r>
                      <a:r>
                        <a:rPr sz="1200" b="0" i="0">
                          <a:solidFill>
                            <a:srgbClr val="0E7C86"/>
                          </a:solidFill>
                          <a:latin typeface="Consolas"/>
                        </a:rPr>
                        <a:t>LoadSucceeded</a:t>
                      </a:r>
                      <a:r>
                        <a:rPr sz="1300" b="0" i="0">
                          <a:solidFill>
                            <a:srgbClr val="1C2433"/>
                          </a:solidFill>
                          <a:latin typeface="Calibri"/>
                        </a:rPr>
                        <a:t> 1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300" b="1" i="0">
                          <a:solidFill>
                            <a:srgbClr val="1C2433"/>
                          </a:solidFill>
                          <a:latin typeface="Calibri"/>
                        </a:rPr>
                        <a:t>It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onsolas"/>
                        </a:rPr>
                        <a:t>report.sh --tables &lt;table&gt;</a:t>
                      </a:r>
                      <a:r>
                        <a:rPr sz="1300" b="0" i="0">
                          <a:solidFill>
                            <a:srgbClr val="1C2433"/>
                          </a:solidFill>
                          <a:latin typeface="Calibri"/>
                        </a:rPr>
                        <a:t>: newest is today; in the console, </a:t>
                      </a:r>
                      <a:r>
                        <a:rPr sz="1200" b="0" i="0">
                          <a:solidFill>
                            <a:srgbClr val="0E7C86"/>
                          </a:solidFill>
                          <a:latin typeface="Consolas"/>
                        </a:rPr>
                        <a:t>TRD &lt;id&gt;</a:t>
                      </a:r>
                      <a:r>
                        <a:rPr sz="1300" b="0" i="0">
                          <a:solidFill>
                            <a:srgbClr val="1C2433"/>
                          </a:solidFill>
                          <a:latin typeface="Calibri"/>
                        </a:rPr>
                        <a:t> on today's date; </a:t>
                      </a:r>
                      <a:r>
                        <a:rPr sz="1200" b="0" i="0">
                          <a:solidFill>
                            <a:srgbClr val="0E7C86"/>
                          </a:solidFill>
                          <a:latin typeface="Consolas"/>
                        </a:rPr>
                        <a:t>DATAMAP</a:t>
                      </a:r>
                      <a:r>
                        <a:rPr sz="1300" b="0" i="0">
                          <a:solidFill>
                            <a:srgbClr val="1C2433"/>
                          </a:solidFill>
                          <a:latin typeface="Calibri"/>
                        </a:rPr>
                        <a:t> counts the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300" b="1" i="0">
                          <a:solidFill>
                            <a:srgbClr val="1C2433"/>
                          </a:solidFill>
                          <a:latin typeface="Calibri"/>
                        </a:rPr>
                        <a:t>Exit 2 (rejects)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the build summary names the reasons; fix the source and restate the day (18.2)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300" b="1" i="0">
                          <a:solidFill>
                            <a:srgbClr val="1C2433"/>
                          </a:solidFill>
                          <a:latin typeface="Calibri"/>
                        </a:rPr>
                        <a:t>Exit 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onsolas"/>
                        </a:rPr>
                        <a:t>lake build failed</a:t>
                      </a:r>
                      <a:r>
                        <a:rPr sz="1300" b="0" i="0">
                          <a:solidFill>
                            <a:srgbClr val="1C2433"/>
                          </a:solidFill>
                          <a:latin typeface="Calibri"/>
                        </a:rPr>
                        <a:t> or </a:t>
                      </a:r>
                      <a:r>
                        <a:rPr sz="1200" b="0" i="0">
                          <a:solidFill>
                            <a:srgbClr val="0E7C86"/>
                          </a:solidFill>
                          <a:latin typeface="Consolas"/>
                        </a:rPr>
                        <a:t>lake publish failed</a:t>
                      </a:r>
                      <a:r>
                        <a:rPr sz="1300" b="0" i="0">
                          <a:solidFill>
                            <a:srgbClr val="1C2433"/>
                          </a:solidFill>
                          <a:latin typeface="Calibri"/>
                        </a:rPr>
                        <a:t> says why; the S3 table is unchanged; fix, then </a:t>
                      </a:r>
                      <a:r>
                        <a:rPr sz="1200" b="0" i="0">
                          <a:solidFill>
                            <a:srgbClr val="0E7C86"/>
                          </a:solidFill>
                          <a:latin typeface="Consolas"/>
                        </a:rPr>
                        <a:t>load-day.sh --date &lt;d&gt; --tables &lt;t&gt;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300" b="1" i="0">
                          <a:solidFill>
                            <a:srgbClr val="1C2433"/>
                          </a:solidFill>
                          <a:latin typeface="Calibri"/>
                        </a:rPr>
                        <a:t>Exit 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maintenance or a backfill held the table's lock; the next run loads it, or run it by hand after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18.2 A backfill and a restatement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93</a:t>
            </a:r>
          </a:p>
        </p:txBody>
      </p:sp>
      <p:sp>
        <p:nvSpPr>
          <p:cNvPr id="9" name="Callout"/>
          <p:cNvSpPr/>
          <p:nvPr/>
        </p:nvSpPr>
        <p:spPr>
          <a:xfrm>
            <a:off x="411480" y="1188720"/>
            <a:ext cx="5532120" cy="32918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allout edge"/>
          <p:cNvSpPr/>
          <p:nvPr/>
        </p:nvSpPr>
        <p:spPr>
          <a:xfrm>
            <a:off x="411480" y="1207008"/>
            <a:ext cx="82296" cy="32552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5166359" cy="3145536"/>
          </a:xfrm>
          <a:prstGeom prst="rect">
            <a:avLst/>
          </a:prstGeom>
          <a:noFill/>
        </p:spPr>
        <p:txBody>
          <a:bodyPr wrap="square" lIns="0" rIns="0" tIns="0" bIns="0" anchor="t">
            <a:spAutoFit/>
          </a:bodyPr>
          <a:lstStyle/>
          <a:p>
            <a:pPr algn="l">
              <a:spcAft>
                <a:spcPts val="600"/>
              </a:spcAft>
              <a:buNone/>
            </a:pPr>
            <a:r>
              <a:rPr sz="1500" b="1" i="0">
                <a:solidFill>
                  <a:srgbClr val="1C2433"/>
                </a:solidFill>
                <a:latin typeface="Calibri"/>
              </a:rPr>
              <a:t>A backfill</a:t>
            </a:r>
          </a:p>
          <a:p>
            <a:pPr algn="l">
              <a:spcAft>
                <a:spcPts val="600"/>
              </a:spcAft>
              <a:buNone/>
            </a:pPr>
            <a:r>
              <a:rPr sz="1400" b="0" i="0">
                <a:solidFill>
                  <a:srgbClr val="1C2433"/>
                </a:solidFill>
                <a:latin typeface="Calibri"/>
              </a:rPr>
              <a:t>1. </a:t>
            </a:r>
            <a:r>
              <a:rPr sz="1300" b="0" i="0">
                <a:solidFill>
                  <a:srgbClr val="0E7C86"/>
                </a:solidFill>
                <a:latin typeface="Consolas"/>
              </a:rPr>
              <a:t>backfill.sh --dry-run --from … --to … --tables &lt;t&gt;</a:t>
            </a:r>
            <a:r>
              <a:rPr sz="1400" b="0" i="0">
                <a:solidFill>
                  <a:srgbClr val="1C2433"/>
                </a:solidFill>
                <a:latin typeface="Calibri"/>
              </a:rPr>
              <a:t>: check the dates and commands</a:t>
            </a:r>
          </a:p>
          <a:p>
            <a:pPr algn="l">
              <a:spcAft>
                <a:spcPts val="600"/>
              </a:spcAft>
              <a:buNone/>
            </a:pPr>
            <a:r>
              <a:rPr sz="1400" b="0" i="0">
                <a:solidFill>
                  <a:srgbClr val="1C2433"/>
                </a:solidFill>
                <a:latin typeface="Calibri"/>
              </a:rPr>
              <a:t>2. Run it as a loader task per table (</a:t>
            </a:r>
            <a:r>
              <a:rPr sz="1300" b="0" i="0">
                <a:solidFill>
                  <a:srgbClr val="0E7C86"/>
                </a:solidFill>
                <a:latin typeface="Consolas"/>
              </a:rPr>
              <a:t>aws ecs run-task … --overrides</a:t>
            </a:r>
            <a:r>
              <a:rPr sz="1400" b="0" i="0">
                <a:solidFill>
                  <a:srgbClr val="1C2433"/>
                </a:solidFill>
                <a:latin typeface="Calibri"/>
              </a:rPr>
              <a:t> with </a:t>
            </a:r>
            <a:r>
              <a:rPr sz="1300" b="0" i="0">
                <a:solidFill>
                  <a:srgbClr val="0E7C86"/>
                </a:solidFill>
                <a:latin typeface="Consolas"/>
              </a:rPr>
              <a:t>backfill.sh …</a:t>
            </a:r>
            <a:r>
              <a:rPr sz="1400" b="0" i="0">
                <a:solidFill>
                  <a:srgbClr val="1C2433"/>
                </a:solidFill>
                <a:latin typeface="Calibri"/>
              </a:rPr>
              <a:t>)</a:t>
            </a:r>
          </a:p>
          <a:p>
            <a:pPr algn="l">
              <a:spcAft>
                <a:spcPts val="600"/>
              </a:spcAft>
              <a:buNone/>
            </a:pPr>
            <a:r>
              <a:rPr sz="1400" b="0" i="0">
                <a:solidFill>
                  <a:srgbClr val="1C2433"/>
                </a:solidFill>
                <a:latin typeface="Calibri"/>
              </a:rPr>
              <a:t>3. It stops at a failing date with the resume command; fix and resume</a:t>
            </a:r>
          </a:p>
          <a:p>
            <a:pPr algn="l">
              <a:spcAft>
                <a:spcPts val="600"/>
              </a:spcAft>
              <a:buNone/>
            </a:pPr>
            <a:r>
              <a:rPr sz="1400" b="0" i="0">
                <a:solidFill>
                  <a:srgbClr val="1C2433"/>
                </a:solidFill>
                <a:latin typeface="Calibri"/>
              </a:rPr>
              <a:t>4. </a:t>
            </a:r>
            <a:r>
              <a:rPr sz="1300" b="0" i="0">
                <a:solidFill>
                  <a:srgbClr val="0E7C86"/>
                </a:solidFill>
                <a:latin typeface="Consolas"/>
              </a:rPr>
              <a:t>setup-lifecycle.sh</a:t>
            </a:r>
            <a:r>
              <a:rPr sz="1400" b="0" i="0">
                <a:solidFill>
                  <a:srgbClr val="1C2433"/>
                </a:solidFill>
                <a:latin typeface="Calibri"/>
              </a:rPr>
              <a:t> (or the next maintain.sh) moves the backfilled years to their tiers</a:t>
            </a:r>
          </a:p>
        </p:txBody>
      </p:sp>
      <p:sp>
        <p:nvSpPr>
          <p:cNvPr id="12" name="Callout"/>
          <p:cNvSpPr/>
          <p:nvPr/>
        </p:nvSpPr>
        <p:spPr>
          <a:xfrm>
            <a:off x="6245352" y="1188720"/>
            <a:ext cx="5532120" cy="32918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6245352" y="1207008"/>
            <a:ext cx="82296" cy="32552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73952" y="1261872"/>
            <a:ext cx="5166359" cy="3145536"/>
          </a:xfrm>
          <a:prstGeom prst="rect">
            <a:avLst/>
          </a:prstGeom>
          <a:noFill/>
        </p:spPr>
        <p:txBody>
          <a:bodyPr wrap="square" lIns="0" rIns="0" tIns="0" bIns="0" anchor="t">
            <a:spAutoFit/>
          </a:bodyPr>
          <a:lstStyle/>
          <a:p>
            <a:pPr algn="l">
              <a:spcAft>
                <a:spcPts val="600"/>
              </a:spcAft>
              <a:buNone/>
            </a:pPr>
            <a:r>
              <a:rPr sz="1500" b="1" i="0">
                <a:solidFill>
                  <a:srgbClr val="1C2433"/>
                </a:solidFill>
                <a:latin typeface="Calibri"/>
              </a:rPr>
              <a:t>A restatement</a:t>
            </a:r>
          </a:p>
          <a:p>
            <a:pPr algn="l">
              <a:spcAft>
                <a:spcPts val="600"/>
              </a:spcAft>
              <a:buNone/>
            </a:pPr>
            <a:r>
              <a:rPr sz="1400" b="0" i="0">
                <a:solidFill>
                  <a:srgbClr val="1C2433"/>
                </a:solidFill>
                <a:latin typeface="Calibri"/>
              </a:rPr>
              <a:t>1. The source re-sends the JSON Lines dumps under the landing prefix of the day</a:t>
            </a:r>
          </a:p>
          <a:p>
            <a:pPr algn="l">
              <a:spcAft>
                <a:spcPts val="600"/>
              </a:spcAft>
              <a:buNone/>
            </a:pPr>
            <a:r>
              <a:rPr sz="1400" b="0" i="0">
                <a:solidFill>
                  <a:srgbClr val="1C2433"/>
                </a:solidFill>
                <a:latin typeface="Calibri"/>
              </a:rPr>
              <a:t>2. </a:t>
            </a:r>
            <a:r>
              <a:rPr sz="1300" b="0" i="0">
                <a:solidFill>
                  <a:srgbClr val="0E7C86"/>
                </a:solidFill>
                <a:latin typeface="Consolas"/>
              </a:rPr>
              <a:t>backfill.sh --dates &lt;d&gt;</a:t>
            </a:r>
            <a:r>
              <a:rPr sz="1400" b="0" i="0">
                <a:solidFill>
                  <a:srgbClr val="1C2433"/>
                </a:solidFill>
                <a:latin typeface="Calibri"/>
              </a:rPr>
              <a:t> (whole day) or </a:t>
            </a:r>
            <a:r>
              <a:rPr sz="1300" b="0" i="0">
                <a:solidFill>
                  <a:srgbClr val="0E7C86"/>
                </a:solidFill>
                <a:latin typeface="Consolas"/>
              </a:rPr>
              <a:t>load-day.sh --date &lt;d&gt; --tables &lt;t&gt; --mode overwrite-partitions</a:t>
            </a:r>
          </a:p>
          <a:p>
            <a:pPr algn="l">
              <a:spcAft>
                <a:spcPts val="600"/>
              </a:spcAft>
              <a:buNone/>
            </a:pPr>
            <a:r>
              <a:rPr sz="1400" b="0" i="0">
                <a:solidFill>
                  <a:srgbClr val="1C2433"/>
                </a:solidFill>
                <a:latin typeface="Calibri"/>
              </a:rPr>
              <a:t>3. Readers switch at the commit; the data-load signal (if set) refreshes the servers at once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18.3 A slow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94</a:t>
            </a:r>
          </a:p>
        </p:txBody>
      </p:sp>
      <p:graphicFrame>
        <p:nvGraphicFramePr>
          <p:cNvPr id="9" name="Table"/>
          <p:cNvGraphicFramePr>
            <a:graphicFrameLocks noGrp="1"/>
          </p:cNvGraphicFramePr>
          <p:nvPr/>
        </p:nvGraphicFramePr>
        <p:xfrm>
          <a:off x="411480" y="1188720"/>
          <a:ext cx="11365992" cy="4608576"/>
        </p:xfrm>
        <a:graphic>
          <a:graphicData uri="http://schemas.openxmlformats.org/drawingml/2006/table">
            <a:tbl>
              <a:tblPr firstRow="0" bandRow="0">
                <a:tableStyleId>{5940675A-B579-460E-94D1-54222C63F5DA}</a:tableStyleId>
              </a:tblPr>
              <a:tblGrid>
                <a:gridCol w="2651760"/>
                <a:gridCol w="3291840"/>
                <a:gridCol w="5422392"/>
              </a:tblGrid>
              <a:tr h="658368">
                <a:tc>
                  <a:txBody>
                    <a:bodyPr wrap="square"/>
                    <a:lstStyle/>
                    <a:p>
                      <a:r>
                        <a:rPr sz="1200" b="1" i="0">
                          <a:solidFill>
                            <a:srgbClr val="FFFFFF"/>
                          </a:solidFill>
                          <a:latin typeface="Calibri"/>
                        </a:rPr>
                        <a:t>Symptom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Cause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200" b="1" i="0">
                          <a:solidFill>
                            <a:srgbClr val="1C2433"/>
                          </a:solidFill>
                          <a:latin typeface="Calibri"/>
                        </a:rPr>
                        <a:t>first read of a day slow, then fast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id map not yet on disk; footers cold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normal; </a:t>
                      </a:r>
                      <a:r>
                        <a:rPr sz="1100" b="0" i="0">
                          <a:solidFill>
                            <a:srgbClr val="0E7C86"/>
                          </a:solidFill>
                          <a:latin typeface="Consolas"/>
                        </a:rPr>
                        <a:t>warm-dates</a:t>
                      </a:r>
                      <a:r>
                        <a:rPr sz="1200" b="0" i="0">
                          <a:solidFill>
                            <a:srgbClr val="1C2433"/>
                          </a:solidFill>
                          <a:latin typeface="Calibri"/>
                        </a:rPr>
                        <a:t> (3) warms the newest days at start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every read of a day slow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 is not sorted by id, or row groups are large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restate the day after fixing the order (7.2)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searches slow or partial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field the search uses is not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promote it; publish then refuses the next day: backfill into </a:t>
                      </a:r>
                      <a:r>
                        <a:rPr sz="1100" b="0" i="0">
                          <a:solidFill>
                            <a:srgbClr val="0E7C86"/>
                          </a:solidFill>
                          <a:latin typeface="Consolas"/>
                        </a:rPr>
                        <a:t>trade_endur_v2</a:t>
                      </a:r>
                      <a:r>
                        <a:rPr sz="1200" b="0" i="0">
                          <a:solidFill>
                            <a:srgbClr val="1C2433"/>
                          </a:solidFill>
                          <a:latin typeface="Calibri"/>
                        </a:rPr>
                        <a:t> and switch </a:t>
                      </a:r>
                      <a:r>
                        <a:rPr sz="1100" b="0" i="0">
                          <a:solidFill>
                            <a:srgbClr val="0E7C86"/>
                          </a:solidFill>
                          <a:latin typeface="Consolas"/>
                        </a:rPr>
                        <a:t>table.trade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the snapshot refresh slow (Health)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many live files or a long log (intraday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report.sh: behind and file counts; run maintain.sh; split the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503 Slow Down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prefix overloaded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 by </a:t>
                      </a:r>
                      <a:r>
                        <a:rPr sz="1100" b="0" i="0">
                          <a:solidFill>
                            <a:srgbClr val="0E7C86"/>
                          </a:solidFill>
                          <a:latin typeface="Consolas"/>
                        </a:rPr>
                        <a:t>PRODUCT_TYPE</a:t>
                      </a:r>
                      <a:r>
                        <a:rPr sz="1200" b="0" i="0">
                          <a:solidFill>
                            <a:srgbClr val="1C2433"/>
                          </a:solidFill>
                          <a:latin typeface="Calibri"/>
                        </a:rPr>
                        <a:t> (or finer); S3 scales a prefix within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searches read documents on one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deletion vectors in its files (written by Spark)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compaction rewrites the files without them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18.4 A restated risk date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95</a:t>
            </a:r>
          </a:p>
        </p:txBody>
      </p:sp>
      <p:sp>
        <p:nvSpPr>
          <p:cNvPr id="9" name="Oval 8"/>
          <p:cNvSpPr/>
          <p:nvPr/>
        </p:nvSpPr>
        <p:spPr>
          <a:xfrm>
            <a:off x="411480" y="1234440"/>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1</a:t>
            </a:r>
          </a:p>
        </p:txBody>
      </p:sp>
      <p:sp>
        <p:nvSpPr>
          <p:cNvPr id="10" name="TextBox 9"/>
          <p:cNvSpPr txBox="1"/>
          <p:nvPr/>
        </p:nvSpPr>
        <p:spPr>
          <a:xfrm>
            <a:off x="1051560" y="1188720"/>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risk batch rewrites the whole date (a new </a:t>
            </a:r>
            <a:r>
              <a:rPr sz="1200" b="0" i="0">
                <a:solidFill>
                  <a:srgbClr val="0E7C86"/>
                </a:solidFill>
                <a:latin typeface="Consolas"/>
              </a:rPr>
              <a:t>BATCH_ID</a:t>
            </a:r>
            <a:r>
              <a:rPr sz="1300" b="0" i="0">
                <a:solidFill>
                  <a:srgbClr val="1C2433"/>
                </a:solidFill>
                <a:latin typeface="Calibri"/>
              </a:rPr>
              <a:t>, </a:t>
            </a:r>
            <a:r>
              <a:rPr sz="1200" b="0" i="0">
                <a:solidFill>
                  <a:srgbClr val="0E7C86"/>
                </a:solidFill>
                <a:latin typeface="Consolas"/>
              </a:rPr>
              <a:t>RESTATEMENT</a:t>
            </a:r>
            <a:r>
              <a:rPr sz="1300" b="0" i="0">
                <a:solidFill>
                  <a:srgbClr val="1C2433"/>
                </a:solidFill>
                <a:latin typeface="Calibri"/>
              </a:rPr>
              <a:t> + 1) as JSON Lines</a:t>
            </a:r>
          </a:p>
        </p:txBody>
      </p:sp>
      <p:sp>
        <p:nvSpPr>
          <p:cNvPr id="11" name="Oval 10"/>
          <p:cNvSpPr/>
          <p:nvPr/>
        </p:nvSpPr>
        <p:spPr>
          <a:xfrm>
            <a:off x="411480" y="1984248"/>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2</a:t>
            </a:r>
          </a:p>
        </p:txBody>
      </p:sp>
      <p:sp>
        <p:nvSpPr>
          <p:cNvPr id="12" name="TextBox 11"/>
          <p:cNvSpPr txBox="1"/>
          <p:nvPr/>
        </p:nvSpPr>
        <p:spPr>
          <a:xfrm>
            <a:off x="1051560" y="1938528"/>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Load it like any table: </a:t>
            </a:r>
            <a:r>
              <a:rPr sz="1200" b="0" i="0">
                <a:solidFill>
                  <a:srgbClr val="0E7C86"/>
                </a:solidFill>
                <a:latin typeface="Consolas"/>
              </a:rPr>
              <a:t>load-day.sh --date &lt;d&gt; --tables risk/pnl-vector</a:t>
            </a:r>
            <a:r>
              <a:rPr sz="1300" b="0" i="0">
                <a:solidFill>
                  <a:srgbClr val="1C2433"/>
                </a:solidFill>
                <a:latin typeface="Calibri"/>
              </a:rPr>
              <a:t> (overwrite-dates)</a:t>
            </a:r>
          </a:p>
        </p:txBody>
      </p:sp>
      <p:sp>
        <p:nvSpPr>
          <p:cNvPr id="13" name="Oval 12"/>
          <p:cNvSpPr/>
          <p:nvPr/>
        </p:nvSpPr>
        <p:spPr>
          <a:xfrm>
            <a:off x="411480" y="27340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3</a:t>
            </a:r>
          </a:p>
        </p:txBody>
      </p:sp>
      <p:sp>
        <p:nvSpPr>
          <p:cNvPr id="14" name="TextBox 13"/>
          <p:cNvSpPr txBox="1"/>
          <p:nvPr/>
        </p:nvSpPr>
        <p:spPr>
          <a:xfrm>
            <a:off x="1051560" y="2688336"/>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data-load signal reloads the date: a new hot file (new inputs' digest); the intraday layer is dropped</a:t>
            </a:r>
          </a:p>
        </p:txBody>
      </p:sp>
      <p:sp>
        <p:nvSpPr>
          <p:cNvPr id="15" name="Oval 14"/>
          <p:cNvSpPr/>
          <p:nvPr/>
        </p:nvSpPr>
        <p:spPr>
          <a:xfrm>
            <a:off x="411480" y="3483863"/>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4</a:t>
            </a:r>
          </a:p>
        </p:txBody>
      </p:sp>
      <p:sp>
        <p:nvSpPr>
          <p:cNvPr id="16" name="TextBox 15"/>
          <p:cNvSpPr txBox="1"/>
          <p:nvPr/>
        </p:nvSpPr>
        <p:spPr>
          <a:xfrm>
            <a:off x="1051560" y="3438144"/>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official capture runs again: the next </a:t>
            </a:r>
            <a:r>
              <a:rPr sz="1200" b="0" i="0">
                <a:solidFill>
                  <a:srgbClr val="0E7C86"/>
                </a:solidFill>
                <a:latin typeface="Consolas"/>
              </a:rPr>
              <a:t>RESULT_VERSION</a:t>
            </a:r>
            <a:r>
              <a:rPr sz="1300" b="0" i="0">
                <a:solidFill>
                  <a:srgbClr val="1C2433"/>
                </a:solidFill>
                <a:latin typeface="Calibri"/>
              </a:rPr>
              <a:t>, appended; the earlier version is kept</a:t>
            </a:r>
          </a:p>
        </p:txBody>
      </p:sp>
      <p:sp>
        <p:nvSpPr>
          <p:cNvPr id="17" name="Oval 16"/>
          <p:cNvSpPr/>
          <p:nvPr/>
        </p:nvSpPr>
        <p:spPr>
          <a:xfrm>
            <a:off x="411480" y="4233672"/>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5</a:t>
            </a:r>
          </a:p>
        </p:txBody>
      </p:sp>
      <p:sp>
        <p:nvSpPr>
          <p:cNvPr id="18" name="TextBox 17"/>
          <p:cNvSpPr txBox="1"/>
          <p:nvPr/>
        </p:nvSpPr>
        <p:spPr>
          <a:xfrm>
            <a:off x="1051560" y="4187952"/>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Check: </a:t>
            </a:r>
            <a:r>
              <a:rPr sz="1200" b="0" i="0">
                <a:solidFill>
                  <a:srgbClr val="0E7C86"/>
                </a:solidFill>
                <a:latin typeface="Consolas"/>
              </a:rPr>
              <a:t>drishti.py var official</a:t>
            </a:r>
            <a:r>
              <a:rPr sz="1300" b="0" i="0">
                <a:solidFill>
                  <a:srgbClr val="1C2433"/>
                </a:solidFill>
                <a:latin typeface="Calibri"/>
              </a:rPr>
              <a:t> lists both versions; BI shows the latest; </a:t>
            </a:r>
            <a:r>
              <a:rPr sz="1200" b="0" i="0">
                <a:solidFill>
                  <a:srgbClr val="0E7C86"/>
                </a:solidFill>
                <a:latin typeface="Consolas"/>
              </a:rPr>
              <a:t>publishError</a:t>
            </a:r>
            <a:r>
              <a:rPr sz="1300" b="0" i="0">
                <a:solidFill>
                  <a:srgbClr val="1C2433"/>
                </a:solidFill>
                <a:latin typeface="Calibri"/>
              </a:rPr>
              <a:t> empty</a:t>
            </a:r>
          </a:p>
        </p:txBody>
      </p:sp>
      <p:sp>
        <p:nvSpPr>
          <p:cNvPr id="19" name="Callout"/>
          <p:cNvSpPr/>
          <p:nvPr/>
        </p:nvSpPr>
        <p:spPr>
          <a:xfrm>
            <a:off x="7635240" y="1188720"/>
            <a:ext cx="4142232" cy="228600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Callout edge"/>
          <p:cNvSpPr/>
          <p:nvPr/>
        </p:nvSpPr>
        <p:spPr>
          <a:xfrm>
            <a:off x="7635240" y="1207008"/>
            <a:ext cx="82296" cy="224942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7863840" y="1261872"/>
            <a:ext cx="3776472" cy="21396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If the date did not load</a:t>
            </a:r>
          </a:p>
          <a:p>
            <a:pPr algn="l">
              <a:spcAft>
                <a:spcPts val="600"/>
              </a:spcAft>
              <a:buNone/>
            </a:pPr>
            <a:r>
              <a:rPr sz="1200" b="0" i="0">
                <a:solidFill>
                  <a:srgbClr val="0E7C86"/>
                </a:solidFill>
                <a:latin typeface="Consolas"/>
              </a:rPr>
              <a:t>DRS-5203</a:t>
            </a:r>
            <a:r>
              <a:rPr sz="1300" b="0" i="0">
                <a:solidFill>
                  <a:srgbClr val="1C2433"/>
                </a:solidFill>
                <a:latin typeface="Calibri"/>
              </a:rPr>
              <a:t> (two runs or scenario sets on one date): the engine answers the date before, with a warning. Fix the batch, rewrite the date whole.</a:t>
            </a:r>
          </a:p>
        </p:txBody>
      </p:sp>
      <p:sp>
        <p:nvSpPr>
          <p:cNvPr id="22" name="Callout"/>
          <p:cNvSpPr/>
          <p:nvPr/>
        </p:nvSpPr>
        <p:spPr>
          <a:xfrm>
            <a:off x="7635240" y="3657600"/>
            <a:ext cx="4142232" cy="26517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llout edge"/>
          <p:cNvSpPr/>
          <p:nvPr/>
        </p:nvSpPr>
        <p:spPr>
          <a:xfrm>
            <a:off x="7635240" y="3675887"/>
            <a:ext cx="82296" cy="26151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7863840" y="3730752"/>
            <a:ext cx="3776472" cy="250545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Nothing is lost</a:t>
            </a:r>
          </a:p>
          <a:p>
            <a:pPr algn="l">
              <a:spcAft>
                <a:spcPts val="600"/>
              </a:spcAft>
              <a:buNone/>
            </a:pPr>
            <a:r>
              <a:rPr sz="1300" b="0" i="0">
                <a:solidFill>
                  <a:srgbClr val="1C2433"/>
                </a:solidFill>
                <a:latin typeface="Calibri"/>
              </a:rPr>
              <a:t>Time travel keeps the old inputs 7 years; the official table keeps every result version; a capture keeps its vector. "What did we report?" and "what is the corrected number?" both stay answerable.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18.5 Disaster recovery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96</a:t>
            </a:r>
          </a:p>
        </p:txBody>
      </p:sp>
      <p:graphicFrame>
        <p:nvGraphicFramePr>
          <p:cNvPr id="9" name="Table"/>
          <p:cNvGraphicFramePr>
            <a:graphicFrameLocks noGrp="1"/>
          </p:cNvGraphicFramePr>
          <p:nvPr/>
        </p:nvGraphicFramePr>
        <p:xfrm>
          <a:off x="411480" y="1188720"/>
          <a:ext cx="11365992" cy="4663440"/>
        </p:xfrm>
        <a:graphic>
          <a:graphicData uri="http://schemas.openxmlformats.org/drawingml/2006/table">
            <a:tbl>
              <a:tblPr firstRow="0" bandRow="0">
                <a:tableStyleId>{5940675A-B579-460E-94D1-54222C63F5DA}</a:tableStyleId>
              </a:tblPr>
              <a:tblGrid>
                <a:gridCol w="2743200"/>
                <a:gridCol w="8622792"/>
              </a:tblGrid>
              <a:tr h="777240">
                <a:tc>
                  <a:txBody>
                    <a:bodyPr wrap="square"/>
                    <a:lstStyle/>
                    <a:p>
                      <a:r>
                        <a:rPr sz="1200" b="1" i="0">
                          <a:solidFill>
                            <a:srgbClr val="FFFFFF"/>
                          </a:solidFill>
                          <a:latin typeface="Calibri"/>
                        </a:rPr>
                        <a:t>Event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How to recover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77240">
                <a:tc>
                  <a:txBody>
                    <a:bodyPr wrap="square"/>
                    <a:lstStyle/>
                    <a:p>
                      <a:r>
                        <a:rPr sz="1200" b="1" i="0">
                          <a:solidFill>
                            <a:srgbClr val="1C2433"/>
                          </a:solidFill>
                          <a:latin typeface="Calibri"/>
                        </a:rPr>
                        <a:t>A table damaged (a wrong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time travel: the previous version is readable until vacuum (7 years for risk); restate the days from the landing bucket (30 days) or from versions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77240">
                <a:tc>
                  <a:txBody>
                    <a:bodyPr wrap="square"/>
                    <a:lstStyle/>
                    <a:p>
                      <a:r>
                        <a:rPr sz="1200" b="1" i="0">
                          <a:solidFill>
                            <a:srgbClr val="1C2433"/>
                          </a:solidFill>
                          <a:latin typeface="Calibri"/>
                        </a:rPr>
                        <a:t>Files deleted by mistake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S3 versioning: restore the noncurrent versions within </a:t>
                      </a:r>
                      <a:r>
                        <a:rPr sz="1100" b="0" i="0">
                          <a:solidFill>
                            <a:srgbClr val="0E7C86"/>
                          </a:solidFill>
                          <a:latin typeface="Consolas"/>
                        </a:rPr>
                        <a:t>NONCURRENT_KEEP_DAYS</a:t>
                      </a:r>
                      <a:r>
                        <a:rPr sz="1200" b="0" i="0">
                          <a:solidFill>
                            <a:srgbClr val="1C2433"/>
                          </a:solidFill>
                          <a:latin typeface="Calibri"/>
                        </a:rPr>
                        <a:t> (list-object-versions, copy-object)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77240">
                <a:tc>
                  <a:txBody>
                    <a:bodyPr wrap="square"/>
                    <a:lstStyle/>
                    <a:p>
                      <a:r>
                        <a:rPr sz="1200" b="1" i="0">
                          <a:solidFill>
                            <a:srgbClr val="1C2433"/>
                          </a:solidFill>
                          <a:latin typeface="Calibri"/>
                        </a:rPr>
                        <a:t>A Region lost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Cross-Region Replication with RTC, EFS and ECR replication. A commit can arrive before a data file it names: that day fails (Health DEGRADED) until the file arrives. Fail over once the backlog is empty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77240">
                <a:tc>
                  <a:txBody>
                    <a:bodyPr wrap="square"/>
                    <a:lstStyle/>
                    <a:p>
                      <a:r>
                        <a:rPr sz="1200" b="1" i="0">
                          <a:solidFill>
                            <a:srgbClr val="1C2433"/>
                          </a:solidFill>
                          <a:latin typeface="Calibri"/>
                        </a:rPr>
                        <a:t>Node state lost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AWS Backup of EFS; caches and hot files rebuild from the lake by themselves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77240">
                <a:tc>
                  <a:txBody>
                    <a:bodyPr wrap="square"/>
                    <a:lstStyle/>
                    <a:p>
                      <a:r>
                        <a:rPr sz="1200" b="1" i="0">
                          <a:solidFill>
                            <a:srgbClr val="1C2433"/>
                          </a:solidFill>
                          <a:latin typeface="Calibri"/>
                        </a:rPr>
                        <a:t>Cluster state (content 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backend: the bucket's versioning and replication; filesystem on EFS: AWS Backup and EFS replication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19</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scripts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Every file under deploy/, the lake tools beside them, and the conventions every script follows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19. deploy/ and tools/lake/: the files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98</a:t>
            </a:r>
          </a:p>
        </p:txBody>
      </p:sp>
      <p:sp>
        <p:nvSpPr>
          <p:cNvPr id="9" name="Code block"/>
          <p:cNvSpPr/>
          <p:nvPr/>
        </p:nvSpPr>
        <p:spPr>
          <a:xfrm>
            <a:off x="411480" y="1188720"/>
            <a:ext cx="6675120" cy="27432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6455664" cy="26151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t>
            </a:r>
          </a:p>
          <a:p>
            <a:pPr>
              <a:spcAft>
                <a:spcPts val="0"/>
              </a:spcAft>
              <a:buNone/>
            </a:pPr>
            <a:r>
              <a:rPr sz="1100" b="0" i="0">
                <a:solidFill>
                  <a:srgbClr val="E6EDF3"/>
                </a:solidFill>
                <a:latin typeface="Consolas"/>
              </a:rPr>
              <a:t>├── docker/            compose, server and console Dockerfiles</a:t>
            </a:r>
          </a:p>
          <a:p>
            <a:pPr>
              <a:spcAft>
                <a:spcPts val="0"/>
              </a:spcAft>
              <a:buNone/>
            </a:pPr>
            <a:r>
              <a:rPr sz="1100" b="0" i="0">
                <a:solidFill>
                  <a:srgbClr val="E6EDF3"/>
                </a:solidFill>
                <a:latin typeface="Consolas"/>
              </a:rPr>
              <a:t>│   └── ecs/           server, console, loader images + entry points</a:t>
            </a:r>
          </a:p>
          <a:p>
            <a:pPr>
              <a:spcAft>
                <a:spcPts val="0"/>
              </a:spcAft>
              <a:buNone/>
            </a:pPr>
            <a:r>
              <a:rPr sz="1100" b="0" i="0">
                <a:solidFill>
                  <a:srgbClr val="E6EDF3"/>
                </a:solidFill>
                <a:latin typeface="Consolas"/>
              </a:rPr>
              <a:t>├── aws/</a:t>
            </a:r>
          </a:p>
          <a:p>
            <a:pPr>
              <a:spcAft>
                <a:spcPts val="0"/>
              </a:spcAft>
              <a:buNone/>
            </a:pPr>
            <a:r>
              <a:rPr sz="1100" b="0" i="0">
                <a:solidFill>
                  <a:srgbClr val="E6EDF3"/>
                </a:solidFill>
                <a:latin typeface="Consolas"/>
              </a:rPr>
              <a:t>│   ├── env.example    every setting; copy to deploy/aws/env</a:t>
            </a:r>
          </a:p>
          <a:p>
            <a:pPr>
              <a:spcAft>
                <a:spcPts val="0"/>
              </a:spcAft>
              <a:buNone/>
            </a:pPr>
            <a:r>
              <a:rPr sz="1100" b="0" i="0">
                <a:solidFill>
                  <a:srgbClr val="E6EDF3"/>
                </a:solidFill>
                <a:latin typeface="Consolas"/>
              </a:rPr>
              <a:t>│   ├── lib/common.sh  --help, --dry-run, --env, templates</a:t>
            </a:r>
          </a:p>
          <a:p>
            <a:pPr>
              <a:spcAft>
                <a:spcPts val="0"/>
              </a:spcAft>
              <a:buNone/>
            </a:pPr>
            <a:r>
              <a:rPr sz="1100" b="0" i="0">
                <a:solidFill>
                  <a:srgbClr val="E6EDF3"/>
                </a:solidFill>
                <a:latin typeface="Consolas"/>
              </a:rPr>
              <a:t>│   ├── delta-lake/    setup-buckets, setup-iam,</a:t>
            </a:r>
          </a:p>
          <a:p>
            <a:pPr>
              <a:spcAft>
                <a:spcPts val="0"/>
              </a:spcAft>
              <a:buNone/>
            </a:pPr>
            <a:r>
              <a:rPr sz="1100" b="0" i="0">
                <a:solidFill>
                  <a:srgbClr val="E6EDF3"/>
                </a:solidFill>
                <a:latin typeface="Consolas"/>
              </a:rPr>
              <a:t>│   │                  check-conditional-writes, setup-lifecycle,</a:t>
            </a:r>
          </a:p>
          <a:p>
            <a:pPr>
              <a:spcAft>
                <a:spcPts val="0"/>
              </a:spcAft>
              <a:buNone/>
            </a:pPr>
            <a:r>
              <a:rPr sz="1100" b="0" i="0">
                <a:solidFill>
                  <a:srgbClr val="E6EDF3"/>
                </a:solidFill>
                <a:latin typeface="Consolas"/>
              </a:rPr>
              <a:t>│   │                  setup-alarms, load-day, backfill, maintain,</a:t>
            </a:r>
          </a:p>
          <a:p>
            <a:pPr>
              <a:spcAft>
                <a:spcPts val="0"/>
              </a:spcAft>
              <a:buNone/>
            </a:pPr>
            <a:r>
              <a:rPr sz="1100" b="0" i="0">
                <a:solidFill>
                  <a:srgbClr val="E6EDF3"/>
                </a:solidFill>
                <a:latin typeface="Consolas"/>
              </a:rPr>
              <a:t>│   │                  report, lake-maintenance.s3.yaml, iam/</a:t>
            </a:r>
          </a:p>
          <a:p>
            <a:pPr>
              <a:spcAft>
                <a:spcPts val="0"/>
              </a:spcAft>
              <a:buNone/>
            </a:pPr>
            <a:r>
              <a:rPr sz="1100" b="0" i="0">
                <a:solidFill>
                  <a:srgbClr val="E6EDF3"/>
                </a:solidFill>
                <a:latin typeface="Consolas"/>
              </a:rPr>
              <a:t>│   └── ecs/           setup-efs, setup-cloud-map, register,</a:t>
            </a:r>
          </a:p>
          <a:p>
            <a:pPr>
              <a:spcAft>
                <a:spcPts val="0"/>
              </a:spcAft>
              <a:buNone/>
            </a:pPr>
            <a:r>
              <a:rPr sz="1100" b="0" i="0">
                <a:solidFill>
                  <a:srgbClr val="E6EDF3"/>
                </a:solidFill>
                <a:latin typeface="Consolas"/>
              </a:rPr>
              <a:t>│                      templates/*.json</a:t>
            </a:r>
          </a:p>
          <a:p>
            <a:pPr>
              <a:spcAft>
                <a:spcPts val="0"/>
              </a:spcAft>
              <a:buNone/>
            </a:pPr>
            <a:r>
              <a:rPr sz="1100" b="0" i="0">
                <a:solidFill>
                  <a:srgbClr val="E6EDF3"/>
                </a:solidFill>
                <a:latin typeface="Consolas"/>
              </a:rPr>
              <a:t>├── grafana/           the Grafana dashboard</a:t>
            </a:r>
          </a:p>
          <a:p>
            <a:pPr>
              <a:spcAft>
                <a:spcPts val="0"/>
              </a:spcAft>
              <a:buNone/>
            </a:pPr>
            <a:r>
              <a:rPr sz="1100" b="0" i="0">
                <a:solidFill>
                  <a:srgbClr val="E6EDF3"/>
                </a:solidFill>
                <a:latin typeface="Consolas"/>
              </a:rPr>
              <a:t>└── lake-maintenance.yaml   lake maintain's local example</a:t>
            </a:r>
          </a:p>
        </p:txBody>
      </p:sp>
      <p:sp>
        <p:nvSpPr>
          <p:cNvPr id="11" name="Code block"/>
          <p:cNvSpPr/>
          <p:nvPr/>
        </p:nvSpPr>
        <p:spPr>
          <a:xfrm>
            <a:off x="7315200" y="1188720"/>
            <a:ext cx="4462272" cy="21945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
          <p:cNvSpPr txBox="1"/>
          <p:nvPr/>
        </p:nvSpPr>
        <p:spPr>
          <a:xfrm>
            <a:off x="7424927" y="1252728"/>
            <a:ext cx="4242816" cy="206654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tools/lake/</a:t>
            </a:r>
          </a:p>
          <a:p>
            <a:pPr>
              <a:spcAft>
                <a:spcPts val="0"/>
              </a:spcAft>
              <a:buNone/>
            </a:pPr>
            <a:r>
              <a:rPr sz="1100" b="0" i="0">
                <a:solidFill>
                  <a:srgbClr val="E6EDF3"/>
                </a:solidFill>
                <a:latin typeface="Consolas"/>
              </a:rPr>
              <a:t>├── build.py  publish.py  maintain.py</a:t>
            </a:r>
          </a:p>
          <a:p>
            <a:pPr>
              <a:spcAft>
                <a:spcPts val="0"/>
              </a:spcAft>
              <a:buNone/>
            </a:pPr>
            <a:r>
              <a:rPr sz="1100" b="0" i="0">
                <a:solidFill>
                  <a:srgbClr val="E6EDF3"/>
                </a:solidFill>
                <a:latin typeface="Consolas"/>
              </a:rPr>
              <a:t>├── demo.py   stage.py  writers.py</a:t>
            </a:r>
          </a:p>
          <a:p>
            <a:pPr>
              <a:spcAft>
                <a:spcPts val="0"/>
              </a:spcAft>
              <a:buNone/>
            </a:pPr>
            <a:r>
              <a:rPr sz="1100" b="0" i="0">
                <a:solidFill>
                  <a:srgbClr val="E6EDF3"/>
                </a:solidFill>
                <a:latin typeface="Consolas"/>
              </a:rPr>
              <a:t>├── stores.py  stores_equality.py</a:t>
            </a:r>
          </a:p>
          <a:p>
            <a:pPr>
              <a:spcAft>
                <a:spcPts val="0"/>
              </a:spcAft>
              <a:buNone/>
            </a:pPr>
            <a:r>
              <a:rPr sz="1100" b="0" i="0">
                <a:solidFill>
                  <a:srgbClr val="E6EDF3"/>
                </a:solidFill>
                <a:latin typeface="Consolas"/>
              </a:rPr>
              <a:t>├── s3sim.py               (2.7.0)</a:t>
            </a:r>
          </a:p>
          <a:p>
            <a:pPr>
              <a:spcAft>
                <a:spcPts val="0"/>
              </a:spcAft>
              <a:buNone/>
            </a:pPr>
            <a:r>
              <a:rPr sz="1100" b="0" i="0">
                <a:solidFill>
                  <a:srgbClr val="E6EDF3"/>
                </a:solidFill>
                <a:latin typeface="Consolas"/>
              </a:rPr>
              <a:t>└── test_publish  test_maintain</a:t>
            </a:r>
          </a:p>
          <a:p>
            <a:pPr>
              <a:spcAft>
                <a:spcPts val="0"/>
              </a:spcAft>
              <a:buNone/>
            </a:pPr>
            <a:r>
              <a:rPr sz="1100" b="0" i="0">
                <a:solidFill>
                  <a:srgbClr val="E6EDF3"/>
                </a:solidFill>
                <a:latin typeface="Consolas"/>
              </a:rPr>
              <a:t>    test_s3_simulators  test_vectors</a:t>
            </a:r>
          </a:p>
          <a:p>
            <a:pPr>
              <a:spcAft>
                <a:spcPts val="0"/>
              </a:spcAft>
              <a:buNone/>
            </a:pPr>
            <a:r>
              <a:rPr sz="1100" b="0" i="0">
                <a:solidFill>
                  <a:srgbClr val="E6EDF3"/>
                </a:solidFill>
                <a:latin typeface="Consolas"/>
              </a:rPr>
              <a:t>    test_retention  test_names</a:t>
            </a:r>
          </a:p>
          <a:p>
            <a:pPr>
              <a:spcAft>
                <a:spcPts val="0"/>
              </a:spcAft>
              <a:buNone/>
            </a:pPr>
            <a:r>
              <a:rPr sz="1100" b="0" i="0">
                <a:solidFill>
                  <a:srgbClr val="E6EDF3"/>
                </a:solidFill>
                <a:latin typeface="Consolas"/>
              </a:rPr>
              <a:t>tools/samplegen/load_rows.py (2.9.4)</a:t>
            </a:r>
          </a:p>
          <a:p>
            <a:pPr>
              <a:spcAft>
                <a:spcPts val="0"/>
              </a:spcAft>
              <a:buNone/>
            </a:pPr>
            <a:r>
              <a:rPr sz="1100" b="0" i="0">
                <a:solidFill>
                  <a:srgbClr val="E6EDF3"/>
                </a:solidFill>
                <a:latin typeface="Consolas"/>
              </a:rPr>
              <a:t>tools/convertcmd.py   drishti.py convert</a:t>
            </a:r>
          </a:p>
        </p:txBody>
      </p:sp>
      <p:sp>
        <p:nvSpPr>
          <p:cNvPr id="13" name="Callout"/>
          <p:cNvSpPr/>
          <p:nvPr/>
        </p:nvSpPr>
        <p:spPr>
          <a:xfrm>
            <a:off x="7315200" y="3566160"/>
            <a:ext cx="4462272" cy="12801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7315200" y="3584448"/>
            <a:ext cx="82296" cy="12435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543800" y="3639312"/>
            <a:ext cx="4096511" cy="1133856"/>
          </a:xfrm>
          <a:prstGeom prst="rect">
            <a:avLst/>
          </a:prstGeom>
          <a:noFill/>
        </p:spPr>
        <p:txBody>
          <a:bodyPr wrap="square" lIns="0" rIns="0" tIns="0" bIns="0" anchor="ctr">
            <a:spAutoFit/>
          </a:bodyPr>
          <a:lstStyle/>
          <a:p>
            <a:pPr algn="l">
              <a:spcAft>
                <a:spcPts val="600"/>
              </a:spcAft>
              <a:buNone/>
            </a:pPr>
            <a:r>
              <a:rPr sz="1100" b="0" i="0">
                <a:solidFill>
                  <a:srgbClr val="0E7C86"/>
                </a:solidFill>
                <a:latin typeface="Consolas"/>
              </a:rPr>
              <a:t>drishti.py lake publish</a:t>
            </a:r>
            <a:r>
              <a:rPr sz="1200" b="0" i="0">
                <a:solidFill>
                  <a:srgbClr val="1C2433"/>
                </a:solidFill>
                <a:latin typeface="Calibri"/>
              </a:rPr>
              <a:t> (TOOLS.md §4.11) and the S3 tests (§4.12) run in the drill; </a:t>
            </a:r>
            <a:r>
              <a:rPr sz="1100" b="0" i="0">
                <a:solidFill>
                  <a:srgbClr val="0E7C86"/>
                </a:solidFill>
                <a:latin typeface="Consolas"/>
              </a:rPr>
              <a:t>tools/test_deploy_aws.py</a:t>
            </a:r>
            <a:r>
              <a:rPr sz="1200" b="0" i="0">
                <a:solidFill>
                  <a:srgbClr val="1C2433"/>
                </a:solidFill>
                <a:latin typeface="Calibri"/>
              </a:rPr>
              <a:t> runs every script with --help and --dry-run.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19. Conventions every script follows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99</a:t>
            </a:r>
          </a:p>
        </p:txBody>
      </p:sp>
      <p:sp>
        <p:nvSpPr>
          <p:cNvPr id="9" name="TextBox 8"/>
          <p:cNvSpPr txBox="1"/>
          <p:nvPr/>
        </p:nvSpPr>
        <p:spPr>
          <a:xfrm>
            <a:off x="411480" y="1188720"/>
            <a:ext cx="11365992" cy="51206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bash with </a:t>
            </a:r>
            <a:r>
              <a:rPr sz="1300" b="0" i="0">
                <a:solidFill>
                  <a:srgbClr val="0E7C86"/>
                </a:solidFill>
                <a:latin typeface="Consolas"/>
              </a:rPr>
              <a:t>set -euo pipefail</a:t>
            </a:r>
            <a:r>
              <a:rPr sz="1400" b="0" i="0">
                <a:solidFill>
                  <a:srgbClr val="1C2433"/>
                </a:solidFill>
                <a:latin typeface="Calibri"/>
              </a:rPr>
              <a:t> and the licence header</a:t>
            </a:r>
          </a:p>
          <a:p>
            <a:pPr algn="l" marL="201168" indent="-201168">
              <a:spcAft>
                <a:spcPts val="800"/>
              </a:spcAft>
              <a:buClr>
                <a:srgbClr val="E87A1E"/>
              </a:buClr>
              <a:buSzPct val="100000"/>
              <a:buFont typeface="Arial"/>
              <a:buChar char="•"/>
            </a:pPr>
            <a:r>
              <a:rPr sz="1400" b="0" i="0">
                <a:solidFill>
                  <a:srgbClr val="1C2433"/>
                </a:solidFill>
                <a:latin typeface="Calibri"/>
              </a:rPr>
              <a:t>AWS CLI v2 and nothing else; Python only through </a:t>
            </a:r>
            <a:r>
              <a:rPr sz="1300" b="0" i="0">
                <a:solidFill>
                  <a:srgbClr val="0E7C86"/>
                </a:solidFill>
                <a:latin typeface="Consolas"/>
              </a:rPr>
              <a:t>tools/drishti.py</a:t>
            </a:r>
          </a:p>
          <a:p>
            <a:pPr algn="l" marL="201168" indent="-201168">
              <a:spcAft>
                <a:spcPts val="800"/>
              </a:spcAft>
              <a:buClr>
                <a:srgbClr val="E87A1E"/>
              </a:buClr>
              <a:buSzPct val="100000"/>
              <a:buFont typeface="Arial"/>
              <a:buChar char="•"/>
            </a:pPr>
            <a:r>
              <a:rPr sz="1300" b="0" i="0">
                <a:solidFill>
                  <a:srgbClr val="0E7C86"/>
                </a:solidFill>
                <a:latin typeface="Consolas"/>
              </a:rPr>
              <a:t>--help</a:t>
            </a:r>
            <a:r>
              <a:rPr sz="1400" b="0" i="0">
                <a:solidFill>
                  <a:srgbClr val="1C2433"/>
                </a:solidFill>
                <a:latin typeface="Calibri"/>
              </a:rPr>
              <a:t> on every script; </a:t>
            </a:r>
            <a:r>
              <a:rPr sz="1300" b="0" i="0">
                <a:solidFill>
                  <a:srgbClr val="0E7C86"/>
                </a:solidFill>
                <a:latin typeface="Consolas"/>
              </a:rPr>
              <a:t>--dry-run</a:t>
            </a:r>
            <a:r>
              <a:rPr sz="1400" b="0" i="0">
                <a:solidFill>
                  <a:srgbClr val="1C2433"/>
                </a:solidFill>
                <a:latin typeface="Calibri"/>
              </a:rPr>
              <a:t>: each changing call printed as </a:t>
            </a:r>
            <a:r>
              <a:rPr sz="1300" b="0" i="0">
                <a:solidFill>
                  <a:srgbClr val="0E7C86"/>
                </a:solidFill>
                <a:latin typeface="Consolas"/>
              </a:rPr>
              <a:t>+ aws …</a:t>
            </a:r>
            <a:r>
              <a:rPr sz="1400" b="0" i="0">
                <a:solidFill>
                  <a:srgbClr val="1C2433"/>
                </a:solidFill>
                <a:latin typeface="Calibri"/>
              </a:rPr>
              <a:t>, each read as </a:t>
            </a:r>
            <a:r>
              <a:rPr sz="1300" b="0" i="0">
                <a:solidFill>
                  <a:srgbClr val="0E7C86"/>
                </a:solidFill>
                <a:latin typeface="Consolas"/>
              </a:rPr>
              <a:t>? aws …</a:t>
            </a:r>
            <a:r>
              <a:rPr sz="1400" b="0" i="0">
                <a:solidFill>
                  <a:srgbClr val="1C2433"/>
                </a:solidFill>
                <a:latin typeface="Calibri"/>
              </a:rPr>
              <a:t>, none made</a:t>
            </a:r>
          </a:p>
          <a:p>
            <a:pPr algn="l" marL="201168" indent="-201168">
              <a:spcAft>
                <a:spcPts val="800"/>
              </a:spcAft>
              <a:buClr>
                <a:srgbClr val="E87A1E"/>
              </a:buClr>
              <a:buSzPct val="100000"/>
              <a:buFont typeface="Arial"/>
              <a:buChar char="•"/>
            </a:pPr>
            <a:r>
              <a:rPr sz="1400" b="0" i="0">
                <a:solidFill>
                  <a:srgbClr val="1C2433"/>
                </a:solidFill>
                <a:latin typeface="Calibri"/>
              </a:rPr>
              <a:t>Settings from one file: </a:t>
            </a:r>
            <a:r>
              <a:rPr sz="1300" b="0" i="0">
                <a:solidFill>
                  <a:srgbClr val="0E7C86"/>
                </a:solidFill>
                <a:latin typeface="Consolas"/>
              </a:rPr>
              <a:t>deploy/aws/env</a:t>
            </a:r>
            <a:r>
              <a:rPr sz="1400" b="0" i="0">
                <a:solidFill>
                  <a:srgbClr val="1C2433"/>
                </a:solidFill>
                <a:latin typeface="Calibri"/>
              </a:rPr>
              <a:t> (from env.example; placeholders only; git-ignored), or </a:t>
            </a:r>
            <a:r>
              <a:rPr sz="1300" b="0" i="0">
                <a:solidFill>
                  <a:srgbClr val="0E7C86"/>
                </a:solidFill>
                <a:latin typeface="Consolas"/>
              </a:rPr>
              <a:t>--env &lt;file&gt;</a:t>
            </a:r>
          </a:p>
          <a:p>
            <a:pPr algn="l" marL="201168" indent="-201168">
              <a:spcAft>
                <a:spcPts val="800"/>
              </a:spcAft>
              <a:buClr>
                <a:srgbClr val="E87A1E"/>
              </a:buClr>
              <a:buSzPct val="100000"/>
              <a:buFont typeface="Arial"/>
              <a:buChar char="•"/>
            </a:pPr>
            <a:r>
              <a:rPr sz="1400" b="0" i="0">
                <a:solidFill>
                  <a:srgbClr val="1C2433"/>
                </a:solidFill>
                <a:latin typeface="Calibri"/>
              </a:rPr>
              <a:t>Safe to run again (idempotent): buckets, policies, access points and rules are kept and their settings applied again</a:t>
            </a:r>
          </a:p>
          <a:p>
            <a:pPr algn="l" marL="201168" indent="-201168">
              <a:spcAft>
                <a:spcPts val="800"/>
              </a:spcAft>
              <a:buClr>
                <a:srgbClr val="E87A1E"/>
              </a:buClr>
              <a:buSzPct val="100000"/>
              <a:buFont typeface="Arial"/>
              <a:buChar char="•"/>
            </a:pPr>
            <a:r>
              <a:rPr sz="1400" b="0" i="0">
                <a:solidFill>
                  <a:srgbClr val="1C2433"/>
                </a:solidFill>
                <a:latin typeface="Calibri"/>
              </a:rPr>
              <a:t>A placeholder left stops the script and names it</a:t>
            </a:r>
          </a:p>
          <a:p>
            <a:pPr algn="l" marL="201168" indent="-201168">
              <a:spcAft>
                <a:spcPts val="800"/>
              </a:spcAft>
              <a:buClr>
                <a:srgbClr val="E87A1E"/>
              </a:buClr>
              <a:buSzPct val="100000"/>
              <a:buFont typeface="Arial"/>
              <a:buChar char="•"/>
            </a:pPr>
            <a:r>
              <a:rPr sz="1400" b="0" i="0">
                <a:solidFill>
                  <a:srgbClr val="1C2433"/>
                </a:solidFill>
                <a:latin typeface="Calibri"/>
              </a:rPr>
              <a:t>Locks: load, backfill and maintenance take the table's flock on EFS; a held lock exits 3</a:t>
            </a:r>
          </a:p>
          <a:p>
            <a:pPr algn="l" marL="201168" indent="-201168">
              <a:spcAft>
                <a:spcPts val="800"/>
              </a:spcAft>
              <a:buClr>
                <a:srgbClr val="E87A1E"/>
              </a:buClr>
              <a:buSzPct val="100000"/>
              <a:buFont typeface="Arial"/>
              <a:buChar char="•"/>
            </a:pPr>
            <a:r>
              <a:rPr sz="1400" b="0" i="0">
                <a:solidFill>
                  <a:srgbClr val="1C2433"/>
                </a:solidFill>
                <a:latin typeface="Calibri"/>
              </a:rPr>
              <a:t>Data in is JSON Lines (2.9.4); a CSV source is converted first with </a:t>
            </a:r>
            <a:r>
              <a:rPr sz="1300" b="0" i="0">
                <a:solidFill>
                  <a:srgbClr val="0E7C86"/>
                </a:solidFill>
                <a:latin typeface="Consolas"/>
              </a:rPr>
              <a:t>drishti.py convert</a:t>
            </a:r>
          </a:p>
          <a:p>
            <a:pPr algn="l" marL="201168" indent="-201168">
              <a:spcAft>
                <a:spcPts val="800"/>
              </a:spcAft>
              <a:buClr>
                <a:srgbClr val="E87A1E"/>
              </a:buClr>
              <a:buSzPct val="100000"/>
              <a:buFont typeface="Arial"/>
              <a:buChar char="•"/>
            </a:pPr>
            <a:r>
              <a:rPr sz="1400" b="0" i="0">
                <a:solidFill>
                  <a:srgbClr val="1C2433"/>
                </a:solidFill>
                <a:latin typeface="Calibri"/>
              </a:rPr>
              <a:t>Tested: </a:t>
            </a:r>
            <a:r>
              <a:rPr sz="1300" b="0" i="0">
                <a:solidFill>
                  <a:srgbClr val="0E7C86"/>
                </a:solidFill>
                <a:latin typeface="Consolas"/>
              </a:rPr>
              <a:t>tools/test_deploy_aws.py</a:t>
            </a:r>
            <a:r>
              <a:rPr sz="1400" b="0" i="0">
                <a:solidFill>
                  <a:srgbClr val="1C2433"/>
                </a:solidFill>
                <a:latin typeface="Calibri"/>
              </a:rPr>
              <a:t> (every script with --help and --dry-run against a fake settings file and an aws that fails if called; every template rendered; lifecycle rules; env git-ignored); </a:t>
            </a:r>
            <a:r>
              <a:rPr sz="1300" b="0" i="0">
                <a:solidFill>
                  <a:srgbClr val="0E7C86"/>
                </a:solidFill>
                <a:latin typeface="Consolas"/>
              </a:rPr>
              <a:t>test_publish.py</a:t>
            </a:r>
            <a:r>
              <a:rPr sz="1400" b="0" i="0">
                <a:solidFill>
                  <a:srgbClr val="1C2433"/>
                </a:solidFill>
                <a:latin typeface="Calibri"/>
              </a:rPr>
              <a:t> and the S3 simulator tests run in the drill</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20</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Limits, decisions and what comes next</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is not yet proven, known limits with their sources, the decisions to take, and the documents behind every slide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20. Limits and what comes next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20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101</a:t>
            </a:r>
          </a:p>
        </p:txBody>
      </p:sp>
      <p:graphicFrame>
        <p:nvGraphicFramePr>
          <p:cNvPr id="9" name="Table"/>
          <p:cNvGraphicFramePr>
            <a:graphicFrameLocks noGrp="1"/>
          </p:cNvGraphicFramePr>
          <p:nvPr/>
        </p:nvGraphicFramePr>
        <p:xfrm>
          <a:off x="411480" y="1188720"/>
          <a:ext cx="11365992" cy="5120640"/>
        </p:xfrm>
        <a:graphic>
          <a:graphicData uri="http://schemas.openxmlformats.org/drawingml/2006/table">
            <a:tbl>
              <a:tblPr firstRow="0" bandRow="0">
                <a:tableStyleId>{5940675A-B579-460E-94D1-54222C63F5DA}</a:tableStyleId>
              </a:tblPr>
              <a:tblGrid>
                <a:gridCol w="6583680"/>
                <a:gridCol w="2377440"/>
                <a:gridCol w="2404872"/>
              </a:tblGrid>
              <a:tr h="512064">
                <a:tc>
                  <a:txBody>
                    <a:bodyPr wrap="square"/>
                    <a:lstStyle/>
                    <a:p>
                      <a:r>
                        <a:rPr sz="1200" b="1" i="0">
                          <a:solidFill>
                            <a:srgbClr val="FFFFFF"/>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Status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Source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200" b="1" i="0">
                          <a:solidFill>
                            <a:srgbClr val="1C2433"/>
                          </a:solidFill>
                          <a:latin typeface="Calibri"/>
                        </a:rPr>
                        <a:t>Not yet run in a real AWS account (steps 0–11, runbooks)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to do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AWS_DELTA_LAKE.md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Official results and Kafka windows are written by the Java lake writer: local or EFS root, not </a:t>
                      </a:r>
                      <a:r>
                        <a:rPr sz="1100" b="1" i="0">
                          <a:solidFill>
                            <a:srgbClr val="0E7C86"/>
                          </a:solidFill>
                          <a:latin typeface="Consolas"/>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limit; to S3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VAR_GUIDE.md §19, §8.4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VaR and exposure inputs read from Delta only (streamed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limit; Iceberg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SourcePlugin.vectors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The 1 M × 50 VaR benchmark (and 1.3M) on a real server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 do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VAR_GUIDE.md §27.3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More than 100,000 hierarchy nodes or portfolios from a connector that cannot list a date whole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VAR_GUIDE.md §20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VaR sharding; the bank-scale vector layout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VAR_GUIDE.md §28, §29.2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Tables by year, range maps, slice ownership (S1–S8)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SUPER_SCALE.md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lake build</a:t>
                      </a:r>
                      <a:r>
                        <a:rPr sz="1200" b="1" i="0">
                          <a:solidFill>
                            <a:srgbClr val="1C2433"/>
                          </a:solidFill>
                          <a:latin typeface="Calibri"/>
                        </a:rPr>
                        <a:t> sorts a partition only when it fits a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AWS_DELTA_LAKE.md §7.2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A bucket without conditional writes: one writer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AWS_DELTA_LAKE.md §8.2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Decisions and actions for the product owner</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summary</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102</a:t>
            </a:r>
          </a:p>
        </p:txBody>
      </p:sp>
      <p:graphicFrame>
        <p:nvGraphicFramePr>
          <p:cNvPr id="9" name="Table"/>
          <p:cNvGraphicFramePr>
            <a:graphicFrameLocks noGrp="1"/>
          </p:cNvGraphicFramePr>
          <p:nvPr/>
        </p:nvGraphicFramePr>
        <p:xfrm>
          <a:off x="411480" y="1188720"/>
          <a:ext cx="11365991" cy="4736592"/>
        </p:xfrm>
        <a:graphic>
          <a:graphicData uri="http://schemas.openxmlformats.org/drawingml/2006/table">
            <a:tbl>
              <a:tblPr firstRow="0" bandRow="0">
                <a:tableStyleId>{5940675A-B579-460E-94D1-54222C63F5DA}</a:tableStyleId>
              </a:tblPr>
              <a:tblGrid>
                <a:gridCol w="457200"/>
                <a:gridCol w="4846319"/>
                <a:gridCol w="6062472"/>
              </a:tblGrid>
              <a:tr h="676656">
                <a:tc>
                  <a:txBody>
                    <a:bodyPr wrap="square"/>
                    <a:lstStyle/>
                    <a:p>
                      <a:r>
                        <a:rPr sz="120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Decision or action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Recommendation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76656">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Disk caches and VaR/exposure hot files on local NVMe (breaks the identical-path rule) or 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Hot files on NVMe from the start (the guides ask for fast local disk); connector caches on EFS until p99Ms shows EFS 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76656">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First real run in a development AWS account (steps 0–11, runbooks 18.1–18.5)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Before any production commitment; record the outputs in the guide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76656">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How official results and Kafka windows reach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EFS root, then </a:t>
                      </a:r>
                      <a:r>
                        <a:rPr sz="1100" b="0" i="0">
                          <a:solidFill>
                            <a:srgbClr val="0E7C86"/>
                          </a:solidFill>
                          <a:latin typeface="Consolas"/>
                        </a:rPr>
                        <a:t>lake publish --mode append</a:t>
                      </a:r>
                      <a:r>
                        <a:rPr sz="1200" b="0" i="0">
                          <a:solidFill>
                            <a:srgbClr val="1C2433"/>
                          </a:solidFill>
                          <a:latin typeface="Calibri"/>
                        </a:rPr>
                        <a:t> with 7-year retention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76656">
                <a:tc>
                  <a:txBody>
                    <a:bodyPr wrap="square"/>
                    <a:lstStyle/>
                    <a:p>
                      <a:r>
                        <a:rPr sz="1200" b="1"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fixed gossip port on 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number in node.yaml and a security-group rule node to node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76656">
                <a:tc>
                  <a:txBody>
                    <a:bodyPr wrap="square"/>
                    <a:lstStyle/>
                    <a:p>
                      <a:r>
                        <a:rPr sz="1200" b="1" i="0">
                          <a:solidFill>
                            <a:srgbClr val="1C2433"/>
                          </a:solidFill>
                          <a:latin typeface="Calibri"/>
                        </a:rPr>
                        <a:t>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Compaction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Re-enable after a relayout test on one S3 table; update AWS_DELTA_LAKE.md 9.3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76656">
                <a:tc>
                  <a:txBody>
                    <a:bodyPr wrap="square"/>
                    <a:lstStyle/>
                    <a:p>
                      <a:r>
                        <a:rPr sz="1200" b="1" i="0">
                          <a:solidFill>
                            <a:srgbClr val="1C2433"/>
                          </a:solidFill>
                          <a:latin typeface="Calibri"/>
                        </a:rPr>
                        <a:t>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Tables by year (S2); range maps, Bloom filters (S1); slice ownership (S5, S6); VaR sharding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When live files near 100,000 per table, or one server's working set or one VaR date becomes the 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Related documents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references</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103</a:t>
            </a:r>
          </a:p>
        </p:txBody>
      </p:sp>
      <p:graphicFrame>
        <p:nvGraphicFramePr>
          <p:cNvPr id="9" name="Table"/>
          <p:cNvGraphicFramePr>
            <a:graphicFrameLocks noGrp="1"/>
          </p:cNvGraphicFramePr>
          <p:nvPr/>
        </p:nvGraphicFramePr>
        <p:xfrm>
          <a:off x="411480" y="1188720"/>
          <a:ext cx="11365992" cy="5029200"/>
        </p:xfrm>
        <a:graphic>
          <a:graphicData uri="http://schemas.openxmlformats.org/drawingml/2006/table">
            <a:tbl>
              <a:tblPr firstRow="0" bandRow="0">
                <a:tableStyleId>{5940675A-B579-460E-94D1-54222C63F5DA}</a:tableStyleId>
              </a:tblPr>
              <a:tblGrid>
                <a:gridCol w="4572000"/>
                <a:gridCol w="6793992"/>
              </a:tblGrid>
              <a:tr h="502920">
                <a:tc>
                  <a:txBody>
                    <a:bodyPr wrap="square"/>
                    <a:lstStyle/>
                    <a:p>
                      <a:r>
                        <a:rPr sz="1200" b="1" i="0">
                          <a:solidFill>
                            <a:srgbClr val="FFFFFF"/>
                          </a:solidFill>
                          <a:latin typeface="Calibri"/>
                        </a:rPr>
                        <a:t>Document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holds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docs/architecture/AWS_DELTA_LAKE.md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first source: every section, command and number of the AWS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docs/architecture/AWS_DEPLOYMENT.md · SUPER_SCALE.md · SCALE_STRATEGY.md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EFS and the identical-path rule; 500 GB a day for 7 years (S1–S8); one server at millions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docs/connectors/DELTA_CONNECTOR.md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how Drishti reads a Delta table; layout, vectors, history, memory, 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docs/admin/LAKE_MAINTENANCE.md · docs/guides/TOOLS.md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lake maintain and the 7-year floor; lake build, publish, the S3 tests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docs/admin/NET.md · docs/architecture/CONTENT_STORE.md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Drishti*net: gossip port, HTTP/2, routing; the content store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docs/guides/DATA_FORMATS.md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JSON Lines is the standard; CSV deprecated; official results as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docs/guides/VAR_GUIDE.md · EXPOSURE_GUIDE.md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risk lake: inputs, vectors, intraday, official results, sizes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docs/connectors/DEMO_DATA.md · docs/guides/PUBLIC_DATA.md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84-table demo lake; the public-data packs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Drishti-AWS-Iceberg.pptx · Drishti-VaR-Engine.pptx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companion decks: Iceberg on AWS; the 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high-performance Delta lake for Drishti on AWS</dc:title>
  <dc:subject>Drishti 2.9.4: the Delta lake in S3, the risk lake, JSON Lines, bank scale</dc:subject>
  <dc:creator>Ashutosh Sinha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
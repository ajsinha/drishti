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8"/>
    <p:sldId id="257" r:id="rId9"/>
    <p:sldId id="258" r:id="rId7"/>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the Iceberg counterpart of the AWS Delta lake deck. Production may run on Delta Lake or on Apache Iceberg, so this deck states, from the code and the docs, what is identical, what differs, and why.</a:t>
            </a:r>
          </a:p>
          <a:p/>
          <a:p>
            <a:r>
              <a:t>Labels used throughout: BUILT (in the code, with tests), DESIGNED (written down in a design document, not built), PROPOSED (suggested by this deck or implied by the design, not in any design document yet). Nothing in this deck has been run in a real AWS account: the Delta lake's AWS scripts are dry-run tested; the Iceberg engine is tested against S3 simulators (S3Mock, MinIO).</a:t>
            </a:r>
          </a:p>
          <a:p/>
          <a:p>
            <a:r>
              <a:t>Sources: docs/architecture/DRISHTI_ICEBERG.md (status line: built in 2.6.0, steps I1-I6); CHANGELOG 2.6.0 and 2.6.7; docs/connectors/ICEBERG_CONNECTOR.md; docs/architecture/AWS_DELTA_LAKE.md; deploy/aws/ (Delta only).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structure mirrors the Delta deck (Drishti-AWS-Delta-Lake.pptx) section by section where Iceberg has a counterpart (the picture, S3 not EFS, built and planned, setup, layout, files, loading, maintenance, caches, sizing, runbooks, limits), and adds what only a two-format story needs: the principle (section 1), Iceberg as built (4), the side-by-side comparison (11), the decision guide (12), risk workloads (13) and migration (14).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architectural principle in one slide. Everything above the source plugin (packs, data contracts, the engine's read paths, BI, VaR and exposure, the UI, Drishti*net) talks to a connector by its name and to the SourcePlugin interface (drishti-api SourcePlugin.java). Delta Lake and Iceberg are two plugins under it (plugins/drishti-plugin-delta, plugins/drishti-plugin-iceberg, plus iceberg-external), sharing drishti-lakeio for local disk and S3.</a:t>
            </a:r>
          </a:p>
          <a:p/>
          <a:p>
            <a:r>
              <a:t>Sources: DRISHTI_ICEBERG.md section 2 ('Same connector, same settings'); ICEBERG_CONNECTOR.md section 17 ('Packs, connector files, the layout, the caches and every read path are the same on both engines'); tools/build_demo_lakes.py --store; AWS_DEPLOYMENT.md 8.1 (the lake bucket holds Delta tables, Iceberg and files). The caveat (not every plugin implements every capability) is shown on slide 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was checked in the code on release-2.9.4. Tests named are in the repository: NativeCommitTest, NativeOnS3Test (Testcontainers: S3Mock image, MinIO image when present), NativeOnS3SimulatorTest (Adobe S3Mock 4.12.4 in the test JVM, the MinIO binary on Linux), PyicebergReadsNativeTest and NativeReadInteropTest (pyiceberg interop), IcebergNativeNoHadoopTest, SigV4Test, IcebergExternalPluginTest, tools/lake/test_stores.py, tools/lake/stores_equality.py, tools/test_deploy_aws.py.</a:t>
            </a:r>
          </a:p>
          <a:p/>
          <a:p>
            <a:r>
              <a:t>Not done: nothing has run against real AWS S3 or a real Glue catalog; the Glue SigV4 test checks the signature only. deploy/aws/ has no Iceberg scripts (grep: the only mention is a comment in check-conditional-writes.sh).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 answers the product owner's first question: is the Iceberg story architecturally clean? Yes at the layering level (one interface, two plugins, one shared I/O module); with named gaps at the capability level (slide 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Layers from the code: the console and UI (drishti-console), the server (drishti-server: BI, VaR, exposure, Drishti*net), the engine (drishti-engine: SourceRouter, which routes a kind to its connectors), the plugin interface (drishti-api SourcePlugin), the plugins (plugins/drishti-plugin-delta, -iceberg, -iceberg-external) and their engines (drishti-deltalake native or Hadoop; drishti-iceberg native or Apache Iceberg Java 'library'), and drishti-lakeio, which both native engines share (Storage, LocalStorage, S3Storage, RangeReader, codecs, the footer cache, the exclusive create and the conditional PUT). Sources: DRISHTI_ICEBERG.md section 4; CHANGELOG 2.6.0 ('the native Delta engine's file access is a module of its own, drishti-lakeio'); module list of release-2.9.4.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Rows are from the code and docs: connector settings (ICEBERG_CONNECTOR.md section 15 vs DELTA_CONNECTOR.md section 14), the layout (IcebergLayout: id, doc, business_date, promoted columns; DELTA_CONNECTOR section 3), the read paths (ICEBERG_CONNECTOR section 7 'as for Delta Lake'), commits (DRISHTI_ICEBERG section 8; AWS_DELTA_LAKE 8.2), caches (ICEBERG_CONNECTOR 7.1 per-day fingerprints vs Delta's table version; Delta's disk caches in DELTA_CONNECTOR 6.2-6.3), maintenance (IcebergMaintenance vs tools/lake/maintain.py).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from the plugin classes on release-2.9.4: the public methods of DeltaSourcePlugin, IcebergSourcePlugin and IcebergExternalPlugin compared with the defaults of drishti-api SourcePlugin. A default returns 'cannot say' or false, and the caller falls back (for example documents() false: derived pages read entity by entity). vectors() false is fatal for VaR and exposure: VarLoader and ExposureLoader throw 'no connector keeps pnl-vector.PNL as a vector column'.</a:t>
            </a:r>
          </a:p>
          <a:p/>
          <a:p>
            <a:r>
              <a:t>tableIdentity: DRISHTI_NET.md section 10: two nodes naming the same table identity are replicas (a search asks one); different identities are shards (a search asks all). Iceberg sources return no identity today, so Drishti*net cannot recognise two nodes on one Iceberg table as replicas: correct answers, possibly duplicated search fan-out. Uncertain: the exact fallback was not traced in NetDigest code; the proposal is the table's UUID plus its location.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built in 2.6.7 (CHANGELOG 'Mixed Delta and Iceberg storage'; ICEBERG_CONNECTOR.md section 6 'The demo lakes'; tools/lake/stores.py; tools/build_demo_lakes.py). The system is built as Delta first (so documents and promoted columns are exactly a Delta build's), streamed into IcebergLoader with engine native from the server's exec jar (no Maven; runs on Windows), and its Delta table removed; the connector file trade-&lt;system&gt;.yaml is rewritten to plugin: iceberg, engine: native, table: {trade: trade_&lt;system&gt;}. One connector serves each system, never both. tools/lake/stores_equality.py compares all-Delta with ENDUR Delta + CALYPSO and MUREX Iceberg: six trade pages, histories, two counterparty pages, three searches, a BI model query: 18 answers the same.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2 mirrors section 1 of the Delta deck. The difference is in the loader: Delta needs build (EFS scratch), sync, publish (Python deltalake commits); Iceberg's native engine writes data files, manifests and the conditional-PUT commit straight to s3:// (NativeOnS3Test: 'the loader writes them through the AWS SDK (no Hadoop, no S3A)').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Built: the engine, the loader writing s3:// roots, the connector reading them, the REST catalog client. Proposed: the ECS loader and maintenance tasks for Iceberg (load-day.sh and maintain.sh are Delta scripts), the Glue catalog in a real account. The S3 landing bucket, EventBridge, ECS services, EFS and Cloud Map are those of the Delta deck (AWS_DELTA_LAKE.md section 1; AWS_DEPLOYMENT.md). Root setting: DRISHTI_ICEBERG_ROOT (connector root: ${DRISHTI_ICEBERG_ROOT:${drishti.data.dir:./data}/iceberg}).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Status per box: BUILT means the Drishti code that box runs is built and tested (not that it has run in AWS). The ECS loader and maintenance tasks for Iceberg are PROPOSED: the code they would run (IcebergLoader, IcebergMaintenance) is built, the scripts and task definitions that run it on ECS are not. Sources: AWS_DELTA_LAKE.md section 1 (boxes); ICEBERG_CONNECTOR.md sections 6, 9; DRISHTI_ICEBERG.md section 8; deploy/aws/ file list.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3 mirrors section 2 of the Delta deck; its cost figures are reused, not recomputed.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request rate, latency, durability and tiers are format-independent: both formats store Parquet data files in S3 and read them by byte ranges (drishti-lakeio S3Storage: ranged GETs with s3.read-block-kb read-ahead). Figures from AWS_DELTA_LAKE.md section 2 (list prices, one Region, 200 TB). The Iceberg-specific reason: Iceberg's metadata names every file by its full path (ICEBERG_CONNECTOR.md section 14: a moved table is DEGRADED until read with relocate). An S3 URI is the same from every task and Region-stable; an EFS path depends on the mount and access 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4 is the inventory of what the code does today. Main sources: DRISHTI_ICEBERG.md (design, status built in 2.6.0), ICEBERG_CONNECTOR.md section 17, ICEBERG_EXTERNAL_CONNECTOR.md, CHANGELOG 2.6.0-2.6.7, the classes under drishti-iceberg.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it exists (DRISHTI_ICEBERG.md section 1): Apache Iceberg's Java library reaches path-based tables through Hadoop's file systems, which on Windows need winutils.exe and HADOOP_HOME. Delta had the same problem and solved it with a native engine; drishti-iceberg does the same. Packages from the source tree: catalog (PathCatalog, StaticCatalog, RestCatalog, RestClient, SigV4), meta (TableMetadata, SchemaJson, PartitionSpec, SortOrder, Snapshot, Transform, NameMapping), manifest (ManifestReader), scan (Planner, Pruning), read (ParquetRowReader, Deletes), write (ParquetDataWriter, ManifestWriter, Commit, Operations). A class-loader test (IcebergNativeNoHadoopTest) runs the connector, loader and maintenance with Hadoop's file systems, Shell and Configuration refused. Windows: tools/windows/load-iceberg.ps1, start-server.ps1 -Iceberg. The Windows laptop run of step I5 is still listed as to do in DRISHTI_ICEBERG.md's status 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DRISHTI_ICEBERG.md section 5 and ICEBERG_CONNECTOR.md section 17 ('What the native engine is' and 'What it refuses'). Branches and tags: only main is read (ICEBERG_EXTERNAL_CONNECTOR.md section 11). Deletion vectors of format v3 are planned 'later, reusing the Delta engine's roaring bitmap reader'. Hive metastore and JDBC catalogs are reachable only through a REST catalog in front of them.</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17. Measured 2026-10-20 on a 24-core workstation, heap 6 GB, 10,000 trades a day over three days (bulk_trades.py, documents of about 18 KB), each engine's loader into its own lake, read by the connector on that engine in one JVM (IcebergEnginesBenchTest). Both engines answered the same. These are small-book measurements, not bank scale.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DRISHTI_ICEBERG.md section 15 and ICEBERG_EXTERNAL_CONNECTOR.md section 1. iceberg-external never writes; its engine setting accepts native or auto (library is refused). Make a pack: StarterSchemas + drishti.py pack make (a button in Admin → Connectors is planned). Tested by IcebergExternalPluginTest on pyiceberg-written fixtures (tools/iceberg/fixtures.py): a Spark-style table (day(ts) partition, unsorted, merge-on-read position delete), a Snowflake-style table (identifier fields, nested struct, map, decimals, timestamptz, an equality delete), a current-only table, a renamed and evolved table.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drishti-iceberg catalog/Catalogs.open accepts catalog: hadoop (or path) and rest; metadata-location.&lt;kind&gt; without a root gives a StaticCatalog. RestCatalog/RestClient implement /v1/config, OAuth2 client credentials or a token, loadTable with ETag, vended credentials (X-Iceberg-Access-Delegation), commits with requirements; SigV4.java signs with the AWS SDK signer, signing-name glue for Glue (default execute-api). SigV4Test checks the Authorization header only.</a:t>
            </a:r>
          </a:p>
          <a:p/>
          <a:p>
            <a:r>
              <a:t>Not in code: a Glue Data Catalog API client (glue:GetTable/UpdateTable as Iceberg's GlueCatalog does); Amazon S3 Tables; Hive metastore; JDBC. S3 Tables is not mentioned anywhere in the repository: it is labelled PROPOSED. It exposes an Iceberg REST endpoint with SigV4 (service name s3tables), so the existing REST client is the likely route, but that is untested and should be proven before any commitment. A catalog-written path table (pyiceberg, a JDBC or Glue catalog: 00003-&lt;uuid&gt;.metadata.json and no hint) is found by the highest sequence number (CHANGELOG QA2-09).</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PathTableOps.write: probe(s) once per table (S3Storage.exclusiveCreates: two creates of a probe key, the second must be refused), then createIfAbsent(vN.metadata.json) (local: a hard link of a finished file; S3: putObject with ifNoneMatch('*')), CommitConflict if the version exists; then put version-hint.text; then, when write.metadata.delete-after-commit.enabled, delete metadata files older than the metadata log. A store that ignores conditional writes logs 'the table is single-writer'. Retries: commit.retry.num-retries (10 in Drishti's layout). Re-applied commits re-validate: an append always applies again; a rewrite of a day fails if that day changed (NativeCommitTest.aRewriteOfADayThatChangedMeanwhileIsRefused). Files written by a commit that finally failed are deleted at once.</a:t>
            </a:r>
          </a:p>
          <a:p/>
          <a:p>
            <a:r>
              <a:t>Doc inconsistency to know: ICEBERG_CONNECTOR.md section 4 still says path-based tables in S3 'need a single writer' (true of the library engine's rename); sections 13 and 17 and the code say the native engine commits with conditional PUTs.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CHANGELOG ('Tests: S3 on three simulators, no Docker'): Adobe S3Mock 4.12.4 in the test JVM (Windows QA included) runs the Iceberg native engine's table on S3 (NativeOnS3SimulatorTest); moto 5.2.3 runs Delta on S3 and lake publish on S3 (tools/lake/test_s3_simulators.py); the MinIO binary runs both on Linux (skips when no community binary can be had: dl.min.io answers 410 Gone). Every suite probes and prints which conditional writes its simulator honours. NativeOnS3Test comment: S3Mock refuses a second conditional create but not two racing ones, so writers at once are tested on MinIO only. Iceberg is not tested on moto (moto covers the Python Delta tools).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 by field id (DRISHTI_ICEBERG.md section 7 step 3; ICEBERG_EXTERNAL_CONNECTOR.md section 3: a column the owner renames keeps its values; each snapshot read with the schema it had). Writing: NativeLayout creates id, doc, business_date and promoted columns typed DOUBLE when every value is a number else STRING; new promoted paths are added as columns (ICEBERG_CONNECTOR.md section 6 'Types'); IcebergMaintenance --columns kind:path adds columns and rewrites every day to fill them. Drishti's own writer always writes identity(business_date); it never changes a partition spec. Hidden partitioning (day(ts), bucket(id)) is read for any transform, which is what iceberg-external relies on for other engines' tables. Comparison: Delta's publish refuses a day whose columns differ (AWS_DELTA_LAKE.md runbook 13.4: new folder trade_endur_v2 and backfill).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8 (delete files applied by every read; time travel by X-Drishti-Known-At from the snapshot log; a time before the oldest snapshot kept reads nothing; measured: a trade loaded after the instant answers 404, a sample trade known then answers from the earlier snapshot in 17 ms). Section 9: --expire-hours (168) bounds how far known at reaches. Delta comparison: DELTA_CONNECTOR.md section 12 (deletion vectors switch columns off for a table; searches read documents) vs Iceberg 'here they stay on'. Drishti's own Iceberg writer writes no delete files: a restatement replaces the day's partition (copy-on-write at day grain).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9 and IcebergMaintenance.java option parsing (--domain, --kinds, --catalog/--uri/--warehouse/--credential/--token/--engine, --set, --keep-days, --expire-hours, --buffer-mb, --spill-dir, --columns, --relayout, --force, --rewrite-manifests; --as-of, --max-drop-share, --force-drop in the doc). Measured on the 10,000-trade table: drift check 0.7 s; keep 5 + rewrite 5 + manifests + expiry 2.9 s. 1,800 daily commits: 93 ms per commit to write; start 160 ms, a 2020 trade 22 ms, an old day's columns 13 ms; after --rewrite-manifests and expiry 33, 5, 3 ms. Orphan files: NativeMaintenance comments say files are 'left for an orphan clean-up' that does not exist yet. Admin → Lakes and lake maintain (LAKE_MAINTENANCE.md) are Delta only.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tools/lake/stores.py (docstring): a system stored in Iceberg is built as Delta first (lake demo or lake build), then copied into &lt;iceberg root&gt;/trading/trade_&lt;system&gt; by IcebergLoader (engine native) started from the server's exec jar (DRISHTI_ICEBERG_CLASSPATH in development); the connector file switched; 'one connector serves each system, never both'. Spill: &lt;data&gt;/tmp/iceberg. The Iceberg root: DRISHTI_ICEBERG_ROOT, else beside the Delta lake (data/delta → data/iceberg). stores.py handles the trading domain's trade tables only. tools/load-iceberg.sh / load-iceberg.ps1 load the banking samples (1,791 documents × 10 days) and a generated book directly into Iceberg.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BUILT = in the code with tests on release-2.9.4. DESIGNED = described in a design document (DRISHTI_ICEBERG.md, SUPER_SCALE.md, VAR_GUIDE.md) and not built. PROPOSED = suggested here, or implied by the design, with no design document yet. Per the product owner there is no in-progress label; items shipping in 2.9.4 tonight (JSON Lines as the standard, scenario PVs, Kafka micro-batching, position grain, the configurable scenario window and confidence) count as built.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row is in the code on release-2.9.4 with the tests named in section 4. 'Built' never means 'run in AWS'.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DESIGNED items have a design document: DRISHTI_ICEBERG.md section 5 ('later': v3 deletion vectors, branches and tags) and section 14; ICEBERG_EXTERNAL_CONNECTOR.md section 9 (Make a pack button planned); VAR_GUIDE.md section 28 (VaR sharding across Drishti*net, designed, not built). PROPOSED items come from this deck's reading of the code: the Iceberg plugin's missing SourcePlugin methods (vectors, documents, tableIdentity), the AWS scripts, publishing official results to Iceberg, S3 Tables, the Glue API client, orphan removal, a 7-year floor for Iceberg risk tables.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6 mirrors section 4 of the Delta deck (first-time setup). deploy/aws/ holds lib/common.sh, delta-lake/ (buckets, IAM, conditional-write check, lifecycle, alarms, report, load, backfill, maintain) and ecs/ (EFS, Cloud Map, register). None of the scripts has an Iceberg mode today.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names and scripts from the Delta deck (AWS_DELTA_LAKE.md section 4). BUILT here means the script exists and was dry-run tested (tools/test_deploy_aws.py) and needs no change for Iceberg; PROPOSED means an Iceberg variant is needed. Step 3: the loader policy denies every delete in the lake; Drishti's Iceberg commit removes old metadata files best effort (PathTableOps.removeOldVersions catches the failure), so the deny can stay if maintenance (which may delete) runs nightly. Step 9: the node task sets DRISHTI_DELTA_ROOT; Iceberg needs DRISHTI_ICEBERG_ROOT (and DRISHTI_ICEBERG_CATALOG/URI for REST).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Drishti supports today (section 4, catalogs): path-based tables in S3 (BUILT, the simplest: no catalog service, commits by conditional PUT); Glue's Iceberg REST endpoint (client BUILT and signature-tested, never run against Glue); S3 Tables (PROPOSED, nothing in code). ICEBERG_CONNECTOR.md section 16 checklist: 'a REST catalog when other engines also write the tables; path-based tables when only Drishti's loader writes them'. Ecosystem notes (Athena reading Iceberg through Glue; Glue table optimizers; S3 Tables' managed compaction) are AWS product facts, not Drishti features; check current AWS documentation before deciding.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Delta's policies (deploy/aws/delta-lake/iam/*.json) read: server = GET/LIST on the lake prefix + kms:Decrypt; loader = PutObject on the lake prefix with an explicit Deny of DeleteObject; maintenance = the only role that deletes. Iceberg differences from the code: (1) the commit overwrites version-hint.text (a PutObject, allowed); (2) with write.metadata.delete-after-commit.enabled the committer deletes old vN.metadata.json, best effort; (3) IcebergLoader --keep-days and --expire-hours delete files, so under the deny run retention in maintenance, not the loader. Glue permissions listed are the usual ones for Glue's Iceberg REST endpoint; confirm in a development account (PROPOSED). Encryption: drishti-lakeio sends no SSE header, so the bucket's default SSE-KMS applies; Iceberg table encryption (key_metadata) is refused by the native engine.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AWS_DEPLOYMENT.md (identical-path rule on EFS; server and console separate containers; Cloud Map seeds) and NET.md/DRISHTI_NET.md section 10 (shared and separate lakes: same table identity = replicas, different = shards). Iceberg specifics: IcebergLoader's --spill-dir (run files total about the size of the JSON loaded) should be on the loader's EFS folder or its 21 GB ephemeral disk; the native engine's caches are in heap (no disk id maps or RocksDB document cache as the Delta connector has); tableIdentity is not implemented by the Iceberg plugin (slide 8).</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setup-lifecycle.sh (AWS_DELTA_LAKE.md 9.4) writes one rule per table per business month on the prefix lake/&lt;domain&gt;/&lt;table&gt;/business_date=YYYY-MM, with ObjectSizeGreaterThan 131072, transitions to STANDARD_IA at 90 days after the month and GLACIER_IR at two years; _delta_log/ never matches. For Iceberg, data files are under &lt;table&gt;/data/business_date=YYYY-MM-DD/ (ICEBERG_CONNECTOR.md section 3) and metadata/ must stay in Standard. Iceberg names files by absolute path, and S3 transitions keep the key, so tiering does not break a table; expiry would. The rule count limit (1,000 per bucket) is the same. The variant is PROPOSED: the script's prefixes are Delta-shaped.</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7 mirrors sections 5 and 6 of the Delta deck. Source: ICEBERG_CONNECTOR.md section 3 (What is stored) and IcebergLayout/NativeLayout.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Tree from ICEBERG_CONNECTOR.md section 3 placed under the Delta deck's bucket and a sibling iceberg/ prefix (PROPOSED naming: the connector's root is any folder or s3:// URI; DRISHTI_ICEBERG_ROOT). Data file names: &lt;date&gt;-&lt;n&gt;-&lt;uuid&gt;.parquet. A REST catalog's namespace is the connector's domain (or namespace).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3: the column table (field ids 1-3 for id, doc, business_date) and the property table. Promoted columns are DOUBLE when every value is a number, else STRING (NativeLayout); a nested path LEGS.CURRENCY becomes LEGS__CURRENCY as in Delta. Compared with Delta on AWS: Snappy and 1 MB row groups by LAKE_ROW_GROUP_KB; delta.dataSkippingStatsColumns = id, business_date, promoted columns (never doc).</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 loader: the partition is business_date only (ICEBERG_CONNECTOR.md section 3). The Delta AWS loader adds PRODUCT_TYPE as a second key (AWS_DELTA_LAKE.md 5.3) to spread a day over S3 prefixes and keep partitions sortable in one batch; Drishti's Iceberg loader instead sorts each day with an external sort (no batch limit) and cuts files of 250,000 rows. S3 prefix spread for Iceberg: a day's files share one business_date= prefix; S3 scales a busy prefix by itself. Iceberg's object-storage layout (hashed file paths, write.object-storage.enabled) is not used by Drishti's writer: PROPOSED to evaluate only if 503 Slow Down appears. 'What each read needs' from ICEBERG_CONNECTOR.md section 7.</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8 mirrors sections 7 and 8 of the Delta deck. Source: ICEBERG_CONNECTOR.md sections 3, 6, 15 (loader options).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 values: ICEBERG_CONNECTOR.md sections 3 and 15 (loader options --file-rows 250000, --row-group-mb 1, --buffer-mb 1024, --threads half the cores at most 8). 'Measured: 476 trades a group at 10,000 trades a day.' Estimated 175 MB per 250,000-row file. Delta values: AWS_DELTA_LAKE.md 7.1. Files per day at a million trades: four (estimate).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6 'How the loader works': SortedRuns per business day and kind; at most --buffer-mb held; the largest day's buffer sorted and spilled on a background thread (two at most); merged back in id order; the row read last wins on a duplicate id. Commits: OverwriteFiles with business_date = d (one day of at least 100,000 rows as soon as it is written; smaller days of a table together). Estimates: one writer thread wrote a day of 1,000,000 trades in about 40 s (4 files, 0.70-0.75 GB); the load of three such days was bound by the generator, not the writer. Peak memory about three times the buffer.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(built, AWS_DELTA_LAKE.md 8.1): sync landing → EFS scratch; lake build → scratch Delta table; aws s3 sync data files; lake publish one commit (Python deltalake, conditional PUT). Iceberg (PROPOSED script; the commands exist): the loader reads the dumps and writes to s3:// itself; the commit is the native engine's conditional PUT. Loader exit codes and messages: a failed load ends with one line and status 1 (ICEBERG_CONNECTOR.md section 6). The data-load signal (POST /api/v1/packs/{pack}/loads) is sent by lake publish for Delta; for Iceberg a script would send it (build_demo_lakes.py --server does so locally), else servers see the new snapshot at the next refresh (10 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6: 'Loading a day again replaces it: the load is idempotent'; --keep-days with --as-of and --max-drop-share (0.5) and --force-drop; dates guarded (rows dated after tomorrow are not loaded). A restated day is a new snapshot: known at before it still shows the old day until --expire-hours. Delta's backfill.sh and load-day.sh --mode overwrite-partitions (one product type) are Delta scripts; Iceberg replaces a whole day (its only partition).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9 mirrors section 9 of the Delta deck. The engine side is BUILT (IcebergMaintenance, section 4); the ECS task and schedule for Iceberg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Options and measurements: ICEBERG_CONNECTOR.md section 9. 'Expire snapshots regularly: every snapshot stays in the metadata JSON that each commit rewrites.' Managed alternatives (same section): AWS Glue table optimizers (compaction, snapshot retention, orphan file removal), Athena OPTIMIZE … REWRITE DATA and VACUUM, Snowflake's automatic maintenance of managed Iceberg tables, Spark procedures (rewrite_data_files with sort_order =&gt; 'id', rewrite_manifests, expire_snapshots, remove_orphan_files), Trino optimize and expire_snapshots. Caution (PROPOSED rule): a managed compaction that ignores the id sort makes single-entity reads touch many row groups; use a sorted rewrite.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10 mirrors sections 10 and 11 of the Delta deck.</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 ICEBERG_CONNECTOR.md sections 7.1 (layout per snapshot, 64; per-day fingerprints), 11 (memory), 17 (footer, manifest and delete caches). Delta: AWS_DELTA_LAKE.md section 10 and DELTA_CONNECTOR.md 6.2-6.3 (id maps on disk, memory-mapped, 3 ms instead of 729 ms per table date after a restart; RocksDB document cache, 17 % less CPU). The Iceberg connector's settings list has no id-map-disk or doc-disk-cache keys: its caches are in heap, so a restart re-reads id maps.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sections 7 and 10 ('Nothing in the read paths grows with history: a read concerns one day's files; planning reads the current snapshot's manifests (a few dozen after monthly regrouping)'). History queries: the planned manifest-bounds scan without an id map is not built (section 7 'History queries').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Health payload and symptom table: ICEBERG_CONNECTOR.md section 14 (cache: tables, snapshots, idMaps, columnSets, documents, partitions, daysWithDeletes, ids; DEGRADED messages for moved tables). The report and alarms of the Delta deck (report.sh, setup-alarms.sh: behind, files, log-long) are Delta-shaped; the Iceberg equivalents below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11 separates two things: what the formats are (public specifications; ecosystem facts as of 2026, to re-check before a commitment) and what Drishti supports of each (from the code). Every Drishti statement carries its label.</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_delta_log/ holds one JSON commit per version (add and remove actions with file statistics), a Parquet checkpoint every 10 commits in Drishti's tables (delta.checkpointInterval), and _last_checkpoint; a reader replays the last checkpoint plus later commits (DELTA_CONNECTOR.md 6.1: 7,200 files list in 84 ms). Iceberg: a catalog pointer (version-hint.text, or the REST catalog's metadata location) names vN.metadata.json (schemas, specs, snapshots, properties); each snapshot names a manifest list; manifests list data and delete files with partition values and column bounds (DRISHTI_ICEBERG.md section 4, ICEBERG_CONNECTOR.md section 3). Both put data in Parquet files that never change.</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Format facts are from the Delta and Iceberg specifications; Drishti facts from the code (sections 4 and 8). Delta column mapping and deletion vectors are Delta table features; Drishti's Delta reader honours deletion vectors (DELTA_CONNECTOR.md section 12) and Drishti's writers do not use column mapping (Drishti adds columns by name).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Drishti facts: partitioning (section 7), deletes (section 4 snapshots slide), maintenance (IcebergMaintenance; LAKE_MAINTENANCE.md for Delta), catalogs (section 4). Liquid clustering and Z-order are Databricks Delta features mentioned only as options in DELTA_CONNECTOR.md; Drishti does not write them.</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Ecosystem rows are general product knowledge as of 2026 (not Drishti features) and must be re-checked against each vendor's current documentation and the bank's versions before a decision; they are stated at the level of 'reads/writes', without version claims. Cost rows: storage is the same Parquet (AWS_DELTA_LAKE.md section 12); the differences are metadata requests, a catalog service and maintenance compute.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checked in the code on release-2.9.4: DeltaSourcePlugin vs IcebergSourcePlugin methods; VarLoader and ExposureLoader (router.vectors, Delta only); VarPublisher (LakeWriter = Drishti's Delta writer; 'not published by this writer' for an object store); deploy/aws/ (Delta scripts); LAKE_MAINTENANCE.md (Delta); connector settings (no disk caches for Iceberg); drishti-iceberg (Windows, external tables).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12 is a recommendation (PROPOSED). It follows from sections 4, 11 and 13; it is not a product decision.</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'because' cites the Drishti support behind it: VaR and exposure vectors and official publishing are Delta only (VarLoader, ExposureLoader, VarPublisher); AWS scripts are Delta only (deploy/aws/delta-lake); iceberg-external serves others' tables (ICEBERG_EXTERNAL_CONNECTOR.md); REST and Glue REST catalogs are built in the client; schema evolution by id is built for Iceberg. Nothing here is measured at bank scale on AWS.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by this deck. Mixed storage is BUILT and proven equal (stores_equality.py: 18 answers the same), so a bank need not choose one format for every table. The gaps to close before Iceberg could carry the risk domain are listed on the right; each is an implementation of an existing interface or a copy of an existing Delta script, not an architectural change.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13 is consistent with the VaR engine deck (Drishti-VaR-Engine.pptx, slides 10-12) and corrects one point from the code: that deck's line 'Delta on S3; Iceberg with the same column: BUILT' (from VAR_GUIDE.md section 29.3) does not hold for VaR's reads. The Iceberg plugin implements no vectors() method, and VarLoader fails with 'no connector keeps pnl-vector.PNL as a vector column' unless the kind is on a Delta connector. tools/lake/stores.py moves only trade tables, which have no vector column.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15.1 (the risk lake: pnl-vector, scenario-set, risk-hierarchy, portfolio; physical table id, doc, business_date, promoted columns and vector columns list&lt;double&gt;), 29.2 (layout C, list&lt;double&gt;, chosen; append-only daily snapshot) and 29.3 (as built: lake build --vector, LakeWriter type vector, DeltaSourcePlugin streams vectors one buffer per read). Scenario PVs (PV-based VaR, shipping in 2.9.4) are a market-risk kind with a vector column too (pv-var branch: scenario-pv.contract.yaml). EXPOSURE_GUIDE.md: exposure-path MTM list&lt;float&gt; (float32) or list&lt;double&gt;, about 4,000 times VaR's vectors. drishti-iceberg's writer handles list types (ParquetDataWriter, ParquetSchemas: ListType), but NativeLayout creates only STRING and DOUBLE columns.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VAR_GUIDE.md section 19 (published official results: appended to ${DRISHTI_DELTA_ROOT}/risk-results/var-official/ by VarPublisher with Drishti's own lake writer, one Delta commit per run; append-only, delta.appendOnly, 7 years of log and removed files; a publish that fails, 'an s3:// root, a disk', is recorded as publishError and logged; the capture stands; JSON Lines beside the table, drishti.var.official.jsonl). EXPOSURE_GUIDE.md: official.root ${DRISHTI_DELTA_ROOT}, 'an s3:// root is not published by this writer'. The content store keeps every official capture and record (the numbers of record), independent of the lake format. In BI the table is read by the Delta connector var-results (VOFF).</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Bank scale per the product owner (2026-10-27): 2.3 million positions and 15,000 portfolios (replacing 1.3M and 100,000). Arithmetic (decimal units, per currency): 2,300,000 × 509 × 8 B = 9,365,600,000 B = 9.37 GB a date in float64; × 4 B = 4.68 GB in float32. Parquet about 0.75 × raw (the VAR_GUIDE 27.4 estimate): 9.37 × 0.75 = 7.02 GB a date. A year: 7.02 GB × 252 = 1.77 TB (raw float64 9.37 × 252 = 2.36 TB). Seven years: 252 × 7 = 1,764 dates × 7.02 GB = 12.4 TB. Portfolio vectors: 15,000 × 509 × 8 B = 61,080,000 B = 61 MB a date a currency, if stored (proposed). Files a date: 7.02 GB / 512 MB ≈ 14 to 7.02 GB / 250 MB ≈ 28. Snapshot and metadata rows: ICEBERG_CONNECTOR.md section 9 measured a 1,800-commit table (93 ms a commit; start 160 ms before regrouping and expiry, 33 ms after). The metadata JSON size per snapshot is not measured in the docs; it grows linearly with snapshots kept (the spec lists every snapshot). Commits per year: one full run a date (252) plus intraday appends (Kafka micro-batches, 2.9.4): the count of intraday commits depends on the window and is an assumption here.</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VAR_GUIDE 15.1 and LAKE_MAINTENANCE.md (risk and risk-results keep 7 years: delta.logRetentionDuration and deletedFileRetentionDuration of 2,557 days; lake maintain raises lower settings, retention-floor). Each commit is a small JSON; checkpoints keep replay short. Iceberg: every snapshot kept stays listed in the metadata JSON rewritten by each commit (ICEBERG_CONNECTOR.md section 9); measured 1,800 daily commits is workable (93 ms a commit); named tags would let old snapshots be referenced selectively but reading branches and tags is 'later' in DRISHTI_ICEBERG.md. Intraday commits multiply the snapshot count. The official numbers of record are in the content store either way (VAR_GUIDE section 19). Figures at 2.3 million positions: 2,300,000 × 509 × 8 B × 0.75 ≈ 7.02 GB of Parquet a date; 252 × 7 = 1,764 dates ≈ 12.4 TB; 1,764 full-run versions (plus intraday batches).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14. Sources: tools/lake/stores.py, tools/build_demo_lakes.py, tools/lake/stores_equality.py, DEMO_DATA.md 'Mixed Delta and Iceberg storage', ICEBERG_CONNECTOR.md section 6 and 'As a connector file'.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Union read: the trading pack routes kind trade to three connectors (one per source system); each may be a different plugin. Drishti*net shards and replicas work per table. A kind can also be served by two stores in order (Aerospike or PostgreSQL first for recent days, a lake behind: ICEBERG_CONNECTOR.md section 10), so a fall-through from one format to the other for older days is the same mechanism. The equality test ran one server on each lake in turn.</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 Iceberg (BUILT for trade tables): stores.py streams a Delta table's rows (id, document, every promoted column) into IcebergLoader, each business day one overwrite of its partition, then removes the Delta table. It reads Delta with the deltalake package and is scoped to the trading domain. Iceberg → Delta: not built; the documents can be exported as JSON Lines and built with lake build (PROPOSED). In-place metadata conversion (Delta UniForm writing Iceberg metadata; Iceberg's snapshot/migrate procedures in Spark) keeps the Parquet files and writes the other format's metadata: not used by Drishti; note Drishti's Iceberg reader reads Parquet by field id, and files without ids need schema.name-mapping.default (supported). History: a conversion copies the current days; the source's time travel does not move with it.</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connector file's name is the connector's name (CONNECTOR_FILES.md; ICEBERG_CONNECTOR.md 'As a connector file'). A file is applied to the running server within seconds without a restart (Admin → Connectors, the YAML tab, or drishti.py connector apply). The Iceberg file must repeat the promoted layout the pack declared (a file replaces the pack's template wholesale). The data-load signal: build_demo_lakes.py --server tells the server once (trade, the newest date). Rolling back is the same edit in reverse while the Delta table is kept.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15 mirrors section 12 of the Delta deck and reuses its figures (AWS_DELTA_LAKE.md section 12). No new prices are invented: catalog charges are named, not quantified.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deck figures (AWS_DELTA_LAKE.md 12.3): S3 storage tiered USD 1,400 (all Standard 4,600); requests USD 500-700; server nodes USD 650-750; loader and maintenance USD 50-150; EFS USD 300 plus throughput; CloudWatch, Secrets, Cloud Map, endpoints, load balancer USD 200-400. Iceberg deltas are qualitative: zstd (Iceberg's layout) compresses documents more than Snappy (the Delta AWS layout); the docs measure about 0.7 KB per 6.5 KB trade for Iceberg/zstd but no Snappy figure on the same data, so the saving is not quantified here. Glue Data Catalog and S3 Tables have their own request and storage charges; check current list prices.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16 mirrors section 13 of the Delta deck, built from ICEBERG_CONNECTOR.md section 14 (Diagnosing).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ICEBERG_CONNECTOR.md section 14 symptom table; loader failure lines (section 6); single-writer warning (PathTableOps.probe log text); relocate messages (QA3B-03/04 fixes in the CHANGELOG).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Delta DR (AWS_DELTA_LAKE.md 13.5): time travel, S3 versioning (14 days), Cross-Region Replication with RTC, EFS and ECR replication, AWS Backup. Iceberg specifics: metadata names absolute paths, so a replica bucket's table names the source bucket; the native engine's relocate setting reads it ('s3://prod/wh -&gt; s3://dr/wh'; RelocationTest covers s3 pairs mapped to local folders; an s3 → s3 pair in the recovery Region is PROPOSED to test). Replication copies objects one by one: a metadata file can arrive before a data file it names, as with Delta. A path-based table's version-hint.text could also arrive before the metadata file it names: that read fails (NoSuchTable) until the file arrives; a hint that lags behind newer metadata files is caught up (PathTableOps.currentVersion).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17 mirrors section 15 and the closing slides of the Delta deck.</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Collected from ICEBERG_CONNECTOR.md section 13, ICEBERG_EXTERNAL_CONNECTOR.md section 11, DRISHTI_ICEBERG.md sections 5 and 14, and this deck's reading of the code (sections 1, 6, 13). VaR sharding across Drishti*net is designed, not built, and applies to either format (VAR_GUIDE.md section 28).</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decision follows from a section of this deck; the recommendations are PROPOSED.</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paths are in the Drishti repository. The Delta deck (docs/publications/Drishti-AWS-Delta-Lake.pptx) and the VaR engine deck (Drishti-VaR-Engine.pptx) are this deck's companions.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4754880"/>
            <a:ext cx="12191695" cy="73152"/>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TextBox 3"/>
          <p:cNvSpPr txBox="1"/>
          <p:nvPr/>
        </p:nvSpPr>
        <p:spPr>
          <a:xfrm>
            <a:off x="731520" y="1051560"/>
            <a:ext cx="10789920" cy="914400"/>
          </a:xfrm>
          <a:prstGeom prst="rect">
            <a:avLst/>
          </a:prstGeom>
          <a:noFill/>
        </p:spPr>
        <p:txBody>
          <a:bodyPr wrap="square" lIns="45720" rIns="45720" tIns="27432" bIns="27432" anchor="t">
            <a:spAutoFit/>
          </a:bodyPr>
          <a:lstStyle/>
          <a:p>
            <a:pPr algn="l">
              <a:lnSpc>
                <a:spcPct val="105000"/>
              </a:lnSpc>
            </a:pPr>
            <a:r>
              <a:rPr sz="4400" b="1" i="0">
                <a:solidFill>
                  <a:srgbClr val="FFFFFF"/>
                </a:solidFill>
                <a:latin typeface="Calibri"/>
              </a:rPr>
              <a:t>Drishti on AWS with Apache Iceberg</a:t>
            </a:r>
          </a:p>
        </p:txBody>
      </p:sp>
      <p:sp>
        <p:nvSpPr>
          <p:cNvPr id="5" name="TextBox 4"/>
          <p:cNvSpPr txBox="1"/>
          <p:nvPr/>
        </p:nvSpPr>
        <p:spPr>
          <a:xfrm>
            <a:off x="731520" y="1965960"/>
            <a:ext cx="10789920" cy="914400"/>
          </a:xfrm>
          <a:prstGeom prst="rect">
            <a:avLst/>
          </a:prstGeom>
          <a:noFill/>
        </p:spPr>
        <p:txBody>
          <a:bodyPr wrap="square" lIns="45720" rIns="45720" tIns="27432" bIns="27432" anchor="t">
            <a:spAutoFit/>
          </a:bodyPr>
          <a:lstStyle/>
          <a:p>
            <a:pPr algn="l">
              <a:lnSpc>
                <a:spcPct val="105000"/>
              </a:lnSpc>
            </a:pPr>
            <a:r>
              <a:rPr sz="2000" b="0" i="0">
                <a:solidFill>
                  <a:srgbClr val="C9D3E3"/>
                </a:solidFill>
                <a:latin typeface="Calibri"/>
              </a:rPr>
              <a:t>The same Drishti on either table format: what is identical, what differs, why, and how to choose between Delta Lake and Iceberg</a:t>
            </a:r>
          </a:p>
        </p:txBody>
      </p:sp>
      <p:sp>
        <p:nvSpPr>
          <p:cNvPr id="6" name="TextBox 5"/>
          <p:cNvSpPr txBox="1"/>
          <p:nvPr/>
        </p:nvSpPr>
        <p:spPr>
          <a:xfrm>
            <a:off x="731520" y="3337560"/>
            <a:ext cx="10789920" cy="1188720"/>
          </a:xfrm>
          <a:prstGeom prst="rect">
            <a:avLst/>
          </a:prstGeom>
          <a:noFill/>
        </p:spPr>
        <p:txBody>
          <a:bodyPr wrap="square" lIns="45720" rIns="45720" tIns="27432" bIns="27432" anchor="t">
            <a:spAutoFit/>
          </a:bodyPr>
          <a:lstStyle/>
          <a:p>
            <a:pPr algn="l">
              <a:lnSpc>
                <a:spcPct val="105000"/>
              </a:lnSpc>
            </a:pPr>
            <a:r>
              <a:rPr sz="1300" b="0" i="0">
                <a:solidFill>
                  <a:srgbClr val="A9B6CB"/>
                </a:solidFill>
                <a:latin typeface="Calibri"/>
              </a:rPr>
              <a:t>Status: drishti-iceberg (Iceberg without Hadoop) and the iceberg and iceberg-external connectors built in 2.6.0; mixed Delta and Iceberg storage built in 2.6.7; the AWS scripts in deploy/aws/ are the Delta lake's, their Iceberg variants are proposed</a:t>
            </a:r>
          </a:p>
          <a:p>
            <a:pPr algn="l">
              <a:lnSpc>
                <a:spcPct val="105000"/>
              </a:lnSpc>
            </a:pPr>
            <a:r>
              <a:rPr sz="1300" b="0" i="0">
                <a:solidFill>
                  <a:srgbClr val="A9B6CB"/>
                </a:solidFill>
                <a:latin typeface="Calibri"/>
              </a:rPr>
              <a:t>Sources: docs/architecture/DRISHTI_ICEBERG.md, docs/connectors/ICEBERG_CONNECTOR.md, ICEBERG_EXTERNAL_CONNECTOR.md, AWS_DELTA_LAKE.md and the code (Drishti 2.9.4). Companion to Drishti-AWS-Delta-Lake.pptx</a:t>
            </a:r>
          </a:p>
        </p:txBody>
      </p:sp>
      <p:sp>
        <p:nvSpPr>
          <p:cNvPr id="7" name="TextBox 6"/>
          <p:cNvSpPr txBox="1"/>
          <p:nvPr/>
        </p:nvSpPr>
        <p:spPr>
          <a:xfrm>
            <a:off x="731520" y="5029200"/>
            <a:ext cx="10789920" cy="548640"/>
          </a:xfrm>
          <a:prstGeom prst="rect">
            <a:avLst/>
          </a:prstGeom>
          <a:noFill/>
        </p:spPr>
        <p:txBody>
          <a:bodyPr wrap="square" lIns="45720" rIns="45720" tIns="27432" bIns="27432" anchor="t">
            <a:spAutoFit/>
          </a:bodyPr>
          <a:lstStyle/>
          <a:p>
            <a:pPr algn="l">
              <a:lnSpc>
                <a:spcPct val="105000"/>
              </a:lnSpc>
            </a:pPr>
            <a:r>
              <a:rPr sz="1600" b="1" i="0">
                <a:solidFill>
                  <a:srgbClr val="E87A1E"/>
                </a:solidFill>
                <a:latin typeface="Calibri"/>
              </a:rPr>
              <a:t>Drishti · Any data. Any domain. One grammar.</a:t>
            </a:r>
          </a:p>
        </p:txBody>
      </p:sp>
      <p:sp>
        <p:nvSpPr>
          <p:cNvPr id="8" name="TextBox 7"/>
          <p:cNvSpPr txBox="1"/>
          <p:nvPr/>
        </p:nvSpPr>
        <p:spPr>
          <a:xfrm>
            <a:off x="731520" y="6035040"/>
            <a:ext cx="10789920" cy="457200"/>
          </a:xfrm>
          <a:prstGeom prst="rect">
            <a:avLst/>
          </a:prstGeom>
          <a:noFill/>
        </p:spPr>
        <p:txBody>
          <a:bodyPr wrap="square" lIns="45720" rIns="45720" tIns="27432" bIns="27432" anchor="t">
            <a:spAutoFit/>
          </a:bodyPr>
          <a:lstStyle/>
          <a:p>
            <a:pPr algn="l">
              <a:lnSpc>
                <a:spcPct val="105000"/>
              </a:lnSpc>
            </a:pPr>
            <a:r>
              <a:rPr sz="1000" b="0" i="0">
                <a:solidFill>
                  <a:srgbClr val="8A96A8"/>
                </a:solidFill>
                <a:latin typeface="Calibri"/>
              </a:rPr>
              <a:t>Copyright © 2026 Ashutosh Sinha. All rights reserved. Proprietary and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this deck covers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contents</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a:t>
            </a:r>
          </a:p>
        </p:txBody>
      </p:sp>
      <p:sp>
        <p:nvSpPr>
          <p:cNvPr id="9" name="TextBox 8"/>
          <p:cNvSpPr txBox="1"/>
          <p:nvPr/>
        </p:nvSpPr>
        <p:spPr>
          <a:xfrm>
            <a:off x="548640" y="1234440"/>
            <a:ext cx="5486400" cy="4937760"/>
          </a:xfrm>
          <a:prstGeom prst="rect">
            <a:avLst/>
          </a:prstGeom>
          <a:noFill/>
        </p:spPr>
        <p:txBody>
          <a:bodyPr wrap="square" lIns="45720" rIns="45720" tIns="27432" bIns="27432" anchor="t">
            <a:spAutoFit/>
          </a:bodyPr>
          <a:lstStyle/>
          <a:p>
            <a:pPr algn="l">
              <a:lnSpc>
                <a:spcPct val="105000"/>
              </a:lnSpc>
              <a:spcAft>
                <a:spcPts val="900"/>
              </a:spcAft>
            </a:pPr>
            <a:r>
              <a:rPr sz="1600" b="0" i="0">
                <a:solidFill>
                  <a:srgbClr val="1C2433"/>
                </a:solidFill>
                <a:latin typeface="Calibri"/>
              </a:rPr>
              <a:t>1  The principle: one Drishti above the storage plugins</a:t>
            </a:r>
          </a:p>
          <a:p>
            <a:pPr algn="l">
              <a:lnSpc>
                <a:spcPct val="105000"/>
              </a:lnSpc>
              <a:spcAft>
                <a:spcPts val="900"/>
              </a:spcAft>
            </a:pPr>
            <a:r>
              <a:rPr sz="1600" b="0" i="0">
                <a:solidFill>
                  <a:srgbClr val="1C2433"/>
                </a:solidFill>
                <a:latin typeface="Calibri"/>
              </a:rPr>
              <a:t>2  The picture on AWS, with Iceberg</a:t>
            </a:r>
          </a:p>
          <a:p>
            <a:pPr algn="l">
              <a:lnSpc>
                <a:spcPct val="105000"/>
              </a:lnSpc>
              <a:spcAft>
                <a:spcPts val="900"/>
              </a:spcAft>
            </a:pPr>
            <a:r>
              <a:rPr sz="1600" b="0" i="0">
                <a:solidFill>
                  <a:srgbClr val="1C2433"/>
                </a:solidFill>
                <a:latin typeface="Calibri"/>
              </a:rPr>
              <a:t>3  Why S3 and not EFS (the same answer)</a:t>
            </a:r>
          </a:p>
          <a:p>
            <a:pPr algn="l">
              <a:lnSpc>
                <a:spcPct val="105000"/>
              </a:lnSpc>
              <a:spcAft>
                <a:spcPts val="900"/>
              </a:spcAft>
            </a:pPr>
            <a:r>
              <a:rPr sz="1600" b="0" i="0">
                <a:solidFill>
                  <a:srgbClr val="1C2433"/>
                </a:solidFill>
                <a:latin typeface="Calibri"/>
              </a:rPr>
              <a:t>4  Iceberg in Drishti, as built</a:t>
            </a:r>
          </a:p>
          <a:p>
            <a:pPr algn="l">
              <a:lnSpc>
                <a:spcPct val="105000"/>
              </a:lnSpc>
              <a:spcAft>
                <a:spcPts val="900"/>
              </a:spcAft>
            </a:pPr>
            <a:r>
              <a:rPr sz="1600" b="0" i="0">
                <a:solidFill>
                  <a:srgbClr val="1C2433"/>
                </a:solidFill>
                <a:latin typeface="Calibri"/>
              </a:rPr>
              <a:t>5  Built, designed, proposed</a:t>
            </a:r>
          </a:p>
          <a:p>
            <a:pPr algn="l">
              <a:lnSpc>
                <a:spcPct val="105000"/>
              </a:lnSpc>
              <a:spcAft>
                <a:spcPts val="900"/>
              </a:spcAft>
            </a:pPr>
            <a:r>
              <a:rPr sz="1600" b="0" i="0">
                <a:solidFill>
                  <a:srgbClr val="1C2433"/>
                </a:solidFill>
                <a:latin typeface="Calibri"/>
              </a:rPr>
              <a:t>6  Deploying on AWS with Iceberg: catalog, IAM, KMS, network</a:t>
            </a:r>
          </a:p>
          <a:p>
            <a:pPr algn="l">
              <a:lnSpc>
                <a:spcPct val="105000"/>
              </a:lnSpc>
              <a:spcAft>
                <a:spcPts val="900"/>
              </a:spcAft>
            </a:pPr>
            <a:r>
              <a:rPr sz="1600" b="0" i="0">
                <a:solidFill>
                  <a:srgbClr val="1C2433"/>
                </a:solidFill>
                <a:latin typeface="Calibri"/>
              </a:rPr>
              <a:t>7  The layout: tables, columns, partitions</a:t>
            </a:r>
          </a:p>
          <a:p>
            <a:pPr algn="l">
              <a:lnSpc>
                <a:spcPct val="105000"/>
              </a:lnSpc>
              <a:spcAft>
                <a:spcPts val="900"/>
              </a:spcAft>
            </a:pPr>
            <a:r>
              <a:rPr sz="1600" b="0" i="0">
                <a:solidFill>
                  <a:srgbClr val="1C2433"/>
                </a:solidFill>
                <a:latin typeface="Calibri"/>
              </a:rPr>
              <a:t>8  Files and loading</a:t>
            </a:r>
          </a:p>
          <a:p>
            <a:pPr algn="l">
              <a:lnSpc>
                <a:spcPct val="105000"/>
              </a:lnSpc>
              <a:spcAft>
                <a:spcPts val="900"/>
              </a:spcAft>
            </a:pPr>
            <a:r>
              <a:rPr sz="1600" b="0" i="0">
                <a:solidFill>
                  <a:srgbClr val="1C2433"/>
                </a:solidFill>
                <a:latin typeface="Calibri"/>
              </a:rPr>
              <a:t>9  Maintenance</a:t>
            </a:r>
          </a:p>
        </p:txBody>
      </p:sp>
      <p:sp>
        <p:nvSpPr>
          <p:cNvPr id="10" name="TextBox 9"/>
          <p:cNvSpPr txBox="1"/>
          <p:nvPr/>
        </p:nvSpPr>
        <p:spPr>
          <a:xfrm>
            <a:off x="6309360" y="1234440"/>
            <a:ext cx="5486400" cy="4937760"/>
          </a:xfrm>
          <a:prstGeom prst="rect">
            <a:avLst/>
          </a:prstGeom>
          <a:noFill/>
        </p:spPr>
        <p:txBody>
          <a:bodyPr wrap="square" lIns="45720" rIns="45720" tIns="27432" bIns="27432" anchor="t">
            <a:spAutoFit/>
          </a:bodyPr>
          <a:lstStyle/>
          <a:p>
            <a:pPr algn="l">
              <a:lnSpc>
                <a:spcPct val="105000"/>
              </a:lnSpc>
              <a:spcAft>
                <a:spcPts val="900"/>
              </a:spcAft>
            </a:pPr>
            <a:r>
              <a:rPr sz="1600" b="0" i="0">
                <a:solidFill>
                  <a:srgbClr val="1C2433"/>
                </a:solidFill>
                <a:latin typeface="Calibri"/>
              </a:rPr>
              <a:t>10  Caches and staying fast</a:t>
            </a:r>
          </a:p>
          <a:p>
            <a:pPr algn="l">
              <a:lnSpc>
                <a:spcPct val="105000"/>
              </a:lnSpc>
              <a:spcAft>
                <a:spcPts val="900"/>
              </a:spcAft>
            </a:pPr>
            <a:r>
              <a:rPr sz="1600" b="0" i="0">
                <a:solidFill>
                  <a:srgbClr val="1C2433"/>
                </a:solidFill>
                <a:latin typeface="Calibri"/>
              </a:rPr>
              <a:t>11  Delta Lake and Iceberg side by side</a:t>
            </a:r>
          </a:p>
          <a:p>
            <a:pPr algn="l">
              <a:lnSpc>
                <a:spcPct val="105000"/>
              </a:lnSpc>
              <a:spcAft>
                <a:spcPts val="900"/>
              </a:spcAft>
            </a:pPr>
            <a:r>
              <a:rPr sz="1600" b="0" i="0">
                <a:solidFill>
                  <a:srgbClr val="1C2433"/>
                </a:solidFill>
                <a:latin typeface="Calibri"/>
              </a:rPr>
              <a:t>12  Which to choose: a guide for a bank</a:t>
            </a:r>
          </a:p>
          <a:p>
            <a:pPr algn="l">
              <a:lnSpc>
                <a:spcPct val="105000"/>
              </a:lnSpc>
              <a:spcAft>
                <a:spcPts val="900"/>
              </a:spcAft>
            </a:pPr>
            <a:r>
              <a:rPr sz="1600" b="0" i="0">
                <a:solidFill>
                  <a:srgbClr val="1C2433"/>
                </a:solidFill>
                <a:latin typeface="Calibri"/>
              </a:rPr>
              <a:t>13  Risk workloads on Iceberg: VaR, exposure, official results</a:t>
            </a:r>
          </a:p>
          <a:p>
            <a:pPr algn="l">
              <a:lnSpc>
                <a:spcPct val="105000"/>
              </a:lnSpc>
              <a:spcAft>
                <a:spcPts val="900"/>
              </a:spcAft>
            </a:pPr>
            <a:r>
              <a:rPr sz="1600" b="0" i="0">
                <a:solidFill>
                  <a:srgbClr val="1C2433"/>
                </a:solidFill>
                <a:latin typeface="Calibri"/>
              </a:rPr>
              <a:t>14  Migration and coexistence</a:t>
            </a:r>
          </a:p>
          <a:p>
            <a:pPr algn="l">
              <a:lnSpc>
                <a:spcPct val="105000"/>
              </a:lnSpc>
              <a:spcAft>
                <a:spcPts val="900"/>
              </a:spcAft>
            </a:pPr>
            <a:r>
              <a:rPr sz="1600" b="0" i="0">
                <a:solidFill>
                  <a:srgbClr val="1C2433"/>
                </a:solidFill>
                <a:latin typeface="Calibri"/>
              </a:rPr>
              <a:t>15  Sizing and cost</a:t>
            </a:r>
          </a:p>
          <a:p>
            <a:pPr algn="l">
              <a:lnSpc>
                <a:spcPct val="105000"/>
              </a:lnSpc>
              <a:spcAft>
                <a:spcPts val="900"/>
              </a:spcAft>
            </a:pPr>
            <a:r>
              <a:rPr sz="1600" b="0" i="0">
                <a:solidFill>
                  <a:srgbClr val="1C2433"/>
                </a:solidFill>
                <a:latin typeface="Calibri"/>
              </a:rPr>
              <a:t>16  Runbooks</a:t>
            </a:r>
          </a:p>
          <a:p>
            <a:pPr algn="l">
              <a:lnSpc>
                <a:spcPct val="105000"/>
              </a:lnSpc>
              <a:spcAft>
                <a:spcPts val="900"/>
              </a:spcAft>
            </a:pPr>
            <a:r>
              <a:rPr sz="1600" b="0" i="0">
                <a:solidFill>
                  <a:srgbClr val="1C2433"/>
                </a:solidFill>
                <a:latin typeface="Calibri"/>
              </a:rPr>
              <a:t>17  Limits, decisions, related documents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one rule: the format is a per-connector choice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read this first</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a:t>
            </a:r>
          </a:p>
        </p:txBody>
      </p:sp>
      <p:sp>
        <p:nvSpPr>
          <p:cNvPr id="9" name="Rounded Rectangle 8"/>
          <p:cNvSpPr/>
          <p:nvPr/>
        </p:nvSpPr>
        <p:spPr>
          <a:xfrm>
            <a:off x="411480" y="1188720"/>
            <a:ext cx="11365992" cy="15087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411480" y="1188720"/>
            <a:ext cx="82296" cy="15087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1261872"/>
            <a:ext cx="10972800" cy="1371600"/>
          </a:xfrm>
          <a:prstGeom prst="rect">
            <a:avLst/>
          </a:prstGeom>
          <a:noFill/>
        </p:spPr>
        <p:txBody>
          <a:bodyPr wrap="square" lIns="45720" rIns="45720" tIns="27432" bIns="27432" anchor="ctr">
            <a:spAutoFit/>
          </a:bodyPr>
          <a:lstStyle/>
          <a:p>
            <a:pPr algn="l">
              <a:lnSpc>
                <a:spcPct val="105000"/>
              </a:lnSpc>
            </a:pPr>
            <a:r>
              <a:rPr sz="1600" b="1" i="0">
                <a:solidFill>
                  <a:srgbClr val="1C2433"/>
                </a:solidFill>
                <a:latin typeface="Calibri"/>
              </a:rPr>
              <a:t>Drishti is table-format-agnostic above the storage plugins. Delta Lake or Iceberg is chosen per connector, per table.</a:t>
            </a:r>
          </a:p>
          <a:p>
            <a:pPr algn="l">
              <a:lnSpc>
                <a:spcPct val="105000"/>
              </a:lnSpc>
            </a:pPr>
            <a:r>
              <a:rPr sz="1500" b="0" i="0">
                <a:solidFill>
                  <a:srgbClr val="1C2433"/>
                </a:solidFill>
                <a:latin typeface="Calibri"/>
              </a:rPr>
              <a:t>Packs, data contracts (JSON Lines in), connector names, searches, BI, the VaR and exposure engines and the UI do not know the format. Either way the lake lives in Amazon S3 and EFS keeps only state and caches.</a:t>
            </a:r>
          </a:p>
        </p:txBody>
      </p:sp>
      <p:sp>
        <p:nvSpPr>
          <p:cNvPr id="12" name="TextBox 11"/>
          <p:cNvSpPr txBox="1"/>
          <p:nvPr/>
        </p:nvSpPr>
        <p:spPr>
          <a:xfrm>
            <a:off x="411480" y="2926080"/>
            <a:ext cx="11365992" cy="3383280"/>
          </a:xfrm>
          <a:prstGeom prst="rect">
            <a:avLst/>
          </a:prstGeom>
          <a:noFill/>
        </p:spPr>
        <p:txBody>
          <a:bodyPr wrap="square" lIns="45720" rIns="45720" tIns="27432" bIns="27432" anchor="t">
            <a:spAutoFit/>
          </a:bodyPr>
          <a:lstStyle/>
          <a:p>
            <a:pPr algn="l">
              <a:lnSpc>
                <a:spcPct val="105000"/>
              </a:lnSpc>
              <a:spcAft>
                <a:spcPts val="1200"/>
              </a:spcAft>
            </a:pPr>
            <a:r>
              <a:rPr sz="1500" b="0" i="0">
                <a:solidFill>
                  <a:srgbClr val="E87A1E"/>
                </a:solidFill>
                <a:latin typeface="Calibri"/>
              </a:rPr>
              <a:t>•  </a:t>
            </a:r>
            <a:r>
              <a:rPr sz="1500" b="1" i="0">
                <a:solidFill>
                  <a:srgbClr val="1C2433"/>
                </a:solidFill>
                <a:latin typeface="Calibri"/>
              </a:rPr>
              <a:t>Delta Lake:</a:t>
            </a:r>
            <a:r>
              <a:rPr sz="1500" b="0" i="0">
                <a:solidFill>
                  <a:srgbClr val="1C2433"/>
                </a:solidFill>
                <a:latin typeface="Calibri"/>
              </a:rPr>
              <a:t> </a:t>
            </a:r>
            <a:r>
              <a:rPr sz="1400" b="0" i="0">
                <a:solidFill>
                  <a:srgbClr val="0E7C86"/>
                </a:solidFill>
                <a:latin typeface="Consolas"/>
              </a:rPr>
              <a:t>s3://&lt;org&gt;-drishti-&lt;env&gt;-lake/lake/&lt;domain&gt;/&lt;table&gt;/</a:t>
            </a:r>
            <a:r>
              <a:rPr sz="1500" b="0" i="0">
                <a:solidFill>
                  <a:srgbClr val="1C2433"/>
                </a:solidFill>
                <a:latin typeface="Calibri"/>
              </a:rPr>
              <a:t> with </a:t>
            </a:r>
            <a:r>
              <a:rPr sz="1400" b="0" i="0">
                <a:solidFill>
                  <a:srgbClr val="0E7C86"/>
                </a:solidFill>
                <a:latin typeface="Consolas"/>
              </a:rPr>
              <a:t>_delta_log/</a:t>
            </a:r>
            <a:r>
              <a:rPr sz="1500" b="0" i="0">
                <a:solidFill>
                  <a:srgbClr val="1C2433"/>
                </a:solidFill>
                <a:latin typeface="Calibri"/>
              </a:rPr>
              <a:t> and </a:t>
            </a:r>
            <a:r>
              <a:rPr sz="1400" b="0" i="0">
                <a:solidFill>
                  <a:srgbClr val="0E7C86"/>
                </a:solidFill>
                <a:latin typeface="Consolas"/>
              </a:rPr>
              <a:t>business_date=…/</a:t>
            </a:r>
            <a:r>
              <a:rPr sz="1500" b="0" i="0">
                <a:solidFill>
                  <a:srgbClr val="1C2433"/>
                </a:solidFill>
                <a:latin typeface="Calibri"/>
              </a:rPr>
              <a:t> folders</a:t>
            </a:r>
          </a:p>
          <a:p>
            <a:pPr algn="l">
              <a:lnSpc>
                <a:spcPct val="105000"/>
              </a:lnSpc>
              <a:spcAft>
                <a:spcPts val="1200"/>
              </a:spcAft>
            </a:pPr>
            <a:r>
              <a:rPr sz="1500" b="0" i="0">
                <a:solidFill>
                  <a:srgbClr val="E87A1E"/>
                </a:solidFill>
                <a:latin typeface="Calibri"/>
              </a:rPr>
              <a:t>•  </a:t>
            </a:r>
            <a:r>
              <a:rPr sz="1500" b="1" i="0">
                <a:solidFill>
                  <a:srgbClr val="1C2433"/>
                </a:solidFill>
                <a:latin typeface="Calibri"/>
              </a:rPr>
              <a:t>Iceberg:</a:t>
            </a:r>
            <a:r>
              <a:rPr sz="1500" b="0" i="0">
                <a:solidFill>
                  <a:srgbClr val="1C2433"/>
                </a:solidFill>
                <a:latin typeface="Calibri"/>
              </a:rPr>
              <a:t> </a:t>
            </a:r>
            <a:r>
              <a:rPr sz="1400" b="0" i="0">
                <a:solidFill>
                  <a:srgbClr val="0E7C86"/>
                </a:solidFill>
                <a:latin typeface="Consolas"/>
              </a:rPr>
              <a:t>s3://…-lake/iceberg/&lt;domain&gt;/&lt;table&gt;/</a:t>
            </a:r>
            <a:r>
              <a:rPr sz="1500" b="0" i="0">
                <a:solidFill>
                  <a:srgbClr val="1C2433"/>
                </a:solidFill>
                <a:latin typeface="Calibri"/>
              </a:rPr>
              <a:t> with </a:t>
            </a:r>
            <a:r>
              <a:rPr sz="1400" b="0" i="0">
                <a:solidFill>
                  <a:srgbClr val="0E7C86"/>
                </a:solidFill>
                <a:latin typeface="Consolas"/>
              </a:rPr>
              <a:t>metadata/</a:t>
            </a:r>
            <a:r>
              <a:rPr sz="1500" b="0" i="0">
                <a:solidFill>
                  <a:srgbClr val="1C2433"/>
                </a:solidFill>
                <a:latin typeface="Calibri"/>
              </a:rPr>
              <a:t> (metadata JSON, manifest lists, manifests) and </a:t>
            </a:r>
            <a:r>
              <a:rPr sz="1400" b="0" i="0">
                <a:solidFill>
                  <a:srgbClr val="0E7C86"/>
                </a:solidFill>
                <a:latin typeface="Consolas"/>
              </a:rPr>
              <a:t>data/business_date=…/</a:t>
            </a:r>
          </a:p>
          <a:p>
            <a:pPr algn="l">
              <a:lnSpc>
                <a:spcPct val="105000"/>
              </a:lnSpc>
              <a:spcAft>
                <a:spcPts val="1200"/>
              </a:spcAft>
            </a:pPr>
            <a:r>
              <a:rPr sz="1500" b="0" i="0">
                <a:solidFill>
                  <a:srgbClr val="E87A1E"/>
                </a:solidFill>
                <a:latin typeface="Calibri"/>
              </a:rPr>
              <a:t>•  </a:t>
            </a:r>
            <a:r>
              <a:rPr sz="1500" b="1" i="0">
                <a:solidFill>
                  <a:srgbClr val="1C2433"/>
                </a:solidFill>
                <a:latin typeface="Calibri"/>
              </a:rPr>
              <a:t>One switch per table:</a:t>
            </a:r>
            <a:r>
              <a:rPr sz="1500" b="0" i="0">
                <a:solidFill>
                  <a:srgbClr val="1C2433"/>
                </a:solidFill>
                <a:latin typeface="Calibri"/>
              </a:rPr>
              <a:t> a connector file says </a:t>
            </a:r>
            <a:r>
              <a:rPr sz="1400" b="0" i="0">
                <a:solidFill>
                  <a:srgbClr val="0E7C86"/>
                </a:solidFill>
                <a:latin typeface="Consolas"/>
              </a:rPr>
              <a:t>plugin: delta</a:t>
            </a:r>
            <a:r>
              <a:rPr sz="1500" b="0" i="0">
                <a:solidFill>
                  <a:srgbClr val="1C2433"/>
                </a:solidFill>
                <a:latin typeface="Calibri"/>
              </a:rPr>
              <a:t> or </a:t>
            </a:r>
            <a:r>
              <a:rPr sz="1400" b="0" i="0">
                <a:solidFill>
                  <a:srgbClr val="0E7C86"/>
                </a:solidFill>
                <a:latin typeface="Consolas"/>
              </a:rPr>
              <a:t>plugin: iceberg</a:t>
            </a:r>
            <a:r>
              <a:rPr sz="1500" b="0" i="0">
                <a:solidFill>
                  <a:srgbClr val="1C2433"/>
                </a:solidFill>
                <a:latin typeface="Calibri"/>
              </a:rPr>
              <a:t>; its name (</a:t>
            </a:r>
            <a:r>
              <a:rPr sz="1400" b="0" i="0">
                <a:solidFill>
                  <a:srgbClr val="0E7C86"/>
                </a:solidFill>
                <a:latin typeface="Consolas"/>
              </a:rPr>
              <a:t>trade-calypso</a:t>
            </a:r>
            <a:r>
              <a:rPr sz="1500" b="0" i="0">
                <a:solidFill>
                  <a:srgbClr val="1C2433"/>
                </a:solidFill>
                <a:latin typeface="Calibri"/>
              </a:rPr>
              <a:t>) and its kinds stay</a:t>
            </a:r>
          </a:p>
          <a:p>
            <a:pPr algn="l">
              <a:lnSpc>
                <a:spcPct val="105000"/>
              </a:lnSpc>
              <a:spcAft>
                <a:spcPts val="1200"/>
              </a:spcAft>
            </a:pPr>
            <a:r>
              <a:rPr sz="1500" b="0" i="0">
                <a:solidFill>
                  <a:srgbClr val="E87A1E"/>
                </a:solidFill>
                <a:latin typeface="Calibri"/>
              </a:rPr>
              <a:t>•  </a:t>
            </a:r>
            <a:r>
              <a:rPr sz="1500" b="1" i="0">
                <a:solidFill>
                  <a:srgbClr val="1C2433"/>
                </a:solidFill>
                <a:latin typeface="Calibri"/>
              </a:rPr>
              <a:t>Never on EFS:</a:t>
            </a:r>
            <a:r>
              <a:rPr sz="1500" b="0" i="0">
                <a:solidFill>
                  <a:srgbClr val="1C2433"/>
                </a:solidFill>
                <a:latin typeface="Calibri"/>
              </a:rPr>
              <a:t> lake data, </a:t>
            </a:r>
            <a:r>
              <a:rPr sz="1400" b="0" i="0">
                <a:solidFill>
                  <a:srgbClr val="0E7C86"/>
                </a:solidFill>
                <a:latin typeface="Consolas"/>
              </a:rPr>
              <a:t>_delta_log/</a:t>
            </a:r>
            <a:r>
              <a:rPr sz="1500" b="0" i="0">
                <a:solidFill>
                  <a:srgbClr val="1C2433"/>
                </a:solidFill>
                <a:latin typeface="Calibri"/>
              </a:rPr>
              <a:t>, </a:t>
            </a:r>
            <a:r>
              <a:rPr sz="1400" b="0" i="0">
                <a:solidFill>
                  <a:srgbClr val="0E7C86"/>
                </a:solidFill>
                <a:latin typeface="Consolas"/>
              </a:rPr>
              <a:t>metadata/</a:t>
            </a:r>
            <a:r>
              <a:rPr sz="1500" b="0" i="0">
                <a:solidFill>
                  <a:srgbClr val="1C2433"/>
                </a:solidFill>
                <a:latin typeface="Calibri"/>
              </a:rPr>
              <a:t>. EFS holds configuration, users, Drishti*net state and rebuildable caches</a:t>
            </a:r>
          </a:p>
          <a:p>
            <a:pPr algn="l">
              <a:lnSpc>
                <a:spcPct val="105000"/>
              </a:lnSpc>
              <a:spcAft>
                <a:spcPts val="1200"/>
              </a:spcAft>
            </a:pPr>
            <a:r>
              <a:rPr sz="1500" b="0" i="0">
                <a:solidFill>
                  <a:srgbClr val="E87A1E"/>
                </a:solidFill>
                <a:latin typeface="Calibri"/>
              </a:rPr>
              <a:t>•  </a:t>
            </a:r>
            <a:r>
              <a:rPr sz="1500" b="1" i="0">
                <a:solidFill>
                  <a:srgbClr val="1C2433"/>
                </a:solidFill>
                <a:latin typeface="Calibri"/>
              </a:rPr>
              <a:t>The honest caveat:</a:t>
            </a:r>
            <a:r>
              <a:rPr sz="1500" b="0" i="0">
                <a:solidFill>
                  <a:srgbClr val="1C2433"/>
                </a:solidFill>
                <a:latin typeface="Calibri"/>
              </a:rPr>
              <a:t> the two plugins do not yet implement the same capabilities: VaR and exposure vectors, official results and the AWS scripts are Delta only today (slide 8, section 13)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Status: what exists today, and how it was tested</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read this first</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a:t>
            </a:r>
          </a:p>
        </p:txBody>
      </p:sp>
      <p:graphicFrame>
        <p:nvGraphicFramePr>
          <p:cNvPr id="9" name="Table 8"/>
          <p:cNvGraphicFramePr>
            <a:graphicFrameLocks noGrp="1"/>
          </p:cNvGraphicFramePr>
          <p:nvPr/>
        </p:nvGraphicFramePr>
        <p:xfrm>
          <a:off x="411480" y="1188720"/>
          <a:ext cx="11365992" cy="4762192"/>
        </p:xfrm>
        <a:graphic>
          <a:graphicData uri="http://schemas.openxmlformats.org/drawingml/2006/table">
            <a:tbl>
              <a:tblPr firstRow="1" bandRow="1">
                <a:tableStyleId>{5940675A-B579-460E-94D1-54222C63F5DA}</a:tableStyleId>
              </a:tblPr>
              <a:tblGrid>
                <a:gridCol w="4572000"/>
                <a:gridCol w="1143000"/>
                <a:gridCol w="5650992"/>
              </a:tblGrid>
              <a:tr h="435254">
                <a:tc>
                  <a:txBody>
                    <a:bodyPr wrap="square"/>
                    <a:lstStyle/>
                    <a:p>
                      <a:pPr algn="l">
                        <a:lnSpc>
                          <a:spcPct val="100000"/>
                        </a:lnSpc>
                      </a:pPr>
                      <a:r>
                        <a:rPr sz="1200" b="1" i="0">
                          <a:solidFill>
                            <a:srgbClr val="FFFFFF"/>
                          </a:solidFill>
                          <a:latin typeface="Calibri"/>
                        </a:rPr>
                        <a:t>Piece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Where, and how it is tested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8614">
                <a:tc>
                  <a:txBody>
                    <a:bodyPr wrap="square"/>
                    <a:lstStyle/>
                    <a:p>
                      <a:pPr algn="l">
                        <a:lnSpc>
                          <a:spcPct val="100000"/>
                        </a:lnSpc>
                      </a:pPr>
                      <a:r>
                        <a:rPr sz="1200" b="1" i="0">
                          <a:solidFill>
                            <a:srgbClr val="1C2433"/>
                          </a:solidFill>
                          <a:latin typeface="Calibri"/>
                        </a:rPr>
                        <a:t>drishti-iceberg: Drishti's own Iceberg engine, no Hadoop (read, write, commit, maintain)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drishti-iceberg</a:t>
                      </a:r>
                      <a:r>
                        <a:rPr sz="1200" b="0" i="0">
                          <a:solidFill>
                            <a:srgbClr val="1C2433"/>
                          </a:solidFill>
                          <a:latin typeface="Calibri"/>
                        </a:rPr>
                        <a:t>, </a:t>
                      </a:r>
                      <a:r>
                        <a:rPr sz="1100" b="0" i="0">
                          <a:solidFill>
                            <a:srgbClr val="0E7C86"/>
                          </a:solidFill>
                          <a:latin typeface="Consolas"/>
                        </a:rPr>
                        <a:t>drishti-lakeio</a:t>
                      </a:r>
                      <a:r>
                        <a:rPr sz="1200" b="0" i="0">
                          <a:solidFill>
                            <a:srgbClr val="1C2433"/>
                          </a:solidFill>
                          <a:latin typeface="Calibri"/>
                        </a:rPr>
                        <a:t>; pyiceberg interop both ways; a class loader that refuses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100" b="1" i="0">
                          <a:solidFill>
                            <a:srgbClr val="0E7C86"/>
                          </a:solidFill>
                          <a:latin typeface="Consolas"/>
                        </a:rPr>
                        <a:t>iceberg</a:t>
                      </a:r>
                      <a:r>
                        <a:rPr sz="1200" b="1" i="0">
                          <a:solidFill>
                            <a:srgbClr val="1C2433"/>
                          </a:solidFill>
                          <a:latin typeface="Calibri"/>
                        </a:rPr>
                        <a:t> connector (Drishti's layout) and </a:t>
                      </a:r>
                      <a:r>
                        <a:rPr sz="1100" b="1" i="0">
                          <a:solidFill>
                            <a:srgbClr val="0E7C86"/>
                          </a:solidFill>
                          <a:latin typeface="Consolas"/>
                        </a:rPr>
                        <a:t>iceberg-external</a:t>
                      </a:r>
                      <a:r>
                        <a:rPr sz="1200" b="1" i="0">
                          <a:solidFill>
                            <a:srgbClr val="1C2433"/>
                          </a:solidFill>
                          <a:latin typeface="Calibri"/>
                        </a:rPr>
                        <a:t> (anyone's tables, read-only)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plugins/drishti-plugin-iceberg</a:t>
                      </a:r>
                      <a:r>
                        <a:rPr sz="1200" b="0" i="0">
                          <a:solidFill>
                            <a:srgbClr val="1C2433"/>
                          </a:solidFill>
                          <a:latin typeface="Calibri"/>
                        </a:rPr>
                        <a:t>, </a:t>
                      </a:r>
                      <a:r>
                        <a:rPr sz="1100" b="0" i="0">
                          <a:solidFill>
                            <a:srgbClr val="0E7C86"/>
                          </a:solidFill>
                          <a:latin typeface="Consolas"/>
                        </a:rPr>
                        <a:t>-iceberg-external</a:t>
                      </a:r>
                      <a:r>
                        <a:rPr sz="1200" b="0" i="0">
                          <a:solidFill>
                            <a:srgbClr val="1C2433"/>
                          </a:solidFill>
                          <a:latin typeface="Calibri"/>
                        </a:rPr>
                        <a:t>; every plugin test on both engines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Iceberg tables in S3: loader writes, connector reads, commits by conditional PUT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S3Mock (in-process and Docker), MinIO; racing writers on MinIO only; never real AWS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REST catalogs, incl. AWS Glue's Iceberg endpoint (SigV4)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REST protocol tests; SigV4 signature unit test; not run against Glue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Mixed storage: a source system's trades in Iceberg beside Delta (</a:t>
                      </a:r>
                      <a:r>
                        <a:rPr sz="1100" b="1" i="0">
                          <a:solidFill>
                            <a:srgbClr val="0E7C86"/>
                          </a:solidFill>
                          <a:latin typeface="Consolas"/>
                        </a:rPr>
                        <a:t>--store calypso=iceberg</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tools/lake/stores.py</a:t>
                      </a:r>
                      <a:r>
                        <a:rPr sz="1200" b="0" i="0">
                          <a:solidFill>
                            <a:srgbClr val="1C2433"/>
                          </a:solidFill>
                          <a:latin typeface="Calibri"/>
                        </a:rPr>
                        <a:t>; equality test: 18 answers the 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AWS scripts for an Iceberg lake (load, maintain, lifecycle, alarms, report)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deploy/aws/delta-lake/</a:t>
                      </a:r>
                      <a:r>
                        <a:rPr sz="1200" b="0" i="0">
                          <a:solidFill>
                            <a:srgbClr val="1C2433"/>
                          </a:solidFill>
                          <a:latin typeface="Calibri"/>
                        </a:rPr>
                        <a:t> is Delta only; ECS, EFS, IAM, Cloud Map scripts are shared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VaR and exposure inputs (vectors) and official results on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Iceberg plugin has no </a:t>
                      </a:r>
                      <a:r>
                        <a:rPr sz="1100" b="0" i="0">
                          <a:solidFill>
                            <a:srgbClr val="0E7C86"/>
                          </a:solidFill>
                          <a:latin typeface="Consolas"/>
                        </a:rPr>
                        <a:t>vectors()</a:t>
                      </a:r>
                      <a:r>
                        <a:rPr sz="1200" b="0" i="0">
                          <a:solidFill>
                            <a:srgbClr val="1C2433"/>
                          </a:solidFill>
                          <a:latin typeface="Calibri"/>
                        </a:rPr>
                        <a:t>; publishing writes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01</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The principle</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One Drishti above the storage plugins: what is identical on Delta and Iceberg, where each plugs in, and how one table switches format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Where Delta and Iceberg plug in, and where they don't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a:t>
            </a:r>
          </a:p>
        </p:txBody>
      </p:sp>
      <p:sp>
        <p:nvSpPr>
          <p:cNvPr id="9" name="Rounded Rectangle 8"/>
          <p:cNvSpPr/>
          <p:nvPr/>
        </p:nvSpPr>
        <p:spPr>
          <a:xfrm>
            <a:off x="411480" y="114300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14300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Console and UI · terminals, pages, BI reports, Admin</a:t>
            </a:r>
          </a:p>
        </p:txBody>
      </p:sp>
      <p:sp>
        <p:nvSpPr>
          <p:cNvPr id="11" name="Rounded Rectangle 10"/>
          <p:cNvSpPr/>
          <p:nvPr/>
        </p:nvSpPr>
        <p:spPr>
          <a:xfrm>
            <a:off x="411480" y="169164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548640" y="169164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Server · BI, VaR and exposure engines, captures, Drishti*net (replicas, shards, forwarding)</a:t>
            </a:r>
          </a:p>
        </p:txBody>
      </p:sp>
      <p:sp>
        <p:nvSpPr>
          <p:cNvPr id="13" name="Rounded Rectangle 12"/>
          <p:cNvSpPr/>
          <p:nvPr/>
        </p:nvSpPr>
        <p:spPr>
          <a:xfrm>
            <a:off x="411480" y="224028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48640" y="224028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Packs and data contracts · kinds, promoted columns, JSON Lines in · connector names (trade-calypso)</a:t>
            </a:r>
          </a:p>
        </p:txBody>
      </p:sp>
      <p:sp>
        <p:nvSpPr>
          <p:cNvPr id="15" name="Rounded Rectangle 14"/>
          <p:cNvSpPr/>
          <p:nvPr/>
        </p:nvSpPr>
        <p:spPr>
          <a:xfrm>
            <a:off x="411480" y="2788920"/>
            <a:ext cx="7498079" cy="457200"/>
          </a:xfrm>
          <a:prstGeom prst="roundRect">
            <a:avLst>
              <a:gd name="adj" fmla="val 15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48640" y="2788920"/>
            <a:ext cx="7315200" cy="457200"/>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Engine · SourceRouter: a kind to its connectors, in order; reads, searches, columns, history, scans</a:t>
            </a:r>
          </a:p>
        </p:txBody>
      </p:sp>
      <p:sp>
        <p:nvSpPr>
          <p:cNvPr id="17" name="Rounded Rectangle 16"/>
          <p:cNvSpPr/>
          <p:nvPr/>
        </p:nvSpPr>
        <p:spPr>
          <a:xfrm>
            <a:off x="8046719" y="1143000"/>
            <a:ext cx="3730752" cy="2103120"/>
          </a:xfrm>
          <a:prstGeom prst="roundRect">
            <a:avLst>
              <a:gd name="adj" fmla="val 6000"/>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183879" y="1188720"/>
            <a:ext cx="3474720" cy="2011680"/>
          </a:xfrm>
          <a:prstGeom prst="rect">
            <a:avLst/>
          </a:prstGeom>
          <a:noFill/>
        </p:spPr>
        <p:txBody>
          <a:bodyPr wrap="square" lIns="45720" rIns="45720" tIns="27432" bIns="27432" anchor="ctr">
            <a:spAutoFit/>
          </a:bodyPr>
          <a:lstStyle/>
          <a:p>
            <a:pPr algn="l">
              <a:lnSpc>
                <a:spcPct val="105000"/>
              </a:lnSpc>
            </a:pPr>
            <a:r>
              <a:rPr sz="1400" b="1" i="0">
                <a:solidFill>
                  <a:srgbClr val="2E7D32"/>
                </a:solidFill>
                <a:latin typeface="Calibri"/>
              </a:rPr>
              <a:t>Identical on both formats</a:t>
            </a:r>
          </a:p>
          <a:p>
            <a:pPr algn="l">
              <a:lnSpc>
                <a:spcPct val="105000"/>
              </a:lnSpc>
            </a:pPr>
            <a:r>
              <a:rPr sz="1250" b="0" i="0">
                <a:solidFill>
                  <a:srgbClr val="1C2433"/>
                </a:solidFill>
                <a:latin typeface="Calibri"/>
              </a:rPr>
              <a:t>Nothing above the line knows whether a table is Delta or Iceberg. A pack routes kind </a:t>
            </a:r>
            <a:r>
              <a:rPr sz="1150" b="0" i="0">
                <a:solidFill>
                  <a:srgbClr val="0E7C86"/>
                </a:solidFill>
                <a:latin typeface="Consolas"/>
              </a:rPr>
              <a:t>trade</a:t>
            </a:r>
            <a:r>
              <a:rPr sz="1250" b="0" i="0">
                <a:solidFill>
                  <a:srgbClr val="1C2433"/>
                </a:solidFill>
                <a:latin typeface="Calibri"/>
              </a:rPr>
              <a:t> to </a:t>
            </a:r>
            <a:r>
              <a:rPr sz="1150" b="0" i="0">
                <a:solidFill>
                  <a:srgbClr val="0E7C86"/>
                </a:solidFill>
                <a:latin typeface="Consolas"/>
              </a:rPr>
              <a:t>trade-calypso</a:t>
            </a:r>
            <a:r>
              <a:rPr sz="1250" b="0" i="0">
                <a:solidFill>
                  <a:srgbClr val="1C2433"/>
                </a:solidFill>
                <a:latin typeface="Calibri"/>
              </a:rPr>
              <a:t>; the file under that name decides the format.</a:t>
            </a:r>
          </a:p>
        </p:txBody>
      </p:sp>
      <p:sp>
        <p:nvSpPr>
          <p:cNvPr id="19" name="Rounded Rectangle 18"/>
          <p:cNvSpPr/>
          <p:nvPr/>
        </p:nvSpPr>
        <p:spPr>
          <a:xfrm>
            <a:off x="411480" y="3355848"/>
            <a:ext cx="11365992" cy="384048"/>
          </a:xfrm>
          <a:prstGeom prst="roundRect">
            <a:avLst>
              <a:gd name="adj" fmla="val 20000"/>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48640" y="3355848"/>
            <a:ext cx="11091672" cy="384048"/>
          </a:xfrm>
          <a:prstGeom prst="rect">
            <a:avLst/>
          </a:prstGeom>
          <a:noFill/>
        </p:spPr>
        <p:txBody>
          <a:bodyPr wrap="square" lIns="45720" rIns="45720" tIns="27432" bIns="27432" anchor="ctr">
            <a:spAutoFit/>
          </a:bodyPr>
          <a:lstStyle/>
          <a:p>
            <a:pPr algn="l">
              <a:lnSpc>
                <a:spcPct val="105000"/>
              </a:lnSpc>
            </a:pPr>
            <a:r>
              <a:rPr sz="1300" b="0" i="0">
                <a:solidFill>
                  <a:srgbClr val="FFFFFF"/>
                </a:solidFill>
                <a:latin typeface="Calibri"/>
              </a:rPr>
              <a:t>The seam · drishti-api </a:t>
            </a:r>
            <a:r>
              <a:rPr sz="1200" b="0" i="0">
                <a:solidFill>
                  <a:srgbClr val="0E7C86"/>
                </a:solidFill>
                <a:latin typeface="Consolas"/>
              </a:rPr>
              <a:t>SourcePlugin</a:t>
            </a:r>
            <a:r>
              <a:rPr sz="1300" b="0" i="0">
                <a:solidFill>
                  <a:srgbClr val="FFFFFF"/>
                </a:solidFill>
                <a:latin typeface="Calibri"/>
              </a:rPr>
              <a:t>: fetch, days, columnar, columns, scan, dataVersion, heldDates, vectors, documents, tableIdentity …</a:t>
            </a:r>
          </a:p>
        </p:txBody>
      </p:sp>
      <p:sp>
        <p:nvSpPr>
          <p:cNvPr id="21" name="Rounded Rectangle 20"/>
          <p:cNvSpPr/>
          <p:nvPr/>
        </p:nvSpPr>
        <p:spPr>
          <a:xfrm>
            <a:off x="411480"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02920"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delta</a:t>
            </a:r>
          </a:p>
        </p:txBody>
      </p:sp>
      <p:sp>
        <p:nvSpPr>
          <p:cNvPr id="23" name="TextBox 22"/>
          <p:cNvSpPr txBox="1"/>
          <p:nvPr/>
        </p:nvSpPr>
        <p:spPr>
          <a:xfrm>
            <a:off x="502920"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Delta Kernel over </a:t>
            </a:r>
            <a:r>
              <a:rPr sz="1050" b="0" i="0">
                <a:solidFill>
                  <a:srgbClr val="0E7C86"/>
                </a:solidFill>
                <a:latin typeface="Consolas"/>
              </a:rPr>
              <a:t>drishti-deltalake</a:t>
            </a:r>
            <a:r>
              <a:rPr sz="1150" b="0" i="0">
                <a:solidFill>
                  <a:srgbClr val="1C2433"/>
                </a:solidFill>
                <a:latin typeface="Calibri"/>
              </a:rPr>
              <a:t> (native) or Hadoop</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tables Drishti or others write</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vectors, whole-day documents</a:t>
            </a:r>
          </a:p>
        </p:txBody>
      </p:sp>
      <p:cxnSp>
        <p:nvCxnSpPr>
          <p:cNvPr id="24" name="Connector 23"/>
          <p:cNvCxnSpPr/>
          <p:nvPr/>
        </p:nvCxnSpPr>
        <p:spPr>
          <a:xfrm>
            <a:off x="1780794"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287268"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3378708"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iceberg</a:t>
            </a:r>
          </a:p>
        </p:txBody>
      </p:sp>
      <p:sp>
        <p:nvSpPr>
          <p:cNvPr id="27" name="TextBox 26"/>
          <p:cNvSpPr txBox="1"/>
          <p:nvPr/>
        </p:nvSpPr>
        <p:spPr>
          <a:xfrm>
            <a:off x="3378708"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drishti-iceberg</a:t>
            </a:r>
            <a:r>
              <a:rPr sz="1150" b="0" i="0">
                <a:solidFill>
                  <a:srgbClr val="1C2433"/>
                </a:solidFill>
                <a:latin typeface="Calibri"/>
              </a:rPr>
              <a:t> (native, default) or Apache Iceberg Java (library)</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Drishti's layout: id, doc, promoted</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loader and maintenance write</a:t>
            </a:r>
          </a:p>
        </p:txBody>
      </p:sp>
      <p:cxnSp>
        <p:nvCxnSpPr>
          <p:cNvPr id="28" name="Connector 27"/>
          <p:cNvCxnSpPr/>
          <p:nvPr/>
        </p:nvCxnSpPr>
        <p:spPr>
          <a:xfrm>
            <a:off x="4656582"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63056" y="3886200"/>
            <a:ext cx="2738628"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254496"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plugin: iceberg-external</a:t>
            </a:r>
          </a:p>
        </p:txBody>
      </p:sp>
      <p:sp>
        <p:nvSpPr>
          <p:cNvPr id="31" name="TextBox 30"/>
          <p:cNvSpPr txBox="1"/>
          <p:nvPr/>
        </p:nvSpPr>
        <p:spPr>
          <a:xfrm>
            <a:off x="6254496"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drishti-iceberg</a:t>
            </a:r>
            <a:r>
              <a:rPr sz="1150" b="0" i="0">
                <a:solidFill>
                  <a:srgbClr val="1C2433"/>
                </a:solidFill>
                <a:latin typeface="Calibri"/>
              </a:rPr>
              <a:t> only</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anyone's tables, the row is the document</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read-only</a:t>
            </a:r>
          </a:p>
        </p:txBody>
      </p:sp>
      <p:cxnSp>
        <p:nvCxnSpPr>
          <p:cNvPr id="32" name="Connector 31"/>
          <p:cNvCxnSpPr/>
          <p:nvPr/>
        </p:nvCxnSpPr>
        <p:spPr>
          <a:xfrm>
            <a:off x="7532370"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038844" y="3886200"/>
            <a:ext cx="2738628" cy="1371600"/>
          </a:xfrm>
          <a:prstGeom prst="roundRect">
            <a:avLst>
              <a:gd name="adj" fmla="val 8000"/>
            </a:avLst>
          </a:prstGeom>
          <a:solidFill>
            <a:srgbClr val="F3F5F8"/>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9130284" y="3931920"/>
            <a:ext cx="2555748"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other plugins</a:t>
            </a:r>
          </a:p>
        </p:txBody>
      </p:sp>
      <p:sp>
        <p:nvSpPr>
          <p:cNvPr id="35" name="TextBox 34"/>
          <p:cNvSpPr txBox="1"/>
          <p:nvPr/>
        </p:nvSpPr>
        <p:spPr>
          <a:xfrm>
            <a:off x="9130284" y="4251960"/>
            <a:ext cx="2555748" cy="9601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files, S3 objects, PostgreSQL, DuckDB, Cassandra, Aerospike, MongoDB, Redis …</a:t>
            </a:r>
          </a:p>
        </p:txBody>
      </p:sp>
      <p:cxnSp>
        <p:nvCxnSpPr>
          <p:cNvPr id="36" name="Connector 35"/>
          <p:cNvCxnSpPr/>
          <p:nvPr/>
        </p:nvCxnSpPr>
        <p:spPr>
          <a:xfrm>
            <a:off x="10408158" y="3739896"/>
            <a:ext cx="0" cy="146304"/>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411480" y="5413248"/>
            <a:ext cx="7501554" cy="457200"/>
          </a:xfrm>
          <a:prstGeom prst="roundRect">
            <a:avLst>
              <a:gd name="adj" fmla="val 20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TextBox 37"/>
          <p:cNvSpPr txBox="1"/>
          <p:nvPr/>
        </p:nvSpPr>
        <p:spPr>
          <a:xfrm>
            <a:off x="548640" y="5413248"/>
            <a:ext cx="7227234" cy="457200"/>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drishti-lakeio</a:t>
            </a:r>
            <a:r>
              <a:rPr sz="1250" b="0" i="0">
                <a:solidFill>
                  <a:srgbClr val="1C2433"/>
                </a:solidFill>
                <a:latin typeface="Calibri"/>
              </a:rPr>
              <a:t> (shared): local disk, S3, byte ranges, codecs, footer cache, exclusive create, conditional PUT</a:t>
            </a:r>
          </a:p>
        </p:txBody>
      </p:sp>
      <p:sp>
        <p:nvSpPr>
          <p:cNvPr id="39" name="Rounded Rectangle 38"/>
          <p:cNvSpPr/>
          <p:nvPr/>
        </p:nvSpPr>
        <p:spPr>
          <a:xfrm>
            <a:off x="411480" y="5961888"/>
            <a:ext cx="11365992" cy="438912"/>
          </a:xfrm>
          <a:prstGeom prst="roundRect">
            <a:avLst>
              <a:gd name="adj" fmla="val 20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548640" y="5961888"/>
            <a:ext cx="11091672" cy="438912"/>
          </a:xfrm>
          <a:prstGeom prst="rect">
            <a:avLst/>
          </a:prstGeom>
          <a:noFill/>
        </p:spPr>
        <p:txBody>
          <a:bodyPr wrap="square" lIns="45720" rIns="45720" tIns="27432" bIns="27432" anchor="ctr">
            <a:spAutoFit/>
          </a:bodyPr>
          <a:lstStyle/>
          <a:p>
            <a:pPr algn="l">
              <a:lnSpc>
                <a:spcPct val="105000"/>
              </a:lnSpc>
            </a:pPr>
            <a:r>
              <a:rPr sz="1250" b="0" i="0">
                <a:solidFill>
                  <a:srgbClr val="1C2433"/>
                </a:solidFill>
                <a:latin typeface="Calibri"/>
              </a:rPr>
              <a:t>Storage · local disk or EFS (development, Windows) · Amazon S3 (</a:t>
            </a:r>
            <a:r>
              <a:rPr sz="1150" b="0" i="0">
                <a:solidFill>
                  <a:srgbClr val="0E7C86"/>
                </a:solidFill>
                <a:latin typeface="Consolas"/>
              </a:rPr>
              <a:t>s3://</a:t>
            </a:r>
            <a:r>
              <a:rPr sz="1250" b="0" i="0">
                <a:solidFill>
                  <a:srgbClr val="1C2433"/>
                </a:solidFill>
                <a:latin typeface="Calibri"/>
              </a:rPr>
              <a:t>, </a:t>
            </a:r>
            <a:r>
              <a:rPr sz="1150" b="0" i="0">
                <a:solidFill>
                  <a:srgbClr val="0E7C86"/>
                </a:solidFill>
                <a:latin typeface="Consolas"/>
              </a:rPr>
              <a:t>s3a://</a:t>
            </a:r>
            <a:r>
              <a:rPr sz="1250" b="0" i="0">
                <a:solidFill>
                  <a:srgbClr val="1C2433"/>
                </a:solidFill>
                <a:latin typeface="Calibri"/>
              </a:rPr>
              <a:t>) · Azure, GCS, HDFS only through the Hadoop/library engines</a:t>
            </a:r>
          </a:p>
        </p:txBody>
      </p:sp>
      <p:sp>
        <p:nvSpPr>
          <p:cNvPr id="41" name="TextBox 40"/>
          <p:cNvSpPr txBox="1"/>
          <p:nvPr/>
        </p:nvSpPr>
        <p:spPr>
          <a:xfrm>
            <a:off x="8050194" y="5413248"/>
            <a:ext cx="3727277" cy="457200"/>
          </a:xfrm>
          <a:prstGeom prst="rect">
            <a:avLst/>
          </a:prstGeom>
          <a:noFill/>
        </p:spPr>
        <p:txBody>
          <a:bodyPr wrap="square" lIns="45720" rIns="45720" tIns="27432" bIns="27432" anchor="ctr">
            <a:spAutoFit/>
          </a:bodyPr>
          <a:lstStyle/>
          <a:p>
            <a:pPr algn="l">
              <a:lnSpc>
                <a:spcPct val="105000"/>
              </a:lnSpc>
            </a:pPr>
            <a:r>
              <a:rPr sz="1250" b="1" i="0">
                <a:solidFill>
                  <a:srgbClr val="E87A1E"/>
                </a:solidFill>
                <a:latin typeface="Calibri"/>
              </a:rPr>
              <a:t>Format-specific below the seam only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is identical, what differs, and why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a:t>
            </a:r>
          </a:p>
        </p:txBody>
      </p:sp>
      <p:graphicFrame>
        <p:nvGraphicFramePr>
          <p:cNvPr id="9" name="Table 8"/>
          <p:cNvGraphicFramePr>
            <a:graphicFrameLocks noGrp="1"/>
          </p:cNvGraphicFramePr>
          <p:nvPr/>
        </p:nvGraphicFramePr>
        <p:xfrm>
          <a:off x="411480" y="1143000"/>
          <a:ext cx="11365992" cy="4592114"/>
        </p:xfrm>
        <a:graphic>
          <a:graphicData uri="http://schemas.openxmlformats.org/drawingml/2006/table">
            <a:tbl>
              <a:tblPr firstRow="1" bandRow="1">
                <a:tableStyleId>{5940675A-B579-460E-94D1-54222C63F5DA}</a:tableStyleId>
              </a:tblPr>
              <a:tblGrid>
                <a:gridCol w="2011680"/>
                <a:gridCol w="3520440"/>
                <a:gridCol w="3291840"/>
                <a:gridCol w="2542032"/>
              </a:tblGrid>
              <a:tr h="358706">
                <a:tc>
                  <a:txBody>
                    <a:bodyPr wrap="square"/>
                    <a:lstStyle/>
                    <a:p>
                      <a:pPr algn="l">
                        <a:lnSpc>
                          <a:spcPct val="100000"/>
                        </a:lnSpc>
                      </a:pPr>
                      <a:r>
                        <a:rPr sz="1150" b="1" i="0">
                          <a:solidFill>
                            <a:srgbClr val="FFFFFF"/>
                          </a:solidFill>
                          <a:latin typeface="Calibri"/>
                        </a:rPr>
                        <a:t>Layer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Identical on both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Differs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 it differs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722248">
                <a:tc>
                  <a:txBody>
                    <a:bodyPr wrap="square"/>
                    <a:lstStyle/>
                    <a:p>
                      <a:pPr algn="l">
                        <a:lnSpc>
                          <a:spcPct val="100000"/>
                        </a:lnSpc>
                      </a:pPr>
                      <a:r>
                        <a:rPr sz="1150" b="1" i="0">
                          <a:solidFill>
                            <a:srgbClr val="1C2433"/>
                          </a:solidFill>
                          <a:latin typeface="Calibri"/>
                        </a:rPr>
                        <a:t>Packs, contracts, connector names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kinds, promoted columns (</a:t>
                      </a:r>
                      <a:r>
                        <a:rPr sz="1050" b="0" i="0">
                          <a:solidFill>
                            <a:srgbClr val="0E7C86"/>
                          </a:solidFill>
                          <a:latin typeface="Consolas"/>
                        </a:rPr>
                        <a:t>layout.&lt;kind&gt;.columns</a:t>
                      </a:r>
                      <a:r>
                        <a:rPr sz="1150" b="0" i="0">
                          <a:solidFill>
                            <a:srgbClr val="1C2433"/>
                          </a:solidFill>
                          <a:latin typeface="Calibri"/>
                        </a:rPr>
                        <a:t>), JSON Lines input, routes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nothing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format is below the plugin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722248">
                <a:tc>
                  <a:txBody>
                    <a:bodyPr wrap="square"/>
                    <a:lstStyle/>
                    <a:p>
                      <a:pPr algn="l">
                        <a:lnSpc>
                          <a:spcPct val="100000"/>
                        </a:lnSpc>
                      </a:pPr>
                      <a:r>
                        <a:rPr sz="1150" b="1" i="0">
                          <a:solidFill>
                            <a:srgbClr val="1C2433"/>
                          </a:solidFill>
                          <a:latin typeface="Calibri"/>
                        </a:rPr>
                        <a:t>Logical table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id</a:t>
                      </a:r>
                      <a:r>
                        <a:rPr sz="1150" b="0" i="0">
                          <a:solidFill>
                            <a:srgbClr val="1C2433"/>
                          </a:solidFill>
                          <a:latin typeface="Calibri"/>
                        </a:rPr>
                        <a:t>, </a:t>
                      </a:r>
                      <a:r>
                        <a:rPr sz="1050" b="0" i="0">
                          <a:solidFill>
                            <a:srgbClr val="0E7C86"/>
                          </a:solidFill>
                          <a:latin typeface="Consolas"/>
                        </a:rPr>
                        <a:t>doc</a:t>
                      </a:r>
                      <a:r>
                        <a:rPr sz="1150" b="0" i="0">
                          <a:solidFill>
                            <a:srgbClr val="1C2433"/>
                          </a:solidFill>
                          <a:latin typeface="Calibri"/>
                        </a:rPr>
                        <a:t>, </a:t>
                      </a:r>
                      <a:r>
                        <a:rPr sz="1050" b="0" i="0">
                          <a:solidFill>
                            <a:srgbClr val="0E7C86"/>
                          </a:solidFill>
                          <a:latin typeface="Consolas"/>
                        </a:rPr>
                        <a:t>business_date</a:t>
                      </a:r>
                      <a:r>
                        <a:rPr sz="1150" b="0" i="0">
                          <a:solidFill>
                            <a:srgbClr val="1C2433"/>
                          </a:solidFill>
                          <a:latin typeface="Calibri"/>
                        </a:rPr>
                        <a:t>, promoted columns; sorted by id; one partition per day; 250,000 rows a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row groups by rows (Delta, 1,000 rows or 1 MB on AWS) vs by compressed bytes (Iceberg, 1 MB)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Iceberg's writer sizes row groups in bytes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16666">
                <a:tc>
                  <a:txBody>
                    <a:bodyPr wrap="square"/>
                    <a:lstStyle/>
                    <a:p>
                      <a:pPr algn="l">
                        <a:lnSpc>
                          <a:spcPct val="100000"/>
                        </a:lnSpc>
                      </a:pPr>
                      <a:r>
                        <a:rPr sz="1150" b="1" i="0">
                          <a:solidFill>
                            <a:srgbClr val="1C2433"/>
                          </a:solidFill>
                          <a:latin typeface="Calibri"/>
                        </a:rPr>
                        <a:t>Read paths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id map, one row group per read, column sets, type-ahead, history, BI column scan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Iceberg caches by day fingerprint; Delta by table 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Iceberg's manifests give each day's files cheaply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6666">
                <a:tc>
                  <a:txBody>
                    <a:bodyPr wrap="square"/>
                    <a:lstStyle/>
                    <a:p>
                      <a:pPr algn="l">
                        <a:lnSpc>
                          <a:spcPct val="100000"/>
                        </a:lnSpc>
                      </a:pPr>
                      <a:r>
                        <a:rPr sz="1150" b="1" i="0">
                          <a:solidFill>
                            <a:srgbClr val="1C2433"/>
                          </a:solidFill>
                          <a:latin typeface="Calibri"/>
                        </a:rPr>
                        <a:t>Where the table's truth 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folder in S3, Parquet data files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_delta_log/</a:t>
                      </a:r>
                      <a:r>
                        <a:rPr sz="1150" b="0" i="0">
                          <a:solidFill>
                            <a:srgbClr val="1C2433"/>
                          </a:solidFill>
                          <a:latin typeface="Calibri"/>
                        </a:rPr>
                        <a:t> commits and checkpoints vs </a:t>
                      </a:r>
                      <a:r>
                        <a:rPr sz="1050" b="0" i="0">
                          <a:solidFill>
                            <a:srgbClr val="0E7C86"/>
                          </a:solidFill>
                          <a:latin typeface="Consolas"/>
                        </a:rPr>
                        <a:t>metadata/</a:t>
                      </a:r>
                      <a:r>
                        <a:rPr sz="1150" b="0" i="0">
                          <a:solidFill>
                            <a:srgbClr val="1C2433"/>
                          </a:solidFill>
                          <a:latin typeface="Calibri"/>
                        </a:rPr>
                        <a:t> JSON, manifest lists, 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two specifications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722248">
                <a:tc>
                  <a:txBody>
                    <a:bodyPr wrap="square"/>
                    <a:lstStyle/>
                    <a:p>
                      <a:pPr algn="l">
                        <a:lnSpc>
                          <a:spcPct val="100000"/>
                        </a:lnSpc>
                      </a:pPr>
                      <a:r>
                        <a:rPr sz="1150" b="1" i="0">
                          <a:solidFill>
                            <a:srgbClr val="1C2433"/>
                          </a:solidFill>
                          <a:latin typeface="Calibri"/>
                        </a:rPr>
                        <a:t>Commits 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conditional PUT (</a:t>
                      </a:r>
                      <a:r>
                        <a:rPr sz="1050" b="0" i="0">
                          <a:solidFill>
                            <a:srgbClr val="0E7C86"/>
                          </a:solidFill>
                          <a:latin typeface="Consolas"/>
                        </a:rPr>
                        <a:t>If-None-Match: *</a:t>
                      </a:r>
                      <a:r>
                        <a:rPr sz="1150" b="0" i="0">
                          <a:solidFill>
                            <a:srgbClr val="1C2433"/>
                          </a:solidFill>
                          <a:latin typeface="Calibri"/>
                        </a:rPr>
                        <a:t>): two writers never both win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Delta: </a:t>
                      </a:r>
                      <a:r>
                        <a:rPr sz="1050" b="0" i="0">
                          <a:solidFill>
                            <a:srgbClr val="0E7C86"/>
                          </a:solidFill>
                          <a:latin typeface="Consolas"/>
                        </a:rPr>
                        <a:t>lake publish</a:t>
                      </a:r>
                      <a:r>
                        <a:rPr sz="1150" b="0" i="0">
                          <a:solidFill>
                            <a:srgbClr val="1C2433"/>
                          </a:solidFill>
                          <a:latin typeface="Calibri"/>
                        </a:rPr>
                        <a:t> (Python deltalake); Iceberg: the Java loader itself, plus a probe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Drishti's Java Delta writer writes local disk and EFS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6666">
                <a:tc>
                  <a:txBody>
                    <a:bodyPr wrap="square"/>
                    <a:lstStyle/>
                    <a:p>
                      <a:pPr algn="l">
                        <a:lnSpc>
                          <a:spcPct val="100000"/>
                        </a:lnSpc>
                      </a:pPr>
                      <a:r>
                        <a:rPr sz="11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none needed (path-based)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 may also use a REST catalog (Glue, Polaris)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Iceberg's ecosystem is catalog-centred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16666">
                <a:tc>
                  <a:txBody>
                    <a:bodyPr wrap="square"/>
                    <a:lstStyle/>
                    <a:p>
                      <a:pPr algn="l">
                        <a:lnSpc>
                          <a:spcPct val="100000"/>
                        </a:lnSpc>
                      </a:pPr>
                      <a:r>
                        <a:rPr sz="1150" b="1" i="0">
                          <a:solidFill>
                            <a:srgbClr val="1C2433"/>
                          </a:solidFill>
                          <a:latin typeface="Calibri"/>
                        </a:rPr>
                        <a:t>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retention by business date, rewrite drifted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lake maintain</a:t>
                      </a:r>
                      <a:r>
                        <a:rPr sz="1150" b="0" i="0">
                          <a:solidFill>
                            <a:srgbClr val="1C2433"/>
                          </a:solidFill>
                          <a:latin typeface="Calibri"/>
                        </a:rPr>
                        <a:t> + Admin → Lakes (Delta) vs </a:t>
                      </a:r>
                      <a:r>
                        <a:rPr sz="1050" b="0" i="0">
                          <a:solidFill>
                            <a:srgbClr val="0E7C86"/>
                          </a:solidFill>
                          <a:latin typeface="Consolas"/>
                        </a:rPr>
                        <a:t>IcebergMaintenance</a:t>
                      </a:r>
                      <a:r>
                        <a:rPr sz="1150" b="0" i="0">
                          <a:solidFill>
                            <a:srgbClr val="1C2433"/>
                          </a:solidFill>
                          <a:latin typeface="Calibri"/>
                        </a:rPr>
                        <a:t> CLI</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built at different times; no UI for Iceberg yet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seam in detail: what each plugin implements today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8</a:t>
            </a:r>
          </a:p>
        </p:txBody>
      </p:sp>
      <p:graphicFrame>
        <p:nvGraphicFramePr>
          <p:cNvPr id="9" name="Table 8"/>
          <p:cNvGraphicFramePr>
            <a:graphicFrameLocks noGrp="1"/>
          </p:cNvGraphicFramePr>
          <p:nvPr/>
        </p:nvGraphicFramePr>
        <p:xfrm>
          <a:off x="411480" y="1143000"/>
          <a:ext cx="11365992" cy="3560064"/>
        </p:xfrm>
        <a:graphic>
          <a:graphicData uri="http://schemas.openxmlformats.org/drawingml/2006/table">
            <a:tbl>
              <a:tblPr firstRow="1" bandRow="1">
                <a:tableStyleId>{5940675A-B579-460E-94D1-54222C63F5DA}</a:tableStyleId>
              </a:tblPr>
              <a:tblGrid>
                <a:gridCol w="4206240"/>
                <a:gridCol w="1188720"/>
                <a:gridCol w="1188720"/>
                <a:gridCol w="1737360"/>
                <a:gridCol w="3044952"/>
              </a:tblGrid>
              <a:tr h="310896">
                <a:tc>
                  <a:txBody>
                    <a:bodyPr wrap="square"/>
                    <a:lstStyle/>
                    <a:p>
                      <a:pPr algn="l">
                        <a:lnSpc>
                          <a:spcPct val="100000"/>
                        </a:lnSpc>
                      </a:pPr>
                      <a:r>
                        <a:rPr sz="1200" b="1" i="0">
                          <a:solidFill>
                            <a:srgbClr val="FFFFFF"/>
                          </a:solidFill>
                          <a:latin typeface="Calibri"/>
                        </a:rPr>
                        <a:t>Capability (SourcePlugin method)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iceberg-external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Who needs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63296">
                <a:tc>
                  <a:txBody>
                    <a:bodyPr wrap="square"/>
                    <a:lstStyle/>
                    <a:p>
                      <a:pPr algn="l">
                        <a:lnSpc>
                          <a:spcPct val="100000"/>
                        </a:lnSpc>
                      </a:pPr>
                      <a:r>
                        <a:rPr sz="1200" b="1" i="0">
                          <a:solidFill>
                            <a:srgbClr val="1C2433"/>
                          </a:solidFill>
                          <a:latin typeface="Calibri"/>
                        </a:rPr>
                        <a:t>one entity, history days, search, reverse links (</a:t>
                      </a:r>
                      <a:r>
                        <a:rPr sz="1100" b="1" i="0">
                          <a:solidFill>
                            <a:srgbClr val="0E7C86"/>
                          </a:solidFill>
                          <a:latin typeface="Consolas"/>
                        </a:rPr>
                        <a:t>fetch</a:t>
                      </a:r>
                      <a:r>
                        <a:rPr sz="1200" b="1" i="0">
                          <a:solidFill>
                            <a:srgbClr val="1C2433"/>
                          </a:solidFill>
                          <a:latin typeface="Calibri"/>
                        </a:rPr>
                        <a:t>, </a:t>
                      </a:r>
                      <a:r>
                        <a:rPr sz="1100" b="1" i="0">
                          <a:solidFill>
                            <a:srgbClr val="0E7C86"/>
                          </a:solidFill>
                          <a:latin typeface="Consolas"/>
                        </a:rPr>
                        <a:t>days</a:t>
                      </a:r>
                      <a:r>
                        <a:rPr sz="1200" b="1" i="0">
                          <a:solidFill>
                            <a:srgbClr val="1C2433"/>
                          </a:solidFill>
                          <a:latin typeface="Calibri"/>
                        </a:rPr>
                        <a:t>, </a:t>
                      </a:r>
                      <a:r>
                        <a:rPr sz="1100" b="1" i="0">
                          <a:solidFill>
                            <a:srgbClr val="0E7C86"/>
                          </a:solidFill>
                          <a:latin typeface="Consolas"/>
                        </a:rPr>
                        <a:t>search</a:t>
                      </a:r>
                      <a:r>
                        <a:rPr sz="1200" b="1" i="0">
                          <a:solidFill>
                            <a:srgbClr val="1C2433"/>
                          </a:solidFill>
                          <a:latin typeface="Calibri"/>
                        </a:rPr>
                        <a:t>, </a:t>
                      </a:r>
                      <a:r>
                        <a:rPr sz="1100" b="1" i="0">
                          <a:solidFill>
                            <a:srgbClr val="0E7C86"/>
                          </a:solidFill>
                          <a:latin typeface="Consolas"/>
                        </a:rPr>
                        <a:t>reverse</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(no </a:t>
                      </a:r>
                      <a:r>
                        <a:rPr sz="1100" b="0" i="0">
                          <a:solidFill>
                            <a:srgbClr val="0E7C86"/>
                          </a:solidFill>
                          <a:latin typeface="Consolas"/>
                        </a:rPr>
                        <a:t>days</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 page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200" b="1" i="0">
                          <a:solidFill>
                            <a:srgbClr val="1C2433"/>
                          </a:solidFill>
                          <a:latin typeface="Calibri"/>
                        </a:rPr>
                        <a:t>columns of a day (</a:t>
                      </a:r>
                      <a:r>
                        <a:rPr sz="1100" b="1" i="0">
                          <a:solidFill>
                            <a:srgbClr val="0E7C86"/>
                          </a:solidFill>
                          <a:latin typeface="Consolas"/>
                        </a:rPr>
                        <a:t>columnar</a:t>
                      </a:r>
                      <a:r>
                        <a:rPr sz="1200" b="1" i="0">
                          <a:solidFill>
                            <a:srgbClr val="1C2433"/>
                          </a:solidFill>
                          <a:latin typeface="Calibri"/>
                        </a:rPr>
                        <a:t>, </a:t>
                      </a:r>
                      <a:r>
                        <a:rPr sz="1100" b="1" i="0">
                          <a:solidFill>
                            <a:srgbClr val="0E7C86"/>
                          </a:solidFill>
                          <a:latin typeface="Consolas"/>
                        </a:rPr>
                        <a:t>columns</a:t>
                      </a:r>
                      <a:r>
                        <a:rPr sz="1200" b="1" i="0">
                          <a:solidFill>
                            <a:srgbClr val="1C2433"/>
                          </a:solidFill>
                          <a:latin typeface="Calibri"/>
                        </a:rPr>
                        <a:t>), type-ahead index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searches, pick lists, impact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200" b="1" i="0">
                          <a:solidFill>
                            <a:srgbClr val="1C2433"/>
                          </a:solidFill>
                          <a:latin typeface="Calibri"/>
                        </a:rPr>
                        <a:t>BI column scan, data version, held dates, row estimate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BI store and runs, statements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200" b="1" i="0">
                          <a:solidFill>
                            <a:srgbClr val="1C2433"/>
                          </a:solidFill>
                          <a:latin typeface="Calibri"/>
                        </a:rPr>
                        <a:t>time travel (</a:t>
                      </a:r>
                      <a:r>
                        <a:rPr sz="1200" b="1" i="1">
                          <a:solidFill>
                            <a:srgbClr val="1C2433"/>
                          </a:solidFill>
                          <a:latin typeface="Calibri"/>
                        </a:rPr>
                        <a:t>known at</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every as-known-at view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296">
                <a:tc>
                  <a:txBody>
                    <a:bodyPr wrap="square"/>
                    <a:lstStyle/>
                    <a:p>
                      <a:pPr algn="l">
                        <a:lnSpc>
                          <a:spcPct val="100000"/>
                        </a:lnSpc>
                      </a:pPr>
                      <a:r>
                        <a:rPr sz="1200" b="1" i="0">
                          <a:solidFill>
                            <a:srgbClr val="1C2433"/>
                          </a:solidFill>
                          <a:latin typeface="Calibri"/>
                        </a:rPr>
                        <a:t>vector columns (</a:t>
                      </a:r>
                      <a:r>
                        <a:rPr sz="1100" b="1" i="0">
                          <a:solidFill>
                            <a:srgbClr val="0E7C86"/>
                          </a:solidFill>
                          <a:latin typeface="Consolas"/>
                        </a:rPr>
                        <a:t>vectorColumns</a:t>
                      </a:r>
                      <a:r>
                        <a:rPr sz="1200" b="1" i="0">
                          <a:solidFill>
                            <a:srgbClr val="1C2433"/>
                          </a:solidFill>
                          <a:latin typeface="Calibri"/>
                        </a:rPr>
                        <a:t>, </a:t>
                      </a:r>
                      <a:r>
                        <a:rPr sz="1100" b="1" i="0">
                          <a:solidFill>
                            <a:srgbClr val="0E7C86"/>
                          </a:solidFill>
                          <a:latin typeface="Consolas"/>
                        </a:rPr>
                        <a:t>vectors</a:t>
                      </a:r>
                      <a:r>
                        <a:rPr sz="1200" b="1" i="0">
                          <a:solidFill>
                            <a:srgbClr val="1C2433"/>
                          </a:solidFill>
                          <a:latin typeface="Calibri"/>
                        </a:rPr>
                        <a:t>): </a:t>
                      </a:r>
                      <a:r>
                        <a:rPr sz="1100" b="1" i="0">
                          <a:solidFill>
                            <a:srgbClr val="0E7C86"/>
                          </a:solidFill>
                          <a:latin typeface="Consolas"/>
                        </a:rPr>
                        <a:t>list&lt;double&gt;</a:t>
                      </a:r>
                      <a:r>
                        <a:rPr sz="1200" b="1" i="0">
                          <a:solidFill>
                            <a:srgbClr val="1C2433"/>
                          </a:solidFill>
                          <a:latin typeface="Calibri"/>
                        </a:rPr>
                        <a:t> streamed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VaR, exposure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200" b="1" i="0">
                          <a:solidFill>
                            <a:srgbClr val="1C2433"/>
                          </a:solidFill>
                          <a:latin typeface="Calibri"/>
                        </a:rPr>
                        <a:t>whole-day documents (</a:t>
                      </a:r>
                      <a:r>
                        <a:rPr sz="1100" b="1" i="0">
                          <a:solidFill>
                            <a:srgbClr val="0E7C86"/>
                          </a:solidFill>
                          <a:latin typeface="Consolas"/>
                        </a:rPr>
                        <a:t>documents</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derived pages (faster path)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0896">
                <a:tc>
                  <a:txBody>
                    <a:bodyPr wrap="square"/>
                    <a:lstStyle/>
                    <a:p>
                      <a:pPr algn="l">
                        <a:lnSpc>
                          <a:spcPct val="100000"/>
                        </a:lnSpc>
                      </a:pPr>
                      <a:r>
                        <a:rPr sz="1200" b="1" i="0">
                          <a:solidFill>
                            <a:srgbClr val="1C2433"/>
                          </a:solidFill>
                          <a:latin typeface="Calibri"/>
                        </a:rPr>
                        <a:t>table identity, holds none (</a:t>
                      </a:r>
                      <a:r>
                        <a:rPr sz="1100" b="1" i="0">
                          <a:solidFill>
                            <a:srgbClr val="0E7C86"/>
                          </a:solidFill>
                          <a:latin typeface="Consolas"/>
                        </a:rPr>
                        <a:t>tableIdentity</a:t>
                      </a:r>
                      <a:r>
                        <a:rPr sz="1200" b="1" i="0">
                          <a:solidFill>
                            <a:srgbClr val="1C2433"/>
                          </a:solidFill>
                          <a:latin typeface="Calibri"/>
                        </a:rPr>
                        <a:t>, </a:t>
                      </a:r>
                      <a:r>
                        <a:rPr sz="1100" b="1" i="0">
                          <a:solidFill>
                            <a:srgbClr val="0E7C86"/>
                          </a:solidFill>
                          <a:latin typeface="Consolas"/>
                        </a:rPr>
                        <a:t>holdsNone</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Drishti*net replicas vs shards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200" b="1" i="0">
                          <a:solidFill>
                            <a:srgbClr val="1C2433"/>
                          </a:solidFill>
                          <a:latin typeface="Calibri"/>
                        </a:rPr>
                        <a:t>inventory, refresh on signal (</a:t>
                      </a:r>
                      <a:r>
                        <a:rPr sz="1100" b="1" i="0">
                          <a:solidFill>
                            <a:srgbClr val="0E7C86"/>
                          </a:solidFill>
                          <a:latin typeface="Consolas"/>
                        </a:rPr>
                        <a:t>inventory</a:t>
                      </a:r>
                      <a:r>
                        <a:rPr sz="1200" b="1" i="0">
                          <a:solidFill>
                            <a:srgbClr val="1C2433"/>
                          </a:solidFill>
                          <a:latin typeface="Calibri"/>
                        </a:rPr>
                        <a:t>, </a:t>
                      </a:r>
                      <a:r>
                        <a:rPr sz="1100" b="1" i="0">
                          <a:solidFill>
                            <a:srgbClr val="0E7C86"/>
                          </a:solidFill>
                          <a:latin typeface="Consolas"/>
                        </a:rPr>
                        <a:t>refreshVersions</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Admin test, data-load signal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5023104"/>
            <a:ext cx="11365992" cy="86868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023104"/>
            <a:ext cx="82296" cy="8686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077967"/>
            <a:ext cx="11000232" cy="75895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Clean layering, uneven capability.</a:t>
            </a:r>
            <a:r>
              <a:rPr sz="1300" b="0" i="0">
                <a:solidFill>
                  <a:srgbClr val="1C2433"/>
                </a:solidFill>
                <a:latin typeface="Calibri"/>
              </a:rPr>
              <a:t> Every Iceberg gap above is an implementation of an existing interface method, not a change to the architecture: the seam is already where it should be.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Switching one table: --store calypso=iceberg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9</a:t>
            </a:r>
          </a:p>
        </p:txBody>
      </p:sp>
      <p:sp>
        <p:nvSpPr>
          <p:cNvPr id="9" name="Rounded Rectangle 8"/>
          <p:cNvSpPr/>
          <p:nvPr/>
        </p:nvSpPr>
        <p:spPr>
          <a:xfrm>
            <a:off x="411480" y="1143000"/>
            <a:ext cx="11365992" cy="68580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16152"/>
            <a:ext cx="11146536" cy="539496"/>
          </a:xfrm>
          <a:prstGeom prst="rect">
            <a:avLst/>
          </a:prstGeom>
          <a:noFill/>
        </p:spPr>
        <p:txBody>
          <a:bodyPr wrap="square" lIns="45720" rIns="45720" tIns="27432" bIns="27432" anchor="t">
            <a:spAutoFit/>
          </a:bodyPr>
          <a:lstStyle/>
          <a:p>
            <a:pPr algn="l">
              <a:lnSpc>
                <a:spcPct val="100000"/>
              </a:lnSpc>
            </a:pPr>
            <a:r>
              <a:rPr sz="1200" b="0" i="0">
                <a:solidFill>
                  <a:srgbClr val="E6EDF3"/>
                </a:solidFill>
                <a:latin typeface="Consolas"/>
              </a:rPr>
              <a:t>python tools/build_demo_lakes.py --store calypso=iceberg          # CALYPSO in Iceberg, ENDUR and MUREX in Delta</a:t>
            </a:r>
          </a:p>
          <a:p>
            <a:pPr algn="l">
              <a:lnSpc>
                <a:spcPct val="100000"/>
              </a:lnSpc>
            </a:pPr>
            <a:r>
              <a:rPr sz="1200" b="0" i="0">
                <a:solidFill>
                  <a:srgbClr val="E6EDF3"/>
                </a:solidFill>
                <a:latin typeface="Consolas"/>
              </a:rPr>
              <a:t>python tools/build_demo_lakes.py --store all=iceberg              # every system in Iceberg</a:t>
            </a:r>
          </a:p>
        </p:txBody>
      </p:sp>
      <p:sp>
        <p:nvSpPr>
          <p:cNvPr id="11" name="TextBox 10"/>
          <p:cNvSpPr txBox="1"/>
          <p:nvPr/>
        </p:nvSpPr>
        <p:spPr>
          <a:xfrm>
            <a:off x="411480" y="196596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Before: every system in Delta</a:t>
            </a:r>
          </a:p>
        </p:txBody>
      </p:sp>
      <p:sp>
        <p:nvSpPr>
          <p:cNvPr id="12" name="Rounded Rectangle 11"/>
          <p:cNvSpPr/>
          <p:nvPr/>
        </p:nvSpPr>
        <p:spPr>
          <a:xfrm>
            <a:off x="411480" y="2377440"/>
            <a:ext cx="5486400" cy="658368"/>
          </a:xfrm>
          <a:prstGeom prst="roundRect">
            <a:avLst>
              <a:gd name="adj" fmla="val 10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21208" y="2395728"/>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trade-endur</a:t>
            </a:r>
            <a:r>
              <a:rPr sz="1300" b="0" i="0">
                <a:solidFill>
                  <a:srgbClr val="1C2433"/>
                </a:solidFill>
                <a:latin typeface="Calibri"/>
              </a:rPr>
              <a:t> · </a:t>
            </a:r>
            <a:r>
              <a:rPr sz="1200" b="0" i="0">
                <a:solidFill>
                  <a:srgbClr val="0E7C86"/>
                </a:solidFill>
                <a:latin typeface="Consolas"/>
              </a:rPr>
              <a:t>plugin: delta</a:t>
            </a:r>
          </a:p>
          <a:p>
            <a:pPr algn="l">
              <a:lnSpc>
                <a:spcPct val="105000"/>
              </a:lnSpc>
            </a:pPr>
            <a:r>
              <a:rPr sz="1150" b="0" i="0">
                <a:solidFill>
                  <a:srgbClr val="5B677A"/>
                </a:solidFill>
                <a:latin typeface="Calibri"/>
              </a:rPr>
              <a:t>data/delta/trading/trade_endur</a:t>
            </a:r>
          </a:p>
        </p:txBody>
      </p:sp>
      <p:sp>
        <p:nvSpPr>
          <p:cNvPr id="14" name="Rounded Rectangle 13"/>
          <p:cNvSpPr/>
          <p:nvPr/>
        </p:nvSpPr>
        <p:spPr>
          <a:xfrm>
            <a:off x="411480" y="3127248"/>
            <a:ext cx="5486400" cy="658368"/>
          </a:xfrm>
          <a:prstGeom prst="roundRect">
            <a:avLst>
              <a:gd name="adj" fmla="val 10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21208" y="3145536"/>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trade-calypso</a:t>
            </a:r>
            <a:r>
              <a:rPr sz="1300" b="0" i="0">
                <a:solidFill>
                  <a:srgbClr val="1C2433"/>
                </a:solidFill>
                <a:latin typeface="Calibri"/>
              </a:rPr>
              <a:t> · </a:t>
            </a:r>
            <a:r>
              <a:rPr sz="1200" b="0" i="0">
                <a:solidFill>
                  <a:srgbClr val="0E7C86"/>
                </a:solidFill>
                <a:latin typeface="Consolas"/>
              </a:rPr>
              <a:t>plugin: delta</a:t>
            </a:r>
          </a:p>
          <a:p>
            <a:pPr algn="l">
              <a:lnSpc>
                <a:spcPct val="105000"/>
              </a:lnSpc>
            </a:pPr>
            <a:r>
              <a:rPr sz="1150" b="0" i="0">
                <a:solidFill>
                  <a:srgbClr val="5B677A"/>
                </a:solidFill>
                <a:latin typeface="Calibri"/>
              </a:rPr>
              <a:t>data/delta/trading/trade_calypso</a:t>
            </a:r>
          </a:p>
        </p:txBody>
      </p:sp>
      <p:sp>
        <p:nvSpPr>
          <p:cNvPr id="16" name="Rounded Rectangle 15"/>
          <p:cNvSpPr/>
          <p:nvPr/>
        </p:nvSpPr>
        <p:spPr>
          <a:xfrm>
            <a:off x="411480" y="3877056"/>
            <a:ext cx="5486400" cy="658368"/>
          </a:xfrm>
          <a:prstGeom prst="roundRect">
            <a:avLst>
              <a:gd name="adj" fmla="val 10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21208" y="3895344"/>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trade-murex</a:t>
            </a:r>
            <a:r>
              <a:rPr sz="1300" b="0" i="0">
                <a:solidFill>
                  <a:srgbClr val="1C2433"/>
                </a:solidFill>
                <a:latin typeface="Calibri"/>
              </a:rPr>
              <a:t> · </a:t>
            </a:r>
            <a:r>
              <a:rPr sz="1200" b="0" i="0">
                <a:solidFill>
                  <a:srgbClr val="0E7C86"/>
                </a:solidFill>
                <a:latin typeface="Consolas"/>
              </a:rPr>
              <a:t>plugin: delta</a:t>
            </a:r>
          </a:p>
          <a:p>
            <a:pPr algn="l">
              <a:lnSpc>
                <a:spcPct val="105000"/>
              </a:lnSpc>
            </a:pPr>
            <a:r>
              <a:rPr sz="1150" b="0" i="0">
                <a:solidFill>
                  <a:srgbClr val="5B677A"/>
                </a:solidFill>
                <a:latin typeface="Calibri"/>
              </a:rPr>
              <a:t>data/delta/trading/trade_murex</a:t>
            </a:r>
          </a:p>
        </p:txBody>
      </p:sp>
      <p:sp>
        <p:nvSpPr>
          <p:cNvPr id="18" name="TextBox 17"/>
          <p:cNvSpPr txBox="1"/>
          <p:nvPr/>
        </p:nvSpPr>
        <p:spPr>
          <a:xfrm>
            <a:off x="6291072" y="196596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After: CALYPSO in Iceberg, same connector name</a:t>
            </a:r>
          </a:p>
        </p:txBody>
      </p:sp>
      <p:sp>
        <p:nvSpPr>
          <p:cNvPr id="19" name="Rounded Rectangle 18"/>
          <p:cNvSpPr/>
          <p:nvPr/>
        </p:nvSpPr>
        <p:spPr>
          <a:xfrm>
            <a:off x="6291072" y="2377440"/>
            <a:ext cx="5486400" cy="658368"/>
          </a:xfrm>
          <a:prstGeom prst="roundRect">
            <a:avLst>
              <a:gd name="adj" fmla="val 10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400800" y="2395728"/>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trade-endur</a:t>
            </a:r>
            <a:r>
              <a:rPr sz="1300" b="0" i="0">
                <a:solidFill>
                  <a:srgbClr val="1C2433"/>
                </a:solidFill>
                <a:latin typeface="Calibri"/>
              </a:rPr>
              <a:t> · </a:t>
            </a:r>
            <a:r>
              <a:rPr sz="1200" b="0" i="0">
                <a:solidFill>
                  <a:srgbClr val="0E7C86"/>
                </a:solidFill>
                <a:latin typeface="Consolas"/>
              </a:rPr>
              <a:t>plugin: delta</a:t>
            </a:r>
          </a:p>
          <a:p>
            <a:pPr algn="l">
              <a:lnSpc>
                <a:spcPct val="105000"/>
              </a:lnSpc>
            </a:pPr>
            <a:r>
              <a:rPr sz="1150" b="0" i="0">
                <a:solidFill>
                  <a:srgbClr val="5B677A"/>
                </a:solidFill>
                <a:latin typeface="Calibri"/>
              </a:rPr>
              <a:t>data/delta/trading/trade_endur</a:t>
            </a:r>
          </a:p>
        </p:txBody>
      </p:sp>
      <p:sp>
        <p:nvSpPr>
          <p:cNvPr id="21" name="Rounded Rectangle 20"/>
          <p:cNvSpPr/>
          <p:nvPr/>
        </p:nvSpPr>
        <p:spPr>
          <a:xfrm>
            <a:off x="6291072" y="3127248"/>
            <a:ext cx="5486400" cy="658368"/>
          </a:xfrm>
          <a:prstGeom prst="roundRect">
            <a:avLst>
              <a:gd name="adj" fmla="val 10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6400800" y="3145536"/>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trade-calypso</a:t>
            </a:r>
            <a:r>
              <a:rPr sz="1300" b="0" i="0">
                <a:solidFill>
                  <a:srgbClr val="1C2433"/>
                </a:solidFill>
                <a:latin typeface="Calibri"/>
              </a:rPr>
              <a:t> · </a:t>
            </a:r>
            <a:r>
              <a:rPr sz="1200" b="0" i="0">
                <a:solidFill>
                  <a:srgbClr val="0E7C86"/>
                </a:solidFill>
                <a:latin typeface="Consolas"/>
              </a:rPr>
              <a:t>plugin: iceberg</a:t>
            </a:r>
          </a:p>
          <a:p>
            <a:pPr algn="l">
              <a:lnSpc>
                <a:spcPct val="105000"/>
              </a:lnSpc>
            </a:pPr>
            <a:r>
              <a:rPr sz="1150" b="0" i="0">
                <a:solidFill>
                  <a:srgbClr val="5B677A"/>
                </a:solidFill>
                <a:latin typeface="Calibri"/>
              </a:rPr>
              <a:t>data/iceberg/trading/trade_calypso · engine: native</a:t>
            </a:r>
          </a:p>
        </p:txBody>
      </p:sp>
      <p:sp>
        <p:nvSpPr>
          <p:cNvPr id="23" name="Rounded Rectangle 22"/>
          <p:cNvSpPr/>
          <p:nvPr/>
        </p:nvSpPr>
        <p:spPr>
          <a:xfrm>
            <a:off x="6291072" y="3877056"/>
            <a:ext cx="5486400" cy="658368"/>
          </a:xfrm>
          <a:prstGeom prst="roundRect">
            <a:avLst>
              <a:gd name="adj" fmla="val 10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6400800" y="3895344"/>
            <a:ext cx="5303520" cy="640080"/>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trade-murex</a:t>
            </a:r>
            <a:r>
              <a:rPr sz="1300" b="0" i="0">
                <a:solidFill>
                  <a:srgbClr val="1C2433"/>
                </a:solidFill>
                <a:latin typeface="Calibri"/>
              </a:rPr>
              <a:t> · </a:t>
            </a:r>
            <a:r>
              <a:rPr sz="1200" b="0" i="0">
                <a:solidFill>
                  <a:srgbClr val="0E7C86"/>
                </a:solidFill>
                <a:latin typeface="Consolas"/>
              </a:rPr>
              <a:t>plugin: delta</a:t>
            </a:r>
          </a:p>
          <a:p>
            <a:pPr algn="l">
              <a:lnSpc>
                <a:spcPct val="105000"/>
              </a:lnSpc>
            </a:pPr>
            <a:r>
              <a:rPr sz="1150" b="0" i="0">
                <a:solidFill>
                  <a:srgbClr val="5B677A"/>
                </a:solidFill>
                <a:latin typeface="Calibri"/>
              </a:rPr>
              <a:t>data/delta/trading/trade_murex</a:t>
            </a:r>
          </a:p>
        </p:txBody>
      </p:sp>
      <p:cxnSp>
        <p:nvCxnSpPr>
          <p:cNvPr id="25" name="Connector 24"/>
          <p:cNvCxnSpPr/>
          <p:nvPr/>
        </p:nvCxnSpPr>
        <p:spPr>
          <a:xfrm>
            <a:off x="5916168" y="3630168"/>
            <a:ext cx="356616" cy="0"/>
          </a:xfrm>
          <a:prstGeom prst="line">
            <a:avLst/>
          </a:prstGeom>
          <a:ln w="3175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1480" y="4754880"/>
            <a:ext cx="11365992" cy="155448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411480" y="4754880"/>
            <a:ext cx="82296" cy="15544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640080" y="4809744"/>
            <a:ext cx="11000232" cy="144475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What stays:</a:t>
            </a:r>
            <a:r>
              <a:rPr sz="1300" b="0" i="0">
                <a:solidFill>
                  <a:srgbClr val="1C2433"/>
                </a:solidFill>
                <a:latin typeface="Calibri"/>
              </a:rPr>
              <a:t> the trading pack's route </a:t>
            </a:r>
            <a:r>
              <a:rPr sz="1200" b="0" i="0">
                <a:solidFill>
                  <a:srgbClr val="0E7C86"/>
                </a:solidFill>
                <a:latin typeface="Consolas"/>
              </a:rPr>
              <a:t>trade → trade-endur, trade-calypso, trade-murex</a:t>
            </a:r>
            <a:r>
              <a:rPr sz="1300" b="0" i="0">
                <a:solidFill>
                  <a:srgbClr val="1C2433"/>
                </a:solidFill>
                <a:latin typeface="Calibri"/>
              </a:rPr>
              <a:t>, the kinds, the promoted columns, every page, search, history and BI model.</a:t>
            </a:r>
          </a:p>
          <a:p>
            <a:pPr algn="l">
              <a:lnSpc>
                <a:spcPct val="105000"/>
              </a:lnSpc>
            </a:pPr>
            <a:r>
              <a:rPr sz="1300" b="1" i="0">
                <a:solidFill>
                  <a:srgbClr val="1C2433"/>
                </a:solidFill>
                <a:latin typeface="Calibri"/>
              </a:rPr>
              <a:t>What changes:</a:t>
            </a:r>
            <a:r>
              <a:rPr sz="1300" b="0" i="0">
                <a:solidFill>
                  <a:srgbClr val="1C2433"/>
                </a:solidFill>
                <a:latin typeface="Calibri"/>
              </a:rPr>
              <a:t> one connector file's </a:t>
            </a:r>
            <a:r>
              <a:rPr sz="1200" b="0" i="0">
                <a:solidFill>
                  <a:srgbClr val="0E7C86"/>
                </a:solidFill>
                <a:latin typeface="Consolas"/>
              </a:rPr>
              <a:t>plugin</a:t>
            </a:r>
            <a:r>
              <a:rPr sz="1300" b="0" i="0">
                <a:solidFill>
                  <a:srgbClr val="1C2433"/>
                </a:solidFill>
                <a:latin typeface="Calibri"/>
              </a:rPr>
              <a:t>, </a:t>
            </a:r>
            <a:r>
              <a:rPr sz="1200" b="0" i="0">
                <a:solidFill>
                  <a:srgbClr val="0E7C86"/>
                </a:solidFill>
                <a:latin typeface="Consolas"/>
              </a:rPr>
              <a:t>engine</a:t>
            </a:r>
            <a:r>
              <a:rPr sz="1300" b="0" i="0">
                <a:solidFill>
                  <a:srgbClr val="1C2433"/>
                </a:solidFill>
                <a:latin typeface="Calibri"/>
              </a:rPr>
              <a:t> and </a:t>
            </a:r>
            <a:r>
              <a:rPr sz="1200" b="0" i="0">
                <a:solidFill>
                  <a:srgbClr val="0E7C86"/>
                </a:solidFill>
                <a:latin typeface="Consolas"/>
              </a:rPr>
              <a:t>table</a:t>
            </a:r>
            <a:r>
              <a:rPr sz="1300" b="0" i="0">
                <a:solidFill>
                  <a:srgbClr val="1C2433"/>
                </a:solidFill>
                <a:latin typeface="Calibri"/>
              </a:rPr>
              <a:t>. Proven by </a:t>
            </a:r>
            <a:r>
              <a:rPr sz="1200" b="0" i="0">
                <a:solidFill>
                  <a:srgbClr val="0E7C86"/>
                </a:solidFill>
                <a:latin typeface="Consolas"/>
              </a:rPr>
              <a:t>stores_equality.py</a:t>
            </a:r>
            <a:r>
              <a:rPr sz="1300" b="0" i="0">
                <a:solidFill>
                  <a:srgbClr val="1C2433"/>
                </a:solidFill>
                <a:latin typeface="Calibri"/>
              </a:rPr>
              <a:t>: 18 answers the same, all-Delta against mixed.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02</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The picture on AWS, with Iceberg</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The same flow as the Delta lake, with one step fewer: Drishti's Iceberg loader writes the table in S3 directly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picture: the whole flow on one page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2</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11</a:t>
            </a:r>
          </a:p>
        </p:txBody>
      </p:sp>
      <p:sp>
        <p:nvSpPr>
          <p:cNvPr id="9" name="Rounded Rectangle 8"/>
          <p:cNvSpPr/>
          <p:nvPr/>
        </p:nvSpPr>
        <p:spPr>
          <a:xfrm>
            <a:off x="411480" y="1097280"/>
            <a:ext cx="2377440" cy="1143000"/>
          </a:xfrm>
          <a:prstGeom prst="roundRect">
            <a:avLst>
              <a:gd name="adj" fmla="val 8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143000"/>
            <a:ext cx="219456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Sources</a:t>
            </a:r>
          </a:p>
        </p:txBody>
      </p:sp>
      <p:sp>
        <p:nvSpPr>
          <p:cNvPr id="11" name="TextBox 10"/>
          <p:cNvSpPr txBox="1"/>
          <p:nvPr/>
        </p:nvSpPr>
        <p:spPr>
          <a:xfrm>
            <a:off x="502920" y="1463040"/>
            <a:ext cx="2194560" cy="7315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ENDUR, CALYPSO, MUREX, reference</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dumps: JSON / JSON Lines / .gz</a:t>
            </a:r>
          </a:p>
        </p:txBody>
      </p:sp>
      <p:sp>
        <p:nvSpPr>
          <p:cNvPr id="12" name="Rounded Rectangle 11"/>
          <p:cNvSpPr/>
          <p:nvPr/>
        </p:nvSpPr>
        <p:spPr>
          <a:xfrm>
            <a:off x="3108960" y="1097280"/>
            <a:ext cx="3840480" cy="114300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3200400" y="1143000"/>
            <a:ext cx="365760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S3 · &lt;org&gt;-drishti-&lt;env&gt;-landing</a:t>
            </a:r>
          </a:p>
        </p:txBody>
      </p:sp>
      <p:sp>
        <p:nvSpPr>
          <p:cNvPr id="14" name="TextBox 13"/>
          <p:cNvSpPr txBox="1"/>
          <p:nvPr/>
        </p:nvSpPr>
        <p:spPr>
          <a:xfrm>
            <a:off x="3200400" y="1463040"/>
            <a:ext cx="3657600" cy="73152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&lt;date&gt;/&lt;source&gt;/*.jsonl.gz</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kept 30 days, then expired (as Delta)</a:t>
            </a:r>
          </a:p>
        </p:txBody>
      </p:sp>
      <p:sp>
        <p:nvSpPr>
          <p:cNvPr id="15" name="Rounded Rectangle 14"/>
          <p:cNvSpPr/>
          <p:nvPr/>
        </p:nvSpPr>
        <p:spPr>
          <a:xfrm>
            <a:off x="7589520" y="1097280"/>
            <a:ext cx="4187952" cy="11430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680960" y="1143000"/>
            <a:ext cx="400507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EventBridge Scheduler</a:t>
            </a:r>
          </a:p>
        </p:txBody>
      </p:sp>
      <p:sp>
        <p:nvSpPr>
          <p:cNvPr id="17" name="TextBox 16"/>
          <p:cNvSpPr txBox="1"/>
          <p:nvPr/>
        </p:nvSpPr>
        <p:spPr>
          <a:xfrm>
            <a:off x="7680960" y="1463040"/>
            <a:ext cx="4005072" cy="73152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weekday evening load; nightly maintenance</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same schedules as the Delta lake</a:t>
            </a:r>
          </a:p>
        </p:txBody>
      </p:sp>
      <p:cxnSp>
        <p:nvCxnSpPr>
          <p:cNvPr id="18" name="Connector 17"/>
          <p:cNvCxnSpPr/>
          <p:nvPr/>
        </p:nvCxnSpPr>
        <p:spPr>
          <a:xfrm>
            <a:off x="2788920" y="1664208"/>
            <a:ext cx="32004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949440" y="1664208"/>
            <a:ext cx="64008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 y="2468880"/>
            <a:ext cx="11365992" cy="132588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2920" y="2514600"/>
            <a:ext cx="1004011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ECS task · loader · IcebergLoader (engine native), per table, under the table's lock</a:t>
            </a:r>
          </a:p>
        </p:txBody>
      </p:sp>
      <p:sp>
        <p:nvSpPr>
          <p:cNvPr id="22" name="Rounded Rectangle 21"/>
          <p:cNvSpPr/>
          <p:nvPr/>
        </p:nvSpPr>
        <p:spPr>
          <a:xfrm>
            <a:off x="10634472" y="256032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3" name="TextBox 22"/>
          <p:cNvSpPr txBox="1"/>
          <p:nvPr/>
        </p:nvSpPr>
        <p:spPr>
          <a:xfrm>
            <a:off x="502920" y="2834640"/>
            <a:ext cx="11183112" cy="91440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1 read the landing dumps (JSON Lines: </a:t>
            </a:r>
            <a:r>
              <a:rPr sz="1050" b="0" i="0">
                <a:solidFill>
                  <a:srgbClr val="0E7C86"/>
                </a:solidFill>
                <a:latin typeface="Consolas"/>
              </a:rPr>
              <a:t>{domain, kind, id, date, doc, columns}</a:t>
            </a:r>
            <a:r>
              <a:rPr sz="1150" b="0" i="0">
                <a:solidFill>
                  <a:srgbClr val="1C2433"/>
                </a:solidFill>
                <a:latin typeface="Calibri"/>
              </a:rPr>
              <a:t>)   2 external sort per day by id (spill on EFS or ephemeral disk)</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3 write Parquet + manifests to </a:t>
            </a:r>
            <a:r>
              <a:rPr sz="1050" b="0" i="0">
                <a:solidFill>
                  <a:srgbClr val="0E7C86"/>
                </a:solidFill>
                <a:latin typeface="Consolas"/>
              </a:rPr>
              <a:t>s3://…-lake/iceberg/&lt;domain&gt;/&lt;table&gt;/</a:t>
            </a:r>
            <a:r>
              <a:rPr sz="1150" b="0" i="0">
                <a:solidFill>
                  <a:srgbClr val="1C2433"/>
                </a:solidFill>
                <a:latin typeface="Calibri"/>
              </a:rPr>
              <a:t> directly   4 commit: conditional PUT of </a:t>
            </a:r>
            <a:r>
              <a:rPr sz="1050" b="0" i="0">
                <a:solidFill>
                  <a:srgbClr val="0E7C86"/>
                </a:solidFill>
                <a:latin typeface="Consolas"/>
              </a:rPr>
              <a:t>vN+1.metadata.json</a:t>
            </a:r>
            <a:r>
              <a:rPr sz="1150" b="0" i="0">
                <a:solidFill>
                  <a:srgbClr val="1C2433"/>
                </a:solidFill>
                <a:latin typeface="Calibri"/>
              </a:rPr>
              <a:t> (or the REST catalog)</a:t>
            </a:r>
          </a:p>
        </p:txBody>
      </p:sp>
      <p:cxnSp>
        <p:nvCxnSpPr>
          <p:cNvPr id="24" name="Connector 23"/>
          <p:cNvCxnSpPr/>
          <p:nvPr/>
        </p:nvCxnSpPr>
        <p:spPr>
          <a:xfrm>
            <a:off x="9601200" y="2240280"/>
            <a:ext cx="0" cy="22860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411480" y="4023360"/>
            <a:ext cx="6035040" cy="150876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502920" y="4069080"/>
            <a:ext cx="5852159"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S3 · &lt;org&gt;-drishti-&lt;env&gt;-lake (THE LAKE)</a:t>
            </a:r>
          </a:p>
        </p:txBody>
      </p:sp>
      <p:sp>
        <p:nvSpPr>
          <p:cNvPr id="27" name="TextBox 26"/>
          <p:cNvSpPr txBox="1"/>
          <p:nvPr/>
        </p:nvSpPr>
        <p:spPr>
          <a:xfrm>
            <a:off x="502920" y="4389120"/>
            <a:ext cx="5852159" cy="109728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iceberg/trading/trade_endur/metadata/</a:t>
            </a:r>
            <a:r>
              <a:rPr sz="1150" b="0" i="0">
                <a:solidFill>
                  <a:srgbClr val="1C2433"/>
                </a:solidFill>
                <a:latin typeface="Calibri"/>
              </a:rPr>
              <a:t> v12.metadata.json, snap-….avro, …-m0.avro</a:t>
            </a:r>
          </a:p>
          <a:p>
            <a:pPr algn="l">
              <a:lnSpc>
                <a:spcPct val="105000"/>
              </a:lnSpc>
              <a:spcAft>
                <a:spcPts val="200"/>
              </a:spcAft>
            </a:pPr>
            <a:r>
              <a:rPr sz="1050" b="0" i="0">
                <a:solidFill>
                  <a:srgbClr val="E87A1E"/>
                </a:solidFill>
                <a:latin typeface="Calibri"/>
              </a:rPr>
              <a:t>•  </a:t>
            </a:r>
            <a:r>
              <a:rPr sz="1050" b="0" i="0">
                <a:solidFill>
                  <a:srgbClr val="0E7C86"/>
                </a:solidFill>
                <a:latin typeface="Consolas"/>
              </a:rPr>
              <a:t>…/data/business_date=2026-10-20/…parquet</a:t>
            </a:r>
            <a:r>
              <a:rPr sz="1150" b="0" i="0">
                <a:solidFill>
                  <a:srgbClr val="1C2433"/>
                </a:solidFill>
                <a:latin typeface="Calibri"/>
              </a:rPr>
              <a:t> (zstd, sorted by id)</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versioning · SSE-KMS · VPC endpoint only · no S3 expiry of table files</a:t>
            </a:r>
          </a:p>
        </p:txBody>
      </p:sp>
      <p:cxnSp>
        <p:nvCxnSpPr>
          <p:cNvPr id="28" name="Connector 27"/>
          <p:cNvCxnSpPr/>
          <p:nvPr/>
        </p:nvCxnSpPr>
        <p:spPr>
          <a:xfrm>
            <a:off x="3200400" y="3794760"/>
            <a:ext cx="0" cy="22860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766560" y="4023360"/>
            <a:ext cx="5010912" cy="150876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858000" y="4069080"/>
            <a:ext cx="368503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ECS services drishti-a, -b, -c (server + console)</a:t>
            </a:r>
          </a:p>
        </p:txBody>
      </p:sp>
      <p:sp>
        <p:nvSpPr>
          <p:cNvPr id="31" name="Rounded Rectangle 30"/>
          <p:cNvSpPr/>
          <p:nvPr/>
        </p:nvSpPr>
        <p:spPr>
          <a:xfrm>
            <a:off x="10634472" y="411480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32" name="TextBox 31"/>
          <p:cNvSpPr txBox="1"/>
          <p:nvPr/>
        </p:nvSpPr>
        <p:spPr>
          <a:xfrm>
            <a:off x="6858000" y="4389120"/>
            <a:ext cx="4828032" cy="1097280"/>
          </a:xfrm>
          <a:prstGeom prst="rect">
            <a:avLst/>
          </a:prstGeom>
          <a:noFill/>
        </p:spPr>
        <p:txBody>
          <a:bodyPr wrap="square" lIns="45720" rIns="45720" tIns="27432" bIns="27432" anchor="t">
            <a:spAutoFit/>
          </a:bodyPr>
          <a:lstStyle/>
          <a:p>
            <a:pPr algn="l">
              <a:lnSpc>
                <a:spcPct val="105000"/>
              </a:lnSpc>
              <a:spcAft>
                <a:spcPts val="200"/>
              </a:spcAft>
            </a:pPr>
            <a:r>
              <a:rPr sz="1050" b="0" i="0">
                <a:solidFill>
                  <a:srgbClr val="E87A1E"/>
                </a:solidFill>
                <a:latin typeface="Calibri"/>
              </a:rPr>
              <a:t>•  </a:t>
            </a:r>
            <a:r>
              <a:rPr sz="1050" b="0" i="0">
                <a:solidFill>
                  <a:srgbClr val="0E7C86"/>
                </a:solidFill>
                <a:latin typeface="Consolas"/>
              </a:rPr>
              <a:t>plugin: iceberg</a:t>
            </a:r>
            <a:r>
              <a:rPr sz="1150" b="0" i="0">
                <a:solidFill>
                  <a:srgbClr val="1C2433"/>
                </a:solidFill>
                <a:latin typeface="Calibri"/>
              </a:rPr>
              <a:t>, </a:t>
            </a:r>
            <a:r>
              <a:rPr sz="1050" b="0" i="0">
                <a:solidFill>
                  <a:srgbClr val="0E7C86"/>
                </a:solidFill>
                <a:latin typeface="Consolas"/>
              </a:rPr>
              <a:t>engine: native</a:t>
            </a:r>
            <a:r>
              <a:rPr sz="1150" b="0" i="0">
                <a:solidFill>
                  <a:srgbClr val="1C2433"/>
                </a:solidFill>
                <a:latin typeface="Calibri"/>
              </a:rPr>
              <a:t>, root </a:t>
            </a:r>
            <a:r>
              <a:rPr sz="1050" b="0" i="0">
                <a:solidFill>
                  <a:srgbClr val="0E7C86"/>
                </a:solidFill>
                <a:latin typeface="Consolas"/>
              </a:rPr>
              <a:t>s3://…-lake/iceberg</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heap: layouts, id maps, column sets, footers, manifests</a:t>
            </a:r>
          </a:p>
          <a:p>
            <a:pPr algn="l">
              <a:lnSpc>
                <a:spcPct val="105000"/>
              </a:lnSpc>
              <a:spcAft>
                <a:spcPts val="200"/>
              </a:spcAft>
            </a:pPr>
            <a:r>
              <a:rPr sz="1150" b="0" i="0">
                <a:solidFill>
                  <a:srgbClr val="E87A1E"/>
                </a:solidFill>
                <a:latin typeface="Calibri"/>
              </a:rPr>
              <a:t>•  </a:t>
            </a:r>
            <a:r>
              <a:rPr sz="1150" b="0" i="0">
                <a:solidFill>
                  <a:srgbClr val="1C2433"/>
                </a:solidFill>
                <a:latin typeface="Calibri"/>
              </a:rPr>
              <a:t>Drishti*net between task IPs; seeds by Cloud Map</a:t>
            </a:r>
          </a:p>
        </p:txBody>
      </p:sp>
      <p:cxnSp>
        <p:nvCxnSpPr>
          <p:cNvPr id="33" name="Connector 32"/>
          <p:cNvCxnSpPr/>
          <p:nvPr/>
        </p:nvCxnSpPr>
        <p:spPr>
          <a:xfrm>
            <a:off x="6446520" y="4754880"/>
            <a:ext cx="32004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355080" y="4462272"/>
            <a:ext cx="548640" cy="274320"/>
          </a:xfrm>
          <a:prstGeom prst="rect">
            <a:avLst/>
          </a:prstGeom>
          <a:noFill/>
        </p:spPr>
        <p:txBody>
          <a:bodyPr wrap="square" lIns="45720" rIns="45720" tIns="27432" bIns="27432" anchor="t">
            <a:spAutoFit/>
          </a:bodyPr>
          <a:lstStyle/>
          <a:p>
            <a:pPr algn="l">
              <a:lnSpc>
                <a:spcPct val="105000"/>
              </a:lnSpc>
            </a:pPr>
            <a:r>
              <a:rPr sz="1000" b="0" i="0">
                <a:solidFill>
                  <a:srgbClr val="5B677A"/>
                </a:solidFill>
                <a:latin typeface="Calibri"/>
              </a:rPr>
              <a:t>GETs</a:t>
            </a:r>
          </a:p>
        </p:txBody>
      </p:sp>
      <p:sp>
        <p:nvSpPr>
          <p:cNvPr id="35" name="Rounded Rectangle 34"/>
          <p:cNvSpPr/>
          <p:nvPr/>
        </p:nvSpPr>
        <p:spPr>
          <a:xfrm>
            <a:off x="411480" y="5715000"/>
            <a:ext cx="6035040" cy="73152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502920" y="5760720"/>
            <a:ext cx="4709159"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ECS task · maintenance (nightly) · IcebergMaintenance</a:t>
            </a:r>
          </a:p>
        </p:txBody>
      </p:sp>
      <p:sp>
        <p:nvSpPr>
          <p:cNvPr id="37" name="Rounded Rectangle 36"/>
          <p:cNvSpPr/>
          <p:nvPr/>
        </p:nvSpPr>
        <p:spPr>
          <a:xfrm>
            <a:off x="5303520" y="580644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38" name="TextBox 37"/>
          <p:cNvSpPr txBox="1"/>
          <p:nvPr/>
        </p:nvSpPr>
        <p:spPr>
          <a:xfrm>
            <a:off x="502920" y="6080760"/>
            <a:ext cx="5852159" cy="32004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keep-days, relayout, manifests, expire snapshots</a:t>
            </a:r>
          </a:p>
        </p:txBody>
      </p:sp>
      <p:sp>
        <p:nvSpPr>
          <p:cNvPr id="39" name="Rounded Rectangle 38"/>
          <p:cNvSpPr/>
          <p:nvPr/>
        </p:nvSpPr>
        <p:spPr>
          <a:xfrm>
            <a:off x="6766560" y="5715000"/>
            <a:ext cx="5010912" cy="731520"/>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TextBox 39"/>
          <p:cNvSpPr txBox="1"/>
          <p:nvPr/>
        </p:nvSpPr>
        <p:spPr>
          <a:xfrm>
            <a:off x="6858000" y="5760720"/>
            <a:ext cx="482803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Optional catalog · Glue Iceberg REST, Polaris</a:t>
            </a:r>
          </a:p>
        </p:txBody>
      </p:sp>
      <p:sp>
        <p:nvSpPr>
          <p:cNvPr id="41" name="TextBox 40"/>
          <p:cNvSpPr txBox="1"/>
          <p:nvPr/>
        </p:nvSpPr>
        <p:spPr>
          <a:xfrm>
            <a:off x="6858000" y="6080760"/>
            <a:ext cx="4828032" cy="32004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1C2433"/>
                </a:solidFill>
                <a:latin typeface="Calibri"/>
              </a:rPr>
              <a:t>path-based tables need none</a:t>
            </a:r>
          </a:p>
        </p:txBody>
      </p:sp>
      <p:cxnSp>
        <p:nvCxnSpPr>
          <p:cNvPr id="42" name="Connector 41"/>
          <p:cNvCxnSpPr/>
          <p:nvPr/>
        </p:nvCxnSpPr>
        <p:spPr>
          <a:xfrm>
            <a:off x="3200400" y="5532120"/>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picture, in words: each box</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2</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12</a:t>
            </a:r>
          </a:p>
        </p:txBody>
      </p:sp>
      <p:graphicFrame>
        <p:nvGraphicFramePr>
          <p:cNvPr id="9" name="Table 8"/>
          <p:cNvGraphicFramePr>
            <a:graphicFrameLocks noGrp="1"/>
          </p:cNvGraphicFramePr>
          <p:nvPr/>
        </p:nvGraphicFramePr>
        <p:xfrm>
          <a:off x="411480" y="1143000"/>
          <a:ext cx="11365992" cy="4632040"/>
        </p:xfrm>
        <a:graphic>
          <a:graphicData uri="http://schemas.openxmlformats.org/drawingml/2006/table">
            <a:tbl>
              <a:tblPr firstRow="1" bandRow="1">
                <a:tableStyleId>{5940675A-B579-460E-94D1-54222C63F5DA}</a:tableStyleId>
              </a:tblPr>
              <a:tblGrid>
                <a:gridCol w="2103120"/>
                <a:gridCol w="3291840"/>
                <a:gridCol w="4553712"/>
                <a:gridCol w="1417320"/>
              </a:tblGrid>
              <a:tr h="435254">
                <a:tc>
                  <a:txBody>
                    <a:bodyPr wrap="square"/>
                    <a:lstStyle/>
                    <a:p>
                      <a:pPr algn="l">
                        <a:lnSpc>
                          <a:spcPct val="100000"/>
                        </a:lnSpc>
                      </a:pPr>
                      <a:r>
                        <a:rPr sz="1150" b="1" i="0">
                          <a:solidFill>
                            <a:srgbClr val="FFFFFF"/>
                          </a:solidFill>
                          <a:latin typeface="Calibri"/>
                        </a:rPr>
                        <a:t>Box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What it 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Key facts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26922">
                <a:tc>
                  <a:txBody>
                    <a:bodyPr wrap="square"/>
                    <a:lstStyle/>
                    <a:p>
                      <a:pPr algn="l">
                        <a:lnSpc>
                          <a:spcPct val="100000"/>
                        </a:lnSpc>
                      </a:pPr>
                      <a:r>
                        <a:rPr sz="1150" b="1" i="0">
                          <a:solidFill>
                            <a:srgbClr val="1C2433"/>
                          </a:solidFill>
                          <a:latin typeface="Calibri"/>
                        </a:rPr>
                        <a:t>Sources, landing bucket, scheduler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as in the Delta deck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dumps by date and source; 30 days; weekday load and nightly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r>
                        <a:rPr sz="1150" b="0" i="0">
                          <a:solidFill>
                            <a:srgbClr val="1C2433"/>
                          </a:solidFill>
                          <a:latin typeface="Calibri"/>
                        </a:rPr>
                        <a:t> (scripts)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Loader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IcebergLoader</a:t>
                      </a:r>
                      <a:r>
                        <a:rPr sz="1150" b="0" i="0">
                          <a:solidFill>
                            <a:srgbClr val="1C2433"/>
                          </a:solidFill>
                          <a:latin typeface="Calibri"/>
                        </a:rPr>
                        <a:t> in the server's exec jar (</a:t>
                      </a:r>
                      <a:r>
                        <a:rPr sz="1050" b="0" i="0">
                          <a:solidFill>
                            <a:srgbClr val="0E7C86"/>
                          </a:solidFill>
                          <a:latin typeface="Consolas"/>
                        </a:rPr>
                        <a:t>-Dloader.main=…IcebergLoader</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sorts each day by id, writes files of 250,000 rows, commits each day as one overwrite of its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5B677A"/>
                          </a:solidFill>
                          <a:latin typeface="Calibri"/>
                        </a:rPr>
                        <a:t>PROPOSED</a:t>
                      </a:r>
                      <a:r>
                        <a:rPr sz="1150" b="0" i="0">
                          <a:solidFill>
                            <a:srgbClr val="1C2433"/>
                          </a:solidFill>
                          <a:latin typeface="Calibri"/>
                        </a:rPr>
                        <a:t> (ECS)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26922">
                <a:tc>
                  <a:txBody>
                    <a:bodyPr wrap="square"/>
                    <a:lstStyle/>
                    <a:p>
                      <a:pPr algn="l">
                        <a:lnSpc>
                          <a:spcPct val="100000"/>
                        </a:lnSpc>
                      </a:pPr>
                      <a:r>
                        <a:rPr sz="1150" b="1" i="0">
                          <a:solidFill>
                            <a:srgbClr val="1C2433"/>
                          </a:solidFill>
                          <a:latin typeface="Calibri"/>
                        </a:rPr>
                        <a:t>The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Iceberg tables in the lake bucket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metadata/</a:t>
                      </a:r>
                      <a:r>
                        <a:rPr sz="1150" b="0" i="0">
                          <a:solidFill>
                            <a:srgbClr val="1C2433"/>
                          </a:solidFill>
                          <a:latin typeface="Calibri"/>
                        </a:rPr>
                        <a:t> + </a:t>
                      </a:r>
                      <a:r>
                        <a:rPr sz="1050" b="0" i="0">
                          <a:solidFill>
                            <a:srgbClr val="0E7C86"/>
                          </a:solidFill>
                          <a:latin typeface="Consolas"/>
                        </a:rPr>
                        <a:t>data/business_date=…/</a:t>
                      </a:r>
                      <a:r>
                        <a:rPr sz="1150" b="0" i="0">
                          <a:solidFill>
                            <a:srgbClr val="1C2433"/>
                          </a:solidFill>
                          <a:latin typeface="Calibri"/>
                        </a:rPr>
                        <a:t>; files named by absolute S3 paths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r>
                        <a:rPr sz="1150" b="0" i="0">
                          <a:solidFill>
                            <a:srgbClr val="1C2433"/>
                          </a:solidFill>
                          <a:latin typeface="Calibri"/>
                        </a:rPr>
                        <a:t> (format)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Server nodes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a:t>
                      </a:r>
                      <a:r>
                        <a:rPr sz="1050" b="0" i="0">
                          <a:solidFill>
                            <a:srgbClr val="0E7C86"/>
                          </a:solidFill>
                          <a:latin typeface="Consolas"/>
                        </a:rPr>
                        <a:t>iceberg</a:t>
                      </a:r>
                      <a:r>
                        <a:rPr sz="1150" b="0" i="0">
                          <a:solidFill>
                            <a:srgbClr val="1C2433"/>
                          </a:solidFill>
                          <a:latin typeface="Calibri"/>
                        </a:rPr>
                        <a:t> connector, native 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refreshes every 10 s (</a:t>
                      </a:r>
                      <a:r>
                        <a:rPr sz="1050" b="0" i="0">
                          <a:solidFill>
                            <a:srgbClr val="0E7C86"/>
                          </a:solidFill>
                          <a:latin typeface="Consolas"/>
                        </a:rPr>
                        <a:t>version-hint.text</a:t>
                      </a:r>
                      <a:r>
                        <a:rPr sz="1150" b="0" i="0">
                          <a:solidFill>
                            <a:srgbClr val="1C2433"/>
                          </a:solidFill>
                          <a:latin typeface="Calibri"/>
                        </a:rPr>
                        <a:t> or </a:t>
                      </a:r>
                      <a:r>
                        <a:rPr sz="1050" b="0" i="0">
                          <a:solidFill>
                            <a:srgbClr val="0E7C86"/>
                          </a:solidFill>
                          <a:latin typeface="Consolas"/>
                        </a:rPr>
                        <a:t>loadTable</a:t>
                      </a:r>
                      <a:r>
                        <a:rPr sz="1150" b="0" i="0">
                          <a:solidFill>
                            <a:srgbClr val="1C2433"/>
                          </a:solidFill>
                          <a:latin typeface="Calibri"/>
                        </a:rPr>
                        <a:t> with ETag); reads one row group per 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150" b="1" i="0">
                          <a:solidFill>
                            <a:srgbClr val="1C2433"/>
                          </a:solidFill>
                          <a:latin typeface="Calibri"/>
                        </a:rPr>
                        <a:t>Maintenance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IcebergMaintenance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--keep-days</a:t>
                      </a:r>
                      <a:r>
                        <a:rPr sz="1150" b="0" i="0">
                          <a:solidFill>
                            <a:srgbClr val="1C2433"/>
                          </a:solidFill>
                          <a:latin typeface="Calibri"/>
                        </a:rPr>
                        <a:t>, </a:t>
                      </a:r>
                      <a:r>
                        <a:rPr sz="1050" b="0" i="0">
                          <a:solidFill>
                            <a:srgbClr val="0E7C86"/>
                          </a:solidFill>
                          <a:latin typeface="Consolas"/>
                        </a:rPr>
                        <a:t>--relayout</a:t>
                      </a:r>
                      <a:r>
                        <a:rPr sz="1150" b="0" i="0">
                          <a:solidFill>
                            <a:srgbClr val="1C2433"/>
                          </a:solidFill>
                          <a:latin typeface="Calibri"/>
                        </a:rPr>
                        <a:t>, </a:t>
                      </a:r>
                      <a:r>
                        <a:rPr sz="1050" b="0" i="0">
                          <a:solidFill>
                            <a:srgbClr val="0E7C86"/>
                          </a:solidFill>
                          <a:latin typeface="Consolas"/>
                        </a:rPr>
                        <a:t>--rewrite-manifests</a:t>
                      </a:r>
                      <a:r>
                        <a:rPr sz="1150" b="0" i="0">
                          <a:solidFill>
                            <a:srgbClr val="1C2433"/>
                          </a:solidFill>
                          <a:latin typeface="Calibri"/>
                        </a:rPr>
                        <a:t>, </a:t>
                      </a:r>
                      <a:r>
                        <a:rPr sz="1050" b="0" i="0">
                          <a:solidFill>
                            <a:srgbClr val="0E7C86"/>
                          </a:solidFill>
                          <a:latin typeface="Consolas"/>
                        </a:rPr>
                        <a:t>--expire-hours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5B677A"/>
                          </a:solidFill>
                          <a:latin typeface="Calibri"/>
                        </a:rPr>
                        <a:t>PROPOSED</a:t>
                      </a:r>
                      <a:r>
                        <a:rPr sz="1150" b="0" i="0">
                          <a:solidFill>
                            <a:srgbClr val="1C2433"/>
                          </a:solidFill>
                          <a:latin typeface="Calibri"/>
                        </a:rPr>
                        <a:t> (ECS)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Catalog (optional)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REST catalog: Glue's Iceberg endpoint, Polaris, Snowflake Open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commits by the catalog's requirements (409 retried); vended credentials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r>
                        <a:rPr sz="1150" b="0" i="0">
                          <a:solidFill>
                            <a:srgbClr val="1C2433"/>
                          </a:solidFill>
                          <a:latin typeface="Calibri"/>
                        </a:rPr>
                        <a:t> (client)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26922">
                <a:tc>
                  <a:txBody>
                    <a:bodyPr wrap="square"/>
                    <a:lstStyle/>
                    <a:p>
                      <a:pPr algn="l">
                        <a:lnSpc>
                          <a:spcPct val="100000"/>
                        </a:lnSpc>
                      </a:pPr>
                      <a:r>
                        <a:rPr sz="1150" b="1" i="0">
                          <a:solidFill>
                            <a:srgbClr val="1C2433"/>
                          </a:solidFill>
                          <a:latin typeface="Calibri"/>
                        </a:rPr>
                        <a:t>EFS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Regional, encrypted, Elastic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state and caches; loader spill and locks; never lake data or </a:t>
                      </a:r>
                      <a:r>
                        <a:rPr sz="1050" b="0" i="0">
                          <a:solidFill>
                            <a:srgbClr val="0E7C86"/>
                          </a:solidFill>
                          <a:latin typeface="Consolas"/>
                        </a:rPr>
                        <a:t>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r>
                        <a:rPr sz="1150" b="0" i="0">
                          <a:solidFill>
                            <a:srgbClr val="1C2433"/>
                          </a:solidFill>
                          <a:latin typeface="Calibri"/>
                        </a:rPr>
                        <a:t> (scripts)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03</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Why S3 and not EFS</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The Delta deck's answer holds unchanged for Iceberg, with one more reason: Iceberg metadata names every file by its full path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Why S3 and not EFS: the same answer, one more reason</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3</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14</a:t>
            </a:r>
          </a:p>
        </p:txBody>
      </p:sp>
      <p:graphicFrame>
        <p:nvGraphicFramePr>
          <p:cNvPr id="9" name="Table 8"/>
          <p:cNvGraphicFramePr>
            <a:graphicFrameLocks noGrp="1"/>
          </p:cNvGraphicFramePr>
          <p:nvPr/>
        </p:nvGraphicFramePr>
        <p:xfrm>
          <a:off x="411480" y="1143000"/>
          <a:ext cx="11365992" cy="3996838"/>
        </p:xfrm>
        <a:graphic>
          <a:graphicData uri="http://schemas.openxmlformats.org/drawingml/2006/table">
            <a:tbl>
              <a:tblPr firstRow="1" bandRow="1">
                <a:tableStyleId>{5940675A-B579-460E-94D1-54222C63F5DA}</a:tableStyleId>
              </a:tblPr>
              <a:tblGrid>
                <a:gridCol w="2286000"/>
                <a:gridCol w="4572000"/>
                <a:gridCol w="4507992"/>
              </a:tblGrid>
              <a:tr h="434354">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Amazon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Amazon EFS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25626">
                <a:tc>
                  <a:txBody>
                    <a:bodyPr wrap="square"/>
                    <a:lstStyle/>
                    <a:p>
                      <a:pPr algn="l">
                        <a:lnSpc>
                          <a:spcPct val="100000"/>
                        </a:lnSpc>
                      </a:pPr>
                      <a:r>
                        <a:rPr sz="1150" b="1" i="0">
                          <a:solidFill>
                            <a:srgbClr val="1C2433"/>
                          </a:solidFill>
                          <a:latin typeface="Calibri"/>
                        </a:rPr>
                        <a:t>Cost of 200 TB (list prices)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about </a:t>
                      </a:r>
                      <a:r>
                        <a:rPr sz="1150" b="1" i="0">
                          <a:solidFill>
                            <a:srgbClr val="1C2433"/>
                          </a:solidFill>
                          <a:latin typeface="Calibri"/>
                        </a:rPr>
                        <a:t>USD 1,400 a month</a:t>
                      </a:r>
                      <a:r>
                        <a:rPr sz="1150" b="0" i="0">
                          <a:solidFill>
                            <a:srgbClr val="1C2433"/>
                          </a:solidFill>
                          <a:latin typeface="Calibri"/>
                        </a:rPr>
                        <a:t> tiered by business date; USD 4,600 all in Standard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1C2433"/>
                          </a:solidFill>
                          <a:latin typeface="Calibri"/>
                        </a:rPr>
                        <a:t>USD 60,000 a month</a:t>
                      </a:r>
                      <a:r>
                        <a:rPr sz="1150" b="0" i="0">
                          <a:solidFill>
                            <a:srgbClr val="1C2433"/>
                          </a:solidFill>
                          <a:latin typeface="Calibri"/>
                        </a:rPr>
                        <a:t> in Standard; USD 3,200 in IA plus a charge per byte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5626">
                <a:tc>
                  <a:txBody>
                    <a:bodyPr wrap="square"/>
                    <a:lstStyle/>
                    <a:p>
                      <a:pPr algn="l">
                        <a:lnSpc>
                          <a:spcPct val="100000"/>
                        </a:lnSpc>
                      </a:pPr>
                      <a:r>
                        <a:rPr sz="1150" b="1" i="0">
                          <a:solidFill>
                            <a:srgbClr val="1C2433"/>
                          </a:solidFill>
                          <a:latin typeface="Calibri"/>
                        </a:rPr>
                        <a:t>Request rate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 3,500 writes, 5,500 reads a second </a:t>
                      </a:r>
                      <a:r>
                        <a:rPr sz="1150" b="1" i="0">
                          <a:solidFill>
                            <a:srgbClr val="1C2433"/>
                          </a:solidFill>
                          <a:latin typeface="Calibri"/>
                        </a:rPr>
                        <a:t>per prefix</a:t>
                      </a:r>
                      <a:r>
                        <a:rPr sz="1150" b="0" i="0">
                          <a:solidFill>
                            <a:srgbClr val="1C2433"/>
                          </a:solidFill>
                          <a:latin typeface="Calibri"/>
                        </a:rPr>
                        <a:t>; each </a:t>
                      </a:r>
                      <a:r>
                        <a:rPr sz="1050" b="0" i="0">
                          <a:solidFill>
                            <a:srgbClr val="0E7C86"/>
                          </a:solidFill>
                          <a:latin typeface="Consolas"/>
                        </a:rPr>
                        <a:t>business_date=</a:t>
                      </a:r>
                      <a:r>
                        <a:rPr sz="1150" b="0" i="0">
                          <a:solidFill>
                            <a:srgbClr val="1C2433"/>
                          </a:solidFill>
                          <a:latin typeface="Calibri"/>
                        </a:rPr>
                        <a:t> folder is a prefix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one file system's limits, shared by every node, loader and maintenance job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4354">
                <a:tc>
                  <a:txBody>
                    <a:bodyPr wrap="square"/>
                    <a:lstStyle/>
                    <a:p>
                      <a:pPr algn="l">
                        <a:lnSpc>
                          <a:spcPct val="100000"/>
                        </a:lnSpc>
                      </a:pPr>
                      <a:r>
                        <a:rPr sz="1150" b="1" i="0">
                          <a:solidFill>
                            <a:srgbClr val="1C2433"/>
                          </a:solidFill>
                          <a:latin typeface="Calibri"/>
                        </a:rPr>
                        <a:t>Latency of a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10–30 ms to first byte; Drishti reads one row group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 1 ms hot; tens of ms in IA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5626">
                <a:tc>
                  <a:txBody>
                    <a:bodyPr wrap="square"/>
                    <a:lstStyle/>
                    <a:p>
                      <a:pPr algn="l">
                        <a:lnSpc>
                          <a:spcPct val="100000"/>
                        </a:lnSpc>
                      </a:pPr>
                      <a:r>
                        <a:rPr sz="1150" b="1" i="0">
                          <a:solidFill>
                            <a:srgbClr val="1C2433"/>
                          </a:solidFill>
                          <a:latin typeface="Calibri"/>
                        </a:rPr>
                        <a:t>Other readers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Athena, Trino, Spark, EMR, Snowflake read Iceberg (through a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only something that mounts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25626">
                <a:tc>
                  <a:txBody>
                    <a:bodyPr wrap="square"/>
                    <a:lstStyle/>
                    <a:p>
                      <a:pPr algn="l">
                        <a:lnSpc>
                          <a:spcPct val="100000"/>
                        </a:lnSpc>
                      </a:pPr>
                      <a:r>
                        <a:rPr sz="1150" b="1" i="0">
                          <a:solidFill>
                            <a:srgbClr val="1C2433"/>
                          </a:solidFill>
                          <a:latin typeface="Calibri"/>
                        </a:rPr>
                        <a:t>Writers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conditional writes make concurrent Iceberg commits safe (the native engine probes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hard link on POSIX (what Drishti uses on local disk)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5626">
                <a:tc>
                  <a:txBody>
                    <a:bodyPr wrap="square"/>
                    <a:lstStyle/>
                    <a:p>
                      <a:pPr algn="l">
                        <a:lnSpc>
                          <a:spcPct val="100000"/>
                        </a:lnSpc>
                      </a:pPr>
                      <a:r>
                        <a:rPr sz="1150" b="1" i="0">
                          <a:solidFill>
                            <a:srgbClr val="1C2433"/>
                          </a:solidFill>
                          <a:latin typeface="Calibri"/>
                        </a:rPr>
                        <a:t>Iceberg only:</a:t>
                      </a:r>
                      <a:r>
                        <a:rPr sz="1150" b="1" i="0">
                          <a:solidFill>
                            <a:srgbClr val="1C2433"/>
                          </a:solidFill>
                          <a:latin typeface="Calibri"/>
                        </a:rPr>
                        <a:t> file paths in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s3://bucket/…</a:t>
                      </a:r>
                      <a:r>
                        <a:rPr sz="1150" b="0" i="0">
                          <a:solidFill>
                            <a:srgbClr val="1C2433"/>
                          </a:solidFill>
                          <a:latin typeface="Calibri"/>
                        </a:rPr>
                        <a:t> is the same for every task; Cross-Region copies read with </a:t>
                      </a:r>
                      <a:r>
                        <a:rPr sz="1050" b="0" i="0">
                          <a:solidFill>
                            <a:srgbClr val="0E7C86"/>
                          </a:solidFill>
                          <a:latin typeface="Consolas"/>
                        </a:rPr>
                        <a:t>relocate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path depends on the mount; a moved folder is a moved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5486400"/>
            <a:ext cx="11365992" cy="86868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486400"/>
            <a:ext cx="82296" cy="8686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541264"/>
            <a:ext cx="11000232" cy="758952"/>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At 200 TB+ EFS costs 10–40× more and shares one throughput budget, whatever the table format. </a:t>
            </a:r>
            <a:r>
              <a:rPr sz="1300" b="1" i="0">
                <a:solidFill>
                  <a:srgbClr val="1C2433"/>
                </a:solidFill>
                <a:latin typeface="Calibri"/>
              </a:rPr>
              <a:t>So the lake is in S3 for Iceberg too; EFS keeps the small, hot, per-node state.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04</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Iceberg in Drishti, as built</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drishti-iceberg, the two connectors, catalogs, commits, S3 and its simulators, evolution, snapshots and time travel, maintenance, lake build to Iceberg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drishti-iceberg: Drishti's own Iceberg engine, no Hadoop</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16</a:t>
            </a:r>
          </a:p>
        </p:txBody>
      </p:sp>
      <p:sp>
        <p:nvSpPr>
          <p:cNvPr id="9" name="Rounded Rectangle 8"/>
          <p:cNvSpPr/>
          <p:nvPr/>
        </p:nvSpPr>
        <p:spPr>
          <a:xfrm>
            <a:off x="411480" y="1143000"/>
            <a:ext cx="8138160" cy="548640"/>
          </a:xfrm>
          <a:prstGeom prst="roundRect">
            <a:avLst>
              <a:gd name="adj" fmla="val 12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14300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IcebergSourcePlugin · IcebergExternalPlugin · IcebergLoader · IcebergMaintenance</a:t>
            </a:r>
          </a:p>
        </p:txBody>
      </p:sp>
      <p:sp>
        <p:nvSpPr>
          <p:cNvPr id="11" name="TextBox 10"/>
          <p:cNvSpPr txBox="1"/>
          <p:nvPr/>
        </p:nvSpPr>
        <p:spPr>
          <a:xfrm>
            <a:off x="6995160" y="114300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unchanged read paths</a:t>
            </a:r>
          </a:p>
        </p:txBody>
      </p:sp>
      <p:sp>
        <p:nvSpPr>
          <p:cNvPr id="12" name="Rounded Rectangle 11"/>
          <p:cNvSpPr/>
          <p:nvPr/>
        </p:nvSpPr>
        <p:spPr>
          <a:xfrm>
            <a:off x="411480" y="178308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48640" y="178308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catalog/  path-based (</a:t>
            </a:r>
            <a:r>
              <a:rPr sz="1100" b="0" i="0">
                <a:solidFill>
                  <a:srgbClr val="0E7C86"/>
                </a:solidFill>
                <a:latin typeface="Consolas"/>
              </a:rPr>
              <a:t>version-hint.text</a:t>
            </a:r>
            <a:r>
              <a:rPr sz="1200" b="0" i="0">
                <a:solidFill>
                  <a:srgbClr val="1C2433"/>
                </a:solidFill>
                <a:latin typeface="Calibri"/>
              </a:rPr>
              <a:t>), a metadata file named directly, REST (OAuth2, SigV4, vended credentials)</a:t>
            </a:r>
          </a:p>
        </p:txBody>
      </p:sp>
      <p:sp>
        <p:nvSpPr>
          <p:cNvPr id="14" name="TextBox 13"/>
          <p:cNvSpPr txBox="1"/>
          <p:nvPr/>
        </p:nvSpPr>
        <p:spPr>
          <a:xfrm>
            <a:off x="6995160" y="178308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Jackson, JDK HTTP</a:t>
            </a:r>
          </a:p>
        </p:txBody>
      </p:sp>
      <p:sp>
        <p:nvSpPr>
          <p:cNvPr id="15" name="Rounded Rectangle 14"/>
          <p:cNvSpPr/>
          <p:nvPr/>
        </p:nvSpPr>
        <p:spPr>
          <a:xfrm>
            <a:off x="411480" y="242316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48640" y="242316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meta/  table metadata v1/v2, schemas, partition specs, sort orders, snapshots, refs; unknown fields kept</a:t>
            </a:r>
          </a:p>
        </p:txBody>
      </p:sp>
      <p:sp>
        <p:nvSpPr>
          <p:cNvPr id="17" name="TextBox 16"/>
          <p:cNvSpPr txBox="1"/>
          <p:nvPr/>
        </p:nvSpPr>
        <p:spPr>
          <a:xfrm>
            <a:off x="6995160" y="242316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Jackson</a:t>
            </a:r>
          </a:p>
        </p:txBody>
      </p:sp>
      <p:sp>
        <p:nvSpPr>
          <p:cNvPr id="18" name="Rounded Rectangle 17"/>
          <p:cNvSpPr/>
          <p:nvPr/>
        </p:nvSpPr>
        <p:spPr>
          <a:xfrm>
            <a:off x="411480" y="3063239"/>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48640" y="3063239"/>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manifest/  manifest lists and manifests: data and delete manifests, partition summaries, column bounds</a:t>
            </a:r>
          </a:p>
        </p:txBody>
      </p:sp>
      <p:sp>
        <p:nvSpPr>
          <p:cNvPr id="20" name="TextBox 19"/>
          <p:cNvSpPr txBox="1"/>
          <p:nvPr/>
        </p:nvSpPr>
        <p:spPr>
          <a:xfrm>
            <a:off x="6995160" y="3063239"/>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Avro</a:t>
            </a:r>
          </a:p>
        </p:txBody>
      </p:sp>
      <p:sp>
        <p:nvSpPr>
          <p:cNvPr id="21" name="Rounded Rectangle 20"/>
          <p:cNvSpPr/>
          <p:nvPr/>
        </p:nvSpPr>
        <p:spPr>
          <a:xfrm>
            <a:off x="411480" y="370332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48640" y="370332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scan/ + read/  pruning by partition and bounds; Parquet by field id; position and equality deletes</a:t>
            </a:r>
          </a:p>
        </p:txBody>
      </p:sp>
      <p:sp>
        <p:nvSpPr>
          <p:cNvPr id="23" name="TextBox 22"/>
          <p:cNvSpPr txBox="1"/>
          <p:nvPr/>
        </p:nvSpPr>
        <p:spPr>
          <a:xfrm>
            <a:off x="6995160" y="370332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parquet-java</a:t>
            </a:r>
          </a:p>
        </p:txBody>
      </p:sp>
      <p:sp>
        <p:nvSpPr>
          <p:cNvPr id="24" name="Rounded Rectangle 23"/>
          <p:cNvSpPr/>
          <p:nvPr/>
        </p:nvSpPr>
        <p:spPr>
          <a:xfrm>
            <a:off x="411480" y="4343400"/>
            <a:ext cx="8138160" cy="548640"/>
          </a:xfrm>
          <a:prstGeom prst="roundRect">
            <a:avLst>
              <a:gd name="adj" fmla="val 12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548640" y="434340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write/  Parquet with field ids and metrics, manifests, commits, maintenance operations</a:t>
            </a:r>
          </a:p>
        </p:txBody>
      </p:sp>
      <p:sp>
        <p:nvSpPr>
          <p:cNvPr id="26" name="TextBox 25"/>
          <p:cNvSpPr txBox="1"/>
          <p:nvPr/>
        </p:nvSpPr>
        <p:spPr>
          <a:xfrm>
            <a:off x="6995160" y="434340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no Hadoop Configuration</a:t>
            </a:r>
          </a:p>
        </p:txBody>
      </p:sp>
      <p:sp>
        <p:nvSpPr>
          <p:cNvPr id="27" name="Rounded Rectangle 26"/>
          <p:cNvSpPr/>
          <p:nvPr/>
        </p:nvSpPr>
        <p:spPr>
          <a:xfrm>
            <a:off x="411480" y="4983480"/>
            <a:ext cx="8138160" cy="548640"/>
          </a:xfrm>
          <a:prstGeom prst="roundRect">
            <a:avLst>
              <a:gd name="adj" fmla="val 12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548640" y="4983480"/>
            <a:ext cx="6583680" cy="548640"/>
          </a:xfrm>
          <a:prstGeom prst="rect">
            <a:avLst/>
          </a:prstGeom>
          <a:noFill/>
        </p:spPr>
        <p:txBody>
          <a:bodyPr wrap="square" lIns="45720" rIns="45720" tIns="27432" bIns="27432" anchor="ctr">
            <a:spAutoFit/>
          </a:bodyPr>
          <a:lstStyle/>
          <a:p>
            <a:pPr algn="l">
              <a:lnSpc>
                <a:spcPct val="105000"/>
              </a:lnSpc>
            </a:pPr>
            <a:r>
              <a:rPr sz="1200" b="0" i="0">
                <a:solidFill>
                  <a:srgbClr val="1C2433"/>
                </a:solidFill>
                <a:latin typeface="Calibri"/>
              </a:rPr>
              <a:t>drishti-lakeio  local disk (Windows paths, UNC), S3 (AWS SDK v2), ranged reads, codecs, footer cache</a:t>
            </a:r>
          </a:p>
        </p:txBody>
      </p:sp>
      <p:sp>
        <p:nvSpPr>
          <p:cNvPr id="29" name="TextBox 28"/>
          <p:cNvSpPr txBox="1"/>
          <p:nvPr/>
        </p:nvSpPr>
        <p:spPr>
          <a:xfrm>
            <a:off x="6995160" y="4983480"/>
            <a:ext cx="1463040" cy="548640"/>
          </a:xfrm>
          <a:prstGeom prst="rect">
            <a:avLst/>
          </a:prstGeom>
          <a:noFill/>
        </p:spPr>
        <p:txBody>
          <a:bodyPr wrap="square" lIns="45720" rIns="45720" tIns="27432" bIns="27432" anchor="ctr">
            <a:spAutoFit/>
          </a:bodyPr>
          <a:lstStyle/>
          <a:p>
            <a:pPr algn="r">
              <a:lnSpc>
                <a:spcPct val="105000"/>
              </a:lnSpc>
            </a:pPr>
            <a:r>
              <a:rPr sz="1100" b="0" i="0">
                <a:solidFill>
                  <a:srgbClr val="5B677A"/>
                </a:solidFill>
                <a:latin typeface="Calibri"/>
              </a:rPr>
              <a:t>shared with Delta</a:t>
            </a:r>
          </a:p>
        </p:txBody>
      </p:sp>
      <p:sp>
        <p:nvSpPr>
          <p:cNvPr id="30" name="Rounded Rectangle 29"/>
          <p:cNvSpPr/>
          <p:nvPr/>
        </p:nvSpPr>
        <p:spPr>
          <a:xfrm>
            <a:off x="8823960" y="114300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8961120" y="1234440"/>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0 Hadoop classes</a:t>
            </a:r>
          </a:p>
        </p:txBody>
      </p:sp>
      <p:sp>
        <p:nvSpPr>
          <p:cNvPr id="32" name="TextBox 31"/>
          <p:cNvSpPr txBox="1"/>
          <p:nvPr/>
        </p:nvSpPr>
        <p:spPr>
          <a:xfrm>
            <a:off x="8961120" y="1783080"/>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loaded by connector, loader or maintenance (a test refuses them)</a:t>
            </a:r>
          </a:p>
        </p:txBody>
      </p:sp>
      <p:sp>
        <p:nvSpPr>
          <p:cNvPr id="33" name="Rounded Rectangle 32"/>
          <p:cNvSpPr/>
          <p:nvPr/>
        </p:nvSpPr>
        <p:spPr>
          <a:xfrm>
            <a:off x="8823960" y="265176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8961120" y="2743200"/>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Windows</a:t>
            </a:r>
          </a:p>
        </p:txBody>
      </p:sp>
      <p:sp>
        <p:nvSpPr>
          <p:cNvPr id="35" name="TextBox 34"/>
          <p:cNvSpPr txBox="1"/>
          <p:nvPr/>
        </p:nvSpPr>
        <p:spPr>
          <a:xfrm>
            <a:off x="8961120" y="3291839"/>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no winutils.exe, no HADOOP_HOME: load-iceberg.ps1, start-server.ps1 -Iceberg</a:t>
            </a:r>
          </a:p>
        </p:txBody>
      </p:sp>
      <p:sp>
        <p:nvSpPr>
          <p:cNvPr id="36" name="Rounded Rectangle 35"/>
          <p:cNvSpPr/>
          <p:nvPr/>
        </p:nvSpPr>
        <p:spPr>
          <a:xfrm>
            <a:off x="8823960" y="4160520"/>
            <a:ext cx="295351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8961120" y="4251959"/>
            <a:ext cx="267919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Default since 2.6.0</a:t>
            </a:r>
          </a:p>
        </p:txBody>
      </p:sp>
      <p:sp>
        <p:nvSpPr>
          <p:cNvPr id="38" name="TextBox 37"/>
          <p:cNvSpPr txBox="1"/>
          <p:nvPr/>
        </p:nvSpPr>
        <p:spPr>
          <a:xfrm>
            <a:off x="8961120" y="4800600"/>
            <a:ext cx="267919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engine: native; library kept for Azure, GCS, HDFS</a:t>
            </a:r>
          </a:p>
        </p:txBody>
      </p:sp>
      <p:sp>
        <p:nvSpPr>
          <p:cNvPr id="39" name="TextBox 38"/>
          <p:cNvSpPr txBox="1"/>
          <p:nvPr/>
        </p:nvSpPr>
        <p:spPr>
          <a:xfrm>
            <a:off x="411480" y="5669280"/>
            <a:ext cx="11338560" cy="640080"/>
          </a:xfrm>
          <a:prstGeom prst="rect">
            <a:avLst/>
          </a:prstGeom>
          <a:noFill/>
        </p:spPr>
        <p:txBody>
          <a:bodyPr wrap="square" lIns="45720" rIns="45720" tIns="27432" bIns="27432" anchor="t">
            <a:spAutoFit/>
          </a:bodyPr>
          <a:lstStyle/>
          <a:p>
            <a:pPr algn="l">
              <a:lnSpc>
                <a:spcPct val="105000"/>
              </a:lnSpc>
            </a:pPr>
            <a:r>
              <a:rPr sz="1300" b="0" i="0">
                <a:solidFill>
                  <a:srgbClr val="1C2433"/>
                </a:solidFill>
                <a:latin typeface="Calibri"/>
              </a:rPr>
              <a:t>Refused by name, never read wrongly: format version 3, encrypted tables, ORC and Avro data files, unknown types, S3 remote signing.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of the Iceberg specification is covered</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17</a:t>
            </a:r>
          </a:p>
        </p:txBody>
      </p:sp>
      <p:graphicFrame>
        <p:nvGraphicFramePr>
          <p:cNvPr id="9" name="Table 8"/>
          <p:cNvGraphicFramePr>
            <a:graphicFrameLocks noGrp="1"/>
          </p:cNvGraphicFramePr>
          <p:nvPr/>
        </p:nvGraphicFramePr>
        <p:xfrm>
          <a:off x="411480" y="1143000"/>
          <a:ext cx="11365992" cy="4932264"/>
        </p:xfrm>
        <a:graphic>
          <a:graphicData uri="http://schemas.openxmlformats.org/drawingml/2006/table">
            <a:tbl>
              <a:tblPr firstRow="1" bandRow="1">
                <a:tableStyleId>{5940675A-B579-460E-94D1-54222C63F5DA}</a:tableStyleId>
              </a:tblPr>
              <a:tblGrid>
                <a:gridCol w="2011680"/>
                <a:gridCol w="6035040"/>
                <a:gridCol w="3319272"/>
              </a:tblGrid>
              <a:tr h="390144">
                <a:tc>
                  <a:txBody>
                    <a:bodyPr wrap="square"/>
                    <a:lstStyle/>
                    <a:p>
                      <a:pPr algn="l">
                        <a:lnSpc>
                          <a:spcPct val="100000"/>
                        </a:lnSpc>
                      </a:pPr>
                      <a:r>
                        <a:rPr sz="1150" b="1" i="0">
                          <a:solidFill>
                            <a:srgbClr val="FFFFFF"/>
                          </a:solidFill>
                          <a:latin typeface="Calibri"/>
                        </a:rPr>
                        <a:t>Area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Covered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Refused or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90144">
                <a:tc>
                  <a:txBody>
                    <a:bodyPr wrap="square"/>
                    <a:lstStyle/>
                    <a:p>
                      <a:pPr algn="l">
                        <a:lnSpc>
                          <a:spcPct val="100000"/>
                        </a:lnSpc>
                      </a:pPr>
                      <a:r>
                        <a:rPr sz="1150" b="1" i="0">
                          <a:solidFill>
                            <a:srgbClr val="1C2433"/>
                          </a:solidFill>
                          <a:latin typeface="Calibri"/>
                        </a:rPr>
                        <a:t>Table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every v1/v2 field; unknown fields kept when it writes the next 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format version 3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Types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boolean, int, long, float, double, decimal, date, time, timestamp(tz), string, uuid, fixed, binary, struct, list, map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v3 types: timestamp_ns, variant, geometry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Schema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by field id: add, drop, rename, reorder, int→long, float→double, decimal widening; name mapping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Partitioning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identity, bucket (Murmur3), truncate, year, month, day, hour, void; several specs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lists and manifests (Avro), data and delete manifests, inherited ids and sequence numbers, bounds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90144">
                <a:tc>
                  <a:txBody>
                    <a:bodyPr wrap="square"/>
                    <a:lstStyle/>
                    <a:p>
                      <a:pPr algn="l">
                        <a:lnSpc>
                          <a:spcPct val="100000"/>
                        </a:lnSpc>
                      </a:pPr>
                      <a:r>
                        <a:rPr sz="1150" b="1" i="0">
                          <a:solidFill>
                            <a:srgbClr val="1C2433"/>
                          </a:solidFill>
                          <a:latin typeface="Calibri"/>
                        </a:rPr>
                        <a:t>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position and equality deletes, by the sequence-number rules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v3 deletion vectors (Puffin):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0144">
                <a:tc>
                  <a:txBody>
                    <a:bodyPr wrap="square"/>
                    <a:lstStyle/>
                    <a:p>
                      <a:pPr algn="l">
                        <a:lnSpc>
                          <a:spcPct val="100000"/>
                        </a:lnSpc>
                      </a:pPr>
                      <a:r>
                        <a:rPr sz="1150" b="1" i="0">
                          <a:solidFill>
                            <a:srgbClr val="1C2433"/>
                          </a:solidFill>
                          <a:latin typeface="Calibri"/>
                        </a:rPr>
                        <a:t>Snapshots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current snapshot, snapshot log (time travel by </a:t>
                      </a:r>
                      <a:r>
                        <a:rPr sz="1150" b="0" i="1">
                          <a:solidFill>
                            <a:srgbClr val="1C2433"/>
                          </a:solidFill>
                          <a:latin typeface="Calibri"/>
                        </a:rPr>
                        <a:t>known at</a:t>
                      </a:r>
                      <a:r>
                        <a:rPr sz="1150" b="0" i="0">
                          <a:solidFill>
                            <a:srgbClr val="1C2433"/>
                          </a:solidFill>
                          <a:latin typeface="Calibri"/>
                        </a:rPr>
                        <a:t>), the </a:t>
                      </a:r>
                      <a:r>
                        <a:rPr sz="1050" b="0" i="0">
                          <a:solidFill>
                            <a:srgbClr val="0E7C86"/>
                          </a:solidFill>
                          <a:latin typeface="Consolas"/>
                        </a:rPr>
                        <a:t>main</a:t>
                      </a:r>
                      <a:r>
                        <a:rPr sz="1150" b="0" i="0">
                          <a:solidFill>
                            <a:srgbClr val="1C2433"/>
                          </a:solidFill>
                          <a:latin typeface="Calibri"/>
                        </a:rPr>
                        <a:t> ref</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named branches and tags: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61948">
                <a:tc>
                  <a:txBody>
                    <a:bodyPr wrap="square"/>
                    <a:lstStyle/>
                    <a:p>
                      <a:pPr algn="l">
                        <a:lnSpc>
                          <a:spcPct val="100000"/>
                        </a:lnSpc>
                      </a:pPr>
                      <a:r>
                        <a:rPr sz="1150" b="1" i="0">
                          <a:solidFill>
                            <a:srgbClr val="1C2433"/>
                          </a:solidFill>
                          <a:latin typeface="Calibri"/>
                        </a:rPr>
                        <a:t>Data files, encryption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Parquet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ORC, Avro data files; encrypted tables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61948">
                <a:tc>
                  <a:txBody>
                    <a:bodyPr wrap="square"/>
                    <a:lstStyle/>
                    <a:p>
                      <a:pPr algn="l">
                        <a:lnSpc>
                          <a:spcPct val="100000"/>
                        </a:lnSpc>
                      </a:pPr>
                      <a:r>
                        <a:rPr sz="1150" b="1" i="0">
                          <a:solidFill>
                            <a:srgbClr val="1C2433"/>
                          </a:solidFill>
                          <a:latin typeface="Calibri"/>
                        </a:rPr>
                        <a:t>Catalogs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path-based, a metadata file named directly,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Hive metastore, JDBC (only behind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Two engines: native and library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18</a:t>
            </a:r>
          </a:p>
        </p:txBody>
      </p:sp>
      <p:graphicFrame>
        <p:nvGraphicFramePr>
          <p:cNvPr id="9" name="Table 8"/>
          <p:cNvGraphicFramePr>
            <a:graphicFrameLocks noGrp="1"/>
          </p:cNvGraphicFramePr>
          <p:nvPr/>
        </p:nvGraphicFramePr>
        <p:xfrm>
          <a:off x="411480" y="1143000"/>
          <a:ext cx="11365992" cy="1870859"/>
        </p:xfrm>
        <a:graphic>
          <a:graphicData uri="http://schemas.openxmlformats.org/drawingml/2006/table">
            <a:tbl>
              <a:tblPr firstRow="1" bandRow="1">
                <a:tableStyleId>{5940675A-B579-460E-94D1-54222C63F5DA}</a:tableStyleId>
              </a:tblPr>
              <a:tblGrid>
                <a:gridCol w="1737360"/>
                <a:gridCol w="3017520"/>
                <a:gridCol w="4023360"/>
                <a:gridCol w="2587752"/>
              </a:tblGrid>
              <a:tr h="416654">
                <a:tc>
                  <a:txBody>
                    <a:bodyPr wrap="square"/>
                    <a:lstStyle/>
                    <a:p>
                      <a:pPr algn="l">
                        <a:lnSpc>
                          <a:spcPct val="100000"/>
                        </a:lnSpc>
                      </a:pPr>
                      <a:r>
                        <a:rPr sz="1200" b="1" i="0">
                          <a:solidFill>
                            <a:srgbClr val="FFFFFF"/>
                          </a:solidFill>
                          <a:latin typeface="Calibri"/>
                        </a:rPr>
                        <a:t>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What reads and 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Reaches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Use it for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20897">
                <a:tc>
                  <a:txBody>
                    <a:bodyPr wrap="square"/>
                    <a:lstStyle/>
                    <a:p>
                      <a:pPr algn="l">
                        <a:lnSpc>
                          <a:spcPct val="100000"/>
                        </a:lnSpc>
                      </a:pPr>
                      <a:r>
                        <a:rPr sz="1100" b="1" i="0">
                          <a:solidFill>
                            <a:srgbClr val="0E7C86"/>
                          </a:solidFill>
                          <a:latin typeface="Consolas"/>
                        </a:rPr>
                        <a:t>native</a:t>
                      </a:r>
                      <a:r>
                        <a:rPr sz="1200" b="1" i="0">
                          <a:solidFill>
                            <a:srgbClr val="1C2433"/>
                          </a:solidFill>
                          <a:latin typeface="Calibri"/>
                        </a:rPr>
                        <a:t>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drishti-iceberg, no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local disk (Windows too), </a:t>
                      </a:r>
                      <a:r>
                        <a:rPr sz="1100" b="0" i="0">
                          <a:solidFill>
                            <a:srgbClr val="0E7C86"/>
                          </a:solidFill>
                          <a:latin typeface="Consolas"/>
                        </a:rPr>
                        <a:t>s3://</a:t>
                      </a:r>
                      <a:r>
                        <a:rPr sz="1200" b="0" i="0">
                          <a:solidFill>
                            <a:srgbClr val="1C2433"/>
                          </a:solidFill>
                          <a:latin typeface="Calibri"/>
                        </a:rPr>
                        <a:t>, </a:t>
                      </a:r>
                      <a:r>
                        <a:rPr sz="1100" b="0" i="0">
                          <a:solidFill>
                            <a:srgbClr val="0E7C86"/>
                          </a:solidFill>
                          <a:latin typeface="Consolas"/>
                        </a:rPr>
                        <a:t>s3a://</a:t>
                      </a:r>
                      <a:r>
                        <a:rPr sz="1200" b="0" i="0">
                          <a:solidFill>
                            <a:srgbClr val="1C2433"/>
                          </a:solidFill>
                          <a:latin typeface="Calibri"/>
                        </a:rPr>
                        <a:t>; path, named metadata,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everything on disk and S3; Windows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6654">
                <a:tc>
                  <a:txBody>
                    <a:bodyPr wrap="square"/>
                    <a:lstStyle/>
                    <a:p>
                      <a:pPr algn="l">
                        <a:lnSpc>
                          <a:spcPct val="100000"/>
                        </a:lnSpc>
                      </a:pPr>
                      <a:r>
                        <a:rPr sz="1100" b="1" i="0">
                          <a:solidFill>
                            <a:srgbClr val="0E7C86"/>
                          </a:solidFill>
                          <a:latin typeface="Consolas"/>
                        </a:rPr>
                        <a:t>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Apache Iceberg Java 1.10.1 over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above plus </a:t>
                      </a:r>
                      <a:r>
                        <a:rPr sz="1100" b="0" i="0">
                          <a:solidFill>
                            <a:srgbClr val="0E7C86"/>
                          </a:solidFill>
                          <a:latin typeface="Consolas"/>
                        </a:rPr>
                        <a:t>abfs://</a:t>
                      </a:r>
                      <a:r>
                        <a:rPr sz="1200" b="0" i="0">
                          <a:solidFill>
                            <a:srgbClr val="1C2433"/>
                          </a:solidFill>
                          <a:latin typeface="Calibri"/>
                        </a:rPr>
                        <a:t>, </a:t>
                      </a:r>
                      <a:r>
                        <a:rPr sz="1100" b="0" i="0">
                          <a:solidFill>
                            <a:srgbClr val="0E7C86"/>
                          </a:solidFill>
                          <a:latin typeface="Consolas"/>
                        </a:rPr>
                        <a:t>gs://</a:t>
                      </a:r>
                      <a:r>
                        <a:rPr sz="1200" b="0" i="0">
                          <a:solidFill>
                            <a:srgbClr val="1C2433"/>
                          </a:solidFill>
                          <a:latin typeface="Calibri"/>
                        </a:rPr>
                        <a:t>, </a:t>
                      </a:r>
                      <a:r>
                        <a:rPr sz="1100" b="0" i="0">
                          <a:solidFill>
                            <a:srgbClr val="0E7C86"/>
                          </a:solidFill>
                          <a:latin typeface="Consolas"/>
                        </a:rPr>
                        <a:t>hdfs://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Azure, GCS, HDFS; a fallback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6654">
                <a:tc>
                  <a:txBody>
                    <a:bodyPr wrap="square"/>
                    <a:lstStyle/>
                    <a:p>
                      <a:pPr algn="l">
                        <a:lnSpc>
                          <a:spcPct val="100000"/>
                        </a:lnSpc>
                      </a:pPr>
                      <a:r>
                        <a:rPr sz="1100" b="1" i="0">
                          <a:solidFill>
                            <a:srgbClr val="0E7C86"/>
                          </a:solidFill>
                          <a:latin typeface="Consolas"/>
                        </a:rPr>
                        <a:t>auto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native on Windows, library elsewhere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keeping the library on Linux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graphicFrame>
        <p:nvGraphicFramePr>
          <p:cNvPr id="10" name="Table 9"/>
          <p:cNvGraphicFramePr>
            <a:graphicFrameLocks noGrp="1"/>
          </p:cNvGraphicFramePr>
          <p:nvPr/>
        </p:nvGraphicFramePr>
        <p:xfrm>
          <a:off x="411480" y="3337560"/>
          <a:ext cx="6766560" cy="2611524"/>
        </p:xfrm>
        <a:graphic>
          <a:graphicData uri="http://schemas.openxmlformats.org/drawingml/2006/table">
            <a:tbl>
              <a:tblPr firstRow="1" bandRow="1">
                <a:tableStyleId>{5940675A-B579-460E-94D1-54222C63F5DA}</a:tableStyleId>
              </a:tblPr>
              <a:tblGrid>
                <a:gridCol w="3840480"/>
                <a:gridCol w="1463040"/>
                <a:gridCol w="1463040"/>
              </a:tblGrid>
              <a:tr h="435254">
                <a:tc>
                  <a:txBody>
                    <a:bodyPr wrap="square"/>
                    <a:lstStyle/>
                    <a:p>
                      <a:pPr algn="l">
                        <a:lnSpc>
                          <a:spcPct val="100000"/>
                        </a:lnSpc>
                      </a:pPr>
                      <a:r>
                        <a:rPr sz="1200" b="1" i="0">
                          <a:solidFill>
                            <a:srgbClr val="FFFFFF"/>
                          </a:solidFill>
                          <a:latin typeface="Calibri"/>
                        </a:rPr>
                        <a:t>Measured (10,000 trades × 3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native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load (30,000 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22.7 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25.7 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connector start (plan, type-ahead)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637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1,848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first trade (cold: id map, footer)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212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288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one trade, document cache emptied: median / p95</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54 / 111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75 / 144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a trade on a past date (day not yet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94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353 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1" name="Rounded Rectangle 10"/>
          <p:cNvSpPr/>
          <p:nvPr/>
        </p:nvSpPr>
        <p:spPr>
          <a:xfrm>
            <a:off x="7498079" y="3337560"/>
            <a:ext cx="4279392" cy="251460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7498079" y="3337560"/>
            <a:ext cx="82296" cy="251460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7726679" y="3392424"/>
            <a:ext cx="3913631" cy="240487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Why native is faster on first reads:</a:t>
            </a:r>
            <a:r>
              <a:rPr sz="1250" b="0" i="0">
                <a:solidFill>
                  <a:srgbClr val="1C2433"/>
                </a:solidFill>
                <a:latin typeface="Calibri"/>
              </a:rPr>
              <a:t> each Parquet footer, manifest and delete file is read once and kept (data files never change). The library re-reads the footer on every single-entity read.</a:t>
            </a:r>
          </a:p>
          <a:p>
            <a:pPr algn="l">
              <a:lnSpc>
                <a:spcPct val="105000"/>
              </a:lnSpc>
            </a:pPr>
            <a:r>
              <a:rPr sz="1250" b="0" i="0">
                <a:solidFill>
                  <a:srgbClr val="1C2433"/>
                </a:solidFill>
                <a:latin typeface="Calibri"/>
              </a:rPr>
              <a:t>Caches: footers 50,000 row groups (shared with Delta), manifests 2,000,000 entries, delete rows 5,000,000.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Two connectors: Drishti's tables and anyone's tables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19</a:t>
            </a:r>
          </a:p>
        </p:txBody>
      </p:sp>
      <p:graphicFrame>
        <p:nvGraphicFramePr>
          <p:cNvPr id="9" name="Table 8"/>
          <p:cNvGraphicFramePr>
            <a:graphicFrameLocks noGrp="1"/>
          </p:cNvGraphicFramePr>
          <p:nvPr/>
        </p:nvGraphicFramePr>
        <p:xfrm>
          <a:off x="411480" y="1143000"/>
          <a:ext cx="11365992" cy="4344006"/>
        </p:xfrm>
        <a:graphic>
          <a:graphicData uri="http://schemas.openxmlformats.org/drawingml/2006/table">
            <a:tbl>
              <a:tblPr firstRow="1" bandRow="1">
                <a:tableStyleId>{5940675A-B579-460E-94D1-54222C63F5DA}</a:tableStyleId>
              </a:tblPr>
              <a:tblGrid>
                <a:gridCol w="1828800"/>
                <a:gridCol w="4114800"/>
                <a:gridCol w="5422392"/>
              </a:tblGrid>
              <a:tr h="435254">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00" b="1" i="0">
                          <a:solidFill>
                            <a:srgbClr val="C9D3E3"/>
                          </a:solidFill>
                          <a:latin typeface="Consolas"/>
                        </a:rPr>
                        <a:t>iceberg</a:t>
                      </a:r>
                      <a:r>
                        <a:rPr sz="1200" b="1" i="0">
                          <a:solidFill>
                            <a:srgbClr val="FFFFFF"/>
                          </a:solidFill>
                          <a:latin typeface="Calibri"/>
                        </a:rPr>
                        <a:t> (Drishti's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00" b="1" i="0">
                          <a:solidFill>
                            <a:srgbClr val="C9D3E3"/>
                          </a:solidFill>
                          <a:latin typeface="Consolas"/>
                        </a:rPr>
                        <a:t>iceberg-external</a:t>
                      </a:r>
                      <a:r>
                        <a:rPr sz="1200" b="1" i="0">
                          <a:solidFill>
                            <a:srgbClr val="FFFFFF"/>
                          </a:solidFill>
                          <a:latin typeface="Calibri"/>
                        </a:rPr>
                        <a:t> (anyone's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Written by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IcebergLoader</a:t>
                      </a:r>
                      <a:r>
                        <a:rPr sz="1200" b="0" i="0">
                          <a:solidFill>
                            <a:srgbClr val="1C2433"/>
                          </a:solidFill>
                          <a:latin typeface="Calibri"/>
                        </a:rPr>
                        <a:t> in Drishti's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Spark, Flink, Trino, Snowflake, Glue, dbt, pyiceberg, any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The document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a:t>
                      </a:r>
                      <a:r>
                        <a:rPr sz="1100" b="0" i="0">
                          <a:solidFill>
                            <a:srgbClr val="0E7C86"/>
                          </a:solidFill>
                          <a:latin typeface="Consolas"/>
                        </a:rPr>
                        <a:t>doc</a:t>
                      </a:r>
                      <a:r>
                        <a:rPr sz="1200" b="0" i="0">
                          <a:solidFill>
                            <a:srgbClr val="1C2433"/>
                          </a:solidFill>
                          <a:latin typeface="Calibri"/>
                        </a:rPr>
                        <a:t> column, exactly as loaded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the row</a:t>
                      </a:r>
                      <a:r>
                        <a:rPr sz="1200" b="0" i="0">
                          <a:solidFill>
                            <a:srgbClr val="1C2433"/>
                          </a:solidFill>
                          <a:latin typeface="Calibri"/>
                        </a:rPr>
                        <a:t> as JSON (structs, lists, maps), or a JSON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The 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a:t>
                      </a:r>
                      <a:r>
                        <a:rPr sz="1100" b="0" i="0">
                          <a:solidFill>
                            <a:srgbClr val="0E7C86"/>
                          </a:solidFill>
                          <a:latin typeface="Consolas"/>
                        </a:rPr>
                        <a:t>id</a:t>
                      </a:r>
                      <a:r>
                        <a:rPr sz="1200" b="0" i="0">
                          <a:solidFill>
                            <a:srgbClr val="1C2433"/>
                          </a:solidFill>
                          <a:latin typeface="Calibri"/>
                        </a:rPr>
                        <a:t>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or several columns; by default the table's </a:t>
                      </a:r>
                      <a:r>
                        <a:rPr sz="1200" b="1" i="0">
                          <a:solidFill>
                            <a:srgbClr val="1C2433"/>
                          </a:solidFill>
                          <a:latin typeface="Calibri"/>
                        </a:rPr>
                        <a:t>identifier fields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The business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business_date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 date column, a timestamp's day in a zone, the partition spec's date; or current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Searchable fields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promoted columns the pack declares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every primitive column</a:t>
                      </a:r>
                      <a:r>
                        <a:rPr sz="1200" b="0" i="0">
                          <a:solidFill>
                            <a:srgbClr val="1C2433"/>
                          </a:solidFill>
                          <a:latin typeface="Calibri"/>
                        </a:rPr>
                        <a:t> (nested to depth 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One 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id map: one row group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sorted or bucketed by id: one row group; unsorted: an </a:t>
                      </a:r>
                      <a:r>
                        <a:rPr sz="1200" b="1" i="0">
                          <a:solidFill>
                            <a:srgbClr val="1C2433"/>
                          </a:solidFill>
                          <a:latin typeface="Calibri"/>
                        </a:rPr>
                        <a:t>id index</a:t>
                      </a:r>
                      <a:r>
                        <a:rPr sz="1200" b="0" i="0">
                          <a:solidFill>
                            <a:srgbClr val="1C2433"/>
                          </a:solidFill>
                          <a:latin typeface="Calibri"/>
                        </a:rPr>
                        <a:t> built on first use per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loader and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never</a:t>
                      </a:r>
                      <a:r>
                        <a:rPr sz="1200" b="0" i="0">
                          <a:solidFill>
                            <a:srgbClr val="1C2433"/>
                          </a:solidFill>
                          <a:latin typeface="Calibri"/>
                        </a:rPr>
                        <a:t>: the owners' engines maintain the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Deletes, time travel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position and equality deletes applied; </a:t>
                      </a:r>
                      <a:r>
                        <a:rPr sz="1200" b="0" i="1">
                          <a:solidFill>
                            <a:srgbClr val="1C2433"/>
                          </a:solidFill>
                          <a:latin typeface="Calibri"/>
                        </a:rPr>
                        <a:t>known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branches and tags not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Catalogs: what Drishti supports today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20</a:t>
            </a:r>
          </a:p>
        </p:txBody>
      </p:sp>
      <p:graphicFrame>
        <p:nvGraphicFramePr>
          <p:cNvPr id="9" name="Table 8"/>
          <p:cNvGraphicFramePr>
            <a:graphicFrameLocks noGrp="1"/>
          </p:cNvGraphicFramePr>
          <p:nvPr/>
        </p:nvGraphicFramePr>
        <p:xfrm>
          <a:off x="411480" y="1143000"/>
          <a:ext cx="11365992" cy="3911801"/>
        </p:xfrm>
        <a:graphic>
          <a:graphicData uri="http://schemas.openxmlformats.org/drawingml/2006/table">
            <a:tbl>
              <a:tblPr firstRow="1" bandRow="1">
                <a:tableStyleId>{5940675A-B579-460E-94D1-54222C63F5DA}</a:tableStyleId>
              </a:tblPr>
              <a:tblGrid>
                <a:gridCol w="3246120"/>
                <a:gridCol w="4343400"/>
                <a:gridCol w="1783080"/>
                <a:gridCol w="1993392"/>
              </a:tblGrid>
              <a:tr h="383442">
                <a:tc>
                  <a:txBody>
                    <a:bodyPr wrap="square"/>
                    <a:lstStyle/>
                    <a:p>
                      <a:pPr algn="l">
                        <a:lnSpc>
                          <a:spcPct val="100000"/>
                        </a:lnSpc>
                      </a:pPr>
                      <a:r>
                        <a:rPr sz="1150" b="1" i="0">
                          <a:solidFill>
                            <a:srgbClr val="FFFFFF"/>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How Drishti reaches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52295">
                <a:tc>
                  <a:txBody>
                    <a:bodyPr wrap="square"/>
                    <a:lstStyle/>
                    <a:p>
                      <a:pPr algn="l">
                        <a:lnSpc>
                          <a:spcPct val="100000"/>
                        </a:lnSpc>
                      </a:pPr>
                      <a:r>
                        <a:rPr sz="1150" b="1" i="0">
                          <a:solidFill>
                            <a:srgbClr val="1C2433"/>
                          </a:solidFill>
                          <a:latin typeface="Calibri"/>
                        </a:rPr>
                        <a:t>Path-based (</a:t>
                      </a:r>
                      <a:r>
                        <a:rPr sz="1050" b="1" i="0">
                          <a:solidFill>
                            <a:srgbClr val="0E7C86"/>
                          </a:solidFill>
                          <a:latin typeface="Consolas"/>
                        </a:rPr>
                        <a:t>catalog: hadoop</a:t>
                      </a:r>
                      <a:r>
                        <a:rPr sz="1150" b="1" i="0">
                          <a:solidFill>
                            <a:srgbClr val="1C2433"/>
                          </a:solidFill>
                          <a:latin typeface="Calibri"/>
                        </a:rPr>
                        <a:t>, the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&lt;root&gt;/&lt;domain&gt;/&lt;table&gt;/metadata/version-hint.text</a:t>
                      </a:r>
                      <a:r>
                        <a:rPr sz="1150" b="0" i="0">
                          <a:solidFill>
                            <a:srgbClr val="1C2433"/>
                          </a:solidFill>
                          <a:latin typeface="Calibri"/>
                        </a:rPr>
                        <a:t>; root a folder or </a:t>
                      </a:r>
                      <a:r>
                        <a:rPr sz="1050" b="0" i="0">
                          <a:solidFill>
                            <a:srgbClr val="0E7C86"/>
                          </a:solidFill>
                          <a:latin typeface="Consolas"/>
                        </a:rPr>
                        <a:t>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loader and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83442">
                <a:tc>
                  <a:txBody>
                    <a:bodyPr wrap="square"/>
                    <a:lstStyle/>
                    <a:p>
                      <a:pPr algn="l">
                        <a:lnSpc>
                          <a:spcPct val="100000"/>
                        </a:lnSpc>
                      </a:pPr>
                      <a:r>
                        <a:rPr sz="1150" b="1" i="0">
                          <a:solidFill>
                            <a:srgbClr val="1C2433"/>
                          </a:solidFill>
                          <a:latin typeface="Calibri"/>
                        </a:rPr>
                        <a:t>A metadata file named directly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metadata-location.&lt;kind&gt;: s3://…/v12.metadata.json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read-only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52295">
                <a:tc>
                  <a:txBody>
                    <a:bodyPr wrap="square"/>
                    <a:lstStyle/>
                    <a:p>
                      <a:pPr algn="l">
                        <a:lnSpc>
                          <a:spcPct val="100000"/>
                        </a:lnSpc>
                      </a:pPr>
                      <a:r>
                        <a:rPr sz="1150" b="1" i="0">
                          <a:solidFill>
                            <a:srgbClr val="1C2433"/>
                          </a:solidFill>
                          <a:latin typeface="Calibri"/>
                        </a:rPr>
                        <a:t>REST: Polaris, Snowflake Open Catalog, Nessie, Lakekeeper, Unity, Gravitino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catalog: rest</a:t>
                      </a:r>
                      <a:r>
                        <a:rPr sz="1150" b="0" i="0">
                          <a:solidFill>
                            <a:srgbClr val="1C2433"/>
                          </a:solidFill>
                          <a:latin typeface="Calibri"/>
                        </a:rPr>
                        <a:t>, </a:t>
                      </a:r>
                      <a:r>
                        <a:rPr sz="1050" b="0" i="0">
                          <a:solidFill>
                            <a:srgbClr val="0E7C86"/>
                          </a:solidFill>
                          <a:latin typeface="Consolas"/>
                        </a:rPr>
                        <a:t>uri</a:t>
                      </a:r>
                      <a:r>
                        <a:rPr sz="1150" b="0" i="0">
                          <a:solidFill>
                            <a:srgbClr val="1C2433"/>
                          </a:solidFill>
                          <a:latin typeface="Calibri"/>
                        </a:rPr>
                        <a:t>, </a:t>
                      </a:r>
                      <a:r>
                        <a:rPr sz="1050" b="0" i="0">
                          <a:solidFill>
                            <a:srgbClr val="0E7C86"/>
                          </a:solidFill>
                          <a:latin typeface="Consolas"/>
                        </a:rPr>
                        <a:t>warehouse</a:t>
                      </a:r>
                      <a:r>
                        <a:rPr sz="1150" b="0" i="0">
                          <a:solidFill>
                            <a:srgbClr val="1C2433"/>
                          </a:solidFill>
                          <a:latin typeface="Calibri"/>
                        </a:rPr>
                        <a:t>, OAuth2 </a:t>
                      </a:r>
                      <a:r>
                        <a:rPr sz="1050" b="0" i="0">
                          <a:solidFill>
                            <a:srgbClr val="0E7C86"/>
                          </a:solidFill>
                          <a:latin typeface="Consolas"/>
                        </a:rPr>
                        <a:t>credential</a:t>
                      </a:r>
                      <a:r>
                        <a:rPr sz="1150" b="0" i="0">
                          <a:solidFill>
                            <a:srgbClr val="1C2433"/>
                          </a:solidFill>
                          <a:latin typeface="Calibri"/>
                        </a:rPr>
                        <a:t> or </a:t>
                      </a:r>
                      <a:r>
                        <a:rPr sz="1050" b="0" i="0">
                          <a:solidFill>
                            <a:srgbClr val="0E7C86"/>
                          </a:solidFill>
                          <a:latin typeface="Consolas"/>
                        </a:rPr>
                        <a:t>token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commits with requirements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2295">
                <a:tc>
                  <a:txBody>
                    <a:bodyPr wrap="square"/>
                    <a:lstStyle/>
                    <a:p>
                      <a:pPr algn="l">
                        <a:lnSpc>
                          <a:spcPct val="100000"/>
                        </a:lnSpc>
                      </a:pPr>
                      <a:r>
                        <a:rPr sz="1150" b="1" i="0">
                          <a:solidFill>
                            <a:srgbClr val="1C2433"/>
                          </a:solidFill>
                          <a:latin typeface="Calibri"/>
                        </a:rPr>
                        <a:t>AWS Glue Data Catalog, through Glue's Iceberg REST endpoint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uri: https://glue.&lt;region&gt;.amazonaws.com/iceberg</a:t>
                      </a:r>
                      <a:r>
                        <a:rPr sz="1150" b="0" i="0">
                          <a:solidFill>
                            <a:srgbClr val="1C2433"/>
                          </a:solidFill>
                          <a:latin typeface="Calibri"/>
                        </a:rPr>
                        <a:t>, SigV4 </a:t>
                      </a:r>
                      <a:r>
                        <a:rPr sz="1050" b="0" i="0">
                          <a:solidFill>
                            <a:srgbClr val="0E7C86"/>
                          </a:solidFill>
                          <a:latin typeface="Consolas"/>
                        </a:rPr>
                        <a:t>signing-name: glue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as REST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r>
                        <a:rPr sz="1150" b="0" i="0">
                          <a:solidFill>
                            <a:srgbClr val="1C2433"/>
                          </a:solidFill>
                          <a:latin typeface="Calibri"/>
                        </a:rPr>
                        <a:t> (not run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52295">
                <a:tc>
                  <a:txBody>
                    <a:bodyPr wrap="square"/>
                    <a:lstStyle/>
                    <a:p>
                      <a:pPr algn="l">
                        <a:lnSpc>
                          <a:spcPct val="100000"/>
                        </a:lnSpc>
                      </a:pPr>
                      <a:r>
                        <a:rPr sz="1150" b="1" i="0">
                          <a:solidFill>
                            <a:srgbClr val="1C2433"/>
                          </a:solidFill>
                          <a:latin typeface="Calibri"/>
                        </a:rPr>
                        <a:t>AWS Glue Data Catalog API (GetTable, UpdateTable)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not implemented; use Glue's REST endpoint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2295">
                <a:tc>
                  <a:txBody>
                    <a:bodyPr wrap="square"/>
                    <a:lstStyle/>
                    <a:p>
                      <a:pPr algn="l">
                        <a:lnSpc>
                          <a:spcPct val="100000"/>
                        </a:lnSpc>
                      </a:pPr>
                      <a:r>
                        <a:rPr sz="1150" b="1" i="0">
                          <a:solidFill>
                            <a:srgbClr val="1C2433"/>
                          </a:solidFill>
                          <a:latin typeface="Calibri"/>
                        </a:rPr>
                        <a:t>Amazon S3 Tables (table buckets)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not implemented; its Iceberg REST endpoint with SigV4 is the likely route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83442">
                <a:tc>
                  <a:txBody>
                    <a:bodyPr wrap="square"/>
                    <a:lstStyle/>
                    <a:p>
                      <a:pPr algn="l">
                        <a:lnSpc>
                          <a:spcPct val="100000"/>
                        </a:lnSpc>
                      </a:pPr>
                      <a:r>
                        <a:rPr sz="1150" b="1" i="0">
                          <a:solidFill>
                            <a:srgbClr val="1C2433"/>
                          </a:solidFill>
                          <a:latin typeface="Calibri"/>
                        </a:rPr>
                        <a:t>Hive metastore, JDBC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only through a REST catalog in front of them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B3261E"/>
                          </a:solidFill>
                          <a:latin typeface="Calibri"/>
                        </a:rPr>
                        <a:t>NOT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0" name="Rounded Rectangle 9"/>
          <p:cNvSpPr/>
          <p:nvPr/>
        </p:nvSpPr>
        <p:spPr>
          <a:xfrm>
            <a:off x="411480" y="5596128"/>
            <a:ext cx="11365992" cy="749808"/>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21208" y="5669280"/>
            <a:ext cx="11146536" cy="603503"/>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settings: { catalog: rest, uri: "https://glue.us-east-1.amazonaws.com/iceberg", warehouse: "&lt;account-id&gt;",</a:t>
            </a:r>
          </a:p>
          <a:p>
            <a:pPr algn="l">
              <a:lnSpc>
                <a:spcPct val="100000"/>
              </a:lnSpc>
            </a:pPr>
            <a:r>
              <a:rPr sz="1150" b="0" i="0">
                <a:solidFill>
                  <a:srgbClr val="E6EDF3"/>
                </a:solidFill>
                <a:latin typeface="Consolas"/>
              </a:rPr>
              <a:t>            catalog.rest.sigv4-enabled: "true", catalog.rest.signing-name: glue, catalog.rest.signing-region: us-east-1 }</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Commits and concurrency, as the code makes them</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21</a:t>
            </a:r>
          </a:p>
        </p:txBody>
      </p:sp>
      <p:sp>
        <p:nvSpPr>
          <p:cNvPr id="9" name="Rounded Rectangle 8"/>
          <p:cNvSpPr/>
          <p:nvPr/>
        </p:nvSpPr>
        <p:spPr>
          <a:xfrm>
            <a:off x="411480" y="1188720"/>
            <a:ext cx="3666744" cy="2743200"/>
          </a:xfrm>
          <a:prstGeom prst="roundRect">
            <a:avLst>
              <a:gd name="adj" fmla="val 6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43584"/>
            <a:ext cx="3447287" cy="41148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Local disk, EFS (Windows too)</a:t>
            </a:r>
          </a:p>
        </p:txBody>
      </p:sp>
      <p:sp>
        <p:nvSpPr>
          <p:cNvPr id="11" name="TextBox 10"/>
          <p:cNvSpPr txBox="1"/>
          <p:nvPr/>
        </p:nvSpPr>
        <p:spPr>
          <a:xfrm>
            <a:off x="521208" y="1691640"/>
            <a:ext cx="3447287" cy="1554480"/>
          </a:xfrm>
          <a:prstGeom prst="rect">
            <a:avLst/>
          </a:prstGeom>
          <a:noFill/>
        </p:spPr>
        <p:txBody>
          <a:bodyPr wrap="square" lIns="45720" rIns="45720" tIns="27432" bIns="27432" anchor="t">
            <a:spAutoFit/>
          </a:bodyPr>
          <a:lstStyle/>
          <a:p>
            <a:pPr algn="l">
              <a:lnSpc>
                <a:spcPct val="105000"/>
              </a:lnSpc>
            </a:pPr>
            <a:r>
              <a:rPr sz="1300" b="0" i="0">
                <a:solidFill>
                  <a:srgbClr val="1C2433"/>
                </a:solidFill>
                <a:latin typeface="Calibri"/>
              </a:rPr>
              <a:t>write </a:t>
            </a:r>
            <a:r>
              <a:rPr sz="1200" b="0" i="0">
                <a:solidFill>
                  <a:srgbClr val="0E7C86"/>
                </a:solidFill>
                <a:latin typeface="Consolas"/>
              </a:rPr>
              <a:t>vN+1.metadata.json</a:t>
            </a:r>
            <a:r>
              <a:rPr sz="1300" b="0" i="0">
                <a:solidFill>
                  <a:srgbClr val="1C2433"/>
                </a:solidFill>
                <a:latin typeface="Calibri"/>
              </a:rPr>
              <a:t> to a temporary name, then </a:t>
            </a:r>
            <a:r>
              <a:rPr sz="1300" b="1" i="0">
                <a:solidFill>
                  <a:srgbClr val="1C2433"/>
                </a:solidFill>
                <a:latin typeface="Calibri"/>
              </a:rPr>
              <a:t>create</a:t>
            </a:r>
            <a:r>
              <a:rPr sz="1300" b="0" i="0">
                <a:solidFill>
                  <a:srgbClr val="1C2433"/>
                </a:solidFill>
                <a:latin typeface="Calibri"/>
              </a:rPr>
              <a:t> it under its final name with a hard link (fails if taken); then replace </a:t>
            </a:r>
            <a:r>
              <a:rPr sz="1200" b="0" i="0">
                <a:solidFill>
                  <a:srgbClr val="0E7C86"/>
                </a:solidFill>
                <a:latin typeface="Consolas"/>
              </a:rPr>
              <a:t>version-hint.text</a:t>
            </a:r>
          </a:p>
        </p:txBody>
      </p:sp>
      <p:sp>
        <p:nvSpPr>
          <p:cNvPr id="12" name="TextBox 11"/>
          <p:cNvSpPr txBox="1"/>
          <p:nvPr/>
        </p:nvSpPr>
        <p:spPr>
          <a:xfrm>
            <a:off x="521208" y="3291840"/>
            <a:ext cx="2295144" cy="594360"/>
          </a:xfrm>
          <a:prstGeom prst="rect">
            <a:avLst/>
          </a:prstGeom>
          <a:noFill/>
        </p:spPr>
        <p:txBody>
          <a:bodyPr wrap="square" lIns="45720" rIns="45720" tIns="27432" bIns="27432" anchor="b">
            <a:spAutoFit/>
          </a:bodyPr>
          <a:lstStyle/>
          <a:p>
            <a:pPr algn="l">
              <a:lnSpc>
                <a:spcPct val="105000"/>
              </a:lnSpc>
            </a:pPr>
            <a:r>
              <a:rPr sz="1200" b="0" i="0">
                <a:solidFill>
                  <a:srgbClr val="5B677A"/>
                </a:solidFill>
                <a:latin typeface="Calibri"/>
              </a:rPr>
              <a:t>Tested: NativeCommitTest: 4 writers at once lose nothing</a:t>
            </a:r>
          </a:p>
        </p:txBody>
      </p:sp>
      <p:sp>
        <p:nvSpPr>
          <p:cNvPr id="13" name="Rounded Rectangle 12"/>
          <p:cNvSpPr/>
          <p:nvPr/>
        </p:nvSpPr>
        <p:spPr>
          <a:xfrm>
            <a:off x="2889504" y="356616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4" name="Rounded Rectangle 13"/>
          <p:cNvSpPr/>
          <p:nvPr/>
        </p:nvSpPr>
        <p:spPr>
          <a:xfrm>
            <a:off x="4261104" y="1188720"/>
            <a:ext cx="3666744" cy="2743200"/>
          </a:xfrm>
          <a:prstGeom prst="roundRect">
            <a:avLst>
              <a:gd name="adj" fmla="val 6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4370832" y="1243584"/>
            <a:ext cx="3447287" cy="41148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Amazon S3, path-based</a:t>
            </a:r>
          </a:p>
        </p:txBody>
      </p:sp>
      <p:sp>
        <p:nvSpPr>
          <p:cNvPr id="16" name="TextBox 15"/>
          <p:cNvSpPr txBox="1"/>
          <p:nvPr/>
        </p:nvSpPr>
        <p:spPr>
          <a:xfrm>
            <a:off x="4370832" y="1691640"/>
            <a:ext cx="3447287" cy="1554480"/>
          </a:xfrm>
          <a:prstGeom prst="rect">
            <a:avLst/>
          </a:prstGeom>
          <a:noFill/>
        </p:spPr>
        <p:txBody>
          <a:bodyPr wrap="square" lIns="45720" rIns="45720" tIns="27432" bIns="27432" anchor="t">
            <a:spAutoFit/>
          </a:bodyPr>
          <a:lstStyle/>
          <a:p>
            <a:pPr algn="l">
              <a:lnSpc>
                <a:spcPct val="105000"/>
              </a:lnSpc>
            </a:pPr>
            <a:r>
              <a:rPr sz="1300" b="0" i="0">
                <a:solidFill>
                  <a:srgbClr val="1C2433"/>
                </a:solidFill>
                <a:latin typeface="Calibri"/>
              </a:rPr>
              <a:t>a </a:t>
            </a:r>
            <a:r>
              <a:rPr sz="1300" b="1" i="0">
                <a:solidFill>
                  <a:srgbClr val="1C2433"/>
                </a:solidFill>
                <a:latin typeface="Calibri"/>
              </a:rPr>
              <a:t>conditional PUT</a:t>
            </a:r>
            <a:r>
              <a:rPr sz="1300" b="0" i="0">
                <a:solidFill>
                  <a:srgbClr val="1C2433"/>
                </a:solidFill>
                <a:latin typeface="Calibri"/>
              </a:rPr>
              <a:t> (</a:t>
            </a:r>
            <a:r>
              <a:rPr sz="1200" b="0" i="0">
                <a:solidFill>
                  <a:srgbClr val="0E7C86"/>
                </a:solidFill>
                <a:latin typeface="Consolas"/>
              </a:rPr>
              <a:t>If-None-Match: *</a:t>
            </a:r>
            <a:r>
              <a:rPr sz="1300" b="0" i="0">
                <a:solidFill>
                  <a:srgbClr val="1C2433"/>
                </a:solidFill>
                <a:latin typeface="Calibri"/>
              </a:rPr>
              <a:t>) of </a:t>
            </a:r>
            <a:r>
              <a:rPr sz="1200" b="0" i="0">
                <a:solidFill>
                  <a:srgbClr val="0E7C86"/>
                </a:solidFill>
                <a:latin typeface="Consolas"/>
              </a:rPr>
              <a:t>vN+1.metadata.json</a:t>
            </a:r>
            <a:r>
              <a:rPr sz="1300" b="0" i="0">
                <a:solidFill>
                  <a:srgbClr val="1C2433"/>
                </a:solidFill>
                <a:latin typeface="Calibri"/>
              </a:rPr>
              <a:t>; a probe at the first commit; a store that ignores it makes the table </a:t>
            </a:r>
            <a:r>
              <a:rPr sz="1300" b="1" i="0">
                <a:solidFill>
                  <a:srgbClr val="1C2433"/>
                </a:solidFill>
                <a:latin typeface="Calibri"/>
              </a:rPr>
              <a:t>single-writer</a:t>
            </a:r>
          </a:p>
        </p:txBody>
      </p:sp>
      <p:sp>
        <p:nvSpPr>
          <p:cNvPr id="17" name="TextBox 16"/>
          <p:cNvSpPr txBox="1"/>
          <p:nvPr/>
        </p:nvSpPr>
        <p:spPr>
          <a:xfrm>
            <a:off x="4370832" y="3291840"/>
            <a:ext cx="2295144" cy="594360"/>
          </a:xfrm>
          <a:prstGeom prst="rect">
            <a:avLst/>
          </a:prstGeom>
          <a:noFill/>
        </p:spPr>
        <p:txBody>
          <a:bodyPr wrap="square" lIns="45720" rIns="45720" tIns="27432" bIns="27432" anchor="b">
            <a:spAutoFit/>
          </a:bodyPr>
          <a:lstStyle/>
          <a:p>
            <a:pPr algn="l">
              <a:lnSpc>
                <a:spcPct val="105000"/>
              </a:lnSpc>
            </a:pPr>
            <a:r>
              <a:rPr sz="1200" b="0" i="0">
                <a:solidFill>
                  <a:srgbClr val="5B677A"/>
                </a:solidFill>
                <a:latin typeface="Calibri"/>
              </a:rPr>
              <a:t>Tested: S3Mock, MinIO (racing writers on MinIO)</a:t>
            </a:r>
          </a:p>
        </p:txBody>
      </p:sp>
      <p:sp>
        <p:nvSpPr>
          <p:cNvPr id="18" name="Rounded Rectangle 17"/>
          <p:cNvSpPr/>
          <p:nvPr/>
        </p:nvSpPr>
        <p:spPr>
          <a:xfrm>
            <a:off x="6739128" y="356616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9" name="Rounded Rectangle 18"/>
          <p:cNvSpPr/>
          <p:nvPr/>
        </p:nvSpPr>
        <p:spPr>
          <a:xfrm>
            <a:off x="8110728" y="1188720"/>
            <a:ext cx="3666744" cy="2743200"/>
          </a:xfrm>
          <a:prstGeom prst="roundRect">
            <a:avLst>
              <a:gd name="adj" fmla="val 6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8220456" y="1243584"/>
            <a:ext cx="3447287" cy="41148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REST catalog (Glue, Polaris)</a:t>
            </a:r>
          </a:p>
        </p:txBody>
      </p:sp>
      <p:sp>
        <p:nvSpPr>
          <p:cNvPr id="21" name="TextBox 20"/>
          <p:cNvSpPr txBox="1"/>
          <p:nvPr/>
        </p:nvSpPr>
        <p:spPr>
          <a:xfrm>
            <a:off x="8220456" y="1691640"/>
            <a:ext cx="3447287" cy="1554480"/>
          </a:xfrm>
          <a:prstGeom prst="rect">
            <a:avLst/>
          </a:prstGeom>
          <a:noFill/>
        </p:spPr>
        <p:txBody>
          <a:bodyPr wrap="square" lIns="45720" rIns="45720" tIns="27432" bIns="27432" anchor="t">
            <a:spAutoFit/>
          </a:bodyPr>
          <a:lstStyle/>
          <a:p>
            <a:pPr algn="l">
              <a:lnSpc>
                <a:spcPct val="105000"/>
              </a:lnSpc>
            </a:pPr>
            <a:r>
              <a:rPr sz="1300" b="0" i="0">
                <a:solidFill>
                  <a:srgbClr val="1C2433"/>
                </a:solidFill>
                <a:latin typeface="Calibri"/>
              </a:rPr>
              <a:t>the catalog's commit with requirements (</a:t>
            </a:r>
            <a:r>
              <a:rPr sz="1200" b="0" i="0">
                <a:solidFill>
                  <a:srgbClr val="0E7C86"/>
                </a:solidFill>
                <a:latin typeface="Consolas"/>
              </a:rPr>
              <a:t>assert-table-uuid</a:t>
            </a:r>
            <a:r>
              <a:rPr sz="1300" b="0" i="0">
                <a:solidFill>
                  <a:srgbClr val="1C2433"/>
                </a:solidFill>
                <a:latin typeface="Calibri"/>
              </a:rPr>
              <a:t>, </a:t>
            </a:r>
            <a:r>
              <a:rPr sz="1200" b="0" i="0">
                <a:solidFill>
                  <a:srgbClr val="0E7C86"/>
                </a:solidFill>
                <a:latin typeface="Consolas"/>
              </a:rPr>
              <a:t>assert-ref-snapshot-id</a:t>
            </a:r>
            <a:r>
              <a:rPr sz="1300" b="0" i="0">
                <a:solidFill>
                  <a:srgbClr val="1C2433"/>
                </a:solidFill>
                <a:latin typeface="Calibri"/>
              </a:rPr>
              <a:t>, …); a </a:t>
            </a:r>
            <a:r>
              <a:rPr sz="1300" b="1" i="0">
                <a:solidFill>
                  <a:srgbClr val="1C2433"/>
                </a:solidFill>
                <a:latin typeface="Calibri"/>
              </a:rPr>
              <a:t>409</a:t>
            </a:r>
            <a:r>
              <a:rPr sz="1300" b="0" i="0">
                <a:solidFill>
                  <a:srgbClr val="1C2433"/>
                </a:solidFill>
                <a:latin typeface="Calibri"/>
              </a:rPr>
              <a:t> is re-read, re-applied, retried</a:t>
            </a:r>
          </a:p>
        </p:txBody>
      </p:sp>
      <p:sp>
        <p:nvSpPr>
          <p:cNvPr id="22" name="TextBox 21"/>
          <p:cNvSpPr txBox="1"/>
          <p:nvPr/>
        </p:nvSpPr>
        <p:spPr>
          <a:xfrm>
            <a:off x="8220456" y="3291840"/>
            <a:ext cx="2295144" cy="594360"/>
          </a:xfrm>
          <a:prstGeom prst="rect">
            <a:avLst/>
          </a:prstGeom>
          <a:noFill/>
        </p:spPr>
        <p:txBody>
          <a:bodyPr wrap="square" lIns="45720" rIns="45720" tIns="27432" bIns="27432" anchor="b">
            <a:spAutoFit/>
          </a:bodyPr>
          <a:lstStyle/>
          <a:p>
            <a:pPr algn="l">
              <a:lnSpc>
                <a:spcPct val="105000"/>
              </a:lnSpc>
            </a:pPr>
            <a:r>
              <a:rPr sz="1200" b="0" i="0">
                <a:solidFill>
                  <a:srgbClr val="5B677A"/>
                </a:solidFill>
                <a:latin typeface="Calibri"/>
              </a:rPr>
              <a:t>Tested: REST protocol and catalog tests</a:t>
            </a:r>
          </a:p>
        </p:txBody>
      </p:sp>
      <p:sp>
        <p:nvSpPr>
          <p:cNvPr id="23" name="Rounded Rectangle 22"/>
          <p:cNvSpPr/>
          <p:nvPr/>
        </p:nvSpPr>
        <p:spPr>
          <a:xfrm>
            <a:off x="10588752" y="356616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4" name="TextBox 23"/>
          <p:cNvSpPr txBox="1"/>
          <p:nvPr/>
        </p:nvSpPr>
        <p:spPr>
          <a:xfrm>
            <a:off x="411480" y="4114800"/>
            <a:ext cx="11365992" cy="1280160"/>
          </a:xfrm>
          <a:prstGeom prst="rect">
            <a:avLst/>
          </a:prstGeom>
          <a:noFill/>
        </p:spPr>
        <p:txBody>
          <a:bodyPr wrap="square" lIns="45720" rIns="45720" tIns="27432" bIns="27432" anchor="t">
            <a:spAutoFit/>
          </a:bodyPr>
          <a:lstStyle/>
          <a:p>
            <a:pPr algn="l">
              <a:lnSpc>
                <a:spcPct val="105000"/>
              </a:lnSpc>
              <a:spcAft>
                <a:spcPts val="500"/>
              </a:spcAft>
            </a:pPr>
            <a:r>
              <a:rPr sz="1350" b="0" i="0">
                <a:solidFill>
                  <a:srgbClr val="E87A1E"/>
                </a:solidFill>
                <a:latin typeface="Calibri"/>
              </a:rPr>
              <a:t>•  </a:t>
            </a:r>
            <a:r>
              <a:rPr sz="1350" b="1" i="0">
                <a:solidFill>
                  <a:srgbClr val="1C2433"/>
                </a:solidFill>
                <a:latin typeface="Calibri"/>
              </a:rPr>
              <a:t>Two writers on one table:</a:t>
            </a:r>
            <a:r>
              <a:rPr sz="1350" b="0" i="0">
                <a:solidFill>
                  <a:srgbClr val="1C2433"/>
                </a:solidFill>
                <a:latin typeface="Calibri"/>
              </a:rPr>
              <a:t> one wins each version; the other re-reads, re-applies its change on the new version and retries (10 times)</a:t>
            </a:r>
          </a:p>
          <a:p>
            <a:pPr algn="l">
              <a:lnSpc>
                <a:spcPct val="105000"/>
              </a:lnSpc>
              <a:spcAft>
                <a:spcPts val="500"/>
              </a:spcAft>
            </a:pPr>
            <a:r>
              <a:rPr sz="1350" b="0" i="0">
                <a:solidFill>
                  <a:srgbClr val="E87A1E"/>
                </a:solidFill>
                <a:latin typeface="Calibri"/>
              </a:rPr>
              <a:t>•  </a:t>
            </a:r>
            <a:r>
              <a:rPr sz="1350" b="1" i="0">
                <a:solidFill>
                  <a:srgbClr val="1C2433"/>
                </a:solidFill>
                <a:latin typeface="Calibri"/>
              </a:rPr>
              <a:t>A rewrite is validated:</a:t>
            </a:r>
            <a:r>
              <a:rPr sz="1350" b="0" i="0">
                <a:solidFill>
                  <a:srgbClr val="1C2433"/>
                </a:solidFill>
                <a:latin typeface="Calibri"/>
              </a:rPr>
              <a:t> a re-applied rewrite of a day fails, and is reported, if that day changed meanwhile; an append always re-applies</a:t>
            </a:r>
          </a:p>
          <a:p>
            <a:pPr algn="l">
              <a:lnSpc>
                <a:spcPct val="105000"/>
              </a:lnSpc>
              <a:spcAft>
                <a:spcPts val="500"/>
              </a:spcAft>
            </a:pPr>
            <a:r>
              <a:rPr sz="1350" b="0" i="0">
                <a:solidFill>
                  <a:srgbClr val="E87A1E"/>
                </a:solidFill>
                <a:latin typeface="Calibri"/>
              </a:rPr>
              <a:t>•  </a:t>
            </a:r>
            <a:r>
              <a:rPr sz="1350" b="1" i="0">
                <a:solidFill>
                  <a:srgbClr val="1C2433"/>
                </a:solidFill>
                <a:latin typeface="Calibri"/>
              </a:rPr>
              <a:t>No orphans from Drishti's own writers:</a:t>
            </a:r>
            <a:r>
              <a:rPr sz="1350" b="0" i="0">
                <a:solidFill>
                  <a:srgbClr val="1C2433"/>
                </a:solidFill>
                <a:latin typeface="Calibri"/>
              </a:rPr>
              <a:t> files of a commit that finally failed are deleted at once</a:t>
            </a:r>
          </a:p>
        </p:txBody>
      </p:sp>
      <p:sp>
        <p:nvSpPr>
          <p:cNvPr id="25" name="Rounded Rectangle 24"/>
          <p:cNvSpPr/>
          <p:nvPr/>
        </p:nvSpPr>
        <p:spPr>
          <a:xfrm>
            <a:off x="411480" y="5486400"/>
            <a:ext cx="11365992" cy="8229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411480" y="5486400"/>
            <a:ext cx="8229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0080" y="5541264"/>
            <a:ext cx="11000232" cy="71323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Same safety as Delta on S3, different writer.</a:t>
            </a:r>
            <a:r>
              <a:rPr sz="1300" b="0" i="0">
                <a:solidFill>
                  <a:srgbClr val="1C2433"/>
                </a:solidFill>
                <a:latin typeface="Calibri"/>
              </a:rPr>
              <a:t> Delta's S3 commits come from </a:t>
            </a:r>
            <a:r>
              <a:rPr sz="1200" b="0" i="0">
                <a:solidFill>
                  <a:srgbClr val="0E7C86"/>
                </a:solidFill>
                <a:latin typeface="Consolas"/>
              </a:rPr>
              <a:t>lake publish</a:t>
            </a:r>
            <a:r>
              <a:rPr sz="1300" b="0" i="0">
                <a:solidFill>
                  <a:srgbClr val="1C2433"/>
                </a:solidFill>
                <a:latin typeface="Calibri"/>
              </a:rPr>
              <a:t> (Python deltalake); Iceberg's from the Java loader itself. No DynamoDB lock table in either.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S3, and the simulators that prove it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22</a:t>
            </a:r>
          </a:p>
        </p:txBody>
      </p:sp>
      <p:graphicFrame>
        <p:nvGraphicFramePr>
          <p:cNvPr id="9" name="Table 8"/>
          <p:cNvGraphicFramePr>
            <a:graphicFrameLocks noGrp="1"/>
          </p:cNvGraphicFramePr>
          <p:nvPr/>
        </p:nvGraphicFramePr>
        <p:xfrm>
          <a:off x="411480" y="1143000"/>
          <a:ext cx="11365992" cy="2551172"/>
        </p:xfrm>
        <a:graphic>
          <a:graphicData uri="http://schemas.openxmlformats.org/drawingml/2006/table">
            <a:tbl>
              <a:tblPr firstRow="1" bandRow="1">
                <a:tableStyleId>{5940675A-B579-460E-94D1-54222C63F5DA}</a:tableStyleId>
              </a:tblPr>
              <a:tblGrid>
                <a:gridCol w="3108960"/>
                <a:gridCol w="2743200"/>
                <a:gridCol w="3685032"/>
                <a:gridCol w="1828800"/>
              </a:tblGrid>
              <a:tr h="377312">
                <a:tc>
                  <a:txBody>
                    <a:bodyPr wrap="square"/>
                    <a:lstStyle/>
                    <a:p>
                      <a:pPr algn="l">
                        <a:lnSpc>
                          <a:spcPct val="100000"/>
                        </a:lnSpc>
                      </a:pPr>
                      <a:r>
                        <a:rPr sz="1150" b="1" i="0">
                          <a:solidFill>
                            <a:srgbClr val="FFFFFF"/>
                          </a:solidFill>
                          <a:latin typeface="Calibri"/>
                        </a:rPr>
                        <a:t>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Simulator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What it proves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Runs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43465">
                <a:tc>
                  <a:txBody>
                    <a:bodyPr wrap="square"/>
                    <a:lstStyle/>
                    <a:p>
                      <a:pPr algn="l">
                        <a:lnSpc>
                          <a:spcPct val="100000"/>
                        </a:lnSpc>
                      </a:pPr>
                      <a:r>
                        <a:rPr sz="1050" b="1" i="0">
                          <a:solidFill>
                            <a:srgbClr val="0E7C86"/>
                          </a:solidFill>
                          <a:latin typeface="Consolas"/>
                        </a:rPr>
                        <a:t>NativeOnS3SimulatorTest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Adobe S3Mock in the JVM; MinIO binary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loader writes, connector reads an Iceberg table in S3; writers at once where atomic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Linux, Windows (S3Mock)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43465">
                <a:tc>
                  <a:txBody>
                    <a:bodyPr wrap="square"/>
                    <a:lstStyle/>
                    <a:p>
                      <a:pPr algn="l">
                        <a:lnSpc>
                          <a:spcPct val="100000"/>
                        </a:lnSpc>
                      </a:pPr>
                      <a:r>
                        <a:rPr sz="1050" b="1" i="0">
                          <a:solidFill>
                            <a:srgbClr val="0E7C86"/>
                          </a:solidFill>
                          <a:latin typeface="Consolas"/>
                        </a:rPr>
                        <a:t>NativeOnS3Test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S3Mock image; MinIO image (Testcontainers)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same; the commit probe decides single-writer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where Docker is reachable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43465">
                <a:tc>
                  <a:txBody>
                    <a:bodyPr wrap="square"/>
                    <a:lstStyle/>
                    <a:p>
                      <a:pPr algn="l">
                        <a:lnSpc>
                          <a:spcPct val="100000"/>
                        </a:lnSpc>
                      </a:pPr>
                      <a:r>
                        <a:rPr sz="1050" b="1" i="0">
                          <a:solidFill>
                            <a:srgbClr val="0E7C86"/>
                          </a:solidFill>
                          <a:latin typeface="Consolas"/>
                        </a:rPr>
                        <a:t>tools/lake/test_s3_simulators.py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moto (pure Python); MinIO binary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1C2433"/>
                          </a:solidFill>
                          <a:latin typeface="Calibri"/>
                        </a:rPr>
                        <a:t>Delta</a:t>
                      </a:r>
                      <a:r>
                        <a:rPr sz="1150" b="0" i="0">
                          <a:solidFill>
                            <a:srgbClr val="1C2433"/>
                          </a:solidFill>
                          <a:latin typeface="Calibri"/>
                        </a:rPr>
                        <a:t>: table on S3, </a:t>
                      </a:r>
                      <a:r>
                        <a:rPr sz="1050" b="0" i="0">
                          <a:solidFill>
                            <a:srgbClr val="0E7C86"/>
                          </a:solidFill>
                          <a:latin typeface="Consolas"/>
                        </a:rPr>
                        <a:t>lake publish</a:t>
                      </a:r>
                      <a:r>
                        <a:rPr sz="1150" b="0" i="0">
                          <a:solidFill>
                            <a:srgbClr val="1C2433"/>
                          </a:solidFill>
                          <a:latin typeface="Calibri"/>
                        </a:rPr>
                        <a:t> conditional PUT, two publishes at once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Linux, Windows (moto)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43465">
                <a:tc>
                  <a:txBody>
                    <a:bodyPr wrap="square"/>
                    <a:lstStyle/>
                    <a:p>
                      <a:pPr algn="l">
                        <a:lnSpc>
                          <a:spcPct val="100000"/>
                        </a:lnSpc>
                      </a:pPr>
                      <a:r>
                        <a:rPr sz="1050" b="1" i="0">
                          <a:solidFill>
                            <a:srgbClr val="0E7C86"/>
                          </a:solidFill>
                          <a:latin typeface="Consolas"/>
                        </a:rPr>
                        <a:t>deploy/aws/delta-lake/check-conditional-writes.sh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your real bucket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bucket refuses a second create (412): the probe both formats rely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AWS (first run pending)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TextBox 9"/>
          <p:cNvSpPr txBox="1"/>
          <p:nvPr/>
        </p:nvSpPr>
        <p:spPr>
          <a:xfrm>
            <a:off x="411480" y="406908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What the probe checks</a:t>
            </a:r>
          </a:p>
        </p:txBody>
      </p:sp>
      <p:sp>
        <p:nvSpPr>
          <p:cNvPr id="11" name="TextBox 10"/>
          <p:cNvSpPr txBox="1"/>
          <p:nvPr/>
        </p:nvSpPr>
        <p:spPr>
          <a:xfrm>
            <a:off x="411480" y="4434840"/>
            <a:ext cx="5577840" cy="1920240"/>
          </a:xfrm>
          <a:prstGeom prst="rect">
            <a:avLst/>
          </a:prstGeom>
          <a:noFill/>
        </p:spPr>
        <p:txBody>
          <a:bodyPr wrap="square" lIns="45720" rIns="45720" tIns="27432" bIns="27432" anchor="t">
            <a:spAutoFit/>
          </a:bodyPr>
          <a:lstStyle/>
          <a:p>
            <a:pPr algn="l">
              <a:lnSpc>
                <a:spcPct val="105000"/>
              </a:lnSpc>
              <a:spcAft>
                <a:spcPts val="500"/>
              </a:spcAft>
            </a:pPr>
            <a:r>
              <a:rPr sz="1300" b="0" i="0">
                <a:solidFill>
                  <a:srgbClr val="E87A1E"/>
                </a:solidFill>
                <a:latin typeface="Calibri"/>
              </a:rPr>
              <a:t>•  </a:t>
            </a:r>
            <a:r>
              <a:rPr sz="1300" b="0" i="0">
                <a:solidFill>
                  <a:srgbClr val="1C2433"/>
                </a:solidFill>
                <a:latin typeface="Calibri"/>
              </a:rPr>
              <a:t>create-only (</a:t>
            </a:r>
            <a:r>
              <a:rPr sz="1200" b="0" i="0">
                <a:solidFill>
                  <a:srgbClr val="0E7C86"/>
                </a:solidFill>
                <a:latin typeface="Consolas"/>
              </a:rPr>
              <a:t>If-None-Match: *</a:t>
            </a:r>
            <a:r>
              <a:rPr sz="1300" b="0" i="0">
                <a:solidFill>
                  <a:srgbClr val="1C2433"/>
                </a:solidFill>
                <a:latin typeface="Calibri"/>
              </a:rPr>
              <a:t>): the commit's create</a:t>
            </a:r>
          </a:p>
          <a:p>
            <a:pPr algn="l">
              <a:lnSpc>
                <a:spcPct val="105000"/>
              </a:lnSpc>
              <a:spcAft>
                <a:spcPts val="500"/>
              </a:spcAft>
            </a:pPr>
            <a:r>
              <a:rPr sz="1300" b="0" i="0">
                <a:solidFill>
                  <a:srgbClr val="E87A1E"/>
                </a:solidFill>
                <a:latin typeface="Calibri"/>
              </a:rPr>
              <a:t>•  </a:t>
            </a:r>
            <a:r>
              <a:rPr sz="1300" b="0" i="0">
                <a:solidFill>
                  <a:srgbClr val="1C2433"/>
                </a:solidFill>
                <a:latin typeface="Calibri"/>
              </a:rPr>
              <a:t>update-if-match and delete-if-match</a:t>
            </a:r>
          </a:p>
          <a:p>
            <a:pPr algn="l">
              <a:lnSpc>
                <a:spcPct val="105000"/>
              </a:lnSpc>
              <a:spcAft>
                <a:spcPts val="500"/>
              </a:spcAft>
            </a:pPr>
            <a:r>
              <a:rPr sz="1300" b="0" i="0">
                <a:solidFill>
                  <a:srgbClr val="E87A1E"/>
                </a:solidFill>
                <a:latin typeface="Calibri"/>
              </a:rPr>
              <a:t>•  </a:t>
            </a:r>
            <a:r>
              <a:rPr sz="1300" b="0" i="0">
                <a:solidFill>
                  <a:srgbClr val="1C2433"/>
                </a:solidFill>
                <a:latin typeface="Calibri"/>
              </a:rPr>
              <a:t>two racing creates: exactly one wins (atomic)</a:t>
            </a:r>
          </a:p>
          <a:p>
            <a:pPr algn="l">
              <a:lnSpc>
                <a:spcPct val="105000"/>
              </a:lnSpc>
              <a:spcAft>
                <a:spcPts val="500"/>
              </a:spcAft>
            </a:pPr>
            <a:r>
              <a:rPr sz="1300" b="0" i="0">
                <a:solidFill>
                  <a:srgbClr val="E87A1E"/>
                </a:solidFill>
                <a:latin typeface="Calibri"/>
              </a:rPr>
              <a:t>•  </a:t>
            </a:r>
            <a:r>
              <a:rPr sz="1300" b="0" i="0">
                <a:solidFill>
                  <a:srgbClr val="1C2433"/>
                </a:solidFill>
                <a:latin typeface="Calibri"/>
              </a:rPr>
              <a:t>each suite prints its line and skips the cases its simulator does not honour</a:t>
            </a:r>
          </a:p>
        </p:txBody>
      </p:sp>
      <p:sp>
        <p:nvSpPr>
          <p:cNvPr id="12" name="Rounded Rectangle 11"/>
          <p:cNvSpPr/>
          <p:nvPr/>
        </p:nvSpPr>
        <p:spPr>
          <a:xfrm>
            <a:off x="6217920" y="4069080"/>
            <a:ext cx="5559552" cy="224028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6217920" y="4069080"/>
            <a:ext cx="82296" cy="224028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46520" y="4123944"/>
            <a:ext cx="5193792" cy="213055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Not yet proven on AWS:</a:t>
            </a:r>
            <a:r>
              <a:rPr sz="1300" b="0" i="0">
                <a:solidFill>
                  <a:srgbClr val="1C2433"/>
                </a:solidFill>
                <a:latin typeface="Calibri"/>
              </a:rPr>
              <a:t> no Iceberg table has been written to a real S3 bucket or committed through a real Glue catalog.</a:t>
            </a:r>
          </a:p>
          <a:p>
            <a:pPr algn="l">
              <a:lnSpc>
                <a:spcPct val="105000"/>
              </a:lnSpc>
            </a:pPr>
            <a:r>
              <a:rPr sz="1300" b="0" i="0">
                <a:solidFill>
                  <a:srgbClr val="1C2433"/>
                </a:solidFill>
                <a:latin typeface="Calibri"/>
              </a:rPr>
              <a:t>First step of any Iceberg production plan: run </a:t>
            </a:r>
            <a:r>
              <a:rPr sz="1200" b="0" i="0">
                <a:solidFill>
                  <a:srgbClr val="0E7C86"/>
                </a:solidFill>
                <a:latin typeface="Consolas"/>
              </a:rPr>
              <a:t>check-conditional-writes.sh</a:t>
            </a:r>
            <a:r>
              <a:rPr sz="1300" b="0" i="0">
                <a:solidFill>
                  <a:srgbClr val="1C2433"/>
                </a:solidFill>
                <a:latin typeface="Calibri"/>
              </a:rPr>
              <a:t> and the loader against a development bucket (PROPOSED).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Schema and partition evolution, as built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23</a:t>
            </a:r>
          </a:p>
        </p:txBody>
      </p:sp>
      <p:sp>
        <p:nvSpPr>
          <p:cNvPr id="9" name="Rounded Rectangle 8"/>
          <p:cNvSpPr/>
          <p:nvPr/>
        </p:nvSpPr>
        <p:spPr>
          <a:xfrm>
            <a:off x="411480" y="1188720"/>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225296"/>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Read by field id</a:t>
            </a:r>
          </a:p>
        </p:txBody>
      </p:sp>
      <p:sp>
        <p:nvSpPr>
          <p:cNvPr id="11" name="TextBox 10"/>
          <p:cNvSpPr txBox="1"/>
          <p:nvPr/>
        </p:nvSpPr>
        <p:spPr>
          <a:xfrm>
            <a:off x="548640" y="1554480"/>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renamed columns read correctly; added columns read as null; int→long, float→double, decimal widening; files without ids through </a:t>
            </a:r>
            <a:r>
              <a:rPr sz="1100" b="0" i="0">
                <a:solidFill>
                  <a:srgbClr val="0E7C86"/>
                </a:solidFill>
                <a:latin typeface="Consolas"/>
              </a:rPr>
              <a:t>schema.name-mapping.default</a:t>
            </a:r>
          </a:p>
        </p:txBody>
      </p:sp>
      <p:sp>
        <p:nvSpPr>
          <p:cNvPr id="12" name="Rounded Rectangle 11"/>
          <p:cNvSpPr/>
          <p:nvPr/>
        </p:nvSpPr>
        <p:spPr>
          <a:xfrm>
            <a:off x="6172199" y="1261872"/>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3" name="Rounded Rectangle 12"/>
          <p:cNvSpPr/>
          <p:nvPr/>
        </p:nvSpPr>
        <p:spPr>
          <a:xfrm>
            <a:off x="411480" y="2176272"/>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48640" y="2212848"/>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Add a promoted column</a:t>
            </a:r>
          </a:p>
        </p:txBody>
      </p:sp>
      <p:sp>
        <p:nvSpPr>
          <p:cNvPr id="15" name="TextBox 14"/>
          <p:cNvSpPr txBox="1"/>
          <p:nvPr/>
        </p:nvSpPr>
        <p:spPr>
          <a:xfrm>
            <a:off x="548640" y="2542032"/>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the loader adds new promoted paths as columns; </a:t>
            </a:r>
            <a:r>
              <a:rPr sz="1100" b="0" i="0">
                <a:solidFill>
                  <a:srgbClr val="0E7C86"/>
                </a:solidFill>
                <a:latin typeface="Consolas"/>
              </a:rPr>
              <a:t>IcebergMaintenance --columns trade:PATH</a:t>
            </a:r>
            <a:r>
              <a:rPr sz="1200" b="0" i="0">
                <a:solidFill>
                  <a:srgbClr val="1C2433"/>
                </a:solidFill>
                <a:latin typeface="Calibri"/>
              </a:rPr>
              <a:t> adds and fills them from the documents</a:t>
            </a:r>
          </a:p>
        </p:txBody>
      </p:sp>
      <p:sp>
        <p:nvSpPr>
          <p:cNvPr id="16" name="Rounded Rectangle 15"/>
          <p:cNvSpPr/>
          <p:nvPr/>
        </p:nvSpPr>
        <p:spPr>
          <a:xfrm>
            <a:off x="6172199" y="2249424"/>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7" name="Rounded Rectangle 16"/>
          <p:cNvSpPr/>
          <p:nvPr/>
        </p:nvSpPr>
        <p:spPr>
          <a:xfrm>
            <a:off x="411480" y="3163824"/>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548640" y="3200400"/>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Partition evolution (read)</a:t>
            </a:r>
          </a:p>
        </p:txBody>
      </p:sp>
      <p:sp>
        <p:nvSpPr>
          <p:cNvPr id="19" name="TextBox 18"/>
          <p:cNvSpPr txBox="1"/>
          <p:nvPr/>
        </p:nvSpPr>
        <p:spPr>
          <a:xfrm>
            <a:off x="548640" y="3529584"/>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several specs in one table; every transform: identity, bucket, truncate, year, month, day, hour, void</a:t>
            </a:r>
          </a:p>
        </p:txBody>
      </p:sp>
      <p:sp>
        <p:nvSpPr>
          <p:cNvPr id="20" name="Rounded Rectangle 19"/>
          <p:cNvSpPr/>
          <p:nvPr/>
        </p:nvSpPr>
        <p:spPr>
          <a:xfrm>
            <a:off x="6172199" y="323697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1" name="Rounded Rectangle 20"/>
          <p:cNvSpPr/>
          <p:nvPr/>
        </p:nvSpPr>
        <p:spPr>
          <a:xfrm>
            <a:off x="411480" y="4151376"/>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48640" y="4187952"/>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Hidden partitioning (read)</a:t>
            </a:r>
          </a:p>
        </p:txBody>
      </p:sp>
      <p:sp>
        <p:nvSpPr>
          <p:cNvPr id="23" name="TextBox 22"/>
          <p:cNvSpPr txBox="1"/>
          <p:nvPr/>
        </p:nvSpPr>
        <p:spPr>
          <a:xfrm>
            <a:off x="548640" y="4517136"/>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a table partitioned by </a:t>
            </a:r>
            <a:r>
              <a:rPr sz="1100" b="0" i="0">
                <a:solidFill>
                  <a:srgbClr val="0E7C86"/>
                </a:solidFill>
                <a:latin typeface="Consolas"/>
              </a:rPr>
              <a:t>day(TRADE_TS)</a:t>
            </a:r>
            <a:r>
              <a:rPr sz="1200" b="0" i="0">
                <a:solidFill>
                  <a:srgbClr val="1C2433"/>
                </a:solidFill>
                <a:latin typeface="Calibri"/>
              </a:rPr>
              <a:t> or </a:t>
            </a:r>
            <a:r>
              <a:rPr sz="1100" b="0" i="0">
                <a:solidFill>
                  <a:srgbClr val="0E7C86"/>
                </a:solidFill>
                <a:latin typeface="Consolas"/>
              </a:rPr>
              <a:t>bucket(id)</a:t>
            </a:r>
            <a:r>
              <a:rPr sz="1200" b="0" i="0">
                <a:solidFill>
                  <a:srgbClr val="1C2433"/>
                </a:solidFill>
                <a:latin typeface="Calibri"/>
              </a:rPr>
              <a:t> is pruned by its manifests; </a:t>
            </a:r>
            <a:r>
              <a:rPr sz="1100" b="0" i="0">
                <a:solidFill>
                  <a:srgbClr val="0E7C86"/>
                </a:solidFill>
                <a:latin typeface="Consolas"/>
              </a:rPr>
              <a:t>iceberg-external</a:t>
            </a:r>
            <a:r>
              <a:rPr sz="1200" b="0" i="0">
                <a:solidFill>
                  <a:srgbClr val="1C2433"/>
                </a:solidFill>
                <a:latin typeface="Calibri"/>
              </a:rPr>
              <a:t> takes the business date from the spec</a:t>
            </a:r>
          </a:p>
        </p:txBody>
      </p:sp>
      <p:sp>
        <p:nvSpPr>
          <p:cNvPr id="24" name="Rounded Rectangle 23"/>
          <p:cNvSpPr/>
          <p:nvPr/>
        </p:nvSpPr>
        <p:spPr>
          <a:xfrm>
            <a:off x="6172199" y="4224528"/>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5" name="Rounded Rectangle 24"/>
          <p:cNvSpPr/>
          <p:nvPr/>
        </p:nvSpPr>
        <p:spPr>
          <a:xfrm>
            <a:off x="411480" y="5138928"/>
            <a:ext cx="6949440" cy="896112"/>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548640" y="5175504"/>
            <a:ext cx="5486400" cy="329184"/>
          </a:xfrm>
          <a:prstGeom prst="rect">
            <a:avLst/>
          </a:prstGeom>
          <a:noFill/>
        </p:spPr>
        <p:txBody>
          <a:bodyPr wrap="square" lIns="45720" rIns="45720" tIns="27432" bIns="27432" anchor="t">
            <a:spAutoFit/>
          </a:bodyPr>
          <a:lstStyle/>
          <a:p>
            <a:pPr algn="l">
              <a:lnSpc>
                <a:spcPct val="105000"/>
              </a:lnSpc>
            </a:pPr>
            <a:r>
              <a:rPr sz="1400" b="1" i="0">
                <a:solidFill>
                  <a:srgbClr val="0B1E3B"/>
                </a:solidFill>
                <a:latin typeface="Calibri"/>
              </a:rPr>
              <a:t>Drishti's writer changes a spec</a:t>
            </a:r>
          </a:p>
        </p:txBody>
      </p:sp>
      <p:sp>
        <p:nvSpPr>
          <p:cNvPr id="27" name="TextBox 26"/>
          <p:cNvSpPr txBox="1"/>
          <p:nvPr/>
        </p:nvSpPr>
        <p:spPr>
          <a:xfrm>
            <a:off x="548640" y="5504688"/>
            <a:ext cx="6675120" cy="530352"/>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always </a:t>
            </a:r>
            <a:r>
              <a:rPr sz="1100" b="0" i="0">
                <a:solidFill>
                  <a:srgbClr val="0E7C86"/>
                </a:solidFill>
                <a:latin typeface="Consolas"/>
              </a:rPr>
              <a:t>identity(business_date)</a:t>
            </a:r>
            <a:r>
              <a:rPr sz="1200" b="0" i="0">
                <a:solidFill>
                  <a:srgbClr val="1C2433"/>
                </a:solidFill>
                <a:latin typeface="Calibri"/>
              </a:rPr>
              <a:t>; no partition evolution written</a:t>
            </a:r>
          </a:p>
        </p:txBody>
      </p:sp>
      <p:sp>
        <p:nvSpPr>
          <p:cNvPr id="28" name="Rounded Rectangle 27"/>
          <p:cNvSpPr/>
          <p:nvPr/>
        </p:nvSpPr>
        <p:spPr>
          <a:xfrm>
            <a:off x="6172199" y="521208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9" name="Rounded Rectangle 28"/>
          <p:cNvSpPr/>
          <p:nvPr/>
        </p:nvSpPr>
        <p:spPr>
          <a:xfrm>
            <a:off x="7635240" y="1188720"/>
            <a:ext cx="4142232" cy="237744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Rectangle 29"/>
          <p:cNvSpPr/>
          <p:nvPr/>
        </p:nvSpPr>
        <p:spPr>
          <a:xfrm>
            <a:off x="7635240" y="1188720"/>
            <a:ext cx="82296" cy="23774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7863840" y="1243584"/>
            <a:ext cx="3776472" cy="226771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Versus Delta in Drishti:</a:t>
            </a:r>
            <a:r>
              <a:rPr sz="1250" b="0" i="0">
                <a:solidFill>
                  <a:srgbClr val="1C2433"/>
                </a:solidFill>
                <a:latin typeface="Calibri"/>
              </a:rPr>
              <a:t> adding a promoted column on Delta changes the table's columns, and </a:t>
            </a:r>
            <a:r>
              <a:rPr sz="1150" b="0" i="0">
                <a:solidFill>
                  <a:srgbClr val="0E7C86"/>
                </a:solidFill>
                <a:latin typeface="Consolas"/>
              </a:rPr>
              <a:t>lake publish</a:t>
            </a:r>
            <a:r>
              <a:rPr sz="1250" b="0" i="0">
                <a:solidFill>
                  <a:srgbClr val="1C2433"/>
                </a:solidFill>
                <a:latin typeface="Calibri"/>
              </a:rPr>
              <a:t> then refuses the next day: the runbook writes a new folder (</a:t>
            </a:r>
            <a:r>
              <a:rPr sz="1150" b="0" i="0">
                <a:solidFill>
                  <a:srgbClr val="0E7C86"/>
                </a:solidFill>
                <a:latin typeface="Consolas"/>
              </a:rPr>
              <a:t>trade_endur_v2</a:t>
            </a:r>
            <a:r>
              <a:rPr sz="1250" b="0" i="0">
                <a:solidFill>
                  <a:srgbClr val="1C2433"/>
                </a:solidFill>
                <a:latin typeface="Calibri"/>
              </a:rPr>
              <a:t>) and backfills.</a:t>
            </a:r>
          </a:p>
          <a:p>
            <a:pPr algn="l">
              <a:lnSpc>
                <a:spcPct val="105000"/>
              </a:lnSpc>
            </a:pPr>
            <a:r>
              <a:rPr sz="1250" b="0" i="0">
                <a:solidFill>
                  <a:srgbClr val="1C2433"/>
                </a:solidFill>
                <a:latin typeface="Calibri"/>
              </a:rPr>
              <a:t>On Iceberg the column is added in place by field id; old files read it as null until </a:t>
            </a:r>
            <a:r>
              <a:rPr sz="1150" b="0" i="0">
                <a:solidFill>
                  <a:srgbClr val="0E7C86"/>
                </a:solidFill>
                <a:latin typeface="Consolas"/>
              </a:rPr>
              <a:t>--columns</a:t>
            </a:r>
            <a:r>
              <a:rPr sz="1250" b="0" i="0">
                <a:solidFill>
                  <a:srgbClr val="1C2433"/>
                </a:solidFill>
                <a:latin typeface="Calibri"/>
              </a:rPr>
              <a:t> rewrites them.</a:t>
            </a:r>
          </a:p>
        </p:txBody>
      </p:sp>
      <p:sp>
        <p:nvSpPr>
          <p:cNvPr id="32" name="Rounded Rectangle 31"/>
          <p:cNvSpPr/>
          <p:nvPr/>
        </p:nvSpPr>
        <p:spPr>
          <a:xfrm>
            <a:off x="7635240" y="3749039"/>
            <a:ext cx="4142232" cy="210312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Rectangle 32"/>
          <p:cNvSpPr/>
          <p:nvPr/>
        </p:nvSpPr>
        <p:spPr>
          <a:xfrm>
            <a:off x="7635240" y="3749039"/>
            <a:ext cx="82296" cy="21031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7863840" y="3803903"/>
            <a:ext cx="3776472" cy="19933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Why it matters for a bank:</a:t>
            </a:r>
            <a:r>
              <a:rPr sz="1250" b="0" i="0">
                <a:solidFill>
                  <a:srgbClr val="1C2433"/>
                </a:solidFill>
                <a:latin typeface="Calibri"/>
              </a:rPr>
              <a:t> promoted columns grow as people search new fields. Iceberg absorbs that without a new table; Delta in Drishti's AWS flow needs a new table per change, because </a:t>
            </a:r>
            <a:r>
              <a:rPr sz="1150" b="0" i="0">
                <a:solidFill>
                  <a:srgbClr val="0E7C86"/>
                </a:solidFill>
                <a:latin typeface="Consolas"/>
              </a:rPr>
              <a:t>lake publish</a:t>
            </a:r>
            <a:r>
              <a:rPr sz="1250" b="0" i="0">
                <a:solidFill>
                  <a:srgbClr val="1C2433"/>
                </a:solidFill>
                <a:latin typeface="Calibri"/>
              </a:rPr>
              <a:t> refuses a day whose columns differ.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Snapshots, time travel and deletes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24</a:t>
            </a:r>
          </a:p>
        </p:txBody>
      </p:sp>
      <p:sp>
        <p:nvSpPr>
          <p:cNvPr id="9" name="TextBox 8"/>
          <p:cNvSpPr txBox="1"/>
          <p:nvPr/>
        </p:nvSpPr>
        <p:spPr>
          <a:xfrm>
            <a:off x="411480" y="1143000"/>
            <a:ext cx="73152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 table's snapshot log, and what </a:t>
            </a:r>
            <a:r>
              <a:rPr sz="1500" b="1" i="1">
                <a:solidFill>
                  <a:srgbClr val="0B1E3B"/>
                </a:solidFill>
                <a:latin typeface="Calibri"/>
              </a:rPr>
              <a:t>known at</a:t>
            </a:r>
            <a:r>
              <a:rPr sz="1500" b="1" i="0">
                <a:solidFill>
                  <a:srgbClr val="0B1E3B"/>
                </a:solidFill>
                <a:latin typeface="Calibri"/>
              </a:rPr>
              <a:t> reads</a:t>
            </a:r>
          </a:p>
        </p:txBody>
      </p:sp>
      <p:cxnSp>
        <p:nvCxnSpPr>
          <p:cNvPr id="10" name="Connector 9"/>
          <p:cNvCxnSpPr/>
          <p:nvPr/>
        </p:nvCxnSpPr>
        <p:spPr>
          <a:xfrm>
            <a:off x="594360" y="2148840"/>
            <a:ext cx="1092708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10972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S1</a:t>
            </a:r>
          </a:p>
        </p:txBody>
      </p:sp>
      <p:sp>
        <p:nvSpPr>
          <p:cNvPr id="13" name="TextBox 12"/>
          <p:cNvSpPr txBox="1"/>
          <p:nvPr/>
        </p:nvSpPr>
        <p:spPr>
          <a:xfrm>
            <a:off x="5486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10-16</a:t>
            </a:r>
          </a:p>
        </p:txBody>
      </p:sp>
      <p:sp>
        <p:nvSpPr>
          <p:cNvPr id="14" name="Oval 13"/>
          <p:cNvSpPr/>
          <p:nvPr/>
        </p:nvSpPr>
        <p:spPr>
          <a:xfrm>
            <a:off x="31546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1546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S2</a:t>
            </a:r>
          </a:p>
        </p:txBody>
      </p:sp>
      <p:sp>
        <p:nvSpPr>
          <p:cNvPr id="16" name="TextBox 15"/>
          <p:cNvSpPr txBox="1"/>
          <p:nvPr/>
        </p:nvSpPr>
        <p:spPr>
          <a:xfrm>
            <a:off x="26060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10-19</a:t>
            </a:r>
          </a:p>
        </p:txBody>
      </p:sp>
      <p:sp>
        <p:nvSpPr>
          <p:cNvPr id="17" name="Oval 16"/>
          <p:cNvSpPr/>
          <p:nvPr/>
        </p:nvSpPr>
        <p:spPr>
          <a:xfrm>
            <a:off x="52120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2120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S3</a:t>
            </a:r>
          </a:p>
        </p:txBody>
      </p:sp>
      <p:sp>
        <p:nvSpPr>
          <p:cNvPr id="19" name="TextBox 18"/>
          <p:cNvSpPr txBox="1"/>
          <p:nvPr/>
        </p:nvSpPr>
        <p:spPr>
          <a:xfrm>
            <a:off x="46634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restate 10-16</a:t>
            </a:r>
          </a:p>
        </p:txBody>
      </p:sp>
      <p:sp>
        <p:nvSpPr>
          <p:cNvPr id="20" name="Oval 19"/>
          <p:cNvSpPr/>
          <p:nvPr/>
        </p:nvSpPr>
        <p:spPr>
          <a:xfrm>
            <a:off x="7269480" y="1947672"/>
            <a:ext cx="402336" cy="402336"/>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2694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S4</a:t>
            </a:r>
          </a:p>
        </p:txBody>
      </p:sp>
      <p:sp>
        <p:nvSpPr>
          <p:cNvPr id="22" name="TextBox 21"/>
          <p:cNvSpPr txBox="1"/>
          <p:nvPr/>
        </p:nvSpPr>
        <p:spPr>
          <a:xfrm>
            <a:off x="67208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load 10-20</a:t>
            </a:r>
          </a:p>
        </p:txBody>
      </p:sp>
      <p:sp>
        <p:nvSpPr>
          <p:cNvPr id="23" name="Oval 22"/>
          <p:cNvSpPr/>
          <p:nvPr/>
        </p:nvSpPr>
        <p:spPr>
          <a:xfrm>
            <a:off x="9326880" y="1947672"/>
            <a:ext cx="402336" cy="402336"/>
          </a:xfrm>
          <a:prstGeom prst="ellipse">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326880" y="1947672"/>
            <a:ext cx="402336" cy="402336"/>
          </a:xfrm>
          <a:prstGeom prst="rect">
            <a:avLst/>
          </a:prstGeom>
          <a:noFill/>
        </p:spPr>
        <p:txBody>
          <a:bodyPr wrap="square" lIns="0" rIns="0" tIns="0" bIns="0" anchor="ctr">
            <a:spAutoFit/>
          </a:bodyPr>
          <a:lstStyle/>
          <a:p>
            <a:pPr algn="ctr">
              <a:lnSpc>
                <a:spcPct val="105000"/>
              </a:lnSpc>
            </a:pPr>
            <a:r>
              <a:rPr sz="1100" b="1" i="0">
                <a:solidFill>
                  <a:srgbClr val="FFFFFF"/>
                </a:solidFill>
                <a:latin typeface="Calibri"/>
              </a:rPr>
              <a:t>S5</a:t>
            </a:r>
          </a:p>
        </p:txBody>
      </p:sp>
      <p:sp>
        <p:nvSpPr>
          <p:cNvPr id="25" name="TextBox 24"/>
          <p:cNvSpPr txBox="1"/>
          <p:nvPr/>
        </p:nvSpPr>
        <p:spPr>
          <a:xfrm>
            <a:off x="8778240" y="2395728"/>
            <a:ext cx="1554480" cy="320040"/>
          </a:xfrm>
          <a:prstGeom prst="rect">
            <a:avLst/>
          </a:prstGeom>
          <a:noFill/>
        </p:spPr>
        <p:txBody>
          <a:bodyPr wrap="square" lIns="45720" rIns="45720" tIns="27432" bIns="27432" anchor="t">
            <a:spAutoFit/>
          </a:bodyPr>
          <a:lstStyle/>
          <a:p>
            <a:pPr algn="ctr">
              <a:lnSpc>
                <a:spcPct val="105000"/>
              </a:lnSpc>
            </a:pPr>
            <a:r>
              <a:rPr sz="1200" b="0" i="0">
                <a:solidFill>
                  <a:srgbClr val="1C2433"/>
                </a:solidFill>
                <a:latin typeface="Calibri"/>
              </a:rPr>
              <a:t>maintenance</a:t>
            </a:r>
          </a:p>
        </p:txBody>
      </p:sp>
      <p:sp>
        <p:nvSpPr>
          <p:cNvPr id="26" name="Rectangle 25"/>
          <p:cNvSpPr/>
          <p:nvPr/>
        </p:nvSpPr>
        <p:spPr>
          <a:xfrm>
            <a:off x="4800600" y="1600200"/>
            <a:ext cx="27432" cy="11430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4846320" y="1554480"/>
            <a:ext cx="2103120" cy="320040"/>
          </a:xfrm>
          <a:prstGeom prst="rect">
            <a:avLst/>
          </a:prstGeom>
          <a:noFill/>
        </p:spPr>
        <p:txBody>
          <a:bodyPr wrap="square" lIns="45720" rIns="45720" tIns="27432" bIns="27432" anchor="t">
            <a:spAutoFit/>
          </a:bodyPr>
          <a:lstStyle/>
          <a:p>
            <a:pPr algn="l">
              <a:lnSpc>
                <a:spcPct val="105000"/>
              </a:lnSpc>
            </a:pPr>
            <a:r>
              <a:rPr sz="1150" b="1" i="0">
                <a:solidFill>
                  <a:srgbClr val="B3261E"/>
                </a:solidFill>
                <a:latin typeface="Calibri"/>
              </a:rPr>
              <a:t>known at: S3 time</a:t>
            </a:r>
          </a:p>
        </p:txBody>
      </p:sp>
      <p:sp>
        <p:nvSpPr>
          <p:cNvPr id="28" name="TextBox 27"/>
          <p:cNvSpPr txBox="1"/>
          <p:nvPr/>
        </p:nvSpPr>
        <p:spPr>
          <a:xfrm>
            <a:off x="411480" y="2788920"/>
            <a:ext cx="11247120" cy="36576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A view </a:t>
            </a:r>
            <a:r>
              <a:rPr sz="1250" b="0" i="1">
                <a:solidFill>
                  <a:srgbClr val="5B677A"/>
                </a:solidFill>
                <a:latin typeface="Calibri"/>
              </a:rPr>
              <a:t>known at</a:t>
            </a:r>
            <a:r>
              <a:rPr sz="1250" b="0" i="0">
                <a:solidFill>
                  <a:srgbClr val="5B677A"/>
                </a:solidFill>
                <a:latin typeface="Calibri"/>
              </a:rPr>
              <a:t> that instant reads S3's schema and files; a later load is invisible; a time before the oldest snapshot kept reads nothing.</a:t>
            </a:r>
          </a:p>
        </p:txBody>
      </p:sp>
      <p:graphicFrame>
        <p:nvGraphicFramePr>
          <p:cNvPr id="29" name="Table 28"/>
          <p:cNvGraphicFramePr>
            <a:graphicFrameLocks noGrp="1"/>
          </p:cNvGraphicFramePr>
          <p:nvPr/>
        </p:nvGraphicFramePr>
        <p:xfrm>
          <a:off x="411480" y="3291840"/>
          <a:ext cx="11365992" cy="2891328"/>
        </p:xfrm>
        <a:graphic>
          <a:graphicData uri="http://schemas.openxmlformats.org/drawingml/2006/table">
            <a:tbl>
              <a:tblPr firstRow="1" bandRow="1">
                <a:tableStyleId>{5940675A-B579-460E-94D1-54222C63F5DA}</a:tableStyleId>
              </a:tblPr>
              <a:tblGrid>
                <a:gridCol w="2377440"/>
                <a:gridCol w="4572000"/>
                <a:gridCol w="4416552"/>
              </a:tblGrid>
              <a:tr h="414207">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 in Drishti</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in Drishti</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4207">
                <a:tc>
                  <a:txBody>
                    <a:bodyPr wrap="square"/>
                    <a:lstStyle/>
                    <a:p>
                      <a:pPr algn="l">
                        <a:lnSpc>
                          <a:spcPct val="100000"/>
                        </a:lnSpc>
                      </a:pPr>
                      <a:r>
                        <a:rPr sz="1200" b="1" i="0">
                          <a:solidFill>
                            <a:srgbClr val="1C2433"/>
                          </a:solidFill>
                          <a:latin typeface="Calibri"/>
                        </a:rPr>
                        <a:t>Time travel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snapshot (each commit), from the snapshot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table version (each commit), from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17250">
                <a:tc>
                  <a:txBody>
                    <a:bodyPr wrap="square"/>
                    <a:lstStyle/>
                    <a:p>
                      <a:pPr algn="l">
                        <a:lnSpc>
                          <a:spcPct val="100000"/>
                        </a:lnSpc>
                      </a:pPr>
                      <a:r>
                        <a:rPr sz="1200" b="1" i="0">
                          <a:solidFill>
                            <a:srgbClr val="1C2433"/>
                          </a:solidFill>
                          <a:latin typeface="Calibri"/>
                        </a:rPr>
                        <a:t>How far back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until snapshots are expired: </a:t>
                      </a:r>
                      <a:r>
                        <a:rPr sz="1100" b="0" i="0">
                          <a:solidFill>
                            <a:srgbClr val="0E7C86"/>
                          </a:solidFill>
                          <a:latin typeface="Consolas"/>
                        </a:rPr>
                        <a:t>--expire-hours</a:t>
                      </a:r>
                      <a:r>
                        <a:rPr sz="1200" b="0" i="0">
                          <a:solidFill>
                            <a:srgbClr val="1C2433"/>
                          </a:solidFill>
                          <a:latin typeface="Calibri"/>
                        </a:rPr>
                        <a:t> (168 by default)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until vacuum and log retention (168 h; 7 years in the risk domains)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17250">
                <a:tc>
                  <a:txBody>
                    <a:bodyPr wrap="square"/>
                    <a:lstStyle/>
                    <a:p>
                      <a:pPr algn="l">
                        <a:lnSpc>
                          <a:spcPct val="100000"/>
                        </a:lnSpc>
                      </a:pPr>
                      <a:r>
                        <a:rPr sz="1200" b="1" i="0">
                          <a:solidFill>
                            <a:srgbClr val="1C2433"/>
                          </a:solidFill>
                          <a:latin typeface="Calibri"/>
                        </a:rPr>
                        <a:t>Rows deleted by other engines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position and equality deletes applied by </a:t>
                      </a:r>
                      <a:r>
                        <a:rPr sz="1200" b="1" i="0">
                          <a:solidFill>
                            <a:srgbClr val="1C2433"/>
                          </a:solidFill>
                          <a:latin typeface="Calibri"/>
                        </a:rPr>
                        <a:t>every</a:t>
                      </a:r>
                      <a:r>
                        <a:rPr sz="1200" b="0" i="0">
                          <a:solidFill>
                            <a:srgbClr val="1C2433"/>
                          </a:solidFill>
                          <a:latin typeface="Calibri"/>
                        </a:rPr>
                        <a:t> read, columns stay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deletion vectors honoured; the table's searches fall back to 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4207">
                <a:tc>
                  <a:txBody>
                    <a:bodyPr wrap="square"/>
                    <a:lstStyle/>
                    <a:p>
                      <a:pPr algn="l">
                        <a:lnSpc>
                          <a:spcPct val="100000"/>
                        </a:lnSpc>
                      </a:pPr>
                      <a:r>
                        <a:rPr sz="1200" b="1" i="0">
                          <a:solidFill>
                            <a:srgbClr val="1C2433"/>
                          </a:solidFill>
                          <a:latin typeface="Calibri"/>
                        </a:rPr>
                        <a:t>Drishti's own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none: a restated day replaces its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none: a restated day replaces its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4207">
                <a:tc>
                  <a:txBody>
                    <a:bodyPr wrap="square"/>
                    <a:lstStyle/>
                    <a:p>
                      <a:pPr algn="l">
                        <a:lnSpc>
                          <a:spcPct val="100000"/>
                        </a:lnSpc>
                      </a:pPr>
                      <a:r>
                        <a:rPr sz="1200" b="1" i="0">
                          <a:solidFill>
                            <a:srgbClr val="1C2433"/>
                          </a:solidFill>
                          <a:latin typeface="Calibri"/>
                        </a:rPr>
                        <a:t>Format v3 deletion vectors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refused by name (later)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Maintenance as built: IcebergMaintenance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25</a:t>
            </a:r>
          </a:p>
        </p:txBody>
      </p:sp>
      <p:graphicFrame>
        <p:nvGraphicFramePr>
          <p:cNvPr id="9" name="Table 8"/>
          <p:cNvGraphicFramePr>
            <a:graphicFrameLocks noGrp="1"/>
          </p:cNvGraphicFramePr>
          <p:nvPr/>
        </p:nvGraphicFramePr>
        <p:xfrm>
          <a:off x="411480" y="1143000"/>
          <a:ext cx="11365992" cy="3996840"/>
        </p:xfrm>
        <a:graphic>
          <a:graphicData uri="http://schemas.openxmlformats.org/drawingml/2006/table">
            <a:tbl>
              <a:tblPr firstRow="1" bandRow="1">
                <a:tableStyleId>{5940675A-B579-460E-94D1-54222C63F5DA}</a:tableStyleId>
              </a:tblPr>
              <a:tblGrid>
                <a:gridCol w="2377440"/>
                <a:gridCol w="7452360"/>
                <a:gridCol w="1536192"/>
              </a:tblGrid>
              <a:tr h="371404">
                <a:tc>
                  <a:txBody>
                    <a:bodyPr wrap="square"/>
                    <a:lstStyle/>
                    <a:p>
                      <a:pPr algn="l">
                        <a:lnSpc>
                          <a:spcPct val="100000"/>
                        </a:lnSpc>
                      </a:pPr>
                      <a:r>
                        <a:rPr sz="1150" b="1" i="0">
                          <a:solidFill>
                            <a:srgbClr val="FFFFFF"/>
                          </a:solidFill>
                          <a:latin typeface="Calibri"/>
                        </a:rPr>
                        <a:t>Option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What it does (one Iceberg commit each)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34955">
                <a:tc>
                  <a:txBody>
                    <a:bodyPr wrap="square"/>
                    <a:lstStyle/>
                    <a:p>
                      <a:pPr algn="l">
                        <a:lnSpc>
                          <a:spcPct val="100000"/>
                        </a:lnSpc>
                      </a:pPr>
                      <a:r>
                        <a:rPr sz="1050" b="1" i="0">
                          <a:solidFill>
                            <a:srgbClr val="0E7C86"/>
                          </a:solidFill>
                          <a:latin typeface="Consolas"/>
                        </a:rPr>
                        <a:t>--keep-days 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deletes business days older than the newest N on or before </a:t>
                      </a:r>
                      <a:r>
                        <a:rPr sz="1050" b="0" i="0">
                          <a:solidFill>
                            <a:srgbClr val="0E7C86"/>
                          </a:solidFill>
                          <a:latin typeface="Consolas"/>
                        </a:rPr>
                        <a:t>--as-of</a:t>
                      </a:r>
                      <a:r>
                        <a:rPr sz="1150" b="0" i="0">
                          <a:solidFill>
                            <a:srgbClr val="1C2433"/>
                          </a:solidFill>
                          <a:latin typeface="Calibri"/>
                        </a:rPr>
                        <a:t>: metadata only; &gt; 50 % of rows needs </a:t>
                      </a:r>
                      <a:r>
                        <a:rPr sz="1050" b="0" i="0">
                          <a:solidFill>
                            <a:srgbClr val="0E7C86"/>
                          </a:solidFill>
                          <a:latin typeface="Consolas"/>
                        </a:rPr>
                        <a:t>--force-drop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34955">
                <a:tc>
                  <a:txBody>
                    <a:bodyPr wrap="square"/>
                    <a:lstStyle/>
                    <a:p>
                      <a:pPr algn="l">
                        <a:lnSpc>
                          <a:spcPct val="100000"/>
                        </a:lnSpc>
                      </a:pPr>
                      <a:r>
                        <a:rPr sz="1050" b="1" i="0">
                          <a:solidFill>
                            <a:srgbClr val="0E7C86"/>
                          </a:solidFill>
                          <a:latin typeface="Consolas"/>
                        </a:rPr>
                        <a:t>--relayout</a:t>
                      </a:r>
                      <a:r>
                        <a:rPr sz="1150" b="1" i="0">
                          <a:solidFill>
                            <a:srgbClr val="1C2433"/>
                          </a:solidFill>
                          <a:latin typeface="Calibri"/>
                        </a:rPr>
                        <a:t> (</a:t>
                      </a:r>
                      <a:r>
                        <a:rPr sz="1050" b="1" i="0">
                          <a:solidFill>
                            <a:srgbClr val="0E7C86"/>
                          </a:solidFill>
                          <a:latin typeface="Consolas"/>
                        </a:rPr>
                        <a:t>--force</a:t>
                      </a:r>
                      <a:r>
                        <a:rPr sz="115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rewrites only days that drifted (overlapping id ranges, oversized files, delete files, missing columns), sorted, validated against the snapshot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71404">
                <a:tc>
                  <a:txBody>
                    <a:bodyPr wrap="square"/>
                    <a:lstStyle/>
                    <a:p>
                      <a:pPr algn="l">
                        <a:lnSpc>
                          <a:spcPct val="100000"/>
                        </a:lnSpc>
                      </a:pPr>
                      <a:r>
                        <a:rPr sz="1050" b="1" i="0">
                          <a:solidFill>
                            <a:srgbClr val="0E7C86"/>
                          </a:solidFill>
                          <a:latin typeface="Consolas"/>
                        </a:rPr>
                        <a:t>--columns kind:path,…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adds promoted columns and rewrites every day, filling them from the 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1404">
                <a:tc>
                  <a:txBody>
                    <a:bodyPr wrap="square"/>
                    <a:lstStyle/>
                    <a:p>
                      <a:pPr algn="l">
                        <a:lnSpc>
                          <a:spcPct val="100000"/>
                        </a:lnSpc>
                      </a:pPr>
                      <a:r>
                        <a:rPr sz="1050" b="1" i="0">
                          <a:solidFill>
                            <a:srgbClr val="0E7C86"/>
                          </a:solidFill>
                          <a:latin typeface="Consolas"/>
                        </a:rPr>
                        <a:t>--rewrite-manifests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regroups manifests, one per month of business dates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71404">
                <a:tc>
                  <a:txBody>
                    <a:bodyPr wrap="square"/>
                    <a:lstStyle/>
                    <a:p>
                      <a:pPr algn="l">
                        <a:lnSpc>
                          <a:spcPct val="100000"/>
                        </a:lnSpc>
                      </a:pPr>
                      <a:r>
                        <a:rPr sz="1050" b="1" i="0">
                          <a:solidFill>
                            <a:srgbClr val="0E7C86"/>
                          </a:solidFill>
                          <a:latin typeface="Consolas"/>
                        </a:rPr>
                        <a:t>--expire-hours 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expires snapshots older than H (168), keeps the current, deletes files only they referenced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1404">
                <a:tc>
                  <a:txBody>
                    <a:bodyPr wrap="square"/>
                    <a:lstStyle/>
                    <a:p>
                      <a:pPr algn="l">
                        <a:lnSpc>
                          <a:spcPct val="100000"/>
                        </a:lnSpc>
                      </a:pPr>
                      <a:r>
                        <a:rPr sz="1150" b="1" i="0">
                          <a:solidFill>
                            <a:srgbClr val="1C2433"/>
                          </a:solidFill>
                          <a:latin typeface="Calibri"/>
                        </a:rPr>
                        <a:t>Orphan file removal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not in </a:t>
                      </a:r>
                      <a:r>
                        <a:rPr sz="1050" b="0" i="0">
                          <a:solidFill>
                            <a:srgbClr val="0E7C86"/>
                          </a:solidFill>
                          <a:latin typeface="Consolas"/>
                        </a:rPr>
                        <a:t>IcebergMaintenance</a:t>
                      </a:r>
                      <a:r>
                        <a:rPr sz="1150" b="0" i="0">
                          <a:solidFill>
                            <a:srgbClr val="1C2433"/>
                          </a:solidFill>
                          <a:latin typeface="Calibri"/>
                        </a:rPr>
                        <a:t>: use Spark's </a:t>
                      </a:r>
                      <a:r>
                        <a:rPr sz="1050" b="0" i="0">
                          <a:solidFill>
                            <a:srgbClr val="0E7C86"/>
                          </a:solidFill>
                          <a:latin typeface="Consolas"/>
                        </a:rPr>
                        <a:t>remove_orphan_files</a:t>
                      </a:r>
                      <a:r>
                        <a:rPr sz="1150" b="0" i="0">
                          <a:solidFill>
                            <a:srgbClr val="1C2433"/>
                          </a:solidFill>
                          <a:latin typeface="Calibri"/>
                        </a:rPr>
                        <a:t>, Athena </a:t>
                      </a:r>
                      <a:r>
                        <a:rPr sz="1050" b="0" i="0">
                          <a:solidFill>
                            <a:srgbClr val="0E7C86"/>
                          </a:solidFill>
                          <a:latin typeface="Consolas"/>
                        </a:rPr>
                        <a:t>VACUUM</a:t>
                      </a:r>
                      <a:r>
                        <a:rPr sz="1150" b="0" i="0">
                          <a:solidFill>
                            <a:srgbClr val="1C2433"/>
                          </a:solidFill>
                          <a:latin typeface="Calibri"/>
                        </a:rPr>
                        <a:t>, Glue optimizers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34955">
                <a:tc>
                  <a:txBody>
                    <a:bodyPr wrap="square"/>
                    <a:lstStyle/>
                    <a:p>
                      <a:pPr algn="l">
                        <a:lnSpc>
                          <a:spcPct val="100000"/>
                        </a:lnSpc>
                      </a:pPr>
                      <a:r>
                        <a:rPr sz="1150" b="1" i="0">
                          <a:solidFill>
                            <a:srgbClr val="1C2433"/>
                          </a:solidFill>
                          <a:latin typeface="Calibri"/>
                        </a:rPr>
                        <a:t>A UI, schedules, history (Admin → Lakes)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Delta only today (</a:t>
                      </a:r>
                      <a:r>
                        <a:rPr sz="1050" b="0" i="0">
                          <a:solidFill>
                            <a:srgbClr val="0E7C86"/>
                          </a:solidFill>
                          <a:latin typeface="Consolas"/>
                        </a:rPr>
                        <a:t>lake maintain</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34955">
                <a:tc>
                  <a:txBody>
                    <a:bodyPr wrap="square"/>
                    <a:lstStyle/>
                    <a:p>
                      <a:pPr algn="l">
                        <a:lnSpc>
                          <a:spcPct val="100000"/>
                        </a:lnSpc>
                      </a:pPr>
                      <a:r>
                        <a:rPr sz="1150" b="1" i="0">
                          <a:solidFill>
                            <a:srgbClr val="1C2433"/>
                          </a:solidFill>
                          <a:latin typeface="Calibri"/>
                        </a:rPr>
                        <a:t>The 7-year floor of the risk domains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enforced by </a:t>
                      </a:r>
                      <a:r>
                        <a:rPr sz="1050" b="0" i="0">
                          <a:solidFill>
                            <a:srgbClr val="0E7C86"/>
                          </a:solidFill>
                          <a:latin typeface="Consolas"/>
                        </a:rPr>
                        <a:t>lake maintain</a:t>
                      </a:r>
                      <a:r>
                        <a:rPr sz="1150" b="0" i="0">
                          <a:solidFill>
                            <a:srgbClr val="1C2433"/>
                          </a:solidFill>
                          <a:latin typeface="Calibri"/>
                        </a:rPr>
                        <a:t> for Delta; nothing stops </a:t>
                      </a:r>
                      <a:r>
                        <a:rPr sz="1050" b="0" i="0">
                          <a:solidFill>
                            <a:srgbClr val="0E7C86"/>
                          </a:solidFill>
                          <a:latin typeface="Consolas"/>
                        </a:rPr>
                        <a:t>--expire-hours 168</a:t>
                      </a:r>
                      <a:r>
                        <a:rPr sz="1150" b="0" i="0">
                          <a:solidFill>
                            <a:srgbClr val="1C2433"/>
                          </a:solidFill>
                          <a:latin typeface="Calibri"/>
                        </a:rPr>
                        <a:t> on an Iceberg risk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5669280"/>
            <a:ext cx="11365992" cy="68580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669280"/>
            <a:ext cx="82296" cy="68580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724144"/>
            <a:ext cx="11000232" cy="57607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Never</a:t>
            </a:r>
            <a:r>
              <a:rPr sz="1300" b="0" i="0">
                <a:solidFill>
                  <a:srgbClr val="1C2433"/>
                </a:solidFill>
                <a:latin typeface="Calibri"/>
              </a:rPr>
              <a:t> apply S3 lifecycle </a:t>
            </a:r>
            <a:r>
              <a:rPr sz="1300" b="1" i="0">
                <a:solidFill>
                  <a:srgbClr val="1C2433"/>
                </a:solidFill>
                <a:latin typeface="Calibri"/>
              </a:rPr>
              <a:t>expiry</a:t>
            </a:r>
            <a:r>
              <a:rPr sz="1300" b="0" i="0">
                <a:solidFill>
                  <a:srgbClr val="1C2433"/>
                </a:solidFill>
                <a:latin typeface="Calibri"/>
              </a:rPr>
              <a:t> to a table's files, in either format: they delete files the metadata still names.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Lake build to Iceberg, and the demo's CALYPSO in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26</a:t>
            </a:r>
          </a:p>
        </p:txBody>
      </p:sp>
      <p:sp>
        <p:nvSpPr>
          <p:cNvPr id="9" name="Rounded Rectangle 8"/>
          <p:cNvSpPr/>
          <p:nvPr/>
        </p:nvSpPr>
        <p:spPr>
          <a:xfrm>
            <a:off x="411480" y="1234440"/>
            <a:ext cx="2130552" cy="2103120"/>
          </a:xfrm>
          <a:prstGeom prst="roundRect">
            <a:avLst>
              <a:gd name="adj" fmla="val 7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Oval 9"/>
          <p:cNvSpPr/>
          <p:nvPr/>
        </p:nvSpPr>
        <p:spPr>
          <a:xfrm>
            <a:off x="502920"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1</a:t>
            </a:r>
          </a:p>
        </p:txBody>
      </p:sp>
      <p:sp>
        <p:nvSpPr>
          <p:cNvPr id="12" name="TextBox 11"/>
          <p:cNvSpPr txBox="1"/>
          <p:nvPr/>
        </p:nvSpPr>
        <p:spPr>
          <a:xfrm>
            <a:off x="960120"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JSON Lines in</a:t>
            </a:r>
          </a:p>
        </p:txBody>
      </p:sp>
      <p:sp>
        <p:nvSpPr>
          <p:cNvPr id="13" name="TextBox 12"/>
          <p:cNvSpPr txBox="1"/>
          <p:nvPr/>
        </p:nvSpPr>
        <p:spPr>
          <a:xfrm>
            <a:off x="502920"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data/testdata/&lt;domain&gt;/&lt;kind&gt;/*.jsonl.gz</a:t>
            </a:r>
            <a:r>
              <a:rPr sz="1200" b="0" i="0">
                <a:solidFill>
                  <a:srgbClr val="1C2433"/>
                </a:solidFill>
                <a:latin typeface="Calibri"/>
              </a:rPr>
              <a:t> or a bank's dumps</a:t>
            </a:r>
          </a:p>
        </p:txBody>
      </p:sp>
      <p:cxnSp>
        <p:nvCxnSpPr>
          <p:cNvPr id="14" name="Connector 13"/>
          <p:cNvCxnSpPr/>
          <p:nvPr/>
        </p:nvCxnSpPr>
        <p:spPr>
          <a:xfrm>
            <a:off x="2542032"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724912" y="1234440"/>
            <a:ext cx="2130552" cy="2103120"/>
          </a:xfrm>
          <a:prstGeom prst="roundRect">
            <a:avLst>
              <a:gd name="adj" fmla="val 7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Oval 15"/>
          <p:cNvSpPr/>
          <p:nvPr/>
        </p:nvSpPr>
        <p:spPr>
          <a:xfrm>
            <a:off x="2816352"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16352"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2</a:t>
            </a:r>
          </a:p>
        </p:txBody>
      </p:sp>
      <p:sp>
        <p:nvSpPr>
          <p:cNvPr id="18" name="TextBox 17"/>
          <p:cNvSpPr txBox="1"/>
          <p:nvPr/>
        </p:nvSpPr>
        <p:spPr>
          <a:xfrm>
            <a:off x="3273552"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lake build → Delta</a:t>
            </a:r>
          </a:p>
        </p:txBody>
      </p:sp>
      <p:sp>
        <p:nvSpPr>
          <p:cNvPr id="19" name="TextBox 18"/>
          <p:cNvSpPr txBox="1"/>
          <p:nvPr/>
        </p:nvSpPr>
        <p:spPr>
          <a:xfrm>
            <a:off x="2816352" y="1874519"/>
            <a:ext cx="1947672" cy="141732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staged under </a:t>
            </a:r>
            <a:r>
              <a:rPr sz="1100" b="0" i="0">
                <a:solidFill>
                  <a:srgbClr val="0E7C86"/>
                </a:solidFill>
                <a:latin typeface="Consolas"/>
              </a:rPr>
              <a:t>&lt;data&gt;/build/iceberg-stage</a:t>
            </a:r>
            <a:r>
              <a:rPr sz="1200" b="0" i="0">
                <a:solidFill>
                  <a:srgbClr val="1C2433"/>
                </a:solidFill>
                <a:latin typeface="Calibri"/>
              </a:rPr>
              <a:t>: the same documents and promoted columns as a Delta build</a:t>
            </a:r>
          </a:p>
        </p:txBody>
      </p:sp>
      <p:cxnSp>
        <p:nvCxnSpPr>
          <p:cNvPr id="20" name="Connector 19"/>
          <p:cNvCxnSpPr/>
          <p:nvPr/>
        </p:nvCxnSpPr>
        <p:spPr>
          <a:xfrm>
            <a:off x="4855464"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038344" y="1234440"/>
            <a:ext cx="2130552" cy="2103120"/>
          </a:xfrm>
          <a:prstGeom prst="roundRect">
            <a:avLst>
              <a:gd name="adj" fmla="val 7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Oval 21"/>
          <p:cNvSpPr/>
          <p:nvPr/>
        </p:nvSpPr>
        <p:spPr>
          <a:xfrm>
            <a:off x="5129784"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29784"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3</a:t>
            </a:r>
          </a:p>
        </p:txBody>
      </p:sp>
      <p:sp>
        <p:nvSpPr>
          <p:cNvPr id="24" name="TextBox 23"/>
          <p:cNvSpPr txBox="1"/>
          <p:nvPr/>
        </p:nvSpPr>
        <p:spPr>
          <a:xfrm>
            <a:off x="5586984"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IcebergLoader, engine native</a:t>
            </a:r>
          </a:p>
        </p:txBody>
      </p:sp>
      <p:sp>
        <p:nvSpPr>
          <p:cNvPr id="25" name="TextBox 24"/>
          <p:cNvSpPr txBox="1"/>
          <p:nvPr/>
        </p:nvSpPr>
        <p:spPr>
          <a:xfrm>
            <a:off x="5129784" y="1874519"/>
            <a:ext cx="1947672" cy="141732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each business day committed as one overwrite of its partition; no Maven, works on Windows</a:t>
            </a:r>
          </a:p>
        </p:txBody>
      </p:sp>
      <p:cxnSp>
        <p:nvCxnSpPr>
          <p:cNvPr id="26" name="Connector 25"/>
          <p:cNvCxnSpPr/>
          <p:nvPr/>
        </p:nvCxnSpPr>
        <p:spPr>
          <a:xfrm>
            <a:off x="7168896"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351776" y="1234440"/>
            <a:ext cx="2130552" cy="2103120"/>
          </a:xfrm>
          <a:prstGeom prst="roundRect">
            <a:avLst>
              <a:gd name="adj" fmla="val 7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Oval 27"/>
          <p:cNvSpPr/>
          <p:nvPr/>
        </p:nvSpPr>
        <p:spPr>
          <a:xfrm>
            <a:off x="7443216"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43216"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4</a:t>
            </a:r>
          </a:p>
        </p:txBody>
      </p:sp>
      <p:sp>
        <p:nvSpPr>
          <p:cNvPr id="30" name="TextBox 29"/>
          <p:cNvSpPr txBox="1"/>
          <p:nvPr/>
        </p:nvSpPr>
        <p:spPr>
          <a:xfrm>
            <a:off x="7900416"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Iceberg table</a:t>
            </a:r>
          </a:p>
        </p:txBody>
      </p:sp>
      <p:sp>
        <p:nvSpPr>
          <p:cNvPr id="31" name="TextBox 30"/>
          <p:cNvSpPr txBox="1"/>
          <p:nvPr/>
        </p:nvSpPr>
        <p:spPr>
          <a:xfrm>
            <a:off x="7443216"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&lt;data&gt;/iceberg/trading/trade_calypso</a:t>
            </a:r>
            <a:r>
              <a:rPr sz="1200" b="0" i="0">
                <a:solidFill>
                  <a:srgbClr val="1C2433"/>
                </a:solidFill>
                <a:latin typeface="Calibri"/>
              </a:rPr>
              <a:t> (or </a:t>
            </a:r>
            <a:r>
              <a:rPr sz="1100" b="0" i="0">
                <a:solidFill>
                  <a:srgbClr val="0E7C86"/>
                </a:solidFill>
                <a:latin typeface="Consolas"/>
              </a:rPr>
              <a:t>s3://…</a:t>
            </a:r>
            <a:r>
              <a:rPr sz="1200" b="0" i="0">
                <a:solidFill>
                  <a:srgbClr val="1C2433"/>
                </a:solidFill>
                <a:latin typeface="Calibri"/>
              </a:rPr>
              <a:t>)</a:t>
            </a:r>
          </a:p>
        </p:txBody>
      </p:sp>
      <p:cxnSp>
        <p:nvCxnSpPr>
          <p:cNvPr id="32" name="Connector 31"/>
          <p:cNvCxnSpPr/>
          <p:nvPr/>
        </p:nvCxnSpPr>
        <p:spPr>
          <a:xfrm>
            <a:off x="9482328" y="2286000"/>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665208" y="1234440"/>
            <a:ext cx="2130552" cy="2103120"/>
          </a:xfrm>
          <a:prstGeom prst="roundRect">
            <a:avLst>
              <a:gd name="adj" fmla="val 7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Oval 33"/>
          <p:cNvSpPr/>
          <p:nvPr/>
        </p:nvSpPr>
        <p:spPr>
          <a:xfrm>
            <a:off x="9756648" y="1325880"/>
            <a:ext cx="411480" cy="41148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756648" y="1325880"/>
            <a:ext cx="411480" cy="411480"/>
          </a:xfrm>
          <a:prstGeom prst="rect">
            <a:avLst/>
          </a:prstGeom>
          <a:noFill/>
        </p:spPr>
        <p:txBody>
          <a:bodyPr wrap="square" lIns="0" rIns="0" tIns="0" bIns="0" anchor="ctr">
            <a:spAutoFit/>
          </a:bodyPr>
          <a:lstStyle/>
          <a:p>
            <a:pPr algn="ctr">
              <a:lnSpc>
                <a:spcPct val="105000"/>
              </a:lnSpc>
            </a:pPr>
            <a:r>
              <a:rPr sz="1400" b="1" i="0">
                <a:solidFill>
                  <a:srgbClr val="FFFFFF"/>
                </a:solidFill>
                <a:latin typeface="Calibri"/>
              </a:rPr>
              <a:t>5</a:t>
            </a:r>
          </a:p>
        </p:txBody>
      </p:sp>
      <p:sp>
        <p:nvSpPr>
          <p:cNvPr id="36" name="TextBox 35"/>
          <p:cNvSpPr txBox="1"/>
          <p:nvPr/>
        </p:nvSpPr>
        <p:spPr>
          <a:xfrm>
            <a:off x="10213848" y="1298448"/>
            <a:ext cx="1536192" cy="502920"/>
          </a:xfrm>
          <a:prstGeom prst="rect">
            <a:avLst/>
          </a:prstGeom>
          <a:noFill/>
        </p:spPr>
        <p:txBody>
          <a:bodyPr wrap="square" lIns="45720" rIns="45720" tIns="27432" bIns="27432" anchor="ctr">
            <a:spAutoFit/>
          </a:bodyPr>
          <a:lstStyle/>
          <a:p>
            <a:pPr algn="l">
              <a:lnSpc>
                <a:spcPct val="105000"/>
              </a:lnSpc>
            </a:pPr>
            <a:r>
              <a:rPr sz="1300" b="1" i="0">
                <a:solidFill>
                  <a:srgbClr val="0B1E3B"/>
                </a:solidFill>
                <a:latin typeface="Calibri"/>
              </a:rPr>
              <a:t>connector file switched</a:t>
            </a:r>
          </a:p>
        </p:txBody>
      </p:sp>
      <p:sp>
        <p:nvSpPr>
          <p:cNvPr id="37" name="TextBox 36"/>
          <p:cNvSpPr txBox="1"/>
          <p:nvPr/>
        </p:nvSpPr>
        <p:spPr>
          <a:xfrm>
            <a:off x="9756648" y="1874519"/>
            <a:ext cx="1947672" cy="1417320"/>
          </a:xfrm>
          <a:prstGeom prst="rect">
            <a:avLst/>
          </a:prstGeom>
          <a:noFill/>
        </p:spPr>
        <p:txBody>
          <a:bodyPr wrap="square" lIns="45720" rIns="45720" tIns="27432" bIns="27432" anchor="t">
            <a:spAutoFit/>
          </a:bodyPr>
          <a:lstStyle/>
          <a:p>
            <a:pPr algn="l">
              <a:lnSpc>
                <a:spcPct val="105000"/>
              </a:lnSpc>
            </a:pPr>
            <a:r>
              <a:rPr sz="1100" b="0" i="0">
                <a:solidFill>
                  <a:srgbClr val="0E7C86"/>
                </a:solidFill>
                <a:latin typeface="Consolas"/>
              </a:rPr>
              <a:t>trade-calypso.yaml</a:t>
            </a:r>
            <a:r>
              <a:rPr sz="1200" b="0" i="0">
                <a:solidFill>
                  <a:srgbClr val="1C2433"/>
                </a:solidFill>
                <a:latin typeface="Calibri"/>
              </a:rPr>
              <a:t>: </a:t>
            </a:r>
            <a:r>
              <a:rPr sz="1100" b="0" i="0">
                <a:solidFill>
                  <a:srgbClr val="0E7C86"/>
                </a:solidFill>
                <a:latin typeface="Consolas"/>
              </a:rPr>
              <a:t>plugin: iceberg</a:t>
            </a:r>
            <a:r>
              <a:rPr sz="1200" b="0" i="0">
                <a:solidFill>
                  <a:srgbClr val="1C2433"/>
                </a:solidFill>
                <a:latin typeface="Calibri"/>
              </a:rPr>
              <a:t>, </a:t>
            </a:r>
            <a:r>
              <a:rPr sz="1100" b="0" i="0">
                <a:solidFill>
                  <a:srgbClr val="0E7C86"/>
                </a:solidFill>
                <a:latin typeface="Consolas"/>
              </a:rPr>
              <a:t>engine: native</a:t>
            </a:r>
            <a:r>
              <a:rPr sz="1200" b="0" i="0">
                <a:solidFill>
                  <a:srgbClr val="1C2433"/>
                </a:solidFill>
                <a:latin typeface="Calibri"/>
              </a:rPr>
              <a:t>, </a:t>
            </a:r>
            <a:r>
              <a:rPr sz="1100" b="0" i="0">
                <a:solidFill>
                  <a:srgbClr val="0E7C86"/>
                </a:solidFill>
                <a:latin typeface="Consolas"/>
              </a:rPr>
              <a:t>table: {trade: trade_calypso}</a:t>
            </a:r>
          </a:p>
        </p:txBody>
      </p:sp>
      <p:sp>
        <p:nvSpPr>
          <p:cNvPr id="38" name="Rounded Rectangle 37"/>
          <p:cNvSpPr/>
          <p:nvPr/>
        </p:nvSpPr>
        <p:spPr>
          <a:xfrm>
            <a:off x="411480" y="3566160"/>
            <a:ext cx="11365992" cy="105156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521208" y="3639312"/>
            <a:ext cx="11146536" cy="905255"/>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tools/load-iceberg.sh ./data/iceberg --trades 10000 --days 3          # samples and a book, one load</a:t>
            </a:r>
          </a:p>
          <a:p>
            <a:pPr algn="l">
              <a:lnSpc>
                <a:spcPct val="100000"/>
              </a:lnSpc>
            </a:pPr>
            <a:r>
              <a:rPr sz="1150" b="0" i="0">
                <a:solidFill>
                  <a:srgbClr val="E6EDF3"/>
                </a:solidFill>
                <a:latin typeface="Consolas"/>
              </a:rPr>
              <a:t>tools/load-iceberg.sh s3a://risk-lake/iceberg --set s3.region=us-east-1 --spill-dir /data/tmp</a:t>
            </a:r>
          </a:p>
          <a:p>
            <a:pPr algn="l">
              <a:lnSpc>
                <a:spcPct val="100000"/>
              </a:lnSpc>
            </a:pPr>
            <a:r>
              <a:rPr sz="1150" b="0" i="0">
                <a:solidFill>
                  <a:srgbClr val="E6EDF3"/>
                </a:solidFill>
                <a:latin typeface="Consolas"/>
              </a:rPr>
              <a:t>python tools/lake/stores.py --from data/delta/trading/trade_calypso --root data/iceberg --table trade_calypso --replace</a:t>
            </a:r>
          </a:p>
        </p:txBody>
      </p:sp>
      <p:graphicFrame>
        <p:nvGraphicFramePr>
          <p:cNvPr id="40" name="Table 39"/>
          <p:cNvGraphicFramePr>
            <a:graphicFrameLocks noGrp="1"/>
          </p:cNvGraphicFramePr>
          <p:nvPr/>
        </p:nvGraphicFramePr>
        <p:xfrm>
          <a:off x="411480" y="4800600"/>
          <a:ext cx="11365992" cy="1395984"/>
        </p:xfrm>
        <a:graphic>
          <a:graphicData uri="http://schemas.openxmlformats.org/drawingml/2006/table">
            <a:tbl>
              <a:tblPr firstRow="1" bandRow="1">
                <a:tableStyleId>{5940675A-B579-460E-94D1-54222C63F5DA}</a:tableStyleId>
              </a:tblPr>
              <a:tblGrid>
                <a:gridCol w="5120640"/>
                <a:gridCol w="4572000"/>
                <a:gridCol w="1673352"/>
              </a:tblGrid>
              <a:tr h="310896">
                <a:tc>
                  <a:txBody>
                    <a:bodyPr wrap="square"/>
                    <a:lstStyle/>
                    <a:p>
                      <a:pPr algn="l">
                        <a:lnSpc>
                          <a:spcPct val="100000"/>
                        </a:lnSpc>
                      </a:pPr>
                      <a:r>
                        <a:rPr sz="1200" b="1" i="0">
                          <a:solidFill>
                            <a:srgbClr val="FFFFFF"/>
                          </a:solidFill>
                          <a:latin typeface="Calibri"/>
                        </a:rPr>
                        <a:t>Path to an Iceberg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Scope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0896">
                <a:tc>
                  <a:txBody>
                    <a:bodyPr wrap="square"/>
                    <a:lstStyle/>
                    <a:p>
                      <a:pPr algn="l">
                        <a:lnSpc>
                          <a:spcPct val="100000"/>
                        </a:lnSpc>
                      </a:pPr>
                      <a:r>
                        <a:rPr sz="1100" b="1" i="0">
                          <a:solidFill>
                            <a:srgbClr val="0E7C86"/>
                          </a:solidFill>
                          <a:latin typeface="Consolas"/>
                        </a:rPr>
                        <a:t>build_demo_lakes.py --store &lt;system&gt;=iceberg</a:t>
                      </a:r>
                      <a:r>
                        <a:rPr sz="1200" b="1" i="0">
                          <a:solidFill>
                            <a:srgbClr val="1C2433"/>
                          </a:solidFill>
                          <a:latin typeface="Calibri"/>
                        </a:rPr>
                        <a:t> (via </a:t>
                      </a:r>
                      <a:r>
                        <a:rPr sz="1100" b="1" i="0">
                          <a:solidFill>
                            <a:srgbClr val="0E7C86"/>
                          </a:solidFill>
                          <a:latin typeface="Consolas"/>
                        </a:rPr>
                        <a:t>stores.py</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trading domain's trade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296">
                <a:tc>
                  <a:txBody>
                    <a:bodyPr wrap="square"/>
                    <a:lstStyle/>
                    <a:p>
                      <a:pPr algn="l">
                        <a:lnSpc>
                          <a:spcPct val="100000"/>
                        </a:lnSpc>
                      </a:pPr>
                      <a:r>
                        <a:rPr sz="1100" b="1" i="0">
                          <a:solidFill>
                            <a:srgbClr val="0E7C86"/>
                          </a:solidFill>
                          <a:latin typeface="Consolas"/>
                        </a:rPr>
                        <a:t>load-iceberg.sh</a:t>
                      </a:r>
                      <a:r>
                        <a:rPr sz="1200" b="1" i="0">
                          <a:solidFill>
                            <a:srgbClr val="1C2433"/>
                          </a:solidFill>
                          <a:latin typeface="Calibri"/>
                        </a:rPr>
                        <a:t> / </a:t>
                      </a:r>
                      <a:r>
                        <a:rPr sz="1100" b="1" i="0">
                          <a:solidFill>
                            <a:srgbClr val="0E7C86"/>
                          </a:solidFill>
                          <a:latin typeface="Consolas"/>
                        </a:rPr>
                        <a:t>load-iceberg.ps1</a:t>
                      </a:r>
                      <a:r>
                        <a:rPr sz="1200" b="1" i="0">
                          <a:solidFill>
                            <a:srgbClr val="1C2433"/>
                          </a:solidFill>
                          <a:latin typeface="Calibri"/>
                        </a:rPr>
                        <a:t> → </a:t>
                      </a:r>
                      <a:r>
                        <a:rPr sz="1100" b="1" i="0">
                          <a:solidFill>
                            <a:srgbClr val="0E7C86"/>
                          </a:solidFill>
                          <a:latin typeface="Consolas"/>
                        </a:rPr>
                        <a:t>IcebergLoader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any kind, JSON Lines </a:t>
                      </a:r>
                      <a:r>
                        <a:rPr sz="1100" b="0" i="0">
                          <a:solidFill>
                            <a:srgbClr val="0E7C86"/>
                          </a:solidFill>
                          <a:latin typeface="Consolas"/>
                        </a:rPr>
                        <a:t>{domain, kind, id, date, doc, 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0896">
                <a:tc>
                  <a:txBody>
                    <a:bodyPr wrap="square"/>
                    <a:lstStyle/>
                    <a:p>
                      <a:pPr algn="l">
                        <a:lnSpc>
                          <a:spcPct val="100000"/>
                        </a:lnSpc>
                      </a:pPr>
                      <a:r>
                        <a:rPr sz="1100" b="1" i="0">
                          <a:solidFill>
                            <a:srgbClr val="0E7C86"/>
                          </a:solidFill>
                          <a:latin typeface="Consolas"/>
                        </a:rPr>
                        <a:t>lake build --format iceberg</a:t>
                      </a:r>
                      <a:r>
                        <a:rPr sz="1200" b="1" i="0">
                          <a:solidFill>
                            <a:srgbClr val="1C2433"/>
                          </a:solidFill>
                          <a:latin typeface="Calibri"/>
                        </a:rPr>
                        <a:t> for any pack and kind (one command)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would replace the Delta staging step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05</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Built, designed, proposed</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Every Iceberg capability with its label: what runs today, what a design document describes, and what this deck proposes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Built and planned (1/2): built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5</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28</a:t>
            </a:r>
          </a:p>
        </p:txBody>
      </p:sp>
      <p:sp>
        <p:nvSpPr>
          <p:cNvPr id="9" name="Rectangle 8"/>
          <p:cNvSpPr/>
          <p:nvPr/>
        </p:nvSpPr>
        <p:spPr>
          <a:xfrm>
            <a:off x="411480" y="114300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14300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drishti-iceberg native engine: metadata, manifests, planning with pruning, field-id reads, deletes, time travel</a:t>
            </a:r>
          </a:p>
        </p:txBody>
      </p:sp>
      <p:sp>
        <p:nvSpPr>
          <p:cNvPr id="11" name="Rounded Rectangle 10"/>
          <p:cNvSpPr/>
          <p:nvPr/>
        </p:nvSpPr>
        <p:spPr>
          <a:xfrm>
            <a:off x="10543032" y="127101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2" name="Rectangle 11"/>
          <p:cNvSpPr/>
          <p:nvPr/>
        </p:nvSpPr>
        <p:spPr>
          <a:xfrm>
            <a:off x="411480" y="169164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21208" y="169164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Writer: Parquet with field ids and metrics, manifests, commits (hard link, conditional PUT + probe, REST requirements)</a:t>
            </a:r>
          </a:p>
        </p:txBody>
      </p:sp>
      <p:sp>
        <p:nvSpPr>
          <p:cNvPr id="14" name="Rounded Rectangle 13"/>
          <p:cNvSpPr/>
          <p:nvPr/>
        </p:nvSpPr>
        <p:spPr>
          <a:xfrm>
            <a:off x="10543032" y="181965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5" name="Rectangle 14"/>
          <p:cNvSpPr/>
          <p:nvPr/>
        </p:nvSpPr>
        <p:spPr>
          <a:xfrm>
            <a:off x="411480" y="224028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21208" y="224028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Catalogs: path-based, named metadata file, REST (OAuth2, ETag, vended credentials, SigV4 for Glue)</a:t>
            </a:r>
          </a:p>
        </p:txBody>
      </p:sp>
      <p:sp>
        <p:nvSpPr>
          <p:cNvPr id="17" name="Rounded Rectangle 16"/>
          <p:cNvSpPr/>
          <p:nvPr/>
        </p:nvSpPr>
        <p:spPr>
          <a:xfrm>
            <a:off x="10543032" y="236829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8" name="Rectangle 17"/>
          <p:cNvSpPr/>
          <p:nvPr/>
        </p:nvSpPr>
        <p:spPr>
          <a:xfrm>
            <a:off x="411480" y="278892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21208" y="2788920"/>
            <a:ext cx="9902952" cy="512064"/>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iceberg</a:t>
            </a:r>
            <a:r>
              <a:rPr sz="1300" b="0" i="0">
                <a:solidFill>
                  <a:srgbClr val="1C2433"/>
                </a:solidFill>
                <a:latin typeface="Calibri"/>
              </a:rPr>
              <a:t> connector: id maps, column sets, type-ahead, history days, BI scan, data versions, </a:t>
            </a:r>
            <a:r>
              <a:rPr sz="1300" b="0" i="1">
                <a:solidFill>
                  <a:srgbClr val="1C2433"/>
                </a:solidFill>
                <a:latin typeface="Calibri"/>
              </a:rPr>
              <a:t>known at</a:t>
            </a:r>
          </a:p>
        </p:txBody>
      </p:sp>
      <p:sp>
        <p:nvSpPr>
          <p:cNvPr id="20" name="Rounded Rectangle 19"/>
          <p:cNvSpPr/>
          <p:nvPr/>
        </p:nvSpPr>
        <p:spPr>
          <a:xfrm>
            <a:off x="10543032" y="291693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1" name="Rectangle 20"/>
          <p:cNvSpPr/>
          <p:nvPr/>
        </p:nvSpPr>
        <p:spPr>
          <a:xfrm>
            <a:off x="411480" y="333756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21208" y="3337560"/>
            <a:ext cx="9902952" cy="512064"/>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iceberg-external</a:t>
            </a:r>
            <a:r>
              <a:rPr sz="1300" b="0" i="0">
                <a:solidFill>
                  <a:srgbClr val="1C2433"/>
                </a:solidFill>
                <a:latin typeface="Calibri"/>
              </a:rPr>
              <a:t>: rows as documents, identifier fields, every column searchable, id index, </a:t>
            </a:r>
            <a:r>
              <a:rPr sz="1200" b="0" i="0">
                <a:solidFill>
                  <a:srgbClr val="0E7C86"/>
                </a:solidFill>
                <a:latin typeface="Consolas"/>
              </a:rPr>
              <a:t>tables: auto</a:t>
            </a:r>
          </a:p>
        </p:txBody>
      </p:sp>
      <p:sp>
        <p:nvSpPr>
          <p:cNvPr id="23" name="Rounded Rectangle 22"/>
          <p:cNvSpPr/>
          <p:nvPr/>
        </p:nvSpPr>
        <p:spPr>
          <a:xfrm>
            <a:off x="10543032" y="3465576"/>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4" name="Rectangle 23"/>
          <p:cNvSpPr/>
          <p:nvPr/>
        </p:nvSpPr>
        <p:spPr>
          <a:xfrm>
            <a:off x="411480" y="388620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521208" y="3886200"/>
            <a:ext cx="9902952" cy="512064"/>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IcebergLoader</a:t>
            </a:r>
            <a:r>
              <a:rPr sz="1300" b="0" i="0">
                <a:solidFill>
                  <a:srgbClr val="1C2433"/>
                </a:solidFill>
                <a:latin typeface="Calibri"/>
              </a:rPr>
              <a:t> and </a:t>
            </a:r>
            <a:r>
              <a:rPr sz="1200" b="0" i="0">
                <a:solidFill>
                  <a:srgbClr val="0E7C86"/>
                </a:solidFill>
                <a:latin typeface="Consolas"/>
              </a:rPr>
              <a:t>IcebergMaintenance</a:t>
            </a:r>
            <a:r>
              <a:rPr sz="1300" b="0" i="0">
                <a:solidFill>
                  <a:srgbClr val="1C2433"/>
                </a:solidFill>
                <a:latin typeface="Calibri"/>
              </a:rPr>
              <a:t> on both engines; </a:t>
            </a:r>
            <a:r>
              <a:rPr sz="1200" b="0" i="0">
                <a:solidFill>
                  <a:srgbClr val="0E7C86"/>
                </a:solidFill>
                <a:latin typeface="Consolas"/>
              </a:rPr>
              <a:t>load-iceberg.sh</a:t>
            </a:r>
            <a:r>
              <a:rPr sz="1300" b="0" i="0">
                <a:solidFill>
                  <a:srgbClr val="1C2433"/>
                </a:solidFill>
                <a:latin typeface="Calibri"/>
              </a:rPr>
              <a:t> and </a:t>
            </a:r>
            <a:r>
              <a:rPr sz="1200" b="0" i="0">
                <a:solidFill>
                  <a:srgbClr val="0E7C86"/>
                </a:solidFill>
                <a:latin typeface="Consolas"/>
              </a:rPr>
              <a:t>.ps1</a:t>
            </a:r>
            <a:r>
              <a:rPr sz="1300" b="0" i="0">
                <a:solidFill>
                  <a:srgbClr val="1C2433"/>
                </a:solidFill>
                <a:latin typeface="Calibri"/>
              </a:rPr>
              <a:t> (Windows)</a:t>
            </a:r>
          </a:p>
        </p:txBody>
      </p:sp>
      <p:sp>
        <p:nvSpPr>
          <p:cNvPr id="26" name="Rounded Rectangle 25"/>
          <p:cNvSpPr/>
          <p:nvPr/>
        </p:nvSpPr>
        <p:spPr>
          <a:xfrm>
            <a:off x="10543032" y="4014215"/>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7" name="Rectangle 26"/>
          <p:cNvSpPr/>
          <p:nvPr/>
        </p:nvSpPr>
        <p:spPr>
          <a:xfrm>
            <a:off x="411480" y="443484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521208" y="443484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Mixed storage per source system (</a:t>
            </a:r>
            <a:r>
              <a:rPr sz="1200" b="0" i="0">
                <a:solidFill>
                  <a:srgbClr val="0E7C86"/>
                </a:solidFill>
                <a:latin typeface="Consolas"/>
              </a:rPr>
              <a:t>--store</a:t>
            </a:r>
            <a:r>
              <a:rPr sz="1300" b="0" i="0">
                <a:solidFill>
                  <a:srgbClr val="1C2433"/>
                </a:solidFill>
                <a:latin typeface="Calibri"/>
              </a:rPr>
              <a:t>), with an equality test against all-Delta</a:t>
            </a:r>
          </a:p>
        </p:txBody>
      </p:sp>
      <p:sp>
        <p:nvSpPr>
          <p:cNvPr id="29" name="Rounded Rectangle 28"/>
          <p:cNvSpPr/>
          <p:nvPr/>
        </p:nvSpPr>
        <p:spPr>
          <a:xfrm>
            <a:off x="10543032" y="4562855"/>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30" name="Rectangle 29"/>
          <p:cNvSpPr/>
          <p:nvPr/>
        </p:nvSpPr>
        <p:spPr>
          <a:xfrm>
            <a:off x="411480" y="4983479"/>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521208" y="4983479"/>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S3 via the AWS SDK; S3Mock and MinIO tests; TLS, private CA and proxy for the object store</a:t>
            </a:r>
          </a:p>
        </p:txBody>
      </p:sp>
      <p:sp>
        <p:nvSpPr>
          <p:cNvPr id="32" name="Rounded Rectangle 31"/>
          <p:cNvSpPr/>
          <p:nvPr/>
        </p:nvSpPr>
        <p:spPr>
          <a:xfrm>
            <a:off x="10543032" y="5111495"/>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33" name="Rectangle 32"/>
          <p:cNvSpPr/>
          <p:nvPr/>
        </p:nvSpPr>
        <p:spPr>
          <a:xfrm>
            <a:off x="411480" y="5532119"/>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521208" y="5532119"/>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Shared AWS pieces: ECS images, EFS access points, Cloud Map, IAM roles, buckets (dry-run tested, from the Delta work)</a:t>
            </a:r>
          </a:p>
        </p:txBody>
      </p:sp>
      <p:sp>
        <p:nvSpPr>
          <p:cNvPr id="35" name="Rounded Rectangle 34"/>
          <p:cNvSpPr/>
          <p:nvPr/>
        </p:nvSpPr>
        <p:spPr>
          <a:xfrm>
            <a:off x="10543032" y="5660135"/>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Built and planned (2/2): designed and proposed</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5</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29</a:t>
            </a:r>
          </a:p>
        </p:txBody>
      </p:sp>
      <p:sp>
        <p:nvSpPr>
          <p:cNvPr id="9" name="Rectangle 8"/>
          <p:cNvSpPr/>
          <p:nvPr/>
        </p:nvSpPr>
        <p:spPr>
          <a:xfrm>
            <a:off x="411480" y="114300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14300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Format v3 reading (deletion vectors, new types); named branches and tags</a:t>
            </a:r>
          </a:p>
        </p:txBody>
      </p:sp>
      <p:sp>
        <p:nvSpPr>
          <p:cNvPr id="11" name="Rounded Rectangle 10"/>
          <p:cNvSpPr/>
          <p:nvPr/>
        </p:nvSpPr>
        <p:spPr>
          <a:xfrm>
            <a:off x="10543032" y="1271016"/>
            <a:ext cx="1051560" cy="246888"/>
          </a:xfrm>
          <a:prstGeom prst="roundRect">
            <a:avLst>
              <a:gd name="adj" fmla="val 50000"/>
            </a:avLst>
          </a:prstGeom>
          <a:solidFill>
            <a:srgbClr val="FFFFFF"/>
          </a:solidFill>
          <a:ln w="15875">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E87A1E"/>
                </a:solidFill>
                <a:latin typeface="Calibri"/>
              </a:rPr>
              <a:t>DESIGNED</a:t>
            </a:r>
          </a:p>
        </p:txBody>
      </p:sp>
      <p:sp>
        <p:nvSpPr>
          <p:cNvPr id="12" name="Rectangle 11"/>
          <p:cNvSpPr/>
          <p:nvPr/>
        </p:nvSpPr>
        <p:spPr>
          <a:xfrm>
            <a:off x="411480" y="169164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21208" y="1691640"/>
            <a:ext cx="9902952" cy="512064"/>
          </a:xfrm>
          <a:prstGeom prst="rect">
            <a:avLst/>
          </a:prstGeom>
          <a:noFill/>
        </p:spPr>
        <p:txBody>
          <a:bodyPr wrap="square" lIns="45720" rIns="45720" tIns="27432" bIns="27432" anchor="ctr">
            <a:spAutoFit/>
          </a:bodyPr>
          <a:lstStyle/>
          <a:p>
            <a:pPr algn="l">
              <a:lnSpc>
                <a:spcPct val="105000"/>
              </a:lnSpc>
            </a:pPr>
            <a:r>
              <a:rPr sz="1300" b="0" i="1">
                <a:solidFill>
                  <a:srgbClr val="1C2433"/>
                </a:solidFill>
                <a:latin typeface="Calibri"/>
              </a:rPr>
              <a:t>Make a pack</a:t>
            </a:r>
            <a:r>
              <a:rPr sz="1300" b="0" i="0">
                <a:solidFill>
                  <a:srgbClr val="1C2433"/>
                </a:solidFill>
                <a:latin typeface="Calibri"/>
              </a:rPr>
              <a:t> button for </a:t>
            </a:r>
            <a:r>
              <a:rPr sz="1200" b="0" i="0">
                <a:solidFill>
                  <a:srgbClr val="0E7C86"/>
                </a:solidFill>
                <a:latin typeface="Consolas"/>
              </a:rPr>
              <a:t>iceberg-external</a:t>
            </a:r>
            <a:r>
              <a:rPr sz="1300" b="0" i="0">
                <a:solidFill>
                  <a:srgbClr val="1C2433"/>
                </a:solidFill>
                <a:latin typeface="Calibri"/>
              </a:rPr>
              <a:t> in Admin → Connectors (the two commands work today)</a:t>
            </a:r>
          </a:p>
        </p:txBody>
      </p:sp>
      <p:sp>
        <p:nvSpPr>
          <p:cNvPr id="14" name="Rounded Rectangle 13"/>
          <p:cNvSpPr/>
          <p:nvPr/>
        </p:nvSpPr>
        <p:spPr>
          <a:xfrm>
            <a:off x="10543032" y="1819656"/>
            <a:ext cx="1051560" cy="246888"/>
          </a:xfrm>
          <a:prstGeom prst="roundRect">
            <a:avLst>
              <a:gd name="adj" fmla="val 50000"/>
            </a:avLst>
          </a:prstGeom>
          <a:solidFill>
            <a:srgbClr val="FFFFFF"/>
          </a:solidFill>
          <a:ln w="15875">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E87A1E"/>
                </a:solidFill>
                <a:latin typeface="Calibri"/>
              </a:rPr>
              <a:t>DESIGNED</a:t>
            </a:r>
          </a:p>
        </p:txBody>
      </p:sp>
      <p:sp>
        <p:nvSpPr>
          <p:cNvPr id="15" name="Rectangle 14"/>
          <p:cNvSpPr/>
          <p:nvPr/>
        </p:nvSpPr>
        <p:spPr>
          <a:xfrm>
            <a:off x="411480" y="224028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21208" y="224028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VaR sharding across a cluster of Drishti servers (scatter-gather of partial vectors), on either format</a:t>
            </a:r>
          </a:p>
        </p:txBody>
      </p:sp>
      <p:sp>
        <p:nvSpPr>
          <p:cNvPr id="17" name="Rounded Rectangle 16"/>
          <p:cNvSpPr/>
          <p:nvPr/>
        </p:nvSpPr>
        <p:spPr>
          <a:xfrm>
            <a:off x="10543032" y="2368296"/>
            <a:ext cx="1051560" cy="246888"/>
          </a:xfrm>
          <a:prstGeom prst="roundRect">
            <a:avLst>
              <a:gd name="adj" fmla="val 50000"/>
            </a:avLst>
          </a:prstGeom>
          <a:solidFill>
            <a:srgbClr val="FFFFFF"/>
          </a:solidFill>
          <a:ln w="15875">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E87A1E"/>
                </a:solidFill>
                <a:latin typeface="Calibri"/>
              </a:rPr>
              <a:t>DESIGNED</a:t>
            </a:r>
          </a:p>
        </p:txBody>
      </p:sp>
      <p:sp>
        <p:nvSpPr>
          <p:cNvPr id="18" name="Rectangle 17"/>
          <p:cNvSpPr/>
          <p:nvPr/>
        </p:nvSpPr>
        <p:spPr>
          <a:xfrm>
            <a:off x="411480" y="278892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21208" y="278892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Iceberg plugin: </a:t>
            </a:r>
            <a:r>
              <a:rPr sz="1200" b="0" i="0">
                <a:solidFill>
                  <a:srgbClr val="0E7C86"/>
                </a:solidFill>
                <a:latin typeface="Consolas"/>
              </a:rPr>
              <a:t>vectors()</a:t>
            </a:r>
            <a:r>
              <a:rPr sz="1300" b="0" i="0">
                <a:solidFill>
                  <a:srgbClr val="1C2433"/>
                </a:solidFill>
                <a:latin typeface="Calibri"/>
              </a:rPr>
              <a:t> for VaR and exposure, </a:t>
            </a:r>
            <a:r>
              <a:rPr sz="1200" b="0" i="0">
                <a:solidFill>
                  <a:srgbClr val="0E7C86"/>
                </a:solidFill>
                <a:latin typeface="Consolas"/>
              </a:rPr>
              <a:t>documents()</a:t>
            </a:r>
            <a:r>
              <a:rPr sz="1300" b="0" i="0">
                <a:solidFill>
                  <a:srgbClr val="1C2433"/>
                </a:solidFill>
                <a:latin typeface="Calibri"/>
              </a:rPr>
              <a:t>, </a:t>
            </a:r>
            <a:r>
              <a:rPr sz="1200" b="0" i="0">
                <a:solidFill>
                  <a:srgbClr val="0E7C86"/>
                </a:solidFill>
                <a:latin typeface="Consolas"/>
              </a:rPr>
              <a:t>tableIdentity()</a:t>
            </a:r>
            <a:r>
              <a:rPr sz="1300" b="0" i="0">
                <a:solidFill>
                  <a:srgbClr val="1C2433"/>
                </a:solidFill>
                <a:latin typeface="Calibri"/>
              </a:rPr>
              <a:t>, </a:t>
            </a:r>
            <a:r>
              <a:rPr sz="1200" b="0" i="0">
                <a:solidFill>
                  <a:srgbClr val="0E7C86"/>
                </a:solidFill>
                <a:latin typeface="Consolas"/>
              </a:rPr>
              <a:t>inventory()</a:t>
            </a:r>
          </a:p>
        </p:txBody>
      </p:sp>
      <p:sp>
        <p:nvSpPr>
          <p:cNvPr id="20" name="Rounded Rectangle 19"/>
          <p:cNvSpPr/>
          <p:nvPr/>
        </p:nvSpPr>
        <p:spPr>
          <a:xfrm>
            <a:off x="10543032" y="2916936"/>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1" name="Rectangle 20"/>
          <p:cNvSpPr/>
          <p:nvPr/>
        </p:nvSpPr>
        <p:spPr>
          <a:xfrm>
            <a:off x="411480" y="333756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521208" y="333756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Official VaR and exposure results published to Iceberg (and to </a:t>
            </a:r>
            <a:r>
              <a:rPr sz="1200" b="0" i="0">
                <a:solidFill>
                  <a:srgbClr val="0E7C86"/>
                </a:solidFill>
                <a:latin typeface="Consolas"/>
              </a:rPr>
              <a:t>s3://</a:t>
            </a:r>
            <a:r>
              <a:rPr sz="1300" b="0" i="0">
                <a:solidFill>
                  <a:srgbClr val="1C2433"/>
                </a:solidFill>
                <a:latin typeface="Calibri"/>
              </a:rPr>
              <a:t> at all)</a:t>
            </a:r>
          </a:p>
        </p:txBody>
      </p:sp>
      <p:sp>
        <p:nvSpPr>
          <p:cNvPr id="23" name="Rounded Rectangle 22"/>
          <p:cNvSpPr/>
          <p:nvPr/>
        </p:nvSpPr>
        <p:spPr>
          <a:xfrm>
            <a:off x="10543032" y="3465576"/>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4" name="Rectangle 23"/>
          <p:cNvSpPr/>
          <p:nvPr/>
        </p:nvSpPr>
        <p:spPr>
          <a:xfrm>
            <a:off x="411480" y="3886200"/>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521208" y="388620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AWS scripts for an Iceberg lake: load, backfill, maintain, lifecycle, alarms, report</a:t>
            </a:r>
          </a:p>
        </p:txBody>
      </p:sp>
      <p:sp>
        <p:nvSpPr>
          <p:cNvPr id="26" name="Rounded Rectangle 25"/>
          <p:cNvSpPr/>
          <p:nvPr/>
        </p:nvSpPr>
        <p:spPr>
          <a:xfrm>
            <a:off x="10543032" y="4014215"/>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7" name="Rectangle 26"/>
          <p:cNvSpPr/>
          <p:nvPr/>
        </p:nvSpPr>
        <p:spPr>
          <a:xfrm>
            <a:off x="411480" y="4434840"/>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521208" y="4434840"/>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Amazon S3 Tables and the Glue Data Catalog API as catalogs (REST endpoint already built)</a:t>
            </a:r>
          </a:p>
        </p:txBody>
      </p:sp>
      <p:sp>
        <p:nvSpPr>
          <p:cNvPr id="29" name="Rounded Rectangle 28"/>
          <p:cNvSpPr/>
          <p:nvPr/>
        </p:nvSpPr>
        <p:spPr>
          <a:xfrm>
            <a:off x="10543032" y="4562855"/>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30" name="Rectangle 29"/>
          <p:cNvSpPr/>
          <p:nvPr/>
        </p:nvSpPr>
        <p:spPr>
          <a:xfrm>
            <a:off x="411480" y="4983479"/>
            <a:ext cx="11365992" cy="512064"/>
          </a:xfrm>
          <a:prstGeom prst="rect">
            <a:avLst/>
          </a:prstGeom>
          <a:solidFill>
            <a:srgbClr val="FFFFFF"/>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1" name="TextBox 30"/>
          <p:cNvSpPr txBox="1"/>
          <p:nvPr/>
        </p:nvSpPr>
        <p:spPr>
          <a:xfrm>
            <a:off x="521208" y="4983479"/>
            <a:ext cx="9902952" cy="512064"/>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Orphan file removal; Admin → Lakes for Iceberg; the 7-year floor for Iceberg risk tables</a:t>
            </a:r>
          </a:p>
        </p:txBody>
      </p:sp>
      <p:sp>
        <p:nvSpPr>
          <p:cNvPr id="32" name="Rounded Rectangle 31"/>
          <p:cNvSpPr/>
          <p:nvPr/>
        </p:nvSpPr>
        <p:spPr>
          <a:xfrm>
            <a:off x="10543032" y="5111495"/>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33" name="Rectangle 32"/>
          <p:cNvSpPr/>
          <p:nvPr/>
        </p:nvSpPr>
        <p:spPr>
          <a:xfrm>
            <a:off x="411480" y="5532119"/>
            <a:ext cx="11365992" cy="512064"/>
          </a:xfrm>
          <a:prstGeom prst="rect">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TextBox 33"/>
          <p:cNvSpPr txBox="1"/>
          <p:nvPr/>
        </p:nvSpPr>
        <p:spPr>
          <a:xfrm>
            <a:off x="521208" y="5532119"/>
            <a:ext cx="9902952" cy="512064"/>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lake build --format iceberg</a:t>
            </a:r>
            <a:r>
              <a:rPr sz="1300" b="0" i="0">
                <a:solidFill>
                  <a:srgbClr val="1C2433"/>
                </a:solidFill>
                <a:latin typeface="Calibri"/>
              </a:rPr>
              <a:t> for any pack; Iceberg → Delta conversion</a:t>
            </a:r>
          </a:p>
        </p:txBody>
      </p:sp>
      <p:sp>
        <p:nvSpPr>
          <p:cNvPr id="35" name="Rounded Rectangle 34"/>
          <p:cNvSpPr/>
          <p:nvPr/>
        </p:nvSpPr>
        <p:spPr>
          <a:xfrm>
            <a:off x="10543032" y="5660135"/>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06</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Deploying on AWS with Iceberg</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The Delta deck's twelve setup steps, which are shared, which need an Iceberg variant; the catalog choice; IAM, KMS, the network, EFS and Drishti*net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Setup at a glance: steps 0 to 11, for an Iceberg lake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31</a:t>
            </a:r>
          </a:p>
        </p:txBody>
      </p:sp>
      <p:sp>
        <p:nvSpPr>
          <p:cNvPr id="9" name="Rounded Rectangle 8"/>
          <p:cNvSpPr/>
          <p:nvPr/>
        </p:nvSpPr>
        <p:spPr>
          <a:xfrm>
            <a:off x="411480" y="1115568"/>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Oval 9"/>
          <p:cNvSpPr/>
          <p:nvPr/>
        </p:nvSpPr>
        <p:spPr>
          <a:xfrm>
            <a:off x="521208" y="123444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234440"/>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0</a:t>
            </a:r>
          </a:p>
        </p:txBody>
      </p:sp>
      <p:sp>
        <p:nvSpPr>
          <p:cNvPr id="12" name="TextBox 11"/>
          <p:cNvSpPr txBox="1"/>
          <p:nvPr/>
        </p:nvSpPr>
        <p:spPr>
          <a:xfrm>
            <a:off x="1051560" y="1207008"/>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Prerequisites</a:t>
            </a:r>
          </a:p>
        </p:txBody>
      </p:sp>
      <p:sp>
        <p:nvSpPr>
          <p:cNvPr id="13" name="TextBox 12"/>
          <p:cNvSpPr txBox="1"/>
          <p:nvPr/>
        </p:nvSpPr>
        <p:spPr>
          <a:xfrm>
            <a:off x="521208" y="1755648"/>
            <a:ext cx="2478024" cy="612647"/>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VPC, S3 endpoint, EFS, KMS, ECS, ALB; plus a Glue endpoint if Glue</a:t>
            </a:r>
          </a:p>
        </p:txBody>
      </p:sp>
      <p:sp>
        <p:nvSpPr>
          <p:cNvPr id="14" name="Rounded Rectangle 13"/>
          <p:cNvSpPr/>
          <p:nvPr/>
        </p:nvSpPr>
        <p:spPr>
          <a:xfrm>
            <a:off x="1920240" y="2350008"/>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5" name="Rounded Rectangle 14"/>
          <p:cNvSpPr/>
          <p:nvPr/>
        </p:nvSpPr>
        <p:spPr>
          <a:xfrm>
            <a:off x="3273552" y="1115568"/>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Oval 15"/>
          <p:cNvSpPr/>
          <p:nvPr/>
        </p:nvSpPr>
        <p:spPr>
          <a:xfrm>
            <a:off x="3383280" y="123444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1234440"/>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1</a:t>
            </a:r>
          </a:p>
        </p:txBody>
      </p:sp>
      <p:sp>
        <p:nvSpPr>
          <p:cNvPr id="18" name="TextBox 17"/>
          <p:cNvSpPr txBox="1"/>
          <p:nvPr/>
        </p:nvSpPr>
        <p:spPr>
          <a:xfrm>
            <a:off x="3913632" y="1207008"/>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Settings</a:t>
            </a:r>
          </a:p>
        </p:txBody>
      </p:sp>
      <p:sp>
        <p:nvSpPr>
          <p:cNvPr id="19" name="TextBox 18"/>
          <p:cNvSpPr txBox="1"/>
          <p:nvPr/>
        </p:nvSpPr>
        <p:spPr>
          <a:xfrm>
            <a:off x="3383280" y="1755648"/>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deploy/aws/env</a:t>
            </a:r>
            <a:r>
              <a:rPr sz="1150" b="0" i="0">
                <a:solidFill>
                  <a:srgbClr val="1C2433"/>
                </a:solidFill>
                <a:latin typeface="Calibri"/>
              </a:rPr>
              <a:t>; an Iceberg tables file</a:t>
            </a:r>
          </a:p>
        </p:txBody>
      </p:sp>
      <p:sp>
        <p:nvSpPr>
          <p:cNvPr id="20" name="Rounded Rectangle 19"/>
          <p:cNvSpPr/>
          <p:nvPr/>
        </p:nvSpPr>
        <p:spPr>
          <a:xfrm>
            <a:off x="4782312" y="2350008"/>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1" name="Rounded Rectangle 20"/>
          <p:cNvSpPr/>
          <p:nvPr/>
        </p:nvSpPr>
        <p:spPr>
          <a:xfrm>
            <a:off x="6135624" y="1115568"/>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Oval 21"/>
          <p:cNvSpPr/>
          <p:nvPr/>
        </p:nvSpPr>
        <p:spPr>
          <a:xfrm>
            <a:off x="6245352" y="123444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45352" y="1234440"/>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2</a:t>
            </a:r>
          </a:p>
        </p:txBody>
      </p:sp>
      <p:sp>
        <p:nvSpPr>
          <p:cNvPr id="24" name="TextBox 23"/>
          <p:cNvSpPr txBox="1"/>
          <p:nvPr/>
        </p:nvSpPr>
        <p:spPr>
          <a:xfrm>
            <a:off x="6775704" y="1207008"/>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Buckets</a:t>
            </a:r>
          </a:p>
        </p:txBody>
      </p:sp>
      <p:sp>
        <p:nvSpPr>
          <p:cNvPr id="25" name="TextBox 24"/>
          <p:cNvSpPr txBox="1"/>
          <p:nvPr/>
        </p:nvSpPr>
        <p:spPr>
          <a:xfrm>
            <a:off x="6245352" y="1755648"/>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setup-buckets.sh</a:t>
            </a:r>
            <a:r>
              <a:rPr sz="1150" b="0" i="0">
                <a:solidFill>
                  <a:srgbClr val="1C2433"/>
                </a:solidFill>
                <a:latin typeface="Calibri"/>
              </a:rPr>
              <a:t>: unchanged</a:t>
            </a:r>
          </a:p>
        </p:txBody>
      </p:sp>
      <p:sp>
        <p:nvSpPr>
          <p:cNvPr id="26" name="Rounded Rectangle 25"/>
          <p:cNvSpPr/>
          <p:nvPr/>
        </p:nvSpPr>
        <p:spPr>
          <a:xfrm>
            <a:off x="7644383" y="2350008"/>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7" name="Rounded Rectangle 26"/>
          <p:cNvSpPr/>
          <p:nvPr/>
        </p:nvSpPr>
        <p:spPr>
          <a:xfrm>
            <a:off x="8997696" y="1115568"/>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Oval 27"/>
          <p:cNvSpPr/>
          <p:nvPr/>
        </p:nvSpPr>
        <p:spPr>
          <a:xfrm>
            <a:off x="9107424" y="1234440"/>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07424" y="1234440"/>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3</a:t>
            </a:r>
          </a:p>
        </p:txBody>
      </p:sp>
      <p:sp>
        <p:nvSpPr>
          <p:cNvPr id="30" name="TextBox 29"/>
          <p:cNvSpPr txBox="1"/>
          <p:nvPr/>
        </p:nvSpPr>
        <p:spPr>
          <a:xfrm>
            <a:off x="9637776" y="1207008"/>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IAM</a:t>
            </a:r>
          </a:p>
        </p:txBody>
      </p:sp>
      <p:sp>
        <p:nvSpPr>
          <p:cNvPr id="31" name="TextBox 30"/>
          <p:cNvSpPr txBox="1"/>
          <p:nvPr/>
        </p:nvSpPr>
        <p:spPr>
          <a:xfrm>
            <a:off x="9107424" y="1755648"/>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setup-iam.sh</a:t>
            </a:r>
            <a:r>
              <a:rPr sz="1150" b="0" i="0">
                <a:solidFill>
                  <a:srgbClr val="1C2433"/>
                </a:solidFill>
                <a:latin typeface="Calibri"/>
              </a:rPr>
              <a:t>; Glue rights if a catalog</a:t>
            </a:r>
          </a:p>
        </p:txBody>
      </p:sp>
      <p:sp>
        <p:nvSpPr>
          <p:cNvPr id="32" name="Rounded Rectangle 31"/>
          <p:cNvSpPr/>
          <p:nvPr/>
        </p:nvSpPr>
        <p:spPr>
          <a:xfrm>
            <a:off x="10506455" y="2350008"/>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33" name="Rounded Rectangle 32"/>
          <p:cNvSpPr/>
          <p:nvPr/>
        </p:nvSpPr>
        <p:spPr>
          <a:xfrm>
            <a:off x="411480" y="2798063"/>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Oval 33"/>
          <p:cNvSpPr/>
          <p:nvPr/>
        </p:nvSpPr>
        <p:spPr>
          <a:xfrm>
            <a:off x="521208" y="2916935"/>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 y="2916935"/>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4</a:t>
            </a:r>
          </a:p>
        </p:txBody>
      </p:sp>
      <p:sp>
        <p:nvSpPr>
          <p:cNvPr id="36" name="TextBox 35"/>
          <p:cNvSpPr txBox="1"/>
          <p:nvPr/>
        </p:nvSpPr>
        <p:spPr>
          <a:xfrm>
            <a:off x="1051560" y="2889503"/>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Prove commits safe</a:t>
            </a:r>
          </a:p>
        </p:txBody>
      </p:sp>
      <p:sp>
        <p:nvSpPr>
          <p:cNvPr id="37" name="TextBox 36"/>
          <p:cNvSpPr txBox="1"/>
          <p:nvPr/>
        </p:nvSpPr>
        <p:spPr>
          <a:xfrm>
            <a:off x="521208" y="3438144"/>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check-conditional-writes.sh</a:t>
            </a:r>
            <a:r>
              <a:rPr sz="1150" b="0" i="0">
                <a:solidFill>
                  <a:srgbClr val="1C2433"/>
                </a:solidFill>
                <a:latin typeface="Calibri"/>
              </a:rPr>
              <a:t>: unchanged</a:t>
            </a:r>
          </a:p>
        </p:txBody>
      </p:sp>
      <p:sp>
        <p:nvSpPr>
          <p:cNvPr id="38" name="Rounded Rectangle 37"/>
          <p:cNvSpPr/>
          <p:nvPr/>
        </p:nvSpPr>
        <p:spPr>
          <a:xfrm>
            <a:off x="1920240" y="4032503"/>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39" name="Rounded Rectangle 38"/>
          <p:cNvSpPr/>
          <p:nvPr/>
        </p:nvSpPr>
        <p:spPr>
          <a:xfrm>
            <a:off x="3273552" y="2798063"/>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Oval 39"/>
          <p:cNvSpPr/>
          <p:nvPr/>
        </p:nvSpPr>
        <p:spPr>
          <a:xfrm>
            <a:off x="3383280" y="2916935"/>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83280" y="2916935"/>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5</a:t>
            </a:r>
          </a:p>
        </p:txBody>
      </p:sp>
      <p:sp>
        <p:nvSpPr>
          <p:cNvPr id="42" name="TextBox 41"/>
          <p:cNvSpPr txBox="1"/>
          <p:nvPr/>
        </p:nvSpPr>
        <p:spPr>
          <a:xfrm>
            <a:off x="3913632" y="2889503"/>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Storage tiers</a:t>
            </a:r>
          </a:p>
        </p:txBody>
      </p:sp>
      <p:sp>
        <p:nvSpPr>
          <p:cNvPr id="43" name="TextBox 42"/>
          <p:cNvSpPr txBox="1"/>
          <p:nvPr/>
        </p:nvSpPr>
        <p:spPr>
          <a:xfrm>
            <a:off x="3383280" y="3438144"/>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setup-lifecycle.sh</a:t>
            </a:r>
            <a:r>
              <a:rPr sz="1150" b="0" i="0">
                <a:solidFill>
                  <a:srgbClr val="1C2433"/>
                </a:solidFill>
                <a:latin typeface="Calibri"/>
              </a:rPr>
              <a:t>: Iceberg prefixes</a:t>
            </a:r>
          </a:p>
        </p:txBody>
      </p:sp>
      <p:sp>
        <p:nvSpPr>
          <p:cNvPr id="44" name="Rounded Rectangle 43"/>
          <p:cNvSpPr/>
          <p:nvPr/>
        </p:nvSpPr>
        <p:spPr>
          <a:xfrm>
            <a:off x="4782312" y="4032503"/>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45" name="Rounded Rectangle 44"/>
          <p:cNvSpPr/>
          <p:nvPr/>
        </p:nvSpPr>
        <p:spPr>
          <a:xfrm>
            <a:off x="6135624" y="2798063"/>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Oval 45"/>
          <p:cNvSpPr/>
          <p:nvPr/>
        </p:nvSpPr>
        <p:spPr>
          <a:xfrm>
            <a:off x="6245352" y="2916935"/>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45352" y="2916935"/>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6</a:t>
            </a:r>
          </a:p>
        </p:txBody>
      </p:sp>
      <p:sp>
        <p:nvSpPr>
          <p:cNvPr id="48" name="TextBox 47"/>
          <p:cNvSpPr txBox="1"/>
          <p:nvPr/>
        </p:nvSpPr>
        <p:spPr>
          <a:xfrm>
            <a:off x="6775704" y="2889503"/>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EFS access points</a:t>
            </a:r>
          </a:p>
        </p:txBody>
      </p:sp>
      <p:sp>
        <p:nvSpPr>
          <p:cNvPr id="49" name="TextBox 48"/>
          <p:cNvSpPr txBox="1"/>
          <p:nvPr/>
        </p:nvSpPr>
        <p:spPr>
          <a:xfrm>
            <a:off x="6245352" y="3438144"/>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ecs/setup-efs.sh</a:t>
            </a:r>
            <a:r>
              <a:rPr sz="1150" b="0" i="0">
                <a:solidFill>
                  <a:srgbClr val="1C2433"/>
                </a:solidFill>
                <a:latin typeface="Calibri"/>
              </a:rPr>
              <a:t>: unchanged</a:t>
            </a:r>
          </a:p>
        </p:txBody>
      </p:sp>
      <p:sp>
        <p:nvSpPr>
          <p:cNvPr id="50" name="Rounded Rectangle 49"/>
          <p:cNvSpPr/>
          <p:nvPr/>
        </p:nvSpPr>
        <p:spPr>
          <a:xfrm>
            <a:off x="7644383" y="4032503"/>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51" name="Rounded Rectangle 50"/>
          <p:cNvSpPr/>
          <p:nvPr/>
        </p:nvSpPr>
        <p:spPr>
          <a:xfrm>
            <a:off x="8997696" y="2798063"/>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Oval 51"/>
          <p:cNvSpPr/>
          <p:nvPr/>
        </p:nvSpPr>
        <p:spPr>
          <a:xfrm>
            <a:off x="9107424" y="2916935"/>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107424" y="2916935"/>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7</a:t>
            </a:r>
          </a:p>
        </p:txBody>
      </p:sp>
      <p:sp>
        <p:nvSpPr>
          <p:cNvPr id="54" name="TextBox 53"/>
          <p:cNvSpPr txBox="1"/>
          <p:nvPr/>
        </p:nvSpPr>
        <p:spPr>
          <a:xfrm>
            <a:off x="9637776" y="2889503"/>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Cloud Map seeds</a:t>
            </a:r>
          </a:p>
        </p:txBody>
      </p:sp>
      <p:sp>
        <p:nvSpPr>
          <p:cNvPr id="55" name="TextBox 54"/>
          <p:cNvSpPr txBox="1"/>
          <p:nvPr/>
        </p:nvSpPr>
        <p:spPr>
          <a:xfrm>
            <a:off x="9107424" y="3438144"/>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ecs/setup-cloud-map.sh</a:t>
            </a:r>
            <a:r>
              <a:rPr sz="1150" b="0" i="0">
                <a:solidFill>
                  <a:srgbClr val="1C2433"/>
                </a:solidFill>
                <a:latin typeface="Calibri"/>
              </a:rPr>
              <a:t>: unchanged</a:t>
            </a:r>
          </a:p>
        </p:txBody>
      </p:sp>
      <p:sp>
        <p:nvSpPr>
          <p:cNvPr id="56" name="Rounded Rectangle 55"/>
          <p:cNvSpPr/>
          <p:nvPr/>
        </p:nvSpPr>
        <p:spPr>
          <a:xfrm>
            <a:off x="10506455" y="4032503"/>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57" name="Rounded Rectangle 56"/>
          <p:cNvSpPr/>
          <p:nvPr/>
        </p:nvSpPr>
        <p:spPr>
          <a:xfrm>
            <a:off x="411480" y="4480559"/>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Oval 57"/>
          <p:cNvSpPr/>
          <p:nvPr/>
        </p:nvSpPr>
        <p:spPr>
          <a:xfrm>
            <a:off x="521208" y="4599431"/>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21208" y="4599431"/>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8</a:t>
            </a:r>
          </a:p>
        </p:txBody>
      </p:sp>
      <p:sp>
        <p:nvSpPr>
          <p:cNvPr id="60" name="TextBox 59"/>
          <p:cNvSpPr txBox="1"/>
          <p:nvPr/>
        </p:nvSpPr>
        <p:spPr>
          <a:xfrm>
            <a:off x="1051560" y="4571999"/>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Images</a:t>
            </a:r>
          </a:p>
        </p:txBody>
      </p:sp>
      <p:sp>
        <p:nvSpPr>
          <p:cNvPr id="61" name="TextBox 60"/>
          <p:cNvSpPr txBox="1"/>
          <p:nvPr/>
        </p:nvSpPr>
        <p:spPr>
          <a:xfrm>
            <a:off x="521208" y="5120640"/>
            <a:ext cx="2478024" cy="612647"/>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the server image carries </a:t>
            </a:r>
            <a:r>
              <a:rPr sz="1050" b="0" i="0">
                <a:solidFill>
                  <a:srgbClr val="0E7C86"/>
                </a:solidFill>
                <a:latin typeface="Consolas"/>
              </a:rPr>
              <a:t>IcebergLoader</a:t>
            </a:r>
          </a:p>
        </p:txBody>
      </p:sp>
      <p:sp>
        <p:nvSpPr>
          <p:cNvPr id="62" name="Rounded Rectangle 61"/>
          <p:cNvSpPr/>
          <p:nvPr/>
        </p:nvSpPr>
        <p:spPr>
          <a:xfrm>
            <a:off x="1920240" y="5714999"/>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63" name="Rounded Rectangle 62"/>
          <p:cNvSpPr/>
          <p:nvPr/>
        </p:nvSpPr>
        <p:spPr>
          <a:xfrm>
            <a:off x="3273552" y="4480559"/>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Oval 63"/>
          <p:cNvSpPr/>
          <p:nvPr/>
        </p:nvSpPr>
        <p:spPr>
          <a:xfrm>
            <a:off x="3383280" y="4599431"/>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383280" y="4599431"/>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9</a:t>
            </a:r>
          </a:p>
        </p:txBody>
      </p:sp>
      <p:sp>
        <p:nvSpPr>
          <p:cNvPr id="66" name="TextBox 65"/>
          <p:cNvSpPr txBox="1"/>
          <p:nvPr/>
        </p:nvSpPr>
        <p:spPr>
          <a:xfrm>
            <a:off x="3913632" y="4571999"/>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Tasks, services</a:t>
            </a:r>
          </a:p>
        </p:txBody>
      </p:sp>
      <p:sp>
        <p:nvSpPr>
          <p:cNvPr id="67" name="TextBox 66"/>
          <p:cNvSpPr txBox="1"/>
          <p:nvPr/>
        </p:nvSpPr>
        <p:spPr>
          <a:xfrm>
            <a:off x="3383280" y="5120640"/>
            <a:ext cx="2478024" cy="612647"/>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ecs/register.sh</a:t>
            </a:r>
            <a:r>
              <a:rPr sz="1150" b="0" i="0">
                <a:solidFill>
                  <a:srgbClr val="1C2433"/>
                </a:solidFill>
                <a:latin typeface="Calibri"/>
              </a:rPr>
              <a:t> + </a:t>
            </a:r>
            <a:r>
              <a:rPr sz="1050" b="0" i="0">
                <a:solidFill>
                  <a:srgbClr val="0E7C86"/>
                </a:solidFill>
                <a:latin typeface="Consolas"/>
              </a:rPr>
              <a:t>DRISHTI_ICEBERG_ROOT</a:t>
            </a:r>
          </a:p>
        </p:txBody>
      </p:sp>
      <p:sp>
        <p:nvSpPr>
          <p:cNvPr id="68" name="Rounded Rectangle 67"/>
          <p:cNvSpPr/>
          <p:nvPr/>
        </p:nvSpPr>
        <p:spPr>
          <a:xfrm>
            <a:off x="4782312" y="5714999"/>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69" name="Rounded Rectangle 68"/>
          <p:cNvSpPr/>
          <p:nvPr/>
        </p:nvSpPr>
        <p:spPr>
          <a:xfrm>
            <a:off x="6135624" y="4480559"/>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Oval 69"/>
          <p:cNvSpPr/>
          <p:nvPr/>
        </p:nvSpPr>
        <p:spPr>
          <a:xfrm>
            <a:off x="6245352" y="4599431"/>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45352" y="4599431"/>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10</a:t>
            </a:r>
          </a:p>
        </p:txBody>
      </p:sp>
      <p:sp>
        <p:nvSpPr>
          <p:cNvPr id="72" name="TextBox 71"/>
          <p:cNvSpPr txBox="1"/>
          <p:nvPr/>
        </p:nvSpPr>
        <p:spPr>
          <a:xfrm>
            <a:off x="6775704" y="4571999"/>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First load</a:t>
            </a:r>
          </a:p>
        </p:txBody>
      </p:sp>
      <p:sp>
        <p:nvSpPr>
          <p:cNvPr id="73" name="TextBox 72"/>
          <p:cNvSpPr txBox="1"/>
          <p:nvPr/>
        </p:nvSpPr>
        <p:spPr>
          <a:xfrm>
            <a:off x="6245352" y="5120640"/>
            <a:ext cx="2478024" cy="612647"/>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an Iceberg </a:t>
            </a:r>
            <a:r>
              <a:rPr sz="1050" b="0" i="0">
                <a:solidFill>
                  <a:srgbClr val="0E7C86"/>
                </a:solidFill>
                <a:latin typeface="Consolas"/>
              </a:rPr>
              <a:t>load-day.sh</a:t>
            </a:r>
          </a:p>
        </p:txBody>
      </p:sp>
      <p:sp>
        <p:nvSpPr>
          <p:cNvPr id="74" name="Rounded Rectangle 73"/>
          <p:cNvSpPr/>
          <p:nvPr/>
        </p:nvSpPr>
        <p:spPr>
          <a:xfrm>
            <a:off x="7644383" y="5714999"/>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75" name="Rounded Rectangle 74"/>
          <p:cNvSpPr/>
          <p:nvPr/>
        </p:nvSpPr>
        <p:spPr>
          <a:xfrm>
            <a:off x="8997696" y="4480559"/>
            <a:ext cx="2697480" cy="1572768"/>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Oval 75"/>
          <p:cNvSpPr/>
          <p:nvPr/>
        </p:nvSpPr>
        <p:spPr>
          <a:xfrm>
            <a:off x="9107424" y="4599431"/>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9107424" y="4599431"/>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11</a:t>
            </a:r>
          </a:p>
        </p:txBody>
      </p:sp>
      <p:sp>
        <p:nvSpPr>
          <p:cNvPr id="78" name="TextBox 77"/>
          <p:cNvSpPr txBox="1"/>
          <p:nvPr/>
        </p:nvSpPr>
        <p:spPr>
          <a:xfrm>
            <a:off x="9637776" y="4571999"/>
            <a:ext cx="1965960"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Alarms and report</a:t>
            </a:r>
          </a:p>
        </p:txBody>
      </p:sp>
      <p:sp>
        <p:nvSpPr>
          <p:cNvPr id="79" name="TextBox 78"/>
          <p:cNvSpPr txBox="1"/>
          <p:nvPr/>
        </p:nvSpPr>
        <p:spPr>
          <a:xfrm>
            <a:off x="9107424" y="5120640"/>
            <a:ext cx="2478024" cy="612647"/>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Iceberg metrics: snapshots, manifests</a:t>
            </a:r>
          </a:p>
        </p:txBody>
      </p:sp>
      <p:sp>
        <p:nvSpPr>
          <p:cNvPr id="80" name="Rounded Rectangle 79"/>
          <p:cNvSpPr/>
          <p:nvPr/>
        </p:nvSpPr>
        <p:spPr>
          <a:xfrm>
            <a:off x="10506455" y="5714999"/>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catalog choice on AWS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32</a:t>
            </a:r>
          </a:p>
        </p:txBody>
      </p:sp>
      <p:sp>
        <p:nvSpPr>
          <p:cNvPr id="9" name="Rounded Rectangle 8"/>
          <p:cNvSpPr/>
          <p:nvPr/>
        </p:nvSpPr>
        <p:spPr>
          <a:xfrm>
            <a:off x="411480" y="1188720"/>
            <a:ext cx="3666744" cy="3794760"/>
          </a:xfrm>
          <a:prstGeom prst="roundRect">
            <a:avLst>
              <a:gd name="adj" fmla="val 5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Path-based tables in S3</a:t>
            </a:r>
          </a:p>
        </p:txBody>
      </p:sp>
      <p:sp>
        <p:nvSpPr>
          <p:cNvPr id="11" name="Rounded Rectangle 10"/>
          <p:cNvSpPr/>
          <p:nvPr/>
        </p:nvSpPr>
        <p:spPr>
          <a:xfrm>
            <a:off x="2889504" y="132588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2" name="TextBox 11"/>
          <p:cNvSpPr txBox="1"/>
          <p:nvPr/>
        </p:nvSpPr>
        <p:spPr>
          <a:xfrm>
            <a:off x="548640"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250" b="0" i="0">
                <a:solidFill>
                  <a:srgbClr val="E87A1E"/>
                </a:solidFill>
                <a:latin typeface="Calibri"/>
              </a:rPr>
              <a:t>•  </a:t>
            </a:r>
            <a:r>
              <a:rPr sz="1250" b="0" i="0">
                <a:solidFill>
                  <a:srgbClr val="1C2433"/>
                </a:solidFill>
                <a:latin typeface="Calibri"/>
              </a:rPr>
              <a:t>no catalog service: </a:t>
            </a:r>
            <a:r>
              <a:rPr sz="1150" b="0" i="0">
                <a:solidFill>
                  <a:srgbClr val="0E7C86"/>
                </a:solidFill>
                <a:latin typeface="Consolas"/>
              </a:rPr>
              <a:t>metadata/version-hint.text</a:t>
            </a:r>
            <a:r>
              <a:rPr sz="1250" b="0" i="0">
                <a:solidFill>
                  <a:srgbClr val="1C2433"/>
                </a:solidFill>
                <a:latin typeface="Calibri"/>
              </a:rPr>
              <a:t> in the table folder</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commits: conditional PUT, probe at first commit</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other engines read by naming the metadata file, or after registering the table in Glue</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best when</a:t>
            </a:r>
            <a:r>
              <a:rPr sz="1250" b="0" i="0">
                <a:solidFill>
                  <a:srgbClr val="1C2433"/>
                </a:solidFill>
                <a:latin typeface="Calibri"/>
              </a:rPr>
              <a:t> only Drishti writes and Drishti reads</a:t>
            </a:r>
          </a:p>
        </p:txBody>
      </p:sp>
      <p:sp>
        <p:nvSpPr>
          <p:cNvPr id="13" name="Rounded Rectangle 12"/>
          <p:cNvSpPr/>
          <p:nvPr/>
        </p:nvSpPr>
        <p:spPr>
          <a:xfrm>
            <a:off x="4261104" y="1188720"/>
            <a:ext cx="3666744" cy="3794760"/>
          </a:xfrm>
          <a:prstGeom prst="roundRect">
            <a:avLst>
              <a:gd name="adj" fmla="val 5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398264"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AWS Glue Data Catalog (Iceberg REST endpoint)</a:t>
            </a:r>
          </a:p>
        </p:txBody>
      </p:sp>
      <p:sp>
        <p:nvSpPr>
          <p:cNvPr id="15" name="Rounded Rectangle 14"/>
          <p:cNvSpPr/>
          <p:nvPr/>
        </p:nvSpPr>
        <p:spPr>
          <a:xfrm>
            <a:off x="6739128" y="132588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6" name="TextBox 15"/>
          <p:cNvSpPr txBox="1"/>
          <p:nvPr/>
        </p:nvSpPr>
        <p:spPr>
          <a:xfrm>
            <a:off x="4398264"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150" b="0" i="0">
                <a:solidFill>
                  <a:srgbClr val="E87A1E"/>
                </a:solidFill>
                <a:latin typeface="Calibri"/>
              </a:rPr>
              <a:t>•  </a:t>
            </a:r>
            <a:r>
              <a:rPr sz="1150" b="0" i="0">
                <a:solidFill>
                  <a:srgbClr val="0E7C86"/>
                </a:solidFill>
                <a:latin typeface="Consolas"/>
              </a:rPr>
              <a:t>catalog: rest</a:t>
            </a:r>
            <a:r>
              <a:rPr sz="1250" b="0" i="0">
                <a:solidFill>
                  <a:srgbClr val="1C2433"/>
                </a:solidFill>
                <a:latin typeface="Calibri"/>
              </a:rPr>
              <a:t>, SigV4 </a:t>
            </a:r>
            <a:r>
              <a:rPr sz="1150" b="0" i="0">
                <a:solidFill>
                  <a:srgbClr val="0E7C86"/>
                </a:solidFill>
                <a:latin typeface="Consolas"/>
              </a:rPr>
              <a:t>signing-name: glue</a:t>
            </a:r>
            <a:r>
              <a:rPr sz="1250" b="0" i="0">
                <a:solidFill>
                  <a:srgbClr val="1C2433"/>
                </a:solidFill>
                <a:latin typeface="Calibri"/>
              </a:rPr>
              <a:t> (client built; not yet run on AWS)</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commits through the catalog (409 retried); Athena, EMR, Redshift see the same tables</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IAM (and Lake Formation, if used) governs every table</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best when</a:t>
            </a:r>
            <a:r>
              <a:rPr sz="1250" b="0" i="0">
                <a:solidFill>
                  <a:srgbClr val="1C2433"/>
                </a:solidFill>
                <a:latin typeface="Calibri"/>
              </a:rPr>
              <a:t> Athena or Spark also read or write</a:t>
            </a:r>
          </a:p>
        </p:txBody>
      </p:sp>
      <p:sp>
        <p:nvSpPr>
          <p:cNvPr id="17" name="Rounded Rectangle 16"/>
          <p:cNvSpPr/>
          <p:nvPr/>
        </p:nvSpPr>
        <p:spPr>
          <a:xfrm>
            <a:off x="8110728" y="1188720"/>
            <a:ext cx="3666744" cy="3794760"/>
          </a:xfrm>
          <a:prstGeom prst="roundRect">
            <a:avLst>
              <a:gd name="adj" fmla="val 5000"/>
            </a:avLst>
          </a:prstGeom>
          <a:solidFill>
            <a:srgbClr val="F3F5F8"/>
          </a:solidFill>
          <a:ln w="12700">
            <a:solidFill>
              <a:srgbClr val="8A96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247888" y="1261872"/>
            <a:ext cx="2295144" cy="68580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Amazon S3 Tables (table buckets)</a:t>
            </a:r>
          </a:p>
        </p:txBody>
      </p:sp>
      <p:sp>
        <p:nvSpPr>
          <p:cNvPr id="19" name="Rounded Rectangle 18"/>
          <p:cNvSpPr/>
          <p:nvPr/>
        </p:nvSpPr>
        <p:spPr>
          <a:xfrm>
            <a:off x="10588752" y="132588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20" name="TextBox 19"/>
          <p:cNvSpPr txBox="1"/>
          <p:nvPr/>
        </p:nvSpPr>
        <p:spPr>
          <a:xfrm>
            <a:off x="8247888" y="2011680"/>
            <a:ext cx="3392424" cy="2926080"/>
          </a:xfrm>
          <a:prstGeom prst="rect">
            <a:avLst/>
          </a:prstGeom>
          <a:noFill/>
        </p:spPr>
        <p:txBody>
          <a:bodyPr wrap="square" lIns="45720" rIns="45720" tIns="27432" bIns="27432" anchor="t">
            <a:spAutoFit/>
          </a:bodyPr>
          <a:lstStyle/>
          <a:p>
            <a:pPr algn="l">
              <a:lnSpc>
                <a:spcPct val="105000"/>
              </a:lnSpc>
              <a:spcAft>
                <a:spcPts val="600"/>
              </a:spcAft>
            </a:pPr>
            <a:r>
              <a:rPr sz="1250" b="0" i="0">
                <a:solidFill>
                  <a:srgbClr val="E87A1E"/>
                </a:solidFill>
                <a:latin typeface="Calibri"/>
              </a:rPr>
              <a:t>•  </a:t>
            </a:r>
            <a:r>
              <a:rPr sz="1250" b="0" i="0">
                <a:solidFill>
                  <a:srgbClr val="1C2433"/>
                </a:solidFill>
                <a:latin typeface="Calibri"/>
              </a:rPr>
              <a:t>not in Drishti's code or docs</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exposes an Iceberg REST endpoint with SigV4: the likely route through the existing REST client</a:t>
            </a:r>
          </a:p>
          <a:p>
            <a:pPr algn="l">
              <a:lnSpc>
                <a:spcPct val="105000"/>
              </a:lnSpc>
              <a:spcAft>
                <a:spcPts val="600"/>
              </a:spcAft>
            </a:pPr>
            <a:r>
              <a:rPr sz="1250" b="0" i="0">
                <a:solidFill>
                  <a:srgbClr val="E87A1E"/>
                </a:solidFill>
                <a:latin typeface="Calibri"/>
              </a:rPr>
              <a:t>•  </a:t>
            </a:r>
            <a:r>
              <a:rPr sz="1250" b="0" i="0">
                <a:solidFill>
                  <a:srgbClr val="1C2433"/>
                </a:solidFill>
                <a:latin typeface="Calibri"/>
              </a:rPr>
              <a:t>AWS runs compaction and snapshot management itself</a:t>
            </a:r>
          </a:p>
          <a:p>
            <a:pPr algn="l">
              <a:lnSpc>
                <a:spcPct val="105000"/>
              </a:lnSpc>
              <a:spcAft>
                <a:spcPts val="600"/>
              </a:spcAft>
            </a:pPr>
            <a:r>
              <a:rPr sz="1250" b="0" i="0">
                <a:solidFill>
                  <a:srgbClr val="E87A1E"/>
                </a:solidFill>
                <a:latin typeface="Calibri"/>
              </a:rPr>
              <a:t>•  </a:t>
            </a:r>
            <a:r>
              <a:rPr sz="1250" b="1" i="0">
                <a:solidFill>
                  <a:srgbClr val="1C2433"/>
                </a:solidFill>
                <a:latin typeface="Calibri"/>
              </a:rPr>
              <a:t>prove first</a:t>
            </a:r>
            <a:r>
              <a:rPr sz="1250" b="0" i="0">
                <a:solidFill>
                  <a:srgbClr val="1C2433"/>
                </a:solidFill>
                <a:latin typeface="Calibri"/>
              </a:rPr>
              <a:t> in a development account</a:t>
            </a:r>
          </a:p>
        </p:txBody>
      </p:sp>
      <p:sp>
        <p:nvSpPr>
          <p:cNvPr id="21" name="Rounded Rectangle 20"/>
          <p:cNvSpPr/>
          <p:nvPr/>
        </p:nvSpPr>
        <p:spPr>
          <a:xfrm>
            <a:off x="411480" y="5166360"/>
            <a:ext cx="11365992" cy="118872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Rectangle 21"/>
          <p:cNvSpPr/>
          <p:nvPr/>
        </p:nvSpPr>
        <p:spPr>
          <a:xfrm>
            <a:off x="411480" y="5166360"/>
            <a:ext cx="82296" cy="1188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640080" y="5221224"/>
            <a:ext cx="11000232" cy="107899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Recommendation (PROPOSED):</a:t>
            </a:r>
            <a:r>
              <a:rPr sz="1300" b="0" i="0">
                <a:solidFill>
                  <a:srgbClr val="1C2433"/>
                </a:solidFill>
                <a:latin typeface="Calibri"/>
              </a:rPr>
              <a:t> start path-based (built, no extra service, the same commit safety as Delta). Move a table behind Glue's REST endpoint when another engine must write it or Athena must query it; the connector's name, kinds and packs do not change, only </a:t>
            </a:r>
            <a:r>
              <a:rPr sz="1200" b="0" i="0">
                <a:solidFill>
                  <a:srgbClr val="0E7C86"/>
                </a:solidFill>
                <a:latin typeface="Consolas"/>
              </a:rPr>
              <a:t>catalog</a:t>
            </a:r>
            <a:r>
              <a:rPr sz="1300" b="0" i="0">
                <a:solidFill>
                  <a:srgbClr val="1C2433"/>
                </a:solidFill>
                <a:latin typeface="Calibri"/>
              </a:rPr>
              <a:t>, </a:t>
            </a:r>
            <a:r>
              <a:rPr sz="1200" b="0" i="0">
                <a:solidFill>
                  <a:srgbClr val="0E7C86"/>
                </a:solidFill>
                <a:latin typeface="Consolas"/>
              </a:rPr>
              <a:t>uri</a:t>
            </a:r>
            <a:r>
              <a:rPr sz="1300" b="0" i="0">
                <a:solidFill>
                  <a:srgbClr val="1C2433"/>
                </a:solidFill>
                <a:latin typeface="Calibri"/>
              </a:rPr>
              <a:t> and the signing settings.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IAM, KMS and the network for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33</a:t>
            </a:r>
          </a:p>
        </p:txBody>
      </p:sp>
      <p:graphicFrame>
        <p:nvGraphicFramePr>
          <p:cNvPr id="9" name="Table 8"/>
          <p:cNvGraphicFramePr>
            <a:graphicFrameLocks noGrp="1"/>
          </p:cNvGraphicFramePr>
          <p:nvPr/>
        </p:nvGraphicFramePr>
        <p:xfrm>
          <a:off x="411480" y="1143000"/>
          <a:ext cx="11365992" cy="2891332"/>
        </p:xfrm>
        <a:graphic>
          <a:graphicData uri="http://schemas.openxmlformats.org/drawingml/2006/table">
            <a:tbl>
              <a:tblPr firstRow="1" bandRow="1">
                <a:tableStyleId>{5940675A-B579-460E-94D1-54222C63F5DA}</a:tableStyleId>
              </a:tblPr>
              <a:tblGrid>
                <a:gridCol w="1737360"/>
                <a:gridCol w="3840480"/>
                <a:gridCol w="5788152"/>
              </a:tblGrid>
              <a:tr h="419386">
                <a:tc>
                  <a:txBody>
                    <a:bodyPr wrap="square"/>
                    <a:lstStyle/>
                    <a:p>
                      <a:pPr algn="l">
                        <a:lnSpc>
                          <a:spcPct val="100000"/>
                        </a:lnSpc>
                      </a:pPr>
                      <a:r>
                        <a:rPr sz="1150" b="1" i="0">
                          <a:solidFill>
                            <a:srgbClr val="FFFFFF"/>
                          </a:solidFill>
                          <a:latin typeface="Calibri"/>
                        </a:rPr>
                        <a:t>Role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 lake (built policies)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Iceberg lake (PROPOSED changes)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9386">
                <a:tc>
                  <a:txBody>
                    <a:bodyPr wrap="square"/>
                    <a:lstStyle/>
                    <a:p>
                      <a:pPr algn="l">
                        <a:lnSpc>
                          <a:spcPct val="100000"/>
                        </a:lnSpc>
                      </a:pPr>
                      <a:r>
                        <a:rPr sz="1150" b="1" i="0">
                          <a:solidFill>
                            <a:srgbClr val="1C2433"/>
                          </a:solidFill>
                          <a:latin typeface="Calibri"/>
                        </a:rPr>
                        <a:t>server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GET, LIST on </a:t>
                      </a:r>
                      <a:r>
                        <a:rPr sz="1050" b="0" i="0">
                          <a:solidFill>
                            <a:srgbClr val="0E7C86"/>
                          </a:solidFill>
                          <a:latin typeface="Consolas"/>
                        </a:rPr>
                        <a:t>lake/</a:t>
                      </a:r>
                      <a:r>
                        <a:rPr sz="1150" b="0" i="0">
                          <a:solidFill>
                            <a:srgbClr val="1C2433"/>
                          </a:solidFill>
                          <a:latin typeface="Calibri"/>
                        </a:rPr>
                        <a:t>; </a:t>
                      </a:r>
                      <a:r>
                        <a:rPr sz="1050" b="0" i="0">
                          <a:solidFill>
                            <a:srgbClr val="0E7C86"/>
                          </a:solidFill>
                          <a:latin typeface="Consolas"/>
                        </a:rPr>
                        <a:t>kms:Decrypt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same on </a:t>
                      </a:r>
                      <a:r>
                        <a:rPr sz="1050" b="0" i="0">
                          <a:solidFill>
                            <a:srgbClr val="0E7C86"/>
                          </a:solidFill>
                          <a:latin typeface="Consolas"/>
                        </a:rPr>
                        <a:t>iceberg/</a:t>
                      </a:r>
                      <a:r>
                        <a:rPr sz="1150" b="0" i="0">
                          <a:solidFill>
                            <a:srgbClr val="1C2433"/>
                          </a:solidFill>
                          <a:latin typeface="Calibri"/>
                        </a:rPr>
                        <a:t>; with Glue: </a:t>
                      </a:r>
                      <a:r>
                        <a:rPr sz="1050" b="0" i="0">
                          <a:solidFill>
                            <a:srgbClr val="0E7C86"/>
                          </a:solidFill>
                          <a:latin typeface="Consolas"/>
                        </a:rPr>
                        <a:t>glue:GetCatalog</a:t>
                      </a:r>
                      <a:r>
                        <a:rPr sz="1150" b="0" i="0">
                          <a:solidFill>
                            <a:srgbClr val="1C2433"/>
                          </a:solidFill>
                          <a:latin typeface="Calibri"/>
                        </a:rPr>
                        <a:t>, </a:t>
                      </a:r>
                      <a:r>
                        <a:rPr sz="1050" b="0" i="0">
                          <a:solidFill>
                            <a:srgbClr val="0E7C86"/>
                          </a:solidFill>
                          <a:latin typeface="Consolas"/>
                        </a:rPr>
                        <a:t>GetDatabase</a:t>
                      </a:r>
                      <a:r>
                        <a:rPr sz="1150" b="0" i="0">
                          <a:solidFill>
                            <a:srgbClr val="1C2433"/>
                          </a:solidFill>
                          <a:latin typeface="Calibri"/>
                        </a:rPr>
                        <a:t>, </a:t>
                      </a:r>
                      <a:r>
                        <a:rPr sz="1050" b="0" i="0">
                          <a:solidFill>
                            <a:srgbClr val="0E7C86"/>
                          </a:solidFill>
                          <a:latin typeface="Consolas"/>
                        </a:rPr>
                        <a:t>GetTable</a:t>
                      </a:r>
                      <a:r>
                        <a:rPr sz="1150" b="0" i="0">
                          <a:solidFill>
                            <a:srgbClr val="1C2433"/>
                          </a:solidFill>
                          <a:latin typeface="Calibri"/>
                        </a:rPr>
                        <a:t> (read)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844426">
                <a:tc>
                  <a:txBody>
                    <a:bodyPr wrap="square"/>
                    <a:lstStyle/>
                    <a:p>
                      <a:pPr algn="l">
                        <a:lnSpc>
                          <a:spcPct val="100000"/>
                        </a:lnSpc>
                      </a:pPr>
                      <a:r>
                        <a:rPr sz="1150" b="1" i="0">
                          <a:solidFill>
                            <a:srgbClr val="1C2433"/>
                          </a:solidFill>
                          <a:latin typeface="Calibri"/>
                        </a:rPr>
                        <a:t>loader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PUT data files and commits; </a:t>
                      </a:r>
                      <a:r>
                        <a:rPr sz="1150" b="1" i="0">
                          <a:solidFill>
                            <a:srgbClr val="1C2433"/>
                          </a:solidFill>
                          <a:latin typeface="Calibri"/>
                        </a:rPr>
                        <a:t>never delete</a:t>
                      </a:r>
                      <a:r>
                        <a:rPr sz="1150" b="0" i="0">
                          <a:solidFill>
                            <a:srgbClr val="1C2433"/>
                          </a:solidFill>
                          <a:latin typeface="Calibri"/>
                        </a:rPr>
                        <a:t> (explicit deny)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PUT data, manifests, </a:t>
                      </a:r>
                      <a:r>
                        <a:rPr sz="1050" b="0" i="0">
                          <a:solidFill>
                            <a:srgbClr val="0E7C86"/>
                          </a:solidFill>
                          <a:latin typeface="Consolas"/>
                        </a:rPr>
                        <a:t>vN.metadata.json</a:t>
                      </a:r>
                      <a:r>
                        <a:rPr sz="1150" b="0" i="0">
                          <a:solidFill>
                            <a:srgbClr val="1C2433"/>
                          </a:solidFill>
                          <a:latin typeface="Calibri"/>
                        </a:rPr>
                        <a:t>, </a:t>
                      </a:r>
                      <a:r>
                        <a:rPr sz="1050" b="0" i="0">
                          <a:solidFill>
                            <a:srgbClr val="0E7C86"/>
                          </a:solidFill>
                          <a:latin typeface="Consolas"/>
                        </a:rPr>
                        <a:t>version-hint.text</a:t>
                      </a:r>
                      <a:r>
                        <a:rPr sz="1150" b="0" i="0">
                          <a:solidFill>
                            <a:srgbClr val="1C2433"/>
                          </a:solidFill>
                          <a:latin typeface="Calibri"/>
                        </a:rPr>
                        <a:t>; the deny can stay (old metadata removal is best effort); no </a:t>
                      </a:r>
                      <a:r>
                        <a:rPr sz="1050" b="0" i="0">
                          <a:solidFill>
                            <a:srgbClr val="0E7C86"/>
                          </a:solidFill>
                          <a:latin typeface="Consolas"/>
                        </a:rPr>
                        <a:t>--keep-days</a:t>
                      </a:r>
                      <a:r>
                        <a:rPr sz="1150" b="0" i="0">
                          <a:solidFill>
                            <a:srgbClr val="1C2433"/>
                          </a:solidFill>
                          <a:latin typeface="Calibri"/>
                        </a:rPr>
                        <a:t> in the loader; with Glue: </a:t>
                      </a:r>
                      <a:r>
                        <a:rPr sz="1050" b="0" i="0">
                          <a:solidFill>
                            <a:srgbClr val="0E7C86"/>
                          </a:solidFill>
                          <a:latin typeface="Consolas"/>
                        </a:rPr>
                        <a:t>glue:UpdateTable</a:t>
                      </a:r>
                      <a:r>
                        <a:rPr sz="1150" b="0" i="0">
                          <a:solidFill>
                            <a:srgbClr val="1C2433"/>
                          </a:solidFill>
                          <a:latin typeface="Calibri"/>
                        </a:rPr>
                        <a:t>, </a:t>
                      </a:r>
                      <a:r>
                        <a:rPr sz="1050" b="0" i="0">
                          <a:solidFill>
                            <a:srgbClr val="0E7C86"/>
                          </a:solidFill>
                          <a:latin typeface="Consolas"/>
                        </a:rPr>
                        <a:t>CreateTable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04067">
                <a:tc>
                  <a:txBody>
                    <a:bodyPr wrap="square"/>
                    <a:lstStyle/>
                    <a:p>
                      <a:pPr algn="l">
                        <a:lnSpc>
                          <a:spcPct val="100000"/>
                        </a:lnSpc>
                      </a:pPr>
                      <a:r>
                        <a:rPr sz="1150" b="1" i="0">
                          <a:solidFill>
                            <a:srgbClr val="1C2433"/>
                          </a:solidFill>
                          <a:latin typeface="Calibri"/>
                        </a:rPr>
                        <a:t>maintenance task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retention, checkpoints, vacuum: the only role that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--keep-days</a:t>
                      </a:r>
                      <a:r>
                        <a:rPr sz="1150" b="0" i="0">
                          <a:solidFill>
                            <a:srgbClr val="1C2433"/>
                          </a:solidFill>
                          <a:latin typeface="Calibri"/>
                        </a:rPr>
                        <a:t>, </a:t>
                      </a:r>
                      <a:r>
                        <a:rPr sz="1050" b="0" i="0">
                          <a:solidFill>
                            <a:srgbClr val="0E7C86"/>
                          </a:solidFill>
                          <a:latin typeface="Consolas"/>
                        </a:rPr>
                        <a:t>--expire-hours</a:t>
                      </a:r>
                      <a:r>
                        <a:rPr sz="1150" b="0" i="0">
                          <a:solidFill>
                            <a:srgbClr val="1C2433"/>
                          </a:solidFill>
                          <a:latin typeface="Calibri"/>
                        </a:rPr>
                        <a:t>, </a:t>
                      </a:r>
                      <a:r>
                        <a:rPr sz="1050" b="0" i="0">
                          <a:solidFill>
                            <a:srgbClr val="0E7C86"/>
                          </a:solidFill>
                          <a:latin typeface="Consolas"/>
                        </a:rPr>
                        <a:t>--relayout</a:t>
                      </a:r>
                      <a:r>
                        <a:rPr sz="1150" b="0" i="0">
                          <a:solidFill>
                            <a:srgbClr val="1C2433"/>
                          </a:solidFill>
                          <a:latin typeface="Calibri"/>
                        </a:rPr>
                        <a:t>: deletes data, manifests, old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04067">
                <a:tc>
                  <a:txBody>
                    <a:bodyPr wrap="square"/>
                    <a:lstStyle/>
                    <a:p>
                      <a:pPr algn="l">
                        <a:lnSpc>
                          <a:spcPct val="100000"/>
                        </a:lnSpc>
                      </a:pPr>
                      <a:r>
                        <a:rPr sz="1150" b="1" i="0">
                          <a:solidFill>
                            <a:srgbClr val="1C2433"/>
                          </a:solidFill>
                          <a:latin typeface="Calibri"/>
                        </a:rPr>
                        <a:t>KMS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SSE-KMS bucket default, S3 Bucket Keys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unchanged: the native writer sends no SSE header; bucket default applies. Iceberg table encryption: refused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TextBox 9"/>
          <p:cNvSpPr txBox="1"/>
          <p:nvPr/>
        </p:nvSpPr>
        <p:spPr>
          <a:xfrm>
            <a:off x="411480" y="420624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Network</a:t>
            </a:r>
          </a:p>
        </p:txBody>
      </p:sp>
      <p:sp>
        <p:nvSpPr>
          <p:cNvPr id="11" name="TextBox 10"/>
          <p:cNvSpPr txBox="1"/>
          <p:nvPr/>
        </p:nvSpPr>
        <p:spPr>
          <a:xfrm>
            <a:off x="411480" y="4572000"/>
            <a:ext cx="5577840" cy="1737360"/>
          </a:xfrm>
          <a:prstGeom prst="rect">
            <a:avLst/>
          </a:prstGeom>
          <a:noFill/>
        </p:spPr>
        <p:txBody>
          <a:bodyPr wrap="square" lIns="45720" rIns="45720" tIns="27432" bIns="27432" anchor="t">
            <a:spAutoFit/>
          </a:bodyPr>
          <a:lstStyle/>
          <a:p>
            <a:pPr algn="l">
              <a:lnSpc>
                <a:spcPct val="105000"/>
              </a:lnSpc>
              <a:spcAft>
                <a:spcPts val="500"/>
              </a:spcAft>
            </a:pPr>
            <a:r>
              <a:rPr sz="1250" b="0" i="0">
                <a:solidFill>
                  <a:srgbClr val="E87A1E"/>
                </a:solidFill>
                <a:latin typeface="Calibri"/>
              </a:rPr>
              <a:t>•  </a:t>
            </a:r>
            <a:r>
              <a:rPr sz="1250" b="0" i="0">
                <a:solidFill>
                  <a:srgbClr val="1C2433"/>
                </a:solidFill>
                <a:latin typeface="Calibri"/>
              </a:rPr>
              <a:t>S3 gateway endpoint, bucket policy allowing only it (as Delta): unchanged</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Path-based tables need nothing else</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Glue catalog: an interface endpoint for Glue (PROPOSED), or traffic to the Glue endpoint through the proxy settings</a:t>
            </a:r>
          </a:p>
          <a:p>
            <a:pPr algn="l">
              <a:lnSpc>
                <a:spcPct val="105000"/>
              </a:lnSpc>
              <a:spcAft>
                <a:spcPts val="500"/>
              </a:spcAft>
            </a:pPr>
            <a:r>
              <a:rPr sz="1250" b="0" i="0">
                <a:solidFill>
                  <a:srgbClr val="E87A1E"/>
                </a:solidFill>
                <a:latin typeface="Calibri"/>
              </a:rPr>
              <a:t>•  </a:t>
            </a:r>
            <a:r>
              <a:rPr sz="1250" b="0" i="0">
                <a:solidFill>
                  <a:srgbClr val="1C2433"/>
                </a:solidFill>
                <a:latin typeface="Calibri"/>
              </a:rPr>
              <a:t>Vended credentials: STS endpoint (already among the Delta prerequisites)</a:t>
            </a:r>
          </a:p>
        </p:txBody>
      </p:sp>
      <p:sp>
        <p:nvSpPr>
          <p:cNvPr id="12" name="Rounded Rectangle 11"/>
          <p:cNvSpPr/>
          <p:nvPr/>
        </p:nvSpPr>
        <p:spPr>
          <a:xfrm>
            <a:off x="6217920" y="4206240"/>
            <a:ext cx="5559552" cy="210312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6217920" y="4206240"/>
            <a:ext cx="82296" cy="210312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46520" y="4261103"/>
            <a:ext cx="5193792" cy="19933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The proxy and TLS settings carry over:</a:t>
            </a:r>
            <a:r>
              <a:rPr sz="1250" b="0" i="0">
                <a:solidFill>
                  <a:srgbClr val="1C2433"/>
                </a:solidFill>
                <a:latin typeface="Calibri"/>
              </a:rPr>
              <a:t> </a:t>
            </a:r>
            <a:r>
              <a:rPr sz="1150" b="0" i="0">
                <a:solidFill>
                  <a:srgbClr val="0E7C86"/>
                </a:solidFill>
                <a:latin typeface="Consolas"/>
              </a:rPr>
              <a:t>proxy.*</a:t>
            </a:r>
            <a:r>
              <a:rPr sz="1250" b="0" i="0">
                <a:solidFill>
                  <a:srgbClr val="1C2433"/>
                </a:solidFill>
                <a:latin typeface="Calibri"/>
              </a:rPr>
              <a:t> and </a:t>
            </a:r>
            <a:r>
              <a:rPr sz="1150" b="0" i="0">
                <a:solidFill>
                  <a:srgbClr val="0E7C86"/>
                </a:solidFill>
                <a:latin typeface="Consolas"/>
              </a:rPr>
              <a:t>tls.*</a:t>
            </a:r>
            <a:r>
              <a:rPr sz="1250" b="0" i="0">
                <a:solidFill>
                  <a:srgbClr val="1C2433"/>
                </a:solidFill>
                <a:latin typeface="Calibri"/>
              </a:rPr>
              <a:t> apply to the REST catalog's client and to the object store (ICEBERG_CONNECTOR.md: Security; Outbound proxy).</a:t>
            </a:r>
          </a:p>
          <a:p>
            <a:pPr algn="l">
              <a:lnSpc>
                <a:spcPct val="105000"/>
              </a:lnSpc>
            </a:pPr>
            <a:r>
              <a:rPr sz="1250" b="0" i="0">
                <a:solidFill>
                  <a:srgbClr val="1C2433"/>
                </a:solidFill>
                <a:latin typeface="Calibri"/>
              </a:rPr>
              <a:t>Private CA for the catalog's own HTTPS: import into the JVM truststore.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EFS, identical paths and Drishti*net: unchanged</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34</a:t>
            </a:r>
          </a:p>
        </p:txBody>
      </p:sp>
      <p:sp>
        <p:nvSpPr>
          <p:cNvPr id="9" name="Rounded Rectangle 8"/>
          <p:cNvSpPr/>
          <p:nvPr/>
        </p:nvSpPr>
        <p:spPr>
          <a:xfrm>
            <a:off x="411480" y="1188720"/>
            <a:ext cx="3657600" cy="210312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347472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drishti-a, drishti-b</a:t>
            </a:r>
          </a:p>
        </p:txBody>
      </p:sp>
      <p:sp>
        <p:nvSpPr>
          <p:cNvPr id="11" name="TextBox 10"/>
          <p:cNvSpPr txBox="1"/>
          <p:nvPr/>
        </p:nvSpPr>
        <p:spPr>
          <a:xfrm>
            <a:off x="502920" y="1554480"/>
            <a:ext cx="3474720" cy="1691639"/>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trade-endur</a:t>
            </a:r>
            <a:r>
              <a:rPr sz="1250" b="0" i="0">
                <a:solidFill>
                  <a:srgbClr val="1C2433"/>
                </a:solidFill>
                <a:latin typeface="Calibri"/>
              </a:rPr>
              <a:t> (Delta) and </a:t>
            </a:r>
            <a:r>
              <a:rPr sz="1150" b="0" i="0">
                <a:solidFill>
                  <a:srgbClr val="0E7C86"/>
                </a:solidFill>
                <a:latin typeface="Consolas"/>
              </a:rPr>
              <a:t>trade-calypso</a:t>
            </a:r>
            <a:r>
              <a:rPr sz="1250" b="0" i="0">
                <a:solidFill>
                  <a:srgbClr val="1C2433"/>
                </a:solidFill>
                <a:latin typeface="Calibri"/>
              </a:rPr>
              <a:t> (Iceberg)</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replicas of each other for both</a:t>
            </a:r>
          </a:p>
        </p:txBody>
      </p:sp>
      <p:sp>
        <p:nvSpPr>
          <p:cNvPr id="12" name="Rounded Rectangle 11"/>
          <p:cNvSpPr/>
          <p:nvPr/>
        </p:nvSpPr>
        <p:spPr>
          <a:xfrm>
            <a:off x="4251960" y="1188720"/>
            <a:ext cx="3657600" cy="210312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4343400" y="1234440"/>
            <a:ext cx="347472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drishti-c, drishti-d</a:t>
            </a:r>
          </a:p>
        </p:txBody>
      </p:sp>
      <p:sp>
        <p:nvSpPr>
          <p:cNvPr id="14" name="TextBox 13"/>
          <p:cNvSpPr txBox="1"/>
          <p:nvPr/>
        </p:nvSpPr>
        <p:spPr>
          <a:xfrm>
            <a:off x="4343400" y="1554480"/>
            <a:ext cx="3474720" cy="1691639"/>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trade-murex</a:t>
            </a:r>
            <a:r>
              <a:rPr sz="1250" b="0" i="0">
                <a:solidFill>
                  <a:srgbClr val="1C2433"/>
                </a:solidFill>
                <a:latin typeface="Calibri"/>
              </a:rPr>
              <a:t> (Iceberg, native)</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a shard: searches ask it too</a:t>
            </a:r>
          </a:p>
        </p:txBody>
      </p:sp>
      <p:sp>
        <p:nvSpPr>
          <p:cNvPr id="15" name="Rounded Rectangle 14"/>
          <p:cNvSpPr/>
          <p:nvPr/>
        </p:nvSpPr>
        <p:spPr>
          <a:xfrm>
            <a:off x="411480" y="3566160"/>
            <a:ext cx="7498079" cy="109728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502920" y="3611879"/>
            <a:ext cx="7315199"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S3 lake bucket</a:t>
            </a:r>
          </a:p>
        </p:txBody>
      </p:sp>
      <p:sp>
        <p:nvSpPr>
          <p:cNvPr id="17" name="TextBox 16"/>
          <p:cNvSpPr txBox="1"/>
          <p:nvPr/>
        </p:nvSpPr>
        <p:spPr>
          <a:xfrm>
            <a:off x="502920" y="3931920"/>
            <a:ext cx="7315199" cy="68580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lake/</a:t>
            </a:r>
            <a:r>
              <a:rPr sz="1250" b="0" i="0">
                <a:solidFill>
                  <a:srgbClr val="1C2433"/>
                </a:solidFill>
                <a:latin typeface="Calibri"/>
              </a:rPr>
              <a:t> (Delta tables) and </a:t>
            </a:r>
            <a:r>
              <a:rPr sz="1150" b="0" i="0">
                <a:solidFill>
                  <a:srgbClr val="0E7C86"/>
                </a:solidFill>
                <a:latin typeface="Consolas"/>
              </a:rPr>
              <a:t>iceberg/</a:t>
            </a:r>
            <a:r>
              <a:rPr sz="1250" b="0" i="0">
                <a:solidFill>
                  <a:srgbClr val="1C2433"/>
                </a:solidFill>
                <a:latin typeface="Calibri"/>
              </a:rPr>
              <a:t> (Iceberg tables) side by side; every node can read every table</a:t>
            </a:r>
          </a:p>
        </p:txBody>
      </p:sp>
      <p:cxnSp>
        <p:nvCxnSpPr>
          <p:cNvPr id="18" name="Connector 17"/>
          <p:cNvCxnSpPr/>
          <p:nvPr/>
        </p:nvCxnSpPr>
        <p:spPr>
          <a:xfrm>
            <a:off x="2240280" y="3291840"/>
            <a:ext cx="0" cy="27432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080760" y="3291840"/>
            <a:ext cx="0" cy="27432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411480" y="4892040"/>
            <a:ext cx="7498079" cy="1417320"/>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502920" y="4937759"/>
            <a:ext cx="7315199"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EFS (identical paths)</a:t>
            </a:r>
          </a:p>
        </p:txBody>
      </p:sp>
      <p:sp>
        <p:nvSpPr>
          <p:cNvPr id="22" name="TextBox 21"/>
          <p:cNvSpPr txBox="1"/>
          <p:nvPr/>
        </p:nvSpPr>
        <p:spPr>
          <a:xfrm>
            <a:off x="502920" y="5257800"/>
            <a:ext cx="7315199" cy="100584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/drishti/&lt;env&gt;/&lt;node&gt;/opt/drishti/{data,config,sutras}</a:t>
            </a:r>
            <a:r>
              <a:rPr sz="1250" b="0" i="0">
                <a:solidFill>
                  <a:srgbClr val="1C2433"/>
                </a:solidFill>
                <a:latin typeface="Calibri"/>
              </a:rPr>
              <a:t>: connector files, users, Drishti*net state</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loader: spill files of the external sort and the per-table locks</a:t>
            </a:r>
          </a:p>
        </p:txBody>
      </p:sp>
      <p:sp>
        <p:nvSpPr>
          <p:cNvPr id="23" name="Rounded Rectangle 22"/>
          <p:cNvSpPr/>
          <p:nvPr/>
        </p:nvSpPr>
        <p:spPr>
          <a:xfrm>
            <a:off x="8138160" y="1188720"/>
            <a:ext cx="3639312" cy="237744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Rectangle 23"/>
          <p:cNvSpPr/>
          <p:nvPr/>
        </p:nvSpPr>
        <p:spPr>
          <a:xfrm>
            <a:off x="8138160" y="1188720"/>
            <a:ext cx="82296" cy="23774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8366760" y="1243584"/>
            <a:ext cx="3273552" cy="226771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Same cluster rules.</a:t>
            </a:r>
            <a:r>
              <a:rPr sz="1250" b="0" i="0">
                <a:solidFill>
                  <a:srgbClr val="1C2433"/>
                </a:solidFill>
                <a:latin typeface="Calibri"/>
              </a:rPr>
              <a:t> Nodes that read the same tables are replicas; different tables of a kind are shards; a failed node costs speed, never answers.</a:t>
            </a:r>
          </a:p>
        </p:txBody>
      </p:sp>
      <p:sp>
        <p:nvSpPr>
          <p:cNvPr id="26" name="Rounded Rectangle 25"/>
          <p:cNvSpPr/>
          <p:nvPr/>
        </p:nvSpPr>
        <p:spPr>
          <a:xfrm>
            <a:off x="8138160" y="3749039"/>
            <a:ext cx="3639312" cy="256032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Rectangle 26"/>
          <p:cNvSpPr/>
          <p:nvPr/>
        </p:nvSpPr>
        <p:spPr>
          <a:xfrm>
            <a:off x="8138160" y="3749039"/>
            <a:ext cx="82296" cy="25603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8366760" y="3803903"/>
            <a:ext cx="3273552" cy="24505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One gap:</a:t>
            </a:r>
            <a:r>
              <a:rPr sz="1250" b="0" i="0">
                <a:solidFill>
                  <a:srgbClr val="1C2433"/>
                </a:solidFill>
                <a:latin typeface="Calibri"/>
              </a:rPr>
              <a:t> the Iceberg plugin reports no table identity, so two nodes on one Iceberg table are not recognised as replicas (a search may ask both). PROPOSED: the table's UUID and location.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Storage tiers by business date, for Iceberg prefixes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35</a:t>
            </a:r>
          </a:p>
        </p:txBody>
      </p:sp>
      <p:sp>
        <p:nvSpPr>
          <p:cNvPr id="9" name="Rounded Rectangle 8"/>
          <p:cNvSpPr/>
          <p:nvPr/>
        </p:nvSpPr>
        <p:spPr>
          <a:xfrm>
            <a:off x="411480" y="1143000"/>
            <a:ext cx="6766560" cy="214884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16152"/>
            <a:ext cx="6547104" cy="2002536"/>
          </a:xfrm>
          <a:prstGeom prst="rect">
            <a:avLst/>
          </a:prstGeom>
          <a:noFill/>
        </p:spPr>
        <p:txBody>
          <a:bodyPr wrap="square" lIns="45720" rIns="45720" tIns="27432" bIns="27432" anchor="t">
            <a:spAutoFit/>
          </a:bodyPr>
          <a:lstStyle/>
          <a:p>
            <a:pPr algn="l">
              <a:lnSpc>
                <a:spcPct val="100000"/>
              </a:lnSpc>
            </a:pPr>
            <a:r>
              <a:rPr sz="1050" b="0" i="0">
                <a:solidFill>
                  <a:srgbClr val="E6EDF3"/>
                </a:solidFill>
                <a:latin typeface="Consolas"/>
              </a:rPr>
              <a:t>{"ID": "tier-iceberg-trading-trade_endur-2026-03",</a:t>
            </a:r>
          </a:p>
          <a:p>
            <a:pPr algn="l">
              <a:lnSpc>
                <a:spcPct val="100000"/>
              </a:lnSpc>
            </a:pPr>
            <a:r>
              <a:rPr sz="1050" b="0" i="0">
                <a:solidFill>
                  <a:srgbClr val="E6EDF3"/>
                </a:solidFill>
                <a:latin typeface="Consolas"/>
              </a:rPr>
              <a:t> "Status": "Enabled",</a:t>
            </a:r>
          </a:p>
          <a:p>
            <a:pPr algn="l">
              <a:lnSpc>
                <a:spcPct val="100000"/>
              </a:lnSpc>
            </a:pPr>
            <a:r>
              <a:rPr sz="1050" b="0" i="0">
                <a:solidFill>
                  <a:srgbClr val="E6EDF3"/>
                </a:solidFill>
                <a:latin typeface="Consolas"/>
              </a:rPr>
              <a:t> "Filter": {"And": {</a:t>
            </a:r>
          </a:p>
          <a:p>
            <a:pPr algn="l">
              <a:lnSpc>
                <a:spcPct val="100000"/>
              </a:lnSpc>
            </a:pPr>
            <a:r>
              <a:rPr sz="1050" b="0" i="0">
                <a:solidFill>
                  <a:srgbClr val="E6EDF3"/>
                </a:solidFill>
                <a:latin typeface="Consolas"/>
              </a:rPr>
              <a:t>   "Prefix": "iceberg/trading/trade_endur/data/business_date=2026-03",</a:t>
            </a:r>
          </a:p>
          <a:p>
            <a:pPr algn="l">
              <a:lnSpc>
                <a:spcPct val="100000"/>
              </a:lnSpc>
            </a:pPr>
            <a:r>
              <a:rPr sz="1050" b="0" i="0">
                <a:solidFill>
                  <a:srgbClr val="E6EDF3"/>
                </a:solidFill>
                <a:latin typeface="Consolas"/>
              </a:rPr>
              <a:t>   "ObjectSizeGreaterThan": 131072}},</a:t>
            </a:r>
          </a:p>
          <a:p>
            <a:pPr algn="l">
              <a:lnSpc>
                <a:spcPct val="100000"/>
              </a:lnSpc>
            </a:pPr>
            <a:r>
              <a:rPr sz="1050" b="0" i="0">
                <a:solidFill>
                  <a:srgbClr val="E6EDF3"/>
                </a:solidFill>
                <a:latin typeface="Consolas"/>
              </a:rPr>
              <a:t> "Transitions": [</a:t>
            </a:r>
          </a:p>
          <a:p>
            <a:pPr algn="l">
              <a:lnSpc>
                <a:spcPct val="100000"/>
              </a:lnSpc>
            </a:pPr>
            <a:r>
              <a:rPr sz="1050" b="0" i="0">
                <a:solidFill>
                  <a:srgbClr val="E6EDF3"/>
                </a:solidFill>
                <a:latin typeface="Consolas"/>
              </a:rPr>
              <a:t>   {"Date": "2026-06-29T00:00:00Z", "StorageClass": "STANDARD_IA"},</a:t>
            </a:r>
          </a:p>
          <a:p>
            <a:pPr algn="l">
              <a:lnSpc>
                <a:spcPct val="100000"/>
              </a:lnSpc>
            </a:pPr>
            <a:r>
              <a:rPr sz="1050" b="0" i="0">
                <a:solidFill>
                  <a:srgbClr val="E6EDF3"/>
                </a:solidFill>
                <a:latin typeface="Consolas"/>
              </a:rPr>
              <a:t>   {"Date": "2028-03-30T00:00:00Z", "StorageClass": "GLACIER_IR"}]}</a:t>
            </a:r>
          </a:p>
        </p:txBody>
      </p:sp>
      <p:sp>
        <p:nvSpPr>
          <p:cNvPr id="11" name="Rounded Rectangle 10"/>
          <p:cNvSpPr/>
          <p:nvPr/>
        </p:nvSpPr>
        <p:spPr>
          <a:xfrm>
            <a:off x="7406640" y="301752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sp>
        <p:nvSpPr>
          <p:cNvPr id="12" name="TextBox 11"/>
          <p:cNvSpPr txBox="1"/>
          <p:nvPr/>
        </p:nvSpPr>
        <p:spPr>
          <a:xfrm>
            <a:off x="7406640" y="1143000"/>
            <a:ext cx="4370832" cy="2194560"/>
          </a:xfrm>
          <a:prstGeom prst="rect">
            <a:avLst/>
          </a:prstGeom>
          <a:noFill/>
        </p:spPr>
        <p:txBody>
          <a:bodyPr wrap="square" lIns="45720" rIns="45720" tIns="27432" bIns="27432" anchor="t">
            <a:spAutoFit/>
          </a:bodyPr>
          <a:lstStyle/>
          <a:p>
            <a:pPr algn="l">
              <a:lnSpc>
                <a:spcPct val="105000"/>
              </a:lnSpc>
              <a:spcAft>
                <a:spcPts val="500"/>
              </a:spcAft>
            </a:pPr>
            <a:r>
              <a:rPr sz="1300" b="0" i="0">
                <a:solidFill>
                  <a:srgbClr val="E87A1E"/>
                </a:solidFill>
                <a:latin typeface="Calibri"/>
              </a:rPr>
              <a:t>•  </a:t>
            </a:r>
            <a:r>
              <a:rPr sz="1300" b="0" i="0">
                <a:solidFill>
                  <a:srgbClr val="1C2433"/>
                </a:solidFill>
                <a:latin typeface="Calibri"/>
              </a:rPr>
              <a:t>Same rule shape, same dates, same tiers as Delta</a:t>
            </a:r>
          </a:p>
          <a:p>
            <a:pPr algn="l">
              <a:lnSpc>
                <a:spcPct val="105000"/>
              </a:lnSpc>
              <a:spcAft>
                <a:spcPts val="500"/>
              </a:spcAft>
            </a:pPr>
            <a:r>
              <a:rPr sz="1300" b="0" i="0">
                <a:solidFill>
                  <a:srgbClr val="E87A1E"/>
                </a:solidFill>
                <a:latin typeface="Calibri"/>
              </a:rPr>
              <a:t>•  </a:t>
            </a:r>
            <a:r>
              <a:rPr sz="1300" b="0" i="0">
                <a:solidFill>
                  <a:srgbClr val="1C2433"/>
                </a:solidFill>
                <a:latin typeface="Calibri"/>
              </a:rPr>
              <a:t>Prefix: </a:t>
            </a:r>
            <a:r>
              <a:rPr sz="1200" b="0" i="0">
                <a:solidFill>
                  <a:srgbClr val="0E7C86"/>
                </a:solidFill>
                <a:latin typeface="Consolas"/>
              </a:rPr>
              <a:t>…/&lt;table&gt;/data/business_date=YYYY-MM</a:t>
            </a:r>
          </a:p>
          <a:p>
            <a:pPr algn="l">
              <a:lnSpc>
                <a:spcPct val="105000"/>
              </a:lnSpc>
              <a:spcAft>
                <a:spcPts val="500"/>
              </a:spcAft>
            </a:pPr>
            <a:r>
              <a:rPr sz="1200" b="0" i="0">
                <a:solidFill>
                  <a:srgbClr val="E87A1E"/>
                </a:solidFill>
                <a:latin typeface="Calibri"/>
              </a:rPr>
              <a:t>•  </a:t>
            </a:r>
            <a:r>
              <a:rPr sz="1200" b="0" i="0">
                <a:solidFill>
                  <a:srgbClr val="0E7C86"/>
                </a:solidFill>
                <a:latin typeface="Consolas"/>
              </a:rPr>
              <a:t>metadata/</a:t>
            </a:r>
            <a:r>
              <a:rPr sz="1300" b="0" i="0">
                <a:solidFill>
                  <a:srgbClr val="1C2433"/>
                </a:solidFill>
                <a:latin typeface="Calibri"/>
              </a:rPr>
              <a:t> never matches: metadata JSON, manifest lists and manifests stay in Standard</a:t>
            </a:r>
          </a:p>
        </p:txBody>
      </p:sp>
      <p:sp>
        <p:nvSpPr>
          <p:cNvPr id="13" name="Rounded Rectangle 12"/>
          <p:cNvSpPr/>
          <p:nvPr/>
        </p:nvSpPr>
        <p:spPr>
          <a:xfrm>
            <a:off x="411480" y="3520440"/>
            <a:ext cx="2103120" cy="1097280"/>
          </a:xfrm>
          <a:prstGeom prst="roundRect">
            <a:avLst>
              <a:gd name="adj" fmla="val 8000"/>
            </a:avLst>
          </a:prstGeom>
          <a:solidFill>
            <a:srgbClr val="C8E6C9"/>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3566160"/>
            <a:ext cx="1920239" cy="365760"/>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0 – 90 days</a:t>
            </a:r>
          </a:p>
        </p:txBody>
      </p:sp>
      <p:sp>
        <p:nvSpPr>
          <p:cNvPr id="15" name="TextBox 14"/>
          <p:cNvSpPr txBox="1"/>
          <p:nvPr/>
        </p:nvSpPr>
        <p:spPr>
          <a:xfrm>
            <a:off x="502920" y="3931920"/>
            <a:ext cx="1920239" cy="64008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S3 Standard</a:t>
            </a:r>
          </a:p>
        </p:txBody>
      </p:sp>
      <p:sp>
        <p:nvSpPr>
          <p:cNvPr id="16" name="Rounded Rectangle 15"/>
          <p:cNvSpPr/>
          <p:nvPr/>
        </p:nvSpPr>
        <p:spPr>
          <a:xfrm>
            <a:off x="2587752" y="3520440"/>
            <a:ext cx="3017520" cy="1097280"/>
          </a:xfrm>
          <a:prstGeom prst="roundRect">
            <a:avLst>
              <a:gd name="adj" fmla="val 8000"/>
            </a:avLst>
          </a:prstGeom>
          <a:solidFill>
            <a:srgbClr val="FFE0B2"/>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2679192" y="3566160"/>
            <a:ext cx="2834639" cy="365760"/>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90 days – 2 years</a:t>
            </a:r>
          </a:p>
        </p:txBody>
      </p:sp>
      <p:sp>
        <p:nvSpPr>
          <p:cNvPr id="18" name="TextBox 17"/>
          <p:cNvSpPr txBox="1"/>
          <p:nvPr/>
        </p:nvSpPr>
        <p:spPr>
          <a:xfrm>
            <a:off x="2679192" y="3931920"/>
            <a:ext cx="2834639" cy="64008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Standard-IA</a:t>
            </a:r>
          </a:p>
        </p:txBody>
      </p:sp>
      <p:sp>
        <p:nvSpPr>
          <p:cNvPr id="19" name="Rounded Rectangle 18"/>
          <p:cNvSpPr/>
          <p:nvPr/>
        </p:nvSpPr>
        <p:spPr>
          <a:xfrm>
            <a:off x="5678424" y="3520440"/>
            <a:ext cx="3291840" cy="1097280"/>
          </a:xfrm>
          <a:prstGeom prst="roundRect">
            <a:avLst>
              <a:gd name="adj" fmla="val 8000"/>
            </a:avLst>
          </a:prstGeom>
          <a:solidFill>
            <a:srgbClr val="BBDEFB"/>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5769864" y="3566160"/>
            <a:ext cx="3108960" cy="365760"/>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2 years – kept days</a:t>
            </a:r>
          </a:p>
        </p:txBody>
      </p:sp>
      <p:sp>
        <p:nvSpPr>
          <p:cNvPr id="21" name="TextBox 20"/>
          <p:cNvSpPr txBox="1"/>
          <p:nvPr/>
        </p:nvSpPr>
        <p:spPr>
          <a:xfrm>
            <a:off x="5769864" y="3931920"/>
            <a:ext cx="3108960" cy="64008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Glacier Instant Retrieval</a:t>
            </a:r>
          </a:p>
        </p:txBody>
      </p:sp>
      <p:sp>
        <p:nvSpPr>
          <p:cNvPr id="22" name="Rounded Rectangle 21"/>
          <p:cNvSpPr/>
          <p:nvPr/>
        </p:nvSpPr>
        <p:spPr>
          <a:xfrm>
            <a:off x="9043416" y="3520440"/>
            <a:ext cx="2743200" cy="1097280"/>
          </a:xfrm>
          <a:prstGeom prst="roundRect">
            <a:avLst>
              <a:gd name="adj" fmla="val 8000"/>
            </a:avLst>
          </a:prstGeom>
          <a:solidFill>
            <a:srgbClr val="ECEFF1"/>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134856" y="3566160"/>
            <a:ext cx="2560320" cy="365760"/>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beyond</a:t>
            </a:r>
          </a:p>
        </p:txBody>
      </p:sp>
      <p:sp>
        <p:nvSpPr>
          <p:cNvPr id="24" name="TextBox 23"/>
          <p:cNvSpPr txBox="1"/>
          <p:nvPr/>
        </p:nvSpPr>
        <p:spPr>
          <a:xfrm>
            <a:off x="9134856" y="3931920"/>
            <a:ext cx="2560320" cy="64008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removed by </a:t>
            </a:r>
            <a:r>
              <a:rPr sz="1100" b="0" i="0">
                <a:solidFill>
                  <a:srgbClr val="0E7C86"/>
                </a:solidFill>
                <a:latin typeface="Consolas"/>
              </a:rPr>
              <a:t>--keep-days</a:t>
            </a:r>
            <a:r>
              <a:rPr sz="1200" b="0" i="0">
                <a:solidFill>
                  <a:srgbClr val="1C2433"/>
                </a:solidFill>
                <a:latin typeface="Calibri"/>
              </a:rPr>
              <a:t> → </a:t>
            </a:r>
            <a:r>
              <a:rPr sz="1100" b="0" i="0">
                <a:solidFill>
                  <a:srgbClr val="0E7C86"/>
                </a:solidFill>
                <a:latin typeface="Consolas"/>
              </a:rPr>
              <a:t>--expire-hours</a:t>
            </a:r>
          </a:p>
        </p:txBody>
      </p:sp>
      <p:sp>
        <p:nvSpPr>
          <p:cNvPr id="25" name="Rounded Rectangle 24"/>
          <p:cNvSpPr/>
          <p:nvPr/>
        </p:nvSpPr>
        <p:spPr>
          <a:xfrm>
            <a:off x="411480" y="4846320"/>
            <a:ext cx="11365992" cy="146304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Rectangle 25"/>
          <p:cNvSpPr/>
          <p:nvPr/>
        </p:nvSpPr>
        <p:spPr>
          <a:xfrm>
            <a:off x="411480" y="4846320"/>
            <a:ext cx="82296" cy="146304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0080" y="4901183"/>
            <a:ext cx="11000232" cy="135331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Iceberg-specific risks:</a:t>
            </a:r>
            <a:r>
              <a:rPr sz="1300" b="0" i="0">
                <a:solidFill>
                  <a:srgbClr val="1C2433"/>
                </a:solidFill>
                <a:latin typeface="Calibri"/>
              </a:rPr>
              <a:t> a manifest still names every data file of an old day, so </a:t>
            </a:r>
            <a:r>
              <a:rPr sz="1300" b="1" i="0">
                <a:solidFill>
                  <a:srgbClr val="1C2433"/>
                </a:solidFill>
                <a:latin typeface="Calibri"/>
              </a:rPr>
              <a:t>never</a:t>
            </a:r>
            <a:r>
              <a:rPr sz="1300" b="0" i="0">
                <a:solidFill>
                  <a:srgbClr val="1C2433"/>
                </a:solidFill>
                <a:latin typeface="Calibri"/>
              </a:rPr>
              <a:t> an S3 expiry on table files (the table breaks); and Glacier Flexible Retrieval or Deep Archive would make a planned read wait hours. Only </a:t>
            </a:r>
            <a:r>
              <a:rPr sz="1200" b="0" i="0">
                <a:solidFill>
                  <a:srgbClr val="0E7C86"/>
                </a:solidFill>
                <a:latin typeface="Consolas"/>
              </a:rPr>
              <a:t>IcebergMaintenance</a:t>
            </a:r>
            <a:r>
              <a:rPr sz="1300" b="0" i="0">
                <a:solidFill>
                  <a:srgbClr val="1C2433"/>
                </a:solidFill>
                <a:latin typeface="Calibri"/>
              </a:rPr>
              <a:t> removes files, then S3 keeps noncurrent versions 14 days.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07</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The layout</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Prefixes, the table, its columns and properties, and the partition: what goes where in S3, and why</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Prefixes and tables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7</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37</a:t>
            </a:r>
          </a:p>
        </p:txBody>
      </p:sp>
      <p:sp>
        <p:nvSpPr>
          <p:cNvPr id="9" name="Rounded Rectangle 8"/>
          <p:cNvSpPr/>
          <p:nvPr/>
        </p:nvSpPr>
        <p:spPr>
          <a:xfrm>
            <a:off x="411480" y="1143000"/>
            <a:ext cx="7040880" cy="516636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16152"/>
            <a:ext cx="6821424" cy="5020056"/>
          </a:xfrm>
          <a:prstGeom prst="rect">
            <a:avLst/>
          </a:prstGeom>
          <a:noFill/>
        </p:spPr>
        <p:txBody>
          <a:bodyPr wrap="square" lIns="45720" rIns="45720" tIns="27432" bIns="27432" anchor="t">
            <a:spAutoFit/>
          </a:bodyPr>
          <a:lstStyle/>
          <a:p>
            <a:pPr algn="l">
              <a:lnSpc>
                <a:spcPct val="100000"/>
              </a:lnSpc>
            </a:pPr>
            <a:r>
              <a:rPr sz="1250" b="0" i="0">
                <a:solidFill>
                  <a:srgbClr val="E6EDF3"/>
                </a:solidFill>
                <a:latin typeface="Consolas"/>
              </a:rPr>
              <a:t>s3://acme-drishti-prod-lake/</a:t>
            </a:r>
          </a:p>
          <a:p>
            <a:pPr algn="l">
              <a:lnSpc>
                <a:spcPct val="100000"/>
              </a:lnSpc>
            </a:pPr>
            <a:r>
              <a:rPr sz="1250" b="0" i="0">
                <a:solidFill>
                  <a:srgbClr val="E6EDF3"/>
                </a:solidFill>
                <a:latin typeface="Consolas"/>
              </a:rPr>
              <a:t>├── lake/                     Delta tables (DRISHTI_DELTA_ROOT)</a:t>
            </a:r>
          </a:p>
          <a:p>
            <a:pPr algn="l">
              <a:lnSpc>
                <a:spcPct val="100000"/>
              </a:lnSpc>
            </a:pPr>
            <a:r>
              <a:rPr sz="1250" b="0" i="0">
                <a:solidFill>
                  <a:srgbClr val="E6EDF3"/>
                </a:solidFill>
                <a:latin typeface="Consolas"/>
              </a:rPr>
              <a:t>└── iceberg/                  DRISHTI_ICEBERG_ROOT = s3://…/iceberg</a:t>
            </a:r>
          </a:p>
          <a:p>
            <a:pPr algn="l">
              <a:lnSpc>
                <a:spcPct val="100000"/>
              </a:lnSpc>
            </a:pPr>
            <a:r>
              <a:rPr sz="1250" b="0" i="0">
                <a:solidFill>
                  <a:srgbClr val="E6EDF3"/>
                </a:solidFill>
                <a:latin typeface="Consolas"/>
              </a:rPr>
              <a:t>    └── trading/              the domain (a REST catalog's namespace)</a:t>
            </a:r>
          </a:p>
          <a:p>
            <a:pPr algn="l">
              <a:lnSpc>
                <a:spcPct val="100000"/>
              </a:lnSpc>
            </a:pPr>
            <a:r>
              <a:rPr sz="1250" b="0" i="0">
                <a:solidFill>
                  <a:srgbClr val="E6EDF3"/>
                </a:solidFill>
                <a:latin typeface="Consolas"/>
              </a:rPr>
              <a:t>        ├── trade_calypso/    one table per source system and kind</a:t>
            </a:r>
          </a:p>
          <a:p>
            <a:pPr algn="l">
              <a:lnSpc>
                <a:spcPct val="100000"/>
              </a:lnSpc>
            </a:pPr>
            <a:r>
              <a:rPr sz="1250" b="0" i="0">
                <a:solidFill>
                  <a:srgbClr val="E6EDF3"/>
                </a:solidFill>
                <a:latin typeface="Consolas"/>
              </a:rPr>
              <a:t>        │   ├── metadata/</a:t>
            </a:r>
          </a:p>
          <a:p>
            <a:pPr algn="l">
              <a:lnSpc>
                <a:spcPct val="100000"/>
              </a:lnSpc>
            </a:pPr>
            <a:r>
              <a:rPr sz="1250" b="0" i="0">
                <a:solidFill>
                  <a:srgbClr val="E6EDF3"/>
                </a:solidFill>
                <a:latin typeface="Consolas"/>
              </a:rPr>
              <a:t>        │   │   ├── v12.metadata.json   schema, spec, sort order,</a:t>
            </a:r>
          </a:p>
          <a:p>
            <a:pPr algn="l">
              <a:lnSpc>
                <a:spcPct val="100000"/>
              </a:lnSpc>
            </a:pPr>
            <a:r>
              <a:rPr sz="1250" b="0" i="0">
                <a:solidFill>
                  <a:srgbClr val="E6EDF3"/>
                </a:solidFill>
                <a:latin typeface="Consolas"/>
              </a:rPr>
              <a:t>        │   │   │                       properties, snapshots</a:t>
            </a:r>
          </a:p>
          <a:p>
            <a:pPr algn="l">
              <a:lnSpc>
                <a:spcPct val="100000"/>
              </a:lnSpc>
            </a:pPr>
            <a:r>
              <a:rPr sz="1250" b="0" i="0">
                <a:solidFill>
                  <a:srgbClr val="E6EDF3"/>
                </a:solidFill>
                <a:latin typeface="Consolas"/>
              </a:rPr>
              <a:t>        │   │   ├── version-hint.text   path-based tables only</a:t>
            </a:r>
          </a:p>
          <a:p>
            <a:pPr algn="l">
              <a:lnSpc>
                <a:spcPct val="100000"/>
              </a:lnSpc>
            </a:pPr>
            <a:r>
              <a:rPr sz="1250" b="0" i="0">
                <a:solidFill>
                  <a:srgbClr val="E6EDF3"/>
                </a:solidFill>
                <a:latin typeface="Consolas"/>
              </a:rPr>
              <a:t>        │   │   ├── snap-…-….avro       a manifest list per snapshot</a:t>
            </a:r>
          </a:p>
          <a:p>
            <a:pPr algn="l">
              <a:lnSpc>
                <a:spcPct val="100000"/>
              </a:lnSpc>
            </a:pPr>
            <a:r>
              <a:rPr sz="1250" b="0" i="0">
                <a:solidFill>
                  <a:srgbClr val="E6EDF3"/>
                </a:solidFill>
                <a:latin typeface="Consolas"/>
              </a:rPr>
              <a:t>        │   │   └── …-m0.avro           manifests: files, partitions,</a:t>
            </a:r>
          </a:p>
          <a:p>
            <a:pPr algn="l">
              <a:lnSpc>
                <a:spcPct val="100000"/>
              </a:lnSpc>
            </a:pPr>
            <a:r>
              <a:rPr sz="1250" b="0" i="0">
                <a:solidFill>
                  <a:srgbClr val="E6EDF3"/>
                </a:solidFill>
                <a:latin typeface="Consolas"/>
              </a:rPr>
              <a:t>        │   │                           column bounds</a:t>
            </a:r>
          </a:p>
          <a:p>
            <a:pPr algn="l">
              <a:lnSpc>
                <a:spcPct val="100000"/>
              </a:lnSpc>
            </a:pPr>
            <a:r>
              <a:rPr sz="1250" b="0" i="0">
                <a:solidFill>
                  <a:srgbClr val="E6EDF3"/>
                </a:solidFill>
                <a:latin typeface="Consolas"/>
              </a:rPr>
              <a:t>        │   └── data/</a:t>
            </a:r>
          </a:p>
          <a:p>
            <a:pPr algn="l">
              <a:lnSpc>
                <a:spcPct val="100000"/>
              </a:lnSpc>
            </a:pPr>
            <a:r>
              <a:rPr sz="1250" b="0" i="0">
                <a:solidFill>
                  <a:srgbClr val="E6EDF3"/>
                </a:solidFill>
                <a:latin typeface="Consolas"/>
              </a:rPr>
              <a:t>        │       ├── business_date=2026-10-19/</a:t>
            </a:r>
          </a:p>
          <a:p>
            <a:pPr algn="l">
              <a:lnSpc>
                <a:spcPct val="100000"/>
              </a:lnSpc>
            </a:pPr>
            <a:r>
              <a:rPr sz="1250" b="0" i="0">
                <a:solidFill>
                  <a:srgbClr val="E6EDF3"/>
                </a:solidFill>
                <a:latin typeface="Consolas"/>
              </a:rPr>
              <a:t>        │       └── business_date=2026-10-20/</a:t>
            </a:r>
          </a:p>
          <a:p>
            <a:pPr algn="l">
              <a:lnSpc>
                <a:spcPct val="100000"/>
              </a:lnSpc>
            </a:pPr>
            <a:r>
              <a:rPr sz="1250" b="0" i="0">
                <a:solidFill>
                  <a:srgbClr val="E6EDF3"/>
                </a:solidFill>
                <a:latin typeface="Consolas"/>
              </a:rPr>
              <a:t>        │           ├── 2026-10-20-00000-&lt;uuid&gt;.parquet  ids A… – C…</a:t>
            </a:r>
          </a:p>
          <a:p>
            <a:pPr algn="l">
              <a:lnSpc>
                <a:spcPct val="100000"/>
              </a:lnSpc>
            </a:pPr>
            <a:r>
              <a:rPr sz="1250" b="0" i="0">
                <a:solidFill>
                  <a:srgbClr val="E6EDF3"/>
                </a:solidFill>
                <a:latin typeface="Consolas"/>
              </a:rPr>
              <a:t>        │           └── 2026-10-20-00001-&lt;uuid&gt;.parquet  ids C… – Z…</a:t>
            </a:r>
          </a:p>
          <a:p>
            <a:pPr algn="l">
              <a:lnSpc>
                <a:spcPct val="100000"/>
              </a:lnSpc>
            </a:pPr>
            <a:r>
              <a:rPr sz="1250" b="0" i="0">
                <a:solidFill>
                  <a:srgbClr val="E6EDF3"/>
                </a:solidFill>
                <a:latin typeface="Consolas"/>
              </a:rPr>
              <a:t>        └── trade_murex/ …</a:t>
            </a:r>
          </a:p>
        </p:txBody>
      </p:sp>
      <p:graphicFrame>
        <p:nvGraphicFramePr>
          <p:cNvPr id="11" name="Table 10"/>
          <p:cNvGraphicFramePr>
            <a:graphicFrameLocks noGrp="1"/>
          </p:cNvGraphicFramePr>
          <p:nvPr/>
        </p:nvGraphicFramePr>
        <p:xfrm>
          <a:off x="7635240" y="1143000"/>
          <a:ext cx="4142232" cy="3441850"/>
        </p:xfrm>
        <a:graphic>
          <a:graphicData uri="http://schemas.openxmlformats.org/drawingml/2006/table">
            <a:tbl>
              <a:tblPr firstRow="1" bandRow="1">
                <a:tableStyleId>{5940675A-B579-460E-94D1-54222C63F5DA}</a:tableStyleId>
              </a:tblPr>
              <a:tblGrid>
                <a:gridCol w="1737360"/>
                <a:gridCol w="2404872"/>
              </a:tblGrid>
              <a:tr h="435254">
                <a:tc>
                  <a:txBody>
                    <a:bodyPr wrap="square"/>
                    <a:lstStyle/>
                    <a:p>
                      <a:pPr algn="l">
                        <a:lnSpc>
                          <a:spcPct val="100000"/>
                        </a:lnSpc>
                      </a:pPr>
                      <a:r>
                        <a:rPr sz="1150" b="1" i="0">
                          <a:solidFill>
                            <a:srgbClr val="FFFFFF"/>
                          </a:solidFill>
                          <a:latin typeface="Calibri"/>
                        </a:rPr>
                        <a:t>Choice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876376">
                <a:tc>
                  <a:txBody>
                    <a:bodyPr wrap="square"/>
                    <a:lstStyle/>
                    <a:p>
                      <a:pPr algn="l">
                        <a:lnSpc>
                          <a:spcPct val="100000"/>
                        </a:lnSpc>
                      </a:pPr>
                      <a:r>
                        <a:rPr sz="1150" b="1" i="0">
                          <a:solidFill>
                            <a:srgbClr val="1C2433"/>
                          </a:solidFill>
                          <a:latin typeface="Calibri"/>
                        </a:rPr>
                        <a:t>One table per source system and kind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each source loads, restates and fails on its own (</a:t>
                      </a:r>
                      <a:r>
                        <a:rPr sz="1050" b="0" i="0">
                          <a:solidFill>
                            <a:srgbClr val="0E7C86"/>
                          </a:solidFill>
                          <a:latin typeface="Consolas"/>
                        </a:rPr>
                        <a:t>table.trade: trade_calypso</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Domain as the first folder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connector's </a:t>
                      </a:r>
                      <a:r>
                        <a:rPr sz="1050" b="0" i="0">
                          <a:solidFill>
                            <a:srgbClr val="0E7C86"/>
                          </a:solidFill>
                          <a:latin typeface="Consolas"/>
                        </a:rPr>
                        <a:t>domain</a:t>
                      </a:r>
                      <a:r>
                        <a:rPr sz="1150" b="0" i="0">
                          <a:solidFill>
                            <a:srgbClr val="1C2433"/>
                          </a:solidFill>
                          <a:latin typeface="Calibri"/>
                        </a:rPr>
                        <a:t>; IAM and lifecycle can name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876376">
                <a:tc>
                  <a:txBody>
                    <a:bodyPr wrap="square"/>
                    <a:lstStyle/>
                    <a:p>
                      <a:pPr algn="l">
                        <a:lnSpc>
                          <a:spcPct val="100000"/>
                        </a:lnSpc>
                      </a:pPr>
                      <a:r>
                        <a:rPr sz="1050" b="1" i="0">
                          <a:solidFill>
                            <a:srgbClr val="0E7C86"/>
                          </a:solidFill>
                          <a:latin typeface="Consolas"/>
                        </a:rPr>
                        <a:t>metadata/</a:t>
                      </a:r>
                      <a:r>
                        <a:rPr sz="1150" b="1" i="0">
                          <a:solidFill>
                            <a:srgbClr val="1C2433"/>
                          </a:solidFill>
                          <a:latin typeface="Calibri"/>
                        </a:rPr>
                        <a:t> beside </a:t>
                      </a:r>
                      <a:r>
                        <a:rPr sz="1050" b="1" i="0">
                          <a:solidFill>
                            <a:srgbClr val="0E7C86"/>
                          </a:solidFill>
                          <a:latin typeface="Consolas"/>
                        </a:rPr>
                        <a:t>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whole table under one prefix: copy, replicate, grant as a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26922">
                <a:tc>
                  <a:txBody>
                    <a:bodyPr wrap="square"/>
                    <a:lstStyle/>
                    <a:p>
                      <a:pPr algn="l">
                        <a:lnSpc>
                          <a:spcPct val="100000"/>
                        </a:lnSpc>
                      </a:pPr>
                      <a:r>
                        <a:rPr sz="1150" b="1" i="0">
                          <a:solidFill>
                            <a:srgbClr val="1C2433"/>
                          </a:solidFill>
                          <a:latin typeface="Calibri"/>
                        </a:rPr>
                        <a:t>Absolute paths in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moved table needs </a:t>
                      </a:r>
                      <a:r>
                        <a:rPr sz="1050" b="0" i="0">
                          <a:solidFill>
                            <a:srgbClr val="0E7C86"/>
                          </a:solidFill>
                          <a:latin typeface="Consolas"/>
                        </a:rPr>
                        <a:t>relocate</a:t>
                      </a:r>
                      <a:r>
                        <a:rPr sz="1150" b="0" i="0">
                          <a:solidFill>
                            <a:srgbClr val="1C2433"/>
                          </a:solidFill>
                          <a:latin typeface="Calibri"/>
                        </a:rPr>
                        <a:t> (native 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Columns and table properties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7</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38</a:t>
            </a:r>
          </a:p>
        </p:txBody>
      </p:sp>
      <p:graphicFrame>
        <p:nvGraphicFramePr>
          <p:cNvPr id="9" name="Table 8"/>
          <p:cNvGraphicFramePr>
            <a:graphicFrameLocks noGrp="1"/>
          </p:cNvGraphicFramePr>
          <p:nvPr/>
        </p:nvGraphicFramePr>
        <p:xfrm>
          <a:off x="411480" y="1143000"/>
          <a:ext cx="11365992" cy="1870860"/>
        </p:xfrm>
        <a:graphic>
          <a:graphicData uri="http://schemas.openxmlformats.org/drawingml/2006/table">
            <a:tbl>
              <a:tblPr firstRow="1" bandRow="1">
                <a:tableStyleId>{5940675A-B579-460E-94D1-54222C63F5DA}</a:tableStyleId>
              </a:tblPr>
              <a:tblGrid>
                <a:gridCol w="3017520"/>
                <a:gridCol w="1737360"/>
                <a:gridCol w="6611112"/>
              </a:tblGrid>
              <a:tr h="374172">
                <a:tc>
                  <a:txBody>
                    <a:bodyPr wrap="square"/>
                    <a:lstStyle/>
                    <a:p>
                      <a:pPr algn="l">
                        <a:lnSpc>
                          <a:spcPct val="100000"/>
                        </a:lnSpc>
                      </a:pPr>
                      <a:r>
                        <a:rPr sz="1200" b="1" i="0">
                          <a:solidFill>
                            <a:srgbClr val="FFFFFF"/>
                          </a:solidFill>
                          <a:latin typeface="Calibri"/>
                        </a:rPr>
                        <a:t>Column (field 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Type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Content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74172">
                <a:tc>
                  <a:txBody>
                    <a:bodyPr wrap="square"/>
                    <a:lstStyle/>
                    <a:p>
                      <a:pPr algn="l">
                        <a:lnSpc>
                          <a:spcPct val="100000"/>
                        </a:lnSpc>
                      </a:pPr>
                      <a:r>
                        <a:rPr sz="1100" b="1" i="0">
                          <a:solidFill>
                            <a:srgbClr val="0E7C86"/>
                          </a:solidFill>
                          <a:latin typeface="Consolas"/>
                        </a:rPr>
                        <a:t>id</a:t>
                      </a:r>
                      <a:r>
                        <a:rPr sz="1200" b="1" i="0">
                          <a:solidFill>
                            <a:srgbClr val="1C2433"/>
                          </a:solidFill>
                          <a:latin typeface="Calibri"/>
                        </a:rPr>
                        <a:t> (1)</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string, required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entity's id: </a:t>
                      </a:r>
                      <a:r>
                        <a:rPr sz="1100" b="0" i="0">
                          <a:solidFill>
                            <a:srgbClr val="0E7C86"/>
                          </a:solidFill>
                          <a:latin typeface="Consolas"/>
                        </a:rPr>
                        <a:t>MX-20000001</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4172">
                <a:tc>
                  <a:txBody>
                    <a:bodyPr wrap="square"/>
                    <a:lstStyle/>
                    <a:p>
                      <a:pPr algn="l">
                        <a:lnSpc>
                          <a:spcPct val="100000"/>
                        </a:lnSpc>
                      </a:pPr>
                      <a:r>
                        <a:rPr sz="1100" b="1" i="0">
                          <a:solidFill>
                            <a:srgbClr val="0E7C86"/>
                          </a:solidFill>
                          <a:latin typeface="Consolas"/>
                        </a:rPr>
                        <a:t>doc</a:t>
                      </a:r>
                      <a:r>
                        <a:rPr sz="1200" b="1" i="0">
                          <a:solidFill>
                            <a:srgbClr val="1C2433"/>
                          </a:solidFill>
                          <a:latin typeface="Calibri"/>
                        </a:rPr>
                        <a:t> (2)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string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whole JSON document, exactly what a view shows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74172">
                <a:tc>
                  <a:txBody>
                    <a:bodyPr wrap="square"/>
                    <a:lstStyle/>
                    <a:p>
                      <a:pPr algn="l">
                        <a:lnSpc>
                          <a:spcPct val="100000"/>
                        </a:lnSpc>
                      </a:pPr>
                      <a:r>
                        <a:rPr sz="1100" b="1" i="0">
                          <a:solidFill>
                            <a:srgbClr val="0E7C86"/>
                          </a:solidFill>
                          <a:latin typeface="Consolas"/>
                        </a:rPr>
                        <a:t>business_date</a:t>
                      </a:r>
                      <a:r>
                        <a:rPr sz="1200" b="1" i="0">
                          <a:solidFill>
                            <a:srgbClr val="1C2433"/>
                          </a:solidFill>
                          <a:latin typeface="Calibri"/>
                        </a:rPr>
                        <a:t> (3)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date, required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identity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74172">
                <a:tc>
                  <a:txBody>
                    <a:bodyPr wrap="square"/>
                    <a:lstStyle/>
                    <a:p>
                      <a:pPr algn="l">
                        <a:lnSpc>
                          <a:spcPct val="100000"/>
                        </a:lnSpc>
                      </a:pPr>
                      <a:r>
                        <a:rPr sz="1200" b="1" i="0">
                          <a:solidFill>
                            <a:srgbClr val="1C2433"/>
                          </a:solidFill>
                          <a:latin typeface="Calibri"/>
                        </a:rPr>
                        <a:t>promoted (</a:t>
                      </a:r>
                      <a:r>
                        <a:rPr sz="1100" b="1" i="0">
                          <a:solidFill>
                            <a:srgbClr val="0E7C86"/>
                          </a:solidFill>
                          <a:latin typeface="Consolas"/>
                        </a:rPr>
                        <a:t>TRADE_ID</a:t>
                      </a:r>
                      <a:r>
                        <a:rPr sz="1200" b="1" i="0">
                          <a:solidFill>
                            <a:srgbClr val="1C2433"/>
                          </a:solidFill>
                          <a:latin typeface="Calibri"/>
                        </a:rPr>
                        <a:t>, </a:t>
                      </a:r>
                      <a:r>
                        <a:rPr sz="1100" b="1" i="0">
                          <a:solidFill>
                            <a:srgbClr val="0E7C86"/>
                          </a:solidFill>
                          <a:latin typeface="Consolas"/>
                        </a:rPr>
                        <a:t>PORTFOLIO</a:t>
                      </a:r>
                      <a:r>
                        <a:rPr sz="1200" b="1" i="0">
                          <a:solidFill>
                            <a:srgbClr val="1C2433"/>
                          </a:solidFill>
                          <a:latin typeface="Calibri"/>
                        </a:rPr>
                        <a:t>,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string / double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pack's </a:t>
                      </a:r>
                      <a:r>
                        <a:rPr sz="1100" b="0" i="0">
                          <a:solidFill>
                            <a:srgbClr val="0E7C86"/>
                          </a:solidFill>
                          <a:latin typeface="Consolas"/>
                        </a:rPr>
                        <a:t>layout.&lt;kind&gt;.columns</a:t>
                      </a:r>
                      <a:r>
                        <a:rPr sz="1200" b="0" i="0">
                          <a:solidFill>
                            <a:srgbClr val="1C2433"/>
                          </a:solidFill>
                          <a:latin typeface="Calibri"/>
                        </a:rPr>
                        <a:t>; </a:t>
                      </a:r>
                      <a:r>
                        <a:rPr sz="1100" b="0" i="0">
                          <a:solidFill>
                            <a:srgbClr val="0E7C86"/>
                          </a:solidFill>
                          <a:latin typeface="Consolas"/>
                        </a:rPr>
                        <a:t>LEGS.CURRENCY</a:t>
                      </a:r>
                      <a:r>
                        <a:rPr sz="1200" b="0" i="0">
                          <a:solidFill>
                            <a:srgbClr val="1C2433"/>
                          </a:solidFill>
                          <a:latin typeface="Calibri"/>
                        </a:rPr>
                        <a:t> → </a:t>
                      </a:r>
                      <a:r>
                        <a:rPr sz="1100" b="0" i="0">
                          <a:solidFill>
                            <a:srgbClr val="0E7C86"/>
                          </a:solidFill>
                          <a:latin typeface="Consolas"/>
                        </a:rPr>
                        <a:t>LEGS__CURRENCY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graphicFrame>
        <p:nvGraphicFramePr>
          <p:cNvPr id="10" name="Table 9"/>
          <p:cNvGraphicFramePr>
            <a:graphicFrameLocks noGrp="1"/>
          </p:cNvGraphicFramePr>
          <p:nvPr/>
        </p:nvGraphicFramePr>
        <p:xfrm>
          <a:off x="411480" y="3337560"/>
          <a:ext cx="11365992" cy="2806290"/>
        </p:xfrm>
        <a:graphic>
          <a:graphicData uri="http://schemas.openxmlformats.org/drawingml/2006/table">
            <a:tbl>
              <a:tblPr firstRow="1" bandRow="1">
                <a:tableStyleId>{5940675A-B579-460E-94D1-54222C63F5DA}</a:tableStyleId>
              </a:tblPr>
              <a:tblGrid>
                <a:gridCol w="3566160"/>
                <a:gridCol w="2651760"/>
                <a:gridCol w="5148072"/>
              </a:tblGrid>
              <a:tr h="311810">
                <a:tc>
                  <a:txBody>
                    <a:bodyPr wrap="square"/>
                    <a:lstStyle/>
                    <a:p>
                      <a:pPr algn="l">
                        <a:lnSpc>
                          <a:spcPct val="100000"/>
                        </a:lnSpc>
                      </a:pPr>
                      <a:r>
                        <a:rPr sz="1150" b="1" i="0">
                          <a:solidFill>
                            <a:srgbClr val="FFFFFF"/>
                          </a:solidFill>
                          <a:latin typeface="Calibri"/>
                        </a:rPr>
                        <a:t>Property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Value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1810">
                <a:tc>
                  <a:txBody>
                    <a:bodyPr wrap="square"/>
                    <a:lstStyle/>
                    <a:p>
                      <a:pPr algn="l">
                        <a:lnSpc>
                          <a:spcPct val="100000"/>
                        </a:lnSpc>
                      </a:pPr>
                      <a:r>
                        <a:rPr sz="1150" b="1" i="0">
                          <a:solidFill>
                            <a:srgbClr val="1C2433"/>
                          </a:solidFill>
                          <a:latin typeface="Calibri"/>
                        </a:rPr>
                        <a:t>partition spec / sort order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identity(business_date)</a:t>
                      </a:r>
                      <a:r>
                        <a:rPr sz="1150" b="0" i="0">
                          <a:solidFill>
                            <a:srgbClr val="1C2433"/>
                          </a:solidFill>
                          <a:latin typeface="Calibri"/>
                        </a:rPr>
                        <a:t> / </a:t>
                      </a:r>
                      <a:r>
                        <a:rPr sz="1050" b="0" i="0">
                          <a:solidFill>
                            <a:srgbClr val="0E7C86"/>
                          </a:solidFill>
                          <a:latin typeface="Consolas"/>
                        </a:rPr>
                        <a:t>id ASC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a day is a unit; engines that honour the sort order keep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format-version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position and equality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write.parquet.row-group-size-bytes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1,048,576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one read decodes about 3 MB of documents (sized compressed)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write.parquet.compression-codec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zstd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about 0.7 KB per 6.5 KB trade (measured)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write.metadata.metrics.column.doc</a:t>
                      </a:r>
                      <a:r>
                        <a:rPr sz="1150" b="1" i="0">
                          <a:solidFill>
                            <a:srgbClr val="1C2433"/>
                          </a:solidFill>
                          <a:latin typeface="Calibri"/>
                        </a:rPr>
                        <a:t> / </a:t>
                      </a:r>
                      <a:r>
                        <a:rPr sz="1050" b="1" i="0">
                          <a:solidFill>
                            <a:srgbClr val="0E7C86"/>
                          </a:solidFill>
                          <a:latin typeface="Consolas"/>
                        </a:rPr>
                        <a:t>.id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 / full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 bounds of documents; exact id bounds per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write.metadata.previous-versions-max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50 (delete after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old metadata files removed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810">
                <a:tc>
                  <a:txBody>
                    <a:bodyPr wrap="square"/>
                    <a:lstStyle/>
                    <a:p>
                      <a:pPr algn="l">
                        <a:lnSpc>
                          <a:spcPct val="100000"/>
                        </a:lnSpc>
                      </a:pPr>
                      <a:r>
                        <a:rPr sz="1050" b="1" i="0">
                          <a:solidFill>
                            <a:srgbClr val="0E7C86"/>
                          </a:solidFill>
                          <a:latin typeface="Consolas"/>
                        </a:rPr>
                        <a:t>commit.retry.num-retries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10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concurrent day commits retry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810">
                <a:tc>
                  <a:txBody>
                    <a:bodyPr wrap="square"/>
                    <a:lstStyle/>
                    <a:p>
                      <a:pPr algn="l">
                        <a:lnSpc>
                          <a:spcPct val="100000"/>
                        </a:lnSpc>
                      </a:pPr>
                      <a:r>
                        <a:rPr sz="1050" b="1" i="0">
                          <a:solidFill>
                            <a:srgbClr val="0E7C86"/>
                          </a:solidFill>
                          <a:latin typeface="Consolas"/>
                        </a:rPr>
                        <a:t>drishti.layout.file-rows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250,000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rows per file; maintenance re-cuts drifted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Partitions, and what each read needs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7</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39</a:t>
            </a:r>
          </a:p>
        </p:txBody>
      </p:sp>
      <p:graphicFrame>
        <p:nvGraphicFramePr>
          <p:cNvPr id="9" name="Table 8"/>
          <p:cNvGraphicFramePr>
            <a:graphicFrameLocks noGrp="1"/>
          </p:cNvGraphicFramePr>
          <p:nvPr/>
        </p:nvGraphicFramePr>
        <p:xfrm>
          <a:off x="411480" y="1143000"/>
          <a:ext cx="11365992" cy="2040940"/>
        </p:xfrm>
        <a:graphic>
          <a:graphicData uri="http://schemas.openxmlformats.org/drawingml/2006/table">
            <a:tbl>
              <a:tblPr firstRow="1" bandRow="1">
                <a:tableStyleId>{5940675A-B579-460E-94D1-54222C63F5DA}</a:tableStyleId>
              </a:tblPr>
              <a:tblGrid>
                <a:gridCol w="1737360"/>
                <a:gridCol w="2560320"/>
                <a:gridCol w="2834640"/>
                <a:gridCol w="4233672"/>
              </a:tblGrid>
              <a:tr h="373075">
                <a:tc>
                  <a:txBody>
                    <a:bodyPr wrap="square"/>
                    <a:lstStyle/>
                    <a:p>
                      <a:pPr algn="l">
                        <a:lnSpc>
                          <a:spcPct val="100000"/>
                        </a:lnSpc>
                      </a:pPr>
                      <a:r>
                        <a:rPr sz="1200" b="1" i="0">
                          <a:solidFill>
                            <a:srgbClr val="FFFFFF"/>
                          </a:solidFill>
                          <a:latin typeface="Calibri"/>
                        </a:rPr>
                        <a:t>Key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on AWS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55955">
                <a:tc>
                  <a:txBody>
                    <a:bodyPr wrap="square"/>
                    <a:lstStyle/>
                    <a:p>
                      <a:pPr algn="l">
                        <a:lnSpc>
                          <a:spcPct val="100000"/>
                        </a:lnSpc>
                      </a:pPr>
                      <a:r>
                        <a:rPr sz="1200" b="1" i="0">
                          <a:solidFill>
                            <a:srgbClr val="1C2433"/>
                          </a:solidFill>
                          <a:latin typeface="Calibri"/>
                        </a:rPr>
                        <a:t>business_date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first partition key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only partition (identity)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 interactive read names a date; a day is loaded, restated, dropped as a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55955">
                <a:tc>
                  <a:txBody>
                    <a:bodyPr wrap="square"/>
                    <a:lstStyle/>
                    <a:p>
                      <a:pPr algn="l">
                        <a:lnSpc>
                          <a:spcPct val="100000"/>
                        </a:lnSpc>
                      </a:pPr>
                      <a:r>
                        <a:rPr sz="1200" b="1" i="0">
                          <a:solidFill>
                            <a:srgbClr val="1C2433"/>
                          </a:solidFill>
                          <a:latin typeface="Calibri"/>
                        </a:rPr>
                        <a:t>PRODUCT_TYPE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second key (</a:t>
                      </a:r>
                      <a:r>
                        <a:rPr sz="1100" b="0" i="0">
                          <a:solidFill>
                            <a:srgbClr val="0E7C86"/>
                          </a:solidFill>
                          <a:latin typeface="Consolas"/>
                        </a:rPr>
                        <a:t>--partition-by</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not a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Delta needs it to sort a partition in one batch; Iceberg sorts a whole day externally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55955">
                <a:tc>
                  <a:txBody>
                    <a:bodyPr wrap="square"/>
                    <a:lstStyle/>
                    <a:p>
                      <a:pPr algn="l">
                        <a:lnSpc>
                          <a:spcPct val="100000"/>
                        </a:lnSpc>
                      </a:pPr>
                      <a:r>
                        <a:rPr sz="1200" b="1" i="0">
                          <a:solidFill>
                            <a:srgbClr val="1C2433"/>
                          </a:solidFill>
                          <a:latin typeface="Calibri"/>
                        </a:rPr>
                        <a:t>Hidden transforms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read for any table (</a:t>
                      </a:r>
                      <a:r>
                        <a:rPr sz="1100" b="0" i="0">
                          <a:solidFill>
                            <a:srgbClr val="0E7C86"/>
                          </a:solidFill>
                          <a:latin typeface="Consolas"/>
                        </a:rPr>
                        <a:t>day(ts)</a:t>
                      </a:r>
                      <a:r>
                        <a:rPr sz="1200" b="0" i="0">
                          <a:solidFill>
                            <a:srgbClr val="1C2433"/>
                          </a:solidFill>
                          <a:latin typeface="Calibri"/>
                        </a:rPr>
                        <a:t>, </a:t>
                      </a:r>
                      <a:r>
                        <a:rPr sz="1100" b="0" i="0">
                          <a:solidFill>
                            <a:srgbClr val="0E7C86"/>
                          </a:solidFill>
                          <a:latin typeface="Consolas"/>
                        </a:rPr>
                        <a:t>bucket(id)</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other engines' tables, served by </a:t>
                      </a:r>
                      <a:r>
                        <a:rPr sz="1100" b="0" i="0">
                          <a:solidFill>
                            <a:srgbClr val="0E7C86"/>
                          </a:solidFill>
                          <a:latin typeface="Consolas"/>
                        </a:rPr>
                        <a:t>iceberg-external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graphicFrame>
        <p:nvGraphicFramePr>
          <p:cNvPr id="10" name="Table 9"/>
          <p:cNvGraphicFramePr>
            <a:graphicFrameLocks noGrp="1"/>
          </p:cNvGraphicFramePr>
          <p:nvPr/>
        </p:nvGraphicFramePr>
        <p:xfrm>
          <a:off x="411480" y="3657600"/>
          <a:ext cx="11365992" cy="2176270"/>
        </p:xfrm>
        <a:graphic>
          <a:graphicData uri="http://schemas.openxmlformats.org/drawingml/2006/table">
            <a:tbl>
              <a:tblPr firstRow="1" bandRow="1">
                <a:tableStyleId>{5940675A-B579-460E-94D1-54222C63F5DA}</a:tableStyleId>
              </a:tblPr>
              <a:tblGrid>
                <a:gridCol w="2377440"/>
                <a:gridCol w="4572000"/>
                <a:gridCol w="4416552"/>
              </a:tblGrid>
              <a:tr h="435254">
                <a:tc>
                  <a:txBody>
                    <a:bodyPr wrap="square"/>
                    <a:lstStyle/>
                    <a:p>
                      <a:pPr algn="l">
                        <a:lnSpc>
                          <a:spcPct val="100000"/>
                        </a:lnSpc>
                      </a:pPr>
                      <a:r>
                        <a:rPr sz="1200" b="1" i="0">
                          <a:solidFill>
                            <a:srgbClr val="FFFFFF"/>
                          </a:solidFill>
                          <a:latin typeface="Calibri"/>
                        </a:rPr>
                        <a:t>Need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What it reads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So the table needs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One 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day's id map, then one row group of one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rows sorted by id; small row groups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History of one entity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layout's days whose id map holds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business_date</a:t>
                      </a:r>
                      <a:r>
                        <a:rPr sz="1200" b="0" i="0">
                          <a:solidFill>
                            <a:srgbClr val="1C2433"/>
                          </a:solidFill>
                          <a:latin typeface="Calibri"/>
                        </a:rPr>
                        <a:t> as the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Search, pick lists, impact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day's column set: id and promoted columns, never </a:t>
                      </a:r>
                      <a:r>
                        <a:rPr sz="1100" b="0" i="0">
                          <a:solidFill>
                            <a:srgbClr val="0E7C86"/>
                          </a:solidFill>
                          <a:latin typeface="Consolas"/>
                        </a:rPr>
                        <a:t>doc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every searched field promoted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File and row-group skipping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manifest bounds per file; footer statistics per row group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metrics on id and promoted columns, none on </a:t>
                      </a:r>
                      <a:r>
                        <a:rPr sz="1100" b="0" i="0">
                          <a:solidFill>
                            <a:srgbClr val="0E7C86"/>
                          </a:solidFill>
                          <a:latin typeface="Consolas"/>
                        </a:rPr>
                        <a:t>doc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08</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Files and loading</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Sizes, row groups, sorting, one commit per day, the daily load on AWS, backfill and restatement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numbers, Delta and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8</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41</a:t>
            </a:r>
          </a:p>
        </p:txBody>
      </p:sp>
      <p:graphicFrame>
        <p:nvGraphicFramePr>
          <p:cNvPr id="9" name="Table 8"/>
          <p:cNvGraphicFramePr>
            <a:graphicFrameLocks noGrp="1"/>
          </p:cNvGraphicFramePr>
          <p:nvPr/>
        </p:nvGraphicFramePr>
        <p:xfrm>
          <a:off x="411480" y="1143000"/>
          <a:ext cx="11365992" cy="4335472"/>
        </p:xfrm>
        <a:graphic>
          <a:graphicData uri="http://schemas.openxmlformats.org/drawingml/2006/table">
            <a:tbl>
              <a:tblPr firstRow="1" bandRow="1">
                <a:tableStyleId>{5940675A-B579-460E-94D1-54222C63F5DA}</a:tableStyleId>
              </a:tblPr>
              <a:tblGrid>
                <a:gridCol w="1828800"/>
                <a:gridCol w="3108960"/>
                <a:gridCol w="3840480"/>
                <a:gridCol w="2587752"/>
              </a:tblGrid>
              <a:tr h="435254">
                <a:tc>
                  <a:txBody>
                    <a:bodyPr wrap="square"/>
                    <a:lstStyle/>
                    <a:p>
                      <a:pPr algn="l">
                        <a:lnSpc>
                          <a:spcPct val="100000"/>
                        </a:lnSpc>
                      </a:pPr>
                      <a:r>
                        <a:rPr sz="1200" b="1" i="0">
                          <a:solidFill>
                            <a:srgbClr val="FFFFFF"/>
                          </a:solidFill>
                          <a:latin typeface="Calibri"/>
                        </a:rPr>
                        <a:t>Setting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Why it differs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Rows per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250,000 (</a:t>
                      </a:r>
                      <a:r>
                        <a:rPr sz="1100" b="0" i="0">
                          <a:solidFill>
                            <a:srgbClr val="0E7C86"/>
                          </a:solidFill>
                          <a:latin typeface="Consolas"/>
                        </a:rPr>
                        <a:t>file-rows</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250,000 (</a:t>
                      </a:r>
                      <a:r>
                        <a:rPr sz="1100" b="0" i="0">
                          <a:solidFill>
                            <a:srgbClr val="0E7C86"/>
                          </a:solidFill>
                          <a:latin typeface="Consolas"/>
                        </a:rPr>
                        <a:t>--file-rows</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Row group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 MB (</a:t>
                      </a:r>
                      <a:r>
                        <a:rPr sz="1100" b="0" i="0">
                          <a:solidFill>
                            <a:srgbClr val="0E7C86"/>
                          </a:solidFill>
                          <a:latin typeface="Consolas"/>
                        </a:rPr>
                        <a:t>LAKE_ROW_GROUP_KB</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 MB </a:t>
                      </a:r>
                      <a:r>
                        <a:rPr sz="1200" b="1" i="0">
                          <a:solidFill>
                            <a:srgbClr val="1C2433"/>
                          </a:solidFill>
                          <a:latin typeface="Calibri"/>
                        </a:rPr>
                        <a:t>compressed</a:t>
                      </a:r>
                      <a:r>
                        <a:rPr sz="1200" b="0" i="0">
                          <a:solidFill>
                            <a:srgbClr val="1C2433"/>
                          </a:solidFill>
                          <a:latin typeface="Calibri"/>
                        </a:rPr>
                        <a:t> (</a:t>
                      </a:r>
                      <a:r>
                        <a:rPr sz="1100" b="0" i="0">
                          <a:solidFill>
                            <a:srgbClr val="0E7C86"/>
                          </a:solidFill>
                          <a:latin typeface="Consolas"/>
                        </a:rPr>
                        <a:t>--row-group-mb</a:t>
                      </a:r>
                      <a:r>
                        <a:rPr sz="1200" b="0" i="0">
                          <a:solidFill>
                            <a:srgbClr val="1C2433"/>
                          </a:solidFill>
                          <a:latin typeface="Calibri"/>
                        </a:rPr>
                        <a:t>): 300–700 trades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Iceberg sizes by compressed bytes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Compression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Snappy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zstd (about 9× on 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writers' choices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Statistics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log: id, business_date, promoted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manifests: id full, promoted, none on </a:t>
                      </a:r>
                      <a:r>
                        <a:rPr sz="1100" b="0" i="0">
                          <a:solidFill>
                            <a:srgbClr val="0E7C86"/>
                          </a:solidFill>
                          <a:latin typeface="Consolas"/>
                        </a:rPr>
                        <a:t>doc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Sort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by id within a batch (</a:t>
                      </a:r>
                      <a:r>
                        <a:rPr sz="1100" b="0" i="0">
                          <a:solidFill>
                            <a:srgbClr val="0E7C86"/>
                          </a:solidFill>
                          <a:latin typeface="Consolas"/>
                        </a:rPr>
                        <a:t>LAKE_BATCH_ROWS</a:t>
                      </a:r>
                      <a:r>
                        <a:rPr sz="1200" b="0" i="0">
                          <a:solidFill>
                            <a:srgbClr val="1C2433"/>
                          </a:solidFill>
                          <a:latin typeface="Calibri"/>
                        </a:rPr>
                        <a:t> 250,000)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by id over the whole day (external sort, spill)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 partition-size limit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Commit unit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one per table per day (</a:t>
                      </a:r>
                      <a:r>
                        <a:rPr sz="1100" b="0" i="0">
                          <a:solidFill>
                            <a:srgbClr val="0E7C86"/>
                          </a:solidFill>
                          <a:latin typeface="Consolas"/>
                        </a:rPr>
                        <a:t>lake publish</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one per day of ≥ 100,000 rows; small days together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fewer commits for small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History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log 30 days, files 7 days (7 years in risk)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snapshots 168 h (</a:t>
                      </a:r>
                      <a:r>
                        <a:rPr sz="1100" b="0" i="0">
                          <a:solidFill>
                            <a:srgbClr val="0E7C86"/>
                          </a:solidFill>
                          <a:latin typeface="Consolas"/>
                        </a:rPr>
                        <a:t>--expire-hours</a:t>
                      </a:r>
                      <a:r>
                        <a:rPr sz="1200" b="0" i="0">
                          <a:solidFill>
                            <a:srgbClr val="1C2433"/>
                          </a:solidFill>
                          <a:latin typeface="Calibri"/>
                        </a:rPr>
                        <a:t>); metadata 50 versions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see section 13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Sorted by id, one commit per day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8</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42</a:t>
            </a:r>
          </a:p>
        </p:txBody>
      </p:sp>
      <p:sp>
        <p:nvSpPr>
          <p:cNvPr id="9" name="Rounded Rectangle 8"/>
          <p:cNvSpPr/>
          <p:nvPr/>
        </p:nvSpPr>
        <p:spPr>
          <a:xfrm>
            <a:off x="411480" y="1188720"/>
            <a:ext cx="2651760"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2468879" cy="329184"/>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read</a:t>
            </a:r>
          </a:p>
        </p:txBody>
      </p:sp>
      <p:sp>
        <p:nvSpPr>
          <p:cNvPr id="11" name="TextBox 10"/>
          <p:cNvSpPr txBox="1"/>
          <p:nvPr/>
        </p:nvSpPr>
        <p:spPr>
          <a:xfrm>
            <a:off x="502920" y="1554480"/>
            <a:ext cx="2468879" cy="96012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JSON Lines from a file or stdin; dates after tomorrow refused</a:t>
            </a:r>
          </a:p>
        </p:txBody>
      </p:sp>
      <p:cxnSp>
        <p:nvCxnSpPr>
          <p:cNvPr id="12" name="Connector 11"/>
          <p:cNvCxnSpPr/>
          <p:nvPr/>
        </p:nvCxnSpPr>
        <p:spPr>
          <a:xfrm>
            <a:off x="3063240" y="1874519"/>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246120" y="1188720"/>
            <a:ext cx="2651760"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3337560" y="1234440"/>
            <a:ext cx="2468879" cy="329184"/>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sort</a:t>
            </a:r>
          </a:p>
        </p:txBody>
      </p:sp>
      <p:sp>
        <p:nvSpPr>
          <p:cNvPr id="15" name="TextBox 14"/>
          <p:cNvSpPr txBox="1"/>
          <p:nvPr/>
        </p:nvSpPr>
        <p:spPr>
          <a:xfrm>
            <a:off x="3337560" y="1554480"/>
            <a:ext cx="2468879" cy="96012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per day, in memory up to </a:t>
            </a:r>
            <a:r>
              <a:rPr sz="1150" b="0" i="0">
                <a:solidFill>
                  <a:srgbClr val="0E7C86"/>
                </a:solidFill>
                <a:latin typeface="Consolas"/>
              </a:rPr>
              <a:t>--buffer-mb</a:t>
            </a:r>
            <a:r>
              <a:rPr sz="1250" b="0" i="0">
                <a:solidFill>
                  <a:srgbClr val="1C2433"/>
                </a:solidFill>
                <a:latin typeface="Calibri"/>
              </a:rPr>
              <a:t>, spilled runs beyond</a:t>
            </a:r>
          </a:p>
        </p:txBody>
      </p:sp>
      <p:cxnSp>
        <p:nvCxnSpPr>
          <p:cNvPr id="16" name="Connector 15"/>
          <p:cNvCxnSpPr/>
          <p:nvPr/>
        </p:nvCxnSpPr>
        <p:spPr>
          <a:xfrm>
            <a:off x="5897880" y="1874519"/>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80760" y="1188720"/>
            <a:ext cx="2651760"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172200" y="1234440"/>
            <a:ext cx="2468879" cy="329184"/>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merge</a:t>
            </a:r>
          </a:p>
        </p:txBody>
      </p:sp>
      <p:sp>
        <p:nvSpPr>
          <p:cNvPr id="19" name="TextBox 18"/>
          <p:cNvSpPr txBox="1"/>
          <p:nvPr/>
        </p:nvSpPr>
        <p:spPr>
          <a:xfrm>
            <a:off x="6172200" y="1554480"/>
            <a:ext cx="2468879" cy="96012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runs merged in id order; files of 250,000 rows</a:t>
            </a:r>
          </a:p>
        </p:txBody>
      </p:sp>
      <p:cxnSp>
        <p:nvCxnSpPr>
          <p:cNvPr id="20" name="Connector 19"/>
          <p:cNvCxnSpPr/>
          <p:nvPr/>
        </p:nvCxnSpPr>
        <p:spPr>
          <a:xfrm>
            <a:off x="8732520" y="1874519"/>
            <a:ext cx="182880"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915400" y="1188720"/>
            <a:ext cx="2651760" cy="13716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9006840" y="1234440"/>
            <a:ext cx="2468879" cy="329184"/>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commit</a:t>
            </a:r>
          </a:p>
        </p:txBody>
      </p:sp>
      <p:sp>
        <p:nvSpPr>
          <p:cNvPr id="23" name="TextBox 22"/>
          <p:cNvSpPr txBox="1"/>
          <p:nvPr/>
        </p:nvSpPr>
        <p:spPr>
          <a:xfrm>
            <a:off x="9006840" y="1554480"/>
            <a:ext cx="2468879" cy="96012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one overwrite of the day's partition: readers see the old day or the new</a:t>
            </a:r>
          </a:p>
        </p:txBody>
      </p:sp>
      <p:sp>
        <p:nvSpPr>
          <p:cNvPr id="24" name="TextBox 23"/>
          <p:cNvSpPr txBox="1"/>
          <p:nvPr/>
        </p:nvSpPr>
        <p:spPr>
          <a:xfrm>
            <a:off x="411480" y="2788920"/>
            <a:ext cx="6766560" cy="3566160"/>
          </a:xfrm>
          <a:prstGeom prst="rect">
            <a:avLst/>
          </a:prstGeom>
          <a:noFill/>
        </p:spPr>
        <p:txBody>
          <a:bodyPr wrap="square" lIns="45720" rIns="45720" tIns="27432" bIns="27432" anchor="t">
            <a:spAutoFit/>
          </a:bodyPr>
          <a:lstStyle/>
          <a:p>
            <a:pPr algn="l">
              <a:lnSpc>
                <a:spcPct val="105000"/>
              </a:lnSpc>
              <a:spcAft>
                <a:spcPts val="500"/>
              </a:spcAft>
            </a:pPr>
            <a:r>
              <a:rPr sz="1350" b="0" i="0">
                <a:solidFill>
                  <a:srgbClr val="E87A1E"/>
                </a:solidFill>
                <a:latin typeface="Calibri"/>
              </a:rPr>
              <a:t>•  </a:t>
            </a:r>
            <a:r>
              <a:rPr sz="1350" b="0" i="0">
                <a:solidFill>
                  <a:srgbClr val="1C2433"/>
                </a:solidFill>
                <a:latin typeface="Calibri"/>
              </a:rPr>
              <a:t>A file holds a contiguous id range; manifests keep each file's min and max </a:t>
            </a:r>
            <a:r>
              <a:rPr sz="1250" b="0" i="0">
                <a:solidFill>
                  <a:srgbClr val="0E7C86"/>
                </a:solidFill>
                <a:latin typeface="Consolas"/>
              </a:rPr>
              <a:t>id</a:t>
            </a:r>
            <a:r>
              <a:rPr sz="1350" b="0" i="0">
                <a:solidFill>
                  <a:srgbClr val="1C2433"/>
                </a:solidFill>
                <a:latin typeface="Calibri"/>
              </a:rPr>
              <a:t>; footers each row group's: one id reads one row group</a:t>
            </a:r>
          </a:p>
          <a:p>
            <a:pPr algn="l">
              <a:lnSpc>
                <a:spcPct val="105000"/>
              </a:lnSpc>
              <a:spcAft>
                <a:spcPts val="500"/>
              </a:spcAft>
            </a:pPr>
            <a:r>
              <a:rPr sz="1350" b="0" i="0">
                <a:solidFill>
                  <a:srgbClr val="E87A1E"/>
                </a:solidFill>
                <a:latin typeface="Calibri"/>
              </a:rPr>
              <a:t>•  </a:t>
            </a:r>
            <a:r>
              <a:rPr sz="1350" b="0" i="0">
                <a:solidFill>
                  <a:srgbClr val="1C2433"/>
                </a:solidFill>
                <a:latin typeface="Calibri"/>
              </a:rPr>
              <a:t>Sorting has </a:t>
            </a:r>
            <a:r>
              <a:rPr sz="1350" b="1" i="0">
                <a:solidFill>
                  <a:srgbClr val="1C2433"/>
                </a:solidFill>
                <a:latin typeface="Calibri"/>
              </a:rPr>
              <a:t>no batch limit</a:t>
            </a:r>
            <a:r>
              <a:rPr sz="1350" b="0" i="0">
                <a:solidFill>
                  <a:srgbClr val="1C2433"/>
                </a:solidFill>
                <a:latin typeface="Calibri"/>
              </a:rPr>
              <a:t> (unlike </a:t>
            </a:r>
            <a:r>
              <a:rPr sz="1250" b="0" i="0">
                <a:solidFill>
                  <a:srgbClr val="0E7C86"/>
                </a:solidFill>
                <a:latin typeface="Consolas"/>
              </a:rPr>
              <a:t>lake build</a:t>
            </a:r>
            <a:r>
              <a:rPr sz="1350" b="0" i="0">
                <a:solidFill>
                  <a:srgbClr val="1C2433"/>
                </a:solidFill>
                <a:latin typeface="Calibri"/>
              </a:rPr>
              <a:t>'s 250,000 rows): the spill directory needs about the JSON's size</a:t>
            </a:r>
          </a:p>
          <a:p>
            <a:pPr algn="l">
              <a:lnSpc>
                <a:spcPct val="105000"/>
              </a:lnSpc>
              <a:spcAft>
                <a:spcPts val="500"/>
              </a:spcAft>
            </a:pPr>
            <a:r>
              <a:rPr sz="1350" b="0" i="0">
                <a:solidFill>
                  <a:srgbClr val="E87A1E"/>
                </a:solidFill>
                <a:latin typeface="Calibri"/>
              </a:rPr>
              <a:t>•  </a:t>
            </a:r>
            <a:r>
              <a:rPr sz="1350" b="0" i="0">
                <a:solidFill>
                  <a:srgbClr val="1C2433"/>
                </a:solidFill>
                <a:latin typeface="Calibri"/>
              </a:rPr>
              <a:t>A day is replaced whole: the load is idempotent; </a:t>
            </a:r>
            <a:r>
              <a:rPr sz="1350" b="0" i="1">
                <a:solidFill>
                  <a:srgbClr val="1C2433"/>
                </a:solidFill>
                <a:latin typeface="Calibri"/>
              </a:rPr>
              <a:t>known at</a:t>
            </a:r>
            <a:r>
              <a:rPr sz="1350" b="0" i="0">
                <a:solidFill>
                  <a:srgbClr val="1C2433"/>
                </a:solidFill>
                <a:latin typeface="Calibri"/>
              </a:rPr>
              <a:t> before the commit still sees the old day</a:t>
            </a:r>
          </a:p>
          <a:p>
            <a:pPr algn="l">
              <a:lnSpc>
                <a:spcPct val="105000"/>
              </a:lnSpc>
              <a:spcAft>
                <a:spcPts val="500"/>
              </a:spcAft>
            </a:pPr>
            <a:r>
              <a:rPr sz="1350" b="0" i="0">
                <a:solidFill>
                  <a:srgbClr val="E87A1E"/>
                </a:solidFill>
                <a:latin typeface="Calibri"/>
              </a:rPr>
              <a:t>•  </a:t>
            </a:r>
            <a:r>
              <a:rPr sz="1350" b="0" i="0">
                <a:solidFill>
                  <a:srgbClr val="1C2433"/>
                </a:solidFill>
                <a:latin typeface="Calibri"/>
              </a:rPr>
              <a:t>Another engine (Spark) writes the same layout: </a:t>
            </a:r>
            <a:r>
              <a:rPr sz="1250" b="0" i="0">
                <a:solidFill>
                  <a:srgbClr val="0E7C86"/>
                </a:solidFill>
                <a:latin typeface="Consolas"/>
              </a:rPr>
              <a:t>repartitionByRange("id").sortWithinPartitions("id")</a:t>
            </a:r>
            <a:r>
              <a:rPr sz="1350" b="0" i="0">
                <a:solidFill>
                  <a:srgbClr val="1C2433"/>
                </a:solidFill>
                <a:latin typeface="Calibri"/>
              </a:rPr>
              <a:t>, </a:t>
            </a:r>
            <a:r>
              <a:rPr sz="1250" b="0" i="0">
                <a:solidFill>
                  <a:srgbClr val="0E7C86"/>
                </a:solidFill>
                <a:latin typeface="Consolas"/>
              </a:rPr>
              <a:t>WRITE ORDERED BY id</a:t>
            </a:r>
          </a:p>
        </p:txBody>
      </p:sp>
      <p:sp>
        <p:nvSpPr>
          <p:cNvPr id="25" name="Rounded Rectangle 24"/>
          <p:cNvSpPr/>
          <p:nvPr/>
        </p:nvSpPr>
        <p:spPr>
          <a:xfrm>
            <a:off x="7498079" y="2788920"/>
            <a:ext cx="4279392" cy="14630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7635240" y="2880360"/>
            <a:ext cx="400507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 40 s a million</a:t>
            </a:r>
          </a:p>
        </p:txBody>
      </p:sp>
      <p:sp>
        <p:nvSpPr>
          <p:cNvPr id="27" name="TextBox 26"/>
          <p:cNvSpPr txBox="1"/>
          <p:nvPr/>
        </p:nvSpPr>
        <p:spPr>
          <a:xfrm>
            <a:off x="7635240" y="3429000"/>
            <a:ext cx="4005072" cy="77724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a day of 1,000,000 trades written by one thread: 4 files, 0.70–0.75 GB (estimate from a trial)</a:t>
            </a:r>
          </a:p>
        </p:txBody>
      </p:sp>
      <p:sp>
        <p:nvSpPr>
          <p:cNvPr id="28" name="Rounded Rectangle 27"/>
          <p:cNvSpPr/>
          <p:nvPr/>
        </p:nvSpPr>
        <p:spPr>
          <a:xfrm>
            <a:off x="7498079" y="4434840"/>
            <a:ext cx="4279392" cy="14630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xtBox 28"/>
          <p:cNvSpPr txBox="1"/>
          <p:nvPr/>
        </p:nvSpPr>
        <p:spPr>
          <a:xfrm>
            <a:off x="7635240" y="4526279"/>
            <a:ext cx="400507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17,910 rows in 8 s</a:t>
            </a:r>
          </a:p>
        </p:txBody>
      </p:sp>
      <p:sp>
        <p:nvSpPr>
          <p:cNvPr id="30" name="TextBox 29"/>
          <p:cNvSpPr txBox="1"/>
          <p:nvPr/>
        </p:nvSpPr>
        <p:spPr>
          <a:xfrm>
            <a:off x="7635240" y="5074920"/>
            <a:ext cx="4005072" cy="77724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the samples into 46 tables, measured; 30,000 trade-days in 5 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daily load on AWS: Delta's four steps, Iceberg's one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8</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43</a:t>
            </a:r>
          </a:p>
        </p:txBody>
      </p:sp>
      <p:sp>
        <p:nvSpPr>
          <p:cNvPr id="9" name="TextBox 8"/>
          <p:cNvSpPr txBox="1"/>
          <p:nvPr/>
        </p:nvSpPr>
        <p:spPr>
          <a:xfrm>
            <a:off x="411480" y="114300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Delta (built): build locally, then publish</a:t>
            </a:r>
          </a:p>
        </p:txBody>
      </p:sp>
      <p:sp>
        <p:nvSpPr>
          <p:cNvPr id="10" name="Rounded Rectangle 9"/>
          <p:cNvSpPr/>
          <p:nvPr/>
        </p:nvSpPr>
        <p:spPr>
          <a:xfrm>
            <a:off x="411480" y="155448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aws s3 sync</a:t>
            </a:r>
          </a:p>
        </p:txBody>
      </p:sp>
      <p:sp>
        <p:nvSpPr>
          <p:cNvPr id="12" name="TextBox 11"/>
          <p:cNvSpPr txBox="1"/>
          <p:nvPr/>
        </p:nvSpPr>
        <p:spPr>
          <a:xfrm>
            <a:off x="502920" y="192024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landing → EFS scratch</a:t>
            </a:r>
          </a:p>
        </p:txBody>
      </p:sp>
      <p:cxnSp>
        <p:nvCxnSpPr>
          <p:cNvPr id="13" name="Connector 12"/>
          <p:cNvCxnSpPr/>
          <p:nvPr/>
        </p:nvCxnSpPr>
        <p:spPr>
          <a:xfrm>
            <a:off x="3108960" y="2267712"/>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11480" y="242316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502920" y="246887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lake build</a:t>
            </a:r>
          </a:p>
        </p:txBody>
      </p:sp>
      <p:sp>
        <p:nvSpPr>
          <p:cNvPr id="16" name="TextBox 15"/>
          <p:cNvSpPr txBox="1"/>
          <p:nvPr/>
        </p:nvSpPr>
        <p:spPr>
          <a:xfrm>
            <a:off x="502920" y="278892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scratch Delta table</a:t>
            </a:r>
          </a:p>
        </p:txBody>
      </p:sp>
      <p:cxnSp>
        <p:nvCxnSpPr>
          <p:cNvPr id="17" name="Connector 16"/>
          <p:cNvCxnSpPr/>
          <p:nvPr/>
        </p:nvCxnSpPr>
        <p:spPr>
          <a:xfrm>
            <a:off x="3108960" y="3136391"/>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1480" y="3291839"/>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02920" y="333755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aws s3 sync</a:t>
            </a:r>
          </a:p>
        </p:txBody>
      </p:sp>
      <p:sp>
        <p:nvSpPr>
          <p:cNvPr id="20" name="TextBox 19"/>
          <p:cNvSpPr txBox="1"/>
          <p:nvPr/>
        </p:nvSpPr>
        <p:spPr>
          <a:xfrm>
            <a:off x="502920" y="3657599"/>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data files → S3</a:t>
            </a:r>
          </a:p>
        </p:txBody>
      </p:sp>
      <p:cxnSp>
        <p:nvCxnSpPr>
          <p:cNvPr id="21" name="Connector 20"/>
          <p:cNvCxnSpPr/>
          <p:nvPr/>
        </p:nvCxnSpPr>
        <p:spPr>
          <a:xfrm>
            <a:off x="3108960" y="4005072"/>
            <a:ext cx="0" cy="155448"/>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11480" y="4160520"/>
            <a:ext cx="5394960" cy="713232"/>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502920" y="420624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lake publish</a:t>
            </a:r>
          </a:p>
        </p:txBody>
      </p:sp>
      <p:sp>
        <p:nvSpPr>
          <p:cNvPr id="24" name="TextBox 23"/>
          <p:cNvSpPr txBox="1"/>
          <p:nvPr/>
        </p:nvSpPr>
        <p:spPr>
          <a:xfrm>
            <a:off x="502920" y="4526280"/>
            <a:ext cx="5212080" cy="301752"/>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one commit, conditional PUT</a:t>
            </a:r>
          </a:p>
        </p:txBody>
      </p:sp>
      <p:sp>
        <p:nvSpPr>
          <p:cNvPr id="25" name="TextBox 24"/>
          <p:cNvSpPr txBox="1"/>
          <p:nvPr/>
        </p:nvSpPr>
        <p:spPr>
          <a:xfrm>
            <a:off x="6217920" y="114300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Iceberg (PROPOSED script): the loader writes S3</a:t>
            </a:r>
          </a:p>
        </p:txBody>
      </p:sp>
      <p:sp>
        <p:nvSpPr>
          <p:cNvPr id="26" name="Rounded Rectangle 25"/>
          <p:cNvSpPr/>
          <p:nvPr/>
        </p:nvSpPr>
        <p:spPr>
          <a:xfrm>
            <a:off x="6217920" y="1554480"/>
            <a:ext cx="5559552" cy="192024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309359" y="1600200"/>
            <a:ext cx="5376672"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IcebergLoader, engine native</a:t>
            </a:r>
          </a:p>
        </p:txBody>
      </p:sp>
      <p:sp>
        <p:nvSpPr>
          <p:cNvPr id="28" name="TextBox 27"/>
          <p:cNvSpPr txBox="1"/>
          <p:nvPr/>
        </p:nvSpPr>
        <p:spPr>
          <a:xfrm>
            <a:off x="6309359" y="1920240"/>
            <a:ext cx="5376672" cy="150876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reads the landing dumps (stdin or a file)</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sorts each day by id, spills to EFS or ephemeral disk</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writes Parquet and manifests to </a:t>
            </a:r>
            <a:r>
              <a:rPr sz="1150" b="0" i="0">
                <a:solidFill>
                  <a:srgbClr val="0E7C86"/>
                </a:solidFill>
                <a:latin typeface="Consolas"/>
              </a:rPr>
              <a:t>s3://…/iceberg/&lt;domain&gt;/&lt;table&gt;/</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commits: conditional PUT of </a:t>
            </a:r>
            <a:r>
              <a:rPr sz="1150" b="0" i="0">
                <a:solidFill>
                  <a:srgbClr val="0E7C86"/>
                </a:solidFill>
                <a:latin typeface="Consolas"/>
              </a:rPr>
              <a:t>vN+1.metadata.json</a:t>
            </a:r>
            <a:r>
              <a:rPr sz="1250" b="0" i="0">
                <a:solidFill>
                  <a:srgbClr val="1C2433"/>
                </a:solidFill>
                <a:latin typeface="Calibri"/>
              </a:rPr>
              <a:t>, then </a:t>
            </a:r>
            <a:r>
              <a:rPr sz="1150" b="0" i="0">
                <a:solidFill>
                  <a:srgbClr val="0E7C86"/>
                </a:solidFill>
                <a:latin typeface="Consolas"/>
              </a:rPr>
              <a:t>version-hint.text</a:t>
            </a:r>
          </a:p>
        </p:txBody>
      </p:sp>
      <p:sp>
        <p:nvSpPr>
          <p:cNvPr id="29" name="Rounded Rectangle 28"/>
          <p:cNvSpPr/>
          <p:nvPr/>
        </p:nvSpPr>
        <p:spPr>
          <a:xfrm>
            <a:off x="6217920" y="3611880"/>
            <a:ext cx="5559552" cy="146304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327648" y="3685032"/>
            <a:ext cx="5340096" cy="1316736"/>
          </a:xfrm>
          <a:prstGeom prst="rect">
            <a:avLst/>
          </a:prstGeom>
          <a:noFill/>
        </p:spPr>
        <p:txBody>
          <a:bodyPr wrap="square" lIns="45720" rIns="45720" tIns="27432" bIns="27432" anchor="t">
            <a:spAutoFit/>
          </a:bodyPr>
          <a:lstStyle/>
          <a:p>
            <a:pPr algn="l">
              <a:lnSpc>
                <a:spcPct val="100000"/>
              </a:lnSpc>
            </a:pPr>
            <a:r>
              <a:rPr sz="1100" b="0" i="0">
                <a:solidFill>
                  <a:srgbClr val="E6EDF3"/>
                </a:solidFill>
                <a:latin typeface="Consolas"/>
              </a:rPr>
              <a:t>aws s3 cp s3://…-landing/2026-10-20/calypso/ - \</a:t>
            </a:r>
          </a:p>
          <a:p>
            <a:pPr algn="l">
              <a:lnSpc>
                <a:spcPct val="100000"/>
              </a:lnSpc>
            </a:pPr>
            <a:r>
              <a:rPr sz="1100" b="0" i="0">
                <a:solidFill>
                  <a:srgbClr val="E6EDF3"/>
                </a:solidFill>
                <a:latin typeface="Consolas"/>
              </a:rPr>
              <a:t>    --recursive … | java \</a:t>
            </a:r>
          </a:p>
          <a:p>
            <a:pPr algn="l">
              <a:lnSpc>
                <a:spcPct val="100000"/>
              </a:lnSpc>
            </a:pPr>
            <a:r>
              <a:rPr sz="1100" b="0" i="0">
                <a:solidFill>
                  <a:srgbClr val="E6EDF3"/>
                </a:solidFill>
                <a:latin typeface="Consolas"/>
              </a:rPr>
              <a:t>  -Dloader.main=…iceberg.IcebergLoader \</a:t>
            </a:r>
          </a:p>
          <a:p>
            <a:pPr algn="l">
              <a:lnSpc>
                <a:spcPct val="100000"/>
              </a:lnSpc>
            </a:pPr>
            <a:r>
              <a:rPr sz="1100" b="0" i="0">
                <a:solidFill>
                  <a:srgbClr val="E6EDF3"/>
                </a:solidFill>
                <a:latin typeface="Consolas"/>
              </a:rPr>
              <a:t>  -jar drishti-server-exec.jar \</a:t>
            </a:r>
          </a:p>
          <a:p>
            <a:pPr algn="l">
              <a:lnSpc>
                <a:spcPct val="100000"/>
              </a:lnSpc>
            </a:pPr>
            <a:r>
              <a:rPr sz="1100" b="0" i="0">
                <a:solidFill>
                  <a:srgbClr val="E6EDF3"/>
                </a:solidFill>
                <a:latin typeface="Consolas"/>
              </a:rPr>
              <a:t>  - s3://…-lake/iceberg --engine native</a:t>
            </a:r>
          </a:p>
        </p:txBody>
      </p:sp>
      <p:sp>
        <p:nvSpPr>
          <p:cNvPr id="31" name="Rounded Rectangle 30"/>
          <p:cNvSpPr/>
          <p:nvPr/>
        </p:nvSpPr>
        <p:spPr>
          <a:xfrm>
            <a:off x="411480" y="5257800"/>
            <a:ext cx="11365992" cy="10515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Rectangle 31"/>
          <p:cNvSpPr/>
          <p:nvPr/>
        </p:nvSpPr>
        <p:spPr>
          <a:xfrm>
            <a:off x="411480" y="5257800"/>
            <a:ext cx="82296" cy="10515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640080" y="5312664"/>
            <a:ext cx="11000232" cy="9418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Fewer moving parts on Iceberg:</a:t>
            </a:r>
            <a:r>
              <a:rPr sz="1300" b="0" i="0">
                <a:solidFill>
                  <a:srgbClr val="1C2433"/>
                </a:solidFill>
                <a:latin typeface="Calibri"/>
              </a:rPr>
              <a:t> no scratch table and no second sync; the loader holds the table's lock only while it writes. Keep the Delta scripts' rules: one table per lock, </a:t>
            </a:r>
            <a:r>
              <a:rPr sz="1200" b="0" i="0">
                <a:solidFill>
                  <a:srgbClr val="0E7C86"/>
                </a:solidFill>
                <a:latin typeface="Consolas"/>
              </a:rPr>
              <a:t>--dry-run</a:t>
            </a:r>
            <a:r>
              <a:rPr sz="1300" b="0" i="0">
                <a:solidFill>
                  <a:srgbClr val="1C2433"/>
                </a:solidFill>
                <a:latin typeface="Calibri"/>
              </a:rPr>
              <a:t>, exit codes, metrics to </a:t>
            </a:r>
            <a:r>
              <a:rPr sz="1200" b="0" i="0">
                <a:solidFill>
                  <a:srgbClr val="0E7C86"/>
                </a:solidFill>
                <a:latin typeface="Consolas"/>
              </a:rPr>
              <a:t>Drishti/Lake</a:t>
            </a:r>
            <a:r>
              <a:rPr sz="1300" b="0" i="0">
                <a:solidFill>
                  <a:srgbClr val="1C2433"/>
                </a:solidFill>
                <a:latin typeface="Calibri"/>
              </a:rPr>
              <a: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Backfill and restatement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8</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44</a:t>
            </a:r>
          </a:p>
        </p:txBody>
      </p:sp>
      <p:graphicFrame>
        <p:nvGraphicFramePr>
          <p:cNvPr id="9" name="Table 8"/>
          <p:cNvGraphicFramePr>
            <a:graphicFrameLocks noGrp="1"/>
          </p:cNvGraphicFramePr>
          <p:nvPr/>
        </p:nvGraphicFramePr>
        <p:xfrm>
          <a:off x="411480" y="1143000"/>
          <a:ext cx="11365992" cy="2176270"/>
        </p:xfrm>
        <a:graphic>
          <a:graphicData uri="http://schemas.openxmlformats.org/drawingml/2006/table">
            <a:tbl>
              <a:tblPr firstRow="1" bandRow="1">
                <a:tableStyleId>{5940675A-B579-460E-94D1-54222C63F5DA}</a:tableStyleId>
              </a:tblPr>
              <a:tblGrid>
                <a:gridCol w="2286000"/>
                <a:gridCol w="4206240"/>
                <a:gridCol w="4873752"/>
              </a:tblGrid>
              <a:tr h="435254">
                <a:tc>
                  <a:txBody>
                    <a:bodyPr wrap="square"/>
                    <a:lstStyle/>
                    <a:p>
                      <a:pPr algn="l">
                        <a:lnSpc>
                          <a:spcPct val="100000"/>
                        </a:lnSpc>
                      </a:pPr>
                      <a:r>
                        <a:rPr sz="1200" b="1" i="0">
                          <a:solidFill>
                            <a:srgbClr val="FFFFFF"/>
                          </a:solidFill>
                          <a:latin typeface="Calibri"/>
                        </a:rPr>
                        <a:t>A source re-sent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(built scripts)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 (loader built; script 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some whole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backfill.sh --dates 2026-10-14,2026-10-15</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load the days again: each replaces its partition in one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one product type of a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load-day.sh … --mode overwrite-partitions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whole day again (product type is not a partition)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years of history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backfill.sh --from … --to …</a:t>
                      </a:r>
                      <a:r>
                        <a:rPr sz="1200" b="0" i="0">
                          <a:solidFill>
                            <a:srgbClr val="1C2433"/>
                          </a:solidFill>
                          <a:latin typeface="Calibri"/>
                        </a:rPr>
                        <a:t>, oldest first, resumable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load per range; days of ≥ 100,000 rows commit as written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old days to drop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lake maintain</a:t>
                      </a:r>
                      <a:r>
                        <a:rPr sz="1200" b="0" i="0">
                          <a:solidFill>
                            <a:srgbClr val="1C2433"/>
                          </a:solidFill>
                          <a:latin typeface="Calibri"/>
                        </a:rPr>
                        <a:t> retention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IcebergMaintenance --keep-days</a:t>
                      </a:r>
                      <a:r>
                        <a:rPr sz="1200" b="0" i="0">
                          <a:solidFill>
                            <a:srgbClr val="1C2433"/>
                          </a:solidFill>
                          <a:latin typeface="Calibri"/>
                        </a:rPr>
                        <a:t> (metadata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TextBox 9"/>
          <p:cNvSpPr txBox="1"/>
          <p:nvPr/>
        </p:nvSpPr>
        <p:spPr>
          <a:xfrm>
            <a:off x="411480" y="3886200"/>
            <a:ext cx="11365992" cy="1371600"/>
          </a:xfrm>
          <a:prstGeom prst="rect">
            <a:avLst/>
          </a:prstGeom>
          <a:noFill/>
        </p:spPr>
        <p:txBody>
          <a:bodyPr wrap="square" lIns="45720" rIns="45720" tIns="27432" bIns="27432" anchor="t">
            <a:spAutoFit/>
          </a:bodyPr>
          <a:lstStyle/>
          <a:p>
            <a:pPr algn="l">
              <a:lnSpc>
                <a:spcPct val="105000"/>
              </a:lnSpc>
              <a:spcAft>
                <a:spcPts val="500"/>
              </a:spcAft>
            </a:pPr>
            <a:r>
              <a:rPr sz="1350" b="0" i="0">
                <a:solidFill>
                  <a:srgbClr val="E87A1E"/>
                </a:solidFill>
                <a:latin typeface="Calibri"/>
              </a:rPr>
              <a:t>•  </a:t>
            </a:r>
            <a:r>
              <a:rPr sz="1350" b="0" i="0">
                <a:solidFill>
                  <a:srgbClr val="1C2433"/>
                </a:solidFill>
                <a:latin typeface="Calibri"/>
              </a:rPr>
              <a:t>Readers switch at the commit; a reader sees the old day or the new, never a mixture (both formats)</a:t>
            </a:r>
          </a:p>
          <a:p>
            <a:pPr algn="l">
              <a:lnSpc>
                <a:spcPct val="105000"/>
              </a:lnSpc>
              <a:spcAft>
                <a:spcPts val="500"/>
              </a:spcAft>
            </a:pPr>
            <a:r>
              <a:rPr sz="1350" b="0" i="0">
                <a:solidFill>
                  <a:srgbClr val="E87A1E"/>
                </a:solidFill>
                <a:latin typeface="Calibri"/>
              </a:rPr>
              <a:t>•  </a:t>
            </a:r>
            <a:r>
              <a:rPr sz="1350" b="0" i="1">
                <a:solidFill>
                  <a:srgbClr val="1C2433"/>
                </a:solidFill>
                <a:latin typeface="Calibri"/>
              </a:rPr>
              <a:t>Known at</a:t>
            </a:r>
            <a:r>
              <a:rPr sz="1350" b="0" i="0">
                <a:solidFill>
                  <a:srgbClr val="1C2433"/>
                </a:solidFill>
                <a:latin typeface="Calibri"/>
              </a:rPr>
              <a:t> before the restatement shows the day as it was until snapshots expire (Iceberg) or vacuum runs (Delta)</a:t>
            </a:r>
          </a:p>
          <a:p>
            <a:pPr algn="l">
              <a:lnSpc>
                <a:spcPct val="105000"/>
              </a:lnSpc>
              <a:spcAft>
                <a:spcPts val="500"/>
              </a:spcAft>
            </a:pPr>
            <a:r>
              <a:rPr sz="1350" b="0" i="0">
                <a:solidFill>
                  <a:srgbClr val="E87A1E"/>
                </a:solidFill>
                <a:latin typeface="Calibri"/>
              </a:rPr>
              <a:t>•  </a:t>
            </a:r>
            <a:r>
              <a:rPr sz="1350" b="0" i="0">
                <a:solidFill>
                  <a:srgbClr val="1C2433"/>
                </a:solidFill>
                <a:latin typeface="Calibri"/>
              </a:rPr>
              <a:t>Data files of an old restated day tier by their date prefix at the next lifecycle run (the rule is by date, not object age)</a:t>
            </a:r>
          </a:p>
        </p:txBody>
      </p:sp>
      <p:sp>
        <p:nvSpPr>
          <p:cNvPr id="11" name="Rounded Rectangle 10"/>
          <p:cNvSpPr/>
          <p:nvPr/>
        </p:nvSpPr>
        <p:spPr>
          <a:xfrm>
            <a:off x="411480" y="5349240"/>
            <a:ext cx="11365992" cy="96012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Rectangle 11"/>
          <p:cNvSpPr/>
          <p:nvPr/>
        </p:nvSpPr>
        <p:spPr>
          <a:xfrm>
            <a:off x="411480" y="5349240"/>
            <a:ext cx="82296" cy="9601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40080" y="5404103"/>
            <a:ext cx="11000232" cy="85039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Guarded:</a:t>
            </a:r>
            <a:r>
              <a:rPr sz="1300" b="0" i="0">
                <a:solidFill>
                  <a:srgbClr val="1C2433"/>
                </a:solidFill>
                <a:latin typeface="Calibri"/>
              </a:rPr>
              <a:t> removing more than half of a table's rows fails, removing nothing, unless </a:t>
            </a:r>
            <a:r>
              <a:rPr sz="1200" b="0" i="0">
                <a:solidFill>
                  <a:srgbClr val="0E7C86"/>
                </a:solidFill>
                <a:latin typeface="Consolas"/>
              </a:rPr>
              <a:t>--force-drop</a:t>
            </a:r>
            <a:r>
              <a:rPr sz="1300" b="0" i="0">
                <a:solidFill>
                  <a:srgbClr val="1C2433"/>
                </a:solidFill>
                <a:latin typeface="Calibri"/>
              </a:rPr>
              <a:t>; a row dated after tomorrow in the business zone is not loaded and the load ends with an error naming it.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09</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Maintenance</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What a nightly Iceberg maintenance task would run, why snapshots must be expired, orphan files, and what managed platforms do instead</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a nightly Iceberg maintenance run does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9</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46</a:t>
            </a:r>
          </a:p>
        </p:txBody>
      </p:sp>
      <p:sp>
        <p:nvSpPr>
          <p:cNvPr id="9" name="Rounded Rectangle 8"/>
          <p:cNvSpPr/>
          <p:nvPr/>
        </p:nvSpPr>
        <p:spPr>
          <a:xfrm>
            <a:off x="411480" y="1143000"/>
            <a:ext cx="10040112" cy="68580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16152"/>
            <a:ext cx="9820656" cy="539496"/>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java -cp &lt;server exec jar&gt; com.ash.drishti.plugin.iceberg.IcebergMaintenance s3://…/iceberg \</a:t>
            </a:r>
          </a:p>
          <a:p>
            <a:pPr algn="l">
              <a:lnSpc>
                <a:spcPct val="100000"/>
              </a:lnSpc>
            </a:pPr>
            <a:r>
              <a:rPr sz="1150" b="0" i="0">
                <a:solidFill>
                  <a:srgbClr val="E6EDF3"/>
                </a:solidFill>
                <a:latin typeface="Consolas"/>
              </a:rPr>
              <a:t>     --domain trading --keep-days 1800 --relayout --rewrite-manifests --expire-hours 168</a:t>
            </a:r>
          </a:p>
        </p:txBody>
      </p:sp>
      <p:sp>
        <p:nvSpPr>
          <p:cNvPr id="11" name="Rounded Rectangle 10"/>
          <p:cNvSpPr/>
          <p:nvPr/>
        </p:nvSpPr>
        <p:spPr>
          <a:xfrm>
            <a:off x="10680192" y="1353312"/>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graphicFrame>
        <p:nvGraphicFramePr>
          <p:cNvPr id="12" name="Table 11"/>
          <p:cNvGraphicFramePr>
            <a:graphicFrameLocks noGrp="1"/>
          </p:cNvGraphicFramePr>
          <p:nvPr/>
        </p:nvGraphicFramePr>
        <p:xfrm>
          <a:off x="411480" y="2011680"/>
          <a:ext cx="11365992" cy="2551176"/>
        </p:xfrm>
        <a:graphic>
          <a:graphicData uri="http://schemas.openxmlformats.org/drawingml/2006/table">
            <a:tbl>
              <a:tblPr firstRow="1" bandRow="1">
                <a:tableStyleId>{5940675A-B579-460E-94D1-54222C63F5DA}</a:tableStyleId>
              </a:tblPr>
              <a:tblGrid>
                <a:gridCol w="2194560"/>
                <a:gridCol w="5669280"/>
                <a:gridCol w="3502152"/>
              </a:tblGrid>
              <a:tr h="341496">
                <a:tc>
                  <a:txBody>
                    <a:bodyPr wrap="square"/>
                    <a:lstStyle/>
                    <a:p>
                      <a:pPr algn="l">
                        <a:lnSpc>
                          <a:spcPct val="100000"/>
                        </a:lnSpc>
                      </a:pPr>
                      <a:r>
                        <a:rPr sz="1200" b="1" i="0">
                          <a:solidFill>
                            <a:srgbClr val="FFFFFF"/>
                          </a:solidFill>
                          <a:latin typeface="Calibri"/>
                        </a:rPr>
                        <a:t>Step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Delta's counterpart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41496">
                <a:tc>
                  <a:txBody>
                    <a:bodyPr wrap="square"/>
                    <a:lstStyle/>
                    <a:p>
                      <a:pPr algn="l">
                        <a:lnSpc>
                          <a:spcPct val="100000"/>
                        </a:lnSpc>
                      </a:pPr>
                      <a:r>
                        <a:rPr sz="1100" b="1" i="0">
                          <a:solidFill>
                            <a:srgbClr val="0E7C86"/>
                          </a:solidFill>
                          <a:latin typeface="Consolas"/>
                        </a:rPr>
                        <a:t>--keep-days 1800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drop business days older than seven years: metadata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retention (</a:t>
                      </a:r>
                      <a:r>
                        <a:rPr sz="1100" b="0" i="0">
                          <a:solidFill>
                            <a:srgbClr val="0E7C86"/>
                          </a:solidFill>
                          <a:latin typeface="Consolas"/>
                        </a:rPr>
                        <a:t>keep-business-days</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08896">
                <a:tc>
                  <a:txBody>
                    <a:bodyPr wrap="square"/>
                    <a:lstStyle/>
                    <a:p>
                      <a:pPr algn="l">
                        <a:lnSpc>
                          <a:spcPct val="100000"/>
                        </a:lnSpc>
                      </a:pPr>
                      <a:r>
                        <a:rPr sz="1100" b="1" i="0">
                          <a:solidFill>
                            <a:srgbClr val="0E7C86"/>
                          </a:solidFill>
                          <a:latin typeface="Consolas"/>
                        </a:rPr>
                        <a:t>--relayout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re-sort days another writer appended out of order; fold delete files into 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compaction / 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08896">
                <a:tc>
                  <a:txBody>
                    <a:bodyPr wrap="square"/>
                    <a:lstStyle/>
                    <a:p>
                      <a:pPr algn="l">
                        <a:lnSpc>
                          <a:spcPct val="100000"/>
                        </a:lnSpc>
                      </a:pPr>
                      <a:r>
                        <a:rPr sz="1100" b="1" i="0">
                          <a:solidFill>
                            <a:srgbClr val="0E7C86"/>
                          </a:solidFill>
                          <a:latin typeface="Consolas"/>
                        </a:rPr>
                        <a:t>--rewrite-manifests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manifest per month: planning reads a few dozen manifests, not thousands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41496">
                <a:tc>
                  <a:txBody>
                    <a:bodyPr wrap="square"/>
                    <a:lstStyle/>
                    <a:p>
                      <a:pPr algn="l">
                        <a:lnSpc>
                          <a:spcPct val="100000"/>
                        </a:lnSpc>
                      </a:pPr>
                      <a:r>
                        <a:rPr sz="1100" b="1" i="0">
                          <a:solidFill>
                            <a:srgbClr val="0E7C86"/>
                          </a:solidFill>
                          <a:latin typeface="Consolas"/>
                        </a:rPr>
                        <a:t>--expire-hours 168</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keep the metadata JSON small; bounds </a:t>
                      </a:r>
                      <a:r>
                        <a:rPr sz="1200" b="0" i="1">
                          <a:solidFill>
                            <a:srgbClr val="1C2433"/>
                          </a:solidFill>
                          <a:latin typeface="Calibri"/>
                        </a:rPr>
                        <a:t>known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vacuum + log retention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08896">
                <a:tc>
                  <a:txBody>
                    <a:bodyPr wrap="square"/>
                    <a:lstStyle/>
                    <a:p>
                      <a:pPr algn="l">
                        <a:lnSpc>
                          <a:spcPct val="100000"/>
                        </a:lnSpc>
                      </a:pPr>
                      <a:r>
                        <a:rPr sz="1200" b="1" i="0">
                          <a:solidFill>
                            <a:srgbClr val="1C2433"/>
                          </a:solidFill>
                          <a:latin typeface="Calibri"/>
                        </a:rPr>
                        <a:t>orphan files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files of a crashed writer no snapshot names (not built: use Spark, Athena or Glue)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vacuum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3" name="Rounded Rectangle 12"/>
          <p:cNvSpPr/>
          <p:nvPr/>
        </p:nvSpPr>
        <p:spPr>
          <a:xfrm>
            <a:off x="411480" y="4983480"/>
            <a:ext cx="3657600"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48640" y="5074920"/>
            <a:ext cx="3383280"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160 ms → 33 ms</a:t>
            </a:r>
          </a:p>
        </p:txBody>
      </p:sp>
      <p:sp>
        <p:nvSpPr>
          <p:cNvPr id="15" name="TextBox 14"/>
          <p:cNvSpPr txBox="1"/>
          <p:nvPr/>
        </p:nvSpPr>
        <p:spPr>
          <a:xfrm>
            <a:off x="548640" y="5623560"/>
            <a:ext cx="3383280"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connector start on 1,800 daily commits, before and after manifests + expiry (measured)</a:t>
            </a:r>
          </a:p>
        </p:txBody>
      </p:sp>
      <p:sp>
        <p:nvSpPr>
          <p:cNvPr id="16" name="Rounded Rectangle 15"/>
          <p:cNvSpPr/>
          <p:nvPr/>
        </p:nvSpPr>
        <p:spPr>
          <a:xfrm>
            <a:off x="4251960" y="4983480"/>
            <a:ext cx="3657600"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4389120" y="5074920"/>
            <a:ext cx="3383280"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93 ms a commit</a:t>
            </a:r>
          </a:p>
        </p:txBody>
      </p:sp>
      <p:sp>
        <p:nvSpPr>
          <p:cNvPr id="18" name="TextBox 17"/>
          <p:cNvSpPr txBox="1"/>
          <p:nvPr/>
        </p:nvSpPr>
        <p:spPr>
          <a:xfrm>
            <a:off x="4389120" y="5623560"/>
            <a:ext cx="3383280"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writing a table of 1,800 daily commits (measured, small rows)</a:t>
            </a:r>
          </a:p>
        </p:txBody>
      </p:sp>
      <p:sp>
        <p:nvSpPr>
          <p:cNvPr id="19" name="Rounded Rectangle 18"/>
          <p:cNvSpPr/>
          <p:nvPr/>
        </p:nvSpPr>
        <p:spPr>
          <a:xfrm>
            <a:off x="8092440" y="4983480"/>
            <a:ext cx="3685032" cy="137160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8229600" y="5074920"/>
            <a:ext cx="3410712" cy="548640"/>
          </a:xfrm>
          <a:prstGeom prst="rect">
            <a:avLst/>
          </a:prstGeom>
          <a:noFill/>
        </p:spPr>
        <p:txBody>
          <a:bodyPr wrap="square" lIns="45720" rIns="45720" tIns="27432" bIns="27432" anchor="t">
            <a:spAutoFit/>
          </a:bodyPr>
          <a:lstStyle/>
          <a:p>
            <a:pPr algn="l">
              <a:lnSpc>
                <a:spcPct val="105000"/>
              </a:lnSpc>
            </a:pPr>
            <a:r>
              <a:rPr sz="2400" b="1" i="0">
                <a:solidFill>
                  <a:srgbClr val="0B1E3B"/>
                </a:solidFill>
                <a:latin typeface="Calibri"/>
              </a:rPr>
              <a:t>0.7 s / 2.9 s</a:t>
            </a:r>
          </a:p>
        </p:txBody>
      </p:sp>
      <p:sp>
        <p:nvSpPr>
          <p:cNvPr id="21" name="TextBox 20"/>
          <p:cNvSpPr txBox="1"/>
          <p:nvPr/>
        </p:nvSpPr>
        <p:spPr>
          <a:xfrm>
            <a:off x="8229600" y="5623560"/>
            <a:ext cx="3410712" cy="685800"/>
          </a:xfrm>
          <a:prstGeom prst="rect">
            <a:avLst/>
          </a:prstGeom>
          <a:noFill/>
        </p:spPr>
        <p:txBody>
          <a:bodyPr wrap="square" lIns="45720" rIns="45720" tIns="27432" bIns="27432" anchor="t">
            <a:spAutoFit/>
          </a:bodyPr>
          <a:lstStyle/>
          <a:p>
            <a:pPr algn="l">
              <a:lnSpc>
                <a:spcPct val="105000"/>
              </a:lnSpc>
            </a:pPr>
            <a:r>
              <a:rPr sz="1200" b="0" i="0">
                <a:solidFill>
                  <a:srgbClr val="1C2433"/>
                </a:solidFill>
                <a:latin typeface="Calibri"/>
              </a:rPr>
              <a:t>drift check / keep 5 + rewrite 5 + manifests + expiry, 10,000 trades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10</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Caches and staying fast</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What each server keeps, how Iceberg keys it, what never scans the whole lake, and the numbers to watch</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each server caches, Delta and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10</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48</a:t>
            </a:r>
          </a:p>
        </p:txBody>
      </p:sp>
      <p:graphicFrame>
        <p:nvGraphicFramePr>
          <p:cNvPr id="9" name="Table 8"/>
          <p:cNvGraphicFramePr>
            <a:graphicFrameLocks noGrp="1"/>
          </p:cNvGraphicFramePr>
          <p:nvPr/>
        </p:nvGraphicFramePr>
        <p:xfrm>
          <a:off x="411480" y="1143000"/>
          <a:ext cx="11365992" cy="3316525"/>
        </p:xfrm>
        <a:graphic>
          <a:graphicData uri="http://schemas.openxmlformats.org/drawingml/2006/table">
            <a:tbl>
              <a:tblPr firstRow="1" bandRow="1">
                <a:tableStyleId>{5940675A-B579-460E-94D1-54222C63F5DA}</a:tableStyleId>
              </a:tblPr>
              <a:tblGrid>
                <a:gridCol w="2286000"/>
                <a:gridCol w="3108960"/>
                <a:gridCol w="3291840"/>
                <a:gridCol w="2679192"/>
              </a:tblGrid>
              <a:tr h="391534">
                <a:tc>
                  <a:txBody>
                    <a:bodyPr wrap="square"/>
                    <a:lstStyle/>
                    <a:p>
                      <a:pPr algn="l">
                        <a:lnSpc>
                          <a:spcPct val="100000"/>
                        </a:lnSpc>
                      </a:pPr>
                      <a:r>
                        <a:rPr sz="1200" b="1" i="0">
                          <a:solidFill>
                            <a:srgbClr val="FFFFFF"/>
                          </a:solidFill>
                          <a:latin typeface="Calibri"/>
                        </a:rPr>
                        <a:t>Cache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Keyed by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583463">
                <a:tc>
                  <a:txBody>
                    <a:bodyPr wrap="square"/>
                    <a:lstStyle/>
                    <a:p>
                      <a:pPr algn="l">
                        <a:lnSpc>
                          <a:spcPct val="100000"/>
                        </a:lnSpc>
                      </a:pPr>
                      <a:r>
                        <a:rPr sz="1200" b="1" i="0">
                          <a:solidFill>
                            <a:srgbClr val="1C2433"/>
                          </a:solidFill>
                          <a:latin typeface="Calibri"/>
                        </a:rPr>
                        <a:t>the table's file list /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from the last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per snapshot (</a:t>
                      </a:r>
                      <a:r>
                        <a:rPr sz="1100" b="0" i="0">
                          <a:solidFill>
                            <a:srgbClr val="0E7C86"/>
                          </a:solidFill>
                          <a:latin typeface="Consolas"/>
                        </a:rPr>
                        <a:t>layout-cache</a:t>
                      </a:r>
                      <a:r>
                        <a:rPr sz="1200" b="0" i="0">
                          <a:solidFill>
                            <a:srgbClr val="1C2433"/>
                          </a:solidFill>
                          <a:latin typeface="Calibri"/>
                        </a:rPr>
                        <a:t> 64)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Delta: version; Iceberg: snapshot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3463">
                <a:tc>
                  <a:txBody>
                    <a:bodyPr wrap="square"/>
                    <a:lstStyle/>
                    <a:p>
                      <a:pPr algn="l">
                        <a:lnSpc>
                          <a:spcPct val="100000"/>
                        </a:lnSpc>
                      </a:pPr>
                      <a:r>
                        <a:rPr sz="1200" b="1" i="0">
                          <a:solidFill>
                            <a:srgbClr val="1C2433"/>
                          </a:solidFill>
                          <a:latin typeface="Calibri"/>
                        </a:rPr>
                        <a:t>id maps of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heap (</a:t>
                      </a:r>
                      <a:r>
                        <a:rPr sz="1100" b="0" i="0">
                          <a:solidFill>
                            <a:srgbClr val="0E7C86"/>
                          </a:solidFill>
                          <a:latin typeface="Consolas"/>
                        </a:rPr>
                        <a:t>id-map-mb</a:t>
                      </a:r>
                      <a:r>
                        <a:rPr sz="1200" b="0" i="0">
                          <a:solidFill>
                            <a:srgbClr val="1C2433"/>
                          </a:solidFill>
                          <a:latin typeface="Calibri"/>
                        </a:rPr>
                        <a:t>) </a:t>
                      </a:r>
                      <a:r>
                        <a:rPr sz="1200" b="1" i="0">
                          <a:solidFill>
                            <a:srgbClr val="1C2433"/>
                          </a:solidFill>
                          <a:latin typeface="Calibri"/>
                        </a:rPr>
                        <a:t>and disk</a:t>
                      </a:r>
                      <a:r>
                        <a:rPr sz="1200" b="0" i="0">
                          <a:solidFill>
                            <a:srgbClr val="1C2433"/>
                          </a:solidFill>
                          <a:latin typeface="Calibri"/>
                        </a:rPr>
                        <a:t> (memory-mapped)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heap (</a:t>
                      </a:r>
                      <a:r>
                        <a:rPr sz="1100" b="0" i="0">
                          <a:solidFill>
                            <a:srgbClr val="0E7C86"/>
                          </a:solidFill>
                          <a:latin typeface="Consolas"/>
                        </a:rPr>
                        <a:t>id-map-mb</a:t>
                      </a:r>
                      <a:r>
                        <a:rPr sz="1200" b="0" i="0">
                          <a:solidFill>
                            <a:srgbClr val="1C2433"/>
                          </a:solidFill>
                          <a:latin typeface="Calibri"/>
                        </a:rPr>
                        <a:t>, 1024)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Delta: table version; </a:t>
                      </a:r>
                      <a:r>
                        <a:rPr sz="1200" b="1" i="0">
                          <a:solidFill>
                            <a:srgbClr val="1C2433"/>
                          </a:solidFill>
                          <a:latin typeface="Calibri"/>
                        </a:rPr>
                        <a:t>Iceberg: the day's fingerprint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1534">
                <a:tc>
                  <a:txBody>
                    <a:bodyPr wrap="square"/>
                    <a:lstStyle/>
                    <a:p>
                      <a:pPr algn="l">
                        <a:lnSpc>
                          <a:spcPct val="100000"/>
                        </a:lnSpc>
                      </a:pPr>
                      <a:r>
                        <a:rPr sz="1200" b="1" i="0">
                          <a:solidFill>
                            <a:srgbClr val="1C2433"/>
                          </a:solidFill>
                          <a:latin typeface="Calibri"/>
                        </a:rPr>
                        <a:t>column sets of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a:t>
                      </a:r>
                      <a:r>
                        <a:rPr sz="1100" b="0" i="0">
                          <a:solidFill>
                            <a:srgbClr val="0E7C86"/>
                          </a:solidFill>
                          <a:latin typeface="Consolas"/>
                        </a:rPr>
                        <a:t>columns-cache-mb</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a:t>
                      </a:r>
                      <a:r>
                        <a:rPr sz="1100" b="0" i="0">
                          <a:solidFill>
                            <a:srgbClr val="0E7C86"/>
                          </a:solidFill>
                          <a:latin typeface="Consolas"/>
                        </a:rPr>
                        <a:t>columns-cache-mb</a:t>
                      </a:r>
                      <a:r>
                        <a:rPr sz="1200" b="0" i="0">
                          <a:solidFill>
                            <a:srgbClr val="1C2433"/>
                          </a:solidFill>
                          <a:latin typeface="Calibri"/>
                        </a:rPr>
                        <a:t>, 1024)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as above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91534">
                <a:tc>
                  <a:txBody>
                    <a:bodyPr wrap="square"/>
                    <a:lstStyle/>
                    <a:p>
                      <a:pPr algn="l">
                        <a:lnSpc>
                          <a:spcPct val="100000"/>
                        </a:lnSpc>
                      </a:pPr>
                      <a:r>
                        <a:rPr sz="1200" b="1" i="0">
                          <a:solidFill>
                            <a:srgbClr val="1C2433"/>
                          </a:solidFill>
                          <a:latin typeface="Calibri"/>
                        </a:rPr>
                        <a:t>documents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heap </a:t>
                      </a:r>
                      <a:r>
                        <a:rPr sz="1200" b="1" i="0">
                          <a:solidFill>
                            <a:srgbClr val="1C2433"/>
                          </a:solidFill>
                          <a:latin typeface="Calibri"/>
                        </a:rPr>
                        <a:t>and RocksDB on disk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heap (</a:t>
                      </a:r>
                      <a:r>
                        <a:rPr sz="1100" b="0" i="0">
                          <a:solidFill>
                            <a:srgbClr val="0E7C86"/>
                          </a:solidFill>
                          <a:latin typeface="Consolas"/>
                        </a:rPr>
                        <a:t>doc-cache-mb</a:t>
                      </a:r>
                      <a:r>
                        <a:rPr sz="1200" b="0" i="0">
                          <a:solidFill>
                            <a:srgbClr val="1C2433"/>
                          </a:solidFill>
                          <a:latin typeface="Calibri"/>
                        </a:rPr>
                        <a:t>, 256)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as above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1534">
                <a:tc>
                  <a:txBody>
                    <a:bodyPr wrap="square"/>
                    <a:lstStyle/>
                    <a:p>
                      <a:pPr algn="l">
                        <a:lnSpc>
                          <a:spcPct val="100000"/>
                        </a:lnSpc>
                      </a:pPr>
                      <a:r>
                        <a:rPr sz="1200" b="1" i="0">
                          <a:solidFill>
                            <a:srgbClr val="1C2433"/>
                          </a:solidFill>
                          <a:latin typeface="Calibri"/>
                        </a:rPr>
                        <a:t>Parquet footers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(native engine), shared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heap (native engine), shared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file (never changes)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3463">
                <a:tc>
                  <a:txBody>
                    <a:bodyPr wrap="square"/>
                    <a:lstStyle/>
                    <a:p>
                      <a:pPr algn="l">
                        <a:lnSpc>
                          <a:spcPct val="100000"/>
                        </a:lnSpc>
                      </a:pPr>
                      <a:r>
                        <a:rPr sz="1200" b="1" i="0">
                          <a:solidFill>
                            <a:srgbClr val="1C2433"/>
                          </a:solidFill>
                          <a:latin typeface="Calibri"/>
                        </a:rPr>
                        <a:t>manifests, delete files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heap: 2,000,000 entries; 5,000,000 delete 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4846320"/>
            <a:ext cx="5577840" cy="146304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4846320"/>
            <a:ext cx="82296" cy="14630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4901183"/>
            <a:ext cx="5212079" cy="135331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Iceberg's edge:</a:t>
            </a:r>
            <a:r>
              <a:rPr sz="1250" b="0" i="0">
                <a:solidFill>
                  <a:srgbClr val="1C2433"/>
                </a:solidFill>
                <a:latin typeface="Calibri"/>
              </a:rPr>
              <a:t> committing a new day leaves every other day's caches in place (keyed by the day's files). On Delta a commit moves the table version, so untouched days reload.</a:t>
            </a:r>
          </a:p>
        </p:txBody>
      </p:sp>
      <p:sp>
        <p:nvSpPr>
          <p:cNvPr id="13" name="Rounded Rectangle 12"/>
          <p:cNvSpPr/>
          <p:nvPr/>
        </p:nvSpPr>
        <p:spPr>
          <a:xfrm>
            <a:off x="6172200" y="4846320"/>
            <a:ext cx="5605272" cy="146304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ectangle 13"/>
          <p:cNvSpPr/>
          <p:nvPr/>
        </p:nvSpPr>
        <p:spPr>
          <a:xfrm>
            <a:off x="6172200" y="4846320"/>
            <a:ext cx="82296" cy="146304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400800" y="4901183"/>
            <a:ext cx="5239512" cy="135331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Delta's edge:</a:t>
            </a:r>
            <a:r>
              <a:rPr sz="1250" b="0" i="0">
                <a:solidFill>
                  <a:srgbClr val="1C2433"/>
                </a:solidFill>
                <a:latin typeface="Calibri"/>
              </a:rPr>
              <a:t> id maps and documents survive a restart on disk (EFS or NVMe). PROPOSED for Iceberg: the same disk caches, keyed by the day's fingerprint.</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What never scans the whole lake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10</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49</a:t>
            </a:r>
          </a:p>
        </p:txBody>
      </p:sp>
      <p:graphicFrame>
        <p:nvGraphicFramePr>
          <p:cNvPr id="9" name="Table 8"/>
          <p:cNvGraphicFramePr>
            <a:graphicFrameLocks noGrp="1"/>
          </p:cNvGraphicFramePr>
          <p:nvPr/>
        </p:nvGraphicFramePr>
        <p:xfrm>
          <a:off x="411480" y="1143000"/>
          <a:ext cx="11365992" cy="3741720"/>
        </p:xfrm>
        <a:graphic>
          <a:graphicData uri="http://schemas.openxmlformats.org/drawingml/2006/table">
            <a:tbl>
              <a:tblPr firstRow="1" bandRow="1">
                <a:tableStyleId>{5940675A-B579-460E-94D1-54222C63F5DA}</a:tableStyleId>
              </a:tblPr>
              <a:tblGrid>
                <a:gridCol w="2743200"/>
                <a:gridCol w="5852160"/>
                <a:gridCol w="2770632"/>
              </a:tblGrid>
              <a:tr h="395088">
                <a:tc>
                  <a:txBody>
                    <a:bodyPr wrap="square"/>
                    <a:lstStyle/>
                    <a:p>
                      <a:pPr algn="l">
                        <a:lnSpc>
                          <a:spcPct val="100000"/>
                        </a:lnSpc>
                      </a:pPr>
                      <a:r>
                        <a:rPr sz="1200" b="1" i="0">
                          <a:solidFill>
                            <a:srgbClr val="FFFFFF"/>
                          </a:solidFill>
                          <a:latin typeface="Calibri"/>
                        </a:rPr>
                        <a:t>Request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Reads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Grows with history?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95088">
                <a:tc>
                  <a:txBody>
                    <a:bodyPr wrap="square"/>
                    <a:lstStyle/>
                    <a:p>
                      <a:pPr algn="l">
                        <a:lnSpc>
                          <a:spcPct val="100000"/>
                        </a:lnSpc>
                      </a:pPr>
                      <a:r>
                        <a:rPr sz="1200" b="1" i="0">
                          <a:solidFill>
                            <a:srgbClr val="1C2433"/>
                          </a:solidFill>
                          <a:latin typeface="Calibri"/>
                        </a:rPr>
                        <a:t>Open one entity on a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planned layout (in memory), the day's id map, one row group of one file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95088">
                <a:tc>
                  <a:txBody>
                    <a:bodyPr wrap="square"/>
                    <a:lstStyle/>
                    <a:p>
                      <a:pPr algn="l">
                        <a:lnSpc>
                          <a:spcPct val="100000"/>
                        </a:lnSpc>
                      </a:pPr>
                      <a:r>
                        <a:rPr sz="1200" b="1" i="0">
                          <a:solidFill>
                            <a:srgbClr val="1C2433"/>
                          </a:solidFill>
                          <a:latin typeface="Calibri"/>
                        </a:rPr>
                        <a:t>History of one entity over N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layout's days whose id map holds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with 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5088">
                <a:tc>
                  <a:txBody>
                    <a:bodyPr wrap="square"/>
                    <a:lstStyle/>
                    <a:p>
                      <a:pPr algn="l">
                        <a:lnSpc>
                          <a:spcPct val="100000"/>
                        </a:lnSpc>
                      </a:pPr>
                      <a:r>
                        <a:rPr sz="1200" b="1" i="0">
                          <a:solidFill>
                            <a:srgbClr val="1C2433"/>
                          </a:solidFill>
                          <a:latin typeface="Calibri"/>
                        </a:rPr>
                        <a:t>Type-ahead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newest day's ids (</a:t>
                      </a:r>
                      <a:r>
                        <a:rPr sz="1100" b="0" i="0">
                          <a:solidFill>
                            <a:srgbClr val="0E7C86"/>
                          </a:solidFill>
                          <a:latin typeface="Consolas"/>
                        </a:rPr>
                        <a:t>index.days</a:t>
                      </a:r>
                      <a:r>
                        <a:rPr sz="1200" b="0" i="0">
                          <a:solidFill>
                            <a:srgbClr val="1C2433"/>
                          </a:solidFill>
                          <a:latin typeface="Calibri"/>
                        </a:rPr>
                        <a:t> more if set)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8760">
                <a:tc>
                  <a:txBody>
                    <a:bodyPr wrap="square"/>
                    <a:lstStyle/>
                    <a:p>
                      <a:pPr algn="l">
                        <a:lnSpc>
                          <a:spcPct val="100000"/>
                        </a:lnSpc>
                      </a:pPr>
                      <a:r>
                        <a:rPr sz="1200" b="1" i="0">
                          <a:solidFill>
                            <a:srgbClr val="1C2433"/>
                          </a:solidFill>
                          <a:latin typeface="Calibri"/>
                        </a:rPr>
                        <a:t>Search, pick list, impact on a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that day's column set; files and row groups skipped by bounds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88760">
                <a:tc>
                  <a:txBody>
                    <a:bodyPr wrap="square"/>
                    <a:lstStyle/>
                    <a:p>
                      <a:pPr algn="l">
                        <a:lnSpc>
                          <a:spcPct val="100000"/>
                        </a:lnSpc>
                      </a:pPr>
                      <a:r>
                        <a:rPr sz="1200" b="1" i="0">
                          <a:solidFill>
                            <a:srgbClr val="1C2433"/>
                          </a:solidFill>
                          <a:latin typeface="Calibri"/>
                        </a:rPr>
                        <a:t>Refresh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version-hint.text</a:t>
                      </a:r>
                      <a:r>
                        <a:rPr sz="1200" b="0" i="0">
                          <a:solidFill>
                            <a:srgbClr val="1C2433"/>
                          </a:solidFill>
                          <a:latin typeface="Calibri"/>
                        </a:rPr>
                        <a:t> (path) or </a:t>
                      </a:r>
                      <a:r>
                        <a:rPr sz="1100" b="0" i="0">
                          <a:solidFill>
                            <a:srgbClr val="0E7C86"/>
                          </a:solidFill>
                          <a:latin typeface="Consolas"/>
                        </a:rPr>
                        <a:t>loadTable</a:t>
                      </a:r>
                      <a:r>
                        <a:rPr sz="1200" b="0" i="0">
                          <a:solidFill>
                            <a:srgbClr val="1C2433"/>
                          </a:solidFill>
                          <a:latin typeface="Calibri"/>
                        </a:rPr>
                        <a:t> with ETag (REST); a changed snapshot's 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with live manifests: regroup monthly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8760">
                <a:tc>
                  <a:txBody>
                    <a:bodyPr wrap="square"/>
                    <a:lstStyle/>
                    <a:p>
                      <a:pPr algn="l">
                        <a:lnSpc>
                          <a:spcPct val="100000"/>
                        </a:lnSpc>
                      </a:pPr>
                      <a:r>
                        <a:rPr sz="1200" b="1" i="0">
                          <a:solidFill>
                            <a:srgbClr val="1C2433"/>
                          </a:solidFill>
                          <a:latin typeface="Calibri"/>
                        </a:rPr>
                        <a:t>Load, restatement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one day's files and one commit (metadata JSON rewritten)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metadata JSON grows with snapshots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5088">
                <a:tc>
                  <a:txBody>
                    <a:bodyPr wrap="square"/>
                    <a:lstStyle/>
                    <a:p>
                      <a:pPr algn="l">
                        <a:lnSpc>
                          <a:spcPct val="100000"/>
                        </a:lnSpc>
                      </a:pPr>
                      <a:r>
                        <a:rPr sz="1200" b="1" i="0">
                          <a:solidFill>
                            <a:srgbClr val="1C2433"/>
                          </a:solidFill>
                          <a:latin typeface="Calibri"/>
                        </a:rPr>
                        <a:t>Questions over all of history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not interactive: Athena, Trino, Spark on the same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0" name="Rounded Rectangle 9"/>
          <p:cNvSpPr/>
          <p:nvPr/>
        </p:nvSpPr>
        <p:spPr>
          <a:xfrm>
            <a:off x="411480" y="5349240"/>
            <a:ext cx="11365992" cy="96012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349240"/>
            <a:ext cx="82296" cy="9601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404103"/>
            <a:ext cx="11000232" cy="85039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The one Iceberg-specific growth:</a:t>
            </a:r>
            <a:r>
              <a:rPr sz="1300" b="0" i="0">
                <a:solidFill>
                  <a:srgbClr val="1C2433"/>
                </a:solidFill>
                <a:latin typeface="Calibri"/>
              </a:rPr>
              <a:t> each commit rewrites a metadata JSON that lists every snapshot kept. Expire snapshots (or, for seven-year risk tables, see section 13) and regroup manifests monthly.</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numbers to watch, for an Iceberg table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10</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50</a:t>
            </a:r>
          </a:p>
        </p:txBody>
      </p:sp>
      <p:sp>
        <p:nvSpPr>
          <p:cNvPr id="9" name="Rounded Rectangle 8"/>
          <p:cNvSpPr/>
          <p:nvPr/>
        </p:nvSpPr>
        <p:spPr>
          <a:xfrm>
            <a:off x="411480" y="1143000"/>
            <a:ext cx="11365992" cy="86868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21208" y="1216152"/>
            <a:ext cx="11146536" cy="722375"/>
          </a:xfrm>
          <a:prstGeom prst="rect">
            <a:avLst/>
          </a:prstGeom>
          <a:noFill/>
        </p:spPr>
        <p:txBody>
          <a:bodyPr wrap="square" lIns="45720" rIns="45720" tIns="27432" bIns="27432" anchor="t">
            <a:spAutoFit/>
          </a:bodyPr>
          <a:lstStyle/>
          <a:p>
            <a:pPr algn="l">
              <a:lnSpc>
                <a:spcPct val="100000"/>
              </a:lnSpc>
            </a:pPr>
            <a:r>
              <a:rPr sz="1100" b="0" i="0">
                <a:solidFill>
                  <a:srgbClr val="E6EDF3"/>
                </a:solidFill>
                <a:latin typeface="Consolas"/>
              </a:rPr>
              <a:t>{"name": "trade-calypso", "health": "UP", "engine": "native",</a:t>
            </a:r>
          </a:p>
          <a:p>
            <a:pPr algn="l">
              <a:lnSpc>
                <a:spcPct val="100000"/>
              </a:lnSpc>
            </a:pPr>
            <a:r>
              <a:rPr sz="1100" b="0" i="0">
                <a:solidFill>
                  <a:srgbClr val="E6EDF3"/>
                </a:solidFill>
                <a:latin typeface="Consolas"/>
              </a:rPr>
              <a:t> "cache": {"tables": 1, "snapshots": 1, "idMaps": 2, "columnSets": 2, "documents": 2,</a:t>
            </a:r>
          </a:p>
          <a:p>
            <a:pPr algn="l">
              <a:lnSpc>
                <a:spcPct val="100000"/>
              </a:lnSpc>
            </a:pPr>
            <a:r>
              <a:rPr sz="1100" b="0" i="0">
                <a:solidFill>
                  <a:srgbClr val="E6EDF3"/>
                </a:solidFill>
                <a:latin typeface="Consolas"/>
              </a:rPr>
              <a:t>           "partitions": 0, "daysWithDeletes": 0, "ids": 10000}}</a:t>
            </a:r>
          </a:p>
        </p:txBody>
      </p:sp>
      <p:graphicFrame>
        <p:nvGraphicFramePr>
          <p:cNvPr id="11" name="Table 10"/>
          <p:cNvGraphicFramePr>
            <a:graphicFrameLocks noGrp="1"/>
          </p:cNvGraphicFramePr>
          <p:nvPr/>
        </p:nvGraphicFramePr>
        <p:xfrm>
          <a:off x="411480" y="2194560"/>
          <a:ext cx="11365992" cy="3473498"/>
        </p:xfrm>
        <a:graphic>
          <a:graphicData uri="http://schemas.openxmlformats.org/drawingml/2006/table">
            <a:tbl>
              <a:tblPr firstRow="1" bandRow="1">
                <a:tableStyleId>{5940675A-B579-460E-94D1-54222C63F5DA}</a:tableStyleId>
              </a:tblPr>
              <a:tblGrid>
                <a:gridCol w="3200400"/>
                <a:gridCol w="2103120"/>
                <a:gridCol w="4462272"/>
                <a:gridCol w="1600200"/>
              </a:tblGrid>
              <a:tr h="435254">
                <a:tc>
                  <a:txBody>
                    <a:bodyPr wrap="square"/>
                    <a:lstStyle/>
                    <a:p>
                      <a:pPr algn="l">
                        <a:lnSpc>
                          <a:spcPct val="100000"/>
                        </a:lnSpc>
                      </a:pPr>
                      <a:r>
                        <a:rPr sz="1200" b="1" i="0">
                          <a:solidFill>
                            <a:srgbClr val="FFFFFF"/>
                          </a:solidFill>
                          <a:latin typeface="Calibri"/>
                        </a:rPr>
                        <a:t>Number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Healthy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If not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100" b="1" i="0">
                          <a:solidFill>
                            <a:srgbClr val="0E7C86"/>
                          </a:solidFill>
                          <a:latin typeface="Consolas"/>
                        </a:rPr>
                        <a:t>daysWithDeletes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0 for Drishti's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single reads slow: </a:t>
                      </a:r>
                      <a:r>
                        <a:rPr sz="1100" b="0" i="0">
                          <a:solidFill>
                            <a:srgbClr val="0E7C86"/>
                          </a:solidFill>
                          <a:latin typeface="Consolas"/>
                        </a:rPr>
                        <a:t>IcebergMaintenance --relayout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Health: </a:t>
                      </a:r>
                      <a:r>
                        <a:rPr sz="1100" b="1" i="0">
                          <a:solidFill>
                            <a:srgbClr val="0E7C86"/>
                          </a:solidFill>
                          <a:latin typeface="Consolas"/>
                        </a:rPr>
                        <a:t>not laid out as the pack declares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00" b="0" i="0">
                          <a:solidFill>
                            <a:srgbClr val="0E7C86"/>
                          </a:solidFill>
                          <a:latin typeface="Consolas"/>
                        </a:rPr>
                        <a:t>--columns trade:path,…</a:t>
                      </a:r>
                      <a:r>
                        <a:rPr sz="1200" b="0" i="0">
                          <a:solidFill>
                            <a:srgbClr val="1C2433"/>
                          </a:solidFill>
                          <a:latin typeface="Calibri"/>
                        </a:rPr>
                        <a:t> or reload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100" b="1" i="0">
                          <a:solidFill>
                            <a:srgbClr val="0E7C86"/>
                          </a:solidFill>
                          <a:latin typeface="Consolas"/>
                        </a:rPr>
                        <a:t>DEGRADED: … names files that are not there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moved table: set the </a:t>
                      </a:r>
                      <a:r>
                        <a:rPr sz="1100" b="0" i="0">
                          <a:solidFill>
                            <a:srgbClr val="0E7C86"/>
                          </a:solidFill>
                          <a:latin typeface="Consolas"/>
                        </a:rPr>
                        <a:t>relocate</a:t>
                      </a:r>
                      <a:r>
                        <a:rPr sz="1200" b="0" i="0">
                          <a:solidFill>
                            <a:srgbClr val="1C2433"/>
                          </a:solidFill>
                          <a:latin typeface="Calibri"/>
                        </a:rPr>
                        <a:t> pair Health gives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snapshots kept, metadata JSON size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bounded by </a:t>
                      </a:r>
                      <a:r>
                        <a:rPr sz="1100" b="0" i="0">
                          <a:solidFill>
                            <a:srgbClr val="0E7C86"/>
                          </a:solidFill>
                          <a:latin typeface="Consolas"/>
                        </a:rPr>
                        <a:t>--expire-hours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commits and refreshes slow: expire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metric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live manifests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few dozen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planning slow: </a:t>
                      </a:r>
                      <a:r>
                        <a:rPr sz="1100" b="0" i="0">
                          <a:solidFill>
                            <a:srgbClr val="0E7C86"/>
                          </a:solidFill>
                          <a:latin typeface="Consolas"/>
                        </a:rPr>
                        <a:t>--rewrite-manifests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metric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single-writer warning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store ignores </a:t>
                      </a:r>
                      <a:r>
                        <a:rPr sz="1100" b="0" i="0">
                          <a:solidFill>
                            <a:srgbClr val="0E7C86"/>
                          </a:solidFill>
                          <a:latin typeface="Consolas"/>
                        </a:rPr>
                        <a:t>If-None-Match</a:t>
                      </a:r>
                      <a:r>
                        <a:rPr sz="1200" b="0" i="0">
                          <a:solidFill>
                            <a:srgbClr val="1C2433"/>
                          </a:solidFill>
                          <a:latin typeface="Calibri"/>
                        </a:rPr>
                        <a:t>: one writer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11</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Delta Lake and Iceberg side by side</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Transaction log against metadata tree; commits on S3; time travel, evolution, partitioning, deletes; maintenance, catalogs, the ecosystem and the running cost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Inside each format: a log against a tree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52</a:t>
            </a:r>
          </a:p>
        </p:txBody>
      </p:sp>
      <p:sp>
        <p:nvSpPr>
          <p:cNvPr id="9" name="TextBox 8"/>
          <p:cNvSpPr txBox="1"/>
          <p:nvPr/>
        </p:nvSpPr>
        <p:spPr>
          <a:xfrm>
            <a:off x="411480" y="1097280"/>
            <a:ext cx="5486400" cy="365760"/>
          </a:xfrm>
          <a:prstGeom prst="rect">
            <a:avLst/>
          </a:prstGeom>
          <a:noFill/>
        </p:spPr>
        <p:txBody>
          <a:bodyPr wrap="square" lIns="45720" rIns="45720" tIns="27432" bIns="27432" anchor="t">
            <a:spAutoFit/>
          </a:bodyPr>
          <a:lstStyle/>
          <a:p>
            <a:pPr algn="l">
              <a:lnSpc>
                <a:spcPct val="105000"/>
              </a:lnSpc>
            </a:pPr>
            <a:r>
              <a:rPr sz="1600" b="1" i="0">
                <a:solidFill>
                  <a:srgbClr val="0B1E3B"/>
                </a:solidFill>
                <a:latin typeface="Calibri"/>
              </a:rPr>
              <a:t>Delta Lake: a transaction log</a:t>
            </a:r>
          </a:p>
        </p:txBody>
      </p:sp>
      <p:sp>
        <p:nvSpPr>
          <p:cNvPr id="10" name="Rounded Rectangle 9"/>
          <p:cNvSpPr/>
          <p:nvPr/>
        </p:nvSpPr>
        <p:spPr>
          <a:xfrm>
            <a:off x="411480" y="1554480"/>
            <a:ext cx="5394960" cy="658368"/>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502920"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table folder</a:t>
            </a:r>
          </a:p>
        </p:txBody>
      </p:sp>
      <p:sp>
        <p:nvSpPr>
          <p:cNvPr id="12" name="TextBox 11"/>
          <p:cNvSpPr txBox="1"/>
          <p:nvPr/>
        </p:nvSpPr>
        <p:spPr>
          <a:xfrm>
            <a:off x="502920" y="192024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s3://…/lake/trading/trade_endur/</a:t>
            </a:r>
          </a:p>
        </p:txBody>
      </p:sp>
      <p:sp>
        <p:nvSpPr>
          <p:cNvPr id="13" name="Rounded Rectangle 12"/>
          <p:cNvSpPr/>
          <p:nvPr/>
        </p:nvSpPr>
        <p:spPr>
          <a:xfrm>
            <a:off x="411480" y="2395728"/>
            <a:ext cx="5394960" cy="182880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502920" y="2441448"/>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_delta_log/</a:t>
            </a:r>
          </a:p>
        </p:txBody>
      </p:sp>
      <p:sp>
        <p:nvSpPr>
          <p:cNvPr id="15" name="TextBox 14"/>
          <p:cNvSpPr txBox="1"/>
          <p:nvPr/>
        </p:nvSpPr>
        <p:spPr>
          <a:xfrm>
            <a:off x="502920" y="2761488"/>
            <a:ext cx="5212080" cy="1417320"/>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…0451.json</a:t>
            </a:r>
            <a:r>
              <a:rPr sz="1200" b="0" i="0">
                <a:solidFill>
                  <a:srgbClr val="1C2433"/>
                </a:solidFill>
                <a:latin typeface="Calibri"/>
              </a:rPr>
              <a:t> </a:t>
            </a:r>
            <a:r>
              <a:rPr sz="1100" b="0" i="0">
                <a:solidFill>
                  <a:srgbClr val="0E7C86"/>
                </a:solidFill>
                <a:latin typeface="Consolas"/>
              </a:rPr>
              <a:t>…0452.json</a:t>
            </a:r>
            <a:r>
              <a:rPr sz="1200" b="0" i="0">
                <a:solidFill>
                  <a:srgbClr val="1C2433"/>
                </a:solidFill>
                <a:latin typeface="Calibri"/>
              </a:rPr>
              <a:t> one commit each: add / remove + stats</a:t>
            </a:r>
          </a:p>
          <a:p>
            <a:pPr algn="l">
              <a:lnSpc>
                <a:spcPct val="105000"/>
              </a:lnSpc>
              <a:spcAft>
                <a:spcPts val="200"/>
              </a:spcAft>
            </a:pPr>
            <a:r>
              <a:rPr sz="1100" b="0" i="0">
                <a:solidFill>
                  <a:srgbClr val="E87A1E"/>
                </a:solidFill>
                <a:latin typeface="Calibri"/>
              </a:rPr>
              <a:t>•  </a:t>
            </a:r>
            <a:r>
              <a:rPr sz="1100" b="0" i="0">
                <a:solidFill>
                  <a:srgbClr val="0E7C86"/>
                </a:solidFill>
                <a:latin typeface="Consolas"/>
              </a:rPr>
              <a:t>…0450.checkpoint.parquet</a:t>
            </a:r>
            <a:r>
              <a:rPr sz="1200" b="0" i="0">
                <a:solidFill>
                  <a:srgbClr val="1C2433"/>
                </a:solidFill>
                <a:latin typeface="Calibri"/>
              </a:rPr>
              <a:t> every 10 commits</a:t>
            </a:r>
          </a:p>
          <a:p>
            <a:pPr algn="l">
              <a:lnSpc>
                <a:spcPct val="105000"/>
              </a:lnSpc>
              <a:spcAft>
                <a:spcPts val="200"/>
              </a:spcAft>
            </a:pPr>
            <a:r>
              <a:rPr sz="1100" b="0" i="0">
                <a:solidFill>
                  <a:srgbClr val="E87A1E"/>
                </a:solidFill>
                <a:latin typeface="Calibri"/>
              </a:rPr>
              <a:t>•  </a:t>
            </a:r>
            <a:r>
              <a:rPr sz="1100" b="0" i="0">
                <a:solidFill>
                  <a:srgbClr val="0E7C86"/>
                </a:solidFill>
                <a:latin typeface="Consolas"/>
              </a:rPr>
              <a:t>_last_checkpoint</a:t>
            </a:r>
            <a:r>
              <a:rPr sz="1200" b="0" i="0">
                <a:solidFill>
                  <a:srgbClr val="1C2433"/>
                </a:solidFill>
                <a:latin typeface="Calibri"/>
              </a:rPr>
              <a:t>: where to start replaying</a:t>
            </a:r>
          </a:p>
        </p:txBody>
      </p:sp>
      <p:sp>
        <p:nvSpPr>
          <p:cNvPr id="16" name="Rounded Rectangle 15"/>
          <p:cNvSpPr/>
          <p:nvPr/>
        </p:nvSpPr>
        <p:spPr>
          <a:xfrm>
            <a:off x="411480" y="4407408"/>
            <a:ext cx="5394960" cy="1097280"/>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502920" y="4453128"/>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data files</a:t>
            </a:r>
          </a:p>
        </p:txBody>
      </p:sp>
      <p:sp>
        <p:nvSpPr>
          <p:cNvPr id="18" name="TextBox 17"/>
          <p:cNvSpPr txBox="1"/>
          <p:nvPr/>
        </p:nvSpPr>
        <p:spPr>
          <a:xfrm>
            <a:off x="502920" y="4773168"/>
            <a:ext cx="5212080" cy="685800"/>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business_date=…/PRODUCT_TYPE=…/part-….snappy.parquet</a:t>
            </a:r>
          </a:p>
        </p:txBody>
      </p:sp>
      <p:cxnSp>
        <p:nvCxnSpPr>
          <p:cNvPr id="19" name="Connector 18"/>
          <p:cNvCxnSpPr/>
          <p:nvPr/>
        </p:nvCxnSpPr>
        <p:spPr>
          <a:xfrm>
            <a:off x="3108960" y="2212848"/>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08960" y="4224528"/>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411480" y="5577840"/>
            <a:ext cx="5394960" cy="77724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Read: replay checkpoint + later commits → the file list. Commit: create the next </a:t>
            </a:r>
            <a:r>
              <a:rPr sz="1150" b="0" i="0">
                <a:solidFill>
                  <a:srgbClr val="0E7C86"/>
                </a:solidFill>
                <a:latin typeface="Consolas"/>
              </a:rPr>
              <a:t>NNN.json</a:t>
            </a:r>
            <a:r>
              <a:rPr sz="1250" b="0" i="0">
                <a:solidFill>
                  <a:srgbClr val="5B677A"/>
                </a:solidFill>
                <a:latin typeface="Calibri"/>
              </a:rPr>
              <a:t>.</a:t>
            </a:r>
          </a:p>
        </p:txBody>
      </p:sp>
      <p:sp>
        <p:nvSpPr>
          <p:cNvPr id="22" name="TextBox 21"/>
          <p:cNvSpPr txBox="1"/>
          <p:nvPr/>
        </p:nvSpPr>
        <p:spPr>
          <a:xfrm>
            <a:off x="6382512" y="1097280"/>
            <a:ext cx="5486400" cy="365760"/>
          </a:xfrm>
          <a:prstGeom prst="rect">
            <a:avLst/>
          </a:prstGeom>
          <a:noFill/>
        </p:spPr>
        <p:txBody>
          <a:bodyPr wrap="square" lIns="45720" rIns="45720" tIns="27432" bIns="27432" anchor="t">
            <a:spAutoFit/>
          </a:bodyPr>
          <a:lstStyle/>
          <a:p>
            <a:pPr algn="l">
              <a:lnSpc>
                <a:spcPct val="105000"/>
              </a:lnSpc>
            </a:pPr>
            <a:r>
              <a:rPr sz="1600" b="1" i="0">
                <a:solidFill>
                  <a:srgbClr val="0B1E3B"/>
                </a:solidFill>
                <a:latin typeface="Calibri"/>
              </a:rPr>
              <a:t>Iceberg: a metadata tree</a:t>
            </a:r>
          </a:p>
        </p:txBody>
      </p:sp>
      <p:sp>
        <p:nvSpPr>
          <p:cNvPr id="23" name="Rounded Rectangle 22"/>
          <p:cNvSpPr/>
          <p:nvPr/>
        </p:nvSpPr>
        <p:spPr>
          <a:xfrm>
            <a:off x="6382512" y="1554480"/>
            <a:ext cx="5394960" cy="658368"/>
          </a:xfrm>
          <a:prstGeom prst="roundRect">
            <a:avLst>
              <a:gd name="adj" fmla="val 8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6473952" y="160020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catalog pointer</a:t>
            </a:r>
          </a:p>
        </p:txBody>
      </p:sp>
      <p:sp>
        <p:nvSpPr>
          <p:cNvPr id="25" name="TextBox 24"/>
          <p:cNvSpPr txBox="1"/>
          <p:nvPr/>
        </p:nvSpPr>
        <p:spPr>
          <a:xfrm>
            <a:off x="6473952" y="192024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version-hint.text</a:t>
            </a:r>
            <a:r>
              <a:rPr sz="1200" b="0" i="0">
                <a:solidFill>
                  <a:srgbClr val="1C2433"/>
                </a:solidFill>
                <a:latin typeface="Calibri"/>
              </a:rPr>
              <a:t> (path) or the REST catalog's metadata location</a:t>
            </a:r>
          </a:p>
        </p:txBody>
      </p:sp>
      <p:sp>
        <p:nvSpPr>
          <p:cNvPr id="26" name="Rounded Rectangle 25"/>
          <p:cNvSpPr/>
          <p:nvPr/>
        </p:nvSpPr>
        <p:spPr>
          <a:xfrm>
            <a:off x="6382512" y="233172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6473952" y="237743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vN.metadata.json</a:t>
            </a:r>
          </a:p>
        </p:txBody>
      </p:sp>
      <p:sp>
        <p:nvSpPr>
          <p:cNvPr id="28" name="TextBox 27"/>
          <p:cNvSpPr txBox="1"/>
          <p:nvPr/>
        </p:nvSpPr>
        <p:spPr>
          <a:xfrm>
            <a:off x="6473952" y="2697479"/>
            <a:ext cx="5212080" cy="246887"/>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schemas, partition specs, sort orders, snapshots, properties</a:t>
            </a:r>
          </a:p>
        </p:txBody>
      </p:sp>
      <p:sp>
        <p:nvSpPr>
          <p:cNvPr id="29" name="Rounded Rectangle 28"/>
          <p:cNvSpPr/>
          <p:nvPr/>
        </p:nvSpPr>
        <p:spPr>
          <a:xfrm>
            <a:off x="6382512" y="310896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473952" y="315467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manifest list (per snapshot)</a:t>
            </a:r>
          </a:p>
        </p:txBody>
      </p:sp>
      <p:sp>
        <p:nvSpPr>
          <p:cNvPr id="31" name="TextBox 30"/>
          <p:cNvSpPr txBox="1"/>
          <p:nvPr/>
        </p:nvSpPr>
        <p:spPr>
          <a:xfrm>
            <a:off x="6473952" y="347472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snap-….avro</a:t>
            </a:r>
            <a:r>
              <a:rPr sz="1200" b="0" i="0">
                <a:solidFill>
                  <a:srgbClr val="1C2433"/>
                </a:solidFill>
                <a:latin typeface="Calibri"/>
              </a:rPr>
              <a:t>: the manifests, with partition summaries</a:t>
            </a:r>
          </a:p>
        </p:txBody>
      </p:sp>
      <p:sp>
        <p:nvSpPr>
          <p:cNvPr id="32" name="Rounded Rectangle 31"/>
          <p:cNvSpPr/>
          <p:nvPr/>
        </p:nvSpPr>
        <p:spPr>
          <a:xfrm>
            <a:off x="6382512" y="3886200"/>
            <a:ext cx="5394960" cy="658368"/>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6473952" y="3931920"/>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manifests</a:t>
            </a:r>
          </a:p>
        </p:txBody>
      </p:sp>
      <p:sp>
        <p:nvSpPr>
          <p:cNvPr id="34" name="TextBox 33"/>
          <p:cNvSpPr txBox="1"/>
          <p:nvPr/>
        </p:nvSpPr>
        <p:spPr>
          <a:xfrm>
            <a:off x="6473952" y="4251960"/>
            <a:ext cx="5212080" cy="246887"/>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…-m0.avro</a:t>
            </a:r>
            <a:r>
              <a:rPr sz="1200" b="0" i="0">
                <a:solidFill>
                  <a:srgbClr val="1C2433"/>
                </a:solidFill>
                <a:latin typeface="Calibri"/>
              </a:rPr>
              <a:t>: data and delete files, partition values, column bounds</a:t>
            </a:r>
          </a:p>
        </p:txBody>
      </p:sp>
      <p:sp>
        <p:nvSpPr>
          <p:cNvPr id="35" name="Rounded Rectangle 34"/>
          <p:cNvSpPr/>
          <p:nvPr/>
        </p:nvSpPr>
        <p:spPr>
          <a:xfrm>
            <a:off x="6382512" y="4663440"/>
            <a:ext cx="5394960" cy="841248"/>
          </a:xfrm>
          <a:prstGeom prst="roundRect">
            <a:avLst>
              <a:gd name="adj" fmla="val 8000"/>
            </a:avLst>
          </a:prstGeom>
          <a:solidFill>
            <a:srgbClr val="FCE8D2"/>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6473952" y="4709159"/>
            <a:ext cx="521208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data and delete files</a:t>
            </a:r>
          </a:p>
        </p:txBody>
      </p:sp>
      <p:sp>
        <p:nvSpPr>
          <p:cNvPr id="37" name="TextBox 36"/>
          <p:cNvSpPr txBox="1"/>
          <p:nvPr/>
        </p:nvSpPr>
        <p:spPr>
          <a:xfrm>
            <a:off x="6473952" y="5029200"/>
            <a:ext cx="5212080" cy="429768"/>
          </a:xfrm>
          <a:prstGeom prst="rect">
            <a:avLst/>
          </a:prstGeom>
          <a:noFill/>
        </p:spPr>
        <p:txBody>
          <a:bodyPr wrap="square" lIns="45720" rIns="45720" tIns="27432" bIns="27432" anchor="t">
            <a:spAutoFit/>
          </a:bodyPr>
          <a:lstStyle/>
          <a:p>
            <a:pPr algn="l">
              <a:lnSpc>
                <a:spcPct val="105000"/>
              </a:lnSpc>
              <a:spcAft>
                <a:spcPts val="200"/>
              </a:spcAft>
            </a:pPr>
            <a:r>
              <a:rPr sz="1100" b="0" i="0">
                <a:solidFill>
                  <a:srgbClr val="E87A1E"/>
                </a:solidFill>
                <a:latin typeface="Calibri"/>
              </a:rPr>
              <a:t>•  </a:t>
            </a:r>
            <a:r>
              <a:rPr sz="1100" b="0" i="0">
                <a:solidFill>
                  <a:srgbClr val="0E7C86"/>
                </a:solidFill>
                <a:latin typeface="Consolas"/>
              </a:rPr>
              <a:t>data/business_date=…/…parquet</a:t>
            </a:r>
            <a:r>
              <a:rPr sz="1200" b="0" i="0">
                <a:solidFill>
                  <a:srgbClr val="1C2433"/>
                </a:solidFill>
                <a:latin typeface="Calibri"/>
              </a:rPr>
              <a:t>; position or equality delete files</a:t>
            </a:r>
          </a:p>
        </p:txBody>
      </p:sp>
      <p:cxnSp>
        <p:nvCxnSpPr>
          <p:cNvPr id="38" name="Connector 37"/>
          <p:cNvCxnSpPr/>
          <p:nvPr/>
        </p:nvCxnSpPr>
        <p:spPr>
          <a:xfrm>
            <a:off x="9079992" y="221284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9079992" y="299008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9079992" y="376732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079992" y="4544568"/>
            <a:ext cx="0" cy="118872"/>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382512" y="5577840"/>
            <a:ext cx="5394960" cy="777240"/>
          </a:xfrm>
          <a:prstGeom prst="rect">
            <a:avLst/>
          </a:prstGeom>
          <a:noFill/>
        </p:spPr>
        <p:txBody>
          <a:bodyPr wrap="square" lIns="45720" rIns="45720" tIns="27432" bIns="27432" anchor="t">
            <a:spAutoFit/>
          </a:bodyPr>
          <a:lstStyle/>
          <a:p>
            <a:pPr algn="l">
              <a:lnSpc>
                <a:spcPct val="105000"/>
              </a:lnSpc>
            </a:pPr>
            <a:r>
              <a:rPr sz="1250" b="0" i="0">
                <a:solidFill>
                  <a:srgbClr val="5B677A"/>
                </a:solidFill>
                <a:latin typeface="Calibri"/>
              </a:rPr>
              <a:t>Read: pointer → metadata → one manifest list → pruned manifests. Commit: create </a:t>
            </a:r>
            <a:r>
              <a:rPr sz="1150" b="0" i="0">
                <a:solidFill>
                  <a:srgbClr val="0E7C86"/>
                </a:solidFill>
                <a:latin typeface="Consolas"/>
              </a:rPr>
              <a:t>vN+1.metadata.json</a:t>
            </a:r>
            <a:r>
              <a:rPr sz="1250" b="0" i="0">
                <a:solidFill>
                  <a:srgbClr val="5B677A"/>
                </a:solidFill>
                <a:latin typeface="Calibri"/>
              </a:rPr>
              <a:t> (or the catalog swaps the pointer).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Side by side (1/3): log, commits, time travel, evolution</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53</a:t>
            </a:r>
          </a:p>
        </p:txBody>
      </p:sp>
      <p:graphicFrame>
        <p:nvGraphicFramePr>
          <p:cNvPr id="9" name="Table 8"/>
          <p:cNvGraphicFramePr>
            <a:graphicFrameLocks noGrp="1"/>
          </p:cNvGraphicFramePr>
          <p:nvPr/>
        </p:nvGraphicFramePr>
        <p:xfrm>
          <a:off x="411480" y="1143000"/>
          <a:ext cx="11365992" cy="4847230"/>
        </p:xfrm>
        <a:graphic>
          <a:graphicData uri="http://schemas.openxmlformats.org/drawingml/2006/table">
            <a:tbl>
              <a:tblPr firstRow="1" bandRow="1">
                <a:tableStyleId>{5940675A-B579-460E-94D1-54222C63F5DA}</a:tableStyleId>
              </a:tblPr>
              <a:tblGrid>
                <a:gridCol w="1828800"/>
                <a:gridCol w="3017520"/>
                <a:gridCol w="3108960"/>
                <a:gridCol w="3410712"/>
              </a:tblGrid>
              <a:tr h="422008">
                <a:tc>
                  <a:txBody>
                    <a:bodyPr wrap="square"/>
                    <a:lstStyle/>
                    <a:p>
                      <a:pPr algn="l">
                        <a:lnSpc>
                          <a:spcPct val="100000"/>
                        </a:lnSpc>
                      </a:pPr>
                      <a:r>
                        <a:rPr sz="1250" b="1" i="0">
                          <a:solidFill>
                            <a:srgbClr val="FFFFFF"/>
                          </a:solidFill>
                          <a:latin typeface="Calibri"/>
                        </a:rPr>
                        <a:t>Aspect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In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9906">
                <a:tc>
                  <a:txBody>
                    <a:bodyPr wrap="square"/>
                    <a:lstStyle/>
                    <a:p>
                      <a:pPr algn="l">
                        <a:lnSpc>
                          <a:spcPct val="100000"/>
                        </a:lnSpc>
                      </a:pPr>
                      <a:r>
                        <a:rPr sz="1250" b="1" i="0">
                          <a:solidFill>
                            <a:srgbClr val="1C2433"/>
                          </a:solidFill>
                          <a:latin typeface="Calibri"/>
                        </a:rPr>
                        <a:t>Where the truth 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an ordered log of JSON commits + Parquet checkpoints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 tree: metadata JSON → manifest list → manifests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read natively, no Hadoop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912799">
                <a:tc>
                  <a:txBody>
                    <a:bodyPr wrap="square"/>
                    <a:lstStyle/>
                    <a:p>
                      <a:pPr algn="l">
                        <a:lnSpc>
                          <a:spcPct val="100000"/>
                        </a:lnSpc>
                      </a:pPr>
                      <a:r>
                        <a:rPr sz="1250" b="1" i="0">
                          <a:solidFill>
                            <a:srgbClr val="1C2433"/>
                          </a:solidFill>
                          <a:latin typeface="Calibri"/>
                        </a:rPr>
                        <a:t>Commit 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create </a:t>
                      </a:r>
                      <a:r>
                        <a:rPr sz="1150" b="0" i="0">
                          <a:solidFill>
                            <a:srgbClr val="0E7C86"/>
                          </a:solidFill>
                          <a:latin typeface="Consolas"/>
                        </a:rPr>
                        <a:t>_delta_log/N.json</a:t>
                      </a:r>
                      <a:r>
                        <a:rPr sz="1250" b="0" i="0">
                          <a:solidFill>
                            <a:srgbClr val="1C2433"/>
                          </a:solidFill>
                          <a:latin typeface="Calibri"/>
                        </a:rPr>
                        <a:t> if absent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create </a:t>
                      </a:r>
                      <a:r>
                        <a:rPr sz="1150" b="0" i="0">
                          <a:solidFill>
                            <a:srgbClr val="0E7C86"/>
                          </a:solidFill>
                          <a:latin typeface="Consolas"/>
                        </a:rPr>
                        <a:t>vN+1.metadata.json</a:t>
                      </a:r>
                      <a:r>
                        <a:rPr sz="1250" b="0" i="0">
                          <a:solidFill>
                            <a:srgbClr val="1C2433"/>
                          </a:solidFill>
                          <a:latin typeface="Calibri"/>
                        </a:rPr>
                        <a:t> if absent, or a catalog swap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both by </a:t>
                      </a:r>
                      <a:r>
                        <a:rPr sz="1150" b="0" i="0">
                          <a:solidFill>
                            <a:srgbClr val="0E7C86"/>
                          </a:solidFill>
                          <a:latin typeface="Consolas"/>
                        </a:rPr>
                        <a:t>If-None-Match: *</a:t>
                      </a:r>
                      <a:r>
                        <a:rPr sz="1250" b="0" i="0">
                          <a:solidFill>
                            <a:srgbClr val="1C2433"/>
                          </a:solidFill>
                          <a:latin typeface="Calibri"/>
                        </a:rPr>
                        <a:t> (BUILT); Delta via </a:t>
                      </a:r>
                      <a:r>
                        <a:rPr sz="1150" b="0" i="0">
                          <a:solidFill>
                            <a:srgbClr val="0E7C86"/>
                          </a:solidFill>
                          <a:latin typeface="Consolas"/>
                        </a:rPr>
                        <a:t>lake publish</a:t>
                      </a:r>
                      <a:r>
                        <a:rPr sz="1250" b="0" i="0">
                          <a:solidFill>
                            <a:srgbClr val="1C2433"/>
                          </a:solidFill>
                          <a:latin typeface="Calibri"/>
                        </a:rPr>
                        <a:t>, Iceberg via the Java 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912799">
                <a:tc>
                  <a:txBody>
                    <a:bodyPr wrap="square"/>
                    <a:lstStyle/>
                    <a:p>
                      <a:pPr algn="l">
                        <a:lnSpc>
                          <a:spcPct val="100000"/>
                        </a:lnSpc>
                      </a:pPr>
                      <a:r>
                        <a:rPr sz="1250" b="1" i="0">
                          <a:solidFill>
                            <a:srgbClr val="1C2433"/>
                          </a:solidFill>
                          <a:latin typeface="Calibri"/>
                        </a:rPr>
                        <a:t>Concurrency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optimistic; conflicting writers retry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optimistic; requirements re-validated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 rewrite of a changed day is refused (Iceberg, BUILT); per-table locks in the scripts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9906">
                <a:tc>
                  <a:txBody>
                    <a:bodyPr wrap="square"/>
                    <a:lstStyle/>
                    <a:p>
                      <a:pPr algn="l">
                        <a:lnSpc>
                          <a:spcPct val="100000"/>
                        </a:lnSpc>
                      </a:pPr>
                      <a:r>
                        <a:rPr sz="1250" b="1" i="0">
                          <a:solidFill>
                            <a:srgbClr val="1C2433"/>
                          </a:solidFill>
                          <a:latin typeface="Calibri"/>
                        </a:rPr>
                        <a:t>Time travel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by version or timestamp, until vacuum and log cleanup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by snapshot or timestamp, until snapshots expire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1">
                          <a:solidFill>
                            <a:srgbClr val="1C2433"/>
                          </a:solidFill>
                          <a:latin typeface="Calibri"/>
                        </a:rPr>
                        <a:t>known at</a:t>
                      </a:r>
                      <a:r>
                        <a:rPr sz="1250" b="0" i="0">
                          <a:solidFill>
                            <a:srgbClr val="1C2433"/>
                          </a:solidFill>
                          <a:latin typeface="Calibri"/>
                        </a:rPr>
                        <a:t> on both (BUILT); 7-year floor for Delta risk tables 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9906">
                <a:tc>
                  <a:txBody>
                    <a:bodyPr wrap="square"/>
                    <a:lstStyle/>
                    <a:p>
                      <a:pPr algn="l">
                        <a:lnSpc>
                          <a:spcPct val="100000"/>
                        </a:lnSpc>
                      </a:pPr>
                      <a:r>
                        <a:rPr sz="1250" b="1" i="0">
                          <a:solidFill>
                            <a:srgbClr val="1C2433"/>
                          </a:solidFill>
                          <a:latin typeface="Calibri"/>
                        </a:rPr>
                        <a:t>Schema evolution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add columns by name; renames need column mapping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by field id: add, drop, rename, reorder, widen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Iceberg reads every change by id (BUILT); Delta publish refuses a changed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9906">
                <a:tc>
                  <a:txBody>
                    <a:bodyPr wrap="square"/>
                    <a:lstStyle/>
                    <a:p>
                      <a:pPr algn="l">
                        <a:lnSpc>
                          <a:spcPct val="100000"/>
                        </a:lnSpc>
                      </a:pPr>
                      <a:r>
                        <a:rPr sz="1250" b="1" i="0">
                          <a:solidFill>
                            <a:srgbClr val="1C2433"/>
                          </a:solidFill>
                          <a:latin typeface="Calibri"/>
                        </a:rPr>
                        <a:t>Reading cost of a refresh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commits since the last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one small pointer, then metadata if changed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Iceberg keys caches by day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Side by side (2/3): partitions, deletes, maintenance, catalogs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54</a:t>
            </a:r>
          </a:p>
        </p:txBody>
      </p:sp>
      <p:graphicFrame>
        <p:nvGraphicFramePr>
          <p:cNvPr id="9" name="Table 8"/>
          <p:cNvGraphicFramePr>
            <a:graphicFrameLocks noGrp="1"/>
          </p:cNvGraphicFramePr>
          <p:nvPr/>
        </p:nvGraphicFramePr>
        <p:xfrm>
          <a:off x="411480" y="1143000"/>
          <a:ext cx="11365992" cy="4600219"/>
        </p:xfrm>
        <a:graphic>
          <a:graphicData uri="http://schemas.openxmlformats.org/drawingml/2006/table">
            <a:tbl>
              <a:tblPr firstRow="1" bandRow="1">
                <a:tableStyleId>{5940675A-B579-460E-94D1-54222C63F5DA}</a:tableStyleId>
              </a:tblPr>
              <a:tblGrid>
                <a:gridCol w="1737360"/>
                <a:gridCol w="2834640"/>
                <a:gridCol w="3108960"/>
                <a:gridCol w="3685032"/>
              </a:tblGrid>
              <a:tr h="435254">
                <a:tc>
                  <a:txBody>
                    <a:bodyPr wrap="square"/>
                    <a:lstStyle/>
                    <a:p>
                      <a:pPr algn="l">
                        <a:lnSpc>
                          <a:spcPct val="100000"/>
                        </a:lnSpc>
                      </a:pPr>
                      <a:r>
                        <a:rPr sz="1250" b="1" i="0">
                          <a:solidFill>
                            <a:srgbClr val="FFFFFF"/>
                          </a:solidFill>
                          <a:latin typeface="Calibri"/>
                        </a:rPr>
                        <a:t>Aspect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In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70306">
                <a:tc>
                  <a:txBody>
                    <a:bodyPr wrap="square"/>
                    <a:lstStyle/>
                    <a:p>
                      <a:pPr algn="l">
                        <a:lnSpc>
                          <a:spcPct val="100000"/>
                        </a:lnSpc>
                      </a:pPr>
                      <a:r>
                        <a:rPr sz="1250" b="1" i="0">
                          <a:solidFill>
                            <a:srgbClr val="1C2433"/>
                          </a:solidFill>
                          <a:latin typeface="Calibri"/>
                        </a:rPr>
                        <a:t>Partitioning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Hive-style folders on columns; liquid clustering (Databricks)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1" i="0">
                          <a:solidFill>
                            <a:srgbClr val="1C2433"/>
                          </a:solidFill>
                          <a:latin typeface="Calibri"/>
                        </a:rPr>
                        <a:t>hidden</a:t>
                      </a:r>
                      <a:r>
                        <a:rPr sz="1250" b="0" i="0">
                          <a:solidFill>
                            <a:srgbClr val="1C2433"/>
                          </a:solidFill>
                          <a:latin typeface="Calibri"/>
                        </a:rPr>
                        <a:t>: transforms (day, bucket, truncate) in the spec; specs evolve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both: </a:t>
                      </a:r>
                      <a:r>
                        <a:rPr sz="1150" b="0" i="0">
                          <a:solidFill>
                            <a:srgbClr val="0E7C86"/>
                          </a:solidFill>
                          <a:latin typeface="Consolas"/>
                        </a:rPr>
                        <a:t>business_date</a:t>
                      </a:r>
                      <a:r>
                        <a:rPr sz="1250" b="0" i="0">
                          <a:solidFill>
                            <a:srgbClr val="1C2433"/>
                          </a:solidFill>
                          <a:latin typeface="Calibri"/>
                        </a:rPr>
                        <a:t> only (+ PRODUCT_TYPE on Delta/AWS); Iceberg transforms read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941451">
                <a:tc>
                  <a:txBody>
                    <a:bodyPr wrap="square"/>
                    <a:lstStyle/>
                    <a:p>
                      <a:pPr algn="l">
                        <a:lnSpc>
                          <a:spcPct val="100000"/>
                        </a:lnSpc>
                      </a:pPr>
                      <a:r>
                        <a:rPr sz="1250" b="1" i="0">
                          <a:solidFill>
                            <a:srgbClr val="1C2433"/>
                          </a:solidFill>
                          <a:latin typeface="Calibri"/>
                        </a:rPr>
                        <a:t>Row deletes, merges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deletion vectors or file rewrites (copy-on-write)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position / equality delete files (merge-on-read) or rewrites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Drishti writes neither: a day is replaced; reads others' deletes (Delta: columns off; Iceberg: columns 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941451">
                <a:tc>
                  <a:txBody>
                    <a:bodyPr wrap="square"/>
                    <a:lstStyle/>
                    <a:p>
                      <a:pPr algn="l">
                        <a:lnSpc>
                          <a:spcPct val="100000"/>
                        </a:lnSpc>
                      </a:pPr>
                      <a:r>
                        <a:rPr sz="1250" b="1" i="0">
                          <a:solidFill>
                            <a:srgbClr val="1C2433"/>
                          </a:solidFill>
                          <a:latin typeface="Calibri"/>
                        </a:rPr>
                        <a:t>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OPTIMIZE, checkpoint, VACUUM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rewrite data and manifests, expire snapshots, remove orphans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Delta: </a:t>
                      </a:r>
                      <a:r>
                        <a:rPr sz="1150" b="0" i="0">
                          <a:solidFill>
                            <a:srgbClr val="0E7C86"/>
                          </a:solidFill>
                          <a:latin typeface="Consolas"/>
                        </a:rPr>
                        <a:t>lake maintain</a:t>
                      </a:r>
                      <a:r>
                        <a:rPr sz="1250" b="0" i="0">
                          <a:solidFill>
                            <a:srgbClr val="1C2433"/>
                          </a:solidFill>
                          <a:latin typeface="Calibri"/>
                        </a:rPr>
                        <a:t> + Admin → Lakes; Iceberg: </a:t>
                      </a:r>
                      <a:r>
                        <a:rPr sz="1150" b="0" i="0">
                          <a:solidFill>
                            <a:srgbClr val="0E7C86"/>
                          </a:solidFill>
                          <a:latin typeface="Consolas"/>
                        </a:rPr>
                        <a:t>IcebergMaintenance</a:t>
                      </a:r>
                      <a:r>
                        <a:rPr sz="1250" b="0" i="0">
                          <a:solidFill>
                            <a:srgbClr val="1C2433"/>
                          </a:solidFill>
                          <a:latin typeface="Calibri"/>
                        </a:rPr>
                        <a:t> CLI, no orphan removal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941451">
                <a:tc>
                  <a:txBody>
                    <a:bodyPr wrap="square"/>
                    <a:lstStyle/>
                    <a:p>
                      <a:pPr algn="l">
                        <a:lnSpc>
                          <a:spcPct val="100000"/>
                        </a:lnSpc>
                      </a:pPr>
                      <a:r>
                        <a:rPr sz="12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optional (the log is the table); Unity, Glue for discovery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central to most engines (Glue, Polaris, Unity, Nessie); path tables work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Delta: none; Iceberg: path or REST, incl. Glue REST (BUILT, not run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70306">
                <a:tc>
                  <a:txBody>
                    <a:bodyPr wrap="square"/>
                    <a:lstStyle/>
                    <a:p>
                      <a:pPr algn="l">
                        <a:lnSpc>
                          <a:spcPct val="100000"/>
                        </a:lnSpc>
                      </a:pPr>
                      <a:r>
                        <a:rPr sz="1250" b="1" i="0">
                          <a:solidFill>
                            <a:srgbClr val="1C2433"/>
                          </a:solidFill>
                          <a:latin typeface="Calibri"/>
                        </a:rPr>
                        <a:t>Table identity across nodes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table id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table UUID in metadata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Delta reports it to Drishti*net; Iceberg not yet (PROPOSED)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Side by side (3/3): the ecosystem and the running cost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55</a:t>
            </a:r>
          </a:p>
        </p:txBody>
      </p:sp>
      <p:graphicFrame>
        <p:nvGraphicFramePr>
          <p:cNvPr id="9" name="Table 8"/>
          <p:cNvGraphicFramePr>
            <a:graphicFrameLocks noGrp="1"/>
          </p:cNvGraphicFramePr>
          <p:nvPr/>
        </p:nvGraphicFramePr>
        <p:xfrm>
          <a:off x="411480" y="1143000"/>
          <a:ext cx="11365992" cy="2891329"/>
        </p:xfrm>
        <a:graphic>
          <a:graphicData uri="http://schemas.openxmlformats.org/drawingml/2006/table">
            <a:tbl>
              <a:tblPr firstRow="1" bandRow="1">
                <a:tableStyleId>{5940675A-B579-460E-94D1-54222C63F5DA}</a:tableStyleId>
              </a:tblPr>
              <a:tblGrid>
                <a:gridCol w="2377440"/>
                <a:gridCol w="4114800"/>
                <a:gridCol w="4873752"/>
              </a:tblGrid>
              <a:tr h="347470">
                <a:tc>
                  <a:txBody>
                    <a:bodyPr wrap="square"/>
                    <a:lstStyle/>
                    <a:p>
                      <a:pPr algn="l">
                        <a:lnSpc>
                          <a:spcPct val="100000"/>
                        </a:lnSpc>
                      </a:pPr>
                      <a:r>
                        <a:rPr sz="1150" b="1" i="0">
                          <a:solidFill>
                            <a:srgbClr val="FFFFFF"/>
                          </a:solidFill>
                          <a:latin typeface="Calibri"/>
                        </a:rPr>
                        <a:t>Engine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Apache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47470">
                <a:tc>
                  <a:txBody>
                    <a:bodyPr wrap="square"/>
                    <a:lstStyle/>
                    <a:p>
                      <a:pPr algn="l">
                        <a:lnSpc>
                          <a:spcPct val="100000"/>
                        </a:lnSpc>
                      </a:pPr>
                      <a:r>
                        <a:rPr sz="1150" b="1" i="0">
                          <a:solidFill>
                            <a:srgbClr val="1C2433"/>
                          </a:solidFill>
                          <a:latin typeface="Calibri"/>
                        </a:rPr>
                        <a:t>Apache Spark, Amazon EMR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 and write (Delta's Spark library)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 and write (Iceberg's Spark runtime)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47470">
                <a:tc>
                  <a:txBody>
                    <a:bodyPr wrap="square"/>
                    <a:lstStyle/>
                    <a:p>
                      <a:pPr algn="l">
                        <a:lnSpc>
                          <a:spcPct val="100000"/>
                        </a:lnSpc>
                      </a:pPr>
                      <a:r>
                        <a:rPr sz="1150" b="1" i="0">
                          <a:solidFill>
                            <a:srgbClr val="1C2433"/>
                          </a:solidFill>
                          <a:latin typeface="Calibri"/>
                        </a:rPr>
                        <a:t>Trino, Starburst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Delta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Iceberg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00483">
                <a:tc>
                  <a:txBody>
                    <a:bodyPr wrap="square"/>
                    <a:lstStyle/>
                    <a:p>
                      <a:pPr algn="l">
                        <a:lnSpc>
                          <a:spcPct val="100000"/>
                        </a:lnSpc>
                      </a:pPr>
                      <a:r>
                        <a:rPr sz="1150" b="1" i="0">
                          <a:solidFill>
                            <a:srgbClr val="1C2433"/>
                          </a:solidFill>
                          <a:latin typeface="Calibri"/>
                        </a:rPr>
                        <a:t>Amazon Athena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reads Delta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reads and writes Iceberg tables in the Glue catalog; OPTIMIZE, VACUUM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00483">
                <a:tc>
                  <a:txBody>
                    <a:bodyPr wrap="square"/>
                    <a:lstStyle/>
                    <a:p>
                      <a:pPr algn="l">
                        <a:lnSpc>
                          <a:spcPct val="100000"/>
                        </a:lnSpc>
                      </a:pPr>
                      <a:r>
                        <a:rPr sz="1150" b="1" i="0">
                          <a:solidFill>
                            <a:srgbClr val="1C2433"/>
                          </a:solidFill>
                          <a:latin typeface="Calibri"/>
                        </a:rPr>
                        <a:t>Snowflake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reads through external tables / catalog integration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native Iceberg tables (managed or catalog-linked), Open Catalog (Polaris)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47470">
                <a:tc>
                  <a:txBody>
                    <a:bodyPr wrap="square"/>
                    <a:lstStyle/>
                    <a:p>
                      <a:pPr algn="l">
                        <a:lnSpc>
                          <a:spcPct val="100000"/>
                        </a:lnSpc>
                      </a:pPr>
                      <a:r>
                        <a:rPr sz="1150" b="1" i="0">
                          <a:solidFill>
                            <a:srgbClr val="1C2433"/>
                          </a:solidFill>
                          <a:latin typeface="Calibri"/>
                        </a:rPr>
                        <a:t>Databricks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native (Unity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through Unity's Iceberg REST interface or UniForm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00483">
                <a:tc>
                  <a:txBody>
                    <a:bodyPr wrap="square"/>
                    <a:lstStyle/>
                    <a:p>
                      <a:pPr algn="l">
                        <a:lnSpc>
                          <a:spcPct val="100000"/>
                        </a:lnSpc>
                      </a:pPr>
                      <a:r>
                        <a:rPr sz="1150" b="1" i="0">
                          <a:solidFill>
                            <a:srgbClr val="1C2433"/>
                          </a:solidFill>
                          <a:latin typeface="Calibri"/>
                        </a:rPr>
                        <a:t>pyiceberg, DuckDB, pandas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delta-rs (deltalake), DuckDB's delta extension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pyiceberg, DuckDB's iceberg extension (both used in Drishti's tests)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graphicFrame>
        <p:nvGraphicFramePr>
          <p:cNvPr id="10" name="Table 9"/>
          <p:cNvGraphicFramePr>
            <a:graphicFrameLocks noGrp="1"/>
          </p:cNvGraphicFramePr>
          <p:nvPr/>
        </p:nvGraphicFramePr>
        <p:xfrm>
          <a:off x="411480" y="4526280"/>
          <a:ext cx="11365992" cy="1691385"/>
        </p:xfrm>
        <a:graphic>
          <a:graphicData uri="http://schemas.openxmlformats.org/drawingml/2006/table">
            <a:tbl>
              <a:tblPr firstRow="1" bandRow="1">
                <a:tableStyleId>{5940675A-B579-460E-94D1-54222C63F5DA}</a:tableStyleId>
              </a:tblPr>
              <a:tblGrid>
                <a:gridCol w="2377440"/>
                <a:gridCol w="4114800"/>
                <a:gridCol w="4873752"/>
              </a:tblGrid>
              <a:tr h="310896">
                <a:tc>
                  <a:txBody>
                    <a:bodyPr wrap="square"/>
                    <a:lstStyle/>
                    <a:p>
                      <a:pPr algn="l">
                        <a:lnSpc>
                          <a:spcPct val="100000"/>
                        </a:lnSpc>
                      </a:pPr>
                      <a:r>
                        <a:rPr sz="1150" b="1" i="0">
                          <a:solidFill>
                            <a:srgbClr val="FFFFFF"/>
                          </a:solidFill>
                          <a:latin typeface="Calibri"/>
                        </a:rPr>
                        <a:t>Running cost item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10896">
                <a:tc>
                  <a:txBody>
                    <a:bodyPr wrap="square"/>
                    <a:lstStyle/>
                    <a:p>
                      <a:pPr algn="l">
                        <a:lnSpc>
                          <a:spcPct val="100000"/>
                        </a:lnSpc>
                      </a:pPr>
                      <a:r>
                        <a:rPr sz="1150" b="1" i="0">
                          <a:solidFill>
                            <a:srgbClr val="1C2433"/>
                          </a:solidFill>
                          <a:latin typeface="Calibri"/>
                        </a:rPr>
                        <a:t>Storage (Parquet), tiers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47801">
                <a:tc>
                  <a:txBody>
                    <a:bodyPr wrap="square"/>
                    <a:lstStyle/>
                    <a:p>
                      <a:pPr algn="l">
                        <a:lnSpc>
                          <a:spcPct val="100000"/>
                        </a:lnSpc>
                      </a:pPr>
                      <a:r>
                        <a:rPr sz="1150" b="1" i="0">
                          <a:solidFill>
                            <a:srgbClr val="1C2433"/>
                          </a:solidFill>
                          <a:latin typeface="Calibri"/>
                        </a:rPr>
                        <a:t>Metadata per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small JSON; a checkpoint every 10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metadata JSON listing every snapshot kept + a manifest list + a manifest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0896">
                <a:tc>
                  <a:txBody>
                    <a:bodyPr wrap="square"/>
                    <a:lstStyle/>
                    <a:p>
                      <a:pPr algn="l">
                        <a:lnSpc>
                          <a:spcPct val="100000"/>
                        </a:lnSpc>
                      </a:pPr>
                      <a:r>
                        <a:rPr sz="115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none (path) or Glue / S3 Tables request and storage charges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0896">
                <a:tc>
                  <a:txBody>
                    <a:bodyPr wrap="square"/>
                    <a:lstStyle/>
                    <a:p>
                      <a:pPr algn="l">
                        <a:lnSpc>
                          <a:spcPct val="100000"/>
                        </a:lnSpc>
                      </a:pPr>
                      <a:r>
                        <a:rPr sz="1150" b="1" i="0">
                          <a:solidFill>
                            <a:srgbClr val="1C2433"/>
                          </a:solidFill>
                          <a:latin typeface="Calibri"/>
                        </a:rPr>
                        <a:t>Maintenance compute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nightly </a:t>
                      </a:r>
                      <a:r>
                        <a:rPr sz="1050" b="0" i="0">
                          <a:solidFill>
                            <a:srgbClr val="0E7C86"/>
                          </a:solidFill>
                          <a:latin typeface="Consolas"/>
                        </a:rPr>
                        <a:t>lake maintain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nightly </a:t>
                      </a:r>
                      <a:r>
                        <a:rPr sz="1050" b="0" i="0">
                          <a:solidFill>
                            <a:srgbClr val="0E7C86"/>
                          </a:solidFill>
                          <a:latin typeface="Consolas"/>
                        </a:rPr>
                        <a:t>IcebergMaintenance</a:t>
                      </a:r>
                      <a:r>
                        <a:rPr sz="1150" b="0" i="0">
                          <a:solidFill>
                            <a:srgbClr val="1C2433"/>
                          </a:solidFill>
                          <a:latin typeface="Calibri"/>
                        </a:rPr>
                        <a:t>, or managed optimizers (charged)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Drishti's support, side by side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11</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56</a:t>
            </a:r>
          </a:p>
        </p:txBody>
      </p:sp>
      <p:graphicFrame>
        <p:nvGraphicFramePr>
          <p:cNvPr id="9" name="Table 8"/>
          <p:cNvGraphicFramePr>
            <a:graphicFrameLocks noGrp="1"/>
          </p:cNvGraphicFramePr>
          <p:nvPr/>
        </p:nvGraphicFramePr>
        <p:xfrm>
          <a:off x="411480" y="1143000"/>
          <a:ext cx="11365992" cy="4847232"/>
        </p:xfrm>
        <a:graphic>
          <a:graphicData uri="http://schemas.openxmlformats.org/drawingml/2006/table">
            <a:tbl>
              <a:tblPr firstRow="1" bandRow="1">
                <a:tableStyleId>{5940675A-B579-460E-94D1-54222C63F5DA}</a:tableStyleId>
              </a:tblPr>
              <a:tblGrid>
                <a:gridCol w="5120640"/>
                <a:gridCol w="3108960"/>
                <a:gridCol w="3136392"/>
              </a:tblGrid>
              <a:tr h="403936">
                <a:tc>
                  <a:txBody>
                    <a:bodyPr wrap="square"/>
                    <a:lstStyle/>
                    <a:p>
                      <a:pPr algn="l">
                        <a:lnSpc>
                          <a:spcPct val="100000"/>
                        </a:lnSpc>
                      </a:pPr>
                      <a:r>
                        <a:rPr sz="1200" b="1" i="0">
                          <a:solidFill>
                            <a:srgbClr val="FFFFFF"/>
                          </a:solidFill>
                          <a:latin typeface="Calibri"/>
                        </a:rPr>
                        <a:t>Capability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03936">
                <a:tc>
                  <a:txBody>
                    <a:bodyPr wrap="square"/>
                    <a:lstStyle/>
                    <a:p>
                      <a:pPr algn="l">
                        <a:lnSpc>
                          <a:spcPct val="100000"/>
                        </a:lnSpc>
                      </a:pPr>
                      <a:r>
                        <a:rPr sz="1200" b="1" i="0">
                          <a:solidFill>
                            <a:srgbClr val="1C2433"/>
                          </a:solidFill>
                          <a:latin typeface="Calibri"/>
                        </a:rPr>
                        <a:t>Read local disk, EFS, S3 without Hadoop; Windows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03936">
                <a:tc>
                  <a:txBody>
                    <a:bodyPr wrap="square"/>
                    <a:lstStyle/>
                    <a:p>
                      <a:pPr algn="l">
                        <a:lnSpc>
                          <a:spcPct val="100000"/>
                        </a:lnSpc>
                      </a:pPr>
                      <a:r>
                        <a:rPr sz="1200" b="1" i="0">
                          <a:solidFill>
                            <a:srgbClr val="1C2433"/>
                          </a:solidFill>
                          <a:latin typeface="Calibri"/>
                        </a:rPr>
                        <a:t>Write a table in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a:t>
                      </a:r>
                      <a:r>
                        <a:rPr sz="1100" b="0" i="0">
                          <a:solidFill>
                            <a:srgbClr val="0E7C86"/>
                          </a:solidFill>
                          <a:latin typeface="Consolas"/>
                        </a:rPr>
                        <a:t>lake publish</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(the loader, directly)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03936">
                <a:tc>
                  <a:txBody>
                    <a:bodyPr wrap="square"/>
                    <a:lstStyle/>
                    <a:p>
                      <a:pPr algn="l">
                        <a:lnSpc>
                          <a:spcPct val="100000"/>
                        </a:lnSpc>
                      </a:pPr>
                      <a:r>
                        <a:rPr sz="1200" b="1" i="0">
                          <a:solidFill>
                            <a:srgbClr val="1C2433"/>
                          </a:solidFill>
                          <a:latin typeface="Calibri"/>
                        </a:rPr>
                        <a:t>Tables other engines write, in their own 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(Delta connector)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a:t>
                      </a:r>
                      <a:r>
                        <a:rPr sz="1100" b="0" i="0">
                          <a:solidFill>
                            <a:srgbClr val="0E7C86"/>
                          </a:solidFill>
                          <a:latin typeface="Consolas"/>
                        </a:rPr>
                        <a:t>iceberg-external</a:t>
                      </a:r>
                      <a:r>
                        <a:rPr sz="1200" b="0" i="0">
                          <a:solidFill>
                            <a:srgbClr val="1C2433"/>
                          </a:solidFill>
                          <a:latin typeface="Calibri"/>
                        </a:rPr>
                        <a:t>, read-only)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03936">
                <a:tc>
                  <a:txBody>
                    <a:bodyPr wrap="square"/>
                    <a:lstStyle/>
                    <a:p>
                      <a:pPr algn="l">
                        <a:lnSpc>
                          <a:spcPct val="100000"/>
                        </a:lnSpc>
                      </a:pPr>
                      <a:r>
                        <a:rPr sz="1200" b="1" i="0">
                          <a:solidFill>
                            <a:srgbClr val="1C2433"/>
                          </a:solidFill>
                          <a:latin typeface="Calibri"/>
                        </a:rPr>
                        <a:t>REST or Glue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 (not needed)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(client; not run on AWS)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03936">
                <a:tc>
                  <a:txBody>
                    <a:bodyPr wrap="square"/>
                    <a:lstStyle/>
                    <a:p>
                      <a:pPr algn="l">
                        <a:lnSpc>
                          <a:spcPct val="100000"/>
                        </a:lnSpc>
                      </a:pPr>
                      <a:r>
                        <a:rPr sz="1200" b="1" i="0">
                          <a:solidFill>
                            <a:srgbClr val="1C2433"/>
                          </a:solidFill>
                          <a:latin typeface="Calibri"/>
                        </a:rPr>
                        <a:t>AWS scripts: load, backfill, maintain, lifecycle, alarms, report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(dry-run tested)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03936">
                <a:tc>
                  <a:txBody>
                    <a:bodyPr wrap="square"/>
                    <a:lstStyle/>
                    <a:p>
                      <a:pPr algn="l">
                        <a:lnSpc>
                          <a:spcPct val="100000"/>
                        </a:lnSpc>
                      </a:pPr>
                      <a:r>
                        <a:rPr sz="1200" b="1" i="0">
                          <a:solidFill>
                            <a:srgbClr val="1C2433"/>
                          </a:solidFill>
                          <a:latin typeface="Calibri"/>
                        </a:rPr>
                        <a:t>Maintenance UI, schedules, ownership rule, 7-year risk floor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03936">
                <a:tc>
                  <a:txBody>
                    <a:bodyPr wrap="square"/>
                    <a:lstStyle/>
                    <a:p>
                      <a:pPr algn="l">
                        <a:lnSpc>
                          <a:spcPct val="100000"/>
                        </a:lnSpc>
                      </a:pPr>
                      <a:r>
                        <a:rPr sz="1200" b="1" i="0">
                          <a:solidFill>
                            <a:srgbClr val="1C2433"/>
                          </a:solidFill>
                          <a:latin typeface="Calibri"/>
                        </a:rPr>
                        <a:t>Disk caches (id maps, documents) across restarts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03936">
                <a:tc>
                  <a:txBody>
                    <a:bodyPr wrap="square"/>
                    <a:lstStyle/>
                    <a:p>
                      <a:pPr algn="l">
                        <a:lnSpc>
                          <a:spcPct val="100000"/>
                        </a:lnSpc>
                      </a:pPr>
                      <a:r>
                        <a:rPr sz="1200" b="1" i="0">
                          <a:solidFill>
                            <a:srgbClr val="1C2433"/>
                          </a:solidFill>
                          <a:latin typeface="Calibri"/>
                        </a:rPr>
                        <a:t>VaR and exposure vectors (</a:t>
                      </a:r>
                      <a:r>
                        <a:rPr sz="1100" b="1" i="0">
                          <a:solidFill>
                            <a:srgbClr val="0E7C86"/>
                          </a:solidFill>
                          <a:latin typeface="Consolas"/>
                        </a:rPr>
                        <a:t>list&lt;double&gt;</a:t>
                      </a:r>
                      <a:r>
                        <a:rPr sz="1200" b="1" i="0">
                          <a:solidFill>
                            <a:srgbClr val="1C2433"/>
                          </a:solidFill>
                          <a:latin typeface="Calibri"/>
                        </a:rPr>
                        <a:t>, </a:t>
                      </a:r>
                      <a:r>
                        <a:rPr sz="1100" b="1" i="0">
                          <a:solidFill>
                            <a:srgbClr val="0E7C86"/>
                          </a:solidFill>
                          <a:latin typeface="Consolas"/>
                        </a:rPr>
                        <a:t>list&lt;float&gt;</a:t>
                      </a:r>
                      <a:r>
                        <a:rPr sz="1200" b="1"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03936">
                <a:tc>
                  <a:txBody>
                    <a:bodyPr wrap="square"/>
                    <a:lstStyle/>
                    <a:p>
                      <a:pPr algn="l">
                        <a:lnSpc>
                          <a:spcPct val="100000"/>
                        </a:lnSpc>
                      </a:pPr>
                      <a:r>
                        <a:rPr sz="1200" b="1" i="0">
                          <a:solidFill>
                            <a:srgbClr val="1C2433"/>
                          </a:solidFill>
                          <a:latin typeface="Calibri"/>
                        </a:rPr>
                        <a:t>Official VaR and exposure results published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(local or EFS root)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03936">
                <a:tc>
                  <a:txBody>
                    <a:bodyPr wrap="square"/>
                    <a:lstStyle/>
                    <a:p>
                      <a:pPr algn="l">
                        <a:lnSpc>
                          <a:spcPct val="100000"/>
                        </a:lnSpc>
                      </a:pPr>
                      <a:r>
                        <a:rPr sz="1200" b="1" i="0">
                          <a:solidFill>
                            <a:srgbClr val="1C2433"/>
                          </a:solidFill>
                          <a:latin typeface="Calibri"/>
                        </a:rPr>
                        <a:t>Schema change without a new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03936">
                <a:tc>
                  <a:txBody>
                    <a:bodyPr wrap="square"/>
                    <a:lstStyle/>
                    <a:p>
                      <a:pPr algn="l">
                        <a:lnSpc>
                          <a:spcPct val="100000"/>
                        </a:lnSpc>
                      </a:pPr>
                      <a:r>
                        <a:rPr sz="1200" b="1" i="0">
                          <a:solidFill>
                            <a:srgbClr val="1C2433"/>
                          </a:solidFill>
                          <a:latin typeface="Calibri"/>
                        </a:rPr>
                        <a:t>Caches survive a commit of another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12</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Which to choose</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A decision guide for a bank, each statement tied to what Drishti supports today</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A decision guide for a bank</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12</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58</a:t>
            </a:r>
          </a:p>
        </p:txBody>
      </p:sp>
      <p:graphicFrame>
        <p:nvGraphicFramePr>
          <p:cNvPr id="9" name="Table 8"/>
          <p:cNvGraphicFramePr>
            <a:graphicFrameLocks noGrp="1"/>
          </p:cNvGraphicFramePr>
          <p:nvPr/>
        </p:nvGraphicFramePr>
        <p:xfrm>
          <a:off x="411480" y="1143000"/>
          <a:ext cx="11365992" cy="4335472"/>
        </p:xfrm>
        <a:graphic>
          <a:graphicData uri="http://schemas.openxmlformats.org/drawingml/2006/table">
            <a:tbl>
              <a:tblPr firstRow="1" bandRow="1">
                <a:tableStyleId>{5940675A-B579-460E-94D1-54222C63F5DA}</a:tableStyleId>
              </a:tblPr>
              <a:tblGrid>
                <a:gridCol w="3657600"/>
                <a:gridCol w="2560320"/>
                <a:gridCol w="5148072"/>
              </a:tblGrid>
              <a:tr h="435254">
                <a:tc>
                  <a:txBody>
                    <a:bodyPr wrap="square"/>
                    <a:lstStyle/>
                    <a:p>
                      <a:pPr algn="l">
                        <a:lnSpc>
                          <a:spcPct val="100000"/>
                        </a:lnSpc>
                      </a:pPr>
                      <a:r>
                        <a:rPr sz="1200" b="1" i="0">
                          <a:solidFill>
                            <a:srgbClr val="FFFFFF"/>
                          </a:solidFill>
                          <a:latin typeface="Calibri"/>
                        </a:rPr>
                        <a:t>If the bank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Choose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Because (Drishti today)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8614">
                <a:tc>
                  <a:txBody>
                    <a:bodyPr wrap="square"/>
                    <a:lstStyle/>
                    <a:p>
                      <a:pPr algn="l">
                        <a:lnSpc>
                          <a:spcPct val="100000"/>
                        </a:lnSpc>
                      </a:pPr>
                      <a:r>
                        <a:rPr sz="1200" b="1" i="0">
                          <a:solidFill>
                            <a:srgbClr val="1C2433"/>
                          </a:solidFill>
                          <a:latin typeface="Calibri"/>
                        </a:rPr>
                        <a:t>runs VaR or exposure in Drishti from the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Delta</a:t>
                      </a:r>
                      <a:r>
                        <a:rPr sz="1200" b="0" i="0">
                          <a:solidFill>
                            <a:srgbClr val="1C2433"/>
                          </a:solidFill>
                          <a:latin typeface="Calibri"/>
                        </a:rPr>
                        <a:t> for the risk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engines read vectors only through the Delta plugin; official results publish to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wants the AWS scripts as they are (load, backfill, maintain, tiers, alarms)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scripts and runbooks exist and are dry-run tested; Iceberg's are 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already keeps trades in Iceberg (Snowflake, Glue, Spark pipelines)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read in place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iceberg-external</a:t>
                      </a:r>
                      <a:r>
                        <a:rPr sz="1200" b="0" i="0">
                          <a:solidFill>
                            <a:srgbClr val="1C2433"/>
                          </a:solidFill>
                          <a:latin typeface="Calibri"/>
                        </a:rPr>
                        <a:t> serves them read-only; no copy, no Drishti writer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needs other engines to write the same tables Drishti reads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behind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commits through the catalog's requirements; Drishti's loader is one writer among several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changes promoted columns often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Iceberg</a:t>
                      </a:r>
                      <a:r>
                        <a:rPr sz="1200" b="0" i="0">
                          <a:solidFill>
                            <a:srgbClr val="1C2433"/>
                          </a:solidFill>
                          <a:latin typeface="Calibri"/>
                        </a:rPr>
                        <a:t> for those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 column is added by field id; Delta's publish needs a new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standardises on Databricks and Unity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1C2433"/>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Drishti reads Delta natively; Iceberg only through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must run Drishti on Windows laptops for QA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either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both native engines run without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The recommendation, in one page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12</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59</a:t>
            </a:r>
          </a:p>
        </p:txBody>
      </p:sp>
      <p:sp>
        <p:nvSpPr>
          <p:cNvPr id="9" name="Rounded Rectangle 8"/>
          <p:cNvSpPr/>
          <p:nvPr/>
        </p:nvSpPr>
        <p:spPr>
          <a:xfrm>
            <a:off x="411480" y="1188720"/>
            <a:ext cx="5486400" cy="512064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Rectangle 9"/>
          <p:cNvSpPr/>
          <p:nvPr/>
        </p:nvSpPr>
        <p:spPr>
          <a:xfrm>
            <a:off x="411480" y="1188720"/>
            <a:ext cx="82296" cy="512064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0080" y="1380744"/>
            <a:ext cx="5120640" cy="5010912"/>
          </a:xfrm>
          <a:prstGeom prst="rect">
            <a:avLst/>
          </a:prstGeom>
          <a:noFill/>
        </p:spPr>
        <p:txBody>
          <a:bodyPr wrap="square" lIns="45720" rIns="45720" tIns="27432" bIns="27432" anchor="t">
            <a:spAutoFit/>
          </a:bodyPr>
          <a:lstStyle/>
          <a:p>
            <a:pPr algn="l">
              <a:lnSpc>
                <a:spcPct val="105000"/>
              </a:lnSpc>
              <a:spcAft>
                <a:spcPts val="1400"/>
              </a:spcAft>
            </a:pPr>
            <a:r>
              <a:rPr sz="1700" b="1" i="0">
                <a:solidFill>
                  <a:srgbClr val="1C2433"/>
                </a:solidFill>
                <a:latin typeface="Calibri"/>
              </a:rPr>
              <a:t>Today: Delta for Drishti-owned risk, Iceberg where the bank's data already is</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Risk domain</a:t>
            </a:r>
            <a:r>
              <a:rPr sz="1450" b="0" i="0">
                <a:solidFill>
                  <a:srgbClr val="1C2433"/>
                </a:solidFill>
                <a:latin typeface="Calibri"/>
              </a:rPr>
              <a:t> (P&amp;L vectors, scenario PVs, exposure paths, official results): Delta, on the built AWS scripts</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Trades, reference, market data</a:t>
            </a:r>
            <a:r>
              <a:rPr sz="1450" b="0" i="0">
                <a:solidFill>
                  <a:srgbClr val="1C2433"/>
                </a:solidFill>
                <a:latin typeface="Calibri"/>
              </a:rPr>
              <a:t>: either, chosen per source system (</a:t>
            </a:r>
            <a:r>
              <a:rPr sz="1350" b="0" i="0">
                <a:solidFill>
                  <a:srgbClr val="0E7C86"/>
                </a:solidFill>
                <a:latin typeface="Consolas"/>
              </a:rPr>
              <a:t>--store</a:t>
            </a:r>
            <a:r>
              <a:rPr sz="1450" b="0" i="0">
                <a:solidFill>
                  <a:srgbClr val="1C2433"/>
                </a:solidFill>
                <a:latin typeface="Calibri"/>
              </a:rPr>
              <a:t>)</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The bank's Iceberg tables</a:t>
            </a:r>
            <a:r>
              <a:rPr sz="1450" b="0" i="0">
                <a:solidFill>
                  <a:srgbClr val="1C2433"/>
                </a:solidFill>
                <a:latin typeface="Calibri"/>
              </a:rPr>
              <a:t> (Snowflake, Glue): </a:t>
            </a:r>
            <a:r>
              <a:rPr sz="1350" b="0" i="0">
                <a:solidFill>
                  <a:srgbClr val="0E7C86"/>
                </a:solidFill>
                <a:latin typeface="Consolas"/>
              </a:rPr>
              <a:t>iceberg-external</a:t>
            </a:r>
            <a:r>
              <a:rPr sz="1450" b="0" i="0">
                <a:solidFill>
                  <a:srgbClr val="1C2433"/>
                </a:solidFill>
                <a:latin typeface="Calibri"/>
              </a:rPr>
              <a:t>, read in place</a:t>
            </a:r>
          </a:p>
          <a:p>
            <a:pPr algn="l">
              <a:lnSpc>
                <a:spcPct val="105000"/>
              </a:lnSpc>
              <a:spcAft>
                <a:spcPts val="1200"/>
              </a:spcAft>
            </a:pPr>
            <a:r>
              <a:rPr sz="1450" b="0" i="0">
                <a:solidFill>
                  <a:srgbClr val="E87A1E"/>
                </a:solidFill>
                <a:latin typeface="Calibri"/>
              </a:rPr>
              <a:t>•  </a:t>
            </a:r>
            <a:r>
              <a:rPr sz="1450" b="1" i="0">
                <a:solidFill>
                  <a:srgbClr val="1C2433"/>
                </a:solidFill>
                <a:latin typeface="Calibri"/>
              </a:rPr>
              <a:t>One switch per table</a:t>
            </a:r>
            <a:r>
              <a:rPr sz="1450" b="0" i="0">
                <a:solidFill>
                  <a:srgbClr val="1C2433"/>
                </a:solidFill>
                <a:latin typeface="Calibri"/>
              </a:rPr>
              <a:t>: the connector name never changes, so a table can move later</a:t>
            </a:r>
          </a:p>
        </p:txBody>
      </p:sp>
      <p:sp>
        <p:nvSpPr>
          <p:cNvPr id="12" name="TextBox 11"/>
          <p:cNvSpPr txBox="1"/>
          <p:nvPr/>
        </p:nvSpPr>
        <p:spPr>
          <a:xfrm>
            <a:off x="6172200" y="1188720"/>
            <a:ext cx="557784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To make Iceberg a full equal (PROPOSED)</a:t>
            </a:r>
          </a:p>
        </p:txBody>
      </p:sp>
      <p:sp>
        <p:nvSpPr>
          <p:cNvPr id="13" name="Oval 12"/>
          <p:cNvSpPr/>
          <p:nvPr/>
        </p:nvSpPr>
        <p:spPr>
          <a:xfrm>
            <a:off x="6217920" y="170992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0" y="170992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1</a:t>
            </a:r>
          </a:p>
        </p:txBody>
      </p:sp>
      <p:sp>
        <p:nvSpPr>
          <p:cNvPr id="15" name="TextBox 14"/>
          <p:cNvSpPr txBox="1"/>
          <p:nvPr/>
        </p:nvSpPr>
        <p:spPr>
          <a:xfrm>
            <a:off x="6720840" y="1645920"/>
            <a:ext cx="5029200" cy="749808"/>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vectors()</a:t>
            </a:r>
            <a:r>
              <a:rPr sz="1300" b="0" i="0">
                <a:solidFill>
                  <a:srgbClr val="1C2433"/>
                </a:solidFill>
                <a:latin typeface="Calibri"/>
              </a:rPr>
              <a:t> in the Iceberg plugin, and the loader writing </a:t>
            </a:r>
            <a:r>
              <a:rPr sz="1200" b="0" i="0">
                <a:solidFill>
                  <a:srgbClr val="0E7C86"/>
                </a:solidFill>
                <a:latin typeface="Consolas"/>
              </a:rPr>
              <a:t>list&lt;double&gt;</a:t>
            </a:r>
            <a:r>
              <a:rPr sz="1300" b="0" i="0">
                <a:solidFill>
                  <a:srgbClr val="1C2433"/>
                </a:solidFill>
                <a:latin typeface="Calibri"/>
              </a:rPr>
              <a:t> / </a:t>
            </a:r>
            <a:r>
              <a:rPr sz="1200" b="0" i="0">
                <a:solidFill>
                  <a:srgbClr val="0E7C86"/>
                </a:solidFill>
                <a:latin typeface="Consolas"/>
              </a:rPr>
              <a:t>list&lt;float&gt;</a:t>
            </a:r>
            <a:r>
              <a:rPr sz="1300" b="0" i="0">
                <a:solidFill>
                  <a:srgbClr val="1C2433"/>
                </a:solidFill>
                <a:latin typeface="Calibri"/>
              </a:rPr>
              <a:t> columns</a:t>
            </a:r>
          </a:p>
        </p:txBody>
      </p:sp>
      <p:sp>
        <p:nvSpPr>
          <p:cNvPr id="16" name="Oval 15"/>
          <p:cNvSpPr/>
          <p:nvPr/>
        </p:nvSpPr>
        <p:spPr>
          <a:xfrm>
            <a:off x="6217920" y="248716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0" y="248716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2</a:t>
            </a:r>
          </a:p>
        </p:txBody>
      </p:sp>
      <p:sp>
        <p:nvSpPr>
          <p:cNvPr id="18" name="TextBox 17"/>
          <p:cNvSpPr txBox="1"/>
          <p:nvPr/>
        </p:nvSpPr>
        <p:spPr>
          <a:xfrm>
            <a:off x="6720840" y="2423160"/>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official results published to Iceberg (and to </a:t>
            </a:r>
            <a:r>
              <a:rPr sz="1200" b="0" i="0">
                <a:solidFill>
                  <a:srgbClr val="0E7C86"/>
                </a:solidFill>
                <a:latin typeface="Consolas"/>
              </a:rPr>
              <a:t>s3://</a:t>
            </a:r>
            <a:r>
              <a:rPr sz="1300" b="0" i="0">
                <a:solidFill>
                  <a:srgbClr val="1C2433"/>
                </a:solidFill>
                <a:latin typeface="Calibri"/>
              </a:rPr>
              <a:t> for both formats)</a:t>
            </a:r>
          </a:p>
        </p:txBody>
      </p:sp>
      <p:sp>
        <p:nvSpPr>
          <p:cNvPr id="19" name="Oval 18"/>
          <p:cNvSpPr/>
          <p:nvPr/>
        </p:nvSpPr>
        <p:spPr>
          <a:xfrm>
            <a:off x="6217920" y="326440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326440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3</a:t>
            </a:r>
          </a:p>
        </p:txBody>
      </p:sp>
      <p:sp>
        <p:nvSpPr>
          <p:cNvPr id="21" name="TextBox 20"/>
          <p:cNvSpPr txBox="1"/>
          <p:nvPr/>
        </p:nvSpPr>
        <p:spPr>
          <a:xfrm>
            <a:off x="6720840" y="3200400"/>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AWS scripts: an Iceberg </a:t>
            </a:r>
            <a:r>
              <a:rPr sz="1200" b="0" i="0">
                <a:solidFill>
                  <a:srgbClr val="0E7C86"/>
                </a:solidFill>
                <a:latin typeface="Consolas"/>
              </a:rPr>
              <a:t>load-day</a:t>
            </a:r>
            <a:r>
              <a:rPr sz="1300" b="0" i="0">
                <a:solidFill>
                  <a:srgbClr val="1C2433"/>
                </a:solidFill>
                <a:latin typeface="Calibri"/>
              </a:rPr>
              <a:t>, </a:t>
            </a:r>
            <a:r>
              <a:rPr sz="1200" b="0" i="0">
                <a:solidFill>
                  <a:srgbClr val="0E7C86"/>
                </a:solidFill>
                <a:latin typeface="Consolas"/>
              </a:rPr>
              <a:t>maintain</a:t>
            </a:r>
            <a:r>
              <a:rPr sz="1300" b="0" i="0">
                <a:solidFill>
                  <a:srgbClr val="1C2433"/>
                </a:solidFill>
                <a:latin typeface="Calibri"/>
              </a:rPr>
              <a:t>, lifecycle prefixes, alarms, report</a:t>
            </a:r>
          </a:p>
        </p:txBody>
      </p:sp>
      <p:sp>
        <p:nvSpPr>
          <p:cNvPr id="22" name="Oval 21"/>
          <p:cNvSpPr/>
          <p:nvPr/>
        </p:nvSpPr>
        <p:spPr>
          <a:xfrm>
            <a:off x="6217920" y="404164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0" y="404164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4</a:t>
            </a:r>
          </a:p>
        </p:txBody>
      </p:sp>
      <p:sp>
        <p:nvSpPr>
          <p:cNvPr id="24" name="TextBox 23"/>
          <p:cNvSpPr txBox="1"/>
          <p:nvPr/>
        </p:nvSpPr>
        <p:spPr>
          <a:xfrm>
            <a:off x="6720840" y="3977639"/>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orphan removal, Admin → Lakes and the 7-year floor for Iceberg</a:t>
            </a:r>
          </a:p>
        </p:txBody>
      </p:sp>
      <p:sp>
        <p:nvSpPr>
          <p:cNvPr id="25" name="Oval 24"/>
          <p:cNvSpPr/>
          <p:nvPr/>
        </p:nvSpPr>
        <p:spPr>
          <a:xfrm>
            <a:off x="6217920" y="4818888"/>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0" y="4818888"/>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5</a:t>
            </a:r>
          </a:p>
        </p:txBody>
      </p:sp>
      <p:sp>
        <p:nvSpPr>
          <p:cNvPr id="27" name="TextBox 26"/>
          <p:cNvSpPr txBox="1"/>
          <p:nvPr/>
        </p:nvSpPr>
        <p:spPr>
          <a:xfrm>
            <a:off x="6720840" y="4754879"/>
            <a:ext cx="5029200" cy="749808"/>
          </a:xfrm>
          <a:prstGeom prst="rect">
            <a:avLst/>
          </a:prstGeom>
          <a:noFill/>
        </p:spPr>
        <p:txBody>
          <a:bodyPr wrap="square" lIns="45720" rIns="45720" tIns="27432" bIns="27432" anchor="ctr">
            <a:spAutoFit/>
          </a:bodyPr>
          <a:lstStyle/>
          <a:p>
            <a:pPr algn="l">
              <a:lnSpc>
                <a:spcPct val="105000"/>
              </a:lnSpc>
            </a:pPr>
            <a:r>
              <a:rPr sz="1200" b="0" i="0">
                <a:solidFill>
                  <a:srgbClr val="0E7C86"/>
                </a:solidFill>
                <a:latin typeface="Consolas"/>
              </a:rPr>
              <a:t>tableIdentity()</a:t>
            </a:r>
            <a:r>
              <a:rPr sz="1300" b="0" i="0">
                <a:solidFill>
                  <a:srgbClr val="1C2433"/>
                </a:solidFill>
                <a:latin typeface="Calibri"/>
              </a:rPr>
              <a:t> for Drishti*net replicas; disk caches</a:t>
            </a:r>
          </a:p>
        </p:txBody>
      </p:sp>
      <p:sp>
        <p:nvSpPr>
          <p:cNvPr id="28" name="Oval 27"/>
          <p:cNvSpPr/>
          <p:nvPr/>
        </p:nvSpPr>
        <p:spPr>
          <a:xfrm>
            <a:off x="6217920" y="5596127"/>
            <a:ext cx="384048" cy="384048"/>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17920" y="5596127"/>
            <a:ext cx="384048" cy="384048"/>
          </a:xfrm>
          <a:prstGeom prst="rect">
            <a:avLst/>
          </a:prstGeom>
          <a:noFill/>
        </p:spPr>
        <p:txBody>
          <a:bodyPr wrap="square" lIns="0" rIns="0" tIns="0" bIns="0" anchor="ctr">
            <a:spAutoFit/>
          </a:bodyPr>
          <a:lstStyle/>
          <a:p>
            <a:pPr algn="ctr">
              <a:lnSpc>
                <a:spcPct val="105000"/>
              </a:lnSpc>
            </a:pPr>
            <a:r>
              <a:rPr sz="1300" b="1" i="0">
                <a:solidFill>
                  <a:srgbClr val="FFFFFF"/>
                </a:solidFill>
                <a:latin typeface="Calibri"/>
              </a:rPr>
              <a:t>6</a:t>
            </a:r>
          </a:p>
        </p:txBody>
      </p:sp>
      <p:sp>
        <p:nvSpPr>
          <p:cNvPr id="30" name="TextBox 29"/>
          <p:cNvSpPr txBox="1"/>
          <p:nvPr/>
        </p:nvSpPr>
        <p:spPr>
          <a:xfrm>
            <a:off x="6720840" y="5532119"/>
            <a:ext cx="5029200" cy="749808"/>
          </a:xfrm>
          <a:prstGeom prst="rect">
            <a:avLst/>
          </a:prstGeom>
          <a:noFill/>
        </p:spPr>
        <p:txBody>
          <a:bodyPr wrap="square" lIns="45720" rIns="45720" tIns="27432" bIns="27432" anchor="ctr">
            <a:spAutoFit/>
          </a:bodyPr>
          <a:lstStyle/>
          <a:p>
            <a:pPr algn="l">
              <a:lnSpc>
                <a:spcPct val="105000"/>
              </a:lnSpc>
            </a:pPr>
            <a:r>
              <a:rPr sz="1300" b="0" i="0">
                <a:solidFill>
                  <a:srgbClr val="1C2433"/>
                </a:solidFill>
                <a:latin typeface="Calibri"/>
              </a:rPr>
              <a:t>a first real run on AWS S3 and on Glue's REST endpoint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13</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Risk workloads on Iceberg</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VaR and exposure vector tables, official results, and sizing at 2.3 million positions and 15,000 portfolios: where the table format matters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VaR and exposure inputs: what each needs from the format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13</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61</a:t>
            </a:r>
          </a:p>
        </p:txBody>
      </p:sp>
      <p:graphicFrame>
        <p:nvGraphicFramePr>
          <p:cNvPr id="9" name="Table 8"/>
          <p:cNvGraphicFramePr>
            <a:graphicFrameLocks noGrp="1"/>
          </p:cNvGraphicFramePr>
          <p:nvPr/>
        </p:nvGraphicFramePr>
        <p:xfrm>
          <a:off x="411480" y="1143000"/>
          <a:ext cx="11365992" cy="1955900"/>
        </p:xfrm>
        <a:graphic>
          <a:graphicData uri="http://schemas.openxmlformats.org/drawingml/2006/table">
            <a:tbl>
              <a:tblPr firstRow="1" bandRow="1">
                <a:tableStyleId>{5940675A-B579-460E-94D1-54222C63F5DA}</a:tableStyleId>
              </a:tblPr>
              <a:tblGrid>
                <a:gridCol w="2834640"/>
                <a:gridCol w="3017520"/>
                <a:gridCol w="2587752"/>
                <a:gridCol w="1371600"/>
                <a:gridCol w="1554480"/>
              </a:tblGrid>
              <a:tr h="327052">
                <a:tc>
                  <a:txBody>
                    <a:bodyPr wrap="square"/>
                    <a:lstStyle/>
                    <a:p>
                      <a:pPr algn="l">
                        <a:lnSpc>
                          <a:spcPct val="100000"/>
                        </a:lnSpc>
                      </a:pPr>
                      <a:r>
                        <a:rPr sz="1200" b="1" i="0">
                          <a:solidFill>
                            <a:srgbClr val="FFFFFF"/>
                          </a:solidFill>
                          <a:latin typeface="Calibri"/>
                        </a:rPr>
                        <a:t>Input (pack)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Vector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Size driver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27052">
                <a:tc>
                  <a:txBody>
                    <a:bodyPr wrap="square"/>
                    <a:lstStyle/>
                    <a:p>
                      <a:pPr algn="l">
                        <a:lnSpc>
                          <a:spcPct val="100000"/>
                        </a:lnSpc>
                      </a:pPr>
                      <a:r>
                        <a:rPr sz="1100" b="1" i="0">
                          <a:solidFill>
                            <a:srgbClr val="0E7C86"/>
                          </a:solidFill>
                          <a:latin typeface="Consolas"/>
                        </a:rPr>
                        <a:t>pnl-vector</a:t>
                      </a:r>
                      <a:r>
                        <a:rPr sz="1200" b="1" i="0">
                          <a:solidFill>
                            <a:srgbClr val="1C2433"/>
                          </a:solidFill>
                          <a:latin typeface="Calibri"/>
                        </a:rPr>
                        <a:t> (market-risk)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PNL list&lt;double&gt;</a:t>
                      </a:r>
                      <a:r>
                        <a:rPr sz="1200" b="0" i="0">
                          <a:solidFill>
                            <a:srgbClr val="1C2433"/>
                          </a:solidFill>
                          <a:latin typeface="Calibri"/>
                        </a:rPr>
                        <a:t>, 509 scenarios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row per trade per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87372">
                <a:tc>
                  <a:txBody>
                    <a:bodyPr wrap="square"/>
                    <a:lstStyle/>
                    <a:p>
                      <a:pPr algn="l">
                        <a:lnSpc>
                          <a:spcPct val="100000"/>
                        </a:lnSpc>
                      </a:pPr>
                      <a:r>
                        <a:rPr sz="1100" b="1" i="0">
                          <a:solidFill>
                            <a:srgbClr val="0E7C86"/>
                          </a:solidFill>
                          <a:latin typeface="Consolas"/>
                        </a:rPr>
                        <a:t>scenario-pv</a:t>
                      </a:r>
                      <a:r>
                        <a:rPr sz="1200" b="1" i="0">
                          <a:solidFill>
                            <a:srgbClr val="1C2433"/>
                          </a:solidFill>
                          <a:latin typeface="Calibri"/>
                        </a:rPr>
                        <a:t> (market-risk, 2.9.4)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scenario PVs, </a:t>
                      </a:r>
                      <a:r>
                        <a:rPr sz="1100" b="0" i="0">
                          <a:solidFill>
                            <a:srgbClr val="0E7C86"/>
                          </a:solidFill>
                          <a:latin typeface="Consolas"/>
                        </a:rPr>
                        <a:t>list&lt;double&gt;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one row per trade or position per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27052">
                <a:tc>
                  <a:txBody>
                    <a:bodyPr wrap="square"/>
                    <a:lstStyle/>
                    <a:p>
                      <a:pPr algn="l">
                        <a:lnSpc>
                          <a:spcPct val="100000"/>
                        </a:lnSpc>
                      </a:pPr>
                      <a:r>
                        <a:rPr sz="1100" b="1" i="0">
                          <a:solidFill>
                            <a:srgbClr val="0E7C86"/>
                          </a:solidFill>
                          <a:latin typeface="Consolas"/>
                        </a:rPr>
                        <a:t>exposure-path</a:t>
                      </a:r>
                      <a:r>
                        <a:rPr sz="1200" b="1" i="0">
                          <a:solidFill>
                            <a:srgbClr val="1C2433"/>
                          </a:solidFill>
                          <a:latin typeface="Calibri"/>
                        </a:rPr>
                        <a:t> (counterparty-risk)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MTM list&lt;float&gt;</a:t>
                      </a:r>
                      <a:r>
                        <a:rPr sz="1200" b="0" i="0">
                          <a:solidFill>
                            <a:srgbClr val="1C2433"/>
                          </a:solidFill>
                          <a:latin typeface="Calibri"/>
                        </a:rPr>
                        <a:t> or </a:t>
                      </a:r>
                      <a:r>
                        <a:rPr sz="1100" b="0" i="0">
                          <a:solidFill>
                            <a:srgbClr val="0E7C86"/>
                          </a:solidFill>
                          <a:latin typeface="Consolas"/>
                        </a:rPr>
                        <a:t>list&lt;double&gt;</a:t>
                      </a:r>
                      <a:r>
                        <a:rPr sz="1200" b="0" i="0">
                          <a:solidFill>
                            <a:srgbClr val="1C2433"/>
                          </a:solidFill>
                          <a:latin typeface="Calibri"/>
                        </a:rPr>
                        <a:t>, paths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about 4,000 × VaR's vectors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87372">
                <a:tc>
                  <a:txBody>
                    <a:bodyPr wrap="square"/>
                    <a:lstStyle/>
                    <a:p>
                      <a:pPr algn="l">
                        <a:lnSpc>
                          <a:spcPct val="100000"/>
                        </a:lnSpc>
                      </a:pPr>
                      <a:r>
                        <a:rPr sz="1100" b="1" i="0">
                          <a:solidFill>
                            <a:srgbClr val="0E7C86"/>
                          </a:solidFill>
                          <a:latin typeface="Consolas"/>
                        </a:rPr>
                        <a:t>scenario-set</a:t>
                      </a:r>
                      <a:r>
                        <a:rPr sz="1200" b="1" i="0">
                          <a:solidFill>
                            <a:srgbClr val="1C2433"/>
                          </a:solidFill>
                          <a:latin typeface="Calibri"/>
                        </a:rPr>
                        <a:t>, </a:t>
                      </a:r>
                      <a:r>
                        <a:rPr sz="1100" b="1" i="0">
                          <a:solidFill>
                            <a:srgbClr val="0E7C86"/>
                          </a:solidFill>
                          <a:latin typeface="Consolas"/>
                        </a:rPr>
                        <a:t>risk-hierarchy</a:t>
                      </a:r>
                      <a:r>
                        <a:rPr sz="1200" b="1" i="0">
                          <a:solidFill>
                            <a:srgbClr val="1C2433"/>
                          </a:solidFill>
                          <a:latin typeface="Calibri"/>
                        </a:rPr>
                        <a:t>, </a:t>
                      </a:r>
                      <a:r>
                        <a:rPr sz="1100" b="1" i="0">
                          <a:solidFill>
                            <a:srgbClr val="0E7C86"/>
                          </a:solidFill>
                          <a:latin typeface="Consolas"/>
                        </a:rPr>
                        <a:t>portfolio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none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small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(plain kinds)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TextBox 9"/>
          <p:cNvSpPr txBox="1"/>
          <p:nvPr/>
        </p:nvSpPr>
        <p:spPr>
          <a:xfrm>
            <a:off x="411480" y="3429000"/>
            <a:ext cx="5486400" cy="365760"/>
          </a:xfrm>
          <a:prstGeom prst="rect">
            <a:avLst/>
          </a:prstGeom>
          <a:noFill/>
        </p:spPr>
        <p:txBody>
          <a:bodyPr wrap="square" lIns="45720" rIns="45720" tIns="27432" bIns="27432" anchor="t">
            <a:spAutoFit/>
          </a:bodyPr>
          <a:lstStyle/>
          <a:p>
            <a:pPr algn="l">
              <a:lnSpc>
                <a:spcPct val="105000"/>
              </a:lnSpc>
            </a:pPr>
            <a:r>
              <a:rPr sz="1500" b="1" i="0">
                <a:solidFill>
                  <a:srgbClr val="0B1E3B"/>
                </a:solidFill>
                <a:latin typeface="Calibri"/>
              </a:rPr>
              <a:t>What is missing for Iceberg, and how small it is</a:t>
            </a:r>
          </a:p>
        </p:txBody>
      </p:sp>
      <p:sp>
        <p:nvSpPr>
          <p:cNvPr id="11" name="TextBox 10"/>
          <p:cNvSpPr txBox="1"/>
          <p:nvPr/>
        </p:nvSpPr>
        <p:spPr>
          <a:xfrm>
            <a:off x="411480" y="3794760"/>
            <a:ext cx="5760720" cy="2560320"/>
          </a:xfrm>
          <a:prstGeom prst="rect">
            <a:avLst/>
          </a:prstGeom>
          <a:noFill/>
        </p:spPr>
        <p:txBody>
          <a:bodyPr wrap="square" lIns="45720" rIns="45720" tIns="27432" bIns="27432" anchor="t">
            <a:spAutoFit/>
          </a:bodyPr>
          <a:lstStyle/>
          <a:p>
            <a:pPr algn="l">
              <a:lnSpc>
                <a:spcPct val="105000"/>
              </a:lnSpc>
              <a:spcAft>
                <a:spcPts val="500"/>
              </a:spcAft>
            </a:pPr>
            <a:r>
              <a:rPr sz="1300" b="0" i="0">
                <a:solidFill>
                  <a:srgbClr val="E87A1E"/>
                </a:solidFill>
                <a:latin typeface="Calibri"/>
              </a:rPr>
              <a:t>•  </a:t>
            </a:r>
            <a:r>
              <a:rPr sz="1300" b="1" i="0">
                <a:solidFill>
                  <a:srgbClr val="1C2433"/>
                </a:solidFill>
                <a:latin typeface="Calibri"/>
              </a:rPr>
              <a:t>Engine:</a:t>
            </a:r>
            <a:r>
              <a:rPr sz="1300" b="0" i="0">
                <a:solidFill>
                  <a:srgbClr val="1C2433"/>
                </a:solidFill>
                <a:latin typeface="Calibri"/>
              </a:rPr>
              <a:t> list types read and written by drishti-iceberg (BUILT)</a:t>
            </a:r>
          </a:p>
          <a:p>
            <a:pPr algn="l">
              <a:lnSpc>
                <a:spcPct val="105000"/>
              </a:lnSpc>
              <a:spcAft>
                <a:spcPts val="500"/>
              </a:spcAft>
            </a:pPr>
            <a:r>
              <a:rPr sz="1300" b="0" i="0">
                <a:solidFill>
                  <a:srgbClr val="E87A1E"/>
                </a:solidFill>
                <a:latin typeface="Calibri"/>
              </a:rPr>
              <a:t>•  </a:t>
            </a:r>
            <a:r>
              <a:rPr sz="1300" b="1" i="0">
                <a:solidFill>
                  <a:srgbClr val="1C2433"/>
                </a:solidFill>
                <a:latin typeface="Calibri"/>
              </a:rPr>
              <a:t>Loader:</a:t>
            </a:r>
            <a:r>
              <a:rPr sz="1300" b="0" i="0">
                <a:solidFill>
                  <a:srgbClr val="1C2433"/>
                </a:solidFill>
                <a:latin typeface="Calibri"/>
              </a:rPr>
              <a:t> </a:t>
            </a:r>
            <a:r>
              <a:rPr sz="1200" b="0" i="0">
                <a:solidFill>
                  <a:srgbClr val="0E7C86"/>
                </a:solidFill>
                <a:latin typeface="Consolas"/>
              </a:rPr>
              <a:t>layout.&lt;kind&gt;.vectors</a:t>
            </a:r>
            <a:r>
              <a:rPr sz="1300" b="0" i="0">
                <a:solidFill>
                  <a:srgbClr val="1C2433"/>
                </a:solidFill>
                <a:latin typeface="Calibri"/>
              </a:rPr>
              <a:t> → a </a:t>
            </a:r>
            <a:r>
              <a:rPr sz="1200" b="0" i="0">
                <a:solidFill>
                  <a:srgbClr val="0E7C86"/>
                </a:solidFill>
                <a:latin typeface="Consolas"/>
              </a:rPr>
              <a:t>list&lt;double&gt;</a:t>
            </a:r>
            <a:r>
              <a:rPr sz="1300" b="0" i="0">
                <a:solidFill>
                  <a:srgbClr val="1C2433"/>
                </a:solidFill>
                <a:latin typeface="Calibri"/>
              </a:rPr>
              <a:t> column, the document keeping </a:t>
            </a:r>
            <a:r>
              <a:rPr sz="1200" b="0" i="0">
                <a:solidFill>
                  <a:srgbClr val="0E7C86"/>
                </a:solidFill>
                <a:latin typeface="Consolas"/>
              </a:rPr>
              <a:t>{"$vector": "PNL"}</a:t>
            </a:r>
            <a:r>
              <a:rPr sz="1300" b="0" i="0">
                <a:solidFill>
                  <a:srgbClr val="1C2433"/>
                </a:solidFill>
                <a:latin typeface="Calibri"/>
              </a:rPr>
              <a:t> (PROPOSED)</a:t>
            </a:r>
          </a:p>
          <a:p>
            <a:pPr algn="l">
              <a:lnSpc>
                <a:spcPct val="105000"/>
              </a:lnSpc>
              <a:spcAft>
                <a:spcPts val="500"/>
              </a:spcAft>
            </a:pPr>
            <a:r>
              <a:rPr sz="1300" b="0" i="0">
                <a:solidFill>
                  <a:srgbClr val="E87A1E"/>
                </a:solidFill>
                <a:latin typeface="Calibri"/>
              </a:rPr>
              <a:t>•  </a:t>
            </a:r>
            <a:r>
              <a:rPr sz="1300" b="1" i="0">
                <a:solidFill>
                  <a:srgbClr val="1C2433"/>
                </a:solidFill>
                <a:latin typeface="Calibri"/>
              </a:rPr>
              <a:t>Plugin:</a:t>
            </a:r>
            <a:r>
              <a:rPr sz="1300" b="0" i="0">
                <a:solidFill>
                  <a:srgbClr val="1C2433"/>
                </a:solidFill>
                <a:latin typeface="Calibri"/>
              </a:rPr>
              <a:t> </a:t>
            </a:r>
            <a:r>
              <a:rPr sz="1200" b="0" i="0">
                <a:solidFill>
                  <a:srgbClr val="0E7C86"/>
                </a:solidFill>
                <a:latin typeface="Consolas"/>
              </a:rPr>
              <a:t>vectorColumns()</a:t>
            </a:r>
            <a:r>
              <a:rPr sz="1300" b="0" i="0">
                <a:solidFill>
                  <a:srgbClr val="1C2433"/>
                </a:solidFill>
                <a:latin typeface="Calibri"/>
              </a:rPr>
              <a:t> and </a:t>
            </a:r>
            <a:r>
              <a:rPr sz="1200" b="0" i="0">
                <a:solidFill>
                  <a:srgbClr val="0E7C86"/>
                </a:solidFill>
                <a:latin typeface="Consolas"/>
              </a:rPr>
              <a:t>vectors()</a:t>
            </a:r>
            <a:r>
              <a:rPr sz="1300" b="0" i="0">
                <a:solidFill>
                  <a:srgbClr val="1C2433"/>
                </a:solidFill>
                <a:latin typeface="Calibri"/>
              </a:rPr>
              <a:t> streaming a date file by file, one reused buffer (PROPOSED)</a:t>
            </a:r>
          </a:p>
          <a:p>
            <a:pPr algn="l">
              <a:lnSpc>
                <a:spcPct val="105000"/>
              </a:lnSpc>
              <a:spcAft>
                <a:spcPts val="500"/>
              </a:spcAft>
            </a:pPr>
            <a:r>
              <a:rPr sz="1300" b="0" i="0">
                <a:solidFill>
                  <a:srgbClr val="E87A1E"/>
                </a:solidFill>
                <a:latin typeface="Calibri"/>
              </a:rPr>
              <a:t>•  </a:t>
            </a:r>
            <a:r>
              <a:rPr sz="1300" b="1" i="0">
                <a:solidFill>
                  <a:srgbClr val="1C2433"/>
                </a:solidFill>
                <a:latin typeface="Calibri"/>
              </a:rPr>
              <a:t>Metrics:</a:t>
            </a:r>
            <a:r>
              <a:rPr sz="1300" b="0" i="0">
                <a:solidFill>
                  <a:srgbClr val="1C2433"/>
                </a:solidFill>
                <a:latin typeface="Calibri"/>
              </a:rPr>
              <a:t> none on vector columns, as on </a:t>
            </a:r>
            <a:r>
              <a:rPr sz="1200" b="0" i="0">
                <a:solidFill>
                  <a:srgbClr val="0E7C86"/>
                </a:solidFill>
                <a:latin typeface="Consolas"/>
              </a:rPr>
              <a:t>doc</a:t>
            </a:r>
            <a:r>
              <a:rPr sz="1300" b="0" i="0">
                <a:solidFill>
                  <a:srgbClr val="1C2433"/>
                </a:solidFill>
                <a:latin typeface="Calibri"/>
              </a:rPr>
              <a:t> (PROPOSED)</a:t>
            </a:r>
          </a:p>
        </p:txBody>
      </p:sp>
      <p:sp>
        <p:nvSpPr>
          <p:cNvPr id="12" name="Rounded Rectangle 11"/>
          <p:cNvSpPr/>
          <p:nvPr/>
        </p:nvSpPr>
        <p:spPr>
          <a:xfrm>
            <a:off x="6400800" y="3429000"/>
            <a:ext cx="5376672" cy="288036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6400800" y="3429000"/>
            <a:ext cx="82296" cy="28803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629400" y="3483864"/>
            <a:ext cx="5010912" cy="277063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Why the format barely matters for the arithmetic:</a:t>
            </a:r>
            <a:r>
              <a:rPr sz="1250" b="0" i="0">
                <a:solidFill>
                  <a:srgbClr val="1C2433"/>
                </a:solidFill>
                <a:latin typeface="Calibri"/>
              </a:rPr>
              <a:t> the engine reads a date once into its memory-mapped hot file and answers from there (VaR deck slide 10). The lake is read at load: 9.37 GB of float64 a date at 2.3M positions, either format the same Parquet column.</a:t>
            </a:r>
          </a:p>
          <a:p>
            <a:pPr algn="l">
              <a:lnSpc>
                <a:spcPct val="105000"/>
              </a:lnSpc>
            </a:pPr>
            <a:r>
              <a:rPr sz="1250" b="1" i="0">
                <a:solidFill>
                  <a:srgbClr val="1C2433"/>
                </a:solidFill>
                <a:latin typeface="Calibri"/>
              </a:rPr>
              <a:t>Where it does matter:</a:t>
            </a:r>
            <a:r>
              <a:rPr sz="1250" b="0" i="0">
                <a:solidFill>
                  <a:srgbClr val="1C2433"/>
                </a:solidFill>
                <a:latin typeface="Calibri"/>
              </a:rPr>
              <a:t> commits, history and metadata (next slides).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Official results: published to Delta only, today</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13</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62</a:t>
            </a:r>
          </a:p>
        </p:txBody>
      </p:sp>
      <p:sp>
        <p:nvSpPr>
          <p:cNvPr id="9" name="Rounded Rectangle 8"/>
          <p:cNvSpPr/>
          <p:nvPr/>
        </p:nvSpPr>
        <p:spPr>
          <a:xfrm>
            <a:off x="411480" y="1188720"/>
            <a:ext cx="3291840" cy="146304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02920" y="1234440"/>
            <a:ext cx="310896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Official capture</a:t>
            </a:r>
          </a:p>
        </p:txBody>
      </p:sp>
      <p:sp>
        <p:nvSpPr>
          <p:cNvPr id="11" name="TextBox 10"/>
          <p:cNvSpPr txBox="1"/>
          <p:nvPr/>
        </p:nvSpPr>
        <p:spPr>
          <a:xfrm>
            <a:off x="502920" y="1554480"/>
            <a:ext cx="3108960" cy="105156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every node of MGMT and LEGAL, each date</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a restatement adds a result version</a:t>
            </a:r>
          </a:p>
        </p:txBody>
      </p:sp>
      <p:sp>
        <p:nvSpPr>
          <p:cNvPr id="12" name="Rounded Rectangle 11"/>
          <p:cNvSpPr/>
          <p:nvPr/>
        </p:nvSpPr>
        <p:spPr>
          <a:xfrm>
            <a:off x="2514600" y="1261872"/>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13" name="Rounded Rectangle 12"/>
          <p:cNvSpPr/>
          <p:nvPr/>
        </p:nvSpPr>
        <p:spPr>
          <a:xfrm>
            <a:off x="4160520" y="1188720"/>
            <a:ext cx="3657600" cy="1463040"/>
          </a:xfrm>
          <a:prstGeom prst="roundRect">
            <a:avLst>
              <a:gd name="adj" fmla="val 8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4251959" y="1234440"/>
            <a:ext cx="347472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Content store</a:t>
            </a:r>
          </a:p>
        </p:txBody>
      </p:sp>
      <p:sp>
        <p:nvSpPr>
          <p:cNvPr id="15" name="TextBox 14"/>
          <p:cNvSpPr txBox="1"/>
          <p:nvPr/>
        </p:nvSpPr>
        <p:spPr>
          <a:xfrm>
            <a:off x="4251959" y="1554480"/>
            <a:ext cx="3474720" cy="105156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captures and date records: the numbers of record</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any format, any lake</a:t>
            </a:r>
          </a:p>
        </p:txBody>
      </p:sp>
      <p:sp>
        <p:nvSpPr>
          <p:cNvPr id="16" name="Rounded Rectangle 15"/>
          <p:cNvSpPr/>
          <p:nvPr/>
        </p:nvSpPr>
        <p:spPr>
          <a:xfrm>
            <a:off x="6629399" y="1261872"/>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cxnSp>
        <p:nvCxnSpPr>
          <p:cNvPr id="17" name="Connector 16"/>
          <p:cNvCxnSpPr/>
          <p:nvPr/>
        </p:nvCxnSpPr>
        <p:spPr>
          <a:xfrm>
            <a:off x="3703320" y="1920240"/>
            <a:ext cx="457200" cy="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11480" y="3017520"/>
            <a:ext cx="3566160" cy="173736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502920" y="3063239"/>
            <a:ext cx="3383279"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Delta, local or EFS root</a:t>
            </a:r>
          </a:p>
        </p:txBody>
      </p:sp>
      <p:sp>
        <p:nvSpPr>
          <p:cNvPr id="20" name="TextBox 19"/>
          <p:cNvSpPr txBox="1"/>
          <p:nvPr/>
        </p:nvSpPr>
        <p:spPr>
          <a:xfrm>
            <a:off x="502920" y="3383279"/>
            <a:ext cx="3383279" cy="132588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risk-results/var-official</a:t>
            </a:r>
            <a:r>
              <a:rPr sz="1250" b="0" i="0">
                <a:solidFill>
                  <a:srgbClr val="1C2433"/>
                </a:solidFill>
                <a:latin typeface="Calibri"/>
              </a:rPr>
              <a:t>, </a:t>
            </a:r>
            <a:r>
              <a:rPr sz="1150" b="0" i="0">
                <a:solidFill>
                  <a:srgbClr val="0E7C86"/>
                </a:solidFill>
                <a:latin typeface="Consolas"/>
              </a:rPr>
              <a:t>exposure-official</a:t>
            </a:r>
            <a:r>
              <a:rPr sz="1250" b="0" i="0">
                <a:solidFill>
                  <a:srgbClr val="1C2433"/>
                </a:solidFill>
                <a:latin typeface="Calibri"/>
              </a:rPr>
              <a:t>, </a:t>
            </a:r>
            <a:r>
              <a:rPr sz="1150" b="0" i="0">
                <a:solidFill>
                  <a:srgbClr val="0E7C86"/>
                </a:solidFill>
                <a:latin typeface="Consolas"/>
              </a:rPr>
              <a:t>-cpty</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append-only, 7 years</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read by BI (</a:t>
            </a:r>
            <a:r>
              <a:rPr sz="1150" b="0" i="0">
                <a:solidFill>
                  <a:srgbClr val="0E7C86"/>
                </a:solidFill>
                <a:latin typeface="Consolas"/>
              </a:rPr>
              <a:t>VOFF</a:t>
            </a:r>
            <a:r>
              <a:rPr sz="1250" b="0" i="0">
                <a:solidFill>
                  <a:srgbClr val="1C2433"/>
                </a:solidFill>
                <a:latin typeface="Calibri"/>
              </a:rPr>
              <a:t>, </a:t>
            </a:r>
            <a:r>
              <a:rPr sz="1150" b="0" i="0">
                <a:solidFill>
                  <a:srgbClr val="0E7C86"/>
                </a:solidFill>
                <a:latin typeface="Consolas"/>
              </a:rPr>
              <a:t>XOFC</a:t>
            </a:r>
            <a:r>
              <a:rPr sz="1250" b="0" i="0">
                <a:solidFill>
                  <a:srgbClr val="1C2433"/>
                </a:solidFill>
                <a:latin typeface="Calibri"/>
              </a:rPr>
              <a:t>)</a:t>
            </a:r>
          </a:p>
        </p:txBody>
      </p:sp>
      <p:sp>
        <p:nvSpPr>
          <p:cNvPr id="21" name="Rounded Rectangle 20"/>
          <p:cNvSpPr/>
          <p:nvPr/>
        </p:nvSpPr>
        <p:spPr>
          <a:xfrm>
            <a:off x="2788920" y="443484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2" name="Rounded Rectangle 21"/>
          <p:cNvSpPr/>
          <p:nvPr/>
        </p:nvSpPr>
        <p:spPr>
          <a:xfrm>
            <a:off x="4160520" y="3017520"/>
            <a:ext cx="3657600" cy="173736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4251959" y="3063239"/>
            <a:ext cx="3474720"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JSON Lines beside it</a:t>
            </a:r>
          </a:p>
        </p:txBody>
      </p:sp>
      <p:sp>
        <p:nvSpPr>
          <p:cNvPr id="24" name="TextBox 23"/>
          <p:cNvSpPr txBox="1"/>
          <p:nvPr/>
        </p:nvSpPr>
        <p:spPr>
          <a:xfrm>
            <a:off x="4251959" y="3383279"/>
            <a:ext cx="3474720" cy="1325880"/>
          </a:xfrm>
          <a:prstGeom prst="rect">
            <a:avLst/>
          </a:prstGeom>
          <a:noFill/>
        </p:spPr>
        <p:txBody>
          <a:bodyPr wrap="square" lIns="45720" rIns="45720" tIns="27432" bIns="27432" anchor="t">
            <a:spAutoFit/>
          </a:bodyPr>
          <a:lstStyle/>
          <a:p>
            <a:pPr algn="l">
              <a:lnSpc>
                <a:spcPct val="105000"/>
              </a:lnSpc>
              <a:spcAft>
                <a:spcPts val="200"/>
              </a:spcAft>
            </a:pPr>
            <a:r>
              <a:rPr sz="1150" b="0" i="0">
                <a:solidFill>
                  <a:srgbClr val="E87A1E"/>
                </a:solidFill>
                <a:latin typeface="Calibri"/>
              </a:rPr>
              <a:t>•  </a:t>
            </a:r>
            <a:r>
              <a:rPr sz="1150" b="0" i="0">
                <a:solidFill>
                  <a:srgbClr val="0E7C86"/>
                </a:solidFill>
                <a:latin typeface="Consolas"/>
              </a:rPr>
              <a:t>risk-results/jsonl/&lt;table&gt;/&lt;date&gt;/…-v&lt;n&gt;.jsonl</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for any other system</a:t>
            </a:r>
          </a:p>
        </p:txBody>
      </p:sp>
      <p:sp>
        <p:nvSpPr>
          <p:cNvPr id="25" name="Rounded Rectangle 24"/>
          <p:cNvSpPr/>
          <p:nvPr/>
        </p:nvSpPr>
        <p:spPr>
          <a:xfrm>
            <a:off x="6629399" y="4434840"/>
            <a:ext cx="1051560" cy="246888"/>
          </a:xfrm>
          <a:prstGeom prst="roundRect">
            <a:avLst>
              <a:gd name="adj" fmla="val 50000"/>
            </a:avLst>
          </a:prstGeom>
          <a:solidFill>
            <a:srgbClr val="2E7D32"/>
          </a:solidFill>
          <a:ln w="15875">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FFFFFF"/>
                </a:solidFill>
                <a:latin typeface="Calibri"/>
              </a:rPr>
              <a:t>BUILT</a:t>
            </a:r>
          </a:p>
        </p:txBody>
      </p:sp>
      <p:sp>
        <p:nvSpPr>
          <p:cNvPr id="26" name="Rounded Rectangle 25"/>
          <p:cNvSpPr/>
          <p:nvPr/>
        </p:nvSpPr>
        <p:spPr>
          <a:xfrm>
            <a:off x="8001000" y="3017520"/>
            <a:ext cx="3776472" cy="1737360"/>
          </a:xfrm>
          <a:prstGeom prst="roundRect">
            <a:avLst>
              <a:gd name="adj" fmla="val 8000"/>
            </a:avLst>
          </a:prstGeom>
          <a:solidFill>
            <a:srgbClr val="F3F5F8"/>
          </a:solidFill>
          <a:ln w="12700">
            <a:solidFill>
              <a:srgbClr val="8A96A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xtBox 26"/>
          <p:cNvSpPr txBox="1"/>
          <p:nvPr/>
        </p:nvSpPr>
        <p:spPr>
          <a:xfrm>
            <a:off x="8092440" y="3063239"/>
            <a:ext cx="3593591"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Iceberg table, or any </a:t>
            </a:r>
            <a:r>
              <a:rPr sz="1200" b="1" i="0">
                <a:solidFill>
                  <a:srgbClr val="0E7C86"/>
                </a:solidFill>
                <a:latin typeface="Consolas"/>
              </a:rPr>
              <a:t>s3://</a:t>
            </a:r>
            <a:r>
              <a:rPr sz="1300" b="1" i="0">
                <a:solidFill>
                  <a:srgbClr val="0B1E3B"/>
                </a:solidFill>
                <a:latin typeface="Calibri"/>
              </a:rPr>
              <a:t> root</a:t>
            </a:r>
          </a:p>
        </p:txBody>
      </p:sp>
      <p:sp>
        <p:nvSpPr>
          <p:cNvPr id="28" name="TextBox 27"/>
          <p:cNvSpPr txBox="1"/>
          <p:nvPr/>
        </p:nvSpPr>
        <p:spPr>
          <a:xfrm>
            <a:off x="8092440" y="3383279"/>
            <a:ext cx="3593591" cy="1325880"/>
          </a:xfrm>
          <a:prstGeom prst="rect">
            <a:avLst/>
          </a:prstGeom>
          <a:noFill/>
        </p:spPr>
        <p:txBody>
          <a:bodyPr wrap="square" lIns="45720" rIns="45720" tIns="27432" bIns="27432" anchor="t">
            <a:spAutoFit/>
          </a:bodyPr>
          <a:lstStyle/>
          <a:p>
            <a:pPr algn="l">
              <a:lnSpc>
                <a:spcPct val="105000"/>
              </a:lnSpc>
              <a:spcAft>
                <a:spcPts val="200"/>
              </a:spcAft>
            </a:pPr>
            <a:r>
              <a:rPr sz="1250" b="0" i="0">
                <a:solidFill>
                  <a:srgbClr val="E87A1E"/>
                </a:solidFill>
                <a:latin typeface="Calibri"/>
              </a:rPr>
              <a:t>•  </a:t>
            </a:r>
            <a:r>
              <a:rPr sz="1250" b="0" i="0">
                <a:solidFill>
                  <a:srgbClr val="1C2433"/>
                </a:solidFill>
                <a:latin typeface="Calibri"/>
              </a:rPr>
              <a:t>append-only Iceberg table, snapshot per run</a:t>
            </a:r>
          </a:p>
          <a:p>
            <a:pPr algn="l">
              <a:lnSpc>
                <a:spcPct val="105000"/>
              </a:lnSpc>
              <a:spcAft>
                <a:spcPts val="200"/>
              </a:spcAft>
            </a:pPr>
            <a:r>
              <a:rPr sz="1250" b="0" i="0">
                <a:solidFill>
                  <a:srgbClr val="E87A1E"/>
                </a:solidFill>
                <a:latin typeface="Calibri"/>
              </a:rPr>
              <a:t>•  </a:t>
            </a:r>
            <a:r>
              <a:rPr sz="1250" b="0" i="0">
                <a:solidFill>
                  <a:srgbClr val="1C2433"/>
                </a:solidFill>
                <a:latin typeface="Calibri"/>
              </a:rPr>
              <a:t>today: an </a:t>
            </a:r>
            <a:r>
              <a:rPr sz="1150" b="0" i="0">
                <a:solidFill>
                  <a:srgbClr val="0E7C86"/>
                </a:solidFill>
                <a:latin typeface="Consolas"/>
              </a:rPr>
              <a:t>s3://</a:t>
            </a:r>
            <a:r>
              <a:rPr sz="1250" b="0" i="0">
                <a:solidFill>
                  <a:srgbClr val="1C2433"/>
                </a:solidFill>
                <a:latin typeface="Calibri"/>
              </a:rPr>
              <a:t> root fails as </a:t>
            </a:r>
            <a:r>
              <a:rPr sz="1150" b="0" i="0">
                <a:solidFill>
                  <a:srgbClr val="0E7C86"/>
                </a:solidFill>
                <a:latin typeface="Consolas"/>
              </a:rPr>
              <a:t>publishError</a:t>
            </a:r>
          </a:p>
        </p:txBody>
      </p:sp>
      <p:sp>
        <p:nvSpPr>
          <p:cNvPr id="29" name="Rounded Rectangle 28"/>
          <p:cNvSpPr/>
          <p:nvPr/>
        </p:nvSpPr>
        <p:spPr>
          <a:xfrm>
            <a:off x="10588751" y="4434840"/>
            <a:ext cx="1051560" cy="246888"/>
          </a:xfrm>
          <a:prstGeom prst="roundRect">
            <a:avLst>
              <a:gd name="adj" fmla="val 50000"/>
            </a:avLst>
          </a:prstGeom>
          <a:solidFill>
            <a:srgbClr val="FFFFFF"/>
          </a:solidFill>
          <a:ln w="15875">
            <a:solidFill>
              <a:srgbClr val="5B677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lnSpc>
                <a:spcPct val="105000"/>
              </a:lnSpc>
            </a:pPr>
            <a:r>
              <a:rPr sz="950" b="1" i="0">
                <a:solidFill>
                  <a:srgbClr val="5B677A"/>
                </a:solidFill>
                <a:latin typeface="Calibri"/>
              </a:rPr>
              <a:t>PROPOSED</a:t>
            </a:r>
          </a:p>
        </p:txBody>
      </p:sp>
      <p:cxnSp>
        <p:nvCxnSpPr>
          <p:cNvPr id="30" name="Connector 29"/>
          <p:cNvCxnSpPr/>
          <p:nvPr/>
        </p:nvCxnSpPr>
        <p:spPr>
          <a:xfrm>
            <a:off x="2057400" y="2651760"/>
            <a:ext cx="0" cy="182880"/>
          </a:xfrm>
          <a:prstGeom prst="line">
            <a:avLst/>
          </a:prstGeom>
          <a:ln w="25400">
            <a:solidFill>
              <a:srgbClr val="5B677A"/>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057400" y="2834640"/>
            <a:ext cx="7772400" cy="0"/>
          </a:xfrm>
          <a:prstGeom prst="line">
            <a:avLst/>
          </a:prstGeom>
          <a:ln w="25400">
            <a:solidFill>
              <a:srgbClr val="5B677A"/>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057400" y="2834640"/>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989320" y="2834640"/>
            <a:ext cx="0" cy="18288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829800" y="2834640"/>
            <a:ext cx="0" cy="182880"/>
          </a:xfrm>
          <a:prstGeom prst="line">
            <a:avLst/>
          </a:prstGeom>
          <a:ln w="25400">
            <a:solidFill>
              <a:srgbClr val="5B677A"/>
            </a:solidFill>
            <a:prstDash val="dash"/>
            <a:tailEnd type="triangle"/>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411480" y="5029200"/>
            <a:ext cx="11365992" cy="128016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Rectangle 35"/>
          <p:cNvSpPr/>
          <p:nvPr/>
        </p:nvSpPr>
        <p:spPr>
          <a:xfrm>
            <a:off x="411480" y="5029200"/>
            <a:ext cx="82296" cy="128016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7" name="TextBox 36"/>
          <p:cNvSpPr txBox="1"/>
          <p:nvPr/>
        </p:nvSpPr>
        <p:spPr>
          <a:xfrm>
            <a:off x="640080" y="5084064"/>
            <a:ext cx="11000232" cy="11704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Honest status:</a:t>
            </a:r>
            <a:r>
              <a:rPr sz="1300" b="0" i="0">
                <a:solidFill>
                  <a:srgbClr val="1C2433"/>
                </a:solidFill>
                <a:latin typeface="Calibri"/>
              </a:rPr>
              <a:t> official VaR and exposure results are published to a </a:t>
            </a:r>
            <a:r>
              <a:rPr sz="1300" b="1" i="0">
                <a:solidFill>
                  <a:srgbClr val="1C2433"/>
                </a:solidFill>
                <a:latin typeface="Calibri"/>
              </a:rPr>
              <a:t>Delta</a:t>
            </a:r>
            <a:r>
              <a:rPr sz="1300" b="0" i="0">
                <a:solidFill>
                  <a:srgbClr val="1C2433"/>
                </a:solidFill>
                <a:latin typeface="Calibri"/>
              </a:rPr>
              <a:t> table on a local or EFS root, plus JSON Lines. Not to Iceberg, and not to </a:t>
            </a:r>
            <a:r>
              <a:rPr sz="1200" b="0" i="0">
                <a:solidFill>
                  <a:srgbClr val="0E7C86"/>
                </a:solidFill>
                <a:latin typeface="Consolas"/>
              </a:rPr>
              <a:t>s3://</a:t>
            </a:r>
            <a:r>
              <a:rPr sz="1300" b="0" i="0">
                <a:solidFill>
                  <a:srgbClr val="1C2433"/>
                </a:solidFill>
                <a:latin typeface="Calibri"/>
              </a:rPr>
              <a:t> in either format. On AWS today: publish to EFS and copy, or read the JSON Lines; an Iceberg (or S3) publisher is PROPOSED.</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Sizing at bank scale: where the format matters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13</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63</a:t>
            </a:r>
          </a:p>
        </p:txBody>
      </p:sp>
      <p:graphicFrame>
        <p:nvGraphicFramePr>
          <p:cNvPr id="9" name="Table 8"/>
          <p:cNvGraphicFramePr>
            <a:graphicFrameLocks noGrp="1"/>
          </p:cNvGraphicFramePr>
          <p:nvPr/>
        </p:nvGraphicFramePr>
        <p:xfrm>
          <a:off x="411480" y="1143000"/>
          <a:ext cx="11365992" cy="3869277"/>
        </p:xfrm>
        <a:graphic>
          <a:graphicData uri="http://schemas.openxmlformats.org/drawingml/2006/table">
            <a:tbl>
              <a:tblPr firstRow="1" bandRow="1">
                <a:tableStyleId>{5940675A-B579-460E-94D1-54222C63F5DA}</a:tableStyleId>
              </a:tblPr>
              <a:tblGrid>
                <a:gridCol w="3291840"/>
                <a:gridCol w="3291840"/>
                <a:gridCol w="2560320"/>
                <a:gridCol w="2221992"/>
              </a:tblGrid>
              <a:tr h="463825">
                <a:tc>
                  <a:txBody>
                    <a:bodyPr wrap="square"/>
                    <a:lstStyle/>
                    <a:p>
                      <a:pPr algn="l">
                        <a:lnSpc>
                          <a:spcPct val="100000"/>
                        </a:lnSpc>
                      </a:pPr>
                      <a:r>
                        <a:rPr sz="1200" b="1" i="0">
                          <a:solidFill>
                            <a:srgbClr val="FFFFFF"/>
                          </a:solidFill>
                          <a:latin typeface="Calibri"/>
                        </a:rPr>
                        <a:t>Per business date (2.3M positions, 509 scenarios)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Value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Same on both?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Basis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63825">
                <a:tc>
                  <a:txBody>
                    <a:bodyPr wrap="square"/>
                    <a:lstStyle/>
                    <a:p>
                      <a:pPr algn="l">
                        <a:lnSpc>
                          <a:spcPct val="100000"/>
                        </a:lnSpc>
                      </a:pPr>
                      <a:r>
                        <a:rPr sz="1200" b="1" i="0">
                          <a:solidFill>
                            <a:srgbClr val="1C2433"/>
                          </a:solidFill>
                          <a:latin typeface="Calibri"/>
                        </a:rPr>
                        <a:t>P&amp;L or scenario-PV vectors, float64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2.3M × 509 × 8 B = </a:t>
                      </a:r>
                      <a:r>
                        <a:rPr sz="1200" b="1" i="0">
                          <a:solidFill>
                            <a:srgbClr val="1C2433"/>
                          </a:solidFill>
                          <a:latin typeface="Calibri"/>
                        </a:rPr>
                        <a:t>9.37 GB</a:t>
                      </a:r>
                      <a:r>
                        <a:rPr sz="1200" b="0" i="0">
                          <a:solidFill>
                            <a:srgbClr val="1C2433"/>
                          </a:solidFill>
                          <a:latin typeface="Calibri"/>
                        </a:rPr>
                        <a:t>; ≈ 7.02 GB Parquet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 one </a:t>
                      </a:r>
                      <a:r>
                        <a:rPr sz="1100" b="0" i="0">
                          <a:solidFill>
                            <a:srgbClr val="0E7C86"/>
                          </a:solidFill>
                          <a:latin typeface="Consolas"/>
                        </a:rPr>
                        <a:t>list&lt;double&gt;</a:t>
                      </a:r>
                      <a:r>
                        <a:rPr sz="1200" b="0" i="0">
                          <a:solidFill>
                            <a:srgbClr val="1C2433"/>
                          </a:solidFill>
                          <a:latin typeface="Calibri"/>
                        </a:rPr>
                        <a:t> column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arithmetic; ≈ 0.75 × raw (estimate)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11251">
                <a:tc>
                  <a:txBody>
                    <a:bodyPr wrap="square"/>
                    <a:lstStyle/>
                    <a:p>
                      <a:pPr algn="l">
                        <a:lnSpc>
                          <a:spcPct val="100000"/>
                        </a:lnSpc>
                      </a:pPr>
                      <a:r>
                        <a:rPr sz="1200" b="1" i="0">
                          <a:solidFill>
                            <a:srgbClr val="1C2433"/>
                          </a:solidFill>
                          <a:latin typeface="Calibri"/>
                        </a:rPr>
                        <a:t>The same, float32 (hot rows)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2.3M × 509 × 4 B = </a:t>
                      </a:r>
                      <a:r>
                        <a:rPr sz="1200" b="1" i="0">
                          <a:solidFill>
                            <a:srgbClr val="1C2433"/>
                          </a:solidFill>
                          <a:latin typeface="Calibri"/>
                        </a:rPr>
                        <a:t>4.68 GB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 (engine memory)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arithmetic</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825">
                <a:tc>
                  <a:txBody>
                    <a:bodyPr wrap="square"/>
                    <a:lstStyle/>
                    <a:p>
                      <a:pPr algn="l">
                        <a:lnSpc>
                          <a:spcPct val="100000"/>
                        </a:lnSpc>
                      </a:pPr>
                      <a:r>
                        <a:rPr sz="1200" b="1" i="0">
                          <a:solidFill>
                            <a:srgbClr val="1C2433"/>
                          </a:solidFill>
                          <a:latin typeface="Calibri"/>
                        </a:rPr>
                        <a:t>A year / seven years of vectors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7.02 GB × 252 ≈ </a:t>
                      </a:r>
                      <a:r>
                        <a:rPr sz="1200" b="1" i="0">
                          <a:solidFill>
                            <a:srgbClr val="1C2433"/>
                          </a:solidFill>
                          <a:latin typeface="Calibri"/>
                        </a:rPr>
                        <a:t>1.77 TB</a:t>
                      </a:r>
                      <a:r>
                        <a:rPr sz="1200" b="0" i="0">
                          <a:solidFill>
                            <a:srgbClr val="1C2433"/>
                          </a:solidFill>
                          <a:latin typeface="Calibri"/>
                        </a:rPr>
                        <a:t> / × 1,764 ≈ </a:t>
                      </a:r>
                      <a:r>
                        <a:rPr sz="1200" b="1" i="0">
                          <a:solidFill>
                            <a:srgbClr val="1C2433"/>
                          </a:solidFill>
                          <a:latin typeface="Calibri"/>
                        </a:rPr>
                        <a:t>12.4 TB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estimate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825">
                <a:tc>
                  <a:txBody>
                    <a:bodyPr wrap="square"/>
                    <a:lstStyle/>
                    <a:p>
                      <a:pPr algn="l">
                        <a:lnSpc>
                          <a:spcPct val="100000"/>
                        </a:lnSpc>
                      </a:pPr>
                      <a:r>
                        <a:rPr sz="1200" b="1" i="0">
                          <a:solidFill>
                            <a:srgbClr val="1C2433"/>
                          </a:solidFill>
                          <a:latin typeface="Calibri"/>
                        </a:rPr>
                        <a:t>15,000 portfolio vectors (if stored)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15k × 509 × 8 B ≈ </a:t>
                      </a:r>
                      <a:r>
                        <a:rPr sz="1200" b="1" i="0">
                          <a:solidFill>
                            <a:srgbClr val="1C2433"/>
                          </a:solidFill>
                          <a:latin typeface="Calibri"/>
                        </a:rPr>
                        <a:t>61 MB</a:t>
                      </a:r>
                      <a:r>
                        <a:rPr sz="1200" b="0" i="0">
                          <a:solidFill>
                            <a:srgbClr val="1C2433"/>
                          </a:solidFill>
                          <a:latin typeface="Calibri"/>
                        </a:rPr>
                        <a:t> a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arithmetic; storing them is 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11251">
                <a:tc>
                  <a:txBody>
                    <a:bodyPr wrap="square"/>
                    <a:lstStyle/>
                    <a:p>
                      <a:pPr algn="l">
                        <a:lnSpc>
                          <a:spcPct val="100000"/>
                        </a:lnSpc>
                      </a:pPr>
                      <a:r>
                        <a:rPr sz="1200" b="1" i="0">
                          <a:solidFill>
                            <a:srgbClr val="1C2433"/>
                          </a:solidFill>
                          <a:latin typeface="Calibri"/>
                        </a:rPr>
                        <a:t>Full-run commits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252 a year, one per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one commit per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825">
                <a:tc>
                  <a:txBody>
                    <a:bodyPr wrap="square"/>
                    <a:lstStyle/>
                    <a:p>
                      <a:pPr algn="l">
                        <a:lnSpc>
                          <a:spcPct val="100000"/>
                        </a:lnSpc>
                      </a:pPr>
                      <a:r>
                        <a:rPr sz="1200" b="1" i="0">
                          <a:solidFill>
                            <a:srgbClr val="1C2433"/>
                          </a:solidFill>
                          <a:latin typeface="Calibri"/>
                        </a:rPr>
                        <a:t>Intraday micro-batch commits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one per window per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Delta: one JSON each; Iceberg: a snapshot each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depends on the window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63825">
                <a:tc>
                  <a:txBody>
                    <a:bodyPr wrap="square"/>
                    <a:lstStyle/>
                    <a:p>
                      <a:pPr algn="l">
                        <a:lnSpc>
                          <a:spcPct val="100000"/>
                        </a:lnSpc>
                      </a:pPr>
                      <a:r>
                        <a:rPr sz="1200" b="1" i="0">
                          <a:solidFill>
                            <a:srgbClr val="1C2433"/>
                          </a:solidFill>
                          <a:latin typeface="Calibri"/>
                        </a:rPr>
                        <a:t>Seven years of time travel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252 × 7 = 1,764 full-run versions + intraday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no</a:t>
                      </a:r>
                      <a:r>
                        <a:rPr sz="1200" b="0" i="0">
                          <a:solidFill>
                            <a:srgbClr val="1C2433"/>
                          </a:solidFill>
                          <a:latin typeface="Calibri"/>
                        </a:rPr>
                        <a:t>: see the next slide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VaR: 7 years kept (decided)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63825">
                <a:tc>
                  <a:txBody>
                    <a:bodyPr wrap="square"/>
                    <a:lstStyle/>
                    <a:p>
                      <a:pPr algn="l">
                        <a:lnSpc>
                          <a:spcPct val="100000"/>
                        </a:lnSpc>
                      </a:pPr>
                      <a:r>
                        <a:rPr sz="1200" b="1" i="0">
                          <a:solidFill>
                            <a:srgbClr val="1C2433"/>
                          </a:solidFill>
                          <a:latin typeface="Calibri"/>
                        </a:rPr>
                        <a:t>Files a date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 14–28 at 512–250 MB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yes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estimate; layout open (VAR_GUIDE 29.2)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5440680"/>
            <a:ext cx="11365992" cy="86868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440680"/>
            <a:ext cx="82296" cy="86868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495544"/>
            <a:ext cx="11000232" cy="75895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The data volume is format-neutral; the history is not.</a:t>
            </a:r>
            <a:r>
              <a:rPr sz="1300" b="0" i="0">
                <a:solidFill>
                  <a:srgbClr val="1C2433"/>
                </a:solidFill>
                <a:latin typeface="Calibri"/>
              </a:rPr>
              <a:t> Both formats store the same Parquet; they differ in how they keep seven years of versions.</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Seven years of time travel: Delta against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13</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64</a:t>
            </a:r>
          </a:p>
        </p:txBody>
      </p:sp>
      <p:graphicFrame>
        <p:nvGraphicFramePr>
          <p:cNvPr id="9" name="Table 8"/>
          <p:cNvGraphicFramePr>
            <a:graphicFrameLocks noGrp="1"/>
          </p:cNvGraphicFramePr>
          <p:nvPr/>
        </p:nvGraphicFramePr>
        <p:xfrm>
          <a:off x="411480" y="1143000"/>
          <a:ext cx="11365992" cy="3274005"/>
        </p:xfrm>
        <a:graphic>
          <a:graphicData uri="http://schemas.openxmlformats.org/drawingml/2006/table">
            <a:tbl>
              <a:tblPr firstRow="1" bandRow="1">
                <a:tableStyleId>{5940675A-B579-460E-94D1-54222C63F5DA}</a:tableStyleId>
              </a:tblPr>
              <a:tblGrid>
                <a:gridCol w="2377440"/>
                <a:gridCol w="4480560"/>
                <a:gridCol w="4507992"/>
              </a:tblGrid>
              <a:tr h="345702">
                <a:tc>
                  <a:txBody>
                    <a:bodyPr wrap="square"/>
                    <a:lstStyle/>
                    <a:p>
                      <a:pPr algn="l">
                        <a:lnSpc>
                          <a:spcPct val="100000"/>
                        </a:lnSpc>
                      </a:pP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(risk domain, 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Iceberg (proposed for risk)</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45702">
                <a:tc>
                  <a:txBody>
                    <a:bodyPr wrap="square"/>
                    <a:lstStyle/>
                    <a:p>
                      <a:pPr algn="l">
                        <a:lnSpc>
                          <a:spcPct val="100000"/>
                        </a:lnSpc>
                      </a:pPr>
                      <a:r>
                        <a:rPr sz="1200" b="1" i="0">
                          <a:solidFill>
                            <a:srgbClr val="1C2433"/>
                          </a:solidFill>
                          <a:latin typeface="Calibri"/>
                        </a:rPr>
                        <a:t>How 7 years are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log and removed files kept 2,557 days; checkpoints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keep every snapshot 7 years (</a:t>
                      </a:r>
                      <a:r>
                        <a:rPr sz="1100" b="0" i="0">
                          <a:solidFill>
                            <a:srgbClr val="0E7C86"/>
                          </a:solidFill>
                          <a:latin typeface="Consolas"/>
                        </a:rPr>
                        <a:t>--expire-hours</a:t>
                      </a:r>
                      <a:r>
                        <a:rPr sz="1200" b="0" i="0">
                          <a:solidFill>
                            <a:srgbClr val="1C2433"/>
                          </a:solidFill>
                          <a:latin typeface="Calibri"/>
                        </a:rPr>
                        <a:t> ≥ 61,368)</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5165">
                <a:tc>
                  <a:txBody>
                    <a:bodyPr wrap="square"/>
                    <a:lstStyle/>
                    <a:p>
                      <a:pPr algn="l">
                        <a:lnSpc>
                          <a:spcPct val="100000"/>
                        </a:lnSpc>
                      </a:pPr>
                      <a:r>
                        <a:rPr sz="1200" b="1" i="0">
                          <a:solidFill>
                            <a:srgbClr val="1C2433"/>
                          </a:solidFill>
                          <a:latin typeface="Calibri"/>
                        </a:rPr>
                        <a:t>Data kept, 2.3M positions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1,764 dates × 7.02 GB ≈ </a:t>
                      </a:r>
                      <a:r>
                        <a:rPr sz="1200" b="1" i="0">
                          <a:solidFill>
                            <a:srgbClr val="1C2433"/>
                          </a:solidFill>
                          <a:latin typeface="Calibri"/>
                        </a:rPr>
                        <a:t>12.4 TB</a:t>
                      </a:r>
                      <a:r>
                        <a:rPr sz="1200" b="0" i="0">
                          <a:solidFill>
                            <a:srgbClr val="1C2433"/>
                          </a:solidFill>
                          <a:latin typeface="Calibri"/>
                        </a:rPr>
                        <a:t> of vector Parquet (+ replaced files of restated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 </a:t>
                      </a:r>
                      <a:r>
                        <a:rPr sz="1200" b="1" i="0">
                          <a:solidFill>
                            <a:srgbClr val="1C2433"/>
                          </a:solidFill>
                          <a:latin typeface="Calibri"/>
                        </a:rPr>
                        <a:t>12.4 TB</a:t>
                      </a:r>
                      <a:r>
                        <a:rPr sz="1200" b="0" i="0">
                          <a:solidFill>
                            <a:srgbClr val="1C2433"/>
                          </a:solidFill>
                          <a:latin typeface="Calibri"/>
                        </a:rPr>
                        <a:t>: the data is format-neutral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45702">
                <a:tc>
                  <a:txBody>
                    <a:bodyPr wrap="square"/>
                    <a:lstStyle/>
                    <a:p>
                      <a:pPr algn="l">
                        <a:lnSpc>
                          <a:spcPct val="100000"/>
                        </a:lnSpc>
                      </a:pPr>
                      <a:r>
                        <a:rPr sz="1200" b="1" i="0">
                          <a:solidFill>
                            <a:srgbClr val="1C2433"/>
                          </a:solidFill>
                          <a:latin typeface="Calibri"/>
                        </a:rPr>
                        <a:t>Versions kept (full runs)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252 × 7 = </a:t>
                      </a:r>
                      <a:r>
                        <a:rPr sz="1200" b="1" i="0">
                          <a:solidFill>
                            <a:srgbClr val="1C2433"/>
                          </a:solidFill>
                          <a:latin typeface="Calibri"/>
                        </a:rPr>
                        <a:t>1,764</a:t>
                      </a:r>
                      <a:r>
                        <a:rPr sz="1200" b="0" i="0">
                          <a:solidFill>
                            <a:srgbClr val="1C2433"/>
                          </a:solidFill>
                          <a:latin typeface="Calibri"/>
                        </a:rPr>
                        <a:t> commits in the 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1C2433"/>
                          </a:solidFill>
                          <a:latin typeface="Calibri"/>
                        </a:rPr>
                        <a:t>1,764</a:t>
                      </a:r>
                      <a:r>
                        <a:rPr sz="1200" b="0" i="0">
                          <a:solidFill>
                            <a:srgbClr val="1C2433"/>
                          </a:solidFill>
                          <a:latin typeface="Calibri"/>
                        </a:rPr>
                        <a:t> snapshots listed in every metadata JSON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45702">
                <a:tc>
                  <a:txBody>
                    <a:bodyPr wrap="square"/>
                    <a:lstStyle/>
                    <a:p>
                      <a:pPr algn="l">
                        <a:lnSpc>
                          <a:spcPct val="100000"/>
                        </a:lnSpc>
                      </a:pPr>
                      <a:r>
                        <a:rPr sz="1200" b="1" i="0">
                          <a:solidFill>
                            <a:srgbClr val="1C2433"/>
                          </a:solidFill>
                          <a:latin typeface="Calibri"/>
                        </a:rPr>
                        <a:t>Cost per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 small JSON; replay from the last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metadata JSON rewritten with every snapshot kept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15165">
                <a:tc>
                  <a:txBody>
                    <a:bodyPr wrap="square"/>
                    <a:lstStyle/>
                    <a:p>
                      <a:pPr algn="l">
                        <a:lnSpc>
                          <a:spcPct val="100000"/>
                        </a:lnSpc>
                      </a:pPr>
                      <a:r>
                        <a:rPr sz="1200" b="1" i="0">
                          <a:solidFill>
                            <a:srgbClr val="1C2433"/>
                          </a:solidFill>
                          <a:latin typeface="Calibri"/>
                        </a:rPr>
                        <a:t>Measured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7,200 files list in 84 ms from a checkpoint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1,800 daily commits: 93 ms a commit, start 160 ms → 33 ms after regrouping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15165">
                <a:tc>
                  <a:txBody>
                    <a:bodyPr wrap="square"/>
                    <a:lstStyle/>
                    <a:p>
                      <a:pPr algn="l">
                        <a:lnSpc>
                          <a:spcPct val="100000"/>
                        </a:lnSpc>
                      </a:pPr>
                      <a:r>
                        <a:rPr sz="1200" b="1" i="0">
                          <a:solidFill>
                            <a:srgbClr val="1C2433"/>
                          </a:solidFill>
                          <a:latin typeface="Calibri"/>
                        </a:rPr>
                        <a:t>With intraday micro-batches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more small JSON files; checkpoints absorb them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more snapshots in every metadata file: compact intraday into the day's run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45702">
                <a:tc>
                  <a:txBody>
                    <a:bodyPr wrap="square"/>
                    <a:lstStyle/>
                    <a:p>
                      <a:pPr algn="l">
                        <a:lnSpc>
                          <a:spcPct val="100000"/>
                        </a:lnSpc>
                      </a:pPr>
                      <a:r>
                        <a:rPr sz="1200" b="1" i="0">
                          <a:solidFill>
                            <a:srgbClr val="1C2433"/>
                          </a:solidFill>
                          <a:latin typeface="Calibri"/>
                        </a:rPr>
                        <a:t>Guard against a short setting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lake maintain</a:t>
                      </a:r>
                      <a:r>
                        <a:rPr sz="1200" b="0" i="0">
                          <a:solidFill>
                            <a:srgbClr val="1C2433"/>
                          </a:solidFill>
                          <a:latin typeface="Calibri"/>
                        </a:rPr>
                        <a:t> raises it (</a:t>
                      </a:r>
                      <a:r>
                        <a:rPr sz="1100" b="0" i="0">
                          <a:solidFill>
                            <a:srgbClr val="0E7C86"/>
                          </a:solidFill>
                          <a:latin typeface="Consolas"/>
                        </a:rPr>
                        <a:t>retention-floor</a:t>
                      </a:r>
                      <a:r>
                        <a:rPr sz="120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none today (PROPOSED)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0" name="Rounded Rectangle 9"/>
          <p:cNvSpPr/>
          <p:nvPr/>
        </p:nvSpPr>
        <p:spPr>
          <a:xfrm>
            <a:off x="411480" y="4800600"/>
            <a:ext cx="11365992" cy="1508760"/>
          </a:xfrm>
          <a:prstGeom prst="roundRect">
            <a:avLst>
              <a:gd name="adj" fmla="val 6000"/>
            </a:avLst>
          </a:prstGeom>
          <a:solidFill>
            <a:srgbClr val="E8F4F5"/>
          </a:solidFill>
          <a:ln w="19050">
            <a:solidFill>
              <a:srgbClr val="0E7C8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4800600"/>
            <a:ext cx="82296" cy="1508760"/>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4855464"/>
            <a:ext cx="11000232" cy="13990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PROPOSED for an Iceberg risk lake:</a:t>
            </a:r>
            <a:r>
              <a:rPr sz="1300" b="0" i="0">
                <a:solidFill>
                  <a:srgbClr val="1C2433"/>
                </a:solidFill>
                <a:latin typeface="Calibri"/>
              </a:rPr>
              <a:t> keep full-run snapshots for seven years and expire intraday snapshots after the day's official run (the content store keeps the official captures); add a 7-year floor to </a:t>
            </a:r>
            <a:r>
              <a:rPr sz="1200" b="0" i="0">
                <a:solidFill>
                  <a:srgbClr val="0E7C86"/>
                </a:solidFill>
                <a:latin typeface="Consolas"/>
              </a:rPr>
              <a:t>IcebergMaintenance</a:t>
            </a:r>
            <a:r>
              <a:rPr sz="1300" b="0" i="0">
                <a:solidFill>
                  <a:srgbClr val="1C2433"/>
                </a:solidFill>
                <a:latin typeface="Calibri"/>
              </a:rPr>
              <a:t>; measure the metadata JSON at 2,000+ snapshots before committing.</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14</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Migration and coexistence</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Delta and Iceberg side by side, converting tables between them, and keeping one logical connector name across a switch</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Running Delta and Iceberg side by side</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66</a:t>
            </a:r>
          </a:p>
        </p:txBody>
      </p:sp>
      <p:sp>
        <p:nvSpPr>
          <p:cNvPr id="9" name="Rounded Rectangle 8"/>
          <p:cNvSpPr/>
          <p:nvPr/>
        </p:nvSpPr>
        <p:spPr>
          <a:xfrm>
            <a:off x="411480" y="1188720"/>
            <a:ext cx="11365992" cy="548640"/>
          </a:xfrm>
          <a:prstGeom prst="roundRect">
            <a:avLst>
              <a:gd name="adj" fmla="val 20000"/>
            </a:avLst>
          </a:prstGeom>
          <a:solidFill>
            <a:srgbClr val="EEE6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548640" y="1188720"/>
            <a:ext cx="11091672" cy="548640"/>
          </a:xfrm>
          <a:prstGeom prst="rect">
            <a:avLst/>
          </a:prstGeom>
          <a:noFill/>
        </p:spPr>
        <p:txBody>
          <a:bodyPr wrap="square" lIns="45720" rIns="45720" tIns="27432" bIns="27432" anchor="ctr">
            <a:spAutoFit/>
          </a:bodyPr>
          <a:lstStyle/>
          <a:p>
            <a:pPr algn="l">
              <a:lnSpc>
                <a:spcPct val="105000"/>
              </a:lnSpc>
            </a:pPr>
            <a:r>
              <a:rPr sz="1400" b="1" i="0">
                <a:solidFill>
                  <a:srgbClr val="1C2433"/>
                </a:solidFill>
                <a:latin typeface="Calibri"/>
              </a:rPr>
              <a:t>kind </a:t>
            </a:r>
            <a:r>
              <a:rPr sz="1300" b="1" i="0">
                <a:solidFill>
                  <a:srgbClr val="0E7C86"/>
                </a:solidFill>
                <a:latin typeface="Consolas"/>
              </a:rPr>
              <a:t>trade</a:t>
            </a:r>
            <a:r>
              <a:rPr sz="1400" b="1" i="0">
                <a:solidFill>
                  <a:srgbClr val="1C2433"/>
                </a:solidFill>
                <a:latin typeface="Calibri"/>
              </a:rPr>
              <a:t> (trading pack) · one search, one page, one BI model over all three</a:t>
            </a:r>
          </a:p>
        </p:txBody>
      </p:sp>
      <p:cxnSp>
        <p:nvCxnSpPr>
          <p:cNvPr id="11" name="Connector 10"/>
          <p:cNvCxnSpPr/>
          <p:nvPr/>
        </p:nvCxnSpPr>
        <p:spPr>
          <a:xfrm>
            <a:off x="2240280" y="1737360"/>
            <a:ext cx="0" cy="27432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11480" y="2011680"/>
            <a:ext cx="3666744" cy="1005840"/>
          </a:xfrm>
          <a:prstGeom prst="roundRect">
            <a:avLst>
              <a:gd name="adj" fmla="val 8000"/>
            </a:avLst>
          </a:prstGeom>
          <a:solidFill>
            <a:srgbClr val="DCE8F7"/>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502920" y="2057400"/>
            <a:ext cx="3483863"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trade-endur</a:t>
            </a:r>
          </a:p>
        </p:txBody>
      </p:sp>
      <p:sp>
        <p:nvSpPr>
          <p:cNvPr id="14" name="TextBox 13"/>
          <p:cNvSpPr txBox="1"/>
          <p:nvPr/>
        </p:nvSpPr>
        <p:spPr>
          <a:xfrm>
            <a:off x="502920" y="2377440"/>
            <a:ext cx="3483863" cy="594360"/>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plugin: delta · lake/trading/trade_endur</a:t>
            </a:r>
          </a:p>
        </p:txBody>
      </p:sp>
      <p:cxnSp>
        <p:nvCxnSpPr>
          <p:cNvPr id="15" name="Connector 14"/>
          <p:cNvCxnSpPr/>
          <p:nvPr/>
        </p:nvCxnSpPr>
        <p:spPr>
          <a:xfrm>
            <a:off x="6089904" y="1737360"/>
            <a:ext cx="0" cy="27432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61104" y="2011680"/>
            <a:ext cx="3666744" cy="100584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4352544" y="2057400"/>
            <a:ext cx="3483863"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trade-calypso</a:t>
            </a:r>
          </a:p>
        </p:txBody>
      </p:sp>
      <p:sp>
        <p:nvSpPr>
          <p:cNvPr id="18" name="TextBox 17"/>
          <p:cNvSpPr txBox="1"/>
          <p:nvPr/>
        </p:nvSpPr>
        <p:spPr>
          <a:xfrm>
            <a:off x="4352544" y="2377440"/>
            <a:ext cx="3483863" cy="594360"/>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plugin: iceberg · iceberg/trading/trade_calypso</a:t>
            </a:r>
          </a:p>
        </p:txBody>
      </p:sp>
      <p:cxnSp>
        <p:nvCxnSpPr>
          <p:cNvPr id="19" name="Connector 18"/>
          <p:cNvCxnSpPr/>
          <p:nvPr/>
        </p:nvCxnSpPr>
        <p:spPr>
          <a:xfrm>
            <a:off x="9939528" y="1737360"/>
            <a:ext cx="0" cy="274320"/>
          </a:xfrm>
          <a:prstGeom prst="line">
            <a:avLst/>
          </a:prstGeom>
          <a:ln w="25400">
            <a:solidFill>
              <a:srgbClr val="5B677A"/>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110727" y="2011680"/>
            <a:ext cx="3666744" cy="1005840"/>
          </a:xfrm>
          <a:prstGeom prst="roundRect">
            <a:avLst>
              <a:gd name="adj" fmla="val 8000"/>
            </a:avLst>
          </a:prstGeom>
          <a:solidFill>
            <a:srgbClr val="DDEED9"/>
          </a:solidFill>
          <a:ln w="12700">
            <a:solidFill>
              <a:srgbClr val="8A96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8202167" y="2057400"/>
            <a:ext cx="3483863" cy="329184"/>
          </a:xfrm>
          <a:prstGeom prst="rect">
            <a:avLst/>
          </a:prstGeom>
          <a:noFill/>
        </p:spPr>
        <p:txBody>
          <a:bodyPr wrap="square" lIns="45720" rIns="45720" tIns="27432" bIns="27432" anchor="t">
            <a:spAutoFit/>
          </a:bodyPr>
          <a:lstStyle/>
          <a:p>
            <a:pPr algn="l">
              <a:lnSpc>
                <a:spcPct val="105000"/>
              </a:lnSpc>
            </a:pPr>
            <a:r>
              <a:rPr sz="1300" b="1" i="0">
                <a:solidFill>
                  <a:srgbClr val="0B1E3B"/>
                </a:solidFill>
                <a:latin typeface="Calibri"/>
              </a:rPr>
              <a:t>trade-murex</a:t>
            </a:r>
          </a:p>
        </p:txBody>
      </p:sp>
      <p:sp>
        <p:nvSpPr>
          <p:cNvPr id="22" name="TextBox 21"/>
          <p:cNvSpPr txBox="1"/>
          <p:nvPr/>
        </p:nvSpPr>
        <p:spPr>
          <a:xfrm>
            <a:off x="8202167" y="2377440"/>
            <a:ext cx="3483863" cy="594360"/>
          </a:xfrm>
          <a:prstGeom prst="rect">
            <a:avLst/>
          </a:prstGeom>
          <a:noFill/>
        </p:spPr>
        <p:txBody>
          <a:bodyPr wrap="square" lIns="45720" rIns="45720" tIns="27432" bIns="27432" anchor="t">
            <a:spAutoFit/>
          </a:bodyPr>
          <a:lstStyle/>
          <a:p>
            <a:pPr algn="l">
              <a:lnSpc>
                <a:spcPct val="105000"/>
              </a:lnSpc>
              <a:spcAft>
                <a:spcPts val="200"/>
              </a:spcAft>
            </a:pPr>
            <a:r>
              <a:rPr sz="1200" b="0" i="0">
                <a:solidFill>
                  <a:srgbClr val="E87A1E"/>
                </a:solidFill>
                <a:latin typeface="Calibri"/>
              </a:rPr>
              <a:t>•  </a:t>
            </a:r>
            <a:r>
              <a:rPr sz="1200" b="0" i="0">
                <a:solidFill>
                  <a:srgbClr val="1C2433"/>
                </a:solidFill>
                <a:latin typeface="Calibri"/>
              </a:rPr>
              <a:t>plugin: iceberg · iceberg/trading/trade_murex</a:t>
            </a:r>
          </a:p>
        </p:txBody>
      </p:sp>
      <p:graphicFrame>
        <p:nvGraphicFramePr>
          <p:cNvPr id="23" name="Table 22"/>
          <p:cNvGraphicFramePr>
            <a:graphicFrameLocks noGrp="1"/>
          </p:cNvGraphicFramePr>
          <p:nvPr/>
        </p:nvGraphicFramePr>
        <p:xfrm>
          <a:off x="411480" y="3291840"/>
          <a:ext cx="7315200" cy="2176270"/>
        </p:xfrm>
        <a:graphic>
          <a:graphicData uri="http://schemas.openxmlformats.org/drawingml/2006/table">
            <a:tbl>
              <a:tblPr firstRow="1" bandRow="1">
                <a:tableStyleId>{5940675A-B579-460E-94D1-54222C63F5DA}</a:tableStyleId>
              </a:tblPr>
              <a:tblGrid>
                <a:gridCol w="5486400"/>
                <a:gridCol w="1828800"/>
              </a:tblGrid>
              <a:tr h="435254">
                <a:tc>
                  <a:txBody>
                    <a:bodyPr wrap="square"/>
                    <a:lstStyle/>
                    <a:p>
                      <a:pPr algn="l">
                        <a:lnSpc>
                          <a:spcPct val="100000"/>
                        </a:lnSpc>
                      </a:pPr>
                      <a:r>
                        <a:rPr sz="1250" b="1" i="0">
                          <a:solidFill>
                            <a:srgbClr val="FFFFFF"/>
                          </a:solidFill>
                          <a:latin typeface="Calibri"/>
                        </a:rPr>
                        <a:t>Compared, all-Delta against mixed (stores_equality.py)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Result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50" b="1" i="0">
                          <a:solidFill>
                            <a:srgbClr val="1C2433"/>
                          </a:solidFill>
                          <a:latin typeface="Calibri"/>
                        </a:rPr>
                        <a:t>six trade pages; </a:t>
                      </a:r>
                      <a:r>
                        <a:rPr sz="1150" b="1" i="0">
                          <a:solidFill>
                            <a:srgbClr val="0E7C86"/>
                          </a:solidFill>
                          <a:latin typeface="Consolas"/>
                        </a:rPr>
                        <a:t>TRD &lt;id&gt; 10</a:t>
                      </a:r>
                      <a:r>
                        <a:rPr sz="1250" b="1" i="0">
                          <a:solidFill>
                            <a:srgbClr val="1C2433"/>
                          </a:solidFill>
                          <a:latin typeface="Calibri"/>
                        </a:rPr>
                        <a:t> histories for each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the 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50" b="1" i="0">
                          <a:solidFill>
                            <a:srgbClr val="1C2433"/>
                          </a:solidFill>
                          <a:latin typeface="Calibri"/>
                        </a:rPr>
                        <a:t>two counterparty-trades pages; three searches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the 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50" b="1" i="0">
                          <a:solidFill>
                            <a:srgbClr val="1C2433"/>
                          </a:solidFill>
                          <a:latin typeface="Calibri"/>
                        </a:rPr>
                        <a:t>a BI model query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the 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50" b="1" i="0">
                          <a:solidFill>
                            <a:srgbClr val="1C2433"/>
                          </a:solidFill>
                          <a:latin typeface="Calibri"/>
                        </a:rPr>
                        <a:t>total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1" i="0">
                          <a:solidFill>
                            <a:srgbClr val="1C2433"/>
                          </a:solidFill>
                          <a:latin typeface="Calibri"/>
                        </a:rPr>
                        <a:t>18 answers the same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24" name="Rounded Rectangle 23"/>
          <p:cNvSpPr/>
          <p:nvPr/>
        </p:nvSpPr>
        <p:spPr>
          <a:xfrm>
            <a:off x="8001000" y="3291840"/>
            <a:ext cx="3776472" cy="301752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Rectangle 24"/>
          <p:cNvSpPr/>
          <p:nvPr/>
        </p:nvSpPr>
        <p:spPr>
          <a:xfrm>
            <a:off x="8001000" y="3291840"/>
            <a:ext cx="82296" cy="30175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8229600" y="3346704"/>
            <a:ext cx="3410712" cy="2907791"/>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Coexistence is built.</a:t>
            </a:r>
            <a:r>
              <a:rPr sz="1250" b="0" i="0">
                <a:solidFill>
                  <a:srgbClr val="1C2433"/>
                </a:solidFill>
                <a:latin typeface="Calibri"/>
              </a:rPr>
              <a:t> One pack, one route, connectors of either format behind it; the BI column scan, data versions and held dates work on both (2.6.7).</a:t>
            </a:r>
          </a:p>
          <a:p>
            <a:pPr algn="l">
              <a:lnSpc>
                <a:spcPct val="105000"/>
              </a:lnSpc>
            </a:pPr>
            <a:r>
              <a:rPr sz="1250" b="0" i="0">
                <a:solidFill>
                  <a:srgbClr val="1C2433"/>
                </a:solidFill>
                <a:latin typeface="Calibri"/>
              </a:rPr>
              <a:t>Each table has exactly one connector: never both formats for the same system's trades.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Converting tables between formats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67</a:t>
            </a:r>
          </a:p>
        </p:txBody>
      </p:sp>
      <p:graphicFrame>
        <p:nvGraphicFramePr>
          <p:cNvPr id="9" name="Table 8"/>
          <p:cNvGraphicFramePr>
            <a:graphicFrameLocks noGrp="1"/>
          </p:cNvGraphicFramePr>
          <p:nvPr/>
        </p:nvGraphicFramePr>
        <p:xfrm>
          <a:off x="411480" y="1143000"/>
          <a:ext cx="11365992" cy="2806289"/>
        </p:xfrm>
        <a:graphic>
          <a:graphicData uri="http://schemas.openxmlformats.org/drawingml/2006/table">
            <a:tbl>
              <a:tblPr firstRow="1" bandRow="1">
                <a:tableStyleId>{5940675A-B579-460E-94D1-54222C63F5DA}</a:tableStyleId>
              </a:tblPr>
              <a:tblGrid>
                <a:gridCol w="2560320"/>
                <a:gridCol w="4754880"/>
                <a:gridCol w="2377440"/>
                <a:gridCol w="1673352"/>
              </a:tblGrid>
              <a:tr h="433699">
                <a:tc>
                  <a:txBody>
                    <a:bodyPr wrap="square"/>
                    <a:lstStyle/>
                    <a:p>
                      <a:pPr algn="l">
                        <a:lnSpc>
                          <a:spcPct val="100000"/>
                        </a:lnSpc>
                      </a:pPr>
                      <a:r>
                        <a:rPr sz="1200" b="1" i="0">
                          <a:solidFill>
                            <a:srgbClr val="FFFFFF"/>
                          </a:solidFill>
                          <a:latin typeface="Calibri"/>
                        </a:rPr>
                        <a:t>Direction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How</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History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46297">
                <a:tc>
                  <a:txBody>
                    <a:bodyPr wrap="square"/>
                    <a:lstStyle/>
                    <a:p>
                      <a:pPr algn="l">
                        <a:lnSpc>
                          <a:spcPct val="100000"/>
                        </a:lnSpc>
                      </a:pPr>
                      <a:r>
                        <a:rPr sz="1200" b="1" i="0">
                          <a:solidFill>
                            <a:srgbClr val="1C2433"/>
                          </a:solidFill>
                          <a:latin typeface="Calibri"/>
                        </a:rPr>
                        <a:t>Delta → Iceberg (trade tables)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stores.py</a:t>
                      </a:r>
                      <a:r>
                        <a:rPr sz="1200" b="0" i="0">
                          <a:solidFill>
                            <a:srgbClr val="1C2433"/>
                          </a:solidFill>
                          <a:latin typeface="Calibri"/>
                        </a:rPr>
                        <a:t> / </a:t>
                      </a:r>
                      <a:r>
                        <a:rPr sz="1100" b="0" i="0">
                          <a:solidFill>
                            <a:srgbClr val="0E7C86"/>
                          </a:solidFill>
                          <a:latin typeface="Consolas"/>
                        </a:rPr>
                        <a:t>build_demo_lakes.py --store &lt;system&gt;=iceberg</a:t>
                      </a:r>
                      <a:r>
                        <a:rPr sz="1200" b="0" i="0">
                          <a:solidFill>
                            <a:srgbClr val="1C2433"/>
                          </a:solidFill>
                          <a:latin typeface="Calibri"/>
                        </a:rPr>
                        <a:t>: rows → </a:t>
                      </a:r>
                      <a:r>
                        <a:rPr sz="1100" b="0" i="0">
                          <a:solidFill>
                            <a:srgbClr val="0E7C86"/>
                          </a:solidFill>
                          <a:latin typeface="Consolas"/>
                        </a:rPr>
                        <a:t>IcebergLoader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current days; one snapshot per copied day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3699">
                <a:tc>
                  <a:txBody>
                    <a:bodyPr wrap="square"/>
                    <a:lstStyle/>
                    <a:p>
                      <a:pPr algn="l">
                        <a:lnSpc>
                          <a:spcPct val="100000"/>
                        </a:lnSpc>
                      </a:pPr>
                      <a:r>
                        <a:rPr sz="1200" b="1" i="0">
                          <a:solidFill>
                            <a:srgbClr val="1C2433"/>
                          </a:solidFill>
                          <a:latin typeface="Calibri"/>
                        </a:rPr>
                        <a:t>Delta → Iceberg (any kind)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streaming, generalised to any pack and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current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6297">
                <a:tc>
                  <a:txBody>
                    <a:bodyPr wrap="square"/>
                    <a:lstStyle/>
                    <a:p>
                      <a:pPr algn="l">
                        <a:lnSpc>
                          <a:spcPct val="100000"/>
                        </a:lnSpc>
                      </a:pPr>
                      <a:r>
                        <a:rPr sz="1200" b="1" i="0">
                          <a:solidFill>
                            <a:srgbClr val="1C2433"/>
                          </a:solidFill>
                          <a:latin typeface="Calibri"/>
                        </a:rPr>
                        <a:t>Iceberg →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export documents as JSON Lines, then </a:t>
                      </a:r>
                      <a:r>
                        <a:rPr sz="1100" b="0" i="0">
                          <a:solidFill>
                            <a:srgbClr val="0E7C86"/>
                          </a:solidFill>
                          <a:latin typeface="Consolas"/>
                        </a:rPr>
                        <a:t>lake build</a:t>
                      </a:r>
                      <a:r>
                        <a:rPr sz="1200" b="0" i="0">
                          <a:solidFill>
                            <a:srgbClr val="1C2433"/>
                          </a:solidFill>
                          <a:latin typeface="Calibri"/>
                        </a:rPr>
                        <a:t> (and </a:t>
                      </a:r>
                      <a:r>
                        <a:rPr sz="1100" b="0" i="0">
                          <a:solidFill>
                            <a:srgbClr val="0E7C86"/>
                          </a:solidFill>
                          <a:latin typeface="Consolas"/>
                        </a:rPr>
                        <a:t>lake publish</a:t>
                      </a:r>
                      <a:r>
                        <a:rPr sz="1200" b="0" i="0">
                          <a:solidFill>
                            <a:srgbClr val="1C2433"/>
                          </a:solidFill>
                          <a:latin typeface="Calibri"/>
                        </a:rPr>
                        <a:t> on 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current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5B677A"/>
                          </a:solidFill>
                          <a:latin typeface="Calibri"/>
                        </a:rPr>
                        <a:t>PROPOSED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6297">
                <a:tc>
                  <a:txBody>
                    <a:bodyPr wrap="square"/>
                    <a:lstStyle/>
                    <a:p>
                      <a:pPr algn="l">
                        <a:lnSpc>
                          <a:spcPct val="100000"/>
                        </a:lnSpc>
                      </a:pPr>
                      <a:r>
                        <a:rPr sz="1200" b="1" i="0">
                          <a:solidFill>
                            <a:srgbClr val="1C2433"/>
                          </a:solidFill>
                          <a:latin typeface="Calibri"/>
                        </a:rPr>
                        <a:t>In place: Delta UniForm, Iceberg </a:t>
                      </a:r>
                      <a:r>
                        <a:rPr sz="1100" b="1" i="0">
                          <a:solidFill>
                            <a:srgbClr val="0E7C86"/>
                          </a:solidFill>
                          <a:latin typeface="Consolas"/>
                        </a:rPr>
                        <a:t>snapshot</a:t>
                      </a:r>
                      <a:r>
                        <a:rPr sz="1200" b="1" i="0">
                          <a:solidFill>
                            <a:srgbClr val="1C2433"/>
                          </a:solidFill>
                          <a:latin typeface="Calibri"/>
                        </a:rPr>
                        <a:t>/</a:t>
                      </a:r>
                      <a:r>
                        <a:rPr sz="1100" b="1" i="0">
                          <a:solidFill>
                            <a:srgbClr val="0E7C86"/>
                          </a:solidFill>
                          <a:latin typeface="Consolas"/>
                        </a:rPr>
                        <a:t>migrate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other engines write the second format's metadata over the same Parquet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converter's choice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(evaluate)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4343400"/>
            <a:ext cx="11365992" cy="19659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4343400"/>
            <a:ext cx="82296" cy="1965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4398264"/>
            <a:ext cx="11000232" cy="1856231"/>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Keep the old table until the new one is proven:</a:t>
            </a:r>
            <a:r>
              <a:rPr sz="1300" b="0" i="0">
                <a:solidFill>
                  <a:srgbClr val="1C2433"/>
                </a:solidFill>
                <a:latin typeface="Calibri"/>
              </a:rPr>
              <a:t> build the Iceberg table beside the Delta one, run the equality test against both, then switch the connector file. Keep the Delta folder for its time travel (and the content store keeps every official capture), or archive it.</a:t>
            </a:r>
          </a:p>
          <a:p>
            <a:pPr algn="l">
              <a:lnSpc>
                <a:spcPct val="105000"/>
              </a:lnSpc>
            </a:pPr>
            <a:r>
              <a:rPr sz="1300" b="1" i="0">
                <a:solidFill>
                  <a:srgbClr val="1C2433"/>
                </a:solidFill>
                <a:latin typeface="Calibri"/>
              </a:rPr>
              <a:t>Never</a:t>
            </a:r>
            <a:r>
              <a:rPr sz="1300" b="0" i="0">
                <a:solidFill>
                  <a:srgbClr val="1C2433"/>
                </a:solidFill>
                <a:latin typeface="Calibri"/>
              </a:rPr>
              <a:t> let two connectors serve one system's trades at once: the union would double them.</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Keeping one logical connector name across a switch</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14</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68</a:t>
            </a:r>
          </a:p>
        </p:txBody>
      </p:sp>
      <p:sp>
        <p:nvSpPr>
          <p:cNvPr id="9" name="Rounded Rectangle 8"/>
          <p:cNvSpPr/>
          <p:nvPr/>
        </p:nvSpPr>
        <p:spPr>
          <a:xfrm>
            <a:off x="411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Oval 9"/>
          <p:cNvSpPr/>
          <p:nvPr/>
        </p:nvSpPr>
        <p:spPr>
          <a:xfrm>
            <a:off x="521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21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1</a:t>
            </a:r>
          </a:p>
        </p:txBody>
      </p:sp>
      <p:sp>
        <p:nvSpPr>
          <p:cNvPr id="12" name="TextBox 11"/>
          <p:cNvSpPr txBox="1"/>
          <p:nvPr/>
        </p:nvSpPr>
        <p:spPr>
          <a:xfrm>
            <a:off x="1051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Build beside</a:t>
            </a:r>
          </a:p>
        </p:txBody>
      </p:sp>
      <p:sp>
        <p:nvSpPr>
          <p:cNvPr id="13" name="TextBox 12"/>
          <p:cNvSpPr txBox="1"/>
          <p:nvPr/>
        </p:nvSpPr>
        <p:spPr>
          <a:xfrm>
            <a:off x="521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write the Iceberg table next to the Delta one (</a:t>
            </a:r>
            <a:r>
              <a:rPr sz="1050" b="0" i="0">
                <a:solidFill>
                  <a:srgbClr val="0E7C86"/>
                </a:solidFill>
                <a:latin typeface="Consolas"/>
              </a:rPr>
              <a:t>stores.py</a:t>
            </a:r>
            <a:r>
              <a:rPr sz="1150" b="0" i="0">
                <a:solidFill>
                  <a:srgbClr val="1C2433"/>
                </a:solidFill>
                <a:latin typeface="Calibri"/>
              </a:rPr>
              <a:t>, or the loader)</a:t>
            </a:r>
          </a:p>
        </p:txBody>
      </p:sp>
      <p:cxnSp>
        <p:nvCxnSpPr>
          <p:cNvPr id="14" name="Connector 13"/>
          <p:cNvCxnSpPr/>
          <p:nvPr/>
        </p:nvCxnSpPr>
        <p:spPr>
          <a:xfrm>
            <a:off x="2542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2697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Oval 15"/>
          <p:cNvSpPr/>
          <p:nvPr/>
        </p:nvSpPr>
        <p:spPr>
          <a:xfrm>
            <a:off x="2807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807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2</a:t>
            </a:r>
          </a:p>
        </p:txBody>
      </p:sp>
      <p:sp>
        <p:nvSpPr>
          <p:cNvPr id="18" name="TextBox 17"/>
          <p:cNvSpPr txBox="1"/>
          <p:nvPr/>
        </p:nvSpPr>
        <p:spPr>
          <a:xfrm>
            <a:off x="3337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Compare</a:t>
            </a:r>
          </a:p>
        </p:txBody>
      </p:sp>
      <p:sp>
        <p:nvSpPr>
          <p:cNvPr id="19" name="TextBox 18"/>
          <p:cNvSpPr txBox="1"/>
          <p:nvPr/>
        </p:nvSpPr>
        <p:spPr>
          <a:xfrm>
            <a:off x="2807208" y="1828800"/>
            <a:ext cx="1911095" cy="1417320"/>
          </a:xfrm>
          <a:prstGeom prst="rect">
            <a:avLst/>
          </a:prstGeom>
          <a:noFill/>
        </p:spPr>
        <p:txBody>
          <a:bodyPr wrap="square" lIns="45720" rIns="45720" tIns="27432" bIns="27432" anchor="t">
            <a:spAutoFit/>
          </a:bodyPr>
          <a:lstStyle/>
          <a:p>
            <a:pPr algn="l">
              <a:lnSpc>
                <a:spcPct val="105000"/>
              </a:lnSpc>
            </a:pPr>
            <a:r>
              <a:rPr sz="1050" b="0" i="0">
                <a:solidFill>
                  <a:srgbClr val="0E7C86"/>
                </a:solidFill>
                <a:latin typeface="Consolas"/>
              </a:rPr>
              <a:t>stores_equality.py</a:t>
            </a:r>
            <a:r>
              <a:rPr sz="1150" b="0" i="0">
                <a:solidFill>
                  <a:srgbClr val="1C2433"/>
                </a:solidFill>
                <a:latin typeface="Calibri"/>
              </a:rPr>
              <a:t>-style answers, both lakes, the same dates</a:t>
            </a:r>
          </a:p>
        </p:txBody>
      </p:sp>
      <p:cxnSp>
        <p:nvCxnSpPr>
          <p:cNvPr id="20" name="Connector 19"/>
          <p:cNvCxnSpPr/>
          <p:nvPr/>
        </p:nvCxnSpPr>
        <p:spPr>
          <a:xfrm>
            <a:off x="4828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983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Oval 21"/>
          <p:cNvSpPr/>
          <p:nvPr/>
        </p:nvSpPr>
        <p:spPr>
          <a:xfrm>
            <a:off x="5093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93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3</a:t>
            </a:r>
          </a:p>
        </p:txBody>
      </p:sp>
      <p:sp>
        <p:nvSpPr>
          <p:cNvPr id="24" name="TextBox 23"/>
          <p:cNvSpPr txBox="1"/>
          <p:nvPr/>
        </p:nvSpPr>
        <p:spPr>
          <a:xfrm>
            <a:off x="5623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Switch</a:t>
            </a:r>
          </a:p>
        </p:txBody>
      </p:sp>
      <p:sp>
        <p:nvSpPr>
          <p:cNvPr id="25" name="TextBox 24"/>
          <p:cNvSpPr txBox="1"/>
          <p:nvPr/>
        </p:nvSpPr>
        <p:spPr>
          <a:xfrm>
            <a:off x="5093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edit </a:t>
            </a:r>
            <a:r>
              <a:rPr sz="1050" b="0" i="0">
                <a:solidFill>
                  <a:srgbClr val="0E7C86"/>
                </a:solidFill>
                <a:latin typeface="Consolas"/>
              </a:rPr>
              <a:t>trade-calypso.yaml</a:t>
            </a:r>
            <a:r>
              <a:rPr sz="1150" b="0" i="0">
                <a:solidFill>
                  <a:srgbClr val="1C2433"/>
                </a:solidFill>
                <a:latin typeface="Calibri"/>
              </a:rPr>
              <a:t>: </a:t>
            </a:r>
            <a:r>
              <a:rPr sz="1050" b="0" i="0">
                <a:solidFill>
                  <a:srgbClr val="0E7C86"/>
                </a:solidFill>
                <a:latin typeface="Consolas"/>
              </a:rPr>
              <a:t>plugin: iceberg</a:t>
            </a:r>
            <a:r>
              <a:rPr sz="1150" b="0" i="0">
                <a:solidFill>
                  <a:srgbClr val="1C2433"/>
                </a:solidFill>
                <a:latin typeface="Calibri"/>
              </a:rPr>
              <a:t>, </a:t>
            </a:r>
            <a:r>
              <a:rPr sz="1050" b="0" i="0">
                <a:solidFill>
                  <a:srgbClr val="0E7C86"/>
                </a:solidFill>
                <a:latin typeface="Consolas"/>
              </a:rPr>
              <a:t>engine: native</a:t>
            </a:r>
            <a:r>
              <a:rPr sz="1150" b="0" i="0">
                <a:solidFill>
                  <a:srgbClr val="1C2433"/>
                </a:solidFill>
                <a:latin typeface="Calibri"/>
              </a:rPr>
              <a:t>, </a:t>
            </a:r>
            <a:r>
              <a:rPr sz="1050" b="0" i="0">
                <a:solidFill>
                  <a:srgbClr val="0E7C86"/>
                </a:solidFill>
                <a:latin typeface="Consolas"/>
              </a:rPr>
              <a:t>root</a:t>
            </a:r>
            <a:r>
              <a:rPr sz="1150" b="0" i="0">
                <a:solidFill>
                  <a:srgbClr val="1C2433"/>
                </a:solidFill>
                <a:latin typeface="Calibri"/>
              </a:rPr>
              <a:t>, </a:t>
            </a:r>
            <a:r>
              <a:rPr sz="1050" b="0" i="0">
                <a:solidFill>
                  <a:srgbClr val="0E7C86"/>
                </a:solidFill>
                <a:latin typeface="Consolas"/>
              </a:rPr>
              <a:t>table.trade</a:t>
            </a:r>
            <a:r>
              <a:rPr sz="1150" b="0" i="0">
                <a:solidFill>
                  <a:srgbClr val="1C2433"/>
                </a:solidFill>
                <a:latin typeface="Calibri"/>
              </a:rPr>
              <a:t>, the same </a:t>
            </a:r>
            <a:r>
              <a:rPr sz="1050" b="0" i="0">
                <a:solidFill>
                  <a:srgbClr val="0E7C86"/>
                </a:solidFill>
                <a:latin typeface="Consolas"/>
              </a:rPr>
              <a:t>layout</a:t>
            </a:r>
          </a:p>
        </p:txBody>
      </p:sp>
      <p:cxnSp>
        <p:nvCxnSpPr>
          <p:cNvPr id="26" name="Connector 25"/>
          <p:cNvCxnSpPr/>
          <p:nvPr/>
        </p:nvCxnSpPr>
        <p:spPr>
          <a:xfrm>
            <a:off x="7114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269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Oval 27"/>
          <p:cNvSpPr/>
          <p:nvPr/>
        </p:nvSpPr>
        <p:spPr>
          <a:xfrm>
            <a:off x="7379208"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79208"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4</a:t>
            </a:r>
          </a:p>
        </p:txBody>
      </p:sp>
      <p:sp>
        <p:nvSpPr>
          <p:cNvPr id="30" name="TextBox 29"/>
          <p:cNvSpPr txBox="1"/>
          <p:nvPr/>
        </p:nvSpPr>
        <p:spPr>
          <a:xfrm>
            <a:off x="7909560"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Signal</a:t>
            </a:r>
          </a:p>
        </p:txBody>
      </p:sp>
      <p:sp>
        <p:nvSpPr>
          <p:cNvPr id="31" name="TextBox 30"/>
          <p:cNvSpPr txBox="1"/>
          <p:nvPr/>
        </p:nvSpPr>
        <p:spPr>
          <a:xfrm>
            <a:off x="7379208"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the data-load signal, or wait </a:t>
            </a:r>
            <a:r>
              <a:rPr sz="1050" b="0" i="0">
                <a:solidFill>
                  <a:srgbClr val="0E7C86"/>
                </a:solidFill>
                <a:latin typeface="Consolas"/>
              </a:rPr>
              <a:t>refresh-seconds</a:t>
            </a:r>
            <a:r>
              <a:rPr sz="1150" b="0" i="0">
                <a:solidFill>
                  <a:srgbClr val="1C2433"/>
                </a:solidFill>
                <a:latin typeface="Calibri"/>
              </a:rPr>
              <a:t>; Health shows </a:t>
            </a:r>
            <a:r>
              <a:rPr sz="1050" b="0" i="0">
                <a:solidFill>
                  <a:srgbClr val="0E7C86"/>
                </a:solidFill>
                <a:latin typeface="Consolas"/>
              </a:rPr>
              <a:t>engine: native</a:t>
            </a:r>
            <a:r>
              <a:rPr sz="1150" b="0" i="0">
                <a:solidFill>
                  <a:srgbClr val="1C2433"/>
                </a:solidFill>
                <a:latin typeface="Calibri"/>
              </a:rPr>
              <a:t>, UP</a:t>
            </a:r>
          </a:p>
        </p:txBody>
      </p:sp>
      <p:cxnSp>
        <p:nvCxnSpPr>
          <p:cNvPr id="32" name="Connector 31"/>
          <p:cNvCxnSpPr/>
          <p:nvPr/>
        </p:nvCxnSpPr>
        <p:spPr>
          <a:xfrm>
            <a:off x="9400032" y="2377440"/>
            <a:ext cx="155448" cy="0"/>
          </a:xfrm>
          <a:prstGeom prst="line">
            <a:avLst/>
          </a:prstGeom>
          <a:ln w="25400">
            <a:solidFill>
              <a:srgbClr val="E87A1E"/>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555480" y="1188720"/>
            <a:ext cx="2130552" cy="2377440"/>
          </a:xfrm>
          <a:prstGeom prst="roundRect">
            <a:avLst>
              <a:gd name="adj" fmla="val 8000"/>
            </a:avLst>
          </a:prstGeom>
          <a:solidFill>
            <a:srgbClr val="F3F5F8"/>
          </a:solidFill>
          <a:ln w="12700">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Oval 33"/>
          <p:cNvSpPr/>
          <p:nvPr/>
        </p:nvSpPr>
        <p:spPr>
          <a:xfrm>
            <a:off x="9665207" y="1307592"/>
            <a:ext cx="457200" cy="457200"/>
          </a:xfrm>
          <a:prstGeom prst="ellipse">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665207" y="1307592"/>
            <a:ext cx="457200" cy="457200"/>
          </a:xfrm>
          <a:prstGeom prst="rect">
            <a:avLst/>
          </a:prstGeom>
          <a:noFill/>
        </p:spPr>
        <p:txBody>
          <a:bodyPr wrap="square" lIns="0" rIns="0" tIns="0" bIns="0" anchor="ctr">
            <a:spAutoFit/>
          </a:bodyPr>
          <a:lstStyle/>
          <a:p>
            <a:pPr algn="ctr">
              <a:lnSpc>
                <a:spcPct val="105000"/>
              </a:lnSpc>
            </a:pPr>
            <a:r>
              <a:rPr sz="1500" b="1" i="0">
                <a:solidFill>
                  <a:srgbClr val="FFFFFF"/>
                </a:solidFill>
                <a:latin typeface="Calibri"/>
              </a:rPr>
              <a:t>5</a:t>
            </a:r>
          </a:p>
        </p:txBody>
      </p:sp>
      <p:sp>
        <p:nvSpPr>
          <p:cNvPr id="36" name="TextBox 35"/>
          <p:cNvSpPr txBox="1"/>
          <p:nvPr/>
        </p:nvSpPr>
        <p:spPr>
          <a:xfrm>
            <a:off x="10195559" y="1280160"/>
            <a:ext cx="1399032" cy="502920"/>
          </a:xfrm>
          <a:prstGeom prst="rect">
            <a:avLst/>
          </a:prstGeom>
          <a:noFill/>
        </p:spPr>
        <p:txBody>
          <a:bodyPr wrap="square" lIns="45720" rIns="45720" tIns="27432" bIns="27432" anchor="ctr">
            <a:spAutoFit/>
          </a:bodyPr>
          <a:lstStyle/>
          <a:p>
            <a:pPr algn="l">
              <a:lnSpc>
                <a:spcPct val="105000"/>
              </a:lnSpc>
            </a:pPr>
            <a:r>
              <a:rPr sz="1400" b="1" i="0">
                <a:solidFill>
                  <a:srgbClr val="0B1E3B"/>
                </a:solidFill>
                <a:latin typeface="Calibri"/>
              </a:rPr>
              <a:t>Keep, then retire</a:t>
            </a:r>
          </a:p>
        </p:txBody>
      </p:sp>
      <p:sp>
        <p:nvSpPr>
          <p:cNvPr id="37" name="TextBox 36"/>
          <p:cNvSpPr txBox="1"/>
          <p:nvPr/>
        </p:nvSpPr>
        <p:spPr>
          <a:xfrm>
            <a:off x="9665207" y="1828800"/>
            <a:ext cx="1911095" cy="1417320"/>
          </a:xfrm>
          <a:prstGeom prst="rect">
            <a:avLst/>
          </a:prstGeom>
          <a:noFill/>
        </p:spPr>
        <p:txBody>
          <a:bodyPr wrap="square" lIns="45720" rIns="45720" tIns="27432" bIns="27432" anchor="t">
            <a:spAutoFit/>
          </a:bodyPr>
          <a:lstStyle/>
          <a:p>
            <a:pPr algn="l">
              <a:lnSpc>
                <a:spcPct val="105000"/>
              </a:lnSpc>
            </a:pPr>
            <a:r>
              <a:rPr sz="1150" b="0" i="0">
                <a:solidFill>
                  <a:srgbClr val="1C2433"/>
                </a:solidFill>
                <a:latin typeface="Calibri"/>
              </a:rPr>
              <a:t>keep the Delta table for its history; roll back by restoring the file</a:t>
            </a:r>
          </a:p>
        </p:txBody>
      </p:sp>
      <p:sp>
        <p:nvSpPr>
          <p:cNvPr id="38" name="Rounded Rectangle 37"/>
          <p:cNvSpPr/>
          <p:nvPr/>
        </p:nvSpPr>
        <p:spPr>
          <a:xfrm>
            <a:off x="411480" y="3794760"/>
            <a:ext cx="6583680" cy="2514600"/>
          </a:xfrm>
          <a:prstGeom prst="roundRect">
            <a:avLst>
              <a:gd name="adj" fmla="val 3000"/>
            </a:avLst>
          </a:prstGeom>
          <a:solidFill>
            <a:srgbClr val="141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TextBox 38"/>
          <p:cNvSpPr txBox="1"/>
          <p:nvPr/>
        </p:nvSpPr>
        <p:spPr>
          <a:xfrm>
            <a:off x="521208" y="3867912"/>
            <a:ext cx="6364224" cy="2368296"/>
          </a:xfrm>
          <a:prstGeom prst="rect">
            <a:avLst/>
          </a:prstGeom>
          <a:noFill/>
        </p:spPr>
        <p:txBody>
          <a:bodyPr wrap="square" lIns="45720" rIns="45720" tIns="27432" bIns="27432" anchor="t">
            <a:spAutoFit/>
          </a:bodyPr>
          <a:lstStyle/>
          <a:p>
            <a:pPr algn="l">
              <a:lnSpc>
                <a:spcPct val="100000"/>
              </a:lnSpc>
            </a:pPr>
            <a:r>
              <a:rPr sz="1150" b="0" i="0">
                <a:solidFill>
                  <a:srgbClr val="E6EDF3"/>
                </a:solidFill>
                <a:latin typeface="Consolas"/>
              </a:rPr>
              <a:t># config/connectors/trade-calypso.yaml (the name never changes)</a:t>
            </a:r>
          </a:p>
          <a:p>
            <a:pPr algn="l">
              <a:lnSpc>
                <a:spcPct val="100000"/>
              </a:lnSpc>
            </a:pPr>
            <a:r>
              <a:rPr sz="1150" b="0" i="0">
                <a:solidFill>
                  <a:srgbClr val="E6EDF3"/>
                </a:solidFill>
                <a:latin typeface="Consolas"/>
              </a:rPr>
              <a:t>plugin: iceberg                 # was: delta</a:t>
            </a:r>
          </a:p>
          <a:p>
            <a:pPr algn="l">
              <a:lnSpc>
                <a:spcPct val="100000"/>
              </a:lnSpc>
            </a:pPr>
            <a:r>
              <a:rPr sz="1150" b="0" i="0">
                <a:solidFill>
                  <a:srgbClr val="E6EDF3"/>
                </a:solidFill>
                <a:latin typeface="Consolas"/>
              </a:rPr>
              <a:t>kinds: [trade]</a:t>
            </a:r>
          </a:p>
          <a:p>
            <a:pPr algn="l">
              <a:lnSpc>
                <a:spcPct val="100000"/>
              </a:lnSpc>
            </a:pPr>
            <a:r>
              <a:rPr sz="1150" b="0" i="0">
                <a:solidFill>
                  <a:srgbClr val="E6EDF3"/>
                </a:solidFill>
                <a:latin typeface="Consolas"/>
              </a:rPr>
              <a:t>settings:</a:t>
            </a:r>
          </a:p>
          <a:p>
            <a:pPr algn="l">
              <a:lnSpc>
                <a:spcPct val="100000"/>
              </a:lnSpc>
            </a:pPr>
            <a:r>
              <a:rPr sz="1150" b="0" i="0">
                <a:solidFill>
                  <a:srgbClr val="E6EDF3"/>
                </a:solidFill>
                <a:latin typeface="Consolas"/>
              </a:rPr>
              <a:t>  domain: trading</a:t>
            </a:r>
          </a:p>
          <a:p>
            <a:pPr algn="l">
              <a:lnSpc>
                <a:spcPct val="100000"/>
              </a:lnSpc>
            </a:pPr>
            <a:r>
              <a:rPr sz="1150" b="0" i="0">
                <a:solidFill>
                  <a:srgbClr val="E6EDF3"/>
                </a:solidFill>
                <a:latin typeface="Consolas"/>
              </a:rPr>
              <a:t>  engine: native</a:t>
            </a:r>
          </a:p>
          <a:p>
            <a:pPr algn="l">
              <a:lnSpc>
                <a:spcPct val="100000"/>
              </a:lnSpc>
            </a:pPr>
            <a:r>
              <a:rPr sz="1150" b="0" i="0">
                <a:solidFill>
                  <a:srgbClr val="E6EDF3"/>
                </a:solidFill>
                <a:latin typeface="Consolas"/>
              </a:rPr>
              <a:t>  root: ${DRISHTI_ICEBERG_ROOT:${drishti.data.dir:./data}/iceberg}</a:t>
            </a:r>
          </a:p>
          <a:p>
            <a:pPr algn="l">
              <a:lnSpc>
                <a:spcPct val="100000"/>
              </a:lnSpc>
            </a:pPr>
            <a:r>
              <a:rPr sz="1150" b="0" i="0">
                <a:solidFill>
                  <a:srgbClr val="E6EDF3"/>
                </a:solidFill>
                <a:latin typeface="Consolas"/>
              </a:rPr>
              <a:t>  table: {trade: trade_calypso}</a:t>
            </a:r>
          </a:p>
          <a:p>
            <a:pPr algn="l">
              <a:lnSpc>
                <a:spcPct val="100000"/>
              </a:lnSpc>
            </a:pPr>
            <a:r>
              <a:rPr sz="1150" b="0" i="0">
                <a:solidFill>
                  <a:srgbClr val="E6EDF3"/>
                </a:solidFill>
                <a:latin typeface="Consolas"/>
              </a:rPr>
              <a:t>  layout: {trade: {columns: [TRADE_ID, SOURCE_SYSTEM, …]}}</a:t>
            </a:r>
          </a:p>
        </p:txBody>
      </p:sp>
      <p:sp>
        <p:nvSpPr>
          <p:cNvPr id="40" name="Rounded Rectangle 39"/>
          <p:cNvSpPr/>
          <p:nvPr/>
        </p:nvSpPr>
        <p:spPr>
          <a:xfrm>
            <a:off x="7223760" y="3794760"/>
            <a:ext cx="4553712" cy="2514600"/>
          </a:xfrm>
          <a:prstGeom prst="roundRect">
            <a:avLst>
              <a:gd name="adj" fmla="val 6000"/>
            </a:avLst>
          </a:prstGeom>
          <a:solidFill>
            <a:srgbClr val="E8F5E9"/>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1" name="Rectangle 40"/>
          <p:cNvSpPr/>
          <p:nvPr/>
        </p:nvSpPr>
        <p:spPr>
          <a:xfrm>
            <a:off x="7223760" y="3794760"/>
            <a:ext cx="82296" cy="25146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TextBox 41"/>
          <p:cNvSpPr txBox="1"/>
          <p:nvPr/>
        </p:nvSpPr>
        <p:spPr>
          <a:xfrm>
            <a:off x="7452360" y="3849624"/>
            <a:ext cx="4187952" cy="2404872"/>
          </a:xfrm>
          <a:prstGeom prst="rect">
            <a:avLst/>
          </a:prstGeom>
          <a:noFill/>
        </p:spPr>
        <p:txBody>
          <a:bodyPr wrap="square" lIns="45720" rIns="45720" tIns="27432" bIns="27432" anchor="ctr">
            <a:spAutoFit/>
          </a:bodyPr>
          <a:lstStyle/>
          <a:p>
            <a:pPr algn="l">
              <a:lnSpc>
                <a:spcPct val="105000"/>
              </a:lnSpc>
            </a:pPr>
            <a:r>
              <a:rPr sz="1250" b="1" i="0">
                <a:solidFill>
                  <a:srgbClr val="1C2433"/>
                </a:solidFill>
                <a:latin typeface="Calibri"/>
              </a:rPr>
              <a:t>Nothing above the connector moves:</a:t>
            </a:r>
            <a:r>
              <a:rPr sz="1250" b="0" i="0">
                <a:solidFill>
                  <a:srgbClr val="1C2433"/>
                </a:solidFill>
                <a:latin typeface="Calibri"/>
              </a:rPr>
              <a:t> the pack's route, saved searches, BI models, reports and bookmarks name the connector or the kind, never the format.</a:t>
            </a:r>
          </a:p>
          <a:p>
            <a:pPr algn="l">
              <a:lnSpc>
                <a:spcPct val="105000"/>
              </a:lnSpc>
            </a:pPr>
            <a:r>
              <a:rPr sz="1250" b="0" i="0">
                <a:solidFill>
                  <a:srgbClr val="1C2433"/>
                </a:solidFill>
                <a:latin typeface="Calibri"/>
              </a:rPr>
              <a:t>Caches of the old connector are dropped when the file changes.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15</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Sizing and cost</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What changes from the Delta deck's 200 TB bill when the tables are Iceberg (list prices, one Region, estimates)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Monthly cost: what changes with Iceberg</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15</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70</a:t>
            </a:r>
          </a:p>
        </p:txBody>
      </p:sp>
      <p:graphicFrame>
        <p:nvGraphicFramePr>
          <p:cNvPr id="9" name="Table 8"/>
          <p:cNvGraphicFramePr>
            <a:graphicFrameLocks noGrp="1"/>
          </p:cNvGraphicFramePr>
          <p:nvPr/>
        </p:nvGraphicFramePr>
        <p:xfrm>
          <a:off x="411480" y="1143000"/>
          <a:ext cx="11365992" cy="3911800"/>
        </p:xfrm>
        <a:graphic>
          <a:graphicData uri="http://schemas.openxmlformats.org/drawingml/2006/table">
            <a:tbl>
              <a:tblPr firstRow="1" bandRow="1">
                <a:tableStyleId>{5940675A-B579-460E-94D1-54222C63F5DA}</a:tableStyleId>
              </a:tblPr>
              <a:tblGrid>
                <a:gridCol w="2377440"/>
                <a:gridCol w="3108960"/>
                <a:gridCol w="5879592"/>
              </a:tblGrid>
              <a:tr h="392720">
                <a:tc>
                  <a:txBody>
                    <a:bodyPr wrap="square"/>
                    <a:lstStyle/>
                    <a:p>
                      <a:pPr algn="l">
                        <a:lnSpc>
                          <a:spcPct val="100000"/>
                        </a:lnSpc>
                      </a:pPr>
                      <a:r>
                        <a:rPr sz="1200" b="1" i="0">
                          <a:solidFill>
                            <a:srgbClr val="FFFFFF"/>
                          </a:solidFill>
                          <a:latin typeface="Calibri"/>
                        </a:rPr>
                        <a:t>Item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Delta deck (200 TB, per month)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With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392720">
                <a:tc>
                  <a:txBody>
                    <a:bodyPr wrap="square"/>
                    <a:lstStyle/>
                    <a:p>
                      <a:pPr algn="l">
                        <a:lnSpc>
                          <a:spcPct val="100000"/>
                        </a:lnSpc>
                      </a:pPr>
                      <a:r>
                        <a:rPr sz="1200" b="1" i="0">
                          <a:solidFill>
                            <a:srgbClr val="1C2433"/>
                          </a:solidFill>
                          <a:latin typeface="Calibri"/>
                        </a:rPr>
                        <a:t>S3 storage, tiered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about USD 1,400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same tiers; zstd may store less than Snappy (not measured side by side)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5230">
                <a:tc>
                  <a:txBody>
                    <a:bodyPr wrap="square"/>
                    <a:lstStyle/>
                    <a:p>
                      <a:pPr algn="l">
                        <a:lnSpc>
                          <a:spcPct val="100000"/>
                        </a:lnSpc>
                      </a:pPr>
                      <a:r>
                        <a:rPr sz="1200" b="1" i="0">
                          <a:solidFill>
                            <a:srgbClr val="1C2433"/>
                          </a:solidFill>
                          <a:latin typeface="Calibri"/>
                        </a:rPr>
                        <a:t>S3 requests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USD 500–700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about the same for reads; a few more small objects per commit (metadata JSON, manifest list, manifest)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392720">
                <a:tc>
                  <a:txBody>
                    <a:bodyPr wrap="square"/>
                    <a:lstStyle/>
                    <a:p>
                      <a:pPr algn="l">
                        <a:lnSpc>
                          <a:spcPct val="100000"/>
                        </a:lnSpc>
                      </a:pPr>
                      <a:r>
                        <a:rPr sz="1200" b="1" i="0">
                          <a:solidFill>
                            <a:srgbClr val="1C2433"/>
                          </a:solidFill>
                          <a:latin typeface="Calibri"/>
                        </a:rPr>
                        <a:t>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none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none (path-based) · Glue or S3 Tables: their request and storage charges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392720">
                <a:tc>
                  <a:txBody>
                    <a:bodyPr wrap="square"/>
                    <a:lstStyle/>
                    <a:p>
                      <a:pPr algn="l">
                        <a:lnSpc>
                          <a:spcPct val="100000"/>
                        </a:lnSpc>
                      </a:pPr>
                      <a:r>
                        <a:rPr sz="1200" b="1" i="0">
                          <a:solidFill>
                            <a:srgbClr val="1C2433"/>
                          </a:solidFill>
                          <a:latin typeface="Calibri"/>
                        </a:rPr>
                        <a:t>Server nodes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USD 650–750 (3 tasks)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tasks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85230">
                <a:tc>
                  <a:txBody>
                    <a:bodyPr wrap="square"/>
                    <a:lstStyle/>
                    <a:p>
                      <a:pPr algn="l">
                        <a:lnSpc>
                          <a:spcPct val="100000"/>
                        </a:lnSpc>
                      </a:pPr>
                      <a:r>
                        <a:rPr sz="1200" b="1" i="0">
                          <a:solidFill>
                            <a:srgbClr val="1C2433"/>
                          </a:solidFill>
                          <a:latin typeface="Calibri"/>
                        </a:rPr>
                        <a:t>Loader, maintenance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USD 50–150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fewer steps (no scratch table, no sync); or managed optimizers, charged separately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85230">
                <a:tc>
                  <a:txBody>
                    <a:bodyPr wrap="square"/>
                    <a:lstStyle/>
                    <a:p>
                      <a:pPr algn="l">
                        <a:lnSpc>
                          <a:spcPct val="100000"/>
                        </a:lnSpc>
                      </a:pPr>
                      <a:r>
                        <a:rPr sz="1200" b="1" i="0">
                          <a:solidFill>
                            <a:srgbClr val="1C2433"/>
                          </a:solidFill>
                          <a:latin typeface="Calibri"/>
                        </a:rPr>
                        <a:t>EFS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USD 300 + throughput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same; no disk caches for Iceberg today, so less EFS I/O and colder restarts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85230">
                <a:tc>
                  <a:txBody>
                    <a:bodyPr wrap="square"/>
                    <a:lstStyle/>
                    <a:p>
                      <a:pPr algn="l">
                        <a:lnSpc>
                          <a:spcPct val="100000"/>
                        </a:lnSpc>
                      </a:pPr>
                      <a:r>
                        <a:rPr sz="1200" b="1" i="0">
                          <a:solidFill>
                            <a:srgbClr val="1C2433"/>
                          </a:solidFill>
                          <a:latin typeface="Calibri"/>
                        </a:rPr>
                        <a:t>Monitoring, secrets, endpoints, ALB</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USD 200–400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 a Glue interface endpoint if Glue is the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
        <p:nvSpPr>
          <p:cNvPr id="10" name="Rounded Rectangle 9"/>
          <p:cNvSpPr/>
          <p:nvPr/>
        </p:nvSpPr>
        <p:spPr>
          <a:xfrm>
            <a:off x="411480" y="5486400"/>
            <a:ext cx="11365992" cy="822960"/>
          </a:xfrm>
          <a:prstGeom prst="roundRect">
            <a:avLst>
              <a:gd name="adj" fmla="val 6000"/>
            </a:avLst>
          </a:prstGeom>
          <a:solidFill>
            <a:srgbClr val="FFF4E6"/>
          </a:solidFill>
          <a:ln w="19050">
            <a:solidFill>
              <a:srgbClr val="E87A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486400"/>
            <a:ext cx="82296" cy="82296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541264"/>
            <a:ext cx="11000232" cy="71323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The bill is the same order of magnitude in either format:</a:t>
            </a:r>
            <a:r>
              <a:rPr sz="1300" b="0" i="0">
                <a:solidFill>
                  <a:srgbClr val="1C2433"/>
                </a:solidFill>
                <a:latin typeface="Calibri"/>
              </a:rPr>
              <a:t> storage dominates, and it is the same Parquet in the same tiers. The choice is about capability and operations, not cost.</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16</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Runbooks</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The daily load, a restatement, a slow table, a moved or replicated table, and the warnings to act on</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Runbooks: symptoms, causes, fixes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72</a:t>
            </a:r>
          </a:p>
        </p:txBody>
      </p:sp>
      <p:graphicFrame>
        <p:nvGraphicFramePr>
          <p:cNvPr id="9" name="Table 8"/>
          <p:cNvGraphicFramePr>
            <a:graphicFrameLocks noGrp="1"/>
          </p:cNvGraphicFramePr>
          <p:nvPr/>
        </p:nvGraphicFramePr>
        <p:xfrm>
          <a:off x="411480" y="1143000"/>
          <a:ext cx="11365991" cy="4889748"/>
        </p:xfrm>
        <a:graphic>
          <a:graphicData uri="http://schemas.openxmlformats.org/drawingml/2006/table">
            <a:tbl>
              <a:tblPr firstRow="1" bandRow="1">
                <a:tableStyleId>{5940675A-B579-460E-94D1-54222C63F5DA}</a:tableStyleId>
              </a:tblPr>
              <a:tblGrid>
                <a:gridCol w="3749039"/>
                <a:gridCol w="3840480"/>
                <a:gridCol w="3776472"/>
              </a:tblGrid>
              <a:tr h="415744">
                <a:tc>
                  <a:txBody>
                    <a:bodyPr wrap="square"/>
                    <a:lstStyle/>
                    <a:p>
                      <a:pPr algn="l">
                        <a:lnSpc>
                          <a:spcPct val="100000"/>
                        </a:lnSpc>
                      </a:pPr>
                      <a:r>
                        <a:rPr sz="1150" b="1" i="0">
                          <a:solidFill>
                            <a:srgbClr val="FFFFFF"/>
                          </a:solidFill>
                          <a:latin typeface="Calibri"/>
                        </a:rPr>
                        <a:t>Symptom</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Likely cause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150" b="1" i="0">
                          <a:solidFill>
                            <a:srgbClr val="FFFFFF"/>
                          </a:solidFill>
                          <a:latin typeface="Calibri"/>
                        </a:rPr>
                        <a:t>Fix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15744">
                <a:tc>
                  <a:txBody>
                    <a:bodyPr wrap="square"/>
                    <a:lstStyle/>
                    <a:p>
                      <a:pPr algn="l">
                        <a:lnSpc>
                          <a:spcPct val="100000"/>
                        </a:lnSpc>
                      </a:pPr>
                      <a:r>
                        <a:rPr sz="1050" b="1" i="0">
                          <a:solidFill>
                            <a:srgbClr val="0E7C86"/>
                          </a:solidFill>
                          <a:latin typeface="Consolas"/>
                        </a:rPr>
                        <a:t>DOWN: cannot reach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root, bucket or catalog namespace not reachable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check </a:t>
                      </a:r>
                      <a:r>
                        <a:rPr sz="1050" b="0" i="0">
                          <a:solidFill>
                            <a:srgbClr val="0E7C86"/>
                          </a:solidFill>
                          <a:latin typeface="Consolas"/>
                        </a:rPr>
                        <a:t>root</a:t>
                      </a:r>
                      <a:r>
                        <a:rPr sz="1150" b="0" i="0">
                          <a:solidFill>
                            <a:srgbClr val="1C2433"/>
                          </a:solidFill>
                          <a:latin typeface="Calibri"/>
                        </a:rPr>
                        <a:t> / </a:t>
                      </a:r>
                      <a:r>
                        <a:rPr sz="1050" b="0" i="0">
                          <a:solidFill>
                            <a:srgbClr val="0E7C86"/>
                          </a:solidFill>
                          <a:latin typeface="Consolas"/>
                        </a:rPr>
                        <a:t>uri</a:t>
                      </a:r>
                      <a:r>
                        <a:rPr sz="1150" b="0" i="0">
                          <a:solidFill>
                            <a:srgbClr val="1C2433"/>
                          </a:solidFill>
                          <a:latin typeface="Calibri"/>
                        </a:rPr>
                        <a:t>, the task role, </a:t>
                      </a:r>
                      <a:r>
                        <a:rPr sz="1050" b="0" i="0">
                          <a:solidFill>
                            <a:srgbClr val="0E7C86"/>
                          </a:solidFill>
                          <a:latin typeface="Consolas"/>
                        </a:rPr>
                        <a:t>s3.*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98821">
                <a:tc>
                  <a:txBody>
                    <a:bodyPr wrap="square"/>
                    <a:lstStyle/>
                    <a:p>
                      <a:pPr algn="l">
                        <a:lnSpc>
                          <a:spcPct val="100000"/>
                        </a:lnSpc>
                      </a:pPr>
                      <a:r>
                        <a:rPr sz="1050" b="1" i="0">
                          <a:solidFill>
                            <a:srgbClr val="0E7C86"/>
                          </a:solidFill>
                          <a:latin typeface="Consolas"/>
                        </a:rPr>
                        <a:t>DOWN: no Iceberg tables under …</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nothing loaded in that domain, or the wrong </a:t>
                      </a:r>
                      <a:r>
                        <a:rPr sz="1050" b="0" i="0">
                          <a:solidFill>
                            <a:srgbClr val="0E7C86"/>
                          </a:solidFill>
                          <a:latin typeface="Consolas"/>
                        </a:rPr>
                        <a:t>domain</a:t>
                      </a:r>
                      <a:r>
                        <a:rPr sz="1150" b="0" i="0">
                          <a:solidFill>
                            <a:srgbClr val="1C2433"/>
                          </a:solidFill>
                          <a:latin typeface="Calibri"/>
                        </a:rPr>
                        <a:t> / </a:t>
                      </a:r>
                      <a:r>
                        <a:rPr sz="1050" b="0" i="0">
                          <a:solidFill>
                            <a:srgbClr val="0E7C86"/>
                          </a:solidFill>
                          <a:latin typeface="Consolas"/>
                        </a:rPr>
                        <a:t>namespace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load it; check the domain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98821">
                <a:tc>
                  <a:txBody>
                    <a:bodyPr wrap="square"/>
                    <a:lstStyle/>
                    <a:p>
                      <a:pPr algn="l">
                        <a:lnSpc>
                          <a:spcPct val="100000"/>
                        </a:lnSpc>
                      </a:pPr>
                      <a:r>
                        <a:rPr sz="1150" b="1" i="0">
                          <a:solidFill>
                            <a:srgbClr val="1C2433"/>
                          </a:solidFill>
                          <a:latin typeface="Calibri"/>
                        </a:rPr>
                        <a:t>new data not visible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refresh has not run yet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wait </a:t>
                      </a:r>
                      <a:r>
                        <a:rPr sz="1050" b="0" i="0">
                          <a:solidFill>
                            <a:srgbClr val="0E7C86"/>
                          </a:solidFill>
                          <a:latin typeface="Consolas"/>
                        </a:rPr>
                        <a:t>refresh-seconds</a:t>
                      </a:r>
                      <a:r>
                        <a:rPr sz="1150" b="0" i="0">
                          <a:solidFill>
                            <a:srgbClr val="1C2433"/>
                          </a:solidFill>
                          <a:latin typeface="Calibri"/>
                        </a:rPr>
                        <a:t> (10) or send the data-load signal</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5744">
                <a:tc>
                  <a:txBody>
                    <a:bodyPr wrap="square"/>
                    <a:lstStyle/>
                    <a:p>
                      <a:pPr algn="l">
                        <a:lnSpc>
                          <a:spcPct val="100000"/>
                        </a:lnSpc>
                      </a:pPr>
                      <a:r>
                        <a:rPr sz="1150" b="1" i="0">
                          <a:solidFill>
                            <a:srgbClr val="1C2433"/>
                          </a:solidFill>
                          <a:latin typeface="Calibri"/>
                        </a:rPr>
                        <a:t>single reads slow, </a:t>
                      </a:r>
                      <a:r>
                        <a:rPr sz="1050" b="1" i="0">
                          <a:solidFill>
                            <a:srgbClr val="0E7C86"/>
                          </a:solidFill>
                          <a:latin typeface="Consolas"/>
                        </a:rPr>
                        <a:t>daysWithDeletes</a:t>
                      </a:r>
                      <a:r>
                        <a:rPr sz="1150" b="1" i="0">
                          <a:solidFill>
                            <a:srgbClr val="1C2433"/>
                          </a:solidFill>
                          <a:latin typeface="Calibri"/>
                        </a:rPr>
                        <a:t> &gt; 0</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another engine's equality deletes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050" b="0" i="0">
                          <a:solidFill>
                            <a:srgbClr val="0E7C86"/>
                          </a:solidFill>
                          <a:latin typeface="Consolas"/>
                        </a:rPr>
                        <a:t>IcebergMaintenance --relayout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598821">
                <a:tc>
                  <a:txBody>
                    <a:bodyPr wrap="square"/>
                    <a:lstStyle/>
                    <a:p>
                      <a:pPr algn="l">
                        <a:lnSpc>
                          <a:spcPct val="100000"/>
                        </a:lnSpc>
                      </a:pPr>
                      <a:r>
                        <a:rPr sz="1150" b="1" i="0">
                          <a:solidFill>
                            <a:srgbClr val="1C2433"/>
                          </a:solidFill>
                          <a:latin typeface="Calibri"/>
                        </a:rPr>
                        <a:t>single reads slow on another engine's table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large row groups or unsorted days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050" b="0" i="0">
                          <a:solidFill>
                            <a:srgbClr val="0E7C86"/>
                          </a:solidFill>
                          <a:latin typeface="Consolas"/>
                        </a:rPr>
                        <a:t>--relayout --force</a:t>
                      </a:r>
                      <a:r>
                        <a:rPr sz="1150" b="0" i="0">
                          <a:solidFill>
                            <a:srgbClr val="1C2433"/>
                          </a:solidFill>
                          <a:latin typeface="Calibri"/>
                        </a:rPr>
                        <a:t>, or that engine's sorted rewrite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15744">
                <a:tc>
                  <a:txBody>
                    <a:bodyPr wrap="square"/>
                    <a:lstStyle/>
                    <a:p>
                      <a:pPr algn="l">
                        <a:lnSpc>
                          <a:spcPct val="100000"/>
                        </a:lnSpc>
                      </a:pPr>
                      <a:r>
                        <a:rPr sz="1150" b="1" i="0">
                          <a:solidFill>
                            <a:srgbClr val="1C2433"/>
                          </a:solidFill>
                          <a:latin typeface="Calibri"/>
                        </a:rPr>
                        <a:t>searches say </a:t>
                      </a:r>
                      <a:r>
                        <a:rPr sz="1050" b="1" i="0">
                          <a:solidFill>
                            <a:srgbClr val="0E7C86"/>
                          </a:solidFill>
                          <a:latin typeface="Consolas"/>
                        </a:rPr>
                        <a:t>partial: true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 field the query reads is not promoted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add it to the layout, then </a:t>
                      </a:r>
                      <a:r>
                        <a:rPr sz="1050" b="0" i="0">
                          <a:solidFill>
                            <a:srgbClr val="0E7C86"/>
                          </a:solidFill>
                          <a:latin typeface="Consolas"/>
                        </a:rPr>
                        <a:t>--columns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5744">
                <a:tc>
                  <a:txBody>
                    <a:bodyPr wrap="square"/>
                    <a:lstStyle/>
                    <a:p>
                      <a:pPr algn="l">
                        <a:lnSpc>
                          <a:spcPct val="100000"/>
                        </a:lnSpc>
                      </a:pPr>
                      <a:r>
                        <a:rPr sz="1150" b="1" i="1">
                          <a:solidFill>
                            <a:srgbClr val="1C2433"/>
                          </a:solidFill>
                          <a:latin typeface="Calibri"/>
                        </a:rPr>
                        <a:t>known at</a:t>
                      </a:r>
                      <a:r>
                        <a:rPr sz="1150" b="1" i="0">
                          <a:solidFill>
                            <a:srgbClr val="1C2433"/>
                          </a:solidFill>
                          <a:latin typeface="Calibri"/>
                        </a:rPr>
                        <a:t> finds nothing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snapshots of that time were expired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keep more history (</a:t>
                      </a:r>
                      <a:r>
                        <a:rPr sz="1050" b="0" i="0">
                          <a:solidFill>
                            <a:srgbClr val="0E7C86"/>
                          </a:solidFill>
                          <a:latin typeface="Consolas"/>
                        </a:rPr>
                        <a:t>--expire-hours</a:t>
                      </a:r>
                      <a:r>
                        <a:rPr sz="1150" b="0" i="0">
                          <a:solidFill>
                            <a:srgbClr val="1C2433"/>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598821">
                <a:tc>
                  <a:txBody>
                    <a:bodyPr wrap="square"/>
                    <a:lstStyle/>
                    <a:p>
                      <a:pPr algn="l">
                        <a:lnSpc>
                          <a:spcPct val="100000"/>
                        </a:lnSpc>
                      </a:pPr>
                      <a:r>
                        <a:rPr sz="1150" b="1" i="0">
                          <a:solidFill>
                            <a:srgbClr val="1C2433"/>
                          </a:solidFill>
                          <a:latin typeface="Calibri"/>
                        </a:rPr>
                        <a:t>log: </a:t>
                      </a:r>
                      <a:r>
                        <a:rPr sz="1050" b="1" i="0">
                          <a:solidFill>
                            <a:srgbClr val="0E7C86"/>
                          </a:solidFill>
                          <a:latin typeface="Consolas"/>
                        </a:rPr>
                        <a:t>… does not honour conditional writes … single-writer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the store ignores </a:t>
                      </a:r>
                      <a:r>
                        <a:rPr sz="1050" b="0" i="0">
                          <a:solidFill>
                            <a:srgbClr val="0E7C86"/>
                          </a:solidFill>
                          <a:latin typeface="Consolas"/>
                        </a:rPr>
                        <a:t>If-None-Match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150" b="0" i="0">
                          <a:solidFill>
                            <a:srgbClr val="1C2433"/>
                          </a:solidFill>
                          <a:latin typeface="Calibri"/>
                        </a:rPr>
                        <a:t>one writer per table, or a REST catalog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15744">
                <a:tc>
                  <a:txBody>
                    <a:bodyPr wrap="square"/>
                    <a:lstStyle/>
                    <a:p>
                      <a:pPr algn="l">
                        <a:lnSpc>
                          <a:spcPct val="100000"/>
                        </a:lnSpc>
                      </a:pPr>
                      <a:r>
                        <a:rPr sz="1150" b="1" i="0">
                          <a:solidFill>
                            <a:srgbClr val="1C2433"/>
                          </a:solidFill>
                          <a:latin typeface="Calibri"/>
                        </a:rPr>
                        <a:t>loader: </a:t>
                      </a:r>
                      <a:r>
                        <a:rPr sz="1050" b="1" i="0">
                          <a:solidFill>
                            <a:srgbClr val="0E7C86"/>
                          </a:solidFill>
                          <a:latin typeface="Consolas"/>
                        </a:rPr>
                        <a:t>iceberg: the load failed: &lt;why&gt;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the first reason in the failure's chain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50" b="0" i="0">
                          <a:solidFill>
                            <a:srgbClr val="1C2433"/>
                          </a:solidFill>
                          <a:latin typeface="Calibri"/>
                        </a:rPr>
                        <a:t>fix and load the day again (idempotent)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Disaster recovery and moved tables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16</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73</a:t>
            </a:r>
          </a:p>
        </p:txBody>
      </p:sp>
      <p:graphicFrame>
        <p:nvGraphicFramePr>
          <p:cNvPr id="9" name="Table 8"/>
          <p:cNvGraphicFramePr>
            <a:graphicFrameLocks noGrp="1"/>
          </p:cNvGraphicFramePr>
          <p:nvPr/>
        </p:nvGraphicFramePr>
        <p:xfrm>
          <a:off x="411480" y="1143000"/>
          <a:ext cx="11365992" cy="3686858"/>
        </p:xfrm>
        <a:graphic>
          <a:graphicData uri="http://schemas.openxmlformats.org/drawingml/2006/table">
            <a:tbl>
              <a:tblPr firstRow="1" bandRow="1">
                <a:tableStyleId>{5940675A-B579-460E-94D1-54222C63F5DA}</a:tableStyleId>
              </a:tblPr>
              <a:tblGrid>
                <a:gridCol w="2926080"/>
                <a:gridCol w="6702552"/>
                <a:gridCol w="1737360"/>
              </a:tblGrid>
              <a:tr h="435254">
                <a:tc>
                  <a:txBody>
                    <a:bodyPr wrap="square"/>
                    <a:lstStyle/>
                    <a:p>
                      <a:pPr algn="l">
                        <a:lnSpc>
                          <a:spcPct val="100000"/>
                        </a:lnSpc>
                      </a:pPr>
                      <a:r>
                        <a:rPr sz="1200" b="1" i="0">
                          <a:solidFill>
                            <a:srgbClr val="FFFFFF"/>
                          </a:solidFill>
                          <a:latin typeface="Calibri"/>
                        </a:rPr>
                        <a:t>Event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How to recover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Status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A wrong commit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1">
                          <a:solidFill>
                            <a:srgbClr val="1C2433"/>
                          </a:solidFill>
                          <a:latin typeface="Calibri"/>
                        </a:rPr>
                        <a:t>known at</a:t>
                      </a:r>
                      <a:r>
                        <a:rPr sz="1200" b="0" i="0">
                          <a:solidFill>
                            <a:srgbClr val="1C2433"/>
                          </a:solidFill>
                          <a:latin typeface="Calibri"/>
                        </a:rPr>
                        <a:t> reads the snapshot before it; restate the days from the landing bucket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Files deleted by mistake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S3 versioning: restore noncurrent versions within 14 days (as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(bucket)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A table moved or copied (a laptop, another bucket)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relocate: '&lt;old&gt; -&gt; &lt;new&gt;'</a:t>
                      </a:r>
                      <a:r>
                        <a:rPr sz="1200" b="0" i="0">
                          <a:solidFill>
                            <a:srgbClr val="1C2433"/>
                          </a:solidFill>
                          <a:latin typeface="Calibri"/>
                        </a:rPr>
                        <a:t>, the pair Health gives; the library engine ignores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1" i="0">
                          <a:solidFill>
                            <a:srgbClr val="2E7D32"/>
                          </a:solidFill>
                          <a:latin typeface="Calibri"/>
                        </a:rPr>
                        <a:t>BUILT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48614">
                <a:tc>
                  <a:txBody>
                    <a:bodyPr wrap="square"/>
                    <a:lstStyle/>
                    <a:p>
                      <a:pPr algn="l">
                        <a:lnSpc>
                          <a:spcPct val="100000"/>
                        </a:lnSpc>
                      </a:pPr>
                      <a:r>
                        <a:rPr sz="1200" b="1" i="0">
                          <a:solidFill>
                            <a:srgbClr val="1C2433"/>
                          </a:solidFill>
                          <a:latin typeface="Calibri"/>
                        </a:rPr>
                        <a:t>A Region lost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CRR of the lake bucket; read the replica with </a:t>
                      </a:r>
                      <a:r>
                        <a:rPr sz="1100" b="0" i="0">
                          <a:solidFill>
                            <a:srgbClr val="0E7C86"/>
                          </a:solidFill>
                          <a:latin typeface="Consolas"/>
                        </a:rPr>
                        <a:t>relocate: 's3://prod/… -&gt; s3://dr/…'</a:t>
                      </a:r>
                      <a:r>
                        <a:rPr sz="1200" b="0" i="0">
                          <a:solidFill>
                            <a:srgbClr val="1C2433"/>
                          </a:solidFill>
                          <a:latin typeface="Calibri"/>
                        </a:rPr>
                        <a:t> once the backlog is empty</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5B677A"/>
                          </a:solidFill>
                          <a:latin typeface="Calibri"/>
                        </a:rPr>
                        <a:t>PROPOSED</a:t>
                      </a:r>
                      <a:r>
                        <a:rPr sz="1200" b="0" i="0">
                          <a:solidFill>
                            <a:srgbClr val="1C2433"/>
                          </a:solidFill>
                          <a:latin typeface="Calibri"/>
                        </a:rPr>
                        <a:t> (test)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48614">
                <a:tc>
                  <a:txBody>
                    <a:bodyPr wrap="square"/>
                    <a:lstStyle/>
                    <a:p>
                      <a:pPr algn="l">
                        <a:lnSpc>
                          <a:spcPct val="100000"/>
                        </a:lnSpc>
                      </a:pPr>
                      <a:r>
                        <a:rPr sz="1200" b="1" i="0">
                          <a:solidFill>
                            <a:srgbClr val="1C2433"/>
                          </a:solidFill>
                          <a:latin typeface="Calibri"/>
                        </a:rPr>
                        <a:t>A commit arrived before its files (replication)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that day fails to read until the files arrive; other days unaffected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as Delta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Node state lost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AWS Backup of EFS; caches rebuild from the lake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1" i="0">
                          <a:solidFill>
                            <a:srgbClr val="2E7D32"/>
                          </a:solidFill>
                          <a:latin typeface="Calibri"/>
                        </a:rPr>
                        <a:t>BUILT</a:t>
                      </a:r>
                      <a:r>
                        <a:rPr sz="1200" b="0" i="0">
                          <a:solidFill>
                            <a:srgbClr val="1C2433"/>
                          </a:solidFill>
                          <a:latin typeface="Calibri"/>
                        </a:rPr>
                        <a:t> (scripts)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
        <p:nvSpPr>
          <p:cNvPr id="10" name="Rounded Rectangle 9"/>
          <p:cNvSpPr/>
          <p:nvPr/>
        </p:nvSpPr>
        <p:spPr>
          <a:xfrm>
            <a:off x="411480" y="5349240"/>
            <a:ext cx="11365992" cy="960120"/>
          </a:xfrm>
          <a:prstGeom prst="roundRect">
            <a:avLst>
              <a:gd name="adj" fmla="val 6000"/>
            </a:avLst>
          </a:prstGeom>
          <a:solidFill>
            <a:srgbClr val="FDECEA"/>
          </a:solidFill>
          <a:ln w="19050">
            <a:solidFill>
              <a:srgbClr val="B3261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ectangle 10"/>
          <p:cNvSpPr/>
          <p:nvPr/>
        </p:nvSpPr>
        <p:spPr>
          <a:xfrm>
            <a:off x="411480" y="5349240"/>
            <a:ext cx="82296" cy="960120"/>
          </a:xfrm>
          <a:prstGeom prst="rect">
            <a:avLst/>
          </a:prstGeom>
          <a:solidFill>
            <a:srgbClr val="B326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080" y="5404103"/>
            <a:ext cx="11000232" cy="850392"/>
          </a:xfrm>
          <a:prstGeom prst="rect">
            <a:avLst/>
          </a:prstGeom>
          <a:noFill/>
        </p:spPr>
        <p:txBody>
          <a:bodyPr wrap="square" lIns="45720" rIns="45720" tIns="27432" bIns="27432" anchor="ctr">
            <a:spAutoFit/>
          </a:bodyPr>
          <a:lstStyle/>
          <a:p>
            <a:pPr algn="l">
              <a:lnSpc>
                <a:spcPct val="105000"/>
              </a:lnSpc>
            </a:pPr>
            <a:r>
              <a:rPr sz="1300" b="1" i="0">
                <a:solidFill>
                  <a:srgbClr val="1C2433"/>
                </a:solidFill>
                <a:latin typeface="Calibri"/>
              </a:rPr>
              <a:t>The Iceberg-specific DR rule:</a:t>
            </a:r>
            <a:r>
              <a:rPr sz="1300" b="0" i="0">
                <a:solidFill>
                  <a:srgbClr val="1C2433"/>
                </a:solidFill>
                <a:latin typeface="Calibri"/>
              </a:rPr>
              <a:t> absolute paths make a copy a different table until </a:t>
            </a:r>
            <a:r>
              <a:rPr sz="1200" b="0" i="0">
                <a:solidFill>
                  <a:srgbClr val="0E7C86"/>
                </a:solidFill>
                <a:latin typeface="Consolas"/>
              </a:rPr>
              <a:t>relocate</a:t>
            </a:r>
            <a:r>
              <a:rPr sz="1300" b="0" i="0">
                <a:solidFill>
                  <a:srgbClr val="1C2433"/>
                </a:solidFill>
                <a:latin typeface="Calibri"/>
              </a:rPr>
              <a:t> maps it; with a REST catalog, the catalog's metadata location must be repointed in the recovery Region too.</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TextBox 2"/>
          <p:cNvSpPr txBox="1"/>
          <p:nvPr/>
        </p:nvSpPr>
        <p:spPr>
          <a:xfrm>
            <a:off x="731520" y="1828800"/>
            <a:ext cx="10058400" cy="914400"/>
          </a:xfrm>
          <a:prstGeom prst="rect">
            <a:avLst/>
          </a:prstGeom>
          <a:noFill/>
        </p:spPr>
        <p:txBody>
          <a:bodyPr wrap="square" lIns="45720" rIns="45720" tIns="27432" bIns="27432" anchor="t">
            <a:spAutoFit/>
          </a:bodyPr>
          <a:lstStyle/>
          <a:p>
            <a:pPr algn="l">
              <a:lnSpc>
                <a:spcPct val="105000"/>
              </a:lnSpc>
            </a:pPr>
            <a:r>
              <a:rPr sz="5400" b="1" i="0">
                <a:solidFill>
                  <a:srgbClr val="E87A1E"/>
                </a:solidFill>
                <a:latin typeface="Calibri"/>
              </a:rPr>
              <a:t>17</a:t>
            </a:r>
          </a:p>
        </p:txBody>
      </p:sp>
      <p:sp>
        <p:nvSpPr>
          <p:cNvPr id="4" name="TextBox 3"/>
          <p:cNvSpPr txBox="1"/>
          <p:nvPr/>
        </p:nvSpPr>
        <p:spPr>
          <a:xfrm>
            <a:off x="731520" y="2514600"/>
            <a:ext cx="10515600" cy="731520"/>
          </a:xfrm>
          <a:prstGeom prst="rect">
            <a:avLst/>
          </a:prstGeom>
          <a:noFill/>
        </p:spPr>
        <p:txBody>
          <a:bodyPr wrap="square" lIns="45720" rIns="45720" tIns="27432" bIns="27432" anchor="t">
            <a:spAutoFit/>
          </a:bodyPr>
          <a:lstStyle/>
          <a:p>
            <a:pPr algn="l">
              <a:lnSpc>
                <a:spcPct val="105000"/>
              </a:lnSpc>
            </a:pPr>
            <a:r>
              <a:rPr sz="3600" b="1" i="0">
                <a:solidFill>
                  <a:srgbClr val="FFFFFF"/>
                </a:solidFill>
                <a:latin typeface="Calibri"/>
              </a:rPr>
              <a:t>Limits and what comes next</a:t>
            </a:r>
          </a:p>
        </p:txBody>
      </p:sp>
      <p:sp>
        <p:nvSpPr>
          <p:cNvPr id="5" name="Rectangle 4"/>
          <p:cNvSpPr/>
          <p:nvPr/>
        </p:nvSpPr>
        <p:spPr>
          <a:xfrm>
            <a:off x="731520" y="3246120"/>
            <a:ext cx="1097280" cy="64008"/>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31520" y="3474720"/>
            <a:ext cx="10515600" cy="1463040"/>
          </a:xfrm>
          <a:prstGeom prst="rect">
            <a:avLst/>
          </a:prstGeom>
          <a:noFill/>
        </p:spPr>
        <p:txBody>
          <a:bodyPr wrap="square" lIns="45720" rIns="45720" tIns="27432" bIns="27432" anchor="t">
            <a:spAutoFit/>
          </a:bodyPr>
          <a:lstStyle/>
          <a:p>
            <a:pPr algn="l">
              <a:lnSpc>
                <a:spcPct val="105000"/>
              </a:lnSpc>
            </a:pPr>
            <a:r>
              <a:rPr sz="1600" b="0" i="0">
                <a:solidFill>
                  <a:srgbClr val="C9D3E3"/>
                </a:solidFill>
                <a:latin typeface="Calibri"/>
              </a:rPr>
              <a:t>What is not yet proven, known limits, the decisions to take, and where to read more</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Limits and what comes next</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section 17</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75</a:t>
            </a:r>
          </a:p>
        </p:txBody>
      </p:sp>
      <p:sp>
        <p:nvSpPr>
          <p:cNvPr id="9" name="TextBox 8"/>
          <p:cNvSpPr txBox="1"/>
          <p:nvPr/>
        </p:nvSpPr>
        <p:spPr>
          <a:xfrm>
            <a:off x="411480" y="1188720"/>
            <a:ext cx="11365992" cy="5120640"/>
          </a:xfrm>
          <a:prstGeom prst="rect">
            <a:avLst/>
          </a:prstGeom>
          <a:noFill/>
        </p:spPr>
        <p:txBody>
          <a:bodyPr wrap="square" lIns="45720" rIns="45720" tIns="27432" bIns="27432" anchor="t">
            <a:spAutoFit/>
          </a:bodyPr>
          <a:lstStyle/>
          <a:p>
            <a:pPr algn="l">
              <a:lnSpc>
                <a:spcPct val="105000"/>
              </a:lnSpc>
              <a:spcAft>
                <a:spcPts val="1100"/>
              </a:spcAft>
            </a:pPr>
            <a:r>
              <a:rPr sz="1550" b="0" i="0">
                <a:solidFill>
                  <a:srgbClr val="E87A1E"/>
                </a:solidFill>
                <a:latin typeface="Calibri"/>
              </a:rPr>
              <a:t>•  </a:t>
            </a:r>
            <a:r>
              <a:rPr sz="1550" b="1" i="0">
                <a:solidFill>
                  <a:srgbClr val="1C2433"/>
                </a:solidFill>
                <a:latin typeface="Calibri"/>
              </a:rPr>
              <a:t>Not yet run in AWS.</a:t>
            </a:r>
            <a:r>
              <a:rPr sz="1550" b="0" i="0">
                <a:solidFill>
                  <a:srgbClr val="1C2433"/>
                </a:solidFill>
                <a:latin typeface="Calibri"/>
              </a:rPr>
              <a:t> No Iceberg table written to a real S3 bucket; Glue's REST endpoint never called; S3 Tables untried</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Risk workloads are Delta only:</a:t>
            </a:r>
            <a:r>
              <a:rPr sz="1550" b="0" i="0">
                <a:solidFill>
                  <a:srgbClr val="1C2433"/>
                </a:solidFill>
                <a:latin typeface="Calibri"/>
              </a:rPr>
              <a:t> VaR and exposure vectors, official results (and no publishing to </a:t>
            </a:r>
            <a:r>
              <a:rPr sz="1450" b="0" i="0">
                <a:solidFill>
                  <a:srgbClr val="0E7C86"/>
                </a:solidFill>
                <a:latin typeface="Consolas"/>
              </a:rPr>
              <a:t>s3://</a:t>
            </a:r>
            <a:r>
              <a:rPr sz="1550" b="0" i="0">
                <a:solidFill>
                  <a:srgbClr val="1C2433"/>
                </a:solidFill>
                <a:latin typeface="Calibri"/>
              </a:rPr>
              <a:t> in either format)</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No AWS scripts for Iceberg:</a:t>
            </a:r>
            <a:r>
              <a:rPr sz="1550" b="0" i="0">
                <a:solidFill>
                  <a:srgbClr val="1C2433"/>
                </a:solidFill>
                <a:latin typeface="Calibri"/>
              </a:rPr>
              <a:t> load, backfill, maintain, lifecycle prefixes, alarms and report are Delta-shaped</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Maintenance gaps:</a:t>
            </a:r>
            <a:r>
              <a:rPr sz="1550" b="0" i="0">
                <a:solidFill>
                  <a:srgbClr val="1C2433"/>
                </a:solidFill>
                <a:latin typeface="Calibri"/>
              </a:rPr>
              <a:t> no orphan-file removal, no Admin → Lakes, no 7-year floor for Iceberg risk tables</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Spec gaps, refused by name:</a:t>
            </a:r>
            <a:r>
              <a:rPr sz="1550" b="0" i="0">
                <a:solidFill>
                  <a:srgbClr val="1C2433"/>
                </a:solidFill>
                <a:latin typeface="Calibri"/>
              </a:rPr>
              <a:t> format v3 (deletion vectors, new types), encrypted tables, ORC and Avro data files, branches and tags</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Native engine reaches local disk and S3 only;</a:t>
            </a:r>
            <a:r>
              <a:rPr sz="1550" b="0" i="0">
                <a:solidFill>
                  <a:srgbClr val="1C2433"/>
                </a:solidFill>
                <a:latin typeface="Calibri"/>
              </a:rPr>
              <a:t> Azure, GCS, HDFS need </a:t>
            </a:r>
            <a:r>
              <a:rPr sz="1450" b="0" i="0">
                <a:solidFill>
                  <a:srgbClr val="0E7C86"/>
                </a:solidFill>
                <a:latin typeface="Consolas"/>
              </a:rPr>
              <a:t>engine: library</a:t>
            </a:r>
            <a:r>
              <a:rPr sz="1550" b="0" i="0">
                <a:solidFill>
                  <a:srgbClr val="1C2433"/>
                </a:solidFill>
                <a:latin typeface="Calibri"/>
              </a:rPr>
              <a:t> (Hadoop)</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Cluster:</a:t>
            </a:r>
            <a:r>
              <a:rPr sz="1550" b="0" i="0">
                <a:solidFill>
                  <a:srgbClr val="1C2433"/>
                </a:solidFill>
                <a:latin typeface="Calibri"/>
              </a:rPr>
              <a:t> Iceberg reports no table identity to Drishti*net; VaR sharding across a cluster of Drishti servers is designed, not built</a:t>
            </a:r>
          </a:p>
          <a:p>
            <a:pPr algn="l">
              <a:lnSpc>
                <a:spcPct val="105000"/>
              </a:lnSpc>
              <a:spcAft>
                <a:spcPts val="1100"/>
              </a:spcAft>
            </a:pPr>
            <a:r>
              <a:rPr sz="1550" b="0" i="0">
                <a:solidFill>
                  <a:srgbClr val="E87A1E"/>
                </a:solidFill>
                <a:latin typeface="Calibri"/>
              </a:rPr>
              <a:t>•  </a:t>
            </a:r>
            <a:r>
              <a:rPr sz="1550" b="1" i="0">
                <a:solidFill>
                  <a:srgbClr val="1C2433"/>
                </a:solidFill>
                <a:latin typeface="Calibri"/>
              </a:rPr>
              <a:t>Doc fixes to make:</a:t>
            </a:r>
            <a:r>
              <a:rPr sz="1550" b="0" i="0">
                <a:solidFill>
                  <a:srgbClr val="1C2433"/>
                </a:solidFill>
                <a:latin typeface="Calibri"/>
              </a:rPr>
              <a:t> ICEBERG_CONNECTOR.md section 4 (path tables on S3 'need a single writer': true only of the library engine); VAR_GUIDE.md 29.3 (Iceberg 'the same list&lt;double&gt; column': not for VaR's reads)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Decisions and actions for the product owner</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summary</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76</a:t>
            </a:r>
          </a:p>
        </p:txBody>
      </p:sp>
      <p:graphicFrame>
        <p:nvGraphicFramePr>
          <p:cNvPr id="9" name="Table 8"/>
          <p:cNvGraphicFramePr>
            <a:graphicFrameLocks noGrp="1"/>
          </p:cNvGraphicFramePr>
          <p:nvPr/>
        </p:nvGraphicFramePr>
        <p:xfrm>
          <a:off x="411480" y="1143000"/>
          <a:ext cx="11365992" cy="3986986"/>
        </p:xfrm>
        <a:graphic>
          <a:graphicData uri="http://schemas.openxmlformats.org/drawingml/2006/table">
            <a:tbl>
              <a:tblPr firstRow="1" bandRow="1">
                <a:tableStyleId>{5940675A-B579-460E-94D1-54222C63F5DA}</a:tableStyleId>
              </a:tblPr>
              <a:tblGrid>
                <a:gridCol w="457200"/>
                <a:gridCol w="4572000"/>
                <a:gridCol w="6336792"/>
              </a:tblGrid>
              <a:tr h="435254">
                <a:tc>
                  <a:txBody>
                    <a:bodyPr wrap="square"/>
                    <a:lstStyle/>
                    <a:p>
                      <a:pPr algn="l">
                        <a:lnSpc>
                          <a:spcPct val="100000"/>
                        </a:lnSpc>
                      </a:pPr>
                      <a:r>
                        <a:rPr sz="1250" b="1" i="0">
                          <a:solidFill>
                            <a:srgbClr val="FFFFFF"/>
                          </a:solidFill>
                          <a:latin typeface="Calibri"/>
                        </a:rPr>
                        <a: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Decision or action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50" b="1" i="0">
                          <a:solidFill>
                            <a:srgbClr val="FFFFFF"/>
                          </a:solidFill>
                          <a:latin typeface="Calibri"/>
                        </a:rPr>
                        <a:t>Recommendation</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670306">
                <a:tc>
                  <a:txBody>
                    <a:bodyPr wrap="square"/>
                    <a:lstStyle/>
                    <a:p>
                      <a:pPr algn="l">
                        <a:lnSpc>
                          <a:spcPct val="100000"/>
                        </a:lnSpc>
                      </a:pPr>
                      <a:r>
                        <a:rPr sz="1250" b="1" i="0">
                          <a:solidFill>
                            <a:srgbClr val="1C2433"/>
                          </a:solidFill>
                          <a:latin typeface="Calibri"/>
                        </a:rPr>
                        <a:t>1</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Which format for the </a:t>
                      </a:r>
                      <a:r>
                        <a:rPr sz="1250" b="1" i="0">
                          <a:solidFill>
                            <a:srgbClr val="1C2433"/>
                          </a:solidFill>
                          <a:latin typeface="Calibri"/>
                        </a:rPr>
                        <a:t>risk domain</a:t>
                      </a:r>
                      <a:r>
                        <a:rPr sz="1250" b="0" i="0">
                          <a:solidFill>
                            <a:srgbClr val="1C2433"/>
                          </a:solidFill>
                          <a:latin typeface="Calibri"/>
                        </a:rPr>
                        <a:t> (vectors, official results)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Delta now; Iceberg after the plugin's </a:t>
                      </a:r>
                      <a:r>
                        <a:rPr sz="1150" b="0" i="0">
                          <a:solidFill>
                            <a:srgbClr val="0E7C86"/>
                          </a:solidFill>
                          <a:latin typeface="Consolas"/>
                        </a:rPr>
                        <a:t>vectors()</a:t>
                      </a:r>
                      <a:r>
                        <a:rPr sz="1250" b="0" i="0">
                          <a:solidFill>
                            <a:srgbClr val="1C2433"/>
                          </a:solidFill>
                          <a:latin typeface="Calibri"/>
                        </a:rPr>
                        <a:t> and an Iceberg publisher exist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50" b="1" i="0">
                          <a:solidFill>
                            <a:srgbClr val="1C2433"/>
                          </a:solidFill>
                          <a:latin typeface="Calibri"/>
                        </a:rPr>
                        <a:t>2</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Which format for </a:t>
                      </a:r>
                      <a:r>
                        <a:rPr sz="1250" b="1" i="0">
                          <a:solidFill>
                            <a:srgbClr val="1C2433"/>
                          </a:solidFill>
                          <a:latin typeface="Calibri"/>
                        </a:rPr>
                        <a:t>trades and reference data</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either, per source system; Iceberg where the bank's pipelines already write it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670306">
                <a:tc>
                  <a:txBody>
                    <a:bodyPr wrap="square"/>
                    <a:lstStyle/>
                    <a:p>
                      <a:pPr algn="l">
                        <a:lnSpc>
                          <a:spcPct val="100000"/>
                        </a:lnSpc>
                      </a:pPr>
                      <a:r>
                        <a:rPr sz="1250" b="1" i="0">
                          <a:solidFill>
                            <a:srgbClr val="1C2433"/>
                          </a:solidFill>
                          <a:latin typeface="Calibri"/>
                        </a:rPr>
                        <a:t>3</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The </a:t>
                      </a:r>
                      <a:r>
                        <a:rPr sz="1250" b="1" i="0">
                          <a:solidFill>
                            <a:srgbClr val="1C2433"/>
                          </a:solidFill>
                          <a:latin typeface="Calibri"/>
                        </a:rPr>
                        <a:t>catalog</a:t>
                      </a:r>
                      <a:r>
                        <a:rPr sz="1250" b="0" i="0">
                          <a:solidFill>
                            <a:srgbClr val="1C2433"/>
                          </a:solidFill>
                          <a:latin typeface="Calibri"/>
                        </a:rPr>
                        <a:t> on AWS for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path-based first; Glue's REST endpoint when Athena or Spark must share the tables; S3 Tables only after a proof</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70306">
                <a:tc>
                  <a:txBody>
                    <a:bodyPr wrap="square"/>
                    <a:lstStyle/>
                    <a:p>
                      <a:pPr algn="l">
                        <a:lnSpc>
                          <a:spcPct val="100000"/>
                        </a:lnSpc>
                      </a:pPr>
                      <a:r>
                        <a:rPr sz="1250" b="1" i="0">
                          <a:solidFill>
                            <a:srgbClr val="1C2433"/>
                          </a:solidFill>
                          <a:latin typeface="Calibri"/>
                        </a:rPr>
                        <a:t>4</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First real run in a </a:t>
                      </a:r>
                      <a:r>
                        <a:rPr sz="1250" b="1" i="0">
                          <a:solidFill>
                            <a:srgbClr val="1C2433"/>
                          </a:solidFill>
                          <a:latin typeface="Calibri"/>
                        </a:rPr>
                        <a:t>development AWS account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Delta steps 0–11 and an Iceberg load and read of one table, with </a:t>
                      </a:r>
                      <a:r>
                        <a:rPr sz="1150" b="0" i="0">
                          <a:solidFill>
                            <a:srgbClr val="0E7C86"/>
                          </a:solidFill>
                          <a:latin typeface="Consolas"/>
                        </a:rPr>
                        <a:t>check-conditional-writes.sh</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50" b="1" i="0">
                          <a:solidFill>
                            <a:srgbClr val="1C2433"/>
                          </a:solidFill>
                          <a:latin typeface="Calibri"/>
                        </a:rPr>
                        <a:t>5</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Close the Iceberg gaps (section 12's list of six)</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50" b="0" i="0">
                          <a:solidFill>
                            <a:srgbClr val="1C2433"/>
                          </a:solidFill>
                          <a:latin typeface="Calibri"/>
                        </a:rPr>
                        <a:t>as one wave: plugin methods, AWS scripts, maintenance, identity, publishing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670306">
                <a:tc>
                  <a:txBody>
                    <a:bodyPr wrap="square"/>
                    <a:lstStyle/>
                    <a:p>
                      <a:pPr algn="l">
                        <a:lnSpc>
                          <a:spcPct val="100000"/>
                        </a:lnSpc>
                      </a:pPr>
                      <a:r>
                        <a:rPr sz="1250" b="1" i="0">
                          <a:solidFill>
                            <a:srgbClr val="1C2433"/>
                          </a:solidFill>
                          <a:latin typeface="Calibri"/>
                        </a:rPr>
                        <a:t>6</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Seven-year history on Iceberg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50" b="0" i="0">
                          <a:solidFill>
                            <a:srgbClr val="1C2433"/>
                          </a:solidFill>
                          <a:latin typeface="Calibri"/>
                        </a:rPr>
                        <a:t>keep full-run snapshots, expire intraday ones; measure metadata at 2,000+ snapshots first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 name="Rectangle 2"/>
          <p:cNvSpPr/>
          <p:nvPr/>
        </p:nvSpPr>
        <p:spPr>
          <a:xfrm>
            <a:off x="0" y="0"/>
            <a:ext cx="12191695" cy="868680"/>
          </a:xfrm>
          <a:prstGeom prst="rect">
            <a:avLst/>
          </a:prstGeom>
          <a:solidFill>
            <a:srgbClr val="0B1E3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Rectangle 3"/>
          <p:cNvSpPr/>
          <p:nvPr/>
        </p:nvSpPr>
        <p:spPr>
          <a:xfrm>
            <a:off x="0" y="868680"/>
            <a:ext cx="12191695" cy="45720"/>
          </a:xfrm>
          <a:prstGeom prst="rect">
            <a:avLst/>
          </a:prstGeom>
          <a:solidFill>
            <a:srgbClr val="E87A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411480" y="109728"/>
            <a:ext cx="8778240" cy="685800"/>
          </a:xfrm>
          <a:prstGeom prst="rect">
            <a:avLst/>
          </a:prstGeom>
          <a:noFill/>
        </p:spPr>
        <p:txBody>
          <a:bodyPr wrap="square" lIns="45720" rIns="45720" tIns="27432" bIns="27432" anchor="ctr">
            <a:spAutoFit/>
          </a:bodyPr>
          <a:lstStyle/>
          <a:p>
            <a:pPr algn="l">
              <a:lnSpc>
                <a:spcPct val="105000"/>
              </a:lnSpc>
            </a:pPr>
            <a:r>
              <a:rPr sz="2600" b="1" i="0">
                <a:solidFill>
                  <a:srgbClr val="FFFFFF"/>
                </a:solidFill>
                <a:latin typeface="Calibri"/>
              </a:rPr>
              <a:t>Related documents</a:t>
            </a:r>
          </a:p>
        </p:txBody>
      </p:sp>
      <p:sp>
        <p:nvSpPr>
          <p:cNvPr id="6" name="TextBox 5"/>
          <p:cNvSpPr txBox="1"/>
          <p:nvPr/>
        </p:nvSpPr>
        <p:spPr>
          <a:xfrm>
            <a:off x="8412480" y="109728"/>
            <a:ext cx="3429000" cy="685800"/>
          </a:xfrm>
          <a:prstGeom prst="rect">
            <a:avLst/>
          </a:prstGeom>
          <a:noFill/>
        </p:spPr>
        <p:txBody>
          <a:bodyPr wrap="square" lIns="45720" rIns="45720" tIns="27432" bIns="27432" anchor="ctr">
            <a:spAutoFit/>
          </a:bodyPr>
          <a:lstStyle/>
          <a:p>
            <a:pPr algn="r">
              <a:lnSpc>
                <a:spcPct val="105000"/>
              </a:lnSpc>
            </a:pPr>
            <a:r>
              <a:rPr sz="1100" b="0" i="0">
                <a:solidFill>
                  <a:srgbClr val="C9D3E3"/>
                </a:solidFill>
                <a:latin typeface="Calibri"/>
              </a:rPr>
              <a:t>references</a:t>
            </a:r>
          </a:p>
        </p:txBody>
      </p:sp>
      <p:sp>
        <p:nvSpPr>
          <p:cNvPr id="7" name="TextBox 6"/>
          <p:cNvSpPr txBox="1"/>
          <p:nvPr/>
        </p:nvSpPr>
        <p:spPr>
          <a:xfrm>
            <a:off x="411480" y="6510528"/>
            <a:ext cx="9601200" cy="274320"/>
          </a:xfrm>
          <a:prstGeom prst="rect">
            <a:avLst/>
          </a:prstGeom>
          <a:noFill/>
        </p:spPr>
        <p:txBody>
          <a:bodyPr wrap="square" lIns="45720" rIns="45720" tIns="27432" bIns="27432" anchor="t">
            <a:spAutoFit/>
          </a:bodyPr>
          <a:lstStyle/>
          <a:p>
            <a:pPr algn="l">
              <a:lnSpc>
                <a:spcPct val="105000"/>
              </a:lnSpc>
            </a:pPr>
            <a:r>
              <a:rPr sz="900" b="0" i="0">
                <a:solidFill>
                  <a:srgbClr val="5B677A"/>
                </a:solidFill>
                <a:latin typeface="Calibri"/>
              </a:rPr>
              <a:t>Drishti · Drishti on AWS with Apache Iceberg · sources: DRISHTI_ICEBERG.md, ICEBERG_CONNECTOR.md, AWS_DELTA_LAKE.md</a:t>
            </a:r>
          </a:p>
        </p:txBody>
      </p:sp>
      <p:sp>
        <p:nvSpPr>
          <p:cNvPr id="8" name="TextBox 7"/>
          <p:cNvSpPr txBox="1"/>
          <p:nvPr/>
        </p:nvSpPr>
        <p:spPr>
          <a:xfrm>
            <a:off x="11091672" y="6510528"/>
            <a:ext cx="731520" cy="274320"/>
          </a:xfrm>
          <a:prstGeom prst="rect">
            <a:avLst/>
          </a:prstGeom>
          <a:noFill/>
        </p:spPr>
        <p:txBody>
          <a:bodyPr wrap="square" lIns="45720" rIns="45720" tIns="27432" bIns="27432" anchor="t">
            <a:spAutoFit/>
          </a:bodyPr>
          <a:lstStyle/>
          <a:p>
            <a:pPr algn="r">
              <a:lnSpc>
                <a:spcPct val="105000"/>
              </a:lnSpc>
            </a:pPr>
            <a:r>
              <a:rPr sz="900" b="0" i="0">
                <a:solidFill>
                  <a:srgbClr val="5B677A"/>
                </a:solidFill>
                <a:latin typeface="Calibri"/>
              </a:rPr>
              <a:t>77</a:t>
            </a:r>
          </a:p>
        </p:txBody>
      </p:sp>
      <p:graphicFrame>
        <p:nvGraphicFramePr>
          <p:cNvPr id="9" name="Table 8"/>
          <p:cNvGraphicFramePr>
            <a:graphicFrameLocks noGrp="1"/>
          </p:cNvGraphicFramePr>
          <p:nvPr/>
        </p:nvGraphicFramePr>
        <p:xfrm>
          <a:off x="411480" y="1143000"/>
          <a:ext cx="11365992" cy="4787794"/>
        </p:xfrm>
        <a:graphic>
          <a:graphicData uri="http://schemas.openxmlformats.org/drawingml/2006/table">
            <a:tbl>
              <a:tblPr firstRow="1" bandRow="1">
                <a:tableStyleId>{5940675A-B579-460E-94D1-54222C63F5DA}</a:tableStyleId>
              </a:tblPr>
              <a:tblGrid>
                <a:gridCol w="4206240"/>
                <a:gridCol w="7159752"/>
              </a:tblGrid>
              <a:tr h="435254">
                <a:tc>
                  <a:txBody>
                    <a:bodyPr wrap="square"/>
                    <a:lstStyle/>
                    <a:p>
                      <a:pPr algn="l">
                        <a:lnSpc>
                          <a:spcPct val="100000"/>
                        </a:lnSpc>
                      </a:pPr>
                      <a:r>
                        <a:rPr sz="1200" b="1" i="0">
                          <a:solidFill>
                            <a:srgbClr val="FFFFFF"/>
                          </a:solidFill>
                          <a:latin typeface="Calibri"/>
                        </a:rPr>
                        <a:t>Document</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c>
                  <a:txBody>
                    <a:bodyPr wrap="square"/>
                    <a:lstStyle/>
                    <a:p>
                      <a:pPr algn="l">
                        <a:lnSpc>
                          <a:spcPct val="100000"/>
                        </a:lnSpc>
                      </a:pPr>
                      <a:r>
                        <a:rPr sz="1200" b="1" i="0">
                          <a:solidFill>
                            <a:srgbClr val="FFFFFF"/>
                          </a:solidFill>
                          <a:latin typeface="Calibri"/>
                        </a:rPr>
                        <a:t>What it holds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0B1E3B"/>
                    </a:solidFill>
                  </a:tcPr>
                </a:tc>
              </a:tr>
              <a:tr h="435254">
                <a:tc>
                  <a:txBody>
                    <a:bodyPr wrap="square"/>
                    <a:lstStyle/>
                    <a:p>
                      <a:pPr algn="l">
                        <a:lnSpc>
                          <a:spcPct val="100000"/>
                        </a:lnSpc>
                      </a:pPr>
                      <a:r>
                        <a:rPr sz="1200" b="1" i="0">
                          <a:solidFill>
                            <a:srgbClr val="1C2433"/>
                          </a:solidFill>
                          <a:latin typeface="Calibri"/>
                        </a:rPr>
                        <a:t>docs/architecture/DRISHTI_ICEBERG.md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the native engine's design: protocol coverage, catalogs, commits, two connectors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docs/connectors/ICEBERG_CONNECTOR.md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a:t>
                      </a:r>
                      <a:r>
                        <a:rPr sz="1100" b="0" i="0">
                          <a:solidFill>
                            <a:srgbClr val="0E7C86"/>
                          </a:solidFill>
                          <a:latin typeface="Consolas"/>
                        </a:rPr>
                        <a:t>iceberg</a:t>
                      </a:r>
                      <a:r>
                        <a:rPr sz="1200" b="0" i="0">
                          <a:solidFill>
                            <a:srgbClr val="1C2433"/>
                          </a:solidFill>
                          <a:latin typeface="Calibri"/>
                        </a:rPr>
                        <a:t> connector: layout, catalogs, loader, reads, maintenance, engines, settings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docs/connectors/ICEBERG_EXTERNAL_CONNECTOR.md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iceberg-external</a:t>
                      </a:r>
                      <a:r>
                        <a:rPr sz="1200" b="0" i="0">
                          <a:solidFill>
                            <a:srgbClr val="1C2433"/>
                          </a:solidFill>
                          <a:latin typeface="Calibri"/>
                        </a:rPr>
                        <a:t>: tables Drishti does not write</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docs/architecture/AWS_DELTA_LAKE.md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the Delta lake on AWS: scripts, layout, loading, maintenance, cost, runbooks</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docs/architecture/AWS_DEPLOYMENT.md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ECS, EFS and the identical-path rule; buckets; secrets; DR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docs/connectors/DELTA_CONNECTOR.md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how Drishti reads Delta; engines native and Hadoop</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docs/admin/LAKE_MAINTENANCE.md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100" b="0" i="0">
                          <a:solidFill>
                            <a:srgbClr val="0E7C86"/>
                          </a:solidFill>
                          <a:latin typeface="Consolas"/>
                        </a:rPr>
                        <a:t>lake maintain</a:t>
                      </a:r>
                      <a:r>
                        <a:rPr sz="1200" b="0" i="0">
                          <a:solidFill>
                            <a:srgbClr val="1C2433"/>
                          </a:solidFill>
                          <a:latin typeface="Calibri"/>
                        </a:rPr>
                        <a:t> and Admin → Lakes (Delta); the 7-year risk floor</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docs/guides/VAR_GUIDE.md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VaR inputs (15), official results (19), sizing (27), sharding (28), vectors in the lake (29)</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r h="435254">
                <a:tc>
                  <a:txBody>
                    <a:bodyPr wrap="square"/>
                    <a:lstStyle/>
                    <a:p>
                      <a:pPr algn="l">
                        <a:lnSpc>
                          <a:spcPct val="100000"/>
                        </a:lnSpc>
                      </a:pPr>
                      <a:r>
                        <a:rPr sz="1200" b="1" i="0">
                          <a:solidFill>
                            <a:srgbClr val="1C2433"/>
                          </a:solidFill>
                          <a:latin typeface="Calibri"/>
                        </a:rPr>
                        <a:t>docs/connectors/DEMO_DATA.md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c>
                  <a:txBody>
                    <a:bodyPr wrap="square"/>
                    <a:lstStyle/>
                    <a:p>
                      <a:pPr algn="l">
                        <a:lnSpc>
                          <a:spcPct val="100000"/>
                        </a:lnSpc>
                      </a:pPr>
                      <a:r>
                        <a:rPr sz="1200" b="0" i="0">
                          <a:solidFill>
                            <a:srgbClr val="1C2433"/>
                          </a:solidFill>
                          <a:latin typeface="Calibri"/>
                        </a:rPr>
                        <a:t>mixed Delta and Iceberg storage in the demo</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FFFFF"/>
                    </a:solidFill>
                  </a:tcPr>
                </a:tc>
              </a:tr>
              <a:tr h="435254">
                <a:tc>
                  <a:txBody>
                    <a:bodyPr wrap="square"/>
                    <a:lstStyle/>
                    <a:p>
                      <a:pPr algn="l">
                        <a:lnSpc>
                          <a:spcPct val="100000"/>
                        </a:lnSpc>
                      </a:pPr>
                      <a:r>
                        <a:rPr sz="1200" b="1" i="0">
                          <a:solidFill>
                            <a:srgbClr val="1C2433"/>
                          </a:solidFill>
                          <a:latin typeface="Calibri"/>
                        </a:rPr>
                        <a:t>docs/architecture/DRISHTI_NET.md, docs/admin/NET.md</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c>
                  <a:txBody>
                    <a:bodyPr wrap="square"/>
                    <a:lstStyle/>
                    <a:p>
                      <a:pPr algn="l">
                        <a:lnSpc>
                          <a:spcPct val="100000"/>
                        </a:lnSpc>
                      </a:pPr>
                      <a:r>
                        <a:rPr sz="1200" b="0" i="0">
                          <a:solidFill>
                            <a:srgbClr val="1C2433"/>
                          </a:solidFill>
                          <a:latin typeface="Calibri"/>
                        </a:rPr>
                        <a:t>several servers: replicas, shards, routing</a:t>
                      </a:r>
                    </a:p>
                  </a:txBody>
                  <a:tcPr marL="54864" marR="54864" marT="27432" marB="27432" anchor="ctr">
                    <a:lnL w="6350">
                      <a:solidFill>
                        <a:srgbClr val="D5DBE3"/>
                      </a:solidFill>
                    </a:lnL>
                    <a:lnR w="6350">
                      <a:solidFill>
                        <a:srgbClr val="D5DBE3"/>
                      </a:solidFill>
                    </a:lnR>
                    <a:lnT w="6350">
                      <a:solidFill>
                        <a:srgbClr val="D5DBE3"/>
                      </a:solidFill>
                    </a:lnT>
                    <a:lnB w="6350">
                      <a:solidFill>
                        <a:srgbClr val="D5DBE3"/>
                      </a:solidFill>
                    </a:lnB>
                    <a:solidFill>
                      <a:srgbClr val="F3F5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Drishti on AWS with Apache Iceberg</dc:title>
  <dc:subject>Drishti 2.9.4: Iceberg on AWS, compared with Delta Lake</dc:subject>
  <dc:creator>Ashutosh Sinha</dc:creator>
  <cp:keywords>Drishti, Iceberg, Delta Lake, AWS, S3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
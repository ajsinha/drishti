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 the Iceberg counterpart of the AWS Delta lake deck. Production may run on Delta Lake or on Apache Iceberg, so this deck states, from the code and the docs, what is identical, what differs, and why.</a:t>
            </a:r>
          </a:p>
          <a:p/>
          <a:p>
            <a:r>
              <a:t>Labels used throughout: nothing built is labelled (in the code, with tests). VaR sharding across several Drishti servers and the parallel Java lake loader are built, so they carry no label either. Only what is not built, or not yet run, carries a status: PLANNED (in IMPLEMENTATION_PLAN.md, not built), NOT RUN (written but not yet run on AWS), PROPOSED (a recommendation of this deck). Figures are MEASURED, ESTIMATED or ASSUMPTION. Nothing in this deck has been run in a real AWS account: the AWS scripts (Delta and, Iceberg) are dry-run tested; the Iceberg engine and the official results are tested against S3 simulators (S3Mock, MinIO); the Glue and S3 Tables runs (GlueLiveTest through check-glue.sh) are written and wait for the product owner's account.</a:t>
            </a:r>
          </a:p>
          <a:p/>
          <a:p>
            <a:r>
              <a:t>Sources: docs/architecture/DRISHTI_ICEBERG.md; CHANGELOG,; docs/connectors/ICEBERG_CONNECTOR.md sections 18-19; docs/admin/LAKE_MAINTENANCE.md section 8; docs/architecture/AWS_DEPLOYMENT.md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mirrors the Delta deck (Drishti-AWS-Delta-Lake.pptx) section by section where Iceberg has a counterpart (the picture, S3 not EFS, built and planned, setup, layout, files, loading, maintenance, caches, sizing, runbooks, limits), and adds what only a two-format story needs: the principle (section 1), Iceberg as built (4), the side-by-side comparison (11), the decision guide (12), risk workloads (13) and migration (14).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architectural principle in one slide. Everything above the source plugin (packs, data contracts, the engine's read paths, BI, VaR and exposure, the UI, Drishti*net) talks to a connector by its name and to the SourcePlugin interface (drishti-api SourcePlugin.java). Delta Lake and Iceberg are two plugins under it (plugins/drishti-plugin-delta, plugins/drishti-plugin-iceberg, plus iceberg-external), sharing drishti-lakeio for local disk and S3.</a:t>
            </a:r>
          </a:p>
          <a:p/>
          <a:p>
            <a:r>
              <a:t>Sources: DRISHTI_ICEBERG.md section 2 ('Same connector, same settings'); ICEBERG_CONNECTOR.md section 17 ('Packs, connector files, the layout, the caches and every read path are the same on both engines'); tools/build_demo_lakes.py --store; AWS_DEPLOYMENT.md 8.1 (the lake bucket holds Delta tables, Iceberg and files). From the Iceberg plugin implements every method VaR and exposure need (ICEBERG_CONNECTOR.md section 18), proven by VarFormatEqualityTest and ExposureFormatEqualityTest; Delta stays the default lake format everywhere, Iceberg is chosen by configuration only.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was checked in the code on develop (CHANGELOG 'Iceberg'). Tests named are in the repository: NativeCommitTest, NativeOnS3Test (Testcontainers: S3Mock image, MinIO image when present), NativeOnS3SimulatorTest (Adobe S3Mock 4.12.4 in the test JVM, the MinIO binary on Linux), PyicebergReadsNativeTest and NativeReadInteropTest (pyiceberg interop), IcebergNativeNoHadoopTest, SigV4Test, IcebergExternalPluginTest, tools/lake/test_stores.py, tools/lake/stores_equality.py, tools/test_deploy_aws.py; IcebergParityTest, IcebergVectorsTest, IcebergDiskCacheTest, IcebergOrphanFilesTest, VarFormatEqualityTest, ExposureFormatEqualityTest, LakeAppendsTest, OfficialSinkTest, OfficialS3Test, OfficialReadersTest, test_maintain_iceberg.py.</a:t>
            </a:r>
          </a:p>
          <a:p/>
          <a:p>
            <a:r>
              <a:t>Not done: nothing has run against real AWS S3 or a real Glue catalog. GlueLiveTest (Glue) and the S3 Tables case are written and run only with DRISHTI_GLUE_LIVE=1 through deploy/aws/iceberg/check-glue.sh: not run (no AWS account), the product owner runs them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Drishti above the storage plugins: what is identical on Delta and Iceberg, where each plugs in, and how one table switches format</a:t>
            </a:r>
          </a:p>
          <a:p/>
          <a:p>
            <a:r>
              <a:t>Section 1 answers the product owner's first question: is the Iceberg story architecturally clean? Yes at the layering level (one interface, two plugins, one shared I/O module); and at the capability level too (slide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from the code: the console and UI (drishti-console), the server (drishti-server: BI, VaR, exposure, Drishti*net), the engine (drishti-engine: SourceRouter, which routes a kind to its connectors), the plugin interface (drishti-api SourcePlugin), the plugins (plugins/drishti-plugin-delta, -iceberg, -iceberg-external) and their engines (drishti-deltalake native or Hadoop; drishti-iceberg native or Apache Iceberg Java 'library'), and drishti-lakeio, which both native engines share (Storage, LocalStorage, S3Storage, RangeReader, codecs, the footer cache, the exclusive create and the conditional PUT). Sources: DRISHTI_ICEBERG.md section 4; CHANGELOG ('the native Delta engine's file access is a module of its own, drishti-lakeio'); module list of develop.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from the code and docs: connector settings (ICEBERG_CONNECTOR.md section 15 vs DELTA_CONNECTOR.md section 14), the layout (IcebergLayout: id, doc, business_date, promoted columns; DELTA_CONNECTOR section 3), the read paths (ICEBERG_CONNECTOR section 7 'as for Delta Lake'), commits (DRISHTI_ICEBERG section 8; AWS_DELTA_LAKE 8.2), caches (ICEBERG_CONNECTOR 7.1 per-day fingerprints vs Delta's table version; Delta's disk caches in DELTA_CONNECTOR 6.2-6.3), maintenance (LAKE_MAINTENANCE.md section 8: lake maintain runs IcebergMaintenance for an Iceberg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methods of DeltaSourcePlugin, IcebergSourcePlugin and IcebergExternalPlugin compared with the defaults of drishti-api SourcePlugin. A default returns 'cannot say' or false, and the caller falls back (for example documents() false: derived pages read entity by entity). (ICEBERG_CONNECTOR.md section 18, IcebergParityTest, IcebergVectorsTest) gave the iceberg plugin vectorColumns() and vectors() (list&lt;double&gt;, read in bulk by both engines, bit for bit), documents() (a date in one pass), tableIdentity() (iceberg:&lt;table-uuid&gt; from the metadata, stable after a copy read through relocate), inventory(), holdsNone() and refreshVersions() (a data-load signal re-reads each table's snapshot at once).</a:t>
            </a:r>
          </a:p>
          <a:p/>
          <a:p>
            <a:r>
              <a:t>tableIdentity: DRISHTI_NET.md section 10: two nodes naming the same table identity are replicas (a search asks one); different identities are shards (a search asks all). iceberg-external (anyone's tables, read-only) did not gain these methods: it serves pages and searches, not VaR inputs.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built (CHANGELOG 'Mixed Delta and Iceberg storage'; ICEBERG_CONNECTOR.md section 6 'The demo lakes'; tools/lake/stores.py; tools/build_demo_lakes.py). The system is built as Delta first (so documents and promoted columns are exactly a Delta build's), streamed into IcebergLoader with engine native from the server's exec jar (no Maven; runs on Windows), and its Delta table removed; the connector file trade-&lt;system&gt;.yaml is rewritten to plugin: iceberg, engine: native, table: {trade: trade_&lt;system&gt;}. One connector serves each system, never both. tools/lake/stores_equality.py compares all-Delta with ENDUR Delta + CALYPSO and MUREX Iceberg: six trade pages, histories, two counterparty pages, three searches, a BI model query: 18 answers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flow as the Delta lake, with one step fewer: Drishti's Iceberg loader writes the table in S3 directly</a:t>
            </a:r>
          </a:p>
          <a:p/>
          <a:p>
            <a:r>
              <a:t>Section 2 mirrors section 1 of the Delta deck. The difference is in the loader: Delta needs build (EFS scratch), sync, publish (Python deltalake commits); Iceberg's native engine writes data files, manifests and the conditional-PUT commit straight to s3:// (NativeOnS3Test: 'the loader writes them through the AWS SDK (no Hadoop, no S3A)').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the engine, the loader writing s3:// roots, the connector reading them, the REST catalog client, and deploy/aws/iceberg/load-day.sh and maintain.sh for the ECS loader and maintenance tasks (dry-run tested). Not yet run: anything in a real account, the Glue catalog included (the product owner's run). The S3 landing bucket, EventBridge, ECS services, EFS and Cloud Map are those of the Delta deck (AWS_DELTA_LAKE.md section 1; AWS_DEPLOYMENT.md). Root setting: DRISHTI_ICEBERG_ROOT (connector root: ${DRISHTI_ICEBERG_ROOT:${drishti.data.dir:./data}/iceberg}).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box carries a status label: the Drishti code each box runs is built and tested (not that it has run in AWS); only what is not built would be labelled. The ECS loader and maintenance tasks for Iceberg run deploy/aws/iceberg/load-day.sh (lake build --format iceberg, the loader commits: no publish step) and maintain.sh (lake maintain over lake-maintenance.s3.yaml, format: iceberg), built and dry-run tested. Sources: AWS_DELTA_LAKE.md section 1 (boxes); ICEBERG_CONNECTOR.md sections 6, 9; DRISHTI_ICEBERG.md section 8; AWS_DEPLOYMENT.md section 22; deploy/aws/iceberg/.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deck's answer holds unchanged for Iceberg, with one more reason: Iceberg metadata names every file by its full path</a:t>
            </a:r>
          </a:p>
          <a:p/>
          <a:p>
            <a:r>
              <a:t>Section 3 mirrors section 2 of the Delta deck; its cost figures are reused, not recomputed.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request rate, latency, durability and tiers are format-independent: both formats store Parquet data files in S3 and read them by byte ranges (drishti-lakeio S3Storage: ranged GETs with s3.read-block-kb read-ahead). Figures from AWS_DELTA_LAKE.md section 2 (list prices, one Region, 200 TB). The Iceberg-specific reason: Iceberg's metadata names every file by its full path (ICEBERG_CONNECTOR.md section 14: a moved table is DEGRADED until read with relocate). An S3 URI is the same from every task and Region-stable; an EFS path depends on the mount and access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drishti-iceberg, the two connectors, catalogs, commits, S3 and its simulators, evolution, snapshots and time travel, maintenance, lake build to Iceberg</a:t>
            </a:r>
          </a:p>
          <a:p/>
          <a:p>
            <a:r>
              <a:t>Section 4 is the inventory of what the code does today. Main sources: DRISHTI_ICEBERG.md (design, status built), ICEBERG_CONNECTOR.md sections 17-19, ICEBERG_EXTERNAL_CONNECTOR.md, CHANGELOG, the classes under drishti-iceberg.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exists (DRISHTI_ICEBERG.md section 1): Apache Iceberg's Java library reaches path-based tables through Hadoop's file systems, which on Windows need winutils.exe and HADOOP_HOME. Delta had the same problem and solved it with a native engine; drishti-iceberg does the same. Packages from the source tree: catalog (PathCatalog, StaticCatalog, RestCatalog, RestClient, SigV4), meta (TableMetadata, SchemaJson, PartitionSpec, SortOrder, Snapshot, Transform, NameMapping), manifest (ManifestReader), scan (Planner, Pruning), read (ParquetRowReader, Deletes), write (ParquetDataWriter, ManifestWriter, Commit, Operations). A class-loader test (IcebergNativeNoHadoopTest) runs the connector, loader and maintenance with Hadoop's file systems, Shell and Configuration refused. Windows: tools/windows/load-iceberg.ps1, start-server.ps1 -Iceberg. The Windows laptop run of step I5 is still listed as to do in DRISHTI_ICEBERG.md's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DRISHTI_ICEBERG.md section 5 and ICEBERG_CONNECTOR.md section 17 ('What the native engine is' and 'What it refuses'). Branches and tags: only main is read (ICEBERG_EXTERNAL_CONNECTOR.md section 11). Deletion vectors of format v3 are planned 'later, reusing the Delta engine's roaring bitmap reader'. Hive metastore and JDBC catalogs are reachable only through a REST catalog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17. Measured 2026-10-20 on a 24-core workstation, heap 6 GB, 10,000 trades a day over three days (bulk_trades.py, documents of about 18 KB), each engine's loader into its own lake, read by the connector on that engine in one JVM (IcebergEnginesBenchTest). Both engines answered the same. These are small-book measurements, not bank scale.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DRISHTI_ICEBERG.md section 15 and ICEBERG_EXTERNAL_CONNECTOR.md section 1. iceberg-external never writes; its engine setting accepts native or auto (library is refused). Make a pack: StarterSchemas + drishti.py pack make (a button in Admin → Connectors is planned). Tested by IcebergExternalPluginTest on pyiceberg-written fixtures (tools/iceberg/fixtures.py): a Spark-style table (day(ts) partition, unsorted, merge-on-read position delete), a Snowflake-style table (identifier fields, nested struct, map, decimals, timestamptz, an equality delete), a current-only table, a renamed and evolved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drishti-iceberg catalog/Catalogs.open accepts catalog: hadoop (or path) and rest; metadata-location.&lt;kind&gt; without a root gives a StaticCatalog. RestCatalog/RestClient implement /v1/config, OAuth2 client credentials or a token, loadTable with ETag, vended credentials (X-Iceberg-Access-Delegation), commits with requirements; SigV4.java signs with the AWS SDK signer, signing-name glue for Glue (default execute-api). SigV4Test checks the Authorization header only.</a:t>
            </a:r>
          </a:p>
          <a:p/>
          <a:p>
            <a:r>
              <a:t>(ICEBERG_CONNECTOR.md section 19, AWS_DEPLOYMENT.md section 22): Glue's Iceberg REST endpoint (https://glue.&lt;region&gt;.amazonaws.com/iceberg, warehouse the account id, signing name glue) and S3 Tables' (https://s3tables.&lt;region&gt;.amazonaws.com/iceberg, signing name s3tables, warehouse a table bucket ARN) through the same REST client; GlueLiveTest creates a Glue database and a table of P&amp;L vectors with the loader, reads them back (vectors() bit for bit) and drops them; check-glue.sh --s3-tables ARN runs the S3 Tables case. Neither has run: no AWS account; the product owner's run is planned. Not in code: a Glue Data Catalog API client (glue:GetTable/UpdateTable as Iceberg's GlueCatalog does; Glue's REST endpoint is used instead); Hive metastore; JDBC. A catalog-written path table (pyiceberg, a JDBC or Glue catalog: 00003-&lt;uuid&gt;.metadata.json and no hint) is found by the highest sequence number (CHANGELOG QA2-09).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PathTableOps.write: probe(s) once per table (S3Storage.exclusiveCreates: two creates of a probe key, the second must be refused), then createIfAbsent(vN.metadata.json) (local: a hard link of a finished file; S3: putObject with ifNoneMatch('*')), CommitConflict if the version exists; then put version-hint.text; then, when write.metadata.delete-after-commit.enabled, delete metadata files older than the metadata log. A store that ignores conditional writes logs 'the table is single-writer'. Retries: commit.retry.num-retries (10 in Drishti's layout). Re-applied commits re-validate: an append always applies again; a rewrite of a day fails if that day changed (NativeCommitTest.aRewriteOfADayThatChangedMeanwhileIsRefused). Files written by a commit that finally failed are deleted at once.</a:t>
            </a:r>
          </a:p>
          <a:p/>
          <a:p>
            <a:r>
              <a:t>Doc inconsistency to know: ICEBERG_CONNECTOR.md section 4 still says path-based tables in S3 'need a single writer' (true of the library engine's rename); sections 13 and 17 and the code say the native engine commits with conditional PUTs.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 ('Tests: S3 on three simulators, no Docker'): Adobe S3Mock 4.12.4 in the test JVM (Windows QA included) runs the Iceberg native engine's table on S3 (NativeOnS3SimulatorTest); moto 5.2.3 runs Delta on S3 and lake publish on S3 (tools/lake/test_s3_simulators.py); the MinIO binary runs both on Linux (skips when no community binary can be had: dl.min.io answers 410 Gone). Every suite probes and prints which conditional writes its simulator honours. NativeOnS3Test comment: S3Mock refuses a second conditional create but not two racing ones, so writers at once are tested on MinIO only. Iceberg is not tested on moto (moto covers the Python Delta tools).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by field id (DRISHTI_ICEBERG.md section 7 step 3; ICEBERG_EXTERNAL_CONNECTOR.md section 3: a column the owner renames keeps its values; each snapshot read with the schema it had). Writing: NativeLayout creates id, doc, business_date and promoted columns typed DOUBLE when every value is a number else STRING; new promoted paths are added as columns (ICEBERG_CONNECTOR.md section 6 'Types'); IcebergMaintenance --columns kind:path adds columns and rewrites every day to fill them. Drishti's own writer always writes identity(business_date); it never changes a partition spec. Hidden partitioning (day(ts), bucket(id)) is read for any transform, which is what iceberg-external relies on for other engines' tables. Comparison: Delta's publish refuses a day whose columns differ (AWS_DELTA_LAKE.md runbook 13.4: new folder trade_endur_v2 and backfill); an in-place nullable column add for Delta is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8 (delete files applied by every read; time travel by X-Drishti-Known-At from the snapshot log; a time before the oldest snapshot kept reads nothing; measured: a trade loaded after the instant answers 404, a sample trade known then answers from the earlier snapshot in 17 ms). Section 9: --expire-hours (168) bounds how far known at reaches. Delta comparison: DELTA_CONNECTOR.md section 12 (deletion vectors switch columns off for a table; searches read documents) vs Iceberg 'here they stay on'. Drishti's own Iceberg writer writes no delete files: a restatement replaces the day's partition (copy-on-write at day grain).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9 and IcebergMaintenance.java option parsing (--domain, --kinds, --catalog/--uri/--warehouse/--credential/--token/--engine, --set, --keep-days, --expire-hours, --buffer-mb, --spill-dir, --columns, --relayout, --force, --rewrite-manifests; --as-of, --max-drop-share, --force-drop in the doc). Measured on the 10,000-trade table: drift check 0.7 s; keep 5 + rewrite 5 + manifests + expiry 2.9 s. 1,800 daily commits: 93 ms per commit to write; start 160 ms, a 2020 trade 22 ms, an old day's columns 13 ms; after --rewrite-manifests and expiry 33, 5, 3 ms. (LAKE_MAINTENANCE.md section 8, IcebergOrphanFilesTest, test_maintain_iceberg.py, test_admin_lake_maintain.py): --remove-orphans --older-than-hours (72 at least, with a dry run); --floor-days 2557 for risk and risk-results (no date dropped and no snapshot expired inside 7 years); Admin → Lakes and lake maintain dispatch an Iceberg table (format: iceberg, or auto under a local root) to IcebergMaintenance, with the ownership rule, locks, schedules and history; the tables list has a Format column.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tools/lake/stores.py (docstring): a system stored in Iceberg is built as Delta first (lake demo or lake build), then copied into &lt;iceberg root&gt;/trading/trade_&lt;system&gt; by IcebergLoader (engine native) started from the server's exec jar (DRISHTI_ICEBERG_CLASSPATH in development); the connector file switched; 'one connector serves each system, never both'. Spill: &lt;data&gt;/tmp/iceberg. The Iceberg root: DRISHTI_ICEBERG_ROOT, else beside the Delta lake (data/delta → data/iceberg). stores.py handles the trading domain's trade tables only. tools/load-iceberg.sh / load-iceberg.ps1 load the banking samples (1,791 documents × 10 days) and a generated book directly into Iceberg. lake build --format iceberg stages as for Delta and streams the rows to the Iceberg loader (vector columns kept; overwrite-dates only); --lake s3://… or a REST catalog through --iceberg-set; build_demo_lakes.py --store risk=iceberg moves every table of the risk domain and switches risk-store.yaml and exposure-store.yaml together (test_vectors.py, test_stores.py, test_build_demo_lakes.py). On the demo data: 14 risk tables, 955,124 rows, in Iceberg in 579 s (MEASURED, demo).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Iceberg capability with its label: what runs today, what the plan still lists, and what this deck proposes</a:t>
            </a:r>
          </a:p>
          <a:p/>
          <a:p>
            <a:r>
              <a:t>Labels: nothing built is labelled (in the code with tests). VaR sharding across Drishti servers (VAR_SHARDING.md) and the parallel Java loader are built, so they carry no label. Only what is not built, or not yet run, does: PLANNED = in IMPLEMENTATION_PLAN.md, not built; NOT RUN = written, not yet run on AWS; PROPOSED = this deck's recommendation. Per the product owner there is no in-progress label.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code on develop with the tests named in section 4. 'Built' never means 'run in AWS'.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parity rows (built, so unlabelled): CHANGELOG 'Iceberg' (IcebergParityTest, IcebergVectorsTest, IcebergDiskCacheTest, IcebergOrphanFilesTest, VarFormatEqualityTest, ExposureFormatEqualityTest, LakeAppendsTest, OfficialSinkTest, OfficialS3Test, OfficialReadersTest, test_deploy_aws.py). PLANNED and NOT RUN rows: IMPLEMENTATION_PLAN.md, items carried and not built (the Glue and S3 Tables runs, Delta↔Iceberg conversion of any table, Delta in-place schema evolution, Unity Catalog, the 200K benchmark on both formats). VaR sharding across Drishti*net (VAR_SHARDING.md: equal to one server to the cent on Delta and on Iceberg, VarShardClusterTest) and the parallel Java loader (PARALLEL_LOADER.md: Delta or Iceberg, PythonPathEqualityTest) are built, so unlabelled. PROPOSED: format v3 reading and named branches and tags (DRISHTI_ICEBERG.md section 5, 'later'), the Make a pack button (ICEBERG_EXTERNAL_CONNECTOR.md section 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Delta deck's twelve setup steps, shared or with their Iceberg script (deploy/aws/iceberg/); the catalog choice; IAM, KMS, the network, EFS and Drishti*net</a:t>
            </a:r>
          </a:p>
          <a:p/>
          <a:p>
            <a:r>
              <a:t>Section 6 mirrors section 4 of the Delta deck (first-time setup). deploy/aws/ holds lib/common.sh, delta-lake/ (buckets, IAM, conditional-write check, lifecycle, alarms, report, load, backfill, maintain), iceberg/ (the same set for Iceberg plus check-glue.sh and iam/*.json; AWS_DEPLOYMENT.md section 22) and ecs/ (EFS, Cloud Map,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names from the Delta deck (AWS_DELTA_LAKE.md section 4); the Iceberg scripts from AWS_DEPLOYMENT.md section 22 (deploy/aws/iceberg/). No step carries a status label: each script exists and was dry-run tested (tools/test_deploy_aws.py: --help, --dry-run, the Glue path, the lifecycle; shellcheck where installed); none has yet run against a real AWS account. Settings: ICEBERG_PREFIX, ICEBERG_CATALOG (hadoop or glue), GLUE_CATALOG_ID, ICEBERG_TABLES_FILE, ICEBERG_KEEP_BUSINESS_DAYS, ICEBERG_EXPIRE_HOURS, ICEBERG_ORPHAN_HOURS. Step 9: the node task sets DRISHTI_ICEBERG_ROOT (and the catalog settings for REST) through its connector files.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Drishti supports today (section 4, catalogs): path-based tables in S3 (built, the simplest: no catalog service, commits by conditional PUT); Glue's Iceberg REST endpoint and S3 Tables' (built, labelled NOT RUN: ICEBERG_CATALOG=glue in the AWS scripts, GlueLiveTest and check-glue.sh written; neither run on AWS yet, the product owner's run needs an AWS account). ICEBERG_CONNECTOR.md section 16 checklist: 'a REST catalog when other engines also write the tables; path-based tables when only Drishti's loader writes them'. Ecosystem notes (Athena reading Iceberg through Glue; Glue table optimizers; S3 Tables' managed compaction) are AWS product facts, not Drishti features; check current AWS documentation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Delta's policies (deploy/aws/delta-lake/iam/*.json) read: server = GET/LIST on the lake prefix + kms:Decrypt; loader = PutObject on the lake prefix with an explicit Deny of DeleteObject; maintenance = the only role that deletes. Iceberg differences from the code: (1) the commit overwrites version-hint.text (a PutObject, allowed); (2) with write.metadata.delete-after-commit.enabled the committer deletes old vN.metadata.json, best effort; (3) IcebergLoader --keep-days and --expire-hours delete files, so under the deny run retention in maintenance, not the loader. deploy/aws/iceberg/setup-iam.sh writes three policies from iam/*.json (iceberg-read, -load, -maintain): S3 on ICEBERG_PREFIX, KMS, Glue GetDatabase/GetTable(s)/CreateDatabase/CreateTable/UpdateTable, lakeformation:GetDataAccess (ICEBERG_CONNECTOR.md section 19); dry-run tested, not yet applied in a real account. Encryption: drishti-lakeio sends no SSE header, so the bucket's default SSE-KMS applies; Iceberg table encryption (key_metadata) is refused by the native engine.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AWS_DEPLOYMENT.md (identical-path rule on EFS; server and console separate containers; Cloud Map seeds) and NET.md/DRISHTI_NET.md section 10 (shared and separate lakes: same table identity = replicas, different = shards). Iceberg specifics: IcebergLoader's --spill-dir (run files total about the size of the JSON loaded) should be on the loader's EFS folder or its 21 GB ephemeral disk. the Iceberg connector has Delta's disk caches (id maps memory-mapped, a RocksDB document cache under &lt;data&gt;/cache/&lt;connector&gt;/, keyed by the date's files) and tableIdentity() (iceberg:&lt;table-uuid&gt;), so Drishti*net recognises replicas of an Iceberg table as it does for Delta.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setup-lifecycle.sh (AWS_DELTA_LAKE.md 9.4) writes one rule per table per business month on the prefix lake/&lt;domain&gt;/&lt;table&gt;/business_date=YYYY-MM, with ObjectSizeGreaterThan 131072, transitions to STANDARD_IA at 90 days after the month and GLACIER_IR at two years; _delta_log/ never matches. For Iceberg, data files are under &lt;table&gt;/data/business_date=YYYY-MM-DD/ (ICEBERG_CONNECTOR.md section 3) and metadata/ must stay in Standard. Iceberg names files by absolute path, and S3 transitions keep the key, so tiering does not break a table; expiry would. The rule count limit (1,000 per bucket) is the same. Built: deploy/aws/iceberg/setup-lifecycle.sh tiers data/ by business date beside the Delta rules in the bucket's one lifecycle configuration (each script keeps the other's rules), never metadata/, never an expiry of a current object.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Prefixes, the table, its columns and properties, and the partition: what goes where in S3, and why</a:t>
            </a:r>
          </a:p>
          <a:p/>
          <a:p>
            <a:r>
              <a:t>Section 7 mirrors sections 5 and 6 of the Delta deck. Source: ICEBERG_CONNECTOR.md section 3 (What is stored) and IcebergLayout/NativeLayout.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from ICEBERG_CONNECTOR.md section 3 placed under the Delta deck's bucket and a sibling iceberg/ prefix (ICEBERG_PREFIX, default iceberg, in deploy/aws/env; the connector's root is any folder or s3:// URI; DRISHTI_ICEBERG_ROOT). Data file names: &lt;date&gt;-&lt;n&gt;-&lt;uuid&gt;.parquet. A REST catalog's namespace is the connector's domain (or namespace).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3: the column table (field ids 1-3 for id, doc, business_date) and the property table. Promoted columns are DOUBLE when every value is a number, else STRING (NativeLayout); a nested path LEGS.CURRENCY becomes LEGS__CURRENCY as in Delta. Compared with Delta on AWS: Snappy and 1 MB row groups by LAKE_ROW_GROUP_KB; delta.dataSkippingStatsColumns = id, business_date, promoted columns (never doc).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loader: the partition is business_date only (ICEBERG_CONNECTOR.md section 3). The Delta AWS loader adds PRODUCT_TYPE as a second key (AWS_DELTA_LAKE.md 5.3) to spread a day over S3 prefixes and keep partitions sortable in one batch; Drishti's Iceberg loader instead sorts each day with an external sort (no batch limit) and cuts files of 250,000 rows. S3 prefix spread for Iceberg: a day's files share one business_date= prefix; S3 scales a busy prefix by itself. Iceberg's object-storage layout (hashed file paths, write.object-storage.enabled) is not used by Drishti's writer: PROPOSED to evaluate only if 503 Slow Down appears. 'What each read needs' from ICEBERG_CONNECTOR.md section 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Sizes, row groups, sorting, one commit per day, the daily load on AWS, backfill and restatement</a:t>
            </a:r>
          </a:p>
          <a:p/>
          <a:p>
            <a:r>
              <a:t>Section 8 mirrors sections 7 and 8 of the Delta deck. Source: ICEBERG_CONNECTOR.md sections 3, 6, 15 (loader options).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values: ICEBERG_CONNECTOR.md sections 3 and 15 (loader options --file-rows 250000, --row-group-mb 1, --buffer-mb 1024, --threads half the cores at most 8). 'Measured: 476 trades a group at 10,000 trades a day.' Estimated 175 MB per 250,000-row file. Delta values: AWS_DELTA_LAKE.md 7.1. Files per day at a million trades: four (estimate).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'How the loader works': SortedRuns per business day and kind; at most --buffer-mb held; the largest day's buffer sorted and spilled on a background thread (two at most); merged back in id order; the row read last wins on a duplicate id. Commits: OverwriteFiles with business_date = d (one day of at least 100,000 rows as soon as it is written; smaller days of a table together). Estimates: one writer thread wrote a day of 1,000,000 trades in about 40 s (4 files, 0.70-0.75 GB); the load of three such days was bound by the generator, not the writer. Peak memory about three times the buffer.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(built, AWS_DELTA_LAKE.md 8.1): sync landing → EFS scratch; lake build → scratch Delta table; aws s3 sync data files; lake publish one commit (Python deltalake, conditional PUT). Iceberg (deploy/aws/iceberg/load-day.sh, built): per table under its EFS lock, the day's dumps, then lake build --format iceberg --lake s3://LAKE_BUCKET/ICEBERG_PREFIX; the loader writes to s3:// itself (no publish step); the commit is the native engine's conditional PUT. Loader exit codes and messages: a failed load ends with one line and status 1 (ICEBERG_CONNECTOR.md section 6). The data-load signal (POST /api/v1/packs/{pack}/loads) is sent by lake publish for Delta; for Iceberg a script would send it (build_demo_lakes.py --server does so locally), else servers see the new snapshot at the next refresh (10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6: 'Loading a day again replaces it: the load is idempotent'; --keep-days with --as-of and --max-drop-share (0.5) and --force-drop; dates guarded (rows dated after tomorrow are not loaded). A restated day is a new snapshot: known at before it still shows the old day until --expire-hours. Delta's backfill.sh and load-day.sh --mode overwrite-partitions (one product type) are Delta scripts; Iceberg replaces a whole day (its only partition); deploy/aws/iceberg/backfill.sh runs load-day.sh oldest first and stops at the first failure.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nightly Iceberg maintenance task would run, why snapshots must be expired, orphan files, and what managed platforms do instead</a:t>
            </a:r>
          </a:p>
          <a:p/>
          <a:p>
            <a:r>
              <a:t>Section 9 mirrors section 9 of the Delta deck. The engine side is built (IcebergMaintenance, section 4); the ECS task runs deploy/aws/iceberg/maintain.sh (lake maintain over lake-maintenance.s3.yaml, format: iceberg).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Options and measurements: ICEBERG_CONNECTOR.md section 9. 'Expire snapshots regularly: every snapshot stays in the metadata JSON that each commit rewrites.' Managed alternatives (same section): AWS Glue table optimizers (compaction, snapshot retention, orphan file removal), Athena OPTIMIZE … REWRITE DATA and VACUUM, Snowflake's automatic maintenance of managed Iceberg tables, Spark procedures (rewrite_data_files with sort_order =&gt; 'id', rewrite_manifests, expire_snapshots, remove_orphan_files), Trino optimize and expire_snapshots. Caution (PROPOSED rule): a managed compaction that ignores the id sort makes single-entity reads touch many row groups; use a sorted rewrite. deploy/aws/iceberg/maintain.sh writes lake-maintenance.s3.yaml and runs lake maintain nightly (retention with the 7-year floor, relayout, expiry ICEBERG_EXPIRE_HOURS, orphans older than ICEBERG_ORPHAN_HOURS, 72 at least), then setup-lifecycle.sh.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server keeps, how Iceberg keys it, what never scans the whole lake, and the numbers to watch</a:t>
            </a:r>
          </a:p>
          <a:p/>
          <a:p>
            <a:r>
              <a:t>Section 10 mirrors sections 10 and 11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 ICEBERG_CONNECTOR.md sections 7.1 (layout per snapshot, 64; per-day fingerprints), 11 (memory), 17 (footer, manifest and delete caches). Delta: AWS_DELTA_LAKE.md section 10 and DELTA_CONNECTOR.md 6.2-6.3 (id maps on disk, memory-mapped, 3 ms instead of 729 ms per table date after a restart; RocksDB document cache, 17 % less CPU). (ICEBERG_CONNECTOR.md section 18, IcebergDiskCacheTest): the Iceberg connector has the same two disk caches (id-map-disk.enabled, doc-disk-cache.*, on by default) under &lt;data&gt;/cache/&lt;connector&gt;/, keyed by the date's files, so after a restart a date read before needs no data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sections 7 and 10 ('Nothing in the read paths grows with history: a read concerns one day's files; planning reads the current snapshot's manifests (a few dozen after monthly regrouping)'). History queries: the planned manifest-bounds scan without an id map is not implemented (section 7 'History queries').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payload and symptom table: ICEBERG_CONNECTOR.md section 14 (cache: tables, snapshots, idMaps, columnSets, documents, partitions, daysWithDeletes, ids; DEGRADED messages for moved tables). The report and alarms of the Delta deck (report.sh, setup-alarms.sh: behind, files, log-long) are Delta-shaped; added deploy/aws/iceberg/setup-alarms.sh (load failed, not loaded for three days, load slow, more than ALARM_ICEBERG_SNAPSHOTS = 500 snapshots) and report.sh (version, snapshots, records, data files, business dates; IcebergSnapshots and NewestBusinessDate metrics).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Transaction log against metadata tree; commits on S3; time travel, evolution, partitioning, deletes; maintenance, catalogs, the ecosystem and the running cost</a:t>
            </a:r>
          </a:p>
          <a:p/>
          <a:p>
            <a:r>
              <a:t>Section 11 separates two things: what the formats are (public specifications; ecosystem facts as of 2026, to re-check before a commitment) and what Drishti supports of each (from the code). Every Drishti statement carries its label.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_delta_log/ holds one JSON commit per version (add and remove actions with file statistics), a Parquet checkpoint every 10 commits in Drishti's tables (delta.checkpointInterval), and _last_checkpoint; a reader replays the last checkpoint plus later commits (DELTA_CONNECTOR.md 6.1: 7,200 files list in 84 ms). Iceberg: a catalog pointer (version-hint.text, or the REST catalog's metadata location) names vN.metadata.json (schemas, specs, snapshots, properties); each snapshot names a manifest list; manifests list data and delete files with partition values and column bounds (DRISHTI_ICEBERG.md section 4, ICEBERG_CONNECTOR.md section 3). Both put data in Parquet files that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facts are from the Delta and Iceberg specifications; Drishti facts from the code (sections 4 and 8). Delta column mapping and deletion vectors are Delta table features; Drishti's Delta reader honours deletion vectors (DELTA_CONNECTOR.md section 12) and Drishti's writers do not use column mapping (Drishti adds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facts: partitioning (section 7), deletes (section 4 snapshots slide), maintenance (IcebergMaintenance; LAKE_MAINTENANCE.md for Delta), catalogs (section 4). Liquid clustering and Z-order are Databricks Delta features mentioned only as options in DELTA_CONNECTOR.md; Drishti does not write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Ecosystem rows are general product knowledge as of 2026 (not Drishti features) and must be re-checked against each vendor's current documentation and the bank's versions before a decision; they are stated at the level of 'reads/writes', without version claims. Cost rows: storage is the same Parquet (AWS_DELTA_LAKE.md section 12); the differences are metadata requests, a catalog service and maintenance compute.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checked against develop and its CHANGELOG: DeltaSourcePlugin vs IcebergSourcePlugin methods (ICEBERG_CONNECTOR.md section 18); VaR and exposure on Iceberg (VarFormatEqualityTest, ExposureFormatEqualityTest); official results (OfficialSink: DeltaSink or IcebergAppender, local or s3://; OfficialSinkTest, OfficialS3Test; BI's readers follow the format, OfficialReaders); deploy/aws/iceberg/ (AWS_DEPLOYMENT.md section 22); LAKE_MAINTENANCE.md section 8; disk caches (IcebergDiskCacheTest). Schema change without a new table on Delta (an in-place nullable add) is planned, not built. Delta stays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guide for a bank, each statement tied to what Drishti supports today</a:t>
            </a:r>
          </a:p>
          <a:p/>
          <a:p>
            <a:r>
              <a:t>Section 12 is a recommendation (PROPOSED). It follows from sections 4, 11 and 13; it is not a product decision. Delta stays Drishti's default lake format (the product owner's decision); Iceberg is a full alternative chosen by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'because' cites the Drishti support behind it. From VaR, intraday, exposure and official results run on either format with the same answers to the cent (VarFormatEqualityTest, ExposureFormatEqualityTest); both formats have AWS scripts (deploy/aws/delta-lake, deploy/aws/iceberg); iceberg-external serves others' tables (ICEBERG_EXTERNAL_CONNECTOR.md); REST, Glue and S3 Tables catalogs are built in the client (the AWS runs not yet done); schema evolution by id is built for Iceberg, Delta's in-place add is planned, not built. Nothing here is measured at bank scale on AWS (the 200K benchmark on both formats is planned).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by this deck. Mixed storage is built and proven equal (stores_equality.py: 18 answers the same), and the risk domain is too (VarFormatEqualityTest, ExposureFormatEqualityTest; on the demo data VAR BANK USD 112,041,646 on both), so a bank need not choose one format for every table. The six gaps an earlier edition of this deck listed are closed; what remains is on the right: the AWS runs, conversion, Delta's in-place add and the benchmark (not built). VaR sharding and the parallel Java loader are built on either format.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and exposure on Iceberg, equal to Delta to the cent; official results; sizing at 2.3 million positions and 15,000 portfolios: where the table format matters</a:t>
            </a:r>
          </a:p>
          <a:p/>
          <a:p>
            <a:r>
              <a:t>Section 13 is consistent with the VaR engine deck (Drishti-VaR-Engine.pptx) and VAR_GUIDE.md sections 8.4, 19 and 29.3: the Iceberg plugin implements vectors(), and build_demo_lakes.py --store risk=iceberg moves every table of the risk domain into Iceberg and switches risk-store.yaml and exposure-store.yaml together.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risk lake: pnl-vector, scenario-set, risk-hierarchy, portfolio; physical table id, doc, business_date, promoted columns and vector columns list&lt;double&gt;), 29.2 (layout C, list&lt;double&gt;, chosen; append-only daily snapshot) and 29.3 (as built: lake build --vector; DeltaSourcePlugin and, IcebergSourcePlugin stream vectors one buffer per read). Scenario PVs (PV-based VaR) are a market-risk kind with a vector column too. EXPOSURE_GUIDE.md: exposure-path MTM, about 4,000 times VaR's vectors. IcebergLoader writes layout.&lt;kind&gt;.vectors as list&lt;double&gt; (a missing element null, never 0; a list that is not numbers is a reject); the P&amp;L-vector ids are PNL-&lt;trade or position&gt;-&lt;set&gt; (earlier PV- ids still read); every P&amp;L-vector, scenario-PV and exposure-path row carries LIMIT_LETTER, the column the limit-letter hierarchy is built from (VAR_GUIDE.md 5.2, 15.14), and var-limit holds the limits.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 'VaR and exposure on an Iceberg risk lake, equal to Delta to the cent'; ICEBERG_CONNECTOR.md section 18. VarFormatEqualityTest and ExposureFormatEqualityTest write the same day from the very same lines to a Delta lake and to an Iceberg lake (IcebergMirror, the lake fixtures) and read both through one connector switched from plugin: delta to plugin: iceberg. VarFormatEqualityTest: every scope including the limit letters, USD and EUR, VaR, ES, component and incremental VaR, worst scenarios, limits, intraday file batches applied live from Iceberg, official records published to Iceberg. ExposureFormatEqualityTest: EE, PFE, EPE, profiles, contributions, official records. LakeAppendsTest: the Kafka PV stream's windows as one Iceberg append each.</a:t>
            </a:r>
          </a:p>
          <a:p/>
          <a:p>
            <a:r>
              <a:t>Demo figures: build_demo_lakes.py --store risk=iceberg moved 14 risk tables (955,124 rows) into Iceberg in 579 s; a server on that lake answered VAR BANK, the limit letter LL:LL-0003 and XPO BANK from Iceberg and published its official records. On the data's own date (2026-09-30) VAR BANK is USD 112,041,646 on Delta and on Iceberg (VAR_GUIDE.md section 5). These are demo figures (MEASURED, demo), not bank scale; the 200K benchmark on both formats is planned.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VAR_SHARDING.md (status: built; off by default): the market-risk pack's sharding: block (enabled, key [LEGAL_ENTITY, DESK], kinds [scenario-pv, pnl-vector], target-shard-mb 2048, replicas 2). Each date is cut into legal-entity and desk ranges, each owned by two members by rendezvous hashing; an owner reads only its ranges from the lake: the Delta connector skips files by the add actions' minValues and maxValues, the Iceberg connector by the data files' lower and upper bounds (section 5), every row checked again. Every member answers every scope: node aggregates to the bit, other scopes by partial vectors added in shard order. VarShardClusterTest: three members and a reference server, 13 scopes in USD and EUR, equal to the cent on Delta and on Iceberg, intraday applied live. Section 11 (Fargate scale-in and drain): drishti.py var shards --drain or POST /api/v1/var/shards/drain from the task's stop hook, then wait for safeToStop true in GET /api/v1/var/shards; stopTimeout at least the largest shard's build plus grace-seconds.</a:t>
            </a:r>
          </a:p>
          <a:p/>
          <a:p>
            <a:r>
              <a:t>PARALLEL_LOADER.md (status: built): drishti-lakeload writes JSON Lines from a folder or s3:// into Delta (one Kernel commit per business date) or Iceberg (one replacePartitions per date), sorted by LEGAL_ENTITY, DESK, id so a shard owner skips files, with a load manifest of each file's key range; the vector column BYTE_STREAM_SPLIT + ZSTD. Measured at 10,000 positions x 510 scenarios on 24 cores: Delta warm 0.19 to 0.29 s, Iceberg warm 0.25 to 0.27 s. 2.3M is estimated at 1 to 5 minutes (section 11), not measured. PythonPathEqualityTest compares both paths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and EXPOSURE_GUIDE.md section 20: drishti.var.official.format and drishti.ccr.exposure.official.format (delta, the default, or iceberg) with ….official.storage (the s3.* settings). The official tables stay append-only (Delta: delta.appendOnly; Iceberg: append commits only, drishti.append-only=true), keep seven years of history (Delta log retention; Iceberg history.expire.max-snapshot-age-ms, metadata files kept), and the JSON Lines beside them on the same storage. On S3 each Delta commit file is an exclusive create (conditional PUT through drishti-lakeio), so two servers publishing at once both land; an s3:// root no longer ends in publishError. A table keeps the format it was created in. BI's var-results and exposure-results follow the format by themselves (OfficialReaders). Official records cover every configured hierarchy (131 VaR nodes on the test data: 88 MGMT and LEGAL + 43 limit letters). Tests: OfficialSinkTest (both formats, a restatement, six writers at once), OfficialS3Test (S3Mock), OfficialReadersTest. Not yet run against a real bucket.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 scale per the product owner (2026-10-27): 2.3 million positions and 15,000 portfolios (replacing 1.3M and 100,000). Arithmetic (decimal units, per currency): 2,300,000 × 509 × 8 B = 9,365,600,000 B = 9.37 GB a date in float64; × 4 B = 4.68 GB in float32. Parquet about 0.75 × raw (the VAR_GUIDE 27.4 estimate): 9.37 × 0.75 = 7.02 GB a date. A year: 7.02 GB × 252 = 1.77 TB (raw float64 9.37 × 252 = 2.36 TB). Seven years: 252 × 7 = 1,764 dates × 7.02 GB = 12.4 TB. Portfolio vectors: 15,000 × 509 × 8 B = 61,080,000 B = 61 MB a date a currency, if stored (proposed). Files a date: 7.02 GB / 512 MB ≈ 14 to 7.02 GB / 250 MB ≈ 28. Snapshot and metadata rows: ICEBERG_CONNECTOR.md section 9 measured a 1,800-commit table (93 ms a commit; start 160 ms before regrouping and expiry, 33 ms after). The metadata JSON size per snapshot is not measured in the docs; it grows linearly with snapshots kept (the spec lists every snapshot). Commits per year: one full run a date (252) plus intraday appends (Kafka micro-batches,; on Iceberg each window is one append, LakeAppends): the count of intraday commits depends on the window and is an assumption here. Measured at 2.3M on either format: not yet; the planned benchmark is 200K, 2.3M extrapolated.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VAR_GUIDE 15.1 and LAKE_MAINTENANCE.md (risk and risk-results keep 7 years: delta.logRetentionDuration and deletedFileRetentionDuration of 2,557 days; lake maintain raises lower settings, retention-floor). Each commit is a small JSON; checkpoints keep replay short. Iceberg: every snapshot kept stays listed in the metadata JSON rewritten by each commit (ICEBERG_CONNECTOR.md section 9); measured 1,800 daily commits is workable (93 ms a commit); named tags would let old snapshots be referenced selectively but reading branches and tags is 'later' in DRISHTI_ICEBERG.md. Intraday commits multiply the snapshot count. IcebergMaintenance --floor-days 2557 for risk and risk-results (no date dropped, no snapshot expired inside 7 years); the official Iceberg tables keep history.expire.max-snapshot-age-ms of 7 years and every metadata file. The official numbers of record are in the content store either way (VAR_GUIDE section 19). Figures at 2.3 million positions: 2,300,000 × 509 × 8 B × 0.75 ≈ 7.02 GB of Parquet a date; 252 × 7 = 1,764 dates ≈ 12.4 TB; 1,764 full-run versions (plus intraday batches).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and Iceberg side by side, converting tables between them, and keeping one logical connector name across a switch</a:t>
            </a:r>
          </a:p>
          <a:p/>
          <a:p>
            <a:r>
              <a:t>Section 14. Sources: tools/lake/stores.py, tools/build_demo_lakes.py, tools/lake/stores_equality.py, DEMO_DATA.md 'Mixed Delta and Iceberg storage', ICEBERG_CONNECTOR.md section 6 and 'As a connector file'.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read: the trading pack routes kind trade to three connectors (one per source system); each may be a different plugin. Drishti*net shards and replicas work per table. A kind can also be served by two stores in order (Aerospike or PostgreSQL first for recent days, a lake behind: ICEBERG_CONNECTOR.md section 10), so a fall-through from one format to the other for older days is the same mechanism. The equality test ran one server on each lake in turn.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 Iceberg (built for trade tables): stores.py streams a Delta table's rows (id, document, every promoted column) into IcebergLoader, each business day one overwrite of its partition, then removes the Delta table. It reads Delta with the deltalake package and is scoped to the trading domain. build_demo_lakes.py --store risk=iceberg rebuilds the whole risk domain into Iceberg from its JSON Lines and switches risk-store.yaml and exposure-store.yaml (risk=delta puts it back). Iceberg → Delta today: the documents can be exported as JSON Lines and built with lake build; a conversion tool for any table in either direction is planned, not built. In-place metadata conversion (Delta UniForm writing Iceberg metadata; Iceberg's snapshot/migrate procedures in Spark) keeps the Parquet files and writes the other format's metadata: not used by Drishti; note Drishti's Iceberg reader reads Parquet by field id, and files without ids need schema.name-mapping.default (supported). History: a conversion copies the current days; the source's time travel does not move with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connector file's name is the connector's name (CONNECTOR_FILES.md; ICEBERG_CONNECTOR.md 'As a connector file'). A file is applied to the running server within seconds without a restart (Admin → Connectors, the YAML tab, or drishti.py connector apply). The Iceberg file must repeat the promoted layout the pack declared (a file replaces the pack's template wholesale). connector upgrades: a generated file carries its template's fingerprint; at an upgrade a file nobody edited follows the pack's new template in full, and an edited one (such as a switched trade-calypso.yaml) keeps its values and gains every new key, conflicts listed in Admin → Connectors → Template updates with 'Use the pack's value' (ConnectorUpgradeTest). The official results' readers follow drishti.var.official.format by themselves (OfficialReaders). The data-load signal: build_demo_lakes.py --server tells the server once (trade, the newest date). Rolling back is the same edit in reverse while the Delta table is kept.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changes from the Delta deck's 200 TB bill when the tables are Iceberg (list prices, one Region, estimates)</a:t>
            </a:r>
          </a:p>
          <a:p/>
          <a:p>
            <a:r>
              <a:t>Section 15 mirrors section 12 of the Delta deck and reuses its figures (AWS_DELTA_LAKE.md section 12). No new prices are invented: catalog charges are named, not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deck figures (AWS_DELTA_LAKE.md 12.3): S3 storage tiered USD 1,400 (all Standard 4,600); requests USD 500-700; server nodes USD 650-750; loader and maintenance USD 50-150; EFS USD 300 plus throughput; CloudWatch, Secrets, Cloud Map, endpoints, load balancer USD 200-400. Iceberg deltas are qualitative: zstd (Iceberg's layout) compresses documents more than Snappy (the Delta AWS layout); the docs measure about 0.7 KB per 6.5 KB trade for Iceberg/zstd but no Snappy figure on the same data, so the saving is not quantified here. Glue Data Catalog and S3 Tables have their own request and storage charges; check current list prices.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daily load, a restatement, a slow table, a moved or replicated table, and the warnings to act on</a:t>
            </a:r>
          </a:p>
          <a:p/>
          <a:p>
            <a:r>
              <a:t>Section 16 mirrors section 13 of the Delta deck, built from ICEBERG_CONNECTOR.md section 14 (Diagnosing).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14 symptom table; loader failure lines (section 6); single-writer warning (PathTableOps.probe log text); relocate messages (QA3B-03/04 fixes in the CHANGELOG).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DR (AWS_DELTA_LAKE.md 13.5): time travel, S3 versioning (14 days), Cross-Region Replication with RTC, EFS and ECR replication, AWS Backup. Iceberg specifics: metadata names absolute paths, so a replica bucket's table names the source bucket; the native engine's relocate setting reads it ('s3://prod/wh -&gt; s3://dr/wh'; RelocationTest covers s3 pairs mapped to local folders; an s3 → s3 pair in the recovery Region is PROPOSED to test; tableIdentity() stays the table's UUID after a copy read through relocate). Replication copies objects one by one: a metadata file can arrive before a data file it names, as with Delta. A path-based table's version-hint.text could also arrive before the metadata file it names: that read fails (NoSuchTable) until the file arrives; a hint that lags behind newer metadata files is caught up (PathTableOps.currentVersion).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not yet proven, known limits, the decisions to take, and where to read more</a:t>
            </a:r>
          </a:p>
          <a:p/>
          <a:p>
            <a:r>
              <a:t>Section 17 mirrors section 15 and the closing slides of the Delta deck.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Collected from ICEBERG_CONNECTOR.md section 13, ICEBERG_EXTERNAL_CONNECTOR.md section 11, DRISHTI_ICEBERG.md sections 5 and 14, CHANGELOG and AWS_DEPLOYMENT.md section 22. VaR sharding across Drishti*net is built and applies to either format (VAR_SHARDING.md). The not-built items are IMPLEMENTATION_PLAN.md's. No longer limits: VaR and exposure on Iceberg, official results to Iceberg and s3://, the Iceberg AWS scripts, orphan files, Admin → Lakes, the 7-year floor, table identity, disk caches; VAR_GUIDE.md 29.3 now says Iceberg is built.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decision follows from a section of this deck; the recommendations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paths are in the Drishti repository. The Delta deck (docs/publications/Drishti-AWS-Delta-Lake.pptx) and the VaR engine deck (Drishti-VaR-Engine.pptx) are this deck's companions.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914400"/>
          </a:xfrm>
          <a:prstGeom prst="rect">
            <a:avLst/>
          </a:prstGeom>
          <a:noFill/>
        </p:spPr>
        <p:txBody>
          <a:bodyPr wrap="square" lIns="45720" rIns="45720" tIns="27432" bIns="27432" anchor="t">
            <a:spAutoFit/>
          </a:bodyPr>
          <a:lstStyle/>
          <a:p>
            <a:pPr algn="l">
              <a:lnSpc>
                <a:spcPct val="105000"/>
              </a:lnSpc>
            </a:pPr>
            <a:r>
              <a:rPr sz="4400" b="1" i="0">
                <a:solidFill>
                  <a:srgbClr val="FFFFFF"/>
                </a:solidFill>
                <a:latin typeface="Calibri"/>
              </a:rPr>
              <a:t>Drishti on AWS with Apache Iceberg</a:t>
            </a:r>
          </a:p>
        </p:txBody>
      </p:sp>
      <p:sp>
        <p:nvSpPr>
          <p:cNvPr id="5" name="TextBox 4"/>
          <p:cNvSpPr txBox="1"/>
          <p:nvPr/>
        </p:nvSpPr>
        <p:spPr>
          <a:xfrm>
            <a:off x="731520" y="1965960"/>
            <a:ext cx="10789920" cy="914400"/>
          </a:xfrm>
          <a:prstGeom prst="rect">
            <a:avLst/>
          </a:prstGeom>
          <a:noFill/>
        </p:spPr>
        <p:txBody>
          <a:bodyPr wrap="square" lIns="45720" rIns="45720" tIns="27432" bIns="27432" anchor="t">
            <a:spAutoFit/>
          </a:bodyPr>
          <a:lstStyle/>
          <a:p>
            <a:pPr algn="l">
              <a:lnSpc>
                <a:spcPct val="105000"/>
              </a:lnSpc>
            </a:pPr>
            <a:r>
              <a:rPr sz="2000" b="0" i="0">
                <a:solidFill>
                  <a:srgbClr val="C9D3E3"/>
                </a:solidFill>
                <a:latin typeface="Calibri"/>
              </a:rPr>
              <a:t>The same Drishti on either table format: what is identical, what differs, why, and how to choose between Delta Lake and Iceberg</a:t>
            </a:r>
          </a:p>
        </p:txBody>
      </p:sp>
      <p:sp>
        <p:nvSpPr>
          <p:cNvPr id="6" name="TextBox 5"/>
          <p:cNvSpPr txBox="1"/>
          <p:nvPr/>
        </p:nvSpPr>
        <p:spPr>
          <a:xfrm>
            <a:off x="731520" y="3337560"/>
            <a:ext cx="10789920" cy="1188720"/>
          </a:xfrm>
          <a:prstGeom prst="rect">
            <a:avLst/>
          </a:prstGeom>
          <a:noFill/>
        </p:spPr>
        <p:txBody>
          <a:bodyPr wrap="square" lIns="45720" rIns="45720" tIns="27432" bIns="27432" anchor="t">
            <a:spAutoFit/>
          </a:bodyPr>
          <a:lstStyle/>
          <a:p>
            <a:pPr algn="l">
              <a:lnSpc>
                <a:spcPct val="105000"/>
              </a:lnSpc>
            </a:pPr>
            <a:r>
              <a:rPr sz="1300" b="0" i="0">
                <a:solidFill>
                  <a:srgbClr val="A9B6CB"/>
                </a:solidFill>
                <a:latin typeface="Calibri"/>
              </a:rPr>
              <a:t>Status: Iceberg is a full alternative to Delta (Delta stays the default): VaR, intraday and exposure read from Iceberg, official results to Delta or Iceberg on disk or S3, Iceberg maintenance and deploy/aws/iceberg/ built, VaR sharding and the parallel Java loader on either format; the Glue and S3 Tables runs on a real AWS account are still to do</a:t>
            </a:r>
          </a:p>
          <a:p>
            <a:pPr algn="l">
              <a:lnSpc>
                <a:spcPct val="105000"/>
              </a:lnSpc>
            </a:pPr>
            <a:r>
              <a:rPr sz="1300" b="0" i="0">
                <a:solidFill>
                  <a:srgbClr val="A9B6CB"/>
                </a:solidFill>
                <a:latin typeface="Calibri"/>
              </a:rPr>
              <a:t>Sources: docs/architecture/DRISHTI_ICEBERG.md, docs/connectors/ICEBERG_CONNECTOR.md, ICEBERG_EXTERNAL_CONNECTOR.md, AWS_DEPLOYMENT.md 22, VAR_SHARDING.md, PARALLEL_LOADER.md and the code. Companion to Drishti-AWS-Delta-Lake.pptx</a:t>
            </a:r>
          </a:p>
        </p:txBody>
      </p:sp>
      <p:sp>
        <p:nvSpPr>
          <p:cNvPr id="7" name="TextBox 6"/>
          <p:cNvSpPr txBox="1"/>
          <p:nvPr/>
        </p:nvSpPr>
        <p:spPr>
          <a:xfrm>
            <a:off x="731520" y="5029200"/>
            <a:ext cx="10789920" cy="548640"/>
          </a:xfrm>
          <a:prstGeom prst="rect">
            <a:avLst/>
          </a:prstGeom>
          <a:noFill/>
        </p:spPr>
        <p:txBody>
          <a:bodyPr wrap="square" lIns="45720" rIns="45720" tIns="27432" bIns="27432" anchor="t">
            <a:spAutoFit/>
          </a:bodyPr>
          <a:lstStyle/>
          <a:p>
            <a:pPr algn="l">
              <a:lnSpc>
                <a:spcPct val="105000"/>
              </a:lnSpc>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45720" rIns="45720" tIns="27432" bIns="27432" anchor="t">
            <a:spAutoFit/>
          </a:bodyPr>
          <a:lstStyle/>
          <a:p>
            <a:pPr algn="l">
              <a:lnSpc>
                <a:spcPct val="105000"/>
              </a:lnSpc>
            </a:pPr>
            <a:r>
              <a:rPr sz="1200" b="0" i="0">
                <a:solidFill>
                  <a:srgbClr val="A9B6CB"/>
                </a:solidFill>
                <a:latin typeface="Calibri"/>
              </a:rPr>
              <a:t>Ashutosh Sinha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this deck covers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contents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a:t>
            </a:r>
          </a:p>
        </p:txBody>
      </p:sp>
      <p:sp>
        <p:nvSpPr>
          <p:cNvPr id="9" name="TextBox 8"/>
          <p:cNvSpPr txBox="1"/>
          <p:nvPr/>
        </p:nvSpPr>
        <p:spPr>
          <a:xfrm>
            <a:off x="54864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  The principle: one Drishti above the storage plugins</a:t>
            </a:r>
          </a:p>
          <a:p>
            <a:pPr algn="l">
              <a:lnSpc>
                <a:spcPct val="105000"/>
              </a:lnSpc>
              <a:spcAft>
                <a:spcPts val="900"/>
              </a:spcAft>
            </a:pPr>
            <a:r>
              <a:rPr sz="1600" b="0" i="0">
                <a:solidFill>
                  <a:srgbClr val="1C2433"/>
                </a:solidFill>
                <a:latin typeface="Calibri"/>
              </a:rPr>
              <a:t>2  The picture on AWS, with Iceberg</a:t>
            </a:r>
          </a:p>
          <a:p>
            <a:pPr algn="l">
              <a:lnSpc>
                <a:spcPct val="105000"/>
              </a:lnSpc>
              <a:spcAft>
                <a:spcPts val="900"/>
              </a:spcAft>
            </a:pPr>
            <a:r>
              <a:rPr sz="1600" b="0" i="0">
                <a:solidFill>
                  <a:srgbClr val="1C2433"/>
                </a:solidFill>
                <a:latin typeface="Calibri"/>
              </a:rPr>
              <a:t>3  Why S3 and not EFS (the same answer)</a:t>
            </a:r>
          </a:p>
          <a:p>
            <a:pPr algn="l">
              <a:lnSpc>
                <a:spcPct val="105000"/>
              </a:lnSpc>
              <a:spcAft>
                <a:spcPts val="900"/>
              </a:spcAft>
            </a:pPr>
            <a:r>
              <a:rPr sz="1600" b="0" i="0">
                <a:solidFill>
                  <a:srgbClr val="1C2433"/>
                </a:solidFill>
                <a:latin typeface="Calibri"/>
              </a:rPr>
              <a:t>4  Iceberg in Drishti, as built</a:t>
            </a:r>
          </a:p>
          <a:p>
            <a:pPr algn="l">
              <a:lnSpc>
                <a:spcPct val="105000"/>
              </a:lnSpc>
              <a:spcAft>
                <a:spcPts val="900"/>
              </a:spcAft>
            </a:pPr>
            <a:r>
              <a:rPr sz="1600" b="0" i="0">
                <a:solidFill>
                  <a:srgbClr val="1C2433"/>
                </a:solidFill>
                <a:latin typeface="Calibri"/>
              </a:rPr>
              <a:t>5  Built, planned, proposed</a:t>
            </a:r>
          </a:p>
          <a:p>
            <a:pPr algn="l">
              <a:lnSpc>
                <a:spcPct val="105000"/>
              </a:lnSpc>
              <a:spcAft>
                <a:spcPts val="900"/>
              </a:spcAft>
            </a:pPr>
            <a:r>
              <a:rPr sz="1600" b="0" i="0">
                <a:solidFill>
                  <a:srgbClr val="1C2433"/>
                </a:solidFill>
                <a:latin typeface="Calibri"/>
              </a:rPr>
              <a:t>6  Deploying on AWS with Iceberg: catalog, IAM, KMS, network</a:t>
            </a:r>
          </a:p>
          <a:p>
            <a:pPr algn="l">
              <a:lnSpc>
                <a:spcPct val="105000"/>
              </a:lnSpc>
              <a:spcAft>
                <a:spcPts val="900"/>
              </a:spcAft>
            </a:pPr>
            <a:r>
              <a:rPr sz="1600" b="0" i="0">
                <a:solidFill>
                  <a:srgbClr val="1C2433"/>
                </a:solidFill>
                <a:latin typeface="Calibri"/>
              </a:rPr>
              <a:t>7  The layout: tables, columns, partitions</a:t>
            </a:r>
          </a:p>
          <a:p>
            <a:pPr algn="l">
              <a:lnSpc>
                <a:spcPct val="105000"/>
              </a:lnSpc>
              <a:spcAft>
                <a:spcPts val="900"/>
              </a:spcAft>
            </a:pPr>
            <a:r>
              <a:rPr sz="1600" b="0" i="0">
                <a:solidFill>
                  <a:srgbClr val="1C2433"/>
                </a:solidFill>
                <a:latin typeface="Calibri"/>
              </a:rPr>
              <a:t>8  Files and loading</a:t>
            </a:r>
          </a:p>
          <a:p>
            <a:pPr algn="l">
              <a:lnSpc>
                <a:spcPct val="105000"/>
              </a:lnSpc>
              <a:spcAft>
                <a:spcPts val="900"/>
              </a:spcAft>
            </a:pPr>
            <a:r>
              <a:rPr sz="1600" b="0" i="0">
                <a:solidFill>
                  <a:srgbClr val="1C2433"/>
                </a:solidFill>
                <a:latin typeface="Calibri"/>
              </a:rPr>
              <a:t>9  Maintenance</a:t>
            </a:r>
          </a:p>
        </p:txBody>
      </p:sp>
      <p:sp>
        <p:nvSpPr>
          <p:cNvPr id="10" name="TextBox 9"/>
          <p:cNvSpPr txBox="1"/>
          <p:nvPr/>
        </p:nvSpPr>
        <p:spPr>
          <a:xfrm>
            <a:off x="6309360" y="1234440"/>
            <a:ext cx="5486400" cy="4937760"/>
          </a:xfrm>
          <a:prstGeom prst="rect">
            <a:avLst/>
          </a:prstGeom>
          <a:noFill/>
        </p:spPr>
        <p:txBody>
          <a:bodyPr wrap="square" lIns="45720" rIns="45720" tIns="27432" bIns="27432" anchor="t">
            <a:spAutoFit/>
          </a:bodyPr>
          <a:lstStyle/>
          <a:p>
            <a:pPr algn="l">
              <a:lnSpc>
                <a:spcPct val="105000"/>
              </a:lnSpc>
              <a:spcAft>
                <a:spcPts val="900"/>
              </a:spcAft>
            </a:pPr>
            <a:r>
              <a:rPr sz="1600" b="0" i="0">
                <a:solidFill>
                  <a:srgbClr val="1C2433"/>
                </a:solidFill>
                <a:latin typeface="Calibri"/>
              </a:rPr>
              <a:t>10  Caches and staying fast</a:t>
            </a:r>
          </a:p>
          <a:p>
            <a:pPr algn="l">
              <a:lnSpc>
                <a:spcPct val="105000"/>
              </a:lnSpc>
              <a:spcAft>
                <a:spcPts val="900"/>
              </a:spcAft>
            </a:pPr>
            <a:r>
              <a:rPr sz="1600" b="0" i="0">
                <a:solidFill>
                  <a:srgbClr val="1C2433"/>
                </a:solidFill>
                <a:latin typeface="Calibri"/>
              </a:rPr>
              <a:t>11  Delta Lake and Iceberg side by side</a:t>
            </a:r>
          </a:p>
          <a:p>
            <a:pPr algn="l">
              <a:lnSpc>
                <a:spcPct val="105000"/>
              </a:lnSpc>
              <a:spcAft>
                <a:spcPts val="900"/>
              </a:spcAft>
            </a:pPr>
            <a:r>
              <a:rPr sz="1600" b="0" i="0">
                <a:solidFill>
                  <a:srgbClr val="1C2433"/>
                </a:solidFill>
                <a:latin typeface="Calibri"/>
              </a:rPr>
              <a:t>12  Which to choose: a guide for a bank</a:t>
            </a:r>
          </a:p>
          <a:p>
            <a:pPr algn="l">
              <a:lnSpc>
                <a:spcPct val="105000"/>
              </a:lnSpc>
              <a:spcAft>
                <a:spcPts val="900"/>
              </a:spcAft>
            </a:pPr>
            <a:r>
              <a:rPr sz="1600" b="0" i="0">
                <a:solidFill>
                  <a:srgbClr val="1C2433"/>
                </a:solidFill>
                <a:latin typeface="Calibri"/>
              </a:rPr>
              <a:t>13  Risk workloads on Iceberg: VaR, exposure, official results</a:t>
            </a:r>
          </a:p>
          <a:p>
            <a:pPr algn="l">
              <a:lnSpc>
                <a:spcPct val="105000"/>
              </a:lnSpc>
              <a:spcAft>
                <a:spcPts val="900"/>
              </a:spcAft>
            </a:pPr>
            <a:r>
              <a:rPr sz="1600" b="0" i="0">
                <a:solidFill>
                  <a:srgbClr val="1C2433"/>
                </a:solidFill>
                <a:latin typeface="Calibri"/>
              </a:rPr>
              <a:t>14  Migration and coexistence</a:t>
            </a:r>
          </a:p>
          <a:p>
            <a:pPr algn="l">
              <a:lnSpc>
                <a:spcPct val="105000"/>
              </a:lnSpc>
              <a:spcAft>
                <a:spcPts val="900"/>
              </a:spcAft>
            </a:pPr>
            <a:r>
              <a:rPr sz="1600" b="0" i="0">
                <a:solidFill>
                  <a:srgbClr val="1C2433"/>
                </a:solidFill>
                <a:latin typeface="Calibri"/>
              </a:rPr>
              <a:t>15  Sizing and cost</a:t>
            </a:r>
          </a:p>
          <a:p>
            <a:pPr algn="l">
              <a:lnSpc>
                <a:spcPct val="105000"/>
              </a:lnSpc>
              <a:spcAft>
                <a:spcPts val="900"/>
              </a:spcAft>
            </a:pPr>
            <a:r>
              <a:rPr sz="1600" b="0" i="0">
                <a:solidFill>
                  <a:srgbClr val="1C2433"/>
                </a:solidFill>
                <a:latin typeface="Calibri"/>
              </a:rPr>
              <a:t>16  Runbooks</a:t>
            </a:r>
          </a:p>
          <a:p>
            <a:pPr algn="l">
              <a:lnSpc>
                <a:spcPct val="105000"/>
              </a:lnSpc>
              <a:spcAft>
                <a:spcPts val="900"/>
              </a:spcAft>
            </a:pPr>
            <a:r>
              <a:rPr sz="1600" b="0" i="0">
                <a:solidFill>
                  <a:srgbClr val="1C2433"/>
                </a:solidFill>
                <a:latin typeface="Calibri"/>
              </a:rPr>
              <a:t>17  Limits, decisions, related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one rule: the format is a per-connector choice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a:t>
            </a:r>
          </a:p>
        </p:txBody>
      </p:sp>
      <p:sp>
        <p:nvSpPr>
          <p:cNvPr id="9" name="Rounded Rectangle 8"/>
          <p:cNvSpPr/>
          <p:nvPr/>
        </p:nvSpPr>
        <p:spPr>
          <a:xfrm>
            <a:off x="411480" y="1188720"/>
            <a:ext cx="11365992" cy="15087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15087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0972800" cy="1371600"/>
          </a:xfrm>
          <a:prstGeom prst="rect">
            <a:avLst/>
          </a:prstGeom>
          <a:noFill/>
        </p:spPr>
        <p:txBody>
          <a:bodyPr wrap="square" lIns="45720" rIns="45720" tIns="27432" bIns="27432" anchor="ctr">
            <a:spAutoFit/>
          </a:bodyPr>
          <a:lstStyle/>
          <a:p>
            <a:pPr algn="l">
              <a:lnSpc>
                <a:spcPct val="105000"/>
              </a:lnSpc>
            </a:pPr>
            <a:r>
              <a:rPr sz="1600" b="1" i="0">
                <a:solidFill>
                  <a:srgbClr val="1C2433"/>
                </a:solidFill>
                <a:latin typeface="Calibri"/>
              </a:rPr>
              <a:t>Drishti is table-format-agnostic above the storage plugins. Delta Lake or Iceberg is chosen per connector, per table.</a:t>
            </a:r>
          </a:p>
          <a:p>
            <a:pPr algn="l">
              <a:lnSpc>
                <a:spcPct val="105000"/>
              </a:lnSpc>
            </a:pPr>
            <a:r>
              <a:rPr sz="1500" b="0" i="0">
                <a:solidFill>
                  <a:srgbClr val="1C2433"/>
                </a:solidFill>
                <a:latin typeface="Calibri"/>
              </a:rPr>
              <a:t>Packs, data contracts (JSON Lines in), connector names, searches, BI, the VaR and exposure engines and the UI do not know the format. Either way the lake lives in Amazon S3 and EFS keeps only state and caches.</a:t>
            </a:r>
          </a:p>
        </p:txBody>
      </p:sp>
      <p:sp>
        <p:nvSpPr>
          <p:cNvPr id="12" name="TextBox 11"/>
          <p:cNvSpPr txBox="1"/>
          <p:nvPr/>
        </p:nvSpPr>
        <p:spPr>
          <a:xfrm>
            <a:off x="411480" y="2926080"/>
            <a:ext cx="11365992" cy="3383280"/>
          </a:xfrm>
          <a:prstGeom prst="rect">
            <a:avLst/>
          </a:prstGeom>
          <a:noFill/>
        </p:spPr>
        <p:txBody>
          <a:bodyPr wrap="square" lIns="45720" rIns="45720" tIns="27432" bIns="27432" anchor="t">
            <a:spAutoFit/>
          </a:bodyPr>
          <a:lstStyle/>
          <a:p>
            <a:pPr algn="l">
              <a:lnSpc>
                <a:spcPct val="105000"/>
              </a:lnSpc>
              <a:spcAft>
                <a:spcPts val="1200"/>
              </a:spcAft>
            </a:pPr>
            <a:r>
              <a:rPr sz="1500" b="0" i="0">
                <a:solidFill>
                  <a:srgbClr val="E87A1E"/>
                </a:solidFill>
                <a:latin typeface="Calibri"/>
              </a:rPr>
              <a:t>•  </a:t>
            </a:r>
            <a:r>
              <a:rPr sz="1500" b="1" i="0">
                <a:solidFill>
                  <a:srgbClr val="1C2433"/>
                </a:solidFill>
                <a:latin typeface="Calibri"/>
              </a:rPr>
              <a:t>Delta Lake:</a:t>
            </a:r>
            <a:r>
              <a:rPr sz="1500" b="0" i="0">
                <a:solidFill>
                  <a:srgbClr val="1C2433"/>
                </a:solidFill>
                <a:latin typeface="Calibri"/>
              </a:rPr>
              <a:t> </a:t>
            </a:r>
            <a:r>
              <a:rPr sz="1400" b="0" i="0">
                <a:solidFill>
                  <a:srgbClr val="0E7C86"/>
                </a:solidFill>
                <a:latin typeface="Consolas"/>
              </a:rPr>
              <a:t>s3://&lt;org&gt;-drishti-&lt;env&gt;-lake/lake/&lt;domain&gt;/&lt;table&gt;/</a:t>
            </a:r>
            <a:r>
              <a:rPr sz="1500" b="0" i="0">
                <a:solidFill>
                  <a:srgbClr val="1C2433"/>
                </a:solidFill>
                <a:latin typeface="Calibri"/>
              </a:rPr>
              <a:t> with </a:t>
            </a:r>
            <a:r>
              <a:rPr sz="1400" b="0" i="0">
                <a:solidFill>
                  <a:srgbClr val="0E7C86"/>
                </a:solidFill>
                <a:latin typeface="Consolas"/>
              </a:rPr>
              <a:t>_delta_log/</a:t>
            </a:r>
            <a:r>
              <a:rPr sz="1500" b="0" i="0">
                <a:solidFill>
                  <a:srgbClr val="1C2433"/>
                </a:solidFill>
                <a:latin typeface="Calibri"/>
              </a:rPr>
              <a:t> and </a:t>
            </a:r>
            <a:r>
              <a:rPr sz="1400" b="0" i="0">
                <a:solidFill>
                  <a:srgbClr val="0E7C86"/>
                </a:solidFill>
                <a:latin typeface="Consolas"/>
              </a:rPr>
              <a:t>business_date=…/</a:t>
            </a:r>
            <a:r>
              <a:rPr sz="1500" b="0" i="0">
                <a:solidFill>
                  <a:srgbClr val="1C2433"/>
                </a:solidFill>
                <a:latin typeface="Calibri"/>
              </a:rPr>
              <a:t> folders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Iceberg:</a:t>
            </a:r>
            <a:r>
              <a:rPr sz="1500" b="0" i="0">
                <a:solidFill>
                  <a:srgbClr val="1C2433"/>
                </a:solidFill>
                <a:latin typeface="Calibri"/>
              </a:rPr>
              <a:t> </a:t>
            </a:r>
            <a:r>
              <a:rPr sz="1400" b="0" i="0">
                <a:solidFill>
                  <a:srgbClr val="0E7C86"/>
                </a:solidFill>
                <a:latin typeface="Consolas"/>
              </a:rPr>
              <a:t>s3://…-lake/iceberg/&lt;domain&gt;/&lt;table&gt;/</a:t>
            </a:r>
            <a:r>
              <a:rPr sz="1500" b="0" i="0">
                <a:solidFill>
                  <a:srgbClr val="1C2433"/>
                </a:solidFill>
                <a:latin typeface="Calibri"/>
              </a:rPr>
              <a:t> with </a:t>
            </a:r>
            <a:r>
              <a:rPr sz="1400" b="0" i="0">
                <a:solidFill>
                  <a:srgbClr val="0E7C86"/>
                </a:solidFill>
                <a:latin typeface="Consolas"/>
              </a:rPr>
              <a:t>metadata/</a:t>
            </a:r>
            <a:r>
              <a:rPr sz="1500" b="0" i="0">
                <a:solidFill>
                  <a:srgbClr val="1C2433"/>
                </a:solidFill>
                <a:latin typeface="Calibri"/>
              </a:rPr>
              <a:t> (metadata JSON, manifest lists, manifests) and </a:t>
            </a:r>
            <a:r>
              <a:rPr sz="1400" b="0" i="0">
                <a:solidFill>
                  <a:srgbClr val="0E7C86"/>
                </a:solidFill>
                <a:latin typeface="Consolas"/>
              </a:rPr>
              <a:t>data/business_date=…/</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One switch per table:</a:t>
            </a:r>
            <a:r>
              <a:rPr sz="1500" b="0" i="0">
                <a:solidFill>
                  <a:srgbClr val="1C2433"/>
                </a:solidFill>
                <a:latin typeface="Calibri"/>
              </a:rPr>
              <a:t> a connector file says </a:t>
            </a:r>
            <a:r>
              <a:rPr sz="1400" b="0" i="0">
                <a:solidFill>
                  <a:srgbClr val="0E7C86"/>
                </a:solidFill>
                <a:latin typeface="Consolas"/>
              </a:rPr>
              <a:t>plugin: delta</a:t>
            </a:r>
            <a:r>
              <a:rPr sz="1500" b="0" i="0">
                <a:solidFill>
                  <a:srgbClr val="1C2433"/>
                </a:solidFill>
                <a:latin typeface="Calibri"/>
              </a:rPr>
              <a:t> or </a:t>
            </a:r>
            <a:r>
              <a:rPr sz="1400" b="0" i="0">
                <a:solidFill>
                  <a:srgbClr val="0E7C86"/>
                </a:solidFill>
                <a:latin typeface="Consolas"/>
              </a:rPr>
              <a:t>plugin: iceberg</a:t>
            </a:r>
            <a:r>
              <a:rPr sz="1500" b="0" i="0">
                <a:solidFill>
                  <a:srgbClr val="1C2433"/>
                </a:solidFill>
                <a:latin typeface="Calibri"/>
              </a:rPr>
              <a:t>; its name (</a:t>
            </a:r>
            <a:r>
              <a:rPr sz="1400" b="0" i="0">
                <a:solidFill>
                  <a:srgbClr val="0E7C86"/>
                </a:solidFill>
                <a:latin typeface="Consolas"/>
              </a:rPr>
              <a:t>trade-calypso</a:t>
            </a:r>
            <a:r>
              <a:rPr sz="1500" b="0" i="0">
                <a:solidFill>
                  <a:srgbClr val="1C2433"/>
                </a:solidFill>
                <a:latin typeface="Calibri"/>
              </a:rPr>
              <a:t>) and its kinds stay</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Never on EFS:</a:t>
            </a:r>
            <a:r>
              <a:rPr sz="1500" b="0" i="0">
                <a:solidFill>
                  <a:srgbClr val="1C2433"/>
                </a:solidFill>
                <a:latin typeface="Calibri"/>
              </a:rPr>
              <a:t> lake data, </a:t>
            </a:r>
            <a:r>
              <a:rPr sz="1400" b="0" i="0">
                <a:solidFill>
                  <a:srgbClr val="0E7C86"/>
                </a:solidFill>
                <a:latin typeface="Consolas"/>
              </a:rPr>
              <a:t>_delta_log/</a:t>
            </a:r>
            <a:r>
              <a:rPr sz="1500" b="0" i="0">
                <a:solidFill>
                  <a:srgbClr val="1C2433"/>
                </a:solidFill>
                <a:latin typeface="Calibri"/>
              </a:rPr>
              <a:t>, </a:t>
            </a:r>
            <a:r>
              <a:rPr sz="1400" b="0" i="0">
                <a:solidFill>
                  <a:srgbClr val="0E7C86"/>
                </a:solidFill>
                <a:latin typeface="Consolas"/>
              </a:rPr>
              <a:t>metadata/</a:t>
            </a:r>
            <a:r>
              <a:rPr sz="1500" b="0" i="0">
                <a:solidFill>
                  <a:srgbClr val="1C2433"/>
                </a:solidFill>
                <a:latin typeface="Calibri"/>
              </a:rPr>
              <a:t>. EFS holds configuration, users, Drishti*net state and rebuildable caches</a:t>
            </a:r>
          </a:p>
          <a:p>
            <a:pPr algn="l">
              <a:lnSpc>
                <a:spcPct val="105000"/>
              </a:lnSpc>
              <a:spcAft>
                <a:spcPts val="1200"/>
              </a:spcAft>
            </a:pPr>
            <a:r>
              <a:rPr sz="1500" b="0" i="0">
                <a:solidFill>
                  <a:srgbClr val="E87A1E"/>
                </a:solidFill>
                <a:latin typeface="Calibri"/>
              </a:rPr>
              <a:t>•  </a:t>
            </a:r>
            <a:r>
              <a:rPr sz="1500" b="1" i="0">
                <a:solidFill>
                  <a:srgbClr val="1C2433"/>
                </a:solidFill>
                <a:latin typeface="Calibri"/>
              </a:rPr>
              <a:t>Equal:</a:t>
            </a:r>
            <a:r>
              <a:rPr sz="1500" b="0" i="0">
                <a:solidFill>
                  <a:srgbClr val="1C2433"/>
                </a:solidFill>
                <a:latin typeface="Calibri"/>
              </a:rPr>
              <a:t> VaR and exposure vectors, official results, maintenance and the AWS scripts exist for both; the same day on Delta and on Iceberg gives the same VaR and exposure to the cent (section 13). </a:t>
            </a:r>
            <a:r>
              <a:rPr sz="1500" b="1" i="0">
                <a:solidFill>
                  <a:srgbClr val="1C2433"/>
                </a:solidFill>
                <a:latin typeface="Calibri"/>
              </a:rPr>
              <a:t>Delta stays the default.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Status: what exists today, and how it was tested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read this first</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a:t>
            </a:r>
          </a:p>
        </p:txBody>
      </p:sp>
      <p:graphicFrame>
        <p:nvGraphicFramePr>
          <p:cNvPr id="9" name="Table 8"/>
          <p:cNvGraphicFramePr>
            <a:graphicFrameLocks noGrp="1"/>
          </p:cNvGraphicFramePr>
          <p:nvPr/>
        </p:nvGraphicFramePr>
        <p:xfrm>
          <a:off x="411480" y="1188720"/>
          <a:ext cx="11365992" cy="4847231"/>
        </p:xfrm>
        <a:graphic>
          <a:graphicData uri="http://schemas.openxmlformats.org/drawingml/2006/table">
            <a:tbl>
              <a:tblPr firstRow="1" bandRow="1">
                <a:tableStyleId>{5940675A-B579-460E-94D1-54222C63F5DA}</a:tableStyleId>
              </a:tblPr>
              <a:tblGrid>
                <a:gridCol w="4572000"/>
                <a:gridCol w="6793992"/>
              </a:tblGrid>
              <a:tr h="424029">
                <a:tc>
                  <a:txBody>
                    <a:bodyPr wrap="square"/>
                    <a:lstStyle/>
                    <a:p>
                      <a:pPr algn="l">
                        <a:lnSpc>
                          <a:spcPct val="100000"/>
                        </a:lnSpc>
                      </a:pPr>
                      <a:r>
                        <a:rPr sz="1200" b="1" i="0">
                          <a:solidFill>
                            <a:srgbClr val="FFFFFF"/>
                          </a:solidFill>
                          <a:latin typeface="Calibri"/>
                        </a:rPr>
                        <a:t>Piece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Where, and how it is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31886">
                <a:tc>
                  <a:txBody>
                    <a:bodyPr wrap="square"/>
                    <a:lstStyle/>
                    <a:p>
                      <a:pPr algn="l">
                        <a:lnSpc>
                          <a:spcPct val="100000"/>
                        </a:lnSpc>
                      </a:pPr>
                      <a:r>
                        <a:rPr sz="1200" b="1" i="0">
                          <a:solidFill>
                            <a:srgbClr val="1C2433"/>
                          </a:solidFill>
                          <a:latin typeface="Calibri"/>
                        </a:rPr>
                        <a:t>drishti-iceberg: Drishti's own Iceberg engine, no Hadoop (read, write, commit,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drishti-iceberg</a:t>
                      </a:r>
                      <a:r>
                        <a:rPr sz="1200" b="0" i="0">
                          <a:solidFill>
                            <a:srgbClr val="1C2433"/>
                          </a:solidFill>
                          <a:latin typeface="Calibri"/>
                        </a:rPr>
                        <a:t>, </a:t>
                      </a:r>
                      <a:r>
                        <a:rPr sz="1100" b="0" i="0">
                          <a:solidFill>
                            <a:srgbClr val="0E7C86"/>
                          </a:solidFill>
                          <a:latin typeface="Consolas"/>
                        </a:rPr>
                        <a:t>drishti-lakeio</a:t>
                      </a:r>
                      <a:r>
                        <a:rPr sz="1200" b="0" i="0">
                          <a:solidFill>
                            <a:srgbClr val="1C2433"/>
                          </a:solidFill>
                          <a:latin typeface="Calibri"/>
                        </a:rPr>
                        <a:t>; pyiceberg interop both ways; a class loader that refuses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100" b="1" i="0">
                          <a:solidFill>
                            <a:srgbClr val="0E7C86"/>
                          </a:solidFill>
                          <a:latin typeface="Consolas"/>
                        </a:rPr>
                        <a:t>iceberg</a:t>
                      </a:r>
                      <a:r>
                        <a:rPr sz="1200" b="1" i="0">
                          <a:solidFill>
                            <a:srgbClr val="1C2433"/>
                          </a:solidFill>
                          <a:latin typeface="Calibri"/>
                        </a:rPr>
                        <a:t> connector (Drishti's layout) and </a:t>
                      </a:r>
                      <a:r>
                        <a:rPr sz="1100" b="1" i="0">
                          <a:solidFill>
                            <a:srgbClr val="0E7C86"/>
                          </a:solidFill>
                          <a:latin typeface="Consolas"/>
                        </a:rPr>
                        <a:t>iceberg-external</a:t>
                      </a:r>
                      <a:r>
                        <a:rPr sz="1200" b="1" i="0">
                          <a:solidFill>
                            <a:srgbClr val="1C2433"/>
                          </a:solidFill>
                          <a:latin typeface="Calibri"/>
                        </a:rPr>
                        <a:t> (anyone's tables,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plugins/drishti-plugin-iceberg</a:t>
                      </a:r>
                      <a:r>
                        <a:rPr sz="1200" b="0" i="0">
                          <a:solidFill>
                            <a:srgbClr val="1C2433"/>
                          </a:solidFill>
                          <a:latin typeface="Calibri"/>
                        </a:rPr>
                        <a:t>, </a:t>
                      </a:r>
                      <a:r>
                        <a:rPr sz="1100" b="0" i="0">
                          <a:solidFill>
                            <a:srgbClr val="0E7C86"/>
                          </a:solidFill>
                          <a:latin typeface="Consolas"/>
                        </a:rPr>
                        <a:t>-iceberg-external</a:t>
                      </a:r>
                      <a:r>
                        <a:rPr sz="1200" b="0" i="0">
                          <a:solidFill>
                            <a:srgbClr val="1C2433"/>
                          </a:solidFill>
                          <a:latin typeface="Calibri"/>
                        </a:rPr>
                        <a:t>; every plugin test on both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Iceberg tables in S3: loader writes, connector reads, commits by conditional 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S3Mock (in-process and Docker), MinIO; racing writers on MinIO only; never real AWS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REST catalogs, incl. AWS Glue's Iceberg endpoint and S3 Tables (SigV4)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REST protocol tests; SigV4 unit test; </a:t>
                      </a:r>
                      <a:r>
                        <a:rPr sz="1100" b="0" i="0">
                          <a:solidFill>
                            <a:srgbClr val="0E7C86"/>
                          </a:solidFill>
                          <a:latin typeface="Consolas"/>
                        </a:rPr>
                        <a:t>GlueLiveTest</a:t>
                      </a:r>
                      <a:r>
                        <a:rPr sz="1200" b="0" i="0">
                          <a:solidFill>
                            <a:srgbClr val="1C2433"/>
                          </a:solidFill>
                          <a:latin typeface="Calibri"/>
                        </a:rPr>
                        <a:t> written,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Mixed storage: a source system's trades in Iceberg beside Delta (</a:t>
                      </a:r>
                      <a:r>
                        <a:rPr sz="1100" b="1" i="0">
                          <a:solidFill>
                            <a:srgbClr val="0E7C86"/>
                          </a:solidFill>
                          <a:latin typeface="Consolas"/>
                        </a:rPr>
                        <a:t>--store calypso=iceberg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tools/lake/stores.py</a:t>
                      </a:r>
                      <a:r>
                        <a:rPr sz="1200" b="0" i="0">
                          <a:solidFill>
                            <a:srgbClr val="1C2433"/>
                          </a:solidFill>
                          <a:latin typeface="Calibri"/>
                        </a:rPr>
                        <a:t>; equality test: 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31886">
                <a:tc>
                  <a:txBody>
                    <a:bodyPr wrap="square"/>
                    <a:lstStyle/>
                    <a:p>
                      <a:pPr algn="l">
                        <a:lnSpc>
                          <a:spcPct val="100000"/>
                        </a:lnSpc>
                      </a:pPr>
                      <a:r>
                        <a:rPr sz="1200" b="1" i="0">
                          <a:solidFill>
                            <a:srgbClr val="1C2433"/>
                          </a:solidFill>
                          <a:latin typeface="Calibri"/>
                        </a:rPr>
                        <a:t>AWS scripts for an Iceberg lake: load, backfill, maintain, lifecycle, alarms, report, IAM, Glue check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deploy/aws/iceberg/</a:t>
                      </a:r>
                      <a:r>
                        <a:rPr sz="1200" b="0" i="0">
                          <a:solidFill>
                            <a:srgbClr val="1C2433"/>
                          </a:solidFill>
                          <a:latin typeface="Calibri"/>
                        </a:rPr>
                        <a:t>; </a:t>
                      </a:r>
                      <a:r>
                        <a:rPr sz="1100" b="0" i="0">
                          <a:solidFill>
                            <a:srgbClr val="0E7C86"/>
                          </a:solidFill>
                          <a:latin typeface="Consolas"/>
                        </a:rPr>
                        <a:t>--help</a:t>
                      </a:r>
                      <a:r>
                        <a:rPr sz="1200" b="0" i="0">
                          <a:solidFill>
                            <a:srgbClr val="1C2433"/>
                          </a:solidFill>
                          <a:latin typeface="Calibri"/>
                        </a:rPr>
                        <a:t> and </a:t>
                      </a:r>
                      <a:r>
                        <a:rPr sz="1100" b="0" i="0">
                          <a:solidFill>
                            <a:srgbClr val="0E7C86"/>
                          </a:solidFill>
                          <a:latin typeface="Consolas"/>
                        </a:rPr>
                        <a:t>--dry-run</a:t>
                      </a:r>
                      <a:r>
                        <a:rPr sz="1200" b="0" i="0">
                          <a:solidFill>
                            <a:srgbClr val="1C2433"/>
                          </a:solidFill>
                          <a:latin typeface="Calibri"/>
                        </a:rPr>
                        <a:t> in </a:t>
                      </a:r>
                      <a:r>
                        <a:rPr sz="1100" b="0" i="0">
                          <a:solidFill>
                            <a:srgbClr val="0E7C86"/>
                          </a:solidFill>
                          <a:latin typeface="Consolas"/>
                        </a:rPr>
                        <a:t>test_deploy_aws.py</a:t>
                      </a:r>
                      <a:r>
                        <a:rPr sz="1200" b="0" i="0">
                          <a:solidFill>
                            <a:srgbClr val="1C2433"/>
                          </a:solidFill>
                          <a:latin typeface="Calibri"/>
                        </a:rPr>
                        <a:t>; first real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31886">
                <a:tc>
                  <a:txBody>
                    <a:bodyPr wrap="square"/>
                    <a:lstStyle/>
                    <a:p>
                      <a:pPr algn="l">
                        <a:lnSpc>
                          <a:spcPct val="100000"/>
                        </a:lnSpc>
                      </a:pPr>
                      <a:r>
                        <a:rPr sz="1200" b="1" i="0">
                          <a:solidFill>
                            <a:srgbClr val="1C2433"/>
                          </a:solidFill>
                          <a:latin typeface="Calibri"/>
                        </a:rPr>
                        <a:t>VaR, intraday and exposure from Iceberg; official results to Delta or Iceberg, disk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Delta = Iceberg to the cent; </a:t>
                      </a:r>
                      <a:r>
                        <a:rPr sz="1100" b="0" i="0">
                          <a:solidFill>
                            <a:srgbClr val="0E7C86"/>
                          </a:solidFill>
                          <a:latin typeface="Consolas"/>
                        </a:rPr>
                        <a:t>OfficialS3Test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01</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principle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Where Delta and Iceberg plug in, and where they don't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a:t>
            </a:r>
          </a:p>
        </p:txBody>
      </p:sp>
      <p:sp>
        <p:nvSpPr>
          <p:cNvPr id="9" name="Rounded Rectangle 8"/>
          <p:cNvSpPr/>
          <p:nvPr/>
        </p:nvSpPr>
        <p:spPr>
          <a:xfrm>
            <a:off x="411480" y="114300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Console and UI · terminals, pages, BI reports, Admin</a:t>
            </a:r>
          </a:p>
        </p:txBody>
      </p:sp>
      <p:sp>
        <p:nvSpPr>
          <p:cNvPr id="11" name="Rounded Rectangle 10"/>
          <p:cNvSpPr/>
          <p:nvPr/>
        </p:nvSpPr>
        <p:spPr>
          <a:xfrm>
            <a:off x="411480" y="169164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48640" y="169164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Server · BI, VaR and exposure engines, captures, Drishti*net (replicas, shards, forwarding)</a:t>
            </a:r>
          </a:p>
        </p:txBody>
      </p:sp>
      <p:sp>
        <p:nvSpPr>
          <p:cNvPr id="13" name="Rounded Rectangle 12"/>
          <p:cNvSpPr/>
          <p:nvPr/>
        </p:nvSpPr>
        <p:spPr>
          <a:xfrm>
            <a:off x="411480" y="224028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4028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Packs and data contracts · kinds, promoted columns, JSON Lines in · connector names (trade-calypso)</a:t>
            </a:r>
          </a:p>
        </p:txBody>
      </p:sp>
      <p:sp>
        <p:nvSpPr>
          <p:cNvPr id="15" name="Rounded Rectangle 14"/>
          <p:cNvSpPr/>
          <p:nvPr/>
        </p:nvSpPr>
        <p:spPr>
          <a:xfrm>
            <a:off x="411480" y="278892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78892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Engine · SourceRouter: a kind to its connectors, in order; reads, searches, columns, history, scans</a:t>
            </a:r>
          </a:p>
        </p:txBody>
      </p:sp>
      <p:sp>
        <p:nvSpPr>
          <p:cNvPr id="17" name="Rounded Rectangle 16"/>
          <p:cNvSpPr/>
          <p:nvPr/>
        </p:nvSpPr>
        <p:spPr>
          <a:xfrm>
            <a:off x="8046719" y="1143000"/>
            <a:ext cx="3730752" cy="2103120"/>
          </a:xfrm>
          <a:prstGeom prst="roundRect">
            <a:avLst>
              <a:gd name="adj" fmla="val 6000"/>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183879" y="1188720"/>
            <a:ext cx="3474720" cy="2011680"/>
          </a:xfrm>
          <a:prstGeom prst="rect">
            <a:avLst/>
          </a:prstGeom>
          <a:noFill/>
        </p:spPr>
        <p:txBody>
          <a:bodyPr wrap="square" lIns="45720" rIns="45720" tIns="27432" bIns="27432" anchor="ctr">
            <a:spAutoFit/>
          </a:bodyPr>
          <a:lstStyle/>
          <a:p>
            <a:pPr algn="l">
              <a:lnSpc>
                <a:spcPct val="105000"/>
              </a:lnSpc>
            </a:pPr>
            <a:r>
              <a:rPr sz="1400" b="1" i="0">
                <a:solidFill>
                  <a:srgbClr val="2E7D32"/>
                </a:solidFill>
                <a:latin typeface="Calibri"/>
              </a:rPr>
              <a:t>Identical on both formats</a:t>
            </a:r>
          </a:p>
          <a:p>
            <a:pPr algn="l">
              <a:lnSpc>
                <a:spcPct val="105000"/>
              </a:lnSpc>
            </a:pPr>
            <a:r>
              <a:rPr sz="1250" b="0" i="0">
                <a:solidFill>
                  <a:srgbClr val="1C2433"/>
                </a:solidFill>
                <a:latin typeface="Calibri"/>
              </a:rPr>
              <a:t>Nothing above the line knows whether a table is Delta or Iceberg. A pack routes kind </a:t>
            </a:r>
            <a:r>
              <a:rPr sz="1150" b="0" i="0">
                <a:solidFill>
                  <a:srgbClr val="0E7C86"/>
                </a:solidFill>
                <a:latin typeface="Consolas"/>
              </a:rPr>
              <a:t>trade</a:t>
            </a:r>
            <a:r>
              <a:rPr sz="1250" b="0" i="0">
                <a:solidFill>
                  <a:srgbClr val="1C2433"/>
                </a:solidFill>
                <a:latin typeface="Calibri"/>
              </a:rPr>
              <a:t> to </a:t>
            </a:r>
            <a:r>
              <a:rPr sz="1150" b="0" i="0">
                <a:solidFill>
                  <a:srgbClr val="0E7C86"/>
                </a:solidFill>
                <a:latin typeface="Consolas"/>
              </a:rPr>
              <a:t>trade-calypso</a:t>
            </a:r>
            <a:r>
              <a:rPr sz="1250" b="0" i="0">
                <a:solidFill>
                  <a:srgbClr val="1C2433"/>
                </a:solidFill>
                <a:latin typeface="Calibri"/>
              </a:rPr>
              <a:t>; the file under that name decides the format.</a:t>
            </a:r>
          </a:p>
        </p:txBody>
      </p:sp>
      <p:sp>
        <p:nvSpPr>
          <p:cNvPr id="19" name="Rounded Rectangle 18"/>
          <p:cNvSpPr/>
          <p:nvPr/>
        </p:nvSpPr>
        <p:spPr>
          <a:xfrm>
            <a:off x="411480" y="3355848"/>
            <a:ext cx="11365992" cy="384048"/>
          </a:xfrm>
          <a:prstGeom prst="roundRect">
            <a:avLst>
              <a:gd name="adj" fmla="val 20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355848"/>
            <a:ext cx="11091672" cy="384048"/>
          </a:xfrm>
          <a:prstGeom prst="rect">
            <a:avLst/>
          </a:prstGeom>
          <a:noFill/>
        </p:spPr>
        <p:txBody>
          <a:bodyPr wrap="square" lIns="45720" rIns="45720" tIns="27432" bIns="27432" anchor="ctr">
            <a:spAutoFit/>
          </a:bodyPr>
          <a:lstStyle/>
          <a:p>
            <a:pPr algn="l">
              <a:lnSpc>
                <a:spcPct val="105000"/>
              </a:lnSpc>
            </a:pPr>
            <a:r>
              <a:rPr sz="1300" b="0" i="0">
                <a:solidFill>
                  <a:srgbClr val="FFFFFF"/>
                </a:solidFill>
                <a:latin typeface="Calibri"/>
              </a:rPr>
              <a:t>The seam · drishti-api </a:t>
            </a:r>
            <a:r>
              <a:rPr sz="1200" b="0" i="0">
                <a:solidFill>
                  <a:srgbClr val="0E7C86"/>
                </a:solidFill>
                <a:latin typeface="Consolas"/>
              </a:rPr>
              <a:t>SourcePlugin</a:t>
            </a:r>
            <a:r>
              <a:rPr sz="1300" b="0" i="0">
                <a:solidFill>
                  <a:srgbClr val="FFFFFF"/>
                </a:solidFill>
                <a:latin typeface="Calibri"/>
              </a:rPr>
              <a:t>: fetch, days, columnar, columns, scan, dataVersion, heldDates, vectors, documents, tableIdentity …</a:t>
            </a:r>
          </a:p>
        </p:txBody>
      </p:sp>
      <p:sp>
        <p:nvSpPr>
          <p:cNvPr id="21" name="Rounded Rectangle 20"/>
          <p:cNvSpPr/>
          <p:nvPr/>
        </p:nvSpPr>
        <p:spPr>
          <a:xfrm>
            <a:off x="411480"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02920"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delta</a:t>
            </a:r>
          </a:p>
        </p:txBody>
      </p:sp>
      <p:sp>
        <p:nvSpPr>
          <p:cNvPr id="23" name="TextBox 22"/>
          <p:cNvSpPr txBox="1"/>
          <p:nvPr/>
        </p:nvSpPr>
        <p:spPr>
          <a:xfrm>
            <a:off x="502920"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Delta Kernel over </a:t>
            </a:r>
            <a:r>
              <a:rPr sz="1050" b="0" i="0">
                <a:solidFill>
                  <a:srgbClr val="0E7C86"/>
                </a:solidFill>
                <a:latin typeface="Consolas"/>
              </a:rPr>
              <a:t>drishti-deltalake</a:t>
            </a:r>
            <a:r>
              <a:rPr sz="1150" b="0" i="0">
                <a:solidFill>
                  <a:srgbClr val="1C2433"/>
                </a:solidFill>
                <a:latin typeface="Calibri"/>
              </a:rPr>
              <a:t> (native) or Hadoop</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tables Drishti or others write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vectors, whole-day documents</a:t>
            </a:r>
          </a:p>
        </p:txBody>
      </p:sp>
      <p:cxnSp>
        <p:nvCxnSpPr>
          <p:cNvPr id="24" name="Connector 23"/>
          <p:cNvCxnSpPr/>
          <p:nvPr/>
        </p:nvCxnSpPr>
        <p:spPr>
          <a:xfrm>
            <a:off x="1780794"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87268"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3378708"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a:t>
            </a:r>
          </a:p>
        </p:txBody>
      </p:sp>
      <p:sp>
        <p:nvSpPr>
          <p:cNvPr id="27" name="TextBox 26"/>
          <p:cNvSpPr txBox="1"/>
          <p:nvPr/>
        </p:nvSpPr>
        <p:spPr>
          <a:xfrm>
            <a:off x="3378708"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(native, default) or Apache Iceberg Java (library)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Drishti's layout: id, doc, promoted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loader and maintenance write</a:t>
            </a:r>
          </a:p>
        </p:txBody>
      </p:sp>
      <p:cxnSp>
        <p:nvCxnSpPr>
          <p:cNvPr id="28" name="Connector 27"/>
          <p:cNvCxnSpPr/>
          <p:nvPr/>
        </p:nvCxnSpPr>
        <p:spPr>
          <a:xfrm>
            <a:off x="4656582"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6"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254496"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iceberg-external</a:t>
            </a:r>
          </a:p>
        </p:txBody>
      </p:sp>
      <p:sp>
        <p:nvSpPr>
          <p:cNvPr id="31" name="TextBox 30"/>
          <p:cNvSpPr txBox="1"/>
          <p:nvPr/>
        </p:nvSpPr>
        <p:spPr>
          <a:xfrm>
            <a:off x="6254496"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only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anyone's tables, the row is the document</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read-only</a:t>
            </a:r>
          </a:p>
        </p:txBody>
      </p:sp>
      <p:cxnSp>
        <p:nvCxnSpPr>
          <p:cNvPr id="32" name="Connector 31"/>
          <p:cNvCxnSpPr/>
          <p:nvPr/>
        </p:nvCxnSpPr>
        <p:spPr>
          <a:xfrm>
            <a:off x="7532370"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038844" y="3886200"/>
            <a:ext cx="2738628" cy="1371600"/>
          </a:xfrm>
          <a:prstGeom prst="roundRect">
            <a:avLst>
              <a:gd name="adj" fmla="val 8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130284"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other plugins</a:t>
            </a:r>
          </a:p>
        </p:txBody>
      </p:sp>
      <p:sp>
        <p:nvSpPr>
          <p:cNvPr id="35" name="TextBox 34"/>
          <p:cNvSpPr txBox="1"/>
          <p:nvPr/>
        </p:nvSpPr>
        <p:spPr>
          <a:xfrm>
            <a:off x="9130284"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files, S3 objects, PostgreSQL, DuckDB, Cassandra, Aerospike, MongoDB, Redis …</a:t>
            </a:r>
          </a:p>
        </p:txBody>
      </p:sp>
      <p:cxnSp>
        <p:nvCxnSpPr>
          <p:cNvPr id="36" name="Connector 35"/>
          <p:cNvCxnSpPr/>
          <p:nvPr/>
        </p:nvCxnSpPr>
        <p:spPr>
          <a:xfrm>
            <a:off x="10408158"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413248"/>
            <a:ext cx="7501554" cy="457200"/>
          </a:xfrm>
          <a:prstGeom prst="roundRect">
            <a:avLst>
              <a:gd name="adj" fmla="val 20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48640" y="5413248"/>
            <a:ext cx="7227234" cy="457200"/>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drishti-lakeio</a:t>
            </a:r>
            <a:r>
              <a:rPr sz="1250" b="0" i="0">
                <a:solidFill>
                  <a:srgbClr val="1C2433"/>
                </a:solidFill>
                <a:latin typeface="Calibri"/>
              </a:rPr>
              <a:t> (shared): local disk, S3, byte ranges, codecs, footer cache, exclusive create, conditional PUT</a:t>
            </a:r>
          </a:p>
        </p:txBody>
      </p:sp>
      <p:sp>
        <p:nvSpPr>
          <p:cNvPr id="39" name="Rounded Rectangle 38"/>
          <p:cNvSpPr/>
          <p:nvPr/>
        </p:nvSpPr>
        <p:spPr>
          <a:xfrm>
            <a:off x="411480" y="5961888"/>
            <a:ext cx="11365992" cy="438912"/>
          </a:xfrm>
          <a:prstGeom prst="roundRect">
            <a:avLst>
              <a:gd name="adj" fmla="val 2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48640" y="5961888"/>
            <a:ext cx="11091672" cy="43891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Storage · local disk or EFS (development, Windows) · Amazon S3 (</a:t>
            </a:r>
            <a:r>
              <a:rPr sz="1150" b="0" i="0">
                <a:solidFill>
                  <a:srgbClr val="0E7C86"/>
                </a:solidFill>
                <a:latin typeface="Consolas"/>
              </a:rPr>
              <a:t>s3://</a:t>
            </a:r>
            <a:r>
              <a:rPr sz="1250" b="0" i="0">
                <a:solidFill>
                  <a:srgbClr val="1C2433"/>
                </a:solidFill>
                <a:latin typeface="Calibri"/>
              </a:rPr>
              <a:t>, </a:t>
            </a:r>
            <a:r>
              <a:rPr sz="1150" b="0" i="0">
                <a:solidFill>
                  <a:srgbClr val="0E7C86"/>
                </a:solidFill>
                <a:latin typeface="Consolas"/>
              </a:rPr>
              <a:t>s3a://</a:t>
            </a:r>
            <a:r>
              <a:rPr sz="1250" b="0" i="0">
                <a:solidFill>
                  <a:srgbClr val="1C2433"/>
                </a:solidFill>
                <a:latin typeface="Calibri"/>
              </a:rPr>
              <a:t>) · Azure, GCS, HDFS only through the Hadoop/library engines</a:t>
            </a:r>
          </a:p>
        </p:txBody>
      </p:sp>
      <p:sp>
        <p:nvSpPr>
          <p:cNvPr id="41" name="TextBox 40"/>
          <p:cNvSpPr txBox="1"/>
          <p:nvPr/>
        </p:nvSpPr>
        <p:spPr>
          <a:xfrm>
            <a:off x="8050194" y="5413248"/>
            <a:ext cx="3727277" cy="457200"/>
          </a:xfrm>
          <a:prstGeom prst="rect">
            <a:avLst/>
          </a:prstGeom>
          <a:noFill/>
        </p:spPr>
        <p:txBody>
          <a:bodyPr wrap="square" lIns="45720" rIns="45720" tIns="27432" bIns="27432" anchor="ctr">
            <a:spAutoFit/>
          </a:bodyPr>
          <a:lstStyle/>
          <a:p>
            <a:pPr algn="l">
              <a:lnSpc>
                <a:spcPct val="105000"/>
              </a:lnSpc>
            </a:pPr>
            <a:r>
              <a:rPr sz="1250" b="1" i="0">
                <a:solidFill>
                  <a:srgbClr val="E87A1E"/>
                </a:solidFill>
                <a:latin typeface="Calibri"/>
              </a:rPr>
              <a:t>Format-specific below the seam only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is identical, what differs, and why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a:t>
            </a:r>
          </a:p>
        </p:txBody>
      </p:sp>
      <p:graphicFrame>
        <p:nvGraphicFramePr>
          <p:cNvPr id="9" name="Table 8"/>
          <p:cNvGraphicFramePr>
            <a:graphicFrameLocks noGrp="1"/>
          </p:cNvGraphicFramePr>
          <p:nvPr/>
        </p:nvGraphicFramePr>
        <p:xfrm>
          <a:off x="411480" y="1143000"/>
          <a:ext cx="11365992" cy="4592114"/>
        </p:xfrm>
        <a:graphic>
          <a:graphicData uri="http://schemas.openxmlformats.org/drawingml/2006/table">
            <a:tbl>
              <a:tblPr firstRow="1" bandRow="1">
                <a:tableStyleId>{5940675A-B579-460E-94D1-54222C63F5DA}</a:tableStyleId>
              </a:tblPr>
              <a:tblGrid>
                <a:gridCol w="2011680"/>
                <a:gridCol w="3520440"/>
                <a:gridCol w="3291840"/>
                <a:gridCol w="2542032"/>
              </a:tblGrid>
              <a:tr h="358706">
                <a:tc>
                  <a:txBody>
                    <a:bodyPr wrap="square"/>
                    <a:lstStyle/>
                    <a:p>
                      <a:pPr algn="l">
                        <a:lnSpc>
                          <a:spcPct val="100000"/>
                        </a:lnSpc>
                      </a:pPr>
                      <a:r>
                        <a:rPr sz="1150" b="1" i="0">
                          <a:solidFill>
                            <a:srgbClr val="FFFFFF"/>
                          </a:solidFill>
                          <a:latin typeface="Calibri"/>
                        </a:rPr>
                        <a:t>Layer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Identical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722248">
                <a:tc>
                  <a:txBody>
                    <a:bodyPr wrap="square"/>
                    <a:lstStyle/>
                    <a:p>
                      <a:pPr algn="l">
                        <a:lnSpc>
                          <a:spcPct val="100000"/>
                        </a:lnSpc>
                      </a:pPr>
                      <a:r>
                        <a:rPr sz="1150" b="1" i="0">
                          <a:solidFill>
                            <a:srgbClr val="1C2433"/>
                          </a:solidFill>
                          <a:latin typeface="Calibri"/>
                        </a:rPr>
                        <a:t>Packs, contracts, connector names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kinds, promoted columns (</a:t>
                      </a:r>
                      <a:r>
                        <a:rPr sz="1050" b="0" i="0">
                          <a:solidFill>
                            <a:srgbClr val="0E7C86"/>
                          </a:solidFill>
                          <a:latin typeface="Consolas"/>
                        </a:rPr>
                        <a:t>layout.&lt;kind&gt;.columns</a:t>
                      </a:r>
                      <a:r>
                        <a:rPr sz="1150" b="0" i="0">
                          <a:solidFill>
                            <a:srgbClr val="1C2433"/>
                          </a:solidFill>
                          <a:latin typeface="Calibri"/>
                        </a:rPr>
                        <a:t>), JSON Lines input, routes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format is below the plugin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722248">
                <a:tc>
                  <a:txBody>
                    <a:bodyPr wrap="square"/>
                    <a:lstStyle/>
                    <a:p>
                      <a:pPr algn="l">
                        <a:lnSpc>
                          <a:spcPct val="100000"/>
                        </a:lnSpc>
                      </a:pPr>
                      <a:r>
                        <a:rPr sz="1150" b="1" i="0">
                          <a:solidFill>
                            <a:srgbClr val="1C2433"/>
                          </a:solidFill>
                          <a:latin typeface="Calibri"/>
                        </a:rPr>
                        <a:t>Logical table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id</a:t>
                      </a:r>
                      <a:r>
                        <a:rPr sz="1150" b="0" i="0">
                          <a:solidFill>
                            <a:srgbClr val="1C2433"/>
                          </a:solidFill>
                          <a:latin typeface="Calibri"/>
                        </a:rPr>
                        <a:t>, </a:t>
                      </a:r>
                      <a:r>
                        <a:rPr sz="1050" b="0" i="0">
                          <a:solidFill>
                            <a:srgbClr val="0E7C86"/>
                          </a:solidFill>
                          <a:latin typeface="Consolas"/>
                        </a:rPr>
                        <a:t>doc</a:t>
                      </a:r>
                      <a:r>
                        <a:rPr sz="1150" b="0" i="0">
                          <a:solidFill>
                            <a:srgbClr val="1C2433"/>
                          </a:solidFill>
                          <a:latin typeface="Calibri"/>
                        </a:rPr>
                        <a:t>, </a:t>
                      </a:r>
                      <a:r>
                        <a:rPr sz="1050" b="0" i="0">
                          <a:solidFill>
                            <a:srgbClr val="0E7C86"/>
                          </a:solidFill>
                          <a:latin typeface="Consolas"/>
                        </a:rPr>
                        <a:t>business_date</a:t>
                      </a:r>
                      <a:r>
                        <a:rPr sz="1150" b="0" i="0">
                          <a:solidFill>
                            <a:srgbClr val="1C2433"/>
                          </a:solidFill>
                          <a:latin typeface="Calibri"/>
                        </a:rPr>
                        <a:t>, promoted columns; sorted by id; one partition per day; 250,000 rows a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 groups by rows (Delta, 1,000 rows or 1 MB on AWS) vs by compressed bytes (Iceberg, 1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writer sizes row groups in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Read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id map, one row group per read, column sets, type-ahead, history, BI column scan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caches by day fingerprint; Delta by table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Iceberg's manifests give each day's files cheaply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Where the table's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folder in S3, Parquet data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_delta_log/</a:t>
                      </a:r>
                      <a:r>
                        <a:rPr sz="1150" b="0" i="0">
                          <a:solidFill>
                            <a:srgbClr val="1C2433"/>
                          </a:solidFill>
                          <a:latin typeface="Calibri"/>
                        </a:rPr>
                        <a:t> commits and checkpoints vs </a:t>
                      </a:r>
                      <a:r>
                        <a:rPr sz="1050" b="0" i="0">
                          <a:solidFill>
                            <a:srgbClr val="0E7C86"/>
                          </a:solidFill>
                          <a:latin typeface="Consolas"/>
                        </a:rPr>
                        <a:t>metadata/</a:t>
                      </a:r>
                      <a:r>
                        <a:rPr sz="1150" b="0" i="0">
                          <a:solidFill>
                            <a:srgbClr val="1C2433"/>
                          </a:solidFill>
                          <a:latin typeface="Calibri"/>
                        </a:rPr>
                        <a:t> JSON, manifest lists,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two specifications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722248">
                <a:tc>
                  <a:txBody>
                    <a:bodyPr wrap="square"/>
                    <a:lstStyle/>
                    <a:p>
                      <a:pPr algn="l">
                        <a:lnSpc>
                          <a:spcPct val="100000"/>
                        </a:lnSpc>
                      </a:pPr>
                      <a:r>
                        <a:rPr sz="1150" b="1" i="0">
                          <a:solidFill>
                            <a:srgbClr val="1C2433"/>
                          </a:solidFill>
                          <a:latin typeface="Calibri"/>
                        </a:rPr>
                        <a:t>Commits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conditional PUT (</a:t>
                      </a:r>
                      <a:r>
                        <a:rPr sz="1050" b="0" i="0">
                          <a:solidFill>
                            <a:srgbClr val="0E7C86"/>
                          </a:solidFill>
                          <a:latin typeface="Consolas"/>
                        </a:rPr>
                        <a:t>If-None-Match: *</a:t>
                      </a:r>
                      <a:r>
                        <a:rPr sz="1150" b="0" i="0">
                          <a:solidFill>
                            <a:srgbClr val="1C2433"/>
                          </a:solidFill>
                          <a:latin typeface="Calibri"/>
                        </a:rPr>
                        <a:t>): two writers never both win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a:t>
                      </a:r>
                      <a:r>
                        <a:rPr sz="1050" b="0" i="0">
                          <a:solidFill>
                            <a:srgbClr val="0E7C86"/>
                          </a:solidFill>
                          <a:latin typeface="Consolas"/>
                        </a:rPr>
                        <a:t>lake publish</a:t>
                      </a:r>
                      <a:r>
                        <a:rPr sz="1150" b="0" i="0">
                          <a:solidFill>
                            <a:srgbClr val="1C2433"/>
                          </a:solidFill>
                          <a:latin typeface="Calibri"/>
                        </a:rPr>
                        <a:t> (Python deltalake); Iceberg: the Java loader itself, plus a probe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Drishti's Java Delta writer writes local disk and EFS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none needed (path-based)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may also use a REST catalog (Glue,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ecosystem is catalog-centred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and Admin → Lakes for both; retention, relayout, 7-year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checkpoints and vacuum vs Iceberg snapshot expiry and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two specifications keep history differently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seam in detail: what each plugin implements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8</a:t>
            </a:r>
          </a:p>
        </p:txBody>
      </p:sp>
      <p:graphicFrame>
        <p:nvGraphicFramePr>
          <p:cNvPr id="9" name="Table 8"/>
          <p:cNvGraphicFramePr>
            <a:graphicFrameLocks noGrp="1"/>
          </p:cNvGraphicFramePr>
          <p:nvPr/>
        </p:nvGraphicFramePr>
        <p:xfrm>
          <a:off x="411480" y="1143000"/>
          <a:ext cx="11365992" cy="3712464"/>
        </p:xfrm>
        <a:graphic>
          <a:graphicData uri="http://schemas.openxmlformats.org/drawingml/2006/table">
            <a:tbl>
              <a:tblPr firstRow="1" bandRow="1">
                <a:tableStyleId>{5940675A-B579-460E-94D1-54222C63F5DA}</a:tableStyleId>
              </a:tblPr>
              <a:tblGrid>
                <a:gridCol w="4023360"/>
                <a:gridCol w="1097280"/>
                <a:gridCol w="1463040"/>
                <a:gridCol w="1737360"/>
                <a:gridCol w="3044952"/>
              </a:tblGrid>
              <a:tr h="310896">
                <a:tc>
                  <a:txBody>
                    <a:bodyPr wrap="square"/>
                    <a:lstStyle/>
                    <a:p>
                      <a:pPr algn="l">
                        <a:lnSpc>
                          <a:spcPct val="100000"/>
                        </a:lnSpc>
                      </a:pPr>
                      <a:r>
                        <a:rPr sz="1200" b="1" i="0">
                          <a:solidFill>
                            <a:srgbClr val="FFFFFF"/>
                          </a:solidFill>
                          <a:latin typeface="Calibri"/>
                        </a:rPr>
                        <a:t>Capability (SourcePlugin method)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Who needs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200" b="1" i="0">
                          <a:solidFill>
                            <a:srgbClr val="1C2433"/>
                          </a:solidFill>
                          <a:latin typeface="Calibri"/>
                        </a:rPr>
                        <a:t>one entity, history days, search, reverse links (</a:t>
                      </a:r>
                      <a:r>
                        <a:rPr sz="1100" b="1" i="0">
                          <a:solidFill>
                            <a:srgbClr val="0E7C86"/>
                          </a:solidFill>
                          <a:latin typeface="Consolas"/>
                        </a:rPr>
                        <a:t>fetch</a:t>
                      </a:r>
                      <a:r>
                        <a:rPr sz="1200" b="1" i="0">
                          <a:solidFill>
                            <a:srgbClr val="1C2433"/>
                          </a:solidFill>
                          <a:latin typeface="Calibri"/>
                        </a:rPr>
                        <a:t>, </a:t>
                      </a:r>
                      <a:r>
                        <a:rPr sz="1100" b="1" i="0">
                          <a:solidFill>
                            <a:srgbClr val="0E7C86"/>
                          </a:solidFill>
                          <a:latin typeface="Consolas"/>
                        </a:rPr>
                        <a:t>days</a:t>
                      </a:r>
                      <a:r>
                        <a:rPr sz="1200" b="1" i="0">
                          <a:solidFill>
                            <a:srgbClr val="1C2433"/>
                          </a:solidFill>
                          <a:latin typeface="Calibri"/>
                        </a:rPr>
                        <a:t>, </a:t>
                      </a:r>
                      <a:r>
                        <a:rPr sz="1100" b="1" i="0">
                          <a:solidFill>
                            <a:srgbClr val="0E7C86"/>
                          </a:solidFill>
                          <a:latin typeface="Consolas"/>
                        </a:rPr>
                        <a:t>search</a:t>
                      </a:r>
                      <a:r>
                        <a:rPr sz="1200" b="1" i="0">
                          <a:solidFill>
                            <a:srgbClr val="1C2433"/>
                          </a:solidFill>
                          <a:latin typeface="Calibri"/>
                        </a:rPr>
                        <a:t>, </a:t>
                      </a:r>
                      <a:r>
                        <a:rPr sz="1100" b="1" i="0">
                          <a:solidFill>
                            <a:srgbClr val="0E7C86"/>
                          </a:solidFill>
                          <a:latin typeface="Consolas"/>
                        </a:rPr>
                        <a:t>reverse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(no </a:t>
                      </a:r>
                      <a:r>
                        <a:rPr sz="1100" b="0" i="0">
                          <a:solidFill>
                            <a:srgbClr val="0E7C86"/>
                          </a:solidFill>
                          <a:latin typeface="Consolas"/>
                        </a:rPr>
                        <a:t>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page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columns of a day (</a:t>
                      </a:r>
                      <a:r>
                        <a:rPr sz="1100" b="1" i="0">
                          <a:solidFill>
                            <a:srgbClr val="0E7C86"/>
                          </a:solidFill>
                          <a:latin typeface="Consolas"/>
                        </a:rPr>
                        <a:t>columnar</a:t>
                      </a:r>
                      <a:r>
                        <a:rPr sz="1200" b="1" i="0">
                          <a:solidFill>
                            <a:srgbClr val="1C2433"/>
                          </a:solidFill>
                          <a:latin typeface="Calibri"/>
                        </a:rPr>
                        <a:t>, </a:t>
                      </a:r>
                      <a:r>
                        <a:rPr sz="1100" b="1" i="0">
                          <a:solidFill>
                            <a:srgbClr val="0E7C86"/>
                          </a:solidFill>
                          <a:latin typeface="Consolas"/>
                        </a:rPr>
                        <a:t>columns</a:t>
                      </a:r>
                      <a:r>
                        <a:rPr sz="1200" b="1" i="0">
                          <a:solidFill>
                            <a:srgbClr val="1C2433"/>
                          </a:solidFill>
                          <a:latin typeface="Calibri"/>
                        </a:rPr>
                        <a:t>), type-ahead index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searches,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BI column scan, data version, held dates, row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BI store and runs, statements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time travel (</a:t>
                      </a:r>
                      <a:r>
                        <a:rPr sz="1200" b="1" i="1">
                          <a:solidFill>
                            <a:srgbClr val="1C2433"/>
                          </a:solidFill>
                          <a:latin typeface="Calibri"/>
                        </a:rPr>
                        <a:t>known at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every as-known-at view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vector columns (</a:t>
                      </a:r>
                      <a:r>
                        <a:rPr sz="1100" b="1" i="0">
                          <a:solidFill>
                            <a:srgbClr val="0E7C86"/>
                          </a:solidFill>
                          <a:latin typeface="Consolas"/>
                        </a:rPr>
                        <a:t>vectorColumns</a:t>
                      </a:r>
                      <a:r>
                        <a:rPr sz="1200" b="1" i="0">
                          <a:solidFill>
                            <a:srgbClr val="1C2433"/>
                          </a:solidFill>
                          <a:latin typeface="Calibri"/>
                        </a:rPr>
                        <a:t>, </a:t>
                      </a:r>
                      <a:r>
                        <a:rPr sz="1100" b="1" i="0">
                          <a:solidFill>
                            <a:srgbClr val="0E7C86"/>
                          </a:solidFill>
                          <a:latin typeface="Consolas"/>
                        </a:rPr>
                        <a:t>vectors</a:t>
                      </a:r>
                      <a:r>
                        <a:rPr sz="1200" b="1" i="0">
                          <a:solidFill>
                            <a:srgbClr val="1C2433"/>
                          </a:solidFill>
                          <a:latin typeface="Calibri"/>
                        </a:rPr>
                        <a:t>): </a:t>
                      </a:r>
                      <a:r>
                        <a:rPr sz="1100" b="1" i="0">
                          <a:solidFill>
                            <a:srgbClr val="0E7C86"/>
                          </a:solidFill>
                          <a:latin typeface="Consolas"/>
                        </a:rPr>
                        <a:t>list&lt;double&gt;</a:t>
                      </a:r>
                      <a:r>
                        <a:rPr sz="1200" b="1" i="0">
                          <a:solidFill>
                            <a:srgbClr val="1C2433"/>
                          </a:solidFill>
                          <a:latin typeface="Calibri"/>
                        </a:rPr>
                        <a:t> streamed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exposure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whole-day documents (</a:t>
                      </a:r>
                      <a:r>
                        <a:rPr sz="1100" b="1" i="0">
                          <a:solidFill>
                            <a:srgbClr val="0E7C86"/>
                          </a:solidFill>
                          <a:latin typeface="Consolas"/>
                        </a:rPr>
                        <a:t>documents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derived pages (faster 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table identity, holds none (</a:t>
                      </a:r>
                      <a:r>
                        <a:rPr sz="1100" b="1" i="0">
                          <a:solidFill>
                            <a:srgbClr val="0E7C86"/>
                          </a:solidFill>
                          <a:latin typeface="Consolas"/>
                        </a:rPr>
                        <a:t>tableIdentity</a:t>
                      </a:r>
                      <a:r>
                        <a:rPr sz="1200" b="1" i="0">
                          <a:solidFill>
                            <a:srgbClr val="1C2433"/>
                          </a:solidFill>
                          <a:latin typeface="Calibri"/>
                        </a:rPr>
                        <a:t>, </a:t>
                      </a:r>
                      <a:r>
                        <a:rPr sz="1100" b="1" i="0">
                          <a:solidFill>
                            <a:srgbClr val="0E7C86"/>
                          </a:solidFill>
                          <a:latin typeface="Consolas"/>
                        </a:rPr>
                        <a:t>holdsNone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Drishti*net replicas vs shards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inventory, refresh on signal (</a:t>
                      </a:r>
                      <a:r>
                        <a:rPr sz="1100" b="1" i="0">
                          <a:solidFill>
                            <a:srgbClr val="0E7C86"/>
                          </a:solidFill>
                          <a:latin typeface="Consolas"/>
                        </a:rPr>
                        <a:t>inventory</a:t>
                      </a:r>
                      <a:r>
                        <a:rPr sz="1200" b="1" i="0">
                          <a:solidFill>
                            <a:srgbClr val="1C2433"/>
                          </a:solidFill>
                          <a:latin typeface="Calibri"/>
                        </a:rPr>
                        <a:t>, </a:t>
                      </a:r>
                      <a:r>
                        <a:rPr sz="1100" b="1" i="0">
                          <a:solidFill>
                            <a:srgbClr val="0E7C86"/>
                          </a:solidFill>
                          <a:latin typeface="Consolas"/>
                        </a:rPr>
                        <a:t>refreshVersions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Admin test,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175504"/>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175504"/>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230368"/>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Clean layering, equal capability.</a:t>
            </a:r>
            <a:r>
              <a:rPr sz="1300" b="0" i="0">
                <a:solidFill>
                  <a:srgbClr val="1C2433"/>
                </a:solidFill>
                <a:latin typeface="Calibri"/>
              </a:rPr>
              <a:t> The gaps were implementations of existing interface methods, not changes to the architecture: the seam was already where it should be.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Switching one table: --store calypso=iceberg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9</a:t>
            </a:r>
          </a:p>
        </p:txBody>
      </p:sp>
      <p:sp>
        <p:nvSpPr>
          <p:cNvPr id="9" name="Rounded Rectangle 8"/>
          <p:cNvSpPr/>
          <p:nvPr/>
        </p:nvSpPr>
        <p:spPr>
          <a:xfrm>
            <a:off x="411480" y="1143000"/>
            <a:ext cx="1136599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539496"/>
          </a:xfrm>
          <a:prstGeom prst="rect">
            <a:avLst/>
          </a:prstGeom>
          <a:noFill/>
        </p:spPr>
        <p:txBody>
          <a:bodyPr wrap="square" lIns="45720" rIns="45720" tIns="27432" bIns="27432" anchor="t">
            <a:spAutoFit/>
          </a:bodyPr>
          <a:lstStyle/>
          <a:p>
            <a:pPr algn="l">
              <a:lnSpc>
                <a:spcPct val="100000"/>
              </a:lnSpc>
            </a:pPr>
            <a:r>
              <a:rPr sz="1200" b="0" i="0">
                <a:solidFill>
                  <a:srgbClr val="E6EDF3"/>
                </a:solidFill>
                <a:latin typeface="Consolas"/>
              </a:rPr>
              <a:t>python tools/build_demo_lakes.py --store calypso=iceberg          # CALYPSO in Iceberg, ENDUR and MUREX in Delta</a:t>
            </a:r>
          </a:p>
          <a:p>
            <a:pPr algn="l">
              <a:lnSpc>
                <a:spcPct val="100000"/>
              </a:lnSpc>
            </a:pPr>
            <a:r>
              <a:rPr sz="1200" b="0" i="0">
                <a:solidFill>
                  <a:srgbClr val="E6EDF3"/>
                </a:solidFill>
                <a:latin typeface="Consolas"/>
              </a:rPr>
              <a:t>python tools/build_demo_lakes.py --store all=iceberg              # every system in Iceberg</a:t>
            </a:r>
          </a:p>
        </p:txBody>
      </p:sp>
      <p:sp>
        <p:nvSpPr>
          <p:cNvPr id="11" name="TextBox 10"/>
          <p:cNvSpPr txBox="1"/>
          <p:nvPr/>
        </p:nvSpPr>
        <p:spPr>
          <a:xfrm>
            <a:off x="411480"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Before: every system in Delta</a:t>
            </a:r>
          </a:p>
        </p:txBody>
      </p:sp>
      <p:sp>
        <p:nvSpPr>
          <p:cNvPr id="12" name="Rounded Rectangle 11"/>
          <p:cNvSpPr/>
          <p:nvPr/>
        </p:nvSpPr>
        <p:spPr>
          <a:xfrm>
            <a:off x="411480"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14" name="Rounded Rectangle 13"/>
          <p:cNvSpPr/>
          <p:nvPr/>
        </p:nvSpPr>
        <p:spPr>
          <a:xfrm>
            <a:off x="411480" y="3127248"/>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21208"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data/delta/trading/trade_calypso</a:t>
            </a:r>
          </a:p>
        </p:txBody>
      </p:sp>
      <p:sp>
        <p:nvSpPr>
          <p:cNvPr id="16" name="Rounded Rectangle 15"/>
          <p:cNvSpPr/>
          <p:nvPr/>
        </p:nvSpPr>
        <p:spPr>
          <a:xfrm>
            <a:off x="411480"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21208"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sp>
        <p:nvSpPr>
          <p:cNvPr id="18" name="TextBox 17"/>
          <p:cNvSpPr txBox="1"/>
          <p:nvPr/>
        </p:nvSpPr>
        <p:spPr>
          <a:xfrm>
            <a:off x="6291072" y="196596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After: CALYPSO in Iceberg, same connector name</a:t>
            </a:r>
          </a:p>
        </p:txBody>
      </p:sp>
      <p:sp>
        <p:nvSpPr>
          <p:cNvPr id="19" name="Rounded Rectangle 18"/>
          <p:cNvSpPr/>
          <p:nvPr/>
        </p:nvSpPr>
        <p:spPr>
          <a:xfrm>
            <a:off x="6291072" y="2377440"/>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0" y="2395728"/>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trade-endur</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data/delta/trading/trade_endur</a:t>
            </a:r>
          </a:p>
        </p:txBody>
      </p:sp>
      <p:sp>
        <p:nvSpPr>
          <p:cNvPr id="21" name="Rounded Rectangle 20"/>
          <p:cNvSpPr/>
          <p:nvPr/>
        </p:nvSpPr>
        <p:spPr>
          <a:xfrm>
            <a:off x="6291072" y="3127248"/>
            <a:ext cx="5486400" cy="658368"/>
          </a:xfrm>
          <a:prstGeom prst="roundRect">
            <a:avLst>
              <a:gd name="adj" fmla="val 1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3145536"/>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trade-calypso</a:t>
            </a:r>
            <a:r>
              <a:rPr sz="1300" b="0" i="0">
                <a:solidFill>
                  <a:srgbClr val="1C2433"/>
                </a:solidFill>
                <a:latin typeface="Calibri"/>
              </a:rPr>
              <a:t> · </a:t>
            </a:r>
            <a:r>
              <a:rPr sz="1200" b="0" i="0">
                <a:solidFill>
                  <a:srgbClr val="0E7C86"/>
                </a:solidFill>
                <a:latin typeface="Consolas"/>
              </a:rPr>
              <a:t>plugin: iceberg</a:t>
            </a:r>
          </a:p>
          <a:p>
            <a:pPr algn="l">
              <a:lnSpc>
                <a:spcPct val="105000"/>
              </a:lnSpc>
            </a:pPr>
            <a:r>
              <a:rPr sz="1150" b="0" i="0">
                <a:solidFill>
                  <a:srgbClr val="5B677A"/>
                </a:solidFill>
                <a:latin typeface="Calibri"/>
              </a:rPr>
              <a:t>data/iceberg/trading/trade_calypso · engine: native</a:t>
            </a:r>
          </a:p>
        </p:txBody>
      </p:sp>
      <p:sp>
        <p:nvSpPr>
          <p:cNvPr id="23" name="Rounded Rectangle 22"/>
          <p:cNvSpPr/>
          <p:nvPr/>
        </p:nvSpPr>
        <p:spPr>
          <a:xfrm>
            <a:off x="6291072" y="3877056"/>
            <a:ext cx="5486400" cy="658368"/>
          </a:xfrm>
          <a:prstGeom prst="roundRect">
            <a:avLst>
              <a:gd name="adj" fmla="val 10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0" y="3895344"/>
            <a:ext cx="5303520" cy="640080"/>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trade-murex</a:t>
            </a:r>
            <a:r>
              <a:rPr sz="1300" b="0" i="0">
                <a:solidFill>
                  <a:srgbClr val="1C2433"/>
                </a:solidFill>
                <a:latin typeface="Calibri"/>
              </a:rPr>
              <a:t> · </a:t>
            </a:r>
            <a:r>
              <a:rPr sz="1200" b="0" i="0">
                <a:solidFill>
                  <a:srgbClr val="0E7C86"/>
                </a:solidFill>
                <a:latin typeface="Consolas"/>
              </a:rPr>
              <a:t>plugin: delta</a:t>
            </a:r>
          </a:p>
          <a:p>
            <a:pPr algn="l">
              <a:lnSpc>
                <a:spcPct val="105000"/>
              </a:lnSpc>
            </a:pPr>
            <a:r>
              <a:rPr sz="1150" b="0" i="0">
                <a:solidFill>
                  <a:srgbClr val="5B677A"/>
                </a:solidFill>
                <a:latin typeface="Calibri"/>
              </a:rPr>
              <a:t>data/delta/trading/trade_murex</a:t>
            </a:r>
          </a:p>
        </p:txBody>
      </p:sp>
      <p:cxnSp>
        <p:nvCxnSpPr>
          <p:cNvPr id="25" name="Connector 24"/>
          <p:cNvCxnSpPr/>
          <p:nvPr/>
        </p:nvCxnSpPr>
        <p:spPr>
          <a:xfrm>
            <a:off x="5916168" y="3630168"/>
            <a:ext cx="356616" cy="0"/>
          </a:xfrm>
          <a:prstGeom prst="line">
            <a:avLst/>
          </a:prstGeom>
          <a:ln w="3175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11480" y="4754880"/>
            <a:ext cx="11365992" cy="155448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411480" y="4754880"/>
            <a:ext cx="82296" cy="155448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809744"/>
            <a:ext cx="11000232" cy="14447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What stays:</a:t>
            </a:r>
            <a:r>
              <a:rPr sz="1300" b="0" i="0">
                <a:solidFill>
                  <a:srgbClr val="1C2433"/>
                </a:solidFill>
                <a:latin typeface="Calibri"/>
              </a:rPr>
              <a:t> the trading pack's route </a:t>
            </a:r>
            <a:r>
              <a:rPr sz="1200" b="0" i="0">
                <a:solidFill>
                  <a:srgbClr val="0E7C86"/>
                </a:solidFill>
                <a:latin typeface="Consolas"/>
              </a:rPr>
              <a:t>trade → trade-endur, trade-calypso, trade-murex</a:t>
            </a:r>
            <a:r>
              <a:rPr sz="1300" b="0" i="0">
                <a:solidFill>
                  <a:srgbClr val="1C2433"/>
                </a:solidFill>
                <a:latin typeface="Calibri"/>
              </a:rPr>
              <a:t>, the kinds, the promoted columns, every page, search, history and BI model.</a:t>
            </a:r>
          </a:p>
          <a:p>
            <a:pPr algn="l">
              <a:lnSpc>
                <a:spcPct val="105000"/>
              </a:lnSpc>
            </a:pPr>
            <a:r>
              <a:rPr sz="1300" b="1" i="0">
                <a:solidFill>
                  <a:srgbClr val="1C2433"/>
                </a:solidFill>
                <a:latin typeface="Calibri"/>
              </a:rPr>
              <a:t>What changes:</a:t>
            </a:r>
            <a:r>
              <a:rPr sz="1300" b="0" i="0">
                <a:solidFill>
                  <a:srgbClr val="1C2433"/>
                </a:solidFill>
                <a:latin typeface="Calibri"/>
              </a:rPr>
              <a:t> one connector file's </a:t>
            </a:r>
            <a:r>
              <a:rPr sz="1200" b="0" i="0">
                <a:solidFill>
                  <a:srgbClr val="0E7C86"/>
                </a:solidFill>
                <a:latin typeface="Consolas"/>
              </a:rPr>
              <a:t>plugin</a:t>
            </a:r>
            <a:r>
              <a:rPr sz="1300" b="0" i="0">
                <a:solidFill>
                  <a:srgbClr val="1C2433"/>
                </a:solidFill>
                <a:latin typeface="Calibri"/>
              </a:rPr>
              <a:t>, </a:t>
            </a:r>
            <a:r>
              <a:rPr sz="1200" b="0" i="0">
                <a:solidFill>
                  <a:srgbClr val="0E7C86"/>
                </a:solidFill>
                <a:latin typeface="Consolas"/>
              </a:rPr>
              <a:t>engine</a:t>
            </a:r>
            <a:r>
              <a:rPr sz="1300" b="0" i="0">
                <a:solidFill>
                  <a:srgbClr val="1C2433"/>
                </a:solidFill>
                <a:latin typeface="Calibri"/>
              </a:rPr>
              <a:t> and </a:t>
            </a:r>
            <a:r>
              <a:rPr sz="1200" b="0" i="0">
                <a:solidFill>
                  <a:srgbClr val="0E7C86"/>
                </a:solidFill>
                <a:latin typeface="Consolas"/>
              </a:rPr>
              <a:t>table</a:t>
            </a:r>
            <a:r>
              <a:rPr sz="1300" b="0" i="0">
                <a:solidFill>
                  <a:srgbClr val="1C2433"/>
                </a:solidFill>
                <a:latin typeface="Calibri"/>
              </a:rPr>
              <a:t>. Proven by </a:t>
            </a:r>
            <a:r>
              <a:rPr sz="1200" b="0" i="0">
                <a:solidFill>
                  <a:srgbClr val="0E7C86"/>
                </a:solidFill>
                <a:latin typeface="Consolas"/>
              </a:rPr>
              <a:t>stores_equality.py</a:t>
            </a:r>
            <a:r>
              <a:rPr sz="1300" b="0" i="0">
                <a:solidFill>
                  <a:srgbClr val="1C2433"/>
                </a:solidFill>
                <a:latin typeface="Calibri"/>
              </a:rPr>
              <a:t>: 18 answers the same, all-Delta against mixed.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02</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picture on AWS, with Iceberg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the whole flow on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11</a:t>
            </a:r>
          </a:p>
        </p:txBody>
      </p:sp>
      <p:sp>
        <p:nvSpPr>
          <p:cNvPr id="9" name="Rounded Rectangle 8"/>
          <p:cNvSpPr/>
          <p:nvPr/>
        </p:nvSpPr>
        <p:spPr>
          <a:xfrm>
            <a:off x="411480" y="1097280"/>
            <a:ext cx="2377440" cy="114300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1945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Sources</a:t>
            </a:r>
          </a:p>
        </p:txBody>
      </p:sp>
      <p:sp>
        <p:nvSpPr>
          <p:cNvPr id="11" name="TextBox 10"/>
          <p:cNvSpPr txBox="1"/>
          <p:nvPr/>
        </p:nvSpPr>
        <p:spPr>
          <a:xfrm>
            <a:off x="502920" y="1463040"/>
            <a:ext cx="2194560"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ENDUR, CALYPSO, MUREX, reference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dumps: JSON / JSON Lines / .gz</a:t>
            </a:r>
          </a:p>
        </p:txBody>
      </p:sp>
      <p:sp>
        <p:nvSpPr>
          <p:cNvPr id="12" name="Rounded Rectangle 11"/>
          <p:cNvSpPr/>
          <p:nvPr/>
        </p:nvSpPr>
        <p:spPr>
          <a:xfrm>
            <a:off x="3108960" y="1097280"/>
            <a:ext cx="3840480" cy="114300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00400" y="1143000"/>
            <a:ext cx="365760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&lt;org&gt;-drishti-&lt;env&gt;-landing</a:t>
            </a:r>
          </a:p>
        </p:txBody>
      </p:sp>
      <p:sp>
        <p:nvSpPr>
          <p:cNvPr id="14" name="TextBox 13"/>
          <p:cNvSpPr txBox="1"/>
          <p:nvPr/>
        </p:nvSpPr>
        <p:spPr>
          <a:xfrm>
            <a:off x="3200400" y="1463040"/>
            <a:ext cx="3657600" cy="7315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&lt;date&gt;/&lt;source&gt;/*.jsonl.gz</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kept 30 days, then expired (as Delta)</a:t>
            </a:r>
          </a:p>
        </p:txBody>
      </p:sp>
      <p:sp>
        <p:nvSpPr>
          <p:cNvPr id="15" name="Rounded Rectangle 14"/>
          <p:cNvSpPr/>
          <p:nvPr/>
        </p:nvSpPr>
        <p:spPr>
          <a:xfrm>
            <a:off x="7589520" y="1097280"/>
            <a:ext cx="4187952" cy="11430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80960" y="1143000"/>
            <a:ext cx="40050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EventBridge Scheduler</a:t>
            </a:r>
          </a:p>
        </p:txBody>
      </p:sp>
      <p:sp>
        <p:nvSpPr>
          <p:cNvPr id="17" name="TextBox 16"/>
          <p:cNvSpPr txBox="1"/>
          <p:nvPr/>
        </p:nvSpPr>
        <p:spPr>
          <a:xfrm>
            <a:off x="7680960" y="1463040"/>
            <a:ext cx="4005072" cy="7315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weekday evening load; nightly maintenance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same schedules as the Delta lake</a:t>
            </a:r>
          </a:p>
        </p:txBody>
      </p:sp>
      <p:cxnSp>
        <p:nvCxnSpPr>
          <p:cNvPr id="18" name="Connector 17"/>
          <p:cNvCxnSpPr/>
          <p:nvPr/>
        </p:nvCxnSpPr>
        <p:spPr>
          <a:xfrm>
            <a:off x="2788920" y="1664208"/>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949440" y="1664208"/>
            <a:ext cx="640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468880"/>
            <a:ext cx="11365992" cy="132588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14600"/>
            <a:ext cx="1118311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loader · IcebergLoader (engine native), per table, under the table's lock</a:t>
            </a:r>
          </a:p>
        </p:txBody>
      </p:sp>
      <p:sp>
        <p:nvSpPr>
          <p:cNvPr id="22" name="TextBox 21"/>
          <p:cNvSpPr txBox="1"/>
          <p:nvPr/>
        </p:nvSpPr>
        <p:spPr>
          <a:xfrm>
            <a:off x="502920" y="2834640"/>
            <a:ext cx="11183112" cy="9144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1 read the landing dumps (JSON Lines: </a:t>
            </a:r>
            <a:r>
              <a:rPr sz="1050" b="0" i="0">
                <a:solidFill>
                  <a:srgbClr val="0E7C86"/>
                </a:solidFill>
                <a:latin typeface="Consolas"/>
              </a:rPr>
              <a:t>{domain, kind, id, date, doc, columns}</a:t>
            </a:r>
            <a:r>
              <a:rPr sz="1150" b="0" i="0">
                <a:solidFill>
                  <a:srgbClr val="1C2433"/>
                </a:solidFill>
                <a:latin typeface="Calibri"/>
              </a:rPr>
              <a:t>)   2 external sort per day by id (spill on EFS or ephemeral disk)</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3 write Parquet + manifests to </a:t>
            </a:r>
            <a:r>
              <a:rPr sz="1050" b="0" i="0">
                <a:solidFill>
                  <a:srgbClr val="0E7C86"/>
                </a:solidFill>
                <a:latin typeface="Consolas"/>
              </a:rPr>
              <a:t>s3://…-lake/iceberg/&lt;domain&gt;/&lt;table&gt;/</a:t>
            </a:r>
            <a:r>
              <a:rPr sz="1150" b="0" i="0">
                <a:solidFill>
                  <a:srgbClr val="1C2433"/>
                </a:solidFill>
                <a:latin typeface="Calibri"/>
              </a:rPr>
              <a:t> directly   4 commit: conditional PUT of </a:t>
            </a:r>
            <a:r>
              <a:rPr sz="1050" b="0" i="0">
                <a:solidFill>
                  <a:srgbClr val="0E7C86"/>
                </a:solidFill>
                <a:latin typeface="Consolas"/>
              </a:rPr>
              <a:t>vN+1.metadata.json</a:t>
            </a:r>
            <a:r>
              <a:rPr sz="1150" b="0" i="0">
                <a:solidFill>
                  <a:srgbClr val="1C2433"/>
                </a:solidFill>
                <a:latin typeface="Calibri"/>
              </a:rPr>
              <a:t> (or the REST catalog)</a:t>
            </a:r>
          </a:p>
        </p:txBody>
      </p:sp>
      <p:cxnSp>
        <p:nvCxnSpPr>
          <p:cNvPr id="23" name="Connector 22"/>
          <p:cNvCxnSpPr/>
          <p:nvPr/>
        </p:nvCxnSpPr>
        <p:spPr>
          <a:xfrm>
            <a:off x="9601200" y="224028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4023360"/>
            <a:ext cx="6035040" cy="15087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02920" y="4069080"/>
            <a:ext cx="5852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 &lt;org&gt;-drishti-&lt;env&gt;-lake (THE LAKE)</a:t>
            </a:r>
          </a:p>
        </p:txBody>
      </p:sp>
      <p:sp>
        <p:nvSpPr>
          <p:cNvPr id="26" name="TextBox 25"/>
          <p:cNvSpPr txBox="1"/>
          <p:nvPr/>
        </p:nvSpPr>
        <p:spPr>
          <a:xfrm>
            <a:off x="502920" y="4389120"/>
            <a:ext cx="5852159"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iceberg/trading/trade_endur/metadata/</a:t>
            </a:r>
            <a:r>
              <a:rPr sz="1150" b="0" i="0">
                <a:solidFill>
                  <a:srgbClr val="1C2433"/>
                </a:solidFill>
                <a:latin typeface="Calibri"/>
              </a:rPr>
              <a:t> v12.metadata.json, snap-….avro, …-m0.avro</a:t>
            </a:r>
          </a:p>
          <a:p>
            <a:pPr algn="l">
              <a:lnSpc>
                <a:spcPct val="105000"/>
              </a:lnSpc>
              <a:spcAft>
                <a:spcPts val="200"/>
              </a:spcAft>
            </a:pPr>
            <a:r>
              <a:rPr sz="1050" b="0" i="0">
                <a:solidFill>
                  <a:srgbClr val="E87A1E"/>
                </a:solidFill>
                <a:latin typeface="Calibri"/>
              </a:rPr>
              <a:t>•  </a:t>
            </a:r>
            <a:r>
              <a:rPr sz="1050" b="0" i="0">
                <a:solidFill>
                  <a:srgbClr val="0E7C86"/>
                </a:solidFill>
                <a:latin typeface="Consolas"/>
              </a:rPr>
              <a:t>…/data/business_date=2026-10-20/…parquet</a:t>
            </a:r>
            <a:r>
              <a:rPr sz="1150" b="0" i="0">
                <a:solidFill>
                  <a:srgbClr val="1C2433"/>
                </a:solidFill>
                <a:latin typeface="Calibri"/>
              </a:rPr>
              <a:t> (zstd, sorted by id)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versioning · SSE-KMS · VPC endpoint only · no S3 expiry of table files</a:t>
            </a:r>
          </a:p>
        </p:txBody>
      </p:sp>
      <p:cxnSp>
        <p:nvCxnSpPr>
          <p:cNvPr id="27" name="Connector 26"/>
          <p:cNvCxnSpPr/>
          <p:nvPr/>
        </p:nvCxnSpPr>
        <p:spPr>
          <a:xfrm>
            <a:off x="3200400" y="3794760"/>
            <a:ext cx="0" cy="22860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766560" y="4023360"/>
            <a:ext cx="5010912" cy="150876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858000" y="4069080"/>
            <a:ext cx="4828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services drishti-a, -b, -c (server + console)</a:t>
            </a:r>
          </a:p>
        </p:txBody>
      </p:sp>
      <p:sp>
        <p:nvSpPr>
          <p:cNvPr id="30" name="TextBox 29"/>
          <p:cNvSpPr txBox="1"/>
          <p:nvPr/>
        </p:nvSpPr>
        <p:spPr>
          <a:xfrm>
            <a:off x="6858000" y="4389120"/>
            <a:ext cx="4828032" cy="109728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root </a:t>
            </a:r>
            <a:r>
              <a:rPr sz="1050" b="0" i="0">
                <a:solidFill>
                  <a:srgbClr val="0E7C86"/>
                </a:solidFill>
                <a:latin typeface="Consolas"/>
              </a:rPr>
              <a:t>s3://…-lake/iceberg</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heap: layouts, id maps, column sets, footers, manifests</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Drishti*net between task IPs; seeds by Cloud Map</a:t>
            </a:r>
          </a:p>
        </p:txBody>
      </p:sp>
      <p:cxnSp>
        <p:nvCxnSpPr>
          <p:cNvPr id="31" name="Connector 30"/>
          <p:cNvCxnSpPr/>
          <p:nvPr/>
        </p:nvCxnSpPr>
        <p:spPr>
          <a:xfrm>
            <a:off x="6446520" y="4754880"/>
            <a:ext cx="32004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55080" y="4462272"/>
            <a:ext cx="548640" cy="274320"/>
          </a:xfrm>
          <a:prstGeom prst="rect">
            <a:avLst/>
          </a:prstGeom>
          <a:noFill/>
        </p:spPr>
        <p:txBody>
          <a:bodyPr wrap="square" lIns="45720" rIns="45720" tIns="27432" bIns="27432" anchor="t">
            <a:spAutoFit/>
          </a:bodyPr>
          <a:lstStyle/>
          <a:p>
            <a:pPr algn="l">
              <a:lnSpc>
                <a:spcPct val="105000"/>
              </a:lnSpc>
            </a:pPr>
            <a:r>
              <a:rPr sz="1000" b="0" i="0">
                <a:solidFill>
                  <a:srgbClr val="5B677A"/>
                </a:solidFill>
                <a:latin typeface="Calibri"/>
              </a:rPr>
              <a:t>GETs</a:t>
            </a:r>
          </a:p>
        </p:txBody>
      </p:sp>
      <p:sp>
        <p:nvSpPr>
          <p:cNvPr id="33" name="Rounded Rectangle 32"/>
          <p:cNvSpPr/>
          <p:nvPr/>
        </p:nvSpPr>
        <p:spPr>
          <a:xfrm>
            <a:off x="411480" y="5715000"/>
            <a:ext cx="6035040" cy="7315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760720"/>
            <a:ext cx="58521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ECS task · maintenance (nightly) · maintain.sh</a:t>
            </a:r>
          </a:p>
        </p:txBody>
      </p:sp>
      <p:sp>
        <p:nvSpPr>
          <p:cNvPr id="35" name="TextBox 34"/>
          <p:cNvSpPr txBox="1"/>
          <p:nvPr/>
        </p:nvSpPr>
        <p:spPr>
          <a:xfrm>
            <a:off x="502920" y="6080760"/>
            <a:ext cx="5852159"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retention (7-year floor), relayout, expiry, orphan files</a:t>
            </a:r>
          </a:p>
        </p:txBody>
      </p:sp>
      <p:sp>
        <p:nvSpPr>
          <p:cNvPr id="36" name="Rounded Rectangle 35"/>
          <p:cNvSpPr/>
          <p:nvPr/>
        </p:nvSpPr>
        <p:spPr>
          <a:xfrm>
            <a:off x="6766560" y="5715000"/>
            <a:ext cx="5010912" cy="7315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58000" y="5760720"/>
            <a:ext cx="482803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Optional catalog · Glue Iceberg REST, Polaris</a:t>
            </a:r>
          </a:p>
        </p:txBody>
      </p:sp>
      <p:sp>
        <p:nvSpPr>
          <p:cNvPr id="38" name="TextBox 37"/>
          <p:cNvSpPr txBox="1"/>
          <p:nvPr/>
        </p:nvSpPr>
        <p:spPr>
          <a:xfrm>
            <a:off x="6858000" y="6080760"/>
            <a:ext cx="4828032" cy="3200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path-based tables need none</a:t>
            </a:r>
          </a:p>
        </p:txBody>
      </p:sp>
      <p:cxnSp>
        <p:nvCxnSpPr>
          <p:cNvPr id="39" name="Connector 38"/>
          <p:cNvCxnSpPr/>
          <p:nvPr/>
        </p:nvCxnSpPr>
        <p:spPr>
          <a:xfrm>
            <a:off x="3200400" y="553212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picture, in words: each box</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12</a:t>
            </a:r>
          </a:p>
        </p:txBody>
      </p:sp>
      <p:graphicFrame>
        <p:nvGraphicFramePr>
          <p:cNvPr id="9" name="Table 8"/>
          <p:cNvGraphicFramePr>
            <a:graphicFrameLocks noGrp="1"/>
          </p:cNvGraphicFramePr>
          <p:nvPr/>
        </p:nvGraphicFramePr>
        <p:xfrm>
          <a:off x="411480" y="1143000"/>
          <a:ext cx="11365991" cy="4932269"/>
        </p:xfrm>
        <a:graphic>
          <a:graphicData uri="http://schemas.openxmlformats.org/drawingml/2006/table">
            <a:tbl>
              <a:tblPr firstRow="1" bandRow="1">
                <a:tableStyleId>{5940675A-B579-460E-94D1-54222C63F5DA}</a:tableStyleId>
              </a:tblPr>
              <a:tblGrid>
                <a:gridCol w="2103120"/>
                <a:gridCol w="3200400"/>
                <a:gridCol w="4187952"/>
                <a:gridCol w="1874519"/>
              </a:tblGrid>
              <a:tr h="423166">
                <a:tc>
                  <a:txBody>
                    <a:bodyPr wrap="square"/>
                    <a:lstStyle/>
                    <a:p>
                      <a:pPr algn="l">
                        <a:lnSpc>
                          <a:spcPct val="100000"/>
                        </a:lnSpc>
                      </a:pPr>
                      <a:r>
                        <a:rPr sz="1150" b="1" i="0">
                          <a:solidFill>
                            <a:srgbClr val="FFFFFF"/>
                          </a:solidFill>
                          <a:latin typeface="Calibri"/>
                        </a:rPr>
                        <a:t>Box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Key facts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09511">
                <a:tc>
                  <a:txBody>
                    <a:bodyPr wrap="square"/>
                    <a:lstStyle/>
                    <a:p>
                      <a:pPr algn="l">
                        <a:lnSpc>
                          <a:spcPct val="100000"/>
                        </a:lnSpc>
                      </a:pPr>
                      <a:r>
                        <a:rPr sz="1150" b="1" i="0">
                          <a:solidFill>
                            <a:srgbClr val="1C2433"/>
                          </a:solidFill>
                          <a:latin typeface="Calibri"/>
                        </a:rPr>
                        <a:t>Sources, landing bucket, scheduler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in the Delta deck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dumps by date and source; 30 days; weekday load and nightly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52037">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IcebergLoader</a:t>
                      </a:r>
                      <a:r>
                        <a:rPr sz="1150" b="0" i="0">
                          <a:solidFill>
                            <a:srgbClr val="1C2433"/>
                          </a:solidFill>
                          <a:latin typeface="Calibri"/>
                        </a:rPr>
                        <a:t> in the server's exec jar (</a:t>
                      </a:r>
                      <a:r>
                        <a:rPr sz="1050" b="0" i="0">
                          <a:solidFill>
                            <a:srgbClr val="0E7C86"/>
                          </a:solidFill>
                          <a:latin typeface="Consolas"/>
                        </a:rPr>
                        <a:t>-Dloader.main=…IcebergLoader</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sorts each day by id, writes files of 250,000 rows, commits each day as one overwrite of its partition (</a:t>
                      </a:r>
                      <a:r>
                        <a:rPr sz="1050" b="0" i="0">
                          <a:solidFill>
                            <a:srgbClr val="0E7C86"/>
                          </a:solidFill>
                          <a:latin typeface="Consolas"/>
                        </a:rPr>
                        <a:t>load-day.sh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9511">
                <a:tc>
                  <a:txBody>
                    <a:bodyPr wrap="square"/>
                    <a:lstStyle/>
                    <a:p>
                      <a:pPr algn="l">
                        <a:lnSpc>
                          <a:spcPct val="100000"/>
                        </a:lnSpc>
                      </a:pPr>
                      <a:r>
                        <a:rPr sz="1150" b="1" i="0">
                          <a:solidFill>
                            <a:srgbClr val="1C2433"/>
                          </a:solidFill>
                          <a:latin typeface="Calibri"/>
                        </a:rPr>
                        <a:t>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tables in the lake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metadata/</a:t>
                      </a:r>
                      <a:r>
                        <a:rPr sz="1150" b="0" i="0">
                          <a:solidFill>
                            <a:srgbClr val="1C2433"/>
                          </a:solidFill>
                          <a:latin typeface="Calibri"/>
                        </a:rPr>
                        <a:t> + </a:t>
                      </a:r>
                      <a:r>
                        <a:rPr sz="1050" b="0" i="0">
                          <a:solidFill>
                            <a:srgbClr val="0E7C86"/>
                          </a:solidFill>
                          <a:latin typeface="Consolas"/>
                        </a:rPr>
                        <a:t>data/business_date=…/</a:t>
                      </a:r>
                      <a:r>
                        <a:rPr sz="1150" b="0" i="0">
                          <a:solidFill>
                            <a:srgbClr val="1C2433"/>
                          </a:solidFill>
                          <a:latin typeface="Calibri"/>
                        </a:rPr>
                        <a:t>; files named by absolute S3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9511">
                <a:tc>
                  <a:txBody>
                    <a:bodyPr wrap="square"/>
                    <a:lstStyle/>
                    <a:p>
                      <a:pPr algn="l">
                        <a:lnSpc>
                          <a:spcPct val="100000"/>
                        </a:lnSpc>
                      </a:pPr>
                      <a:r>
                        <a:rPr sz="115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a:t>
                      </a:r>
                      <a:r>
                        <a:rPr sz="1050" b="0" i="0">
                          <a:solidFill>
                            <a:srgbClr val="0E7C86"/>
                          </a:solidFill>
                          <a:latin typeface="Consolas"/>
                        </a:rPr>
                        <a:t>iceberg</a:t>
                      </a:r>
                      <a:r>
                        <a:rPr sz="1150" b="0" i="0">
                          <a:solidFill>
                            <a:srgbClr val="1C2433"/>
                          </a:solidFill>
                          <a:latin typeface="Calibri"/>
                        </a:rPr>
                        <a:t> connector,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refreshes every 10 s (</a:t>
                      </a:r>
                      <a:r>
                        <a:rPr sz="1050" b="0" i="0">
                          <a:solidFill>
                            <a:srgbClr val="0E7C86"/>
                          </a:solidFill>
                          <a:latin typeface="Consolas"/>
                        </a:rPr>
                        <a:t>version-hint.text</a:t>
                      </a:r>
                      <a:r>
                        <a:rPr sz="1150" b="0" i="0">
                          <a:solidFill>
                            <a:srgbClr val="1C2433"/>
                          </a:solidFill>
                          <a:latin typeface="Calibri"/>
                        </a:rPr>
                        <a:t> or </a:t>
                      </a:r>
                      <a:r>
                        <a:rPr sz="1050" b="0" i="0">
                          <a:solidFill>
                            <a:srgbClr val="0E7C86"/>
                          </a:solidFill>
                          <a:latin typeface="Consolas"/>
                        </a:rPr>
                        <a:t>loadTable</a:t>
                      </a:r>
                      <a:r>
                        <a:rPr sz="1150" b="0" i="0">
                          <a:solidFill>
                            <a:srgbClr val="1C2433"/>
                          </a:solidFill>
                          <a:latin typeface="Calibri"/>
                        </a:rPr>
                        <a:t> with ETag); reads one row group per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9511">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IcebergMaintenance</a:t>
                      </a:r>
                      <a:r>
                        <a:rPr sz="1150" b="0" i="0">
                          <a:solidFill>
                            <a:srgbClr val="1C2433"/>
                          </a:solidFill>
                          <a:latin typeface="Calibri"/>
                        </a:rPr>
                        <a:t> via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with the 7-year floor, relayout, expiry, orphan files (72 h at least; </a:t>
                      </a:r>
                      <a:r>
                        <a:rPr sz="1050" b="0" i="0">
                          <a:solidFill>
                            <a:srgbClr val="0E7C86"/>
                          </a:solidFill>
                          <a:latin typeface="Consolas"/>
                        </a:rPr>
                        <a:t>maintain.sh</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9511">
                <a:tc>
                  <a:txBody>
                    <a:bodyPr wrap="square"/>
                    <a:lstStyle/>
                    <a:p>
                      <a:pPr algn="l">
                        <a:lnSpc>
                          <a:spcPct val="100000"/>
                        </a:lnSpc>
                      </a:pPr>
                      <a:r>
                        <a:rPr sz="1150" b="1" i="0">
                          <a:solidFill>
                            <a:srgbClr val="1C2433"/>
                          </a:solidFill>
                          <a:latin typeface="Calibri"/>
                        </a:rPr>
                        <a:t>Catalog (optional)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REST catalog: Glue's Iceberg endpoint, Polaris, Snowflake Open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commits by the catalog's requirements (409 retried); vended credentials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NOT RUN</a:t>
                      </a:r>
                      <a:r>
                        <a:rPr sz="1150" b="0" i="0">
                          <a:solidFill>
                            <a:srgbClr val="1C2433"/>
                          </a:solidFill>
                          <a:latin typeface="Calibri"/>
                        </a:rPr>
                        <a:t>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9511">
                <a:tc>
                  <a:txBody>
                    <a:bodyPr wrap="square"/>
                    <a:lstStyle/>
                    <a:p>
                      <a:pPr algn="l">
                        <a:lnSpc>
                          <a:spcPct val="100000"/>
                        </a:lnSpc>
                      </a:pPr>
                      <a:r>
                        <a:rPr sz="115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Regional, encrypted, Elastic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state and caches; loader spill and locks; never lake data or </a:t>
                      </a:r>
                      <a:r>
                        <a:rPr sz="1050" b="0" i="0">
                          <a:solidFill>
                            <a:srgbClr val="0E7C86"/>
                          </a:solidFill>
                          <a:latin typeface="Consolas"/>
                        </a:rPr>
                        <a:t>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03</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Why S3 and not EFS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Why S3 and not EFS: the same answer, one more reason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14</a:t>
            </a:r>
          </a:p>
        </p:txBody>
      </p:sp>
      <p:graphicFrame>
        <p:nvGraphicFramePr>
          <p:cNvPr id="9" name="Table 8"/>
          <p:cNvGraphicFramePr>
            <a:graphicFrameLocks noGrp="1"/>
          </p:cNvGraphicFramePr>
          <p:nvPr/>
        </p:nvGraphicFramePr>
        <p:xfrm>
          <a:off x="411480" y="1143000"/>
          <a:ext cx="11365992" cy="3996838"/>
        </p:xfrm>
        <a:graphic>
          <a:graphicData uri="http://schemas.openxmlformats.org/drawingml/2006/table">
            <a:tbl>
              <a:tblPr firstRow="1" bandRow="1">
                <a:tableStyleId>{5940675A-B579-460E-94D1-54222C63F5DA}</a:tableStyleId>
              </a:tblPr>
              <a:tblGrid>
                <a:gridCol w="2286000"/>
                <a:gridCol w="4572000"/>
                <a:gridCol w="4507992"/>
              </a:tblGrid>
              <a:tr h="4343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Amazon 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5626">
                <a:tc>
                  <a:txBody>
                    <a:bodyPr wrap="square"/>
                    <a:lstStyle/>
                    <a:p>
                      <a:pPr algn="l">
                        <a:lnSpc>
                          <a:spcPct val="100000"/>
                        </a:lnSpc>
                      </a:pPr>
                      <a:r>
                        <a:rPr sz="1150" b="1" i="0">
                          <a:solidFill>
                            <a:srgbClr val="1C2433"/>
                          </a:solidFill>
                          <a:latin typeface="Calibri"/>
                        </a:rPr>
                        <a:t>Cost of 200 TB (list prices)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about </a:t>
                      </a:r>
                      <a:r>
                        <a:rPr sz="1150" b="1" i="0">
                          <a:solidFill>
                            <a:srgbClr val="1C2433"/>
                          </a:solidFill>
                          <a:latin typeface="Calibri"/>
                        </a:rPr>
                        <a:t>USD 1,400 a month</a:t>
                      </a:r>
                      <a:r>
                        <a:rPr sz="1150" b="0" i="0">
                          <a:solidFill>
                            <a:srgbClr val="1C2433"/>
                          </a:solidFill>
                          <a:latin typeface="Calibri"/>
                        </a:rPr>
                        <a:t> tiered by business date; USD 4,600 all in Standard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USD 60,000 a month</a:t>
                      </a:r>
                      <a:r>
                        <a:rPr sz="1150" b="0" i="0">
                          <a:solidFill>
                            <a:srgbClr val="1C2433"/>
                          </a:solidFill>
                          <a:latin typeface="Calibri"/>
                        </a:rPr>
                        <a:t> in Standard; USD 3,200 in IA plus a charge per byte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Request 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 3,500 writes, 5,500 reads a second </a:t>
                      </a:r>
                      <a:r>
                        <a:rPr sz="1150" b="1" i="0">
                          <a:solidFill>
                            <a:srgbClr val="1C2433"/>
                          </a:solidFill>
                          <a:latin typeface="Calibri"/>
                        </a:rPr>
                        <a:t>per prefix</a:t>
                      </a:r>
                      <a:r>
                        <a:rPr sz="1150" b="0" i="0">
                          <a:solidFill>
                            <a:srgbClr val="1C2433"/>
                          </a:solidFill>
                          <a:latin typeface="Calibri"/>
                        </a:rPr>
                        <a:t>; each </a:t>
                      </a:r>
                      <a:r>
                        <a:rPr sz="1050" b="0" i="0">
                          <a:solidFill>
                            <a:srgbClr val="0E7C86"/>
                          </a:solidFill>
                          <a:latin typeface="Consolas"/>
                        </a:rPr>
                        <a:t>business_date=</a:t>
                      </a:r>
                      <a:r>
                        <a:rPr sz="1150" b="0" i="0">
                          <a:solidFill>
                            <a:srgbClr val="1C2433"/>
                          </a:solidFill>
                          <a:latin typeface="Calibri"/>
                        </a:rPr>
                        <a:t> folder is a prefix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file system's limits, shared by every node, loader and maintenance job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4354">
                <a:tc>
                  <a:txBody>
                    <a:bodyPr wrap="square"/>
                    <a:lstStyle/>
                    <a:p>
                      <a:pPr algn="l">
                        <a:lnSpc>
                          <a:spcPct val="100000"/>
                        </a:lnSpc>
                      </a:pPr>
                      <a:r>
                        <a:rPr sz="1150" b="1" i="0">
                          <a:solidFill>
                            <a:srgbClr val="1C2433"/>
                          </a:solidFill>
                          <a:latin typeface="Calibri"/>
                        </a:rPr>
                        <a:t>Latency of a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10–30 ms to first byte; Drishti reads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 1 ms hot; tens of ms in IA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Other readers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Athena, Trino, Spark, EMR, Snowflake read Iceberg (through a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only something that mounts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25626">
                <a:tc>
                  <a:txBody>
                    <a:bodyPr wrap="square"/>
                    <a:lstStyle/>
                    <a:p>
                      <a:pPr algn="l">
                        <a:lnSpc>
                          <a:spcPct val="100000"/>
                        </a:lnSpc>
                      </a:pPr>
                      <a:r>
                        <a:rPr sz="1150" b="1" i="0">
                          <a:solidFill>
                            <a:srgbClr val="1C2433"/>
                          </a:solidFill>
                          <a:latin typeface="Calibri"/>
                        </a:rPr>
                        <a:t>Writers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conditional writes make concurrent Iceberg commits safe (the native engine probes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hard link on POSIX (what Drishti uses on local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5626">
                <a:tc>
                  <a:txBody>
                    <a:bodyPr wrap="square"/>
                    <a:lstStyle/>
                    <a:p>
                      <a:pPr algn="l">
                        <a:lnSpc>
                          <a:spcPct val="100000"/>
                        </a:lnSpc>
                      </a:pPr>
                      <a:r>
                        <a:rPr sz="1150" b="1" i="0">
                          <a:solidFill>
                            <a:srgbClr val="1C2433"/>
                          </a:solidFill>
                          <a:latin typeface="Calibri"/>
                        </a:rPr>
                        <a:t>Iceberg only:</a:t>
                      </a:r>
                      <a:r>
                        <a:rPr sz="1150" b="1" i="0">
                          <a:solidFill>
                            <a:srgbClr val="1C2433"/>
                          </a:solidFill>
                          <a:latin typeface="Calibri"/>
                        </a:rPr>
                        <a:t> file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s3://bucket/…</a:t>
                      </a:r>
                      <a:r>
                        <a:rPr sz="1150" b="0" i="0">
                          <a:solidFill>
                            <a:srgbClr val="1C2433"/>
                          </a:solidFill>
                          <a:latin typeface="Calibri"/>
                        </a:rPr>
                        <a:t> is the same for every task; Cross-Region copies read with </a:t>
                      </a:r>
                      <a:r>
                        <a:rPr sz="1050" b="0" i="0">
                          <a:solidFill>
                            <a:srgbClr val="0E7C86"/>
                          </a:solidFill>
                          <a:latin typeface="Consolas"/>
                        </a:rPr>
                        <a:t>relocate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path depends on the mount; a moved folder is a moved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8640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58952"/>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At 200 TB+ EFS costs 10–40× more and shares one throughput budget, whatever the table format. </a:t>
            </a:r>
            <a:r>
              <a:rPr sz="1300" b="1" i="0">
                <a:solidFill>
                  <a:srgbClr val="1C2433"/>
                </a:solidFill>
                <a:latin typeface="Calibri"/>
              </a:rPr>
              <a:t>So the lake is in S3 for Iceberg too; EFS keeps the small, hot, per-node state.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04</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Iceberg in Drishti, as built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drishti-iceberg: Drishti's own Iceberg engine, no Hadoop</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16</a:t>
            </a:r>
          </a:p>
        </p:txBody>
      </p:sp>
      <p:sp>
        <p:nvSpPr>
          <p:cNvPr id="9" name="Rounded Rectangle 8"/>
          <p:cNvSpPr/>
          <p:nvPr/>
        </p:nvSpPr>
        <p:spPr>
          <a:xfrm>
            <a:off x="411480" y="1143000"/>
            <a:ext cx="8138160" cy="548640"/>
          </a:xfrm>
          <a:prstGeom prst="roundRect">
            <a:avLst>
              <a:gd name="adj" fmla="val 12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IcebergSourcePlugin · IcebergExternalPlugin · IcebergLoader · IcebergMaintenance</a:t>
            </a:r>
          </a:p>
        </p:txBody>
      </p:sp>
      <p:sp>
        <p:nvSpPr>
          <p:cNvPr id="11" name="TextBox 10"/>
          <p:cNvSpPr txBox="1"/>
          <p:nvPr/>
        </p:nvSpPr>
        <p:spPr>
          <a:xfrm>
            <a:off x="6995160" y="11430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unchanged read paths</a:t>
            </a:r>
          </a:p>
        </p:txBody>
      </p:sp>
      <p:sp>
        <p:nvSpPr>
          <p:cNvPr id="12" name="Rounded Rectangle 11"/>
          <p:cNvSpPr/>
          <p:nvPr/>
        </p:nvSpPr>
        <p:spPr>
          <a:xfrm>
            <a:off x="411480" y="178308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17830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catalog/  path-based (</a:t>
            </a:r>
            <a:r>
              <a:rPr sz="1100" b="0" i="0">
                <a:solidFill>
                  <a:srgbClr val="0E7C86"/>
                </a:solidFill>
                <a:latin typeface="Consolas"/>
              </a:rPr>
              <a:t>version-hint.text</a:t>
            </a:r>
            <a:r>
              <a:rPr sz="1200" b="0" i="0">
                <a:solidFill>
                  <a:srgbClr val="1C2433"/>
                </a:solidFill>
                <a:latin typeface="Calibri"/>
              </a:rPr>
              <a:t>), a metadata file named directly, REST (OAuth2, SigV4, vended credentials)</a:t>
            </a:r>
          </a:p>
        </p:txBody>
      </p:sp>
      <p:sp>
        <p:nvSpPr>
          <p:cNvPr id="14" name="TextBox 13"/>
          <p:cNvSpPr txBox="1"/>
          <p:nvPr/>
        </p:nvSpPr>
        <p:spPr>
          <a:xfrm>
            <a:off x="6995160" y="17830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 JDK HTTP</a:t>
            </a:r>
          </a:p>
        </p:txBody>
      </p:sp>
      <p:sp>
        <p:nvSpPr>
          <p:cNvPr id="15" name="Rounded Rectangle 14"/>
          <p:cNvSpPr/>
          <p:nvPr/>
        </p:nvSpPr>
        <p:spPr>
          <a:xfrm>
            <a:off x="411480" y="242316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42316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meta/  table metadata v1/v2, schemas, partition specs, sort orders, snapshots, refs; unknown fields kept</a:t>
            </a:r>
          </a:p>
        </p:txBody>
      </p:sp>
      <p:sp>
        <p:nvSpPr>
          <p:cNvPr id="17" name="TextBox 16"/>
          <p:cNvSpPr txBox="1"/>
          <p:nvPr/>
        </p:nvSpPr>
        <p:spPr>
          <a:xfrm>
            <a:off x="6995160" y="242316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a:t>
            </a:r>
          </a:p>
        </p:txBody>
      </p:sp>
      <p:sp>
        <p:nvSpPr>
          <p:cNvPr id="18" name="Rounded Rectangle 17"/>
          <p:cNvSpPr/>
          <p:nvPr/>
        </p:nvSpPr>
        <p:spPr>
          <a:xfrm>
            <a:off x="411480" y="3063239"/>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3063239"/>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manifest/  manifest lists and manifests: data and delete manifests, partition summaries, column bounds</a:t>
            </a:r>
          </a:p>
        </p:txBody>
      </p:sp>
      <p:sp>
        <p:nvSpPr>
          <p:cNvPr id="20" name="TextBox 19"/>
          <p:cNvSpPr txBox="1"/>
          <p:nvPr/>
        </p:nvSpPr>
        <p:spPr>
          <a:xfrm>
            <a:off x="6995160" y="3063239"/>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Avro</a:t>
            </a:r>
          </a:p>
        </p:txBody>
      </p:sp>
      <p:sp>
        <p:nvSpPr>
          <p:cNvPr id="21" name="Rounded Rectangle 20"/>
          <p:cNvSpPr/>
          <p:nvPr/>
        </p:nvSpPr>
        <p:spPr>
          <a:xfrm>
            <a:off x="411480" y="370332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370332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scan/ + read/  pruning by partition and bounds; Parquet by field id; position and equality deletes</a:t>
            </a:r>
          </a:p>
        </p:txBody>
      </p:sp>
      <p:sp>
        <p:nvSpPr>
          <p:cNvPr id="23" name="TextBox 22"/>
          <p:cNvSpPr txBox="1"/>
          <p:nvPr/>
        </p:nvSpPr>
        <p:spPr>
          <a:xfrm>
            <a:off x="6995160" y="370332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parquet-java</a:t>
            </a:r>
          </a:p>
        </p:txBody>
      </p:sp>
      <p:sp>
        <p:nvSpPr>
          <p:cNvPr id="24" name="Rounded Rectangle 23"/>
          <p:cNvSpPr/>
          <p:nvPr/>
        </p:nvSpPr>
        <p:spPr>
          <a:xfrm>
            <a:off x="411480" y="434340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48640" y="43434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write/  Parquet with field ids and metrics, manifests, commits, maintenance operations</a:t>
            </a:r>
          </a:p>
        </p:txBody>
      </p:sp>
      <p:sp>
        <p:nvSpPr>
          <p:cNvPr id="26" name="TextBox 25"/>
          <p:cNvSpPr txBox="1"/>
          <p:nvPr/>
        </p:nvSpPr>
        <p:spPr>
          <a:xfrm>
            <a:off x="6995160" y="43434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no Hadoop Configuration</a:t>
            </a:r>
          </a:p>
        </p:txBody>
      </p:sp>
      <p:sp>
        <p:nvSpPr>
          <p:cNvPr id="27" name="Rounded Rectangle 26"/>
          <p:cNvSpPr/>
          <p:nvPr/>
        </p:nvSpPr>
        <p:spPr>
          <a:xfrm>
            <a:off x="411480" y="4983480"/>
            <a:ext cx="8138160" cy="548640"/>
          </a:xfrm>
          <a:prstGeom prst="roundRect">
            <a:avLst>
              <a:gd name="adj" fmla="val 12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48640" y="49834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drishti-lakeio  local disk (Windows paths, UNC), S3 (AWS SDK v2), ranged reads, codecs, footer cache</a:t>
            </a:r>
          </a:p>
        </p:txBody>
      </p:sp>
      <p:sp>
        <p:nvSpPr>
          <p:cNvPr id="29" name="TextBox 28"/>
          <p:cNvSpPr txBox="1"/>
          <p:nvPr/>
        </p:nvSpPr>
        <p:spPr>
          <a:xfrm>
            <a:off x="6995160" y="49834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shared with Delta</a:t>
            </a:r>
          </a:p>
        </p:txBody>
      </p:sp>
      <p:sp>
        <p:nvSpPr>
          <p:cNvPr id="30" name="Rounded Rectangle 29"/>
          <p:cNvSpPr/>
          <p:nvPr/>
        </p:nvSpPr>
        <p:spPr>
          <a:xfrm>
            <a:off x="8823960" y="114300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961120" y="123444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 Hadoop classes</a:t>
            </a:r>
          </a:p>
        </p:txBody>
      </p:sp>
      <p:sp>
        <p:nvSpPr>
          <p:cNvPr id="32" name="TextBox 31"/>
          <p:cNvSpPr txBox="1"/>
          <p:nvPr/>
        </p:nvSpPr>
        <p:spPr>
          <a:xfrm>
            <a:off x="8961120" y="178308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loaded by connector, loader or maintenance (a test refuses them)</a:t>
            </a:r>
          </a:p>
        </p:txBody>
      </p:sp>
      <p:sp>
        <p:nvSpPr>
          <p:cNvPr id="33" name="Rounded Rectangle 32"/>
          <p:cNvSpPr/>
          <p:nvPr/>
        </p:nvSpPr>
        <p:spPr>
          <a:xfrm>
            <a:off x="8823960" y="265176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961120" y="274320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Windows</a:t>
            </a:r>
          </a:p>
        </p:txBody>
      </p:sp>
      <p:sp>
        <p:nvSpPr>
          <p:cNvPr id="35" name="TextBox 34"/>
          <p:cNvSpPr txBox="1"/>
          <p:nvPr/>
        </p:nvSpPr>
        <p:spPr>
          <a:xfrm>
            <a:off x="8961120" y="3291839"/>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no winutils.exe, no HADOOP_HOME: load-iceberg.ps1, start-server.ps1 -Iceberg</a:t>
            </a:r>
          </a:p>
        </p:txBody>
      </p:sp>
      <p:sp>
        <p:nvSpPr>
          <p:cNvPr id="36" name="Rounded Rectangle 35"/>
          <p:cNvSpPr/>
          <p:nvPr/>
        </p:nvSpPr>
        <p:spPr>
          <a:xfrm>
            <a:off x="8823960" y="416052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961120" y="4251959"/>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The default engine</a:t>
            </a:r>
          </a:p>
        </p:txBody>
      </p:sp>
      <p:sp>
        <p:nvSpPr>
          <p:cNvPr id="38" name="TextBox 37"/>
          <p:cNvSpPr txBox="1"/>
          <p:nvPr/>
        </p:nvSpPr>
        <p:spPr>
          <a:xfrm>
            <a:off x="8961120" y="480060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native; the library kept for Azure, GCS, HDFS</a:t>
            </a:r>
          </a:p>
        </p:txBody>
      </p:sp>
      <p:sp>
        <p:nvSpPr>
          <p:cNvPr id="39" name="TextBox 38"/>
          <p:cNvSpPr txBox="1"/>
          <p:nvPr/>
        </p:nvSpPr>
        <p:spPr>
          <a:xfrm>
            <a:off x="411480" y="5669280"/>
            <a:ext cx="11338560" cy="6400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Refused by name, never read wrongly: format version 3, encrypted tables, ORC and Avro data files, unknown types, S3 remote signing.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of the Iceberg specification is covered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17</a:t>
            </a:r>
          </a:p>
        </p:txBody>
      </p:sp>
      <p:graphicFrame>
        <p:nvGraphicFramePr>
          <p:cNvPr id="9" name="Table 8"/>
          <p:cNvGraphicFramePr>
            <a:graphicFrameLocks noGrp="1"/>
          </p:cNvGraphicFramePr>
          <p:nvPr/>
        </p:nvGraphicFramePr>
        <p:xfrm>
          <a:off x="411480" y="1143000"/>
          <a:ext cx="11365992" cy="4932264"/>
        </p:xfrm>
        <a:graphic>
          <a:graphicData uri="http://schemas.openxmlformats.org/drawingml/2006/table">
            <a:tbl>
              <a:tblPr firstRow="1" bandRow="1">
                <a:tableStyleId>{5940675A-B579-460E-94D1-54222C63F5DA}</a:tableStyleId>
              </a:tblPr>
              <a:tblGrid>
                <a:gridCol w="2011680"/>
                <a:gridCol w="6035040"/>
                <a:gridCol w="3319272"/>
              </a:tblGrid>
              <a:tr h="390144">
                <a:tc>
                  <a:txBody>
                    <a:bodyPr wrap="square"/>
                    <a:lstStyle/>
                    <a:p>
                      <a:pPr algn="l">
                        <a:lnSpc>
                          <a:spcPct val="100000"/>
                        </a:lnSpc>
                      </a:pPr>
                      <a:r>
                        <a:rPr sz="1150" b="1" i="0">
                          <a:solidFill>
                            <a:srgbClr val="FFFFFF"/>
                          </a:solidFill>
                          <a:latin typeface="Calibri"/>
                        </a:rPr>
                        <a:t>Area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Covered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Refused or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0144">
                <a:tc>
                  <a:txBody>
                    <a:bodyPr wrap="square"/>
                    <a:lstStyle/>
                    <a:p>
                      <a:pPr algn="l">
                        <a:lnSpc>
                          <a:spcPct val="100000"/>
                        </a:lnSpc>
                      </a:pPr>
                      <a:r>
                        <a:rPr sz="1150" b="1" i="0">
                          <a:solidFill>
                            <a:srgbClr val="1C2433"/>
                          </a:solidFill>
                          <a:latin typeface="Calibri"/>
                        </a:rPr>
                        <a:t>Table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every v1/v2 field; unknown fields kept when it writes the next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format version 3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Types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boolean, int, long, float, double, decimal, date, time, timestamp(tz), string, uuid, fixed, binary, struct, list, map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types: timestamp_ns, variant, geometry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by field id: add, drop, rename, reorder, int→long, float→double, decimal widening; name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identity, bucket (Murmur3), truncate, year, month, day, hour, void; several specs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lists and manifests (Avro), data and delete manifests, inherited ids and sequence numbers,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0144">
                <a:tc>
                  <a:txBody>
                    <a:bodyPr wrap="square"/>
                    <a:lstStyle/>
                    <a:p>
                      <a:pPr algn="l">
                        <a:lnSpc>
                          <a:spcPct val="100000"/>
                        </a:lnSpc>
                      </a:pPr>
                      <a:r>
                        <a:rPr sz="1150" b="1" i="0">
                          <a:solidFill>
                            <a:srgbClr val="1C2433"/>
                          </a:solidFill>
                          <a:latin typeface="Calibri"/>
                        </a:rPr>
                        <a:t>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 by the sequence-number rules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deletion vectors (Puffin):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0144">
                <a:tc>
                  <a:txBody>
                    <a:bodyPr wrap="square"/>
                    <a:lstStyle/>
                    <a:p>
                      <a:pPr algn="l">
                        <a:lnSpc>
                          <a:spcPct val="100000"/>
                        </a:lnSpc>
                      </a:pPr>
                      <a:r>
                        <a:rPr sz="1150" b="1" i="0">
                          <a:solidFill>
                            <a:srgbClr val="1C2433"/>
                          </a:solidFill>
                          <a:latin typeface="Calibri"/>
                        </a:rPr>
                        <a:t>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current snapshot, snapshot log (time travel by </a:t>
                      </a:r>
                      <a:r>
                        <a:rPr sz="1150" b="0" i="1">
                          <a:solidFill>
                            <a:srgbClr val="1C2433"/>
                          </a:solidFill>
                          <a:latin typeface="Calibri"/>
                        </a:rPr>
                        <a:t>known at</a:t>
                      </a:r>
                      <a:r>
                        <a:rPr sz="1150" b="0" i="0">
                          <a:solidFill>
                            <a:srgbClr val="1C2433"/>
                          </a:solidFill>
                          <a:latin typeface="Calibri"/>
                        </a:rPr>
                        <a:t>), the </a:t>
                      </a:r>
                      <a:r>
                        <a:rPr sz="1050" b="0" i="0">
                          <a:solidFill>
                            <a:srgbClr val="0E7C86"/>
                          </a:solidFill>
                          <a:latin typeface="Consolas"/>
                        </a:rPr>
                        <a:t>main</a:t>
                      </a:r>
                      <a:r>
                        <a:rPr sz="1150" b="0" i="0">
                          <a:solidFill>
                            <a:srgbClr val="1C2433"/>
                          </a:solidFill>
                          <a:latin typeface="Calibri"/>
                        </a:rPr>
                        <a:t> ref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named branches and tags: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Data files, encryption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ORC, Avro data files; encrypted tables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Catalogs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path-based, a metadata file named directly,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Hive metastore, JDBC (only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engines: native and library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18</a:t>
            </a:r>
          </a:p>
        </p:txBody>
      </p:sp>
      <p:graphicFrame>
        <p:nvGraphicFramePr>
          <p:cNvPr id="9" name="Table 8"/>
          <p:cNvGraphicFramePr>
            <a:graphicFrameLocks noGrp="1"/>
          </p:cNvGraphicFramePr>
          <p:nvPr/>
        </p:nvGraphicFramePr>
        <p:xfrm>
          <a:off x="411480" y="1143000"/>
          <a:ext cx="11365992" cy="1870859"/>
        </p:xfrm>
        <a:graphic>
          <a:graphicData uri="http://schemas.openxmlformats.org/drawingml/2006/table">
            <a:tbl>
              <a:tblPr firstRow="1" bandRow="1">
                <a:tableStyleId>{5940675A-B579-460E-94D1-54222C63F5DA}</a:tableStyleId>
              </a:tblPr>
              <a:tblGrid>
                <a:gridCol w="1737360"/>
                <a:gridCol w="3017520"/>
                <a:gridCol w="4023360"/>
                <a:gridCol w="2587752"/>
              </a:tblGrid>
              <a:tr h="416654">
                <a:tc>
                  <a:txBody>
                    <a:bodyPr wrap="square"/>
                    <a:lstStyle/>
                    <a:p>
                      <a:pPr algn="l">
                        <a:lnSpc>
                          <a:spcPct val="100000"/>
                        </a:lnSpc>
                      </a:pPr>
                      <a:r>
                        <a:rPr sz="120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reads and 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Use it for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0897">
                <a:tc>
                  <a:txBody>
                    <a:bodyPr wrap="square"/>
                    <a:lstStyle/>
                    <a:p>
                      <a:pPr algn="l">
                        <a:lnSpc>
                          <a:spcPct val="100000"/>
                        </a:lnSpc>
                      </a:pPr>
                      <a:r>
                        <a:rPr sz="1100" b="1" i="0">
                          <a:solidFill>
                            <a:srgbClr val="0E7C86"/>
                          </a:solidFill>
                          <a:latin typeface="Consolas"/>
                        </a:rPr>
                        <a:t>native</a:t>
                      </a:r>
                      <a:r>
                        <a:rPr sz="1200" b="1" i="0">
                          <a:solidFill>
                            <a:srgbClr val="1C2433"/>
                          </a:solidFill>
                          <a:latin typeface="Calibri"/>
                        </a:rPr>
                        <a:t>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drishti-iceberg,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local disk (Windows too),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s3a://</a:t>
                      </a:r>
                      <a:r>
                        <a:rPr sz="1200" b="0" i="0">
                          <a:solidFill>
                            <a:srgbClr val="1C2433"/>
                          </a:solidFill>
                          <a:latin typeface="Calibri"/>
                        </a:rPr>
                        <a:t>; path, named metadata,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everything on disk and S3;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6654">
                <a:tc>
                  <a:txBody>
                    <a:bodyPr wrap="square"/>
                    <a:lstStyle/>
                    <a:p>
                      <a:pPr algn="l">
                        <a:lnSpc>
                          <a:spcPct val="100000"/>
                        </a:lnSpc>
                      </a:pPr>
                      <a:r>
                        <a:rPr sz="1100" b="1" i="0">
                          <a:solidFill>
                            <a:srgbClr val="0E7C86"/>
                          </a:solidFill>
                          <a:latin typeface="Consolas"/>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Apache Iceberg Java 1.10.1 over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above plus </a:t>
                      </a:r>
                      <a:r>
                        <a:rPr sz="1100" b="0" i="0">
                          <a:solidFill>
                            <a:srgbClr val="0E7C86"/>
                          </a:solidFill>
                          <a:latin typeface="Consolas"/>
                        </a:rPr>
                        <a:t>abfs://</a:t>
                      </a:r>
                      <a:r>
                        <a:rPr sz="1200" b="0" i="0">
                          <a:solidFill>
                            <a:srgbClr val="1C2433"/>
                          </a:solidFill>
                          <a:latin typeface="Calibri"/>
                        </a:rPr>
                        <a:t>, </a:t>
                      </a:r>
                      <a:r>
                        <a:rPr sz="1100" b="0" i="0">
                          <a:solidFill>
                            <a:srgbClr val="0E7C86"/>
                          </a:solidFill>
                          <a:latin typeface="Consolas"/>
                        </a:rPr>
                        <a:t>gs://</a:t>
                      </a:r>
                      <a:r>
                        <a:rPr sz="1200" b="0" i="0">
                          <a:solidFill>
                            <a:srgbClr val="1C2433"/>
                          </a:solidFill>
                          <a:latin typeface="Calibri"/>
                        </a:rPr>
                        <a:t>, </a:t>
                      </a:r>
                      <a:r>
                        <a:rPr sz="1100" b="0" i="0">
                          <a:solidFill>
                            <a:srgbClr val="0E7C86"/>
                          </a:solidFill>
                          <a:latin typeface="Consolas"/>
                        </a:rPr>
                        <a:t>hdfs://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Azure, GCS, HDFS; a fallback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6654">
                <a:tc>
                  <a:txBody>
                    <a:bodyPr wrap="square"/>
                    <a:lstStyle/>
                    <a:p>
                      <a:pPr algn="l">
                        <a:lnSpc>
                          <a:spcPct val="100000"/>
                        </a:lnSpc>
                      </a:pPr>
                      <a:r>
                        <a:rPr sz="1100" b="1" i="0">
                          <a:solidFill>
                            <a:srgbClr val="0E7C86"/>
                          </a:solidFill>
                          <a:latin typeface="Consolas"/>
                        </a:rPr>
                        <a:t>auto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native on Windows, library elsewhere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keeping the library on Linux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337560"/>
          <a:ext cx="6766560" cy="2611524"/>
        </p:xfrm>
        <a:graphic>
          <a:graphicData uri="http://schemas.openxmlformats.org/drawingml/2006/table">
            <a:tbl>
              <a:tblPr firstRow="1" bandRow="1">
                <a:tableStyleId>{5940675A-B579-460E-94D1-54222C63F5DA}</a:tableStyleId>
              </a:tblPr>
              <a:tblGrid>
                <a:gridCol w="3840480"/>
                <a:gridCol w="1463040"/>
                <a:gridCol w="1463040"/>
              </a:tblGrid>
              <a:tr h="435254">
                <a:tc>
                  <a:txBody>
                    <a:bodyPr wrap="square"/>
                    <a:lstStyle/>
                    <a:p>
                      <a:pPr algn="l">
                        <a:lnSpc>
                          <a:spcPct val="100000"/>
                        </a:lnSpc>
                      </a:pPr>
                      <a:r>
                        <a:rPr sz="1200" b="1" i="0">
                          <a:solidFill>
                            <a:srgbClr val="FFFFFF"/>
                          </a:solidFill>
                          <a:latin typeface="Calibri"/>
                        </a:rPr>
                        <a:t>Measured (10,000 trades × 3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native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load (30,000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connector start (plan, 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637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1,848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first trade (cold: id map, footer)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212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288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trade, document cache emptied: median / p95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54 / 111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75 / 144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a trade on a past date (day not yet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94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353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7498079" y="3337560"/>
            <a:ext cx="4279392" cy="251460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7498079" y="3337560"/>
            <a:ext cx="82296" cy="2514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726679" y="3392424"/>
            <a:ext cx="3913631"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native is faster on first reads:</a:t>
            </a:r>
            <a:r>
              <a:rPr sz="1250" b="0" i="0">
                <a:solidFill>
                  <a:srgbClr val="1C2433"/>
                </a:solidFill>
                <a:latin typeface="Calibri"/>
              </a:rPr>
              <a:t> each Parquet footer, manifest and delete file is read once and kept (data files never change). The library re-reads the footer on every single-entity read.</a:t>
            </a:r>
          </a:p>
          <a:p>
            <a:pPr algn="l">
              <a:lnSpc>
                <a:spcPct val="105000"/>
              </a:lnSpc>
            </a:pPr>
            <a:r>
              <a:rPr sz="1250" b="0" i="0">
                <a:solidFill>
                  <a:srgbClr val="1C2433"/>
                </a:solidFill>
                <a:latin typeface="Calibri"/>
              </a:rPr>
              <a:t>Caches: footers 50,000 row groups (shared with Delta), manifests 2,000,000 entries, delete rows 5,000,000.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Two connectors: Drishti's tables and anyone's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19</a:t>
            </a:r>
          </a:p>
        </p:txBody>
      </p:sp>
      <p:graphicFrame>
        <p:nvGraphicFramePr>
          <p:cNvPr id="9" name="Table 8"/>
          <p:cNvGraphicFramePr>
            <a:graphicFrameLocks noGrp="1"/>
          </p:cNvGraphicFramePr>
          <p:nvPr/>
        </p:nvGraphicFramePr>
        <p:xfrm>
          <a:off x="411480" y="1143000"/>
          <a:ext cx="11365992" cy="4344006"/>
        </p:xfrm>
        <a:graphic>
          <a:graphicData uri="http://schemas.openxmlformats.org/drawingml/2006/table">
            <a:tbl>
              <a:tblPr firstRow="1" bandRow="1">
                <a:tableStyleId>{5940675A-B579-460E-94D1-54222C63F5DA}</a:tableStyleId>
              </a:tblPr>
              <a:tblGrid>
                <a:gridCol w="1828800"/>
                <a:gridCol w="4114800"/>
                <a:gridCol w="542239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a:t>
                      </a:r>
                      <a:r>
                        <a:rPr sz="1200" b="1" i="0">
                          <a:solidFill>
                            <a:srgbClr val="FFFFFF"/>
                          </a:solidFill>
                          <a:latin typeface="Calibri"/>
                        </a:rPr>
                        <a:t>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iceberg-external</a:t>
                      </a:r>
                      <a:r>
                        <a:rPr sz="1200" b="1" i="0">
                          <a:solidFill>
                            <a:srgbClr val="FFFFFF"/>
                          </a:solidFill>
                          <a:latin typeface="Calibri"/>
                        </a:rPr>
                        <a:t> (anyone's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Written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IcebergLoader</a:t>
                      </a:r>
                      <a:r>
                        <a:rPr sz="1200" b="0" i="0">
                          <a:solidFill>
                            <a:srgbClr val="1C2433"/>
                          </a:solidFill>
                          <a:latin typeface="Calibri"/>
                        </a:rPr>
                        <a:t> in Drishti's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Spark, Flink, Trino, Snowflake, Glue, dbt, pyiceberg, any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The 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doc</a:t>
                      </a:r>
                      <a:r>
                        <a:rPr sz="1200" b="0" i="0">
                          <a:solidFill>
                            <a:srgbClr val="1C2433"/>
                          </a:solidFill>
                          <a:latin typeface="Calibri"/>
                        </a:rPr>
                        <a:t> column, exactly as loaded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the row</a:t>
                      </a:r>
                      <a:r>
                        <a:rPr sz="1200" b="0" i="0">
                          <a:solidFill>
                            <a:srgbClr val="1C2433"/>
                          </a:solidFill>
                          <a:latin typeface="Calibri"/>
                        </a:rPr>
                        <a:t> as JSON (structs, lists, maps), or a JSON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The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id</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or several columns; by default the table's </a:t>
                      </a:r>
                      <a:r>
                        <a:rPr sz="1200" b="1" i="0">
                          <a:solidFill>
                            <a:srgbClr val="1C2433"/>
                          </a:solidFill>
                          <a:latin typeface="Calibri"/>
                        </a:rPr>
                        <a:t>identifier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business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date column, a timestamp's day in a zone, the partition spec's date; or current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Searchable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promoted columns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every primitive column</a:t>
                      </a:r>
                      <a:r>
                        <a:rPr sz="1200" b="0" i="0">
                          <a:solidFill>
                            <a:srgbClr val="1C2433"/>
                          </a:solidFill>
                          <a:latin typeface="Calibri"/>
                        </a:rPr>
                        <a:t> (nested to depth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id map: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sorted or bucketed by id: one row group; unsorted: an </a:t>
                      </a:r>
                      <a:r>
                        <a:rPr sz="1200" b="1" i="0">
                          <a:solidFill>
                            <a:srgbClr val="1C2433"/>
                          </a:solidFill>
                          <a:latin typeface="Calibri"/>
                        </a:rPr>
                        <a:t>id index</a:t>
                      </a:r>
                      <a:r>
                        <a:rPr sz="1200" b="0" i="0">
                          <a:solidFill>
                            <a:srgbClr val="1C2433"/>
                          </a:solidFill>
                          <a:latin typeface="Calibri"/>
                        </a:rPr>
                        <a:t> built on first use per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never</a:t>
                      </a:r>
                      <a:r>
                        <a:rPr sz="1200" b="0" i="0">
                          <a:solidFill>
                            <a:srgbClr val="1C2433"/>
                          </a:solidFill>
                          <a:latin typeface="Calibri"/>
                        </a:rPr>
                        <a:t>: the owners' engines maintain the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Deletes,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position and equality deletes applied;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branches and tags not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Catalogs: what Drishti supports today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20</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3154680"/>
                <a:gridCol w="4343400"/>
                <a:gridCol w="1325880"/>
                <a:gridCol w="2542032"/>
              </a:tblGrid>
              <a:tr h="367576">
                <a:tc>
                  <a:txBody>
                    <a:bodyPr wrap="square"/>
                    <a:lstStyle/>
                    <a:p>
                      <a:pPr algn="l">
                        <a:lnSpc>
                          <a:spcPct val="100000"/>
                        </a:lnSpc>
                      </a:pPr>
                      <a:r>
                        <a:rPr sz="1150" b="1" i="0">
                          <a:solidFill>
                            <a:srgbClr val="FFFFFF"/>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How Drishti reaches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29441">
                <a:tc>
                  <a:txBody>
                    <a:bodyPr wrap="square"/>
                    <a:lstStyle/>
                    <a:p>
                      <a:pPr algn="l">
                        <a:lnSpc>
                          <a:spcPct val="100000"/>
                        </a:lnSpc>
                      </a:pPr>
                      <a:r>
                        <a:rPr sz="1150" b="1" i="0">
                          <a:solidFill>
                            <a:srgbClr val="1C2433"/>
                          </a:solidFill>
                          <a:latin typeface="Calibri"/>
                        </a:rPr>
                        <a:t>Path-based (</a:t>
                      </a:r>
                      <a:r>
                        <a:rPr sz="1050" b="1" i="0">
                          <a:solidFill>
                            <a:srgbClr val="0E7C86"/>
                          </a:solidFill>
                          <a:latin typeface="Consolas"/>
                        </a:rPr>
                        <a:t>catalog: hadoop</a:t>
                      </a:r>
                      <a:r>
                        <a:rPr sz="1150" b="1"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&lt;root&gt;/&lt;domain&gt;/&lt;table&gt;/metadata/version-hint.text</a:t>
                      </a:r>
                      <a:r>
                        <a:rPr sz="1150" b="0" i="0">
                          <a:solidFill>
                            <a:srgbClr val="1C2433"/>
                          </a:solidFill>
                          <a:latin typeface="Calibri"/>
                        </a:rPr>
                        <a:t>; root a folder or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67576">
                <a:tc>
                  <a:txBody>
                    <a:bodyPr wrap="square"/>
                    <a:lstStyle/>
                    <a:p>
                      <a:pPr algn="l">
                        <a:lnSpc>
                          <a:spcPct val="100000"/>
                        </a:lnSpc>
                      </a:pPr>
                      <a:r>
                        <a:rPr sz="1150" b="1" i="0">
                          <a:solidFill>
                            <a:srgbClr val="1C2433"/>
                          </a:solidFill>
                          <a:latin typeface="Calibri"/>
                        </a:rPr>
                        <a:t>A metadata file named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metadata-location.&lt;kind&gt;: s3://…/v12.metadata.json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REST: Polaris, Snowflake Open Catalog, Nessie, Lakekeeper, Unity, Gravitino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catalog: rest</a:t>
                      </a:r>
                      <a:r>
                        <a:rPr sz="1150" b="0" i="0">
                          <a:solidFill>
                            <a:srgbClr val="1C2433"/>
                          </a:solidFill>
                          <a:latin typeface="Calibri"/>
                        </a:rPr>
                        <a:t>, </a:t>
                      </a:r>
                      <a:r>
                        <a:rPr sz="1050" b="0" i="0">
                          <a:solidFill>
                            <a:srgbClr val="0E7C86"/>
                          </a:solidFill>
                          <a:latin typeface="Consolas"/>
                        </a:rPr>
                        <a:t>uri</a:t>
                      </a:r>
                      <a:r>
                        <a:rPr sz="1150" b="0" i="0">
                          <a:solidFill>
                            <a:srgbClr val="1C2433"/>
                          </a:solidFill>
                          <a:latin typeface="Calibri"/>
                        </a:rPr>
                        <a:t>, </a:t>
                      </a:r>
                      <a:r>
                        <a:rPr sz="1050" b="0" i="0">
                          <a:solidFill>
                            <a:srgbClr val="0E7C86"/>
                          </a:solidFill>
                          <a:latin typeface="Consolas"/>
                        </a:rPr>
                        <a:t>warehouse</a:t>
                      </a:r>
                      <a:r>
                        <a:rPr sz="1150" b="0" i="0">
                          <a:solidFill>
                            <a:srgbClr val="1C2433"/>
                          </a:solidFill>
                          <a:latin typeface="Calibri"/>
                        </a:rPr>
                        <a:t>, OAuth2 </a:t>
                      </a:r>
                      <a:r>
                        <a:rPr sz="1050" b="0" i="0">
                          <a:solidFill>
                            <a:srgbClr val="0E7C86"/>
                          </a:solidFill>
                          <a:latin typeface="Consolas"/>
                        </a:rPr>
                        <a:t>credential</a:t>
                      </a:r>
                      <a:r>
                        <a:rPr sz="1150" b="0" i="0">
                          <a:solidFill>
                            <a:srgbClr val="1C2433"/>
                          </a:solidFill>
                          <a:latin typeface="Calibri"/>
                        </a:rPr>
                        <a:t> or </a:t>
                      </a:r>
                      <a:r>
                        <a:rPr sz="1050" b="0" i="0">
                          <a:solidFill>
                            <a:srgbClr val="0E7C86"/>
                          </a:solidFill>
                          <a:latin typeface="Consolas"/>
                        </a:rPr>
                        <a:t>token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commits with requirements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AWS Glue Data Catalog, through Glue's Iceberg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uri: https://glue.&lt;region&gt;.amazonaws.com/iceberg</a:t>
                      </a:r>
                      <a:r>
                        <a:rPr sz="1150" b="0" i="0">
                          <a:solidFill>
                            <a:srgbClr val="1C2433"/>
                          </a:solidFill>
                          <a:latin typeface="Calibri"/>
                        </a:rPr>
                        <a:t>, SigV4 </a:t>
                      </a:r>
                      <a:r>
                        <a:rPr sz="1050" b="0" i="0">
                          <a:solidFill>
                            <a:srgbClr val="0E7C86"/>
                          </a:solidFill>
                          <a:latin typeface="Consolas"/>
                        </a:rPr>
                        <a:t>signing-name: glue</a:t>
                      </a:r>
                      <a:r>
                        <a:rPr sz="1150" b="0" i="0">
                          <a:solidFill>
                            <a:srgbClr val="1C2433"/>
                          </a:solidFill>
                          <a:latin typeface="Calibri"/>
                        </a:rPr>
                        <a:t>; </a:t>
                      </a:r>
                      <a:r>
                        <a:rPr sz="1050" b="0" i="0">
                          <a:solidFill>
                            <a:srgbClr val="0E7C86"/>
                          </a:solidFill>
                          <a:latin typeface="Consolas"/>
                        </a:rPr>
                        <a:t>check-glue.sh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NOT RUN</a:t>
                      </a:r>
                      <a:r>
                        <a:rPr sz="1150" b="0" i="0">
                          <a:solidFill>
                            <a:srgbClr val="1C2433"/>
                          </a:solidFill>
                          <a:latin typeface="Calibri"/>
                        </a:rPr>
                        <a:t>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Amazon S3 Tables (table buckets)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its Iceberg REST endpoint, SigV4 </a:t>
                      </a:r>
                      <a:r>
                        <a:rPr sz="1050" b="0" i="0">
                          <a:solidFill>
                            <a:srgbClr val="0E7C86"/>
                          </a:solidFill>
                          <a:latin typeface="Consolas"/>
                        </a:rPr>
                        <a:t>signing-name: s3tables</a:t>
                      </a:r>
                      <a:r>
                        <a:rPr sz="1150" b="0" i="0">
                          <a:solidFill>
                            <a:srgbClr val="1C2433"/>
                          </a:solidFill>
                          <a:latin typeface="Calibri"/>
                        </a:rPr>
                        <a:t>; </a:t>
                      </a:r>
                      <a:r>
                        <a:rPr sz="1050" b="0" i="0">
                          <a:solidFill>
                            <a:srgbClr val="0E7C86"/>
                          </a:solidFill>
                          <a:latin typeface="Consolas"/>
                        </a:rPr>
                        <a:t>check-glue.sh --s3-tables ARN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5B677A"/>
                          </a:solidFill>
                          <a:latin typeface="Calibri"/>
                        </a:rPr>
                        <a:t>NOT RUN</a:t>
                      </a:r>
                      <a:r>
                        <a:rPr sz="1150" b="0" i="0">
                          <a:solidFill>
                            <a:srgbClr val="1C2433"/>
                          </a:solidFill>
                          <a:latin typeface="Calibri"/>
                        </a:rPr>
                        <a:t>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The Glue and S3 Tables live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GlueLiveTest</a:t>
                      </a:r>
                      <a:r>
                        <a:rPr sz="1150" b="0" i="0">
                          <a:solidFill>
                            <a:srgbClr val="1C2433"/>
                          </a:solidFill>
                          <a:latin typeface="Calibri"/>
                        </a:rPr>
                        <a:t> with </a:t>
                      </a:r>
                      <a:r>
                        <a:rPr sz="1050" b="0" i="0">
                          <a:solidFill>
                            <a:srgbClr val="0E7C86"/>
                          </a:solidFill>
                          <a:latin typeface="Consolas"/>
                        </a:rPr>
                        <a:t>DRISHTI_GLUE_LIVE=1</a:t>
                      </a:r>
                      <a:r>
                        <a:rPr sz="1150" b="0" i="0">
                          <a:solidFill>
                            <a:srgbClr val="1C2433"/>
                          </a:solidFill>
                          <a:latin typeface="Calibri"/>
                        </a:rPr>
                        <a:t>, in the product owner's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0B1E3B"/>
                          </a:solidFill>
                          <a:latin typeface="Calibri"/>
                        </a:rPr>
                        <a:t>PLANNED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AWS Glue Data Catalog API (GetTable, UpdateTable); Hive metastore, JDBC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 needed: Glue's REST endpoint; others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via REST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596128"/>
            <a:ext cx="11365992" cy="749808"/>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21208" y="5669280"/>
            <a:ext cx="11146536" cy="603503"/>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settings: { catalog: rest, uri: "https://glue.us-east-1.amazonaws.com/iceberg", warehouse: "&lt;account-id&gt;",</a:t>
            </a:r>
          </a:p>
          <a:p>
            <a:pPr algn="l">
              <a:lnSpc>
                <a:spcPct val="100000"/>
              </a:lnSpc>
            </a:pPr>
            <a:r>
              <a:rPr sz="1150" b="0" i="0">
                <a:solidFill>
                  <a:srgbClr val="E6EDF3"/>
                </a:solidFill>
                <a:latin typeface="Consolas"/>
              </a:rPr>
              <a:t>            catalog.rest.sigv4-enabled: "true", catalog.rest.signing-name: glue, catalog.rest.signing-region: us-east-1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Commits and concurrency, as the code makes them</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21</a:t>
            </a:r>
          </a:p>
        </p:txBody>
      </p:sp>
      <p:sp>
        <p:nvSpPr>
          <p:cNvPr id="9" name="Rounded Rectangle 8"/>
          <p:cNvSpPr/>
          <p:nvPr/>
        </p:nvSpPr>
        <p:spPr>
          <a:xfrm>
            <a:off x="411480" y="1188720"/>
            <a:ext cx="3666744" cy="2743200"/>
          </a:xfrm>
          <a:prstGeom prst="roundRect">
            <a:avLst>
              <a:gd name="adj" fmla="val 6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Local disk, EFS (Windows too)</a:t>
            </a:r>
          </a:p>
        </p:txBody>
      </p:sp>
      <p:sp>
        <p:nvSpPr>
          <p:cNvPr id="11" name="TextBox 10"/>
          <p:cNvSpPr txBox="1"/>
          <p:nvPr/>
        </p:nvSpPr>
        <p:spPr>
          <a:xfrm>
            <a:off x="521208"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write </a:t>
            </a:r>
            <a:r>
              <a:rPr sz="1200" b="0" i="0">
                <a:solidFill>
                  <a:srgbClr val="0E7C86"/>
                </a:solidFill>
                <a:latin typeface="Consolas"/>
              </a:rPr>
              <a:t>vN+1.metadata.json</a:t>
            </a:r>
            <a:r>
              <a:rPr sz="1300" b="0" i="0">
                <a:solidFill>
                  <a:srgbClr val="1C2433"/>
                </a:solidFill>
                <a:latin typeface="Calibri"/>
              </a:rPr>
              <a:t> to a temporary name, then </a:t>
            </a:r>
            <a:r>
              <a:rPr sz="1300" b="1" i="0">
                <a:solidFill>
                  <a:srgbClr val="1C2433"/>
                </a:solidFill>
                <a:latin typeface="Calibri"/>
              </a:rPr>
              <a:t>create</a:t>
            </a:r>
            <a:r>
              <a:rPr sz="1300" b="0" i="0">
                <a:solidFill>
                  <a:srgbClr val="1C2433"/>
                </a:solidFill>
                <a:latin typeface="Calibri"/>
              </a:rPr>
              <a:t> it under its final name with a hard link (fails if taken); then replace </a:t>
            </a:r>
            <a:r>
              <a:rPr sz="1200" b="0" i="0">
                <a:solidFill>
                  <a:srgbClr val="0E7C86"/>
                </a:solidFill>
                <a:latin typeface="Consolas"/>
              </a:rPr>
              <a:t>version-hint.text</a:t>
            </a:r>
          </a:p>
        </p:txBody>
      </p:sp>
      <p:sp>
        <p:nvSpPr>
          <p:cNvPr id="12" name="TextBox 11"/>
          <p:cNvSpPr txBox="1"/>
          <p:nvPr/>
        </p:nvSpPr>
        <p:spPr>
          <a:xfrm>
            <a:off x="521208" y="3291840"/>
            <a:ext cx="3447287"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NativeCommitTest: 4 writers at once lose nothing</a:t>
            </a:r>
          </a:p>
        </p:txBody>
      </p:sp>
      <p:sp>
        <p:nvSpPr>
          <p:cNvPr id="13" name="Rounded Rectangle 12"/>
          <p:cNvSpPr/>
          <p:nvPr/>
        </p:nvSpPr>
        <p:spPr>
          <a:xfrm>
            <a:off x="4261104" y="1188720"/>
            <a:ext cx="3666744" cy="2743200"/>
          </a:xfrm>
          <a:prstGeom prst="roundRect">
            <a:avLst>
              <a:gd name="adj" fmla="val 6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4370832"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path-based</a:t>
            </a:r>
          </a:p>
        </p:txBody>
      </p:sp>
      <p:sp>
        <p:nvSpPr>
          <p:cNvPr id="15" name="TextBox 14"/>
          <p:cNvSpPr txBox="1"/>
          <p:nvPr/>
        </p:nvSpPr>
        <p:spPr>
          <a:xfrm>
            <a:off x="4370832"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a </a:t>
            </a:r>
            <a:r>
              <a:rPr sz="1300" b="1" i="0">
                <a:solidFill>
                  <a:srgbClr val="1C2433"/>
                </a:solidFill>
                <a:latin typeface="Calibri"/>
              </a:rPr>
              <a:t>conditional PUT</a:t>
            </a:r>
            <a:r>
              <a:rPr sz="1300" b="0" i="0">
                <a:solidFill>
                  <a:srgbClr val="1C2433"/>
                </a:solidFill>
                <a:latin typeface="Calibri"/>
              </a:rPr>
              <a:t> (</a:t>
            </a:r>
            <a:r>
              <a:rPr sz="1200" b="0" i="0">
                <a:solidFill>
                  <a:srgbClr val="0E7C86"/>
                </a:solidFill>
                <a:latin typeface="Consolas"/>
              </a:rPr>
              <a:t>If-None-Match: *</a:t>
            </a:r>
            <a:r>
              <a:rPr sz="1300" b="0" i="0">
                <a:solidFill>
                  <a:srgbClr val="1C2433"/>
                </a:solidFill>
                <a:latin typeface="Calibri"/>
              </a:rPr>
              <a:t>) of </a:t>
            </a:r>
            <a:r>
              <a:rPr sz="1200" b="0" i="0">
                <a:solidFill>
                  <a:srgbClr val="0E7C86"/>
                </a:solidFill>
                <a:latin typeface="Consolas"/>
              </a:rPr>
              <a:t>vN+1.metadata.json</a:t>
            </a:r>
            <a:r>
              <a:rPr sz="1300" b="0" i="0">
                <a:solidFill>
                  <a:srgbClr val="1C2433"/>
                </a:solidFill>
                <a:latin typeface="Calibri"/>
              </a:rPr>
              <a:t>; a probe at the first commit; a store that ignores it makes the table </a:t>
            </a:r>
            <a:r>
              <a:rPr sz="1300" b="1" i="0">
                <a:solidFill>
                  <a:srgbClr val="1C2433"/>
                </a:solidFill>
                <a:latin typeface="Calibri"/>
              </a:rPr>
              <a:t>single-writer</a:t>
            </a:r>
          </a:p>
        </p:txBody>
      </p:sp>
      <p:sp>
        <p:nvSpPr>
          <p:cNvPr id="16" name="TextBox 15"/>
          <p:cNvSpPr txBox="1"/>
          <p:nvPr/>
        </p:nvSpPr>
        <p:spPr>
          <a:xfrm>
            <a:off x="4370832" y="3291840"/>
            <a:ext cx="3447287"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S3Mock, MinIO (racing writers on MinIO)</a:t>
            </a:r>
          </a:p>
        </p:txBody>
      </p:sp>
      <p:sp>
        <p:nvSpPr>
          <p:cNvPr id="17" name="Rounded Rectangle 16"/>
          <p:cNvSpPr/>
          <p:nvPr/>
        </p:nvSpPr>
        <p:spPr>
          <a:xfrm>
            <a:off x="8110728" y="1188720"/>
            <a:ext cx="3666744" cy="2743200"/>
          </a:xfrm>
          <a:prstGeom prst="roundRect">
            <a:avLst>
              <a:gd name="adj" fmla="val 6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220456" y="1243584"/>
            <a:ext cx="3447287" cy="41148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REST catalog (Glue, Polaris)</a:t>
            </a:r>
          </a:p>
        </p:txBody>
      </p:sp>
      <p:sp>
        <p:nvSpPr>
          <p:cNvPr id="19" name="TextBox 18"/>
          <p:cNvSpPr txBox="1"/>
          <p:nvPr/>
        </p:nvSpPr>
        <p:spPr>
          <a:xfrm>
            <a:off x="8220456" y="1691640"/>
            <a:ext cx="3447287" cy="15544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the catalog's commit with requirements (</a:t>
            </a:r>
            <a:r>
              <a:rPr sz="1200" b="0" i="0">
                <a:solidFill>
                  <a:srgbClr val="0E7C86"/>
                </a:solidFill>
                <a:latin typeface="Consolas"/>
              </a:rPr>
              <a:t>assert-table-uuid</a:t>
            </a:r>
            <a:r>
              <a:rPr sz="1300" b="0" i="0">
                <a:solidFill>
                  <a:srgbClr val="1C2433"/>
                </a:solidFill>
                <a:latin typeface="Calibri"/>
              </a:rPr>
              <a:t>, </a:t>
            </a:r>
            <a:r>
              <a:rPr sz="1200" b="0" i="0">
                <a:solidFill>
                  <a:srgbClr val="0E7C86"/>
                </a:solidFill>
                <a:latin typeface="Consolas"/>
              </a:rPr>
              <a:t>assert-ref-snapshot-id</a:t>
            </a:r>
            <a:r>
              <a:rPr sz="1300" b="0" i="0">
                <a:solidFill>
                  <a:srgbClr val="1C2433"/>
                </a:solidFill>
                <a:latin typeface="Calibri"/>
              </a:rPr>
              <a:t>, …); a </a:t>
            </a:r>
            <a:r>
              <a:rPr sz="1300" b="1" i="0">
                <a:solidFill>
                  <a:srgbClr val="1C2433"/>
                </a:solidFill>
                <a:latin typeface="Calibri"/>
              </a:rPr>
              <a:t>409</a:t>
            </a:r>
            <a:r>
              <a:rPr sz="1300" b="0" i="0">
                <a:solidFill>
                  <a:srgbClr val="1C2433"/>
                </a:solidFill>
                <a:latin typeface="Calibri"/>
              </a:rPr>
              <a:t> is re-read, re-applied, retried</a:t>
            </a:r>
          </a:p>
        </p:txBody>
      </p:sp>
      <p:sp>
        <p:nvSpPr>
          <p:cNvPr id="20" name="TextBox 19"/>
          <p:cNvSpPr txBox="1"/>
          <p:nvPr/>
        </p:nvSpPr>
        <p:spPr>
          <a:xfrm>
            <a:off x="8220456" y="3291840"/>
            <a:ext cx="3447287" cy="594360"/>
          </a:xfrm>
          <a:prstGeom prst="rect">
            <a:avLst/>
          </a:prstGeom>
          <a:noFill/>
        </p:spPr>
        <p:txBody>
          <a:bodyPr wrap="square" lIns="45720" rIns="45720" tIns="27432" bIns="27432" anchor="b">
            <a:spAutoFit/>
          </a:bodyPr>
          <a:lstStyle/>
          <a:p>
            <a:pPr algn="l">
              <a:lnSpc>
                <a:spcPct val="105000"/>
              </a:lnSpc>
            </a:pPr>
            <a:r>
              <a:rPr sz="1200" b="0" i="0">
                <a:solidFill>
                  <a:srgbClr val="5B677A"/>
                </a:solidFill>
                <a:latin typeface="Calibri"/>
              </a:rPr>
              <a:t>Tested: REST protocol and catalog tests</a:t>
            </a:r>
          </a:p>
        </p:txBody>
      </p:sp>
      <p:sp>
        <p:nvSpPr>
          <p:cNvPr id="21" name="TextBox 20"/>
          <p:cNvSpPr txBox="1"/>
          <p:nvPr/>
        </p:nvSpPr>
        <p:spPr>
          <a:xfrm>
            <a:off x="411480" y="4114800"/>
            <a:ext cx="11365992" cy="1280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1" i="0">
                <a:solidFill>
                  <a:srgbClr val="1C2433"/>
                </a:solidFill>
                <a:latin typeface="Calibri"/>
              </a:rPr>
              <a:t>Two writers on one table:</a:t>
            </a:r>
            <a:r>
              <a:rPr sz="1350" b="0" i="0">
                <a:solidFill>
                  <a:srgbClr val="1C2433"/>
                </a:solidFill>
                <a:latin typeface="Calibri"/>
              </a:rPr>
              <a:t> one wins each version; the other re-reads, re-applies its change on the new version and retries (10 times)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A rewrite is validated:</a:t>
            </a:r>
            <a:r>
              <a:rPr sz="1350" b="0" i="0">
                <a:solidFill>
                  <a:srgbClr val="1C2433"/>
                </a:solidFill>
                <a:latin typeface="Calibri"/>
              </a:rPr>
              <a:t> a re-applied rewrite of a day fails, and is reported, if that day changed meanwhile; an append always re-applies</a:t>
            </a:r>
          </a:p>
          <a:p>
            <a:pPr algn="l">
              <a:lnSpc>
                <a:spcPct val="105000"/>
              </a:lnSpc>
              <a:spcAft>
                <a:spcPts val="500"/>
              </a:spcAft>
            </a:pPr>
            <a:r>
              <a:rPr sz="1350" b="0" i="0">
                <a:solidFill>
                  <a:srgbClr val="E87A1E"/>
                </a:solidFill>
                <a:latin typeface="Calibri"/>
              </a:rPr>
              <a:t>•  </a:t>
            </a:r>
            <a:r>
              <a:rPr sz="1350" b="1" i="0">
                <a:solidFill>
                  <a:srgbClr val="1C2433"/>
                </a:solidFill>
                <a:latin typeface="Calibri"/>
              </a:rPr>
              <a:t>No orphans from Drishti's own writers:</a:t>
            </a:r>
            <a:r>
              <a:rPr sz="1350" b="0" i="0">
                <a:solidFill>
                  <a:srgbClr val="1C2433"/>
                </a:solidFill>
                <a:latin typeface="Calibri"/>
              </a:rPr>
              <a:t> files of a commit that finally failed are deleted at once</a:t>
            </a:r>
          </a:p>
        </p:txBody>
      </p:sp>
      <p:sp>
        <p:nvSpPr>
          <p:cNvPr id="22" name="Rounded Rectangle 21"/>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Rectangle 22"/>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Same safety as Delta on S3, different writer.</a:t>
            </a:r>
            <a:r>
              <a:rPr sz="1300" b="0" i="0">
                <a:solidFill>
                  <a:srgbClr val="1C2433"/>
                </a:solidFill>
                <a:latin typeface="Calibri"/>
              </a:rPr>
              <a:t> Delta's S3 commits come from </a:t>
            </a:r>
            <a:r>
              <a:rPr sz="1200" b="0" i="0">
                <a:solidFill>
                  <a:srgbClr val="0E7C86"/>
                </a:solidFill>
                <a:latin typeface="Consolas"/>
              </a:rPr>
              <a:t>lake publish</a:t>
            </a:r>
            <a:r>
              <a:rPr sz="1300" b="0" i="0">
                <a:solidFill>
                  <a:srgbClr val="1C2433"/>
                </a:solidFill>
                <a:latin typeface="Calibri"/>
              </a:rPr>
              <a:t> (Python deltalake); Iceberg's from the Java loader itself. No DynamoDB lock table in either.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S3, and the simulators that prove it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22</a:t>
            </a:r>
          </a:p>
        </p:txBody>
      </p:sp>
      <p:graphicFrame>
        <p:nvGraphicFramePr>
          <p:cNvPr id="9" name="Table 8"/>
          <p:cNvGraphicFramePr>
            <a:graphicFrameLocks noGrp="1"/>
          </p:cNvGraphicFramePr>
          <p:nvPr/>
        </p:nvGraphicFramePr>
        <p:xfrm>
          <a:off x="411480" y="1143000"/>
          <a:ext cx="11365992" cy="2636214"/>
        </p:xfrm>
        <a:graphic>
          <a:graphicData uri="http://schemas.openxmlformats.org/drawingml/2006/table">
            <a:tbl>
              <a:tblPr firstRow="1" bandRow="1">
                <a:tableStyleId>{5940675A-B579-460E-94D1-54222C63F5DA}</a:tableStyleId>
              </a:tblPr>
              <a:tblGrid>
                <a:gridCol w="3108960"/>
                <a:gridCol w="2743200"/>
                <a:gridCol w="3685032"/>
                <a:gridCol w="1828800"/>
              </a:tblGrid>
              <a:tr h="321419">
                <a:tc>
                  <a:txBody>
                    <a:bodyPr wrap="square"/>
                    <a:lstStyle/>
                    <a:p>
                      <a:pPr algn="l">
                        <a:lnSpc>
                          <a:spcPct val="100000"/>
                        </a:lnSpc>
                      </a:pPr>
                      <a:r>
                        <a:rPr sz="115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Simulator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proves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Runs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2959">
                <a:tc>
                  <a:txBody>
                    <a:bodyPr wrap="square"/>
                    <a:lstStyle/>
                    <a:p>
                      <a:pPr algn="l">
                        <a:lnSpc>
                          <a:spcPct val="100000"/>
                        </a:lnSpc>
                      </a:pPr>
                      <a:r>
                        <a:rPr sz="1050" b="1" i="0">
                          <a:solidFill>
                            <a:srgbClr val="0E7C86"/>
                          </a:solidFill>
                          <a:latin typeface="Consolas"/>
                        </a:rPr>
                        <a:t>NativeOnS3SimulatorTest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Adobe S3Mock in the JVM;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writes, connector reads an Iceberg table in S3; writers at once where atomic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(S3Mock)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NativeOnS3Test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image; MinIO image (Testcontainers)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same; the commit probe decides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where Docker is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tools/lake/test_s3_simulators.py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moto (pure Python); MinIO binary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Delta</a:t>
                      </a:r>
                      <a:r>
                        <a:rPr sz="1150" b="0" i="0">
                          <a:solidFill>
                            <a:srgbClr val="1C2433"/>
                          </a:solidFill>
                          <a:latin typeface="Calibri"/>
                        </a:rPr>
                        <a:t>: table on S3, </a:t>
                      </a:r>
                      <a:r>
                        <a:rPr sz="1050" b="0" i="0">
                          <a:solidFill>
                            <a:srgbClr val="0E7C86"/>
                          </a:solidFill>
                          <a:latin typeface="Consolas"/>
                        </a:rPr>
                        <a:t>lake publish</a:t>
                      </a:r>
                      <a:r>
                        <a:rPr sz="1150" b="0" i="0">
                          <a:solidFill>
                            <a:srgbClr val="1C2433"/>
                          </a:solidFill>
                          <a:latin typeface="Calibri"/>
                        </a:rPr>
                        <a:t> conditional PUT, two publishes at once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Linux, Windows (moto)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2959">
                <a:tc>
                  <a:txBody>
                    <a:bodyPr wrap="square"/>
                    <a:lstStyle/>
                    <a:p>
                      <a:pPr algn="l">
                        <a:lnSpc>
                          <a:spcPct val="100000"/>
                        </a:lnSpc>
                      </a:pPr>
                      <a:r>
                        <a:rPr sz="1050" b="1" i="0">
                          <a:solidFill>
                            <a:srgbClr val="0E7C86"/>
                          </a:solidFill>
                          <a:latin typeface="Consolas"/>
                        </a:rPr>
                        <a:t>OfficialS3Test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S3Mock in the JVM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official results to </a:t>
                      </a:r>
                      <a:r>
                        <a:rPr sz="1050" b="0" i="0">
                          <a:solidFill>
                            <a:srgbClr val="0E7C86"/>
                          </a:solidFill>
                          <a:latin typeface="Consolas"/>
                        </a:rPr>
                        <a:t>s3://</a:t>
                      </a:r>
                      <a:r>
                        <a:rPr sz="1150" b="0" i="0">
                          <a:solidFill>
                            <a:srgbClr val="1C2433"/>
                          </a:solidFill>
                          <a:latin typeface="Calibri"/>
                        </a:rPr>
                        <a:t> in Delta and Iceberg; two writers in sequence; the exclusive create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Linux,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2959">
                <a:tc>
                  <a:txBody>
                    <a:bodyPr wrap="square"/>
                    <a:lstStyle/>
                    <a:p>
                      <a:pPr algn="l">
                        <a:lnSpc>
                          <a:spcPct val="100000"/>
                        </a:lnSpc>
                      </a:pPr>
                      <a:r>
                        <a:rPr sz="1050" b="1" i="0">
                          <a:solidFill>
                            <a:srgbClr val="0E7C86"/>
                          </a:solidFill>
                          <a:latin typeface="Consolas"/>
                        </a:rPr>
                        <a:t>check-conditional-writes.sh</a:t>
                      </a:r>
                      <a:r>
                        <a:rPr sz="1150" b="1" i="0">
                          <a:solidFill>
                            <a:srgbClr val="1C2433"/>
                          </a:solidFill>
                          <a:latin typeface="Calibri"/>
                        </a:rPr>
                        <a:t> (</a:t>
                      </a:r>
                      <a:r>
                        <a:rPr sz="1050" b="1" i="0">
                          <a:solidFill>
                            <a:srgbClr val="0E7C86"/>
                          </a:solidFill>
                          <a:latin typeface="Consolas"/>
                        </a:rPr>
                        <a:t>delta-lake/</a:t>
                      </a:r>
                      <a:r>
                        <a:rPr sz="1150" b="1" i="0">
                          <a:solidFill>
                            <a:srgbClr val="1C2433"/>
                          </a:solidFill>
                          <a:latin typeface="Calibri"/>
                        </a:rPr>
                        <a:t>, </a:t>
                      </a:r>
                      <a:r>
                        <a:rPr sz="1050" b="1" i="0">
                          <a:solidFill>
                            <a:srgbClr val="0E7C86"/>
                          </a:solidFill>
                          <a:latin typeface="Consolas"/>
                        </a:rPr>
                        <a:t>iceberg/</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your real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bucket refuses a second create (412): the probe both formats rely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AWS (first run pending)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TextBox 9"/>
          <p:cNvSpPr txBox="1"/>
          <p:nvPr/>
        </p:nvSpPr>
        <p:spPr>
          <a:xfrm>
            <a:off x="411480" y="406908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the probe checks</a:t>
            </a:r>
          </a:p>
        </p:txBody>
      </p:sp>
      <p:sp>
        <p:nvSpPr>
          <p:cNvPr id="11" name="TextBox 10"/>
          <p:cNvSpPr txBox="1"/>
          <p:nvPr/>
        </p:nvSpPr>
        <p:spPr>
          <a:xfrm>
            <a:off x="411480" y="4434840"/>
            <a:ext cx="5577840" cy="192024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create-only (</a:t>
            </a:r>
            <a:r>
              <a:rPr sz="1200" b="0" i="0">
                <a:solidFill>
                  <a:srgbClr val="0E7C86"/>
                </a:solidFill>
                <a:latin typeface="Consolas"/>
              </a:rPr>
              <a:t>If-None-Match: *</a:t>
            </a:r>
            <a:r>
              <a:rPr sz="1300" b="0" i="0">
                <a:solidFill>
                  <a:srgbClr val="1C2433"/>
                </a:solidFill>
                <a:latin typeface="Calibri"/>
              </a:rPr>
              <a:t>): the commit's create</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update-if-match and delete-if-match</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two racing creates: exactly one wins (atomic)</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each suite prints its line and skips the cases its simulator does not honour</a:t>
            </a:r>
          </a:p>
        </p:txBody>
      </p:sp>
      <p:sp>
        <p:nvSpPr>
          <p:cNvPr id="12" name="Rounded Rectangle 11"/>
          <p:cNvSpPr/>
          <p:nvPr/>
        </p:nvSpPr>
        <p:spPr>
          <a:xfrm>
            <a:off x="6217920" y="4069080"/>
            <a:ext cx="5559552" cy="224028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069080"/>
            <a:ext cx="82296" cy="22402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123944"/>
            <a:ext cx="5193792" cy="21305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 yet proven on AWS:</a:t>
            </a:r>
            <a:r>
              <a:rPr sz="1250" b="0" i="0">
                <a:solidFill>
                  <a:srgbClr val="1C2433"/>
                </a:solidFill>
                <a:latin typeface="Calibri"/>
              </a:rPr>
              <a:t> no Iceberg table has been written to a real S3 bucket or committed through a real Glue catalog; </a:t>
            </a:r>
            <a:r>
              <a:rPr sz="1150" b="0" i="0">
                <a:solidFill>
                  <a:srgbClr val="0E7C86"/>
                </a:solidFill>
                <a:latin typeface="Consolas"/>
              </a:rPr>
              <a:t>check-glue.sh</a:t>
            </a:r>
            <a:r>
              <a:rPr sz="1250" b="0" i="0">
                <a:solidFill>
                  <a:srgbClr val="1C2433"/>
                </a:solidFill>
                <a:latin typeface="Calibri"/>
              </a:rPr>
              <a:t> (Glue, S3 Tables) is written and waits for an AWS account.</a:t>
            </a:r>
          </a:p>
          <a:p>
            <a:pPr algn="l">
              <a:lnSpc>
                <a:spcPct val="105000"/>
              </a:lnSpc>
            </a:pPr>
            <a:r>
              <a:rPr sz="1250" b="0" i="0">
                <a:solidFill>
                  <a:srgbClr val="1C2433"/>
                </a:solidFill>
                <a:latin typeface="Calibri"/>
              </a:rPr>
              <a:t>First step of any Iceberg production plan: </a:t>
            </a:r>
            <a:r>
              <a:rPr sz="1150" b="0" i="0">
                <a:solidFill>
                  <a:srgbClr val="0E7C86"/>
                </a:solidFill>
                <a:latin typeface="Consolas"/>
              </a:rPr>
              <a:t>check-conditional-writes.sh</a:t>
            </a:r>
            <a:r>
              <a:rPr sz="1250" b="0" i="0">
                <a:solidFill>
                  <a:srgbClr val="1C2433"/>
                </a:solidFill>
                <a:latin typeface="Calibri"/>
              </a:rPr>
              <a:t>, then </a:t>
            </a:r>
            <a:r>
              <a:rPr sz="1150" b="0" i="0">
                <a:solidFill>
                  <a:srgbClr val="0E7C86"/>
                </a:solidFill>
                <a:latin typeface="Consolas"/>
              </a:rPr>
              <a:t>check-glue.sh</a:t>
            </a:r>
            <a:r>
              <a:rPr sz="1250" b="0" i="0">
                <a:solidFill>
                  <a:srgbClr val="1C2433"/>
                </a:solidFill>
                <a:latin typeface="Calibri"/>
              </a:rPr>
              <a:t> against a development bucket (PROPOSED).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Schema and partition evolution, as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23</a:t>
            </a:r>
          </a:p>
        </p:txBody>
      </p:sp>
      <p:sp>
        <p:nvSpPr>
          <p:cNvPr id="9" name="Rounded Rectangle 8"/>
          <p:cNvSpPr/>
          <p:nvPr/>
        </p:nvSpPr>
        <p:spPr>
          <a:xfrm>
            <a:off x="411480" y="1188720"/>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25296"/>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Read by field id</a:t>
            </a:r>
          </a:p>
        </p:txBody>
      </p:sp>
      <p:sp>
        <p:nvSpPr>
          <p:cNvPr id="11" name="TextBox 10"/>
          <p:cNvSpPr txBox="1"/>
          <p:nvPr/>
        </p:nvSpPr>
        <p:spPr>
          <a:xfrm>
            <a:off x="548640" y="1554480"/>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renamed columns read correctly; added columns read as null; int→long, float→double, decimal widening; files without ids through </a:t>
            </a:r>
            <a:r>
              <a:rPr sz="1100" b="0" i="0">
                <a:solidFill>
                  <a:srgbClr val="0E7C86"/>
                </a:solidFill>
                <a:latin typeface="Consolas"/>
              </a:rPr>
              <a:t>schema.name-mapping.default</a:t>
            </a:r>
          </a:p>
        </p:txBody>
      </p:sp>
      <p:sp>
        <p:nvSpPr>
          <p:cNvPr id="12" name="Rounded Rectangle 11"/>
          <p:cNvSpPr/>
          <p:nvPr/>
        </p:nvSpPr>
        <p:spPr>
          <a:xfrm>
            <a:off x="411480" y="2176272"/>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2212848"/>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Add a promoted column</a:t>
            </a:r>
          </a:p>
        </p:txBody>
      </p:sp>
      <p:sp>
        <p:nvSpPr>
          <p:cNvPr id="14" name="TextBox 13"/>
          <p:cNvSpPr txBox="1"/>
          <p:nvPr/>
        </p:nvSpPr>
        <p:spPr>
          <a:xfrm>
            <a:off x="548640" y="2542032"/>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loader adds new promoted paths as columns; </a:t>
            </a:r>
            <a:r>
              <a:rPr sz="1100" b="0" i="0">
                <a:solidFill>
                  <a:srgbClr val="0E7C86"/>
                </a:solidFill>
                <a:latin typeface="Consolas"/>
              </a:rPr>
              <a:t>IcebergMaintenance --columns trade:PATH</a:t>
            </a:r>
            <a:r>
              <a:rPr sz="1200" b="0" i="0">
                <a:solidFill>
                  <a:srgbClr val="1C2433"/>
                </a:solidFill>
                <a:latin typeface="Calibri"/>
              </a:rPr>
              <a:t> adds and fills them from the documents</a:t>
            </a:r>
          </a:p>
        </p:txBody>
      </p:sp>
      <p:sp>
        <p:nvSpPr>
          <p:cNvPr id="15" name="Rounded Rectangle 14"/>
          <p:cNvSpPr/>
          <p:nvPr/>
        </p:nvSpPr>
        <p:spPr>
          <a:xfrm>
            <a:off x="411480" y="3163824"/>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3200400"/>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Partition evolution (read)</a:t>
            </a:r>
          </a:p>
        </p:txBody>
      </p:sp>
      <p:sp>
        <p:nvSpPr>
          <p:cNvPr id="17" name="TextBox 16"/>
          <p:cNvSpPr txBox="1"/>
          <p:nvPr/>
        </p:nvSpPr>
        <p:spPr>
          <a:xfrm>
            <a:off x="548640" y="3529584"/>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several specs in one table; every transform: identity, bucket, truncate, year, month, day, hour, void</a:t>
            </a:r>
          </a:p>
        </p:txBody>
      </p:sp>
      <p:sp>
        <p:nvSpPr>
          <p:cNvPr id="18" name="Rounded Rectangle 17"/>
          <p:cNvSpPr/>
          <p:nvPr/>
        </p:nvSpPr>
        <p:spPr>
          <a:xfrm>
            <a:off x="411480" y="4151376"/>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4187952"/>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Hidden partitioning (read)</a:t>
            </a:r>
          </a:p>
        </p:txBody>
      </p:sp>
      <p:sp>
        <p:nvSpPr>
          <p:cNvPr id="20" name="TextBox 19"/>
          <p:cNvSpPr txBox="1"/>
          <p:nvPr/>
        </p:nvSpPr>
        <p:spPr>
          <a:xfrm>
            <a:off x="548640" y="4517136"/>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table partitioned by </a:t>
            </a:r>
            <a:r>
              <a:rPr sz="1100" b="0" i="0">
                <a:solidFill>
                  <a:srgbClr val="0E7C86"/>
                </a:solidFill>
                <a:latin typeface="Consolas"/>
              </a:rPr>
              <a:t>day(TRADE_TS)</a:t>
            </a:r>
            <a:r>
              <a:rPr sz="1200" b="0" i="0">
                <a:solidFill>
                  <a:srgbClr val="1C2433"/>
                </a:solidFill>
                <a:latin typeface="Calibri"/>
              </a:rPr>
              <a:t> or </a:t>
            </a:r>
            <a:r>
              <a:rPr sz="1100" b="0" i="0">
                <a:solidFill>
                  <a:srgbClr val="0E7C86"/>
                </a:solidFill>
                <a:latin typeface="Consolas"/>
              </a:rPr>
              <a:t>bucket(id)</a:t>
            </a:r>
            <a:r>
              <a:rPr sz="1200" b="0" i="0">
                <a:solidFill>
                  <a:srgbClr val="1C2433"/>
                </a:solidFill>
                <a:latin typeface="Calibri"/>
              </a:rPr>
              <a:t> is pruned by its manifests; </a:t>
            </a:r>
            <a:r>
              <a:rPr sz="1100" b="0" i="0">
                <a:solidFill>
                  <a:srgbClr val="0E7C86"/>
                </a:solidFill>
                <a:latin typeface="Consolas"/>
              </a:rPr>
              <a:t>iceberg-external</a:t>
            </a:r>
            <a:r>
              <a:rPr sz="1200" b="0" i="0">
                <a:solidFill>
                  <a:srgbClr val="1C2433"/>
                </a:solidFill>
                <a:latin typeface="Calibri"/>
              </a:rPr>
              <a:t> takes the business date from the spec</a:t>
            </a:r>
          </a:p>
        </p:txBody>
      </p:sp>
      <p:sp>
        <p:nvSpPr>
          <p:cNvPr id="21" name="Rounded Rectangle 20"/>
          <p:cNvSpPr/>
          <p:nvPr/>
        </p:nvSpPr>
        <p:spPr>
          <a:xfrm>
            <a:off x="411480" y="5138928"/>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5175504"/>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Drishti's writer changes a spec</a:t>
            </a:r>
          </a:p>
        </p:txBody>
      </p:sp>
      <p:sp>
        <p:nvSpPr>
          <p:cNvPr id="23" name="TextBox 22"/>
          <p:cNvSpPr txBox="1"/>
          <p:nvPr/>
        </p:nvSpPr>
        <p:spPr>
          <a:xfrm>
            <a:off x="548640" y="5504688"/>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always </a:t>
            </a:r>
            <a:r>
              <a:rPr sz="1100" b="0" i="0">
                <a:solidFill>
                  <a:srgbClr val="0E7C86"/>
                </a:solidFill>
                <a:latin typeface="Consolas"/>
              </a:rPr>
              <a:t>identity(business_date)</a:t>
            </a:r>
            <a:r>
              <a:rPr sz="1200" b="0" i="0">
                <a:solidFill>
                  <a:srgbClr val="1C2433"/>
                </a:solidFill>
                <a:latin typeface="Calibri"/>
              </a:rPr>
              <a:t>; no partition evolution written, none needed</a:t>
            </a:r>
          </a:p>
        </p:txBody>
      </p:sp>
      <p:sp>
        <p:nvSpPr>
          <p:cNvPr id="24" name="Rounded Rectangle 23"/>
          <p:cNvSpPr/>
          <p:nvPr/>
        </p:nvSpPr>
        <p:spPr>
          <a:xfrm>
            <a:off x="7635240" y="1188720"/>
            <a:ext cx="4142232" cy="23774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7635240" y="1188720"/>
            <a:ext cx="82296" cy="2377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1243584"/>
            <a:ext cx="377647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Versus Delta in Drishti:</a:t>
            </a:r>
            <a:r>
              <a:rPr sz="1250" b="0" i="0">
                <a:solidFill>
                  <a:srgbClr val="1C2433"/>
                </a:solidFill>
                <a:latin typeface="Calibri"/>
              </a:rPr>
              <a:t> adding a promoted column on Delta changes the table's columns, and </a:t>
            </a:r>
            <a:r>
              <a:rPr sz="1150" b="0" i="0">
                <a:solidFill>
                  <a:srgbClr val="0E7C86"/>
                </a:solidFill>
                <a:latin typeface="Consolas"/>
              </a:rPr>
              <a:t>lake publish</a:t>
            </a:r>
            <a:r>
              <a:rPr sz="1250" b="0" i="0">
                <a:solidFill>
                  <a:srgbClr val="1C2433"/>
                </a:solidFill>
                <a:latin typeface="Calibri"/>
              </a:rPr>
              <a:t> then refuses the next day: a new folder (</a:t>
            </a:r>
            <a:r>
              <a:rPr sz="1150" b="0" i="0">
                <a:solidFill>
                  <a:srgbClr val="0E7C86"/>
                </a:solidFill>
                <a:latin typeface="Consolas"/>
              </a:rPr>
              <a:t>trade_endur_v2</a:t>
            </a:r>
            <a:r>
              <a:rPr sz="1250" b="0" i="0">
                <a:solidFill>
                  <a:srgbClr val="1C2433"/>
                </a:solidFill>
                <a:latin typeface="Calibri"/>
              </a:rPr>
              <a:t>) and a backfill (Delta's in-place add: planned, not built).</a:t>
            </a:r>
          </a:p>
          <a:p>
            <a:pPr algn="l">
              <a:lnSpc>
                <a:spcPct val="105000"/>
              </a:lnSpc>
            </a:pPr>
            <a:r>
              <a:rPr sz="1250" b="0" i="0">
                <a:solidFill>
                  <a:srgbClr val="1C2433"/>
                </a:solidFill>
                <a:latin typeface="Calibri"/>
              </a:rPr>
              <a:t>On Iceberg the column is added in place by field id; old files read it as null until </a:t>
            </a:r>
            <a:r>
              <a:rPr sz="1150" b="0" i="0">
                <a:solidFill>
                  <a:srgbClr val="0E7C86"/>
                </a:solidFill>
                <a:latin typeface="Consolas"/>
              </a:rPr>
              <a:t>--columns</a:t>
            </a:r>
            <a:r>
              <a:rPr sz="1250" b="0" i="0">
                <a:solidFill>
                  <a:srgbClr val="1C2433"/>
                </a:solidFill>
                <a:latin typeface="Calibri"/>
              </a:rPr>
              <a:t> rewrites them.</a:t>
            </a:r>
          </a:p>
        </p:txBody>
      </p:sp>
      <p:sp>
        <p:nvSpPr>
          <p:cNvPr id="27" name="Rounded Rectangle 26"/>
          <p:cNvSpPr/>
          <p:nvPr/>
        </p:nvSpPr>
        <p:spPr>
          <a:xfrm>
            <a:off x="7635240" y="3749039"/>
            <a:ext cx="414223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635240" y="3749039"/>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3803903"/>
            <a:ext cx="377647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it matters for a bank:</a:t>
            </a:r>
            <a:r>
              <a:rPr sz="1250" b="0" i="0">
                <a:solidFill>
                  <a:srgbClr val="1C2433"/>
                </a:solidFill>
                <a:latin typeface="Calibri"/>
              </a:rPr>
              <a:t> promoted columns grow as people search new fields. Iceberg absorbs that without a new table; Delta in Drishti's AWS flow needs a new table per change, because </a:t>
            </a:r>
            <a:r>
              <a:rPr sz="1150" b="0" i="0">
                <a:solidFill>
                  <a:srgbClr val="0E7C86"/>
                </a:solidFill>
                <a:latin typeface="Consolas"/>
              </a:rPr>
              <a:t>lake publish</a:t>
            </a:r>
            <a:r>
              <a:rPr sz="1250" b="0" i="0">
                <a:solidFill>
                  <a:srgbClr val="1C2433"/>
                </a:solidFill>
                <a:latin typeface="Calibri"/>
              </a:rPr>
              <a:t> refuses a day whose columns differ.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Snapshots, time travel and deletes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24</a:t>
            </a:r>
          </a:p>
        </p:txBody>
      </p:sp>
      <p:sp>
        <p:nvSpPr>
          <p:cNvPr id="9" name="TextBox 8"/>
          <p:cNvSpPr txBox="1"/>
          <p:nvPr/>
        </p:nvSpPr>
        <p:spPr>
          <a:xfrm>
            <a:off x="411480" y="1143000"/>
            <a:ext cx="73152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 table's snapshot log, and what </a:t>
            </a:r>
            <a:r>
              <a:rPr sz="1500" b="1" i="1">
                <a:solidFill>
                  <a:srgbClr val="0B1E3B"/>
                </a:solidFill>
                <a:latin typeface="Calibri"/>
              </a:rPr>
              <a:t>known at</a:t>
            </a:r>
            <a:r>
              <a:rPr sz="1500" b="1" i="0">
                <a:solidFill>
                  <a:srgbClr val="0B1E3B"/>
                </a:solidFill>
                <a:latin typeface="Calibri"/>
              </a:rPr>
              <a:t> reads</a:t>
            </a:r>
          </a:p>
        </p:txBody>
      </p:sp>
      <p:cxnSp>
        <p:nvCxnSpPr>
          <p:cNvPr id="10" name="Connector 9"/>
          <p:cNvCxnSpPr/>
          <p:nvPr/>
        </p:nvCxnSpPr>
        <p:spPr>
          <a:xfrm>
            <a:off x="594360" y="2148840"/>
            <a:ext cx="10927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972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S1</a:t>
            </a:r>
          </a:p>
        </p:txBody>
      </p:sp>
      <p:sp>
        <p:nvSpPr>
          <p:cNvPr id="13" name="TextBox 12"/>
          <p:cNvSpPr txBox="1"/>
          <p:nvPr/>
        </p:nvSpPr>
        <p:spPr>
          <a:xfrm>
            <a:off x="5486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10-16</a:t>
            </a:r>
          </a:p>
        </p:txBody>
      </p:sp>
      <p:sp>
        <p:nvSpPr>
          <p:cNvPr id="14" name="Oval 13"/>
          <p:cNvSpPr/>
          <p:nvPr/>
        </p:nvSpPr>
        <p:spPr>
          <a:xfrm>
            <a:off x="31546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S2</a:t>
            </a:r>
          </a:p>
        </p:txBody>
      </p:sp>
      <p:sp>
        <p:nvSpPr>
          <p:cNvPr id="16" name="TextBox 15"/>
          <p:cNvSpPr txBox="1"/>
          <p:nvPr/>
        </p:nvSpPr>
        <p:spPr>
          <a:xfrm>
            <a:off x="26060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10-19</a:t>
            </a:r>
          </a:p>
        </p:txBody>
      </p:sp>
      <p:sp>
        <p:nvSpPr>
          <p:cNvPr id="17" name="Oval 16"/>
          <p:cNvSpPr/>
          <p:nvPr/>
        </p:nvSpPr>
        <p:spPr>
          <a:xfrm>
            <a:off x="52120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S3</a:t>
            </a:r>
          </a:p>
        </p:txBody>
      </p:sp>
      <p:sp>
        <p:nvSpPr>
          <p:cNvPr id="19" name="TextBox 18"/>
          <p:cNvSpPr txBox="1"/>
          <p:nvPr/>
        </p:nvSpPr>
        <p:spPr>
          <a:xfrm>
            <a:off x="46634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restate 10-16</a:t>
            </a:r>
          </a:p>
        </p:txBody>
      </p:sp>
      <p:sp>
        <p:nvSpPr>
          <p:cNvPr id="20" name="Oval 19"/>
          <p:cNvSpPr/>
          <p:nvPr/>
        </p:nvSpPr>
        <p:spPr>
          <a:xfrm>
            <a:off x="72694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S4</a:t>
            </a:r>
          </a:p>
        </p:txBody>
      </p:sp>
      <p:sp>
        <p:nvSpPr>
          <p:cNvPr id="22" name="TextBox 21"/>
          <p:cNvSpPr txBox="1"/>
          <p:nvPr/>
        </p:nvSpPr>
        <p:spPr>
          <a:xfrm>
            <a:off x="67208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10-20</a:t>
            </a:r>
          </a:p>
        </p:txBody>
      </p:sp>
      <p:sp>
        <p:nvSpPr>
          <p:cNvPr id="23" name="Oval 22"/>
          <p:cNvSpPr/>
          <p:nvPr/>
        </p:nvSpPr>
        <p:spPr>
          <a:xfrm>
            <a:off x="9326880" y="194767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S5</a:t>
            </a:r>
          </a:p>
        </p:txBody>
      </p:sp>
      <p:sp>
        <p:nvSpPr>
          <p:cNvPr id="25" name="TextBox 24"/>
          <p:cNvSpPr txBox="1"/>
          <p:nvPr/>
        </p:nvSpPr>
        <p:spPr>
          <a:xfrm>
            <a:off x="87782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maintenance</a:t>
            </a:r>
          </a:p>
        </p:txBody>
      </p:sp>
      <p:sp>
        <p:nvSpPr>
          <p:cNvPr id="26" name="Rectangle 25"/>
          <p:cNvSpPr/>
          <p:nvPr/>
        </p:nvSpPr>
        <p:spPr>
          <a:xfrm>
            <a:off x="4800600" y="1600200"/>
            <a:ext cx="27432" cy="11430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846320" y="1554480"/>
            <a:ext cx="2103120" cy="320040"/>
          </a:xfrm>
          <a:prstGeom prst="rect">
            <a:avLst/>
          </a:prstGeom>
          <a:noFill/>
        </p:spPr>
        <p:txBody>
          <a:bodyPr wrap="square" lIns="45720" rIns="45720" tIns="27432" bIns="27432" anchor="t">
            <a:spAutoFit/>
          </a:bodyPr>
          <a:lstStyle/>
          <a:p>
            <a:pPr algn="l">
              <a:lnSpc>
                <a:spcPct val="105000"/>
              </a:lnSpc>
            </a:pPr>
            <a:r>
              <a:rPr sz="1150" b="1" i="0">
                <a:solidFill>
                  <a:srgbClr val="B3261E"/>
                </a:solidFill>
                <a:latin typeface="Calibri"/>
              </a:rPr>
              <a:t>known at: S3 time</a:t>
            </a:r>
          </a:p>
        </p:txBody>
      </p:sp>
      <p:sp>
        <p:nvSpPr>
          <p:cNvPr id="28" name="TextBox 27"/>
          <p:cNvSpPr txBox="1"/>
          <p:nvPr/>
        </p:nvSpPr>
        <p:spPr>
          <a:xfrm>
            <a:off x="411480" y="2788920"/>
            <a:ext cx="11247120" cy="36576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A view </a:t>
            </a:r>
            <a:r>
              <a:rPr sz="1250" b="0" i="1">
                <a:solidFill>
                  <a:srgbClr val="5B677A"/>
                </a:solidFill>
                <a:latin typeface="Calibri"/>
              </a:rPr>
              <a:t>known at</a:t>
            </a:r>
            <a:r>
              <a:rPr sz="1250" b="0" i="0">
                <a:solidFill>
                  <a:srgbClr val="5B677A"/>
                </a:solidFill>
                <a:latin typeface="Calibri"/>
              </a:rPr>
              <a:t> that instant reads S3's schema and files; a later load is invisible; a time before the oldest snapshot kept reads nothing.</a:t>
            </a:r>
          </a:p>
        </p:txBody>
      </p:sp>
      <p:graphicFrame>
        <p:nvGraphicFramePr>
          <p:cNvPr id="29" name="Table 28"/>
          <p:cNvGraphicFramePr>
            <a:graphicFrameLocks noGrp="1"/>
          </p:cNvGraphicFramePr>
          <p:nvPr/>
        </p:nvGraphicFramePr>
        <p:xfrm>
          <a:off x="411480" y="3291840"/>
          <a:ext cx="11365992" cy="2891328"/>
        </p:xfrm>
        <a:graphic>
          <a:graphicData uri="http://schemas.openxmlformats.org/drawingml/2006/table">
            <a:tbl>
              <a:tblPr firstRow="1" bandRow="1">
                <a:tableStyleId>{5940675A-B579-460E-94D1-54222C63F5DA}</a:tableStyleId>
              </a:tblPr>
              <a:tblGrid>
                <a:gridCol w="2377440"/>
                <a:gridCol w="4572000"/>
                <a:gridCol w="4416552"/>
              </a:tblGrid>
              <a:tr h="414207">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4207">
                <a:tc>
                  <a:txBody>
                    <a:bodyPr wrap="square"/>
                    <a:lstStyle/>
                    <a:p>
                      <a:pPr algn="l">
                        <a:lnSpc>
                          <a:spcPct val="100000"/>
                        </a:lnSpc>
                      </a:pPr>
                      <a:r>
                        <a:rPr sz="1200" b="1" i="0">
                          <a:solidFill>
                            <a:srgbClr val="1C2433"/>
                          </a:solidFill>
                          <a:latin typeface="Calibri"/>
                        </a:rPr>
                        <a:t>Time travel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snapshot (each commit), from the snapshot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table version (each commit), from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7250">
                <a:tc>
                  <a:txBody>
                    <a:bodyPr wrap="square"/>
                    <a:lstStyle/>
                    <a:p>
                      <a:pPr algn="l">
                        <a:lnSpc>
                          <a:spcPct val="100000"/>
                        </a:lnSpc>
                      </a:pPr>
                      <a:r>
                        <a:rPr sz="1200" b="1" i="0">
                          <a:solidFill>
                            <a:srgbClr val="1C2433"/>
                          </a:solidFill>
                          <a:latin typeface="Calibri"/>
                        </a:rPr>
                        <a:t>How far 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snapshots are expired: </a:t>
                      </a:r>
                      <a:r>
                        <a:rPr sz="1100" b="0" i="0">
                          <a:solidFill>
                            <a:srgbClr val="0E7C86"/>
                          </a:solidFill>
                          <a:latin typeface="Consolas"/>
                        </a:rPr>
                        <a:t>--expire-hours</a:t>
                      </a:r>
                      <a:r>
                        <a:rPr sz="1200" b="0" i="0">
                          <a:solidFill>
                            <a:srgbClr val="1C2433"/>
                          </a:solidFill>
                          <a:latin typeface="Calibri"/>
                        </a:rPr>
                        <a:t> (168 by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vacuum and log retention (168 h; 7 years in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7250">
                <a:tc>
                  <a:txBody>
                    <a:bodyPr wrap="square"/>
                    <a:lstStyle/>
                    <a:p>
                      <a:pPr algn="l">
                        <a:lnSpc>
                          <a:spcPct val="100000"/>
                        </a:lnSpc>
                      </a:pPr>
                      <a:r>
                        <a:rPr sz="1200" b="1" i="0">
                          <a:solidFill>
                            <a:srgbClr val="1C2433"/>
                          </a:solidFill>
                          <a:latin typeface="Calibri"/>
                        </a:rPr>
                        <a:t>Rows deleted by other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position and equality deletes applied by </a:t>
                      </a:r>
                      <a:r>
                        <a:rPr sz="1200" b="1" i="0">
                          <a:solidFill>
                            <a:srgbClr val="1C2433"/>
                          </a:solidFill>
                          <a:latin typeface="Calibri"/>
                        </a:rPr>
                        <a:t>every</a:t>
                      </a:r>
                      <a:r>
                        <a:rPr sz="1200" b="0" i="0">
                          <a:solidFill>
                            <a:srgbClr val="1C2433"/>
                          </a:solidFill>
                          <a:latin typeface="Calibri"/>
                        </a:rPr>
                        <a:t> read, columns stay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deletion vectors honoured; the table's searches fall back to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4207">
                <a:tc>
                  <a:txBody>
                    <a:bodyPr wrap="square"/>
                    <a:lstStyle/>
                    <a:p>
                      <a:pPr algn="l">
                        <a:lnSpc>
                          <a:spcPct val="100000"/>
                        </a:lnSpc>
                      </a:pPr>
                      <a:r>
                        <a:rPr sz="1200" b="1" i="0">
                          <a:solidFill>
                            <a:srgbClr val="1C2433"/>
                          </a:solidFill>
                          <a:latin typeface="Calibri"/>
                        </a:rPr>
                        <a:t>Drishti's own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4207">
                <a:tc>
                  <a:txBody>
                    <a:bodyPr wrap="square"/>
                    <a:lstStyle/>
                    <a:p>
                      <a:pPr algn="l">
                        <a:lnSpc>
                          <a:spcPct val="100000"/>
                        </a:lnSpc>
                      </a:pPr>
                      <a:r>
                        <a:rPr sz="1200" b="1" i="0">
                          <a:solidFill>
                            <a:srgbClr val="1C2433"/>
                          </a:solidFill>
                          <a:latin typeface="Calibri"/>
                        </a:rPr>
                        <a:t>Format v3 deletion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refused by name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Maintenance as built: IcebergMaintenance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25</a:t>
            </a:r>
          </a:p>
        </p:txBody>
      </p:sp>
      <p:graphicFrame>
        <p:nvGraphicFramePr>
          <p:cNvPr id="9" name="Table 8"/>
          <p:cNvGraphicFramePr>
            <a:graphicFrameLocks noGrp="1"/>
          </p:cNvGraphicFramePr>
          <p:nvPr/>
        </p:nvGraphicFramePr>
        <p:xfrm>
          <a:off x="411480" y="1143000"/>
          <a:ext cx="11365992" cy="3996837"/>
        </p:xfrm>
        <a:graphic>
          <a:graphicData uri="http://schemas.openxmlformats.org/drawingml/2006/table">
            <a:tbl>
              <a:tblPr firstRow="1" bandRow="1">
                <a:tableStyleId>{5940675A-B579-460E-94D1-54222C63F5DA}</a:tableStyleId>
              </a:tblPr>
              <a:tblGrid>
                <a:gridCol w="2514600"/>
                <a:gridCol w="8851392"/>
              </a:tblGrid>
              <a:tr h="387250">
                <a:tc>
                  <a:txBody>
                    <a:bodyPr wrap="square"/>
                    <a:lstStyle/>
                    <a:p>
                      <a:pPr algn="l">
                        <a:lnSpc>
                          <a:spcPct val="100000"/>
                        </a:lnSpc>
                      </a:pPr>
                      <a:r>
                        <a:rPr sz="1150" b="1" i="0">
                          <a:solidFill>
                            <a:srgbClr val="FFFFFF"/>
                          </a:solidFill>
                          <a:latin typeface="Calibri"/>
                        </a:rPr>
                        <a:t>Option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does (one Iceberg commit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87250">
                <a:tc>
                  <a:txBody>
                    <a:bodyPr wrap="square"/>
                    <a:lstStyle/>
                    <a:p>
                      <a:pPr algn="l">
                        <a:lnSpc>
                          <a:spcPct val="100000"/>
                        </a:lnSpc>
                      </a:pPr>
                      <a:r>
                        <a:rPr sz="1050" b="1" i="0">
                          <a:solidFill>
                            <a:srgbClr val="0E7C86"/>
                          </a:solidFill>
                          <a:latin typeface="Consolas"/>
                        </a:rPr>
                        <a:t>--keep-days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deletes business days older than the newest N on or before </a:t>
                      </a:r>
                      <a:r>
                        <a:rPr sz="1050" b="0" i="0">
                          <a:solidFill>
                            <a:srgbClr val="0E7C86"/>
                          </a:solidFill>
                          <a:latin typeface="Consolas"/>
                        </a:rPr>
                        <a:t>--as-of</a:t>
                      </a:r>
                      <a:r>
                        <a:rPr sz="1150" b="0" i="0">
                          <a:solidFill>
                            <a:srgbClr val="1C2433"/>
                          </a:solidFill>
                          <a:latin typeface="Calibri"/>
                        </a:rPr>
                        <a:t>: metadata only; &gt; 50 % of rows needs </a:t>
                      </a:r>
                      <a:r>
                        <a:rPr sz="1050" b="0" i="0">
                          <a:solidFill>
                            <a:srgbClr val="0E7C86"/>
                          </a:solidFill>
                          <a:latin typeface="Consolas"/>
                        </a:rPr>
                        <a:t>--force-drop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050" b="1" i="0">
                          <a:solidFill>
                            <a:srgbClr val="0E7C86"/>
                          </a:solidFill>
                          <a:latin typeface="Consolas"/>
                        </a:rPr>
                        <a:t>--relayout</a:t>
                      </a:r>
                      <a:r>
                        <a:rPr sz="1150" b="1" i="0">
                          <a:solidFill>
                            <a:srgbClr val="1C2433"/>
                          </a:solidFill>
                          <a:latin typeface="Calibri"/>
                        </a:rPr>
                        <a:t> (</a:t>
                      </a:r>
                      <a:r>
                        <a:rPr sz="1050" b="1" i="0">
                          <a:solidFill>
                            <a:srgbClr val="0E7C86"/>
                          </a:solidFill>
                          <a:latin typeface="Consolas"/>
                        </a:rPr>
                        <a:t>--force</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rewrites only days that drifted (overlapping id ranges, oversized files, delete files, missing columns), sorted, validated against the snapshot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050" b="1" i="0">
                          <a:solidFill>
                            <a:srgbClr val="0E7C86"/>
                          </a:solidFill>
                          <a:latin typeface="Consolas"/>
                        </a:rPr>
                        <a:t>--columns kind:path,…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adds promoted columns and rewrites every day, filling them from the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7250">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regroups manifests, one per month of business dates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050" b="1" i="0">
                          <a:solidFill>
                            <a:srgbClr val="0E7C86"/>
                          </a:solidFill>
                          <a:latin typeface="Consolas"/>
                        </a:rPr>
                        <a:t>--expire-hours 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expires snapshots older than H (168), keeps the current, deletes files only they referenced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050" b="1" i="0">
                          <a:solidFill>
                            <a:srgbClr val="0E7C86"/>
                          </a:solidFill>
                          <a:latin typeface="Consolas"/>
                        </a:rPr>
                        <a:t>--remove-orphans --older-than-hours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files no snapshot references (a load that died before its commit), 72 h at least, with a dry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150" b="1" i="0">
                          <a:solidFill>
                            <a:srgbClr val="1C2433"/>
                          </a:solidFill>
                          <a:latin typeface="Calibri"/>
                        </a:rPr>
                        <a:t>Admin → Lakes, </a:t>
                      </a:r>
                      <a:r>
                        <a:rPr sz="1050" b="1"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an Iceberg table maintained as a Delta one: ownership rule, lock, schedules, history, a Format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150" b="1" i="0">
                          <a:solidFill>
                            <a:srgbClr val="1C2433"/>
                          </a:solidFill>
                          <a:latin typeface="Calibri"/>
                        </a:rPr>
                        <a:t>The 7-year floor of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--floor-days 2557</a:t>
                      </a:r>
                      <a:r>
                        <a:rPr sz="1150" b="0" i="0">
                          <a:solidFill>
                            <a:srgbClr val="1C2433"/>
                          </a:solidFill>
                          <a:latin typeface="Calibri"/>
                        </a:rPr>
                        <a:t> for </a:t>
                      </a:r>
                      <a:r>
                        <a:rPr sz="1050" b="0" i="0">
                          <a:solidFill>
                            <a:srgbClr val="0E7C86"/>
                          </a:solidFill>
                          <a:latin typeface="Consolas"/>
                        </a:rPr>
                        <a:t>risk</a:t>
                      </a:r>
                      <a:r>
                        <a:rPr sz="1150" b="0" i="0">
                          <a:solidFill>
                            <a:srgbClr val="1C2433"/>
                          </a:solidFill>
                          <a:latin typeface="Calibri"/>
                        </a:rPr>
                        <a:t> and </a:t>
                      </a:r>
                      <a:r>
                        <a:rPr sz="1050" b="0" i="0">
                          <a:solidFill>
                            <a:srgbClr val="0E7C86"/>
                          </a:solidFill>
                          <a:latin typeface="Consolas"/>
                        </a:rPr>
                        <a:t>risk-results</a:t>
                      </a:r>
                      <a:r>
                        <a:rPr sz="1150" b="0" i="0">
                          <a:solidFill>
                            <a:srgbClr val="1C2433"/>
                          </a:solidFill>
                          <a:latin typeface="Calibri"/>
                        </a:rPr>
                        <a:t>: no date dropped, no snapshot expired inside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669280"/>
            <a:ext cx="11365992" cy="68580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669280"/>
            <a:ext cx="82296" cy="6858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24144"/>
            <a:ext cx="11000232" cy="57607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Never</a:t>
            </a:r>
            <a:r>
              <a:rPr sz="1300" b="0" i="0">
                <a:solidFill>
                  <a:srgbClr val="1C2433"/>
                </a:solidFill>
                <a:latin typeface="Calibri"/>
              </a:rPr>
              <a:t> apply S3 lifecycle </a:t>
            </a:r>
            <a:r>
              <a:rPr sz="1300" b="1" i="0">
                <a:solidFill>
                  <a:srgbClr val="1C2433"/>
                </a:solidFill>
                <a:latin typeface="Calibri"/>
              </a:rPr>
              <a:t>expiry</a:t>
            </a:r>
            <a:r>
              <a:rPr sz="1300" b="0" i="0">
                <a:solidFill>
                  <a:srgbClr val="1C2433"/>
                </a:solidFill>
                <a:latin typeface="Calibri"/>
              </a:rPr>
              <a:t> to a table's files, in either format: they delete files the metadata still names.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Lake build to Iceberg, and the demo's CALYPSO in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26</a:t>
            </a:r>
          </a:p>
        </p:txBody>
      </p:sp>
      <p:sp>
        <p:nvSpPr>
          <p:cNvPr id="9" name="Rounded Rectangle 8"/>
          <p:cNvSpPr/>
          <p:nvPr/>
        </p:nvSpPr>
        <p:spPr>
          <a:xfrm>
            <a:off x="411480" y="1234440"/>
            <a:ext cx="2130552" cy="2103120"/>
          </a:xfrm>
          <a:prstGeom prst="roundRect">
            <a:avLst>
              <a:gd name="adj" fmla="val 7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1</a:t>
            </a:r>
          </a:p>
        </p:txBody>
      </p:sp>
      <p:sp>
        <p:nvSpPr>
          <p:cNvPr id="12" name="TextBox 11"/>
          <p:cNvSpPr txBox="1"/>
          <p:nvPr/>
        </p:nvSpPr>
        <p:spPr>
          <a:xfrm>
            <a:off x="960120"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JSON Lines in</a:t>
            </a:r>
          </a:p>
        </p:txBody>
      </p:sp>
      <p:sp>
        <p:nvSpPr>
          <p:cNvPr id="13" name="TextBox 12"/>
          <p:cNvSpPr txBox="1"/>
          <p:nvPr/>
        </p:nvSpPr>
        <p:spPr>
          <a:xfrm>
            <a:off x="502920"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data/testdata/&lt;domain&gt;/&lt;kind&gt;/*.jsonl.gz</a:t>
            </a:r>
            <a:r>
              <a:rPr sz="1200" b="0" i="0">
                <a:solidFill>
                  <a:srgbClr val="1C2433"/>
                </a:solidFill>
                <a:latin typeface="Calibri"/>
              </a:rPr>
              <a:t> or a bank's dumps</a:t>
            </a:r>
          </a:p>
        </p:txBody>
      </p:sp>
      <p:cxnSp>
        <p:nvCxnSpPr>
          <p:cNvPr id="14" name="Connector 13"/>
          <p:cNvCxnSpPr/>
          <p:nvPr/>
        </p:nvCxnSpPr>
        <p:spPr>
          <a:xfrm>
            <a:off x="2542032"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24912"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16352"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2</a:t>
            </a:r>
          </a:p>
        </p:txBody>
      </p:sp>
      <p:sp>
        <p:nvSpPr>
          <p:cNvPr id="18" name="TextBox 17"/>
          <p:cNvSpPr txBox="1"/>
          <p:nvPr/>
        </p:nvSpPr>
        <p:spPr>
          <a:xfrm>
            <a:off x="3273552"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lake build → Delta</a:t>
            </a:r>
          </a:p>
        </p:txBody>
      </p:sp>
      <p:sp>
        <p:nvSpPr>
          <p:cNvPr id="19" name="TextBox 18"/>
          <p:cNvSpPr txBox="1"/>
          <p:nvPr/>
        </p:nvSpPr>
        <p:spPr>
          <a:xfrm>
            <a:off x="2816352"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staged under </a:t>
            </a:r>
            <a:r>
              <a:rPr sz="1100" b="0" i="0">
                <a:solidFill>
                  <a:srgbClr val="0E7C86"/>
                </a:solidFill>
                <a:latin typeface="Consolas"/>
              </a:rPr>
              <a:t>&lt;data&gt;/build/iceberg-stage</a:t>
            </a:r>
            <a:r>
              <a:rPr sz="1200" b="0" i="0">
                <a:solidFill>
                  <a:srgbClr val="1C2433"/>
                </a:solidFill>
                <a:latin typeface="Calibri"/>
              </a:rPr>
              <a:t>: the same documents and promoted columns as a Delta build</a:t>
            </a:r>
          </a:p>
        </p:txBody>
      </p:sp>
      <p:cxnSp>
        <p:nvCxnSpPr>
          <p:cNvPr id="20" name="Connector 19"/>
          <p:cNvCxnSpPr/>
          <p:nvPr/>
        </p:nvCxnSpPr>
        <p:spPr>
          <a:xfrm>
            <a:off x="4855464"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38344"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129784"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3</a:t>
            </a:r>
          </a:p>
        </p:txBody>
      </p:sp>
      <p:sp>
        <p:nvSpPr>
          <p:cNvPr id="24" name="TextBox 23"/>
          <p:cNvSpPr txBox="1"/>
          <p:nvPr/>
        </p:nvSpPr>
        <p:spPr>
          <a:xfrm>
            <a:off x="5586984"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IcebergLoader, engine native</a:t>
            </a:r>
          </a:p>
        </p:txBody>
      </p:sp>
      <p:sp>
        <p:nvSpPr>
          <p:cNvPr id="25" name="TextBox 24"/>
          <p:cNvSpPr txBox="1"/>
          <p:nvPr/>
        </p:nvSpPr>
        <p:spPr>
          <a:xfrm>
            <a:off x="5129784"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each business day committed as one overwrite of its partition; no Maven, works on Windows</a:t>
            </a:r>
          </a:p>
        </p:txBody>
      </p:sp>
      <p:cxnSp>
        <p:nvCxnSpPr>
          <p:cNvPr id="26" name="Connector 25"/>
          <p:cNvCxnSpPr/>
          <p:nvPr/>
        </p:nvCxnSpPr>
        <p:spPr>
          <a:xfrm>
            <a:off x="7168896"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51776" y="1234440"/>
            <a:ext cx="2130552" cy="2103120"/>
          </a:xfrm>
          <a:prstGeom prst="roundRect">
            <a:avLst>
              <a:gd name="adj" fmla="val 7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443216"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4</a:t>
            </a:r>
          </a:p>
        </p:txBody>
      </p:sp>
      <p:sp>
        <p:nvSpPr>
          <p:cNvPr id="30" name="TextBox 29"/>
          <p:cNvSpPr txBox="1"/>
          <p:nvPr/>
        </p:nvSpPr>
        <p:spPr>
          <a:xfrm>
            <a:off x="7900416"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 table</a:t>
            </a:r>
          </a:p>
        </p:txBody>
      </p:sp>
      <p:sp>
        <p:nvSpPr>
          <p:cNvPr id="31" name="TextBox 30"/>
          <p:cNvSpPr txBox="1"/>
          <p:nvPr/>
        </p:nvSpPr>
        <p:spPr>
          <a:xfrm>
            <a:off x="7443216"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&lt;data&gt;/iceberg/trading/trade_calypso</a:t>
            </a:r>
            <a:r>
              <a:rPr sz="1200" b="0" i="0">
                <a:solidFill>
                  <a:srgbClr val="1C2433"/>
                </a:solidFill>
                <a:latin typeface="Calibri"/>
              </a:rPr>
              <a:t> (or </a:t>
            </a:r>
            <a:r>
              <a:rPr sz="1100" b="0" i="0">
                <a:solidFill>
                  <a:srgbClr val="0E7C86"/>
                </a:solidFill>
                <a:latin typeface="Consolas"/>
              </a:rPr>
              <a:t>s3://…</a:t>
            </a:r>
            <a:r>
              <a:rPr sz="1200" b="0" i="0">
                <a:solidFill>
                  <a:srgbClr val="1C2433"/>
                </a:solidFill>
                <a:latin typeface="Calibri"/>
              </a:rPr>
              <a:t>)</a:t>
            </a:r>
          </a:p>
        </p:txBody>
      </p:sp>
      <p:cxnSp>
        <p:nvCxnSpPr>
          <p:cNvPr id="32" name="Connector 31"/>
          <p:cNvCxnSpPr/>
          <p:nvPr/>
        </p:nvCxnSpPr>
        <p:spPr>
          <a:xfrm>
            <a:off x="9482328"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65208" y="1234440"/>
            <a:ext cx="2130552" cy="2103120"/>
          </a:xfrm>
          <a:prstGeom prst="roundRect">
            <a:avLst>
              <a:gd name="adj" fmla="val 7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756648"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5</a:t>
            </a:r>
          </a:p>
        </p:txBody>
      </p:sp>
      <p:sp>
        <p:nvSpPr>
          <p:cNvPr id="36" name="TextBox 35"/>
          <p:cNvSpPr txBox="1"/>
          <p:nvPr/>
        </p:nvSpPr>
        <p:spPr>
          <a:xfrm>
            <a:off x="10213848"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connector file switched</a:t>
            </a:r>
          </a:p>
        </p:txBody>
      </p:sp>
      <p:sp>
        <p:nvSpPr>
          <p:cNvPr id="37" name="TextBox 36"/>
          <p:cNvSpPr txBox="1"/>
          <p:nvPr/>
        </p:nvSpPr>
        <p:spPr>
          <a:xfrm>
            <a:off x="9756648"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trade-calypso.yaml</a:t>
            </a:r>
            <a:r>
              <a:rPr sz="1200" b="0" i="0">
                <a:solidFill>
                  <a:srgbClr val="1C2433"/>
                </a:solidFill>
                <a:latin typeface="Calibri"/>
              </a:rPr>
              <a:t>: </a:t>
            </a:r>
            <a:r>
              <a:rPr sz="1100" b="0" i="0">
                <a:solidFill>
                  <a:srgbClr val="0E7C86"/>
                </a:solidFill>
                <a:latin typeface="Consolas"/>
              </a:rPr>
              <a:t>plugin: iceberg</a:t>
            </a:r>
            <a:r>
              <a:rPr sz="1200" b="0" i="0">
                <a:solidFill>
                  <a:srgbClr val="1C2433"/>
                </a:solidFill>
                <a:latin typeface="Calibri"/>
              </a:rPr>
              <a:t>, </a:t>
            </a:r>
            <a:r>
              <a:rPr sz="1100" b="0" i="0">
                <a:solidFill>
                  <a:srgbClr val="0E7C86"/>
                </a:solidFill>
                <a:latin typeface="Consolas"/>
              </a:rPr>
              <a:t>engine: native</a:t>
            </a:r>
            <a:r>
              <a:rPr sz="1200" b="0" i="0">
                <a:solidFill>
                  <a:srgbClr val="1C2433"/>
                </a:solidFill>
                <a:latin typeface="Calibri"/>
              </a:rPr>
              <a:t>, </a:t>
            </a:r>
            <a:r>
              <a:rPr sz="1100" b="0" i="0">
                <a:solidFill>
                  <a:srgbClr val="0E7C86"/>
                </a:solidFill>
                <a:latin typeface="Consolas"/>
              </a:rPr>
              <a:t>table: {trade: trade_calypso}</a:t>
            </a:r>
          </a:p>
        </p:txBody>
      </p:sp>
      <p:sp>
        <p:nvSpPr>
          <p:cNvPr id="38" name="Rounded Rectangle 37"/>
          <p:cNvSpPr/>
          <p:nvPr/>
        </p:nvSpPr>
        <p:spPr>
          <a:xfrm>
            <a:off x="411480" y="352044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593592"/>
            <a:ext cx="11146536" cy="722375"/>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tools/load-iceberg.sh ./data/iceberg --trades 10000 --days 3          # samples and a book, one load</a:t>
            </a:r>
          </a:p>
          <a:p>
            <a:pPr algn="l">
              <a:lnSpc>
                <a:spcPct val="100000"/>
              </a:lnSpc>
            </a:pPr>
            <a:r>
              <a:rPr sz="1150" b="0" i="0">
                <a:solidFill>
                  <a:srgbClr val="E6EDF3"/>
                </a:solidFill>
                <a:latin typeface="Consolas"/>
              </a:rPr>
              <a:t>tools/load-iceberg.sh s3a://risk-lake/iceberg --set s3.region=us-east-1 --spill-dir /data/tmp</a:t>
            </a:r>
          </a:p>
          <a:p>
            <a:pPr algn="l">
              <a:lnSpc>
                <a:spcPct val="100000"/>
              </a:lnSpc>
            </a:pPr>
            <a:r>
              <a:rPr sz="1150" b="0" i="0">
                <a:solidFill>
                  <a:srgbClr val="E6EDF3"/>
                </a:solidFill>
                <a:latin typeface="Consolas"/>
              </a:rPr>
              <a:t>python tools/lake/stores.py --from data/delta/trading/trade_calypso --root data/iceberg --table trade_calypso --replace</a:t>
            </a:r>
          </a:p>
        </p:txBody>
      </p:sp>
      <p:graphicFrame>
        <p:nvGraphicFramePr>
          <p:cNvPr id="40" name="Table 39"/>
          <p:cNvGraphicFramePr>
            <a:graphicFrameLocks noGrp="1"/>
          </p:cNvGraphicFramePr>
          <p:nvPr/>
        </p:nvGraphicFramePr>
        <p:xfrm>
          <a:off x="411480" y="4572000"/>
          <a:ext cx="11365992" cy="1548384"/>
        </p:xfrm>
        <a:graphic>
          <a:graphicData uri="http://schemas.openxmlformats.org/drawingml/2006/table">
            <a:tbl>
              <a:tblPr firstRow="1" bandRow="1">
                <a:tableStyleId>{5940675A-B579-460E-94D1-54222C63F5DA}</a:tableStyleId>
              </a:tblPr>
              <a:tblGrid>
                <a:gridCol w="6793992"/>
                <a:gridCol w="4572000"/>
              </a:tblGrid>
              <a:tr h="310896">
                <a:tc>
                  <a:txBody>
                    <a:bodyPr wrap="square"/>
                    <a:lstStyle/>
                    <a:p>
                      <a:pPr algn="l">
                        <a:lnSpc>
                          <a:spcPct val="100000"/>
                        </a:lnSpc>
                      </a:pPr>
                      <a:r>
                        <a:rPr sz="1200" b="1" i="0">
                          <a:solidFill>
                            <a:srgbClr val="FFFFFF"/>
                          </a:solidFill>
                          <a:latin typeface="Calibri"/>
                        </a:rPr>
                        <a:t>Path to an Iceberg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Scope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00" b="1" i="0">
                          <a:solidFill>
                            <a:srgbClr val="0E7C86"/>
                          </a:solidFill>
                          <a:latin typeface="Consolas"/>
                        </a:rPr>
                        <a:t>build_demo_lakes.py --store &lt;system&gt;=iceberg</a:t>
                      </a:r>
                      <a:r>
                        <a:rPr sz="1200" b="1" i="0">
                          <a:solidFill>
                            <a:srgbClr val="1C2433"/>
                          </a:solidFill>
                          <a:latin typeface="Calibri"/>
                        </a:rPr>
                        <a:t> (via </a:t>
                      </a:r>
                      <a:r>
                        <a:rPr sz="1100" b="1" i="0">
                          <a:solidFill>
                            <a:srgbClr val="0E7C86"/>
                          </a:solidFill>
                          <a:latin typeface="Consolas"/>
                        </a:rPr>
                        <a:t>stores.py</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trading domain's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load-iceberg.sh</a:t>
                      </a:r>
                      <a:r>
                        <a:rPr sz="1200" b="1" i="0">
                          <a:solidFill>
                            <a:srgbClr val="1C2433"/>
                          </a:solidFill>
                          <a:latin typeface="Calibri"/>
                        </a:rPr>
                        <a:t> / </a:t>
                      </a:r>
                      <a:r>
                        <a:rPr sz="1100" b="1" i="0">
                          <a:solidFill>
                            <a:srgbClr val="0E7C86"/>
                          </a:solidFill>
                          <a:latin typeface="Consolas"/>
                        </a:rPr>
                        <a:t>load-iceberg.ps1</a:t>
                      </a:r>
                      <a:r>
                        <a:rPr sz="1200" b="1" i="0">
                          <a:solidFill>
                            <a:srgbClr val="1C2433"/>
                          </a:solidFill>
                          <a:latin typeface="Calibri"/>
                        </a:rPr>
                        <a:t> → </a:t>
                      </a:r>
                      <a:r>
                        <a:rPr sz="1100" b="1"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any kind, JSON Lines </a:t>
                      </a:r>
                      <a:r>
                        <a:rPr sz="1100" b="0" i="0">
                          <a:solidFill>
                            <a:srgbClr val="0E7C86"/>
                          </a:solidFill>
                          <a:latin typeface="Consolas"/>
                        </a:rPr>
                        <a:t>{domain, kind, id, date, doc,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100" b="1" i="0">
                          <a:solidFill>
                            <a:srgbClr val="0E7C86"/>
                          </a:solidFill>
                          <a:latin typeface="Consolas"/>
                        </a:rPr>
                        <a:t>lake build --format iceberg</a:t>
                      </a:r>
                      <a:r>
                        <a:rPr sz="1200" b="1" i="0">
                          <a:solidFill>
                            <a:srgbClr val="1C2433"/>
                          </a:solidFill>
                          <a:latin typeface="Calibri"/>
                        </a:rPr>
                        <a:t>; </a:t>
                      </a:r>
                      <a:r>
                        <a:rPr sz="1100" b="1" i="0">
                          <a:solidFill>
                            <a:srgbClr val="0E7C86"/>
                          </a:solidFill>
                          <a:latin typeface="Consolas"/>
                        </a:rPr>
                        <a:t>--store risk=iceberg</a:t>
                      </a:r>
                      <a:r>
                        <a:rPr sz="1200" b="1" i="0">
                          <a:solidFill>
                            <a:srgbClr val="1C2433"/>
                          </a:solidFill>
                          <a:latin typeface="Calibri"/>
                        </a:rPr>
                        <a:t> (the whole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any pack and kind; vector columns kept; </a:t>
                      </a:r>
                      <a:r>
                        <a:rPr sz="1100" b="0" i="0">
                          <a:solidFill>
                            <a:srgbClr val="0E7C86"/>
                          </a:solidFill>
                          <a:latin typeface="Consolas"/>
                        </a:rPr>
                        <a:t>s3://</a:t>
                      </a:r>
                      <a:r>
                        <a:rPr sz="1200" b="0" i="0">
                          <a:solidFill>
                            <a:srgbClr val="1C2433"/>
                          </a:solidFill>
                          <a:latin typeface="Calibri"/>
                        </a:rPr>
                        <a:t>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05</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Built, planned, proposed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(1/2): built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28</a:t>
            </a:r>
          </a:p>
        </p:txBody>
      </p:sp>
      <p:sp>
        <p:nvSpPr>
          <p:cNvPr id="9" name="Rectangle 8"/>
          <p:cNvSpPr/>
          <p:nvPr/>
        </p:nvSpPr>
        <p:spPr>
          <a:xfrm>
            <a:off x="411480" y="1143000"/>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drishti-iceberg native engine: metadata, manifests, planning with pruning, field-id reads, deletes, time travel</a:t>
            </a:r>
          </a:p>
        </p:txBody>
      </p:sp>
      <p:sp>
        <p:nvSpPr>
          <p:cNvPr id="11" name="Rectangle 10"/>
          <p:cNvSpPr/>
          <p:nvPr/>
        </p:nvSpPr>
        <p:spPr>
          <a:xfrm>
            <a:off x="411480" y="1655064"/>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21208" y="1655064"/>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Writer: Parquet with field ids and metrics, manifests, commits (hard link, conditional PUT + probe, REST requirements)</a:t>
            </a:r>
          </a:p>
        </p:txBody>
      </p:sp>
      <p:sp>
        <p:nvSpPr>
          <p:cNvPr id="13" name="Rectangle 12"/>
          <p:cNvSpPr/>
          <p:nvPr/>
        </p:nvSpPr>
        <p:spPr>
          <a:xfrm>
            <a:off x="411480" y="2167128"/>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21208" y="2167128"/>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Catalogs: path-based, named metadata file, REST (OAuth2, ETag, vended credentials, SigV4 for Glue)</a:t>
            </a:r>
          </a:p>
        </p:txBody>
      </p:sp>
      <p:sp>
        <p:nvSpPr>
          <p:cNvPr id="15" name="Rectangle 14"/>
          <p:cNvSpPr/>
          <p:nvPr/>
        </p:nvSpPr>
        <p:spPr>
          <a:xfrm>
            <a:off x="411480" y="2679192"/>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679192"/>
            <a:ext cx="11146536"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a:t>
            </a:r>
            <a:r>
              <a:rPr sz="1300" b="0" i="0">
                <a:solidFill>
                  <a:srgbClr val="1C2433"/>
                </a:solidFill>
                <a:latin typeface="Calibri"/>
              </a:rPr>
              <a:t> connector: id maps, column sets, type-ahead, history days, BI scan, data versions, </a:t>
            </a:r>
            <a:r>
              <a:rPr sz="1300" b="0" i="1">
                <a:solidFill>
                  <a:srgbClr val="1C2433"/>
                </a:solidFill>
                <a:latin typeface="Calibri"/>
              </a:rPr>
              <a:t>known at</a:t>
            </a:r>
          </a:p>
        </p:txBody>
      </p:sp>
      <p:sp>
        <p:nvSpPr>
          <p:cNvPr id="17" name="Rectangle 16"/>
          <p:cNvSpPr/>
          <p:nvPr/>
        </p:nvSpPr>
        <p:spPr>
          <a:xfrm>
            <a:off x="411480" y="3191256"/>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21208" y="3191256"/>
            <a:ext cx="11146536"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iceberg-external</a:t>
            </a:r>
            <a:r>
              <a:rPr sz="1300" b="0" i="0">
                <a:solidFill>
                  <a:srgbClr val="1C2433"/>
                </a:solidFill>
                <a:latin typeface="Calibri"/>
              </a:rPr>
              <a:t>: rows as documents, identifier fields, every column searchable, id index, </a:t>
            </a:r>
            <a:r>
              <a:rPr sz="1200" b="0" i="0">
                <a:solidFill>
                  <a:srgbClr val="0E7C86"/>
                </a:solidFill>
                <a:latin typeface="Consolas"/>
              </a:rPr>
              <a:t>tables: auto</a:t>
            </a:r>
          </a:p>
        </p:txBody>
      </p:sp>
      <p:sp>
        <p:nvSpPr>
          <p:cNvPr id="19" name="Rectangle 18"/>
          <p:cNvSpPr/>
          <p:nvPr/>
        </p:nvSpPr>
        <p:spPr>
          <a:xfrm>
            <a:off x="411480" y="3703320"/>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21208" y="3703320"/>
            <a:ext cx="11146536" cy="47548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IcebergLoader</a:t>
            </a:r>
            <a:r>
              <a:rPr sz="1300" b="0" i="0">
                <a:solidFill>
                  <a:srgbClr val="1C2433"/>
                </a:solidFill>
                <a:latin typeface="Calibri"/>
              </a:rPr>
              <a:t> and </a:t>
            </a:r>
            <a:r>
              <a:rPr sz="1200" b="0" i="0">
                <a:solidFill>
                  <a:srgbClr val="0E7C86"/>
                </a:solidFill>
                <a:latin typeface="Consolas"/>
              </a:rPr>
              <a:t>IcebergMaintenance</a:t>
            </a:r>
            <a:r>
              <a:rPr sz="1300" b="0" i="0">
                <a:solidFill>
                  <a:srgbClr val="1C2433"/>
                </a:solidFill>
                <a:latin typeface="Calibri"/>
              </a:rPr>
              <a:t> on both engines; </a:t>
            </a:r>
            <a:r>
              <a:rPr sz="1200" b="0" i="0">
                <a:solidFill>
                  <a:srgbClr val="0E7C86"/>
                </a:solidFill>
                <a:latin typeface="Consolas"/>
              </a:rPr>
              <a:t>load-iceberg.sh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(Windows)</a:t>
            </a:r>
          </a:p>
        </p:txBody>
      </p:sp>
      <p:sp>
        <p:nvSpPr>
          <p:cNvPr id="21" name="Rectangle 20"/>
          <p:cNvSpPr/>
          <p:nvPr/>
        </p:nvSpPr>
        <p:spPr>
          <a:xfrm>
            <a:off x="411480" y="4215384"/>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21208" y="4215384"/>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Mixed storage per source system (</a:t>
            </a:r>
            <a:r>
              <a:rPr sz="1200" b="0" i="0">
                <a:solidFill>
                  <a:srgbClr val="0E7C86"/>
                </a:solidFill>
                <a:latin typeface="Consolas"/>
              </a:rPr>
              <a:t>--store</a:t>
            </a:r>
            <a:r>
              <a:rPr sz="1300" b="0" i="0">
                <a:solidFill>
                  <a:srgbClr val="1C2433"/>
                </a:solidFill>
                <a:latin typeface="Calibri"/>
              </a:rPr>
              <a:t>), with an equality test against all-Delta</a:t>
            </a:r>
          </a:p>
        </p:txBody>
      </p:sp>
      <p:sp>
        <p:nvSpPr>
          <p:cNvPr id="23" name="Rectangle 22"/>
          <p:cNvSpPr/>
          <p:nvPr/>
        </p:nvSpPr>
        <p:spPr>
          <a:xfrm>
            <a:off x="411480" y="4727448"/>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521208" y="4727448"/>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S3 via the AWS SDK; S3Mock and MinIO tests; TLS, private CA and proxy for the object store</a:t>
            </a:r>
          </a:p>
        </p:txBody>
      </p:sp>
      <p:sp>
        <p:nvSpPr>
          <p:cNvPr id="25" name="Rectangle 24"/>
          <p:cNvSpPr/>
          <p:nvPr/>
        </p:nvSpPr>
        <p:spPr>
          <a:xfrm>
            <a:off x="411480" y="5239512"/>
            <a:ext cx="11365992" cy="475488"/>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21208" y="5239512"/>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Shared AWS pieces: ECS images, EFS access points, Cloud Map, IAM roles, buckets (dry-run tested, from the Delta work)</a:t>
            </a:r>
          </a:p>
        </p:txBody>
      </p:sp>
      <p:sp>
        <p:nvSpPr>
          <p:cNvPr id="27" name="Rectangle 26"/>
          <p:cNvSpPr/>
          <p:nvPr/>
        </p:nvSpPr>
        <p:spPr>
          <a:xfrm>
            <a:off x="411480" y="5751576"/>
            <a:ext cx="11365992" cy="475488"/>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21208" y="5751576"/>
            <a:ext cx="11146536" cy="47548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intraday and exposure from Iceberg, equal to Delta to the cent; official results to Delta or Iceberg, disk or </a:t>
            </a:r>
            <a:r>
              <a:rPr sz="1200" b="0" i="0">
                <a:solidFill>
                  <a:srgbClr val="0E7C86"/>
                </a:solidFill>
                <a:latin typeface="Consolas"/>
              </a:rPr>
              <a:t>s3://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Built and planned (2/2): parity, scale-out,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29</a:t>
            </a:r>
          </a:p>
        </p:txBody>
      </p:sp>
      <p:sp>
        <p:nvSpPr>
          <p:cNvPr id="9" name="Rectangle 8"/>
          <p:cNvSpPr/>
          <p:nvPr/>
        </p:nvSpPr>
        <p:spPr>
          <a:xfrm>
            <a:off x="411480" y="114300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43000"/>
            <a:ext cx="11146536"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Iceberg plugin: </a:t>
            </a:r>
            <a:r>
              <a:rPr sz="1200" b="0" i="0">
                <a:solidFill>
                  <a:srgbClr val="0E7C86"/>
                </a:solidFill>
                <a:latin typeface="Consolas"/>
              </a:rPr>
              <a:t>vectors()</a:t>
            </a:r>
            <a:r>
              <a:rPr sz="1300" b="0" i="0">
                <a:solidFill>
                  <a:srgbClr val="1C2433"/>
                </a:solidFill>
                <a:latin typeface="Calibri"/>
              </a:rPr>
              <a:t>, </a:t>
            </a:r>
            <a:r>
              <a:rPr sz="1200" b="0" i="0">
                <a:solidFill>
                  <a:srgbClr val="0E7C86"/>
                </a:solidFill>
                <a:latin typeface="Consolas"/>
              </a:rPr>
              <a:t>documents()</a:t>
            </a:r>
            <a:r>
              <a:rPr sz="1300" b="0" i="0">
                <a:solidFill>
                  <a:srgbClr val="1C2433"/>
                </a:solidFill>
                <a:latin typeface="Calibri"/>
              </a:rPr>
              <a:t>, </a:t>
            </a:r>
            <a:r>
              <a:rPr sz="1200" b="0" i="0">
                <a:solidFill>
                  <a:srgbClr val="0E7C86"/>
                </a:solidFill>
                <a:latin typeface="Consolas"/>
              </a:rPr>
              <a:t>tableIdentity()</a:t>
            </a:r>
            <a:r>
              <a:rPr sz="1300" b="0" i="0">
                <a:solidFill>
                  <a:srgbClr val="1C2433"/>
                </a:solidFill>
                <a:latin typeface="Calibri"/>
              </a:rPr>
              <a:t>, </a:t>
            </a:r>
            <a:r>
              <a:rPr sz="1200" b="0" i="0">
                <a:solidFill>
                  <a:srgbClr val="0E7C86"/>
                </a:solidFill>
                <a:latin typeface="Consolas"/>
              </a:rPr>
              <a:t>inventory()</a:t>
            </a:r>
            <a:r>
              <a:rPr sz="1300" b="0" i="0">
                <a:solidFill>
                  <a:srgbClr val="1C2433"/>
                </a:solidFill>
                <a:latin typeface="Calibri"/>
              </a:rPr>
              <a:t>, </a:t>
            </a:r>
            <a:r>
              <a:rPr sz="1200" b="0" i="0">
                <a:solidFill>
                  <a:srgbClr val="0E7C86"/>
                </a:solidFill>
                <a:latin typeface="Consolas"/>
              </a:rPr>
              <a:t>refreshVersions()</a:t>
            </a:r>
            <a:r>
              <a:rPr sz="1300" b="0" i="0">
                <a:solidFill>
                  <a:srgbClr val="1C2433"/>
                </a:solidFill>
                <a:latin typeface="Calibri"/>
              </a:rPr>
              <a:t>; disk caches</a:t>
            </a:r>
          </a:p>
        </p:txBody>
      </p:sp>
      <p:sp>
        <p:nvSpPr>
          <p:cNvPr id="11" name="Rectangle 10"/>
          <p:cNvSpPr/>
          <p:nvPr/>
        </p:nvSpPr>
        <p:spPr>
          <a:xfrm>
            <a:off x="411480" y="169164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21208" y="1691640"/>
            <a:ext cx="11146536"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(incl. limit letters), intraday files and Kafka, exposure from Iceberg; official results to Iceberg and </a:t>
            </a:r>
            <a:r>
              <a:rPr sz="1200" b="0" i="0">
                <a:solidFill>
                  <a:srgbClr val="0E7C86"/>
                </a:solidFill>
                <a:latin typeface="Consolas"/>
              </a:rPr>
              <a:t>s3://</a:t>
            </a:r>
          </a:p>
        </p:txBody>
      </p:sp>
      <p:sp>
        <p:nvSpPr>
          <p:cNvPr id="13" name="Rectangle 12"/>
          <p:cNvSpPr/>
          <p:nvPr/>
        </p:nvSpPr>
        <p:spPr>
          <a:xfrm>
            <a:off x="411480" y="224028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21208" y="2240280"/>
            <a:ext cx="11146536" cy="512064"/>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deploy/aws/iceberg/</a:t>
            </a:r>
            <a:r>
              <a:rPr sz="1300" b="0" i="0">
                <a:solidFill>
                  <a:srgbClr val="1C2433"/>
                </a:solidFill>
                <a:latin typeface="Calibri"/>
              </a:rPr>
              <a:t>: load, backfill, maintain, lifecycle, alarms, report, IAM, Glue check (dry-run tested)</a:t>
            </a:r>
          </a:p>
        </p:txBody>
      </p:sp>
      <p:sp>
        <p:nvSpPr>
          <p:cNvPr id="15" name="Rectangle 14"/>
          <p:cNvSpPr/>
          <p:nvPr/>
        </p:nvSpPr>
        <p:spPr>
          <a:xfrm>
            <a:off x="411480" y="278892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21208" y="2788920"/>
            <a:ext cx="11146536"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Orphan files, Admin → Lakes, the 7-year floor; </a:t>
            </a:r>
            <a:r>
              <a:rPr sz="1200" b="0" i="0">
                <a:solidFill>
                  <a:srgbClr val="0E7C86"/>
                </a:solidFill>
                <a:latin typeface="Consolas"/>
              </a:rPr>
              <a:t>lake build --format iceberg</a:t>
            </a:r>
            <a:r>
              <a:rPr sz="1300" b="0" i="0">
                <a:solidFill>
                  <a:srgbClr val="1C2433"/>
                </a:solidFill>
                <a:latin typeface="Calibri"/>
              </a:rPr>
              <a:t>, </a:t>
            </a:r>
            <a:r>
              <a:rPr sz="1200" b="0" i="0">
                <a:solidFill>
                  <a:srgbClr val="0E7C86"/>
                </a:solidFill>
                <a:latin typeface="Consolas"/>
              </a:rPr>
              <a:t>--store risk=iceberg</a:t>
            </a:r>
          </a:p>
        </p:txBody>
      </p:sp>
      <p:sp>
        <p:nvSpPr>
          <p:cNvPr id="17" name="Rectangle 16"/>
          <p:cNvSpPr/>
          <p:nvPr/>
        </p:nvSpPr>
        <p:spPr>
          <a:xfrm>
            <a:off x="411480" y="333756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521208" y="3337560"/>
            <a:ext cx="11146536"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sharded across Drishti servers, on either format; the parallel Java loader into Delta or Iceberg</a:t>
            </a:r>
          </a:p>
        </p:txBody>
      </p:sp>
      <p:sp>
        <p:nvSpPr>
          <p:cNvPr id="19" name="Rectangle 18"/>
          <p:cNvSpPr/>
          <p:nvPr/>
        </p:nvSpPr>
        <p:spPr>
          <a:xfrm>
            <a:off x="411480" y="3886200"/>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21208" y="388620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Glue's and S3 Tables' Iceberg REST endpoints: code written; the live runs on a real AWS account</a:t>
            </a:r>
          </a:p>
        </p:txBody>
      </p:sp>
      <p:sp>
        <p:nvSpPr>
          <p:cNvPr id="21" name="Rounded Rectangle 20"/>
          <p:cNvSpPr/>
          <p:nvPr/>
        </p:nvSpPr>
        <p:spPr>
          <a:xfrm>
            <a:off x="10543032" y="4014215"/>
            <a:ext cx="1051560" cy="246888"/>
          </a:xfrm>
          <a:prstGeom prst="roundRect">
            <a:avLst>
              <a:gd name="adj" fmla="val 50000"/>
            </a:avLst>
          </a:prstGeom>
          <a:solidFill>
            <a:srgbClr val="FFFFFF"/>
          </a:solidFill>
          <a:ln w="15875">
            <a:solidFill>
              <a:srgbClr val="5B67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NOT RUN</a:t>
            </a:r>
          </a:p>
        </p:txBody>
      </p:sp>
      <p:sp>
        <p:nvSpPr>
          <p:cNvPr id="22" name="Rectangle 21"/>
          <p:cNvSpPr/>
          <p:nvPr/>
        </p:nvSpPr>
        <p:spPr>
          <a:xfrm>
            <a:off x="411480" y="4434840"/>
            <a:ext cx="11365992" cy="512064"/>
          </a:xfrm>
          <a:prstGeom prst="rect">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21208" y="4434840"/>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Delta↔Iceberg conversion of any table; Delta in-place schema evolution; Unity Catalog; the 200K benchmark</a:t>
            </a:r>
          </a:p>
        </p:txBody>
      </p:sp>
      <p:sp>
        <p:nvSpPr>
          <p:cNvPr id="24" name="Rounded Rectangle 23"/>
          <p:cNvSpPr/>
          <p:nvPr/>
        </p:nvSpPr>
        <p:spPr>
          <a:xfrm>
            <a:off x="10543032" y="4562855"/>
            <a:ext cx="1051560" cy="246888"/>
          </a:xfrm>
          <a:prstGeom prst="roundRect">
            <a:avLst>
              <a:gd name="adj" fmla="val 50000"/>
            </a:avLst>
          </a:prstGeom>
          <a:solidFill>
            <a:srgbClr val="FFFFFF"/>
          </a:solidFill>
          <a:ln w="15875">
            <a:solidFill>
              <a:srgbClr val="0B1E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0B1E3B"/>
                </a:solidFill>
                <a:latin typeface="Calibri"/>
              </a:rPr>
              <a:t>PLANNED</a:t>
            </a:r>
          </a:p>
        </p:txBody>
      </p:sp>
      <p:sp>
        <p:nvSpPr>
          <p:cNvPr id="25" name="Rectangle 24"/>
          <p:cNvSpPr/>
          <p:nvPr/>
        </p:nvSpPr>
        <p:spPr>
          <a:xfrm>
            <a:off x="411480" y="4983479"/>
            <a:ext cx="11365992" cy="512064"/>
          </a:xfrm>
          <a:prstGeom prst="rect">
            <a:avLst/>
          </a:prstGeom>
          <a:solidFill>
            <a:srgbClr val="FFFFFF"/>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21208" y="4983479"/>
            <a:ext cx="9902952" cy="512064"/>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Format v3 reading (deletion vectors, new types); named branches and tags; </a:t>
            </a:r>
            <a:r>
              <a:rPr sz="1300" b="0" i="1">
                <a:solidFill>
                  <a:srgbClr val="1C2433"/>
                </a:solidFill>
                <a:latin typeface="Calibri"/>
              </a:rPr>
              <a:t>Make a pack</a:t>
            </a:r>
            <a:r>
              <a:rPr sz="1300" b="0" i="0">
                <a:solidFill>
                  <a:srgbClr val="1C2433"/>
                </a:solidFill>
                <a:latin typeface="Calibri"/>
              </a:rPr>
              <a:t> button</a:t>
            </a:r>
          </a:p>
        </p:txBody>
      </p:sp>
      <p:sp>
        <p:nvSpPr>
          <p:cNvPr id="27" name="Rounded Rectangle 26"/>
          <p:cNvSpPr/>
          <p:nvPr/>
        </p:nvSpPr>
        <p:spPr>
          <a:xfrm>
            <a:off x="10543032" y="5111495"/>
            <a:ext cx="1051560" cy="24688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PROPOSED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06</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Deploying on AWS with Iceberg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Setup at a glance: steps 0 to 11, for an Iceberg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31</a:t>
            </a:r>
          </a:p>
        </p:txBody>
      </p:sp>
      <p:sp>
        <p:nvSpPr>
          <p:cNvPr id="9" name="Rounded Rectangle 8"/>
          <p:cNvSpPr/>
          <p:nvPr/>
        </p:nvSpPr>
        <p:spPr>
          <a:xfrm>
            <a:off x="411480"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0</a:t>
            </a:r>
          </a:p>
        </p:txBody>
      </p:sp>
      <p:sp>
        <p:nvSpPr>
          <p:cNvPr id="12" name="TextBox 11"/>
          <p:cNvSpPr txBox="1"/>
          <p:nvPr/>
        </p:nvSpPr>
        <p:spPr>
          <a:xfrm>
            <a:off x="1051560"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Prerequisites</a:t>
            </a:r>
          </a:p>
        </p:txBody>
      </p:sp>
      <p:sp>
        <p:nvSpPr>
          <p:cNvPr id="13" name="TextBox 12"/>
          <p:cNvSpPr txBox="1"/>
          <p:nvPr/>
        </p:nvSpPr>
        <p:spPr>
          <a:xfrm>
            <a:off x="521208" y="1755648"/>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VPC, S3 endpoint, EFS, KMS, ECS, ALB; plus a Glue endpoint if Glue</a:t>
            </a:r>
          </a:p>
        </p:txBody>
      </p:sp>
      <p:sp>
        <p:nvSpPr>
          <p:cNvPr id="14" name="Rounded Rectangle 13"/>
          <p:cNvSpPr/>
          <p:nvPr/>
        </p:nvSpPr>
        <p:spPr>
          <a:xfrm>
            <a:off x="3273552"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val 14"/>
          <p:cNvSpPr/>
          <p:nvPr/>
        </p:nvSpPr>
        <p:spPr>
          <a:xfrm>
            <a:off x="3383280"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7" name="TextBox 16"/>
          <p:cNvSpPr txBox="1"/>
          <p:nvPr/>
        </p:nvSpPr>
        <p:spPr>
          <a:xfrm>
            <a:off x="3913632"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Settings</a:t>
            </a:r>
          </a:p>
        </p:txBody>
      </p:sp>
      <p:sp>
        <p:nvSpPr>
          <p:cNvPr id="18" name="TextBox 17"/>
          <p:cNvSpPr txBox="1"/>
          <p:nvPr/>
        </p:nvSpPr>
        <p:spPr>
          <a:xfrm>
            <a:off x="3383280"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deploy/aws/env</a:t>
            </a:r>
            <a:r>
              <a:rPr sz="1150" b="0" i="0">
                <a:solidFill>
                  <a:srgbClr val="1C2433"/>
                </a:solidFill>
                <a:latin typeface="Calibri"/>
              </a:rPr>
              <a:t>; </a:t>
            </a:r>
            <a:r>
              <a:rPr sz="1050" b="0" i="0">
                <a:solidFill>
                  <a:srgbClr val="0E7C86"/>
                </a:solidFill>
                <a:latin typeface="Consolas"/>
              </a:rPr>
              <a:t>ICEBERG_TABLES_FILE</a:t>
            </a:r>
          </a:p>
        </p:txBody>
      </p:sp>
      <p:sp>
        <p:nvSpPr>
          <p:cNvPr id="19" name="Rounded Rectangle 18"/>
          <p:cNvSpPr/>
          <p:nvPr/>
        </p:nvSpPr>
        <p:spPr>
          <a:xfrm>
            <a:off x="6135624"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Oval 19"/>
          <p:cNvSpPr/>
          <p:nvPr/>
        </p:nvSpPr>
        <p:spPr>
          <a:xfrm>
            <a:off x="6245352"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22" name="TextBox 21"/>
          <p:cNvSpPr txBox="1"/>
          <p:nvPr/>
        </p:nvSpPr>
        <p:spPr>
          <a:xfrm>
            <a:off x="6775704"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Buckets</a:t>
            </a:r>
          </a:p>
        </p:txBody>
      </p:sp>
      <p:sp>
        <p:nvSpPr>
          <p:cNvPr id="23" name="TextBox 22"/>
          <p:cNvSpPr txBox="1"/>
          <p:nvPr/>
        </p:nvSpPr>
        <p:spPr>
          <a:xfrm>
            <a:off x="6245352"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setup-buckets.sh</a:t>
            </a:r>
            <a:r>
              <a:rPr sz="1150" b="0" i="0">
                <a:solidFill>
                  <a:srgbClr val="1C2433"/>
                </a:solidFill>
                <a:latin typeface="Calibri"/>
              </a:rPr>
              <a:t>: unchanged</a:t>
            </a:r>
          </a:p>
        </p:txBody>
      </p:sp>
      <p:sp>
        <p:nvSpPr>
          <p:cNvPr id="24" name="Rounded Rectangle 23"/>
          <p:cNvSpPr/>
          <p:nvPr/>
        </p:nvSpPr>
        <p:spPr>
          <a:xfrm>
            <a:off x="8997696" y="1115568"/>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Oval 24"/>
          <p:cNvSpPr/>
          <p:nvPr/>
        </p:nvSpPr>
        <p:spPr>
          <a:xfrm>
            <a:off x="9107424" y="1234440"/>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07424" y="1234440"/>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7" name="TextBox 26"/>
          <p:cNvSpPr txBox="1"/>
          <p:nvPr/>
        </p:nvSpPr>
        <p:spPr>
          <a:xfrm>
            <a:off x="9637776" y="1207008"/>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IAM</a:t>
            </a:r>
          </a:p>
        </p:txBody>
      </p:sp>
      <p:sp>
        <p:nvSpPr>
          <p:cNvPr id="28" name="TextBox 27"/>
          <p:cNvSpPr txBox="1"/>
          <p:nvPr/>
        </p:nvSpPr>
        <p:spPr>
          <a:xfrm>
            <a:off x="9107424" y="1755648"/>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iceberg/setup-iam.sh</a:t>
            </a:r>
            <a:r>
              <a:rPr sz="1150" b="0" i="0">
                <a:solidFill>
                  <a:srgbClr val="1C2433"/>
                </a:solidFill>
                <a:latin typeface="Calibri"/>
              </a:rPr>
              <a:t>, </a:t>
            </a:r>
            <a:r>
              <a:rPr sz="1050" b="0" i="0">
                <a:solidFill>
                  <a:srgbClr val="0E7C86"/>
                </a:solidFill>
                <a:latin typeface="Consolas"/>
              </a:rPr>
              <a:t>iam/*.json</a:t>
            </a:r>
            <a:r>
              <a:rPr sz="1150" b="0" i="0">
                <a:solidFill>
                  <a:srgbClr val="1C2433"/>
                </a:solidFill>
                <a:latin typeface="Calibri"/>
              </a:rPr>
              <a:t>; Glue rights</a:t>
            </a:r>
          </a:p>
        </p:txBody>
      </p:sp>
      <p:sp>
        <p:nvSpPr>
          <p:cNvPr id="29" name="Rounded Rectangle 28"/>
          <p:cNvSpPr/>
          <p:nvPr/>
        </p:nvSpPr>
        <p:spPr>
          <a:xfrm>
            <a:off x="411480"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521208"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2" name="TextBox 31"/>
          <p:cNvSpPr txBox="1"/>
          <p:nvPr/>
        </p:nvSpPr>
        <p:spPr>
          <a:xfrm>
            <a:off x="1051560"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Prove commits safe</a:t>
            </a:r>
          </a:p>
        </p:txBody>
      </p:sp>
      <p:sp>
        <p:nvSpPr>
          <p:cNvPr id="33" name="TextBox 32"/>
          <p:cNvSpPr txBox="1"/>
          <p:nvPr/>
        </p:nvSpPr>
        <p:spPr>
          <a:xfrm>
            <a:off x="521208"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check-conditional-writes.sh</a:t>
            </a:r>
            <a:r>
              <a:rPr sz="1150" b="0" i="0">
                <a:solidFill>
                  <a:srgbClr val="1C2433"/>
                </a:solidFill>
                <a:latin typeface="Calibri"/>
              </a:rPr>
              <a:t>: unchanged</a:t>
            </a:r>
          </a:p>
        </p:txBody>
      </p:sp>
      <p:sp>
        <p:nvSpPr>
          <p:cNvPr id="34" name="Rounded Rectangle 33"/>
          <p:cNvSpPr/>
          <p:nvPr/>
        </p:nvSpPr>
        <p:spPr>
          <a:xfrm>
            <a:off x="3273552"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3383280"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83280"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7" name="TextBox 36"/>
          <p:cNvSpPr txBox="1"/>
          <p:nvPr/>
        </p:nvSpPr>
        <p:spPr>
          <a:xfrm>
            <a:off x="3913632"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Storage tiers</a:t>
            </a:r>
          </a:p>
        </p:txBody>
      </p:sp>
      <p:sp>
        <p:nvSpPr>
          <p:cNvPr id="38" name="TextBox 37"/>
          <p:cNvSpPr txBox="1"/>
          <p:nvPr/>
        </p:nvSpPr>
        <p:spPr>
          <a:xfrm>
            <a:off x="3383280"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iceberg/setup-lifecycle.sh</a:t>
            </a:r>
            <a:r>
              <a:rPr sz="1150" b="0" i="0">
                <a:solidFill>
                  <a:srgbClr val="1C2433"/>
                </a:solidFill>
                <a:latin typeface="Calibri"/>
              </a:rPr>
              <a:t>: </a:t>
            </a:r>
            <a:r>
              <a:rPr sz="1050" b="0" i="0">
                <a:solidFill>
                  <a:srgbClr val="0E7C86"/>
                </a:solidFill>
                <a:latin typeface="Consolas"/>
              </a:rPr>
              <a:t>data/</a:t>
            </a:r>
            <a:r>
              <a:rPr sz="1150" b="0" i="0">
                <a:solidFill>
                  <a:srgbClr val="1C2433"/>
                </a:solidFill>
                <a:latin typeface="Calibri"/>
              </a:rPr>
              <a:t> only</a:t>
            </a:r>
          </a:p>
        </p:txBody>
      </p:sp>
      <p:sp>
        <p:nvSpPr>
          <p:cNvPr id="39" name="Rounded Rectangle 38"/>
          <p:cNvSpPr/>
          <p:nvPr/>
        </p:nvSpPr>
        <p:spPr>
          <a:xfrm>
            <a:off x="6135624"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Oval 39"/>
          <p:cNvSpPr/>
          <p:nvPr/>
        </p:nvSpPr>
        <p:spPr>
          <a:xfrm>
            <a:off x="6245352"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45352"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6</a:t>
            </a:r>
          </a:p>
        </p:txBody>
      </p:sp>
      <p:sp>
        <p:nvSpPr>
          <p:cNvPr id="42" name="TextBox 41"/>
          <p:cNvSpPr txBox="1"/>
          <p:nvPr/>
        </p:nvSpPr>
        <p:spPr>
          <a:xfrm>
            <a:off x="6775704"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EFS access points</a:t>
            </a:r>
          </a:p>
        </p:txBody>
      </p:sp>
      <p:sp>
        <p:nvSpPr>
          <p:cNvPr id="43" name="TextBox 42"/>
          <p:cNvSpPr txBox="1"/>
          <p:nvPr/>
        </p:nvSpPr>
        <p:spPr>
          <a:xfrm>
            <a:off x="6245352"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ecs/setup-efs.sh</a:t>
            </a:r>
            <a:r>
              <a:rPr sz="1150" b="0" i="0">
                <a:solidFill>
                  <a:srgbClr val="1C2433"/>
                </a:solidFill>
                <a:latin typeface="Calibri"/>
              </a:rPr>
              <a:t>: unchanged</a:t>
            </a:r>
          </a:p>
        </p:txBody>
      </p:sp>
      <p:sp>
        <p:nvSpPr>
          <p:cNvPr id="44" name="Rounded Rectangle 43"/>
          <p:cNvSpPr/>
          <p:nvPr/>
        </p:nvSpPr>
        <p:spPr>
          <a:xfrm>
            <a:off x="8997696" y="2798063"/>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9107424" y="2916935"/>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07424" y="2916935"/>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7</a:t>
            </a:r>
          </a:p>
        </p:txBody>
      </p:sp>
      <p:sp>
        <p:nvSpPr>
          <p:cNvPr id="47" name="TextBox 46"/>
          <p:cNvSpPr txBox="1"/>
          <p:nvPr/>
        </p:nvSpPr>
        <p:spPr>
          <a:xfrm>
            <a:off x="9637776" y="2889503"/>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Cloud Map seeds</a:t>
            </a:r>
          </a:p>
        </p:txBody>
      </p:sp>
      <p:sp>
        <p:nvSpPr>
          <p:cNvPr id="48" name="TextBox 47"/>
          <p:cNvSpPr txBox="1"/>
          <p:nvPr/>
        </p:nvSpPr>
        <p:spPr>
          <a:xfrm>
            <a:off x="9107424" y="3438144"/>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ecs/setup-cloud-map.sh</a:t>
            </a:r>
            <a:r>
              <a:rPr sz="1150" b="0" i="0">
                <a:solidFill>
                  <a:srgbClr val="1C2433"/>
                </a:solidFill>
                <a:latin typeface="Calibri"/>
              </a:rPr>
              <a:t>: unchanged</a:t>
            </a:r>
          </a:p>
        </p:txBody>
      </p:sp>
      <p:sp>
        <p:nvSpPr>
          <p:cNvPr id="49" name="Rounded Rectangle 48"/>
          <p:cNvSpPr/>
          <p:nvPr/>
        </p:nvSpPr>
        <p:spPr>
          <a:xfrm>
            <a:off x="411480"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Oval 49"/>
          <p:cNvSpPr/>
          <p:nvPr/>
        </p:nvSpPr>
        <p:spPr>
          <a:xfrm>
            <a:off x="521208"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21208"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8</a:t>
            </a:r>
          </a:p>
        </p:txBody>
      </p:sp>
      <p:sp>
        <p:nvSpPr>
          <p:cNvPr id="52" name="TextBox 51"/>
          <p:cNvSpPr txBox="1"/>
          <p:nvPr/>
        </p:nvSpPr>
        <p:spPr>
          <a:xfrm>
            <a:off x="1051560"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Images</a:t>
            </a:r>
          </a:p>
        </p:txBody>
      </p:sp>
      <p:sp>
        <p:nvSpPr>
          <p:cNvPr id="53" name="TextBox 52"/>
          <p:cNvSpPr txBox="1"/>
          <p:nvPr/>
        </p:nvSpPr>
        <p:spPr>
          <a:xfrm>
            <a:off x="521208" y="5120640"/>
            <a:ext cx="2478024" cy="612647"/>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server image carries </a:t>
            </a:r>
            <a:r>
              <a:rPr sz="1050" b="0" i="0">
                <a:solidFill>
                  <a:srgbClr val="0E7C86"/>
                </a:solidFill>
                <a:latin typeface="Consolas"/>
              </a:rPr>
              <a:t>IcebergLoader</a:t>
            </a:r>
          </a:p>
        </p:txBody>
      </p:sp>
      <p:sp>
        <p:nvSpPr>
          <p:cNvPr id="54" name="Rounded Rectangle 53"/>
          <p:cNvSpPr/>
          <p:nvPr/>
        </p:nvSpPr>
        <p:spPr>
          <a:xfrm>
            <a:off x="3273552"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Oval 54"/>
          <p:cNvSpPr/>
          <p:nvPr/>
        </p:nvSpPr>
        <p:spPr>
          <a:xfrm>
            <a:off x="3383280"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3280"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9</a:t>
            </a:r>
          </a:p>
        </p:txBody>
      </p:sp>
      <p:sp>
        <p:nvSpPr>
          <p:cNvPr id="57" name="TextBox 56"/>
          <p:cNvSpPr txBox="1"/>
          <p:nvPr/>
        </p:nvSpPr>
        <p:spPr>
          <a:xfrm>
            <a:off x="3913632"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Tasks, services</a:t>
            </a:r>
          </a:p>
        </p:txBody>
      </p:sp>
      <p:sp>
        <p:nvSpPr>
          <p:cNvPr id="58" name="TextBox 57"/>
          <p:cNvSpPr txBox="1"/>
          <p:nvPr/>
        </p:nvSpPr>
        <p:spPr>
          <a:xfrm>
            <a:off x="3383280"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ecs/register.sh</a:t>
            </a:r>
            <a:r>
              <a:rPr sz="1150" b="0" i="0">
                <a:solidFill>
                  <a:srgbClr val="1C2433"/>
                </a:solidFill>
                <a:latin typeface="Calibri"/>
              </a:rPr>
              <a:t> + </a:t>
            </a:r>
            <a:r>
              <a:rPr sz="1050" b="0" i="0">
                <a:solidFill>
                  <a:srgbClr val="0E7C86"/>
                </a:solidFill>
                <a:latin typeface="Consolas"/>
              </a:rPr>
              <a:t>DRISHTI_ICEBERG_ROOT</a:t>
            </a:r>
          </a:p>
        </p:txBody>
      </p:sp>
      <p:sp>
        <p:nvSpPr>
          <p:cNvPr id="59" name="Rounded Rectangle 58"/>
          <p:cNvSpPr/>
          <p:nvPr/>
        </p:nvSpPr>
        <p:spPr>
          <a:xfrm>
            <a:off x="6135624"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Oval 59"/>
          <p:cNvSpPr/>
          <p:nvPr/>
        </p:nvSpPr>
        <p:spPr>
          <a:xfrm>
            <a:off x="6245352"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45352"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10</a:t>
            </a:r>
          </a:p>
        </p:txBody>
      </p:sp>
      <p:sp>
        <p:nvSpPr>
          <p:cNvPr id="62" name="TextBox 61"/>
          <p:cNvSpPr txBox="1"/>
          <p:nvPr/>
        </p:nvSpPr>
        <p:spPr>
          <a:xfrm>
            <a:off x="6775704"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First load</a:t>
            </a:r>
          </a:p>
        </p:txBody>
      </p:sp>
      <p:sp>
        <p:nvSpPr>
          <p:cNvPr id="63" name="TextBox 62"/>
          <p:cNvSpPr txBox="1"/>
          <p:nvPr/>
        </p:nvSpPr>
        <p:spPr>
          <a:xfrm>
            <a:off x="6245352"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iceberg/load-day.sh</a:t>
            </a:r>
            <a:r>
              <a:rPr sz="1150" b="0" i="0">
                <a:solidFill>
                  <a:srgbClr val="1C2433"/>
                </a:solidFill>
                <a:latin typeface="Calibri"/>
              </a:rPr>
              <a:t>; </a:t>
            </a:r>
            <a:r>
              <a:rPr sz="1050" b="0" i="0">
                <a:solidFill>
                  <a:srgbClr val="0E7C86"/>
                </a:solidFill>
                <a:latin typeface="Consolas"/>
              </a:rPr>
              <a:t>check-glue.sh</a:t>
            </a:r>
            <a:r>
              <a:rPr sz="1150" b="0" i="0">
                <a:solidFill>
                  <a:srgbClr val="1C2433"/>
                </a:solidFill>
                <a:latin typeface="Calibri"/>
              </a:rPr>
              <a:t> (Glue)</a:t>
            </a:r>
          </a:p>
        </p:txBody>
      </p:sp>
      <p:sp>
        <p:nvSpPr>
          <p:cNvPr id="64" name="Rounded Rectangle 63"/>
          <p:cNvSpPr/>
          <p:nvPr/>
        </p:nvSpPr>
        <p:spPr>
          <a:xfrm>
            <a:off x="8997696" y="4480559"/>
            <a:ext cx="2697480" cy="1572768"/>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Oval 64"/>
          <p:cNvSpPr/>
          <p:nvPr/>
        </p:nvSpPr>
        <p:spPr>
          <a:xfrm>
            <a:off x="9107424" y="4599431"/>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07424" y="4599431"/>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11</a:t>
            </a:r>
          </a:p>
        </p:txBody>
      </p:sp>
      <p:sp>
        <p:nvSpPr>
          <p:cNvPr id="67" name="TextBox 66"/>
          <p:cNvSpPr txBox="1"/>
          <p:nvPr/>
        </p:nvSpPr>
        <p:spPr>
          <a:xfrm>
            <a:off x="9637776" y="4571999"/>
            <a:ext cx="1965960"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Alarms and report</a:t>
            </a:r>
          </a:p>
        </p:txBody>
      </p:sp>
      <p:sp>
        <p:nvSpPr>
          <p:cNvPr id="68" name="TextBox 67"/>
          <p:cNvSpPr txBox="1"/>
          <p:nvPr/>
        </p:nvSpPr>
        <p:spPr>
          <a:xfrm>
            <a:off x="9107424" y="5120640"/>
            <a:ext cx="2478024" cy="612647"/>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iceberg/setup-alarms.sh</a:t>
            </a:r>
            <a:r>
              <a:rPr sz="1150" b="0" i="0">
                <a:solidFill>
                  <a:srgbClr val="1C2433"/>
                </a:solidFill>
                <a:latin typeface="Calibri"/>
              </a:rPr>
              <a:t>, </a:t>
            </a:r>
            <a:r>
              <a:rPr sz="1050" b="0" i="0">
                <a:solidFill>
                  <a:srgbClr val="0E7C86"/>
                </a:solidFill>
                <a:latin typeface="Consolas"/>
              </a:rPr>
              <a:t>report.sh</a:t>
            </a:r>
            <a:r>
              <a:rPr sz="1150" b="0" i="0">
                <a:solidFill>
                  <a:srgbClr val="1C2433"/>
                </a:solidFill>
                <a:latin typeface="Calibri"/>
              </a:rPr>
              <a:t>: snapshots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catalog choice on AWS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32</a:t>
            </a:r>
          </a:p>
        </p:txBody>
      </p:sp>
      <p:sp>
        <p:nvSpPr>
          <p:cNvPr id="9" name="Rounded Rectangle 8"/>
          <p:cNvSpPr/>
          <p:nvPr/>
        </p:nvSpPr>
        <p:spPr>
          <a:xfrm>
            <a:off x="411480" y="1188720"/>
            <a:ext cx="3666744" cy="3794760"/>
          </a:xfrm>
          <a:prstGeom prst="roundRect">
            <a:avLst>
              <a:gd name="adj" fmla="val 5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Path-based tables in S3</a:t>
            </a:r>
          </a:p>
        </p:txBody>
      </p:sp>
      <p:sp>
        <p:nvSpPr>
          <p:cNvPr id="11" name="TextBox 10"/>
          <p:cNvSpPr txBox="1"/>
          <p:nvPr/>
        </p:nvSpPr>
        <p:spPr>
          <a:xfrm>
            <a:off x="548640"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 catalog service: </a:t>
            </a:r>
            <a:r>
              <a:rPr sz="1150" b="0" i="0">
                <a:solidFill>
                  <a:srgbClr val="0E7C86"/>
                </a:solidFill>
                <a:latin typeface="Consolas"/>
              </a:rPr>
              <a:t>metadata/version-hint.text</a:t>
            </a:r>
            <a:r>
              <a:rPr sz="1250" b="0" i="0">
                <a:solidFill>
                  <a:srgbClr val="1C2433"/>
                </a:solidFill>
                <a:latin typeface="Calibri"/>
              </a:rPr>
              <a:t> in the table folder</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conditional PUT, probe at first commit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other engines read by naming the metadata file, or after registering the table in Glue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only Drishti writes and Drishti reads</a:t>
            </a:r>
          </a:p>
        </p:txBody>
      </p:sp>
      <p:sp>
        <p:nvSpPr>
          <p:cNvPr id="12" name="Rounded Rectangle 11"/>
          <p:cNvSpPr/>
          <p:nvPr/>
        </p:nvSpPr>
        <p:spPr>
          <a:xfrm>
            <a:off x="4261104" y="1188720"/>
            <a:ext cx="3666744" cy="3794760"/>
          </a:xfrm>
          <a:prstGeom prst="roundRect">
            <a:avLst>
              <a:gd name="adj" fmla="val 5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98264"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AWS Glue Data Catalog (Iceberg REST endpoint)</a:t>
            </a:r>
          </a:p>
        </p:txBody>
      </p:sp>
      <p:sp>
        <p:nvSpPr>
          <p:cNvPr id="14" name="Rounded Rectangle 13"/>
          <p:cNvSpPr/>
          <p:nvPr/>
        </p:nvSpPr>
        <p:spPr>
          <a:xfrm>
            <a:off x="6739128" y="1325880"/>
            <a:ext cx="1051560" cy="246888"/>
          </a:xfrm>
          <a:prstGeom prst="roundRect">
            <a:avLst>
              <a:gd name="adj" fmla="val 50000"/>
            </a:avLst>
          </a:prstGeom>
          <a:solidFill>
            <a:srgbClr val="FFFFFF"/>
          </a:solidFill>
          <a:ln w="15875">
            <a:solidFill>
              <a:srgbClr val="5B67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NOT RUN</a:t>
            </a:r>
          </a:p>
        </p:txBody>
      </p:sp>
      <p:sp>
        <p:nvSpPr>
          <p:cNvPr id="15" name="TextBox 14"/>
          <p:cNvSpPr txBox="1"/>
          <p:nvPr/>
        </p:nvSpPr>
        <p:spPr>
          <a:xfrm>
            <a:off x="4398264"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150" b="0" i="0">
                <a:solidFill>
                  <a:srgbClr val="E87A1E"/>
                </a:solidFill>
                <a:latin typeface="Calibri"/>
              </a:rPr>
              <a:t>•  </a:t>
            </a:r>
            <a:r>
              <a:rPr sz="1150" b="0" i="0">
                <a:solidFill>
                  <a:srgbClr val="0E7C86"/>
                </a:solidFill>
                <a:latin typeface="Consolas"/>
              </a:rPr>
              <a:t>catalog: rest</a:t>
            </a:r>
            <a:r>
              <a:rPr sz="1250" b="0" i="0">
                <a:solidFill>
                  <a:srgbClr val="1C2433"/>
                </a:solidFill>
                <a:latin typeface="Calibri"/>
              </a:rPr>
              <a:t>, SigV4 </a:t>
            </a:r>
            <a:r>
              <a:rPr sz="1150" b="0" i="0">
                <a:solidFill>
                  <a:srgbClr val="0E7C86"/>
                </a:solidFill>
                <a:latin typeface="Consolas"/>
              </a:rPr>
              <a:t>signing-name: glue</a:t>
            </a:r>
            <a:r>
              <a:rPr sz="1250" b="0" i="0">
                <a:solidFill>
                  <a:srgbClr val="1C2433"/>
                </a:solidFill>
                <a:latin typeface="Calibri"/>
              </a:rPr>
              <a:t>; </a:t>
            </a:r>
            <a:r>
              <a:rPr sz="1150" b="0" i="0">
                <a:solidFill>
                  <a:srgbClr val="0E7C86"/>
                </a:solidFill>
                <a:latin typeface="Consolas"/>
              </a:rPr>
              <a:t>ICEBERG_CATALOG=glue</a:t>
            </a:r>
            <a:r>
              <a:rPr sz="1250" b="0" i="0">
                <a:solidFill>
                  <a:srgbClr val="1C2433"/>
                </a:solidFill>
                <a:latin typeface="Calibri"/>
              </a:rPr>
              <a:t> in the scripts (built; not yet run on AWS)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through the catalog (409 retried); Athena, EMR, Redshift see the same tables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IAM (and Lake Formation, if used) governs every table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Athena or Spark also read or write</a:t>
            </a:r>
          </a:p>
        </p:txBody>
      </p:sp>
      <p:sp>
        <p:nvSpPr>
          <p:cNvPr id="16" name="Rounded Rectangle 15"/>
          <p:cNvSpPr/>
          <p:nvPr/>
        </p:nvSpPr>
        <p:spPr>
          <a:xfrm>
            <a:off x="8110728" y="1188720"/>
            <a:ext cx="3666744" cy="3794760"/>
          </a:xfrm>
          <a:prstGeom prst="roundRect">
            <a:avLst>
              <a:gd name="adj" fmla="val 5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8247888"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Tables (table buckets)</a:t>
            </a:r>
          </a:p>
        </p:txBody>
      </p:sp>
      <p:sp>
        <p:nvSpPr>
          <p:cNvPr id="18" name="Rounded Rectangle 17"/>
          <p:cNvSpPr/>
          <p:nvPr/>
        </p:nvSpPr>
        <p:spPr>
          <a:xfrm>
            <a:off x="10588752" y="1325880"/>
            <a:ext cx="1051560" cy="246888"/>
          </a:xfrm>
          <a:prstGeom prst="roundRect">
            <a:avLst>
              <a:gd name="adj" fmla="val 50000"/>
            </a:avLst>
          </a:prstGeom>
          <a:solidFill>
            <a:srgbClr val="FFFFFF"/>
          </a:solidFill>
          <a:ln w="15875">
            <a:solidFill>
              <a:srgbClr val="5B67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5B677A"/>
                </a:solidFill>
                <a:latin typeface="Calibri"/>
              </a:rPr>
              <a:t>NOT RUN</a:t>
            </a:r>
          </a:p>
        </p:txBody>
      </p:sp>
      <p:sp>
        <p:nvSpPr>
          <p:cNvPr id="19" name="TextBox 18"/>
          <p:cNvSpPr txBox="1"/>
          <p:nvPr/>
        </p:nvSpPr>
        <p:spPr>
          <a:xfrm>
            <a:off x="8247888"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its Iceberg REST endpoint, SigV4 </a:t>
            </a:r>
            <a:r>
              <a:rPr sz="1150" b="0" i="0">
                <a:solidFill>
                  <a:srgbClr val="0E7C86"/>
                </a:solidFill>
                <a:latin typeface="Consolas"/>
              </a:rPr>
              <a:t>signing-name: s3tables</a:t>
            </a:r>
            <a:r>
              <a:rPr sz="1250" b="0" i="0">
                <a:solidFill>
                  <a:srgbClr val="1C2433"/>
                </a:solidFill>
                <a:latin typeface="Calibri"/>
              </a:rPr>
              <a:t>, a table bucket ARN (written; not yet run on AWS)</a:t>
            </a:r>
          </a:p>
          <a:p>
            <a:pPr algn="l">
              <a:lnSpc>
                <a:spcPct val="105000"/>
              </a:lnSpc>
              <a:spcAft>
                <a:spcPts val="600"/>
              </a:spcAft>
            </a:pPr>
            <a:r>
              <a:rPr sz="1150" b="0" i="0">
                <a:solidFill>
                  <a:srgbClr val="E87A1E"/>
                </a:solidFill>
                <a:latin typeface="Calibri"/>
              </a:rPr>
              <a:t>•  </a:t>
            </a:r>
            <a:r>
              <a:rPr sz="1150" b="0" i="0">
                <a:solidFill>
                  <a:srgbClr val="0E7C86"/>
                </a:solidFill>
                <a:latin typeface="Consolas"/>
              </a:rPr>
              <a:t>check-glue.sh --s3-tables ARN</a:t>
            </a:r>
            <a:r>
              <a:rPr sz="1250" b="0" i="0">
                <a:solidFill>
                  <a:srgbClr val="1C2433"/>
                </a:solidFill>
                <a:latin typeface="Calibri"/>
              </a:rPr>
              <a:t>: the live run is the product owner's, not yet done</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AWS runs compaction and snapshot management itself</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prove first</a:t>
            </a:r>
            <a:r>
              <a:rPr sz="1250" b="0" i="0">
                <a:solidFill>
                  <a:srgbClr val="1C2433"/>
                </a:solidFill>
                <a:latin typeface="Calibri"/>
              </a:rPr>
              <a:t> in a development account</a:t>
            </a:r>
          </a:p>
        </p:txBody>
      </p:sp>
      <p:sp>
        <p:nvSpPr>
          <p:cNvPr id="20" name="Rounded Rectangle 19"/>
          <p:cNvSpPr/>
          <p:nvPr/>
        </p:nvSpPr>
        <p:spPr>
          <a:xfrm>
            <a:off x="411480" y="5166360"/>
            <a:ext cx="11365992" cy="11887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Rectangle 20"/>
          <p:cNvSpPr/>
          <p:nvPr/>
        </p:nvSpPr>
        <p:spPr>
          <a:xfrm>
            <a:off x="411480" y="5166360"/>
            <a:ext cx="82296" cy="1188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 y="5221224"/>
            <a:ext cx="11000232" cy="10789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Recommendation (PROPOSED):</a:t>
            </a:r>
            <a:r>
              <a:rPr sz="1300" b="0" i="0">
                <a:solidFill>
                  <a:srgbClr val="1C2433"/>
                </a:solidFill>
                <a:latin typeface="Calibri"/>
              </a:rPr>
              <a:t> start path-based (built, no extra service, the same commit safety as Delta). Move a table behind Glue's REST endpoint when another engine must write it or Athena must query it; the connector's name, kinds and packs do not change, only </a:t>
            </a:r>
            <a:r>
              <a:rPr sz="1200" b="0" i="0">
                <a:solidFill>
                  <a:srgbClr val="0E7C86"/>
                </a:solidFill>
                <a:latin typeface="Consolas"/>
              </a:rPr>
              <a:t>catalog</a:t>
            </a:r>
            <a:r>
              <a:rPr sz="1300" b="0" i="0">
                <a:solidFill>
                  <a:srgbClr val="1C2433"/>
                </a:solidFill>
                <a:latin typeface="Calibri"/>
              </a:rPr>
              <a:t>, </a:t>
            </a:r>
            <a:r>
              <a:rPr sz="1200" b="0" i="0">
                <a:solidFill>
                  <a:srgbClr val="0E7C86"/>
                </a:solidFill>
                <a:latin typeface="Consolas"/>
              </a:rPr>
              <a:t>uri</a:t>
            </a:r>
            <a:r>
              <a:rPr sz="1300" b="0" i="0">
                <a:solidFill>
                  <a:srgbClr val="1C2433"/>
                </a:solidFill>
                <a:latin typeface="Calibri"/>
              </a:rPr>
              <a:t> and the signing settings. Run </a:t>
            </a:r>
            <a:r>
              <a:rPr sz="1200" b="0" i="0">
                <a:solidFill>
                  <a:srgbClr val="0E7C86"/>
                </a:solidFill>
                <a:latin typeface="Consolas"/>
              </a:rPr>
              <a:t>check-glue.sh</a:t>
            </a:r>
            <a:r>
              <a:rPr sz="1300" b="0" i="0">
                <a:solidFill>
                  <a:srgbClr val="1C2433"/>
                </a:solidFill>
                <a:latin typeface="Calibri"/>
              </a:rPr>
              <a:t> first.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IAM, KMS and the network for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33</a:t>
            </a:r>
          </a:p>
        </p:txBody>
      </p:sp>
      <p:graphicFrame>
        <p:nvGraphicFramePr>
          <p:cNvPr id="9" name="Table 8"/>
          <p:cNvGraphicFramePr>
            <a:graphicFrameLocks noGrp="1"/>
          </p:cNvGraphicFramePr>
          <p:nvPr/>
        </p:nvGraphicFramePr>
        <p:xfrm>
          <a:off x="411480" y="1143000"/>
          <a:ext cx="11365992" cy="2891332"/>
        </p:xfrm>
        <a:graphic>
          <a:graphicData uri="http://schemas.openxmlformats.org/drawingml/2006/table">
            <a:tbl>
              <a:tblPr firstRow="1" bandRow="1">
                <a:tableStyleId>{5940675A-B579-460E-94D1-54222C63F5DA}</a:tableStyleId>
              </a:tblPr>
              <a:tblGrid>
                <a:gridCol w="1737360"/>
                <a:gridCol w="3840480"/>
                <a:gridCol w="5788152"/>
              </a:tblGrid>
              <a:tr h="419386">
                <a:tc>
                  <a:txBody>
                    <a:bodyPr wrap="square"/>
                    <a:lstStyle/>
                    <a:p>
                      <a:pPr algn="l">
                        <a:lnSpc>
                          <a:spcPct val="100000"/>
                        </a:lnSpc>
                      </a:pPr>
                      <a:r>
                        <a:rPr sz="1150" b="1" i="0">
                          <a:solidFill>
                            <a:srgbClr val="FFFFFF"/>
                          </a:solidFill>
                          <a:latin typeface="Calibri"/>
                        </a:rPr>
                        <a:t>Role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 (built policies)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lake (</a:t>
                      </a:r>
                      <a:r>
                        <a:rPr sz="1050" b="1" i="0">
                          <a:solidFill>
                            <a:srgbClr val="C9D3E3"/>
                          </a:solidFill>
                          <a:latin typeface="Consolas"/>
                        </a:rPr>
                        <a:t>iceberg/iam/*.json</a:t>
                      </a:r>
                      <a:r>
                        <a:rPr sz="11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9386">
                <a:tc>
                  <a:txBody>
                    <a:bodyPr wrap="square"/>
                    <a:lstStyle/>
                    <a:p>
                      <a:pPr algn="l">
                        <a:lnSpc>
                          <a:spcPct val="100000"/>
                        </a:lnSpc>
                      </a:pPr>
                      <a:r>
                        <a:rPr sz="1150" b="1" i="0">
                          <a:solidFill>
                            <a:srgbClr val="1C2433"/>
                          </a:solidFill>
                          <a:latin typeface="Calibri"/>
                        </a:rPr>
                        <a:t>server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GET, LIST on </a:t>
                      </a:r>
                      <a:r>
                        <a:rPr sz="1050" b="0" i="0">
                          <a:solidFill>
                            <a:srgbClr val="0E7C86"/>
                          </a:solidFill>
                          <a:latin typeface="Consolas"/>
                        </a:rPr>
                        <a:t>lake/</a:t>
                      </a:r>
                      <a:r>
                        <a:rPr sz="1150" b="0" i="0">
                          <a:solidFill>
                            <a:srgbClr val="1C2433"/>
                          </a:solidFill>
                          <a:latin typeface="Calibri"/>
                        </a:rPr>
                        <a:t>; </a:t>
                      </a:r>
                      <a:r>
                        <a:rPr sz="1050" b="0" i="0">
                          <a:solidFill>
                            <a:srgbClr val="0E7C86"/>
                          </a:solidFill>
                          <a:latin typeface="Consolas"/>
                        </a:rPr>
                        <a:t>kms:Decrypt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same on </a:t>
                      </a:r>
                      <a:r>
                        <a:rPr sz="1050" b="0" i="0">
                          <a:solidFill>
                            <a:srgbClr val="0E7C86"/>
                          </a:solidFill>
                          <a:latin typeface="Consolas"/>
                        </a:rPr>
                        <a:t>iceberg/</a:t>
                      </a:r>
                      <a:r>
                        <a:rPr sz="1150" b="0" i="0">
                          <a:solidFill>
                            <a:srgbClr val="1C2433"/>
                          </a:solidFill>
                          <a:latin typeface="Calibri"/>
                        </a:rPr>
                        <a:t>; with Glue: </a:t>
                      </a:r>
                      <a:r>
                        <a:rPr sz="1050" b="0" i="0">
                          <a:solidFill>
                            <a:srgbClr val="0E7C86"/>
                          </a:solidFill>
                          <a:latin typeface="Consolas"/>
                        </a:rPr>
                        <a:t>glue:GetCatalog</a:t>
                      </a:r>
                      <a:r>
                        <a:rPr sz="1150" b="0" i="0">
                          <a:solidFill>
                            <a:srgbClr val="1C2433"/>
                          </a:solidFill>
                          <a:latin typeface="Calibri"/>
                        </a:rPr>
                        <a:t>, </a:t>
                      </a:r>
                      <a:r>
                        <a:rPr sz="1050" b="0" i="0">
                          <a:solidFill>
                            <a:srgbClr val="0E7C86"/>
                          </a:solidFill>
                          <a:latin typeface="Consolas"/>
                        </a:rPr>
                        <a:t>GetDatabase</a:t>
                      </a:r>
                      <a:r>
                        <a:rPr sz="1150" b="0" i="0">
                          <a:solidFill>
                            <a:srgbClr val="1C2433"/>
                          </a:solidFill>
                          <a:latin typeface="Calibri"/>
                        </a:rPr>
                        <a:t>, </a:t>
                      </a:r>
                      <a:r>
                        <a:rPr sz="1050" b="0" i="0">
                          <a:solidFill>
                            <a:srgbClr val="0E7C86"/>
                          </a:solidFill>
                          <a:latin typeface="Consolas"/>
                        </a:rPr>
                        <a:t>GetTable</a:t>
                      </a:r>
                      <a:r>
                        <a:rPr sz="1150" b="0" i="0">
                          <a:solidFill>
                            <a:srgbClr val="1C2433"/>
                          </a:solidFill>
                          <a:latin typeface="Calibri"/>
                        </a:rPr>
                        <a: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44426">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files and commits; </a:t>
                      </a:r>
                      <a:r>
                        <a:rPr sz="1150" b="1" i="0">
                          <a:solidFill>
                            <a:srgbClr val="1C2433"/>
                          </a:solidFill>
                          <a:latin typeface="Calibri"/>
                        </a:rPr>
                        <a:t>never delete</a:t>
                      </a:r>
                      <a:r>
                        <a:rPr sz="1150" b="0" i="0">
                          <a:solidFill>
                            <a:srgbClr val="1C2433"/>
                          </a:solidFill>
                          <a:latin typeface="Calibri"/>
                        </a:rPr>
                        <a:t> (explicit deny)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manifests, </a:t>
                      </a:r>
                      <a:r>
                        <a:rPr sz="1050" b="0" i="0">
                          <a:solidFill>
                            <a:srgbClr val="0E7C86"/>
                          </a:solidFill>
                          <a:latin typeface="Consolas"/>
                        </a:rPr>
                        <a:t>vN.metadata.json</a:t>
                      </a:r>
                      <a:r>
                        <a:rPr sz="1150" b="0" i="0">
                          <a:solidFill>
                            <a:srgbClr val="1C2433"/>
                          </a:solidFill>
                          <a:latin typeface="Calibri"/>
                        </a:rPr>
                        <a:t>, </a:t>
                      </a:r>
                      <a:r>
                        <a:rPr sz="1050" b="0" i="0">
                          <a:solidFill>
                            <a:srgbClr val="0E7C86"/>
                          </a:solidFill>
                          <a:latin typeface="Consolas"/>
                        </a:rPr>
                        <a:t>version-hint.text</a:t>
                      </a:r>
                      <a:r>
                        <a:rPr sz="1150" b="0" i="0">
                          <a:solidFill>
                            <a:srgbClr val="1C2433"/>
                          </a:solidFill>
                          <a:latin typeface="Calibri"/>
                        </a:rPr>
                        <a:t>; the deny can stay (old metadata removal is best effort); no </a:t>
                      </a:r>
                      <a:r>
                        <a:rPr sz="1050" b="0" i="0">
                          <a:solidFill>
                            <a:srgbClr val="0E7C86"/>
                          </a:solidFill>
                          <a:latin typeface="Consolas"/>
                        </a:rPr>
                        <a:t>--keep-days</a:t>
                      </a:r>
                      <a:r>
                        <a:rPr sz="1150" b="0" i="0">
                          <a:solidFill>
                            <a:srgbClr val="1C2433"/>
                          </a:solidFill>
                          <a:latin typeface="Calibri"/>
                        </a:rPr>
                        <a:t> in the loader; with Glue: </a:t>
                      </a:r>
                      <a:r>
                        <a:rPr sz="1050" b="0" i="0">
                          <a:solidFill>
                            <a:srgbClr val="0E7C86"/>
                          </a:solidFill>
                          <a:latin typeface="Consolas"/>
                        </a:rPr>
                        <a:t>glue:UpdateTable</a:t>
                      </a:r>
                      <a:r>
                        <a:rPr sz="1150" b="0" i="0">
                          <a:solidFill>
                            <a:srgbClr val="1C2433"/>
                          </a:solidFill>
                          <a:latin typeface="Calibri"/>
                        </a:rPr>
                        <a:t>, </a:t>
                      </a:r>
                      <a:r>
                        <a:rPr sz="1050" b="0" i="0">
                          <a:solidFill>
                            <a:srgbClr val="0E7C86"/>
                          </a:solidFill>
                          <a:latin typeface="Consolas"/>
                        </a:rPr>
                        <a:t>CreateTable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4067">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checkpoints, vacuum: the only role that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--expire-hours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deletes data, manifests, old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4067">
                <a:tc>
                  <a:txBody>
                    <a:bodyPr wrap="square"/>
                    <a:lstStyle/>
                    <a:p>
                      <a:pPr algn="l">
                        <a:lnSpc>
                          <a:spcPct val="100000"/>
                        </a:lnSpc>
                      </a:pPr>
                      <a:r>
                        <a:rPr sz="1150" b="1" i="0">
                          <a:solidFill>
                            <a:srgbClr val="1C2433"/>
                          </a:solidFill>
                          <a:latin typeface="Calibri"/>
                        </a:rPr>
                        <a:t>KMS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SSE-KMS bucket default, S3 Bucket Keys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unchanged: the native writer sends no SSE header; bucket default applies. Iceberg table encryption: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20624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Network</a:t>
            </a:r>
          </a:p>
        </p:txBody>
      </p:sp>
      <p:sp>
        <p:nvSpPr>
          <p:cNvPr id="11" name="TextBox 10"/>
          <p:cNvSpPr txBox="1"/>
          <p:nvPr/>
        </p:nvSpPr>
        <p:spPr>
          <a:xfrm>
            <a:off x="411480" y="4572000"/>
            <a:ext cx="5577840" cy="173736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0" i="0">
                <a:solidFill>
                  <a:srgbClr val="1C2433"/>
                </a:solidFill>
                <a:latin typeface="Calibri"/>
              </a:rPr>
              <a:t>S3 gateway endpoint, bucket policy allowing only it (as Delta): unchanged</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Path-based tables need nothing else</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Glue catalog: an interface endpoint for Glue, or traffic to the Glue endpoint through the proxy settings</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Vended credentials: STS endpoint (already among the Delta prerequisites)</a:t>
            </a:r>
          </a:p>
        </p:txBody>
      </p:sp>
      <p:sp>
        <p:nvSpPr>
          <p:cNvPr id="12" name="Rounded Rectangle 11"/>
          <p:cNvSpPr/>
          <p:nvPr/>
        </p:nvSpPr>
        <p:spPr>
          <a:xfrm>
            <a:off x="6217920" y="4206240"/>
            <a:ext cx="555955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206240"/>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261103"/>
            <a:ext cx="519379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proxy and TLS settings carry over:</a:t>
            </a:r>
            <a:r>
              <a:rPr sz="1250" b="0" i="0">
                <a:solidFill>
                  <a:srgbClr val="1C2433"/>
                </a:solidFill>
                <a:latin typeface="Calibri"/>
              </a:rPr>
              <a:t> </a:t>
            </a:r>
            <a:r>
              <a:rPr sz="1150" b="0" i="0">
                <a:solidFill>
                  <a:srgbClr val="0E7C86"/>
                </a:solidFill>
                <a:latin typeface="Consolas"/>
              </a:rPr>
              <a:t>proxy.*</a:t>
            </a:r>
            <a:r>
              <a:rPr sz="1250" b="0" i="0">
                <a:solidFill>
                  <a:srgbClr val="1C2433"/>
                </a:solidFill>
                <a:latin typeface="Calibri"/>
              </a:rPr>
              <a:t> and </a:t>
            </a:r>
            <a:r>
              <a:rPr sz="1150" b="0" i="0">
                <a:solidFill>
                  <a:srgbClr val="0E7C86"/>
                </a:solidFill>
                <a:latin typeface="Consolas"/>
              </a:rPr>
              <a:t>tls.*</a:t>
            </a:r>
            <a:r>
              <a:rPr sz="1250" b="0" i="0">
                <a:solidFill>
                  <a:srgbClr val="1C2433"/>
                </a:solidFill>
                <a:latin typeface="Calibri"/>
              </a:rPr>
              <a:t> apply to the REST catalog's client and to the object store (ICEBERG_CONNECTOR.md: Security; Outbound proxy).</a:t>
            </a:r>
          </a:p>
          <a:p>
            <a:pPr algn="l">
              <a:lnSpc>
                <a:spcPct val="105000"/>
              </a:lnSpc>
            </a:pPr>
            <a:r>
              <a:rPr sz="1250" b="0" i="0">
                <a:solidFill>
                  <a:srgbClr val="1C2433"/>
                </a:solidFill>
                <a:latin typeface="Calibri"/>
              </a:rPr>
              <a:t>Private CA for the catalog's own HTTPS: import into the JVM truststore.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EFS, identical paths and Drishti*net: unchanged</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34</a:t>
            </a:r>
          </a:p>
        </p:txBody>
      </p:sp>
      <p:sp>
        <p:nvSpPr>
          <p:cNvPr id="9" name="Rounded Rectangle 8"/>
          <p:cNvSpPr/>
          <p:nvPr/>
        </p:nvSpPr>
        <p:spPr>
          <a:xfrm>
            <a:off x="41148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drishti-a, drishti-b</a:t>
            </a:r>
          </a:p>
        </p:txBody>
      </p:sp>
      <p:sp>
        <p:nvSpPr>
          <p:cNvPr id="11" name="TextBox 10"/>
          <p:cNvSpPr txBox="1"/>
          <p:nvPr/>
        </p:nvSpPr>
        <p:spPr>
          <a:xfrm>
            <a:off x="50292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trade-endur</a:t>
            </a:r>
            <a:r>
              <a:rPr sz="1250" b="0" i="0">
                <a:solidFill>
                  <a:srgbClr val="1C2433"/>
                </a:solidFill>
                <a:latin typeface="Calibri"/>
              </a:rPr>
              <a:t> (Delta) and </a:t>
            </a:r>
            <a:r>
              <a:rPr sz="1150" b="0" i="0">
                <a:solidFill>
                  <a:srgbClr val="0E7C86"/>
                </a:solidFill>
                <a:latin typeface="Consolas"/>
              </a:rPr>
              <a:t>trade-calypso</a:t>
            </a:r>
            <a:r>
              <a:rPr sz="1250" b="0" i="0">
                <a:solidFill>
                  <a:srgbClr val="1C2433"/>
                </a:solidFill>
                <a:latin typeface="Calibri"/>
              </a:rPr>
              <a:t> (Iceberg)</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replicas of each other for both</a:t>
            </a:r>
          </a:p>
        </p:txBody>
      </p:sp>
      <p:sp>
        <p:nvSpPr>
          <p:cNvPr id="12" name="Rounded Rectangle 11"/>
          <p:cNvSpPr/>
          <p:nvPr/>
        </p:nvSpPr>
        <p:spPr>
          <a:xfrm>
            <a:off x="4251960" y="1188720"/>
            <a:ext cx="3657600" cy="21031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43400"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drishti-c, drishti-d</a:t>
            </a:r>
          </a:p>
        </p:txBody>
      </p:sp>
      <p:sp>
        <p:nvSpPr>
          <p:cNvPr id="14" name="TextBox 13"/>
          <p:cNvSpPr txBox="1"/>
          <p:nvPr/>
        </p:nvSpPr>
        <p:spPr>
          <a:xfrm>
            <a:off x="4343400" y="1554480"/>
            <a:ext cx="3474720" cy="1691639"/>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trade-murex</a:t>
            </a:r>
            <a:r>
              <a:rPr sz="1250" b="0" i="0">
                <a:solidFill>
                  <a:srgbClr val="1C2433"/>
                </a:solidFill>
                <a:latin typeface="Calibri"/>
              </a:rPr>
              <a:t> (Iceberg, native)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shard: searches ask it too</a:t>
            </a:r>
          </a:p>
        </p:txBody>
      </p:sp>
      <p:sp>
        <p:nvSpPr>
          <p:cNvPr id="15" name="Rounded Rectangle 14"/>
          <p:cNvSpPr/>
          <p:nvPr/>
        </p:nvSpPr>
        <p:spPr>
          <a:xfrm>
            <a:off x="411480" y="3566160"/>
            <a:ext cx="7498079" cy="109728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61187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S3 lake bucket</a:t>
            </a:r>
          </a:p>
        </p:txBody>
      </p:sp>
      <p:sp>
        <p:nvSpPr>
          <p:cNvPr id="17" name="TextBox 16"/>
          <p:cNvSpPr txBox="1"/>
          <p:nvPr/>
        </p:nvSpPr>
        <p:spPr>
          <a:xfrm>
            <a:off x="502920" y="3931920"/>
            <a:ext cx="7315199" cy="68580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lake/</a:t>
            </a:r>
            <a:r>
              <a:rPr sz="1250" b="0" i="0">
                <a:solidFill>
                  <a:srgbClr val="1C2433"/>
                </a:solidFill>
                <a:latin typeface="Calibri"/>
              </a:rPr>
              <a:t> (Delta tables) and </a:t>
            </a:r>
            <a:r>
              <a:rPr sz="1150" b="0" i="0">
                <a:solidFill>
                  <a:srgbClr val="0E7C86"/>
                </a:solidFill>
                <a:latin typeface="Consolas"/>
              </a:rPr>
              <a:t>iceberg/</a:t>
            </a:r>
            <a:r>
              <a:rPr sz="1250" b="0" i="0">
                <a:solidFill>
                  <a:srgbClr val="1C2433"/>
                </a:solidFill>
                <a:latin typeface="Calibri"/>
              </a:rPr>
              <a:t> (Iceberg tables) side by side; every node can read every table</a:t>
            </a:r>
          </a:p>
        </p:txBody>
      </p:sp>
      <p:cxnSp>
        <p:nvCxnSpPr>
          <p:cNvPr id="18" name="Connector 17"/>
          <p:cNvCxnSpPr/>
          <p:nvPr/>
        </p:nvCxnSpPr>
        <p:spPr>
          <a:xfrm>
            <a:off x="224028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80760" y="329184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4892040"/>
            <a:ext cx="7498079" cy="141732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4937759"/>
            <a:ext cx="731519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EFS (identical paths)</a:t>
            </a:r>
          </a:p>
        </p:txBody>
      </p:sp>
      <p:sp>
        <p:nvSpPr>
          <p:cNvPr id="22" name="TextBox 21"/>
          <p:cNvSpPr txBox="1"/>
          <p:nvPr/>
        </p:nvSpPr>
        <p:spPr>
          <a:xfrm>
            <a:off x="502920" y="5257800"/>
            <a:ext cx="7315199" cy="100584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/drishti/&lt;env&gt;/&lt;node&gt;/opt/drishti/{data,config,sutras}</a:t>
            </a:r>
            <a:r>
              <a:rPr sz="1250" b="0" i="0">
                <a:solidFill>
                  <a:srgbClr val="1C2433"/>
                </a:solidFill>
                <a:latin typeface="Calibri"/>
              </a:rPr>
              <a:t>: connector files, users, Drishti*net state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loader: spill files of the external sort and the per-table locks</a:t>
            </a:r>
          </a:p>
        </p:txBody>
      </p:sp>
      <p:sp>
        <p:nvSpPr>
          <p:cNvPr id="23" name="Rounded Rectangle 22"/>
          <p:cNvSpPr/>
          <p:nvPr/>
        </p:nvSpPr>
        <p:spPr>
          <a:xfrm>
            <a:off x="8138160" y="1188720"/>
            <a:ext cx="3639312" cy="23774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Rectangle 23"/>
          <p:cNvSpPr/>
          <p:nvPr/>
        </p:nvSpPr>
        <p:spPr>
          <a:xfrm>
            <a:off x="8138160" y="1188720"/>
            <a:ext cx="82296" cy="23774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366760" y="1243584"/>
            <a:ext cx="327355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Same cluster rules.</a:t>
            </a:r>
            <a:r>
              <a:rPr sz="1250" b="0" i="0">
                <a:solidFill>
                  <a:srgbClr val="1C2433"/>
                </a:solidFill>
                <a:latin typeface="Calibri"/>
              </a:rPr>
              <a:t> Nodes that read the same tables are replicas; different tables of a kind are shards; a failed node costs speed, never answers.</a:t>
            </a:r>
          </a:p>
        </p:txBody>
      </p:sp>
      <p:sp>
        <p:nvSpPr>
          <p:cNvPr id="26" name="Rounded Rectangle 25"/>
          <p:cNvSpPr/>
          <p:nvPr/>
        </p:nvSpPr>
        <p:spPr>
          <a:xfrm>
            <a:off x="8138160" y="3749039"/>
            <a:ext cx="3639312" cy="25603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8138160" y="3749039"/>
            <a:ext cx="82296" cy="25603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366760" y="3803903"/>
            <a:ext cx="3273552" cy="24505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Identity:</a:t>
            </a:r>
            <a:r>
              <a:rPr sz="1250" b="0" i="0">
                <a:solidFill>
                  <a:srgbClr val="1C2433"/>
                </a:solidFill>
                <a:latin typeface="Calibri"/>
              </a:rPr>
              <a:t> the Iceberg plugin reports </a:t>
            </a:r>
            <a:r>
              <a:rPr sz="1150" b="0" i="0">
                <a:solidFill>
                  <a:srgbClr val="0E7C86"/>
                </a:solidFill>
                <a:latin typeface="Consolas"/>
              </a:rPr>
              <a:t>iceberg:&lt;table-uuid&gt;</a:t>
            </a:r>
            <a:r>
              <a:rPr sz="1250" b="0" i="0">
                <a:solidFill>
                  <a:srgbClr val="1C2433"/>
                </a:solidFill>
                <a:latin typeface="Calibri"/>
              </a:rPr>
              <a:t>, so two nodes on one Iceberg table are replicas (a search asks one), also after a copy read through </a:t>
            </a:r>
            <a:r>
              <a:rPr sz="1150" b="0" i="0">
                <a:solidFill>
                  <a:srgbClr val="0E7C86"/>
                </a:solidFill>
                <a:latin typeface="Consolas"/>
              </a:rPr>
              <a:t>relocate</a:t>
            </a:r>
            <a:r>
              <a:rPr sz="1250" b="0" i="0">
                <a:solidFill>
                  <a:srgbClr val="1C2433"/>
                </a:solidFill>
                <a:latin typeface="Calibri"/>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Storage tiers by business date, for Iceberg prefixes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35</a:t>
            </a:r>
          </a:p>
        </p:txBody>
      </p:sp>
      <p:sp>
        <p:nvSpPr>
          <p:cNvPr id="9" name="Rounded Rectangle 8"/>
          <p:cNvSpPr/>
          <p:nvPr/>
        </p:nvSpPr>
        <p:spPr>
          <a:xfrm>
            <a:off x="411480" y="1143000"/>
            <a:ext cx="6766560" cy="21488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547104" cy="2002536"/>
          </a:xfrm>
          <a:prstGeom prst="rect">
            <a:avLst/>
          </a:prstGeom>
          <a:noFill/>
        </p:spPr>
        <p:txBody>
          <a:bodyPr wrap="square" lIns="45720" rIns="45720" tIns="27432" bIns="27432" anchor="t">
            <a:spAutoFit/>
          </a:bodyPr>
          <a:lstStyle/>
          <a:p>
            <a:pPr algn="l">
              <a:lnSpc>
                <a:spcPct val="100000"/>
              </a:lnSpc>
            </a:pPr>
            <a:r>
              <a:rPr sz="1050" b="0" i="0">
                <a:solidFill>
                  <a:srgbClr val="E6EDF3"/>
                </a:solidFill>
                <a:latin typeface="Consolas"/>
              </a:rPr>
              <a:t>{"ID": "tier-iceberg-trading-trade_endur-2026-03",</a:t>
            </a:r>
          </a:p>
          <a:p>
            <a:pPr algn="l">
              <a:lnSpc>
                <a:spcPct val="100000"/>
              </a:lnSpc>
            </a:pPr>
            <a:r>
              <a:rPr sz="1050" b="0" i="0">
                <a:solidFill>
                  <a:srgbClr val="E6EDF3"/>
                </a:solidFill>
                <a:latin typeface="Consolas"/>
              </a:rPr>
              <a:t> "Status": "Enabled",</a:t>
            </a:r>
          </a:p>
          <a:p>
            <a:pPr algn="l">
              <a:lnSpc>
                <a:spcPct val="100000"/>
              </a:lnSpc>
            </a:pPr>
            <a:r>
              <a:rPr sz="1050" b="0" i="0">
                <a:solidFill>
                  <a:srgbClr val="E6EDF3"/>
                </a:solidFill>
                <a:latin typeface="Consolas"/>
              </a:rPr>
              <a:t> "Filter": {"And": {</a:t>
            </a:r>
          </a:p>
          <a:p>
            <a:pPr algn="l">
              <a:lnSpc>
                <a:spcPct val="100000"/>
              </a:lnSpc>
            </a:pPr>
            <a:r>
              <a:rPr sz="1050" b="0" i="0">
                <a:solidFill>
                  <a:srgbClr val="E6EDF3"/>
                </a:solidFill>
                <a:latin typeface="Consolas"/>
              </a:rPr>
              <a:t>   "Prefix": "iceberg/trading/trade_endur/data/business_date=2026-03",</a:t>
            </a:r>
          </a:p>
          <a:p>
            <a:pPr algn="l">
              <a:lnSpc>
                <a:spcPct val="100000"/>
              </a:lnSpc>
            </a:pPr>
            <a:r>
              <a:rPr sz="1050" b="0" i="0">
                <a:solidFill>
                  <a:srgbClr val="E6EDF3"/>
                </a:solidFill>
                <a:latin typeface="Consolas"/>
              </a:rPr>
              <a:t>   "ObjectSizeGreaterThan": 131072}},</a:t>
            </a:r>
          </a:p>
          <a:p>
            <a:pPr algn="l">
              <a:lnSpc>
                <a:spcPct val="100000"/>
              </a:lnSpc>
            </a:pPr>
            <a:r>
              <a:rPr sz="1050" b="0" i="0">
                <a:solidFill>
                  <a:srgbClr val="E6EDF3"/>
                </a:solidFill>
                <a:latin typeface="Consolas"/>
              </a:rPr>
              <a:t> "Transitions": [</a:t>
            </a:r>
          </a:p>
          <a:p>
            <a:pPr algn="l">
              <a:lnSpc>
                <a:spcPct val="100000"/>
              </a:lnSpc>
            </a:pPr>
            <a:r>
              <a:rPr sz="1050" b="0" i="0">
                <a:solidFill>
                  <a:srgbClr val="E6EDF3"/>
                </a:solidFill>
                <a:latin typeface="Consolas"/>
              </a:rPr>
              <a:t>   {"Date": "2026-06-29T00:00:00Z", "StorageClass": "STANDARD_IA"},</a:t>
            </a:r>
          </a:p>
          <a:p>
            <a:pPr algn="l">
              <a:lnSpc>
                <a:spcPct val="100000"/>
              </a:lnSpc>
            </a:pPr>
            <a:r>
              <a:rPr sz="1050" b="0" i="0">
                <a:solidFill>
                  <a:srgbClr val="E6EDF3"/>
                </a:solidFill>
                <a:latin typeface="Consolas"/>
              </a:rPr>
              <a:t>   {"Date": "2028-03-30T00:00:00Z", "StorageClass": "GLACIER_IR"}]}</a:t>
            </a:r>
          </a:p>
        </p:txBody>
      </p:sp>
      <p:sp>
        <p:nvSpPr>
          <p:cNvPr id="11" name="TextBox 10"/>
          <p:cNvSpPr txBox="1"/>
          <p:nvPr/>
        </p:nvSpPr>
        <p:spPr>
          <a:xfrm>
            <a:off x="7406640" y="1143000"/>
            <a:ext cx="4370832" cy="2194560"/>
          </a:xfrm>
          <a:prstGeom prst="rect">
            <a:avLst/>
          </a:prstGeom>
          <a:noFill/>
        </p:spPr>
        <p:txBody>
          <a:bodyPr wrap="square" lIns="45720" rIns="45720" tIns="27432" bIns="27432" anchor="t">
            <a:spAutoFit/>
          </a:bodyPr>
          <a:lstStyle/>
          <a:p>
            <a:pPr algn="l">
              <a:lnSpc>
                <a:spcPct val="105000"/>
              </a:lnSpc>
              <a:spcAft>
                <a:spcPts val="500"/>
              </a:spcAft>
            </a:pPr>
            <a:r>
              <a:rPr sz="1300" b="0" i="0">
                <a:solidFill>
                  <a:srgbClr val="E87A1E"/>
                </a:solidFill>
                <a:latin typeface="Calibri"/>
              </a:rPr>
              <a:t>•  </a:t>
            </a:r>
            <a:r>
              <a:rPr sz="1300" b="0" i="0">
                <a:solidFill>
                  <a:srgbClr val="1C2433"/>
                </a:solidFill>
                <a:latin typeface="Calibri"/>
              </a:rPr>
              <a:t>Same rule shape, same dates, same tiers as Delta</a:t>
            </a:r>
          </a:p>
          <a:p>
            <a:pPr algn="l">
              <a:lnSpc>
                <a:spcPct val="105000"/>
              </a:lnSpc>
              <a:spcAft>
                <a:spcPts val="500"/>
              </a:spcAft>
            </a:pPr>
            <a:r>
              <a:rPr sz="1300" b="0" i="0">
                <a:solidFill>
                  <a:srgbClr val="E87A1E"/>
                </a:solidFill>
                <a:latin typeface="Calibri"/>
              </a:rPr>
              <a:t>•  </a:t>
            </a:r>
            <a:r>
              <a:rPr sz="1300" b="0" i="0">
                <a:solidFill>
                  <a:srgbClr val="1C2433"/>
                </a:solidFill>
                <a:latin typeface="Calibri"/>
              </a:rPr>
              <a:t>Prefix: </a:t>
            </a:r>
            <a:r>
              <a:rPr sz="1200" b="0" i="0">
                <a:solidFill>
                  <a:srgbClr val="0E7C86"/>
                </a:solidFill>
                <a:latin typeface="Consolas"/>
              </a:rPr>
              <a:t>…/&lt;table&gt;/data/business_date=YYYY-MM</a:t>
            </a:r>
          </a:p>
          <a:p>
            <a:pPr algn="l">
              <a:lnSpc>
                <a:spcPct val="105000"/>
              </a:lnSpc>
              <a:spcAft>
                <a:spcPts val="500"/>
              </a:spcAft>
            </a:pPr>
            <a:r>
              <a:rPr sz="1200" b="0" i="0">
                <a:solidFill>
                  <a:srgbClr val="E87A1E"/>
                </a:solidFill>
                <a:latin typeface="Calibri"/>
              </a:rPr>
              <a:t>•  </a:t>
            </a:r>
            <a:r>
              <a:rPr sz="1200" b="0" i="0">
                <a:solidFill>
                  <a:srgbClr val="0E7C86"/>
                </a:solidFill>
                <a:latin typeface="Consolas"/>
              </a:rPr>
              <a:t>metadata/</a:t>
            </a:r>
            <a:r>
              <a:rPr sz="1300" b="0" i="0">
                <a:solidFill>
                  <a:srgbClr val="1C2433"/>
                </a:solidFill>
                <a:latin typeface="Calibri"/>
              </a:rPr>
              <a:t> never matches: metadata JSON, manifest lists and manifests stay in Standard</a:t>
            </a:r>
          </a:p>
        </p:txBody>
      </p:sp>
      <p:sp>
        <p:nvSpPr>
          <p:cNvPr id="12" name="Rounded Rectangle 11"/>
          <p:cNvSpPr/>
          <p:nvPr/>
        </p:nvSpPr>
        <p:spPr>
          <a:xfrm>
            <a:off x="411480" y="3520440"/>
            <a:ext cx="2103120" cy="1097280"/>
          </a:xfrm>
          <a:prstGeom prst="roundRect">
            <a:avLst>
              <a:gd name="adj" fmla="val 8000"/>
            </a:avLst>
          </a:prstGeom>
          <a:solidFill>
            <a:srgbClr val="C8E6C9"/>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3566160"/>
            <a:ext cx="19202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0 – 90 days</a:t>
            </a:r>
          </a:p>
        </p:txBody>
      </p:sp>
      <p:sp>
        <p:nvSpPr>
          <p:cNvPr id="14" name="TextBox 13"/>
          <p:cNvSpPr txBox="1"/>
          <p:nvPr/>
        </p:nvSpPr>
        <p:spPr>
          <a:xfrm>
            <a:off x="502920" y="3931920"/>
            <a:ext cx="19202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S3 Standard</a:t>
            </a:r>
          </a:p>
        </p:txBody>
      </p:sp>
      <p:sp>
        <p:nvSpPr>
          <p:cNvPr id="15" name="Rounded Rectangle 14"/>
          <p:cNvSpPr/>
          <p:nvPr/>
        </p:nvSpPr>
        <p:spPr>
          <a:xfrm>
            <a:off x="2587752" y="3520440"/>
            <a:ext cx="3017520" cy="1097280"/>
          </a:xfrm>
          <a:prstGeom prst="roundRect">
            <a:avLst>
              <a:gd name="adj" fmla="val 8000"/>
            </a:avLst>
          </a:prstGeom>
          <a:solidFill>
            <a:srgbClr val="FFE0B2"/>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2679192" y="3566160"/>
            <a:ext cx="2834639"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90 days – 2 years</a:t>
            </a:r>
          </a:p>
        </p:txBody>
      </p:sp>
      <p:sp>
        <p:nvSpPr>
          <p:cNvPr id="17" name="TextBox 16"/>
          <p:cNvSpPr txBox="1"/>
          <p:nvPr/>
        </p:nvSpPr>
        <p:spPr>
          <a:xfrm>
            <a:off x="2679192" y="3931920"/>
            <a:ext cx="2834639"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Standard-IA</a:t>
            </a:r>
          </a:p>
        </p:txBody>
      </p:sp>
      <p:sp>
        <p:nvSpPr>
          <p:cNvPr id="18" name="Rounded Rectangle 17"/>
          <p:cNvSpPr/>
          <p:nvPr/>
        </p:nvSpPr>
        <p:spPr>
          <a:xfrm>
            <a:off x="5678424" y="3520440"/>
            <a:ext cx="3291840" cy="1097280"/>
          </a:xfrm>
          <a:prstGeom prst="roundRect">
            <a:avLst>
              <a:gd name="adj" fmla="val 8000"/>
            </a:avLst>
          </a:prstGeom>
          <a:solidFill>
            <a:srgbClr val="BBDEFB"/>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769864" y="3566160"/>
            <a:ext cx="310896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2 years – kept days</a:t>
            </a:r>
          </a:p>
        </p:txBody>
      </p:sp>
      <p:sp>
        <p:nvSpPr>
          <p:cNvPr id="20" name="TextBox 19"/>
          <p:cNvSpPr txBox="1"/>
          <p:nvPr/>
        </p:nvSpPr>
        <p:spPr>
          <a:xfrm>
            <a:off x="5769864" y="3931920"/>
            <a:ext cx="310896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Glacier Instant Retrieval</a:t>
            </a:r>
          </a:p>
        </p:txBody>
      </p:sp>
      <p:sp>
        <p:nvSpPr>
          <p:cNvPr id="21" name="Rounded Rectangle 20"/>
          <p:cNvSpPr/>
          <p:nvPr/>
        </p:nvSpPr>
        <p:spPr>
          <a:xfrm>
            <a:off x="9043416" y="3520440"/>
            <a:ext cx="2743200" cy="1097280"/>
          </a:xfrm>
          <a:prstGeom prst="roundRect">
            <a:avLst>
              <a:gd name="adj" fmla="val 8000"/>
            </a:avLst>
          </a:prstGeom>
          <a:solidFill>
            <a:srgbClr val="ECEFF1"/>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134856" y="3566160"/>
            <a:ext cx="2560320" cy="365760"/>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beyond</a:t>
            </a:r>
          </a:p>
        </p:txBody>
      </p:sp>
      <p:sp>
        <p:nvSpPr>
          <p:cNvPr id="23" name="TextBox 22"/>
          <p:cNvSpPr txBox="1"/>
          <p:nvPr/>
        </p:nvSpPr>
        <p:spPr>
          <a:xfrm>
            <a:off x="9134856" y="3931920"/>
            <a:ext cx="2560320" cy="64008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removed by </a:t>
            </a:r>
            <a:r>
              <a:rPr sz="1100" b="0" i="0">
                <a:solidFill>
                  <a:srgbClr val="0E7C86"/>
                </a:solidFill>
                <a:latin typeface="Consolas"/>
              </a:rPr>
              <a:t>--keep-days</a:t>
            </a:r>
            <a:r>
              <a:rPr sz="1200" b="0" i="0">
                <a:solidFill>
                  <a:srgbClr val="1C2433"/>
                </a:solidFill>
                <a:latin typeface="Calibri"/>
              </a:rPr>
              <a:t> → </a:t>
            </a:r>
            <a:r>
              <a:rPr sz="1100" b="0" i="0">
                <a:solidFill>
                  <a:srgbClr val="0E7C86"/>
                </a:solidFill>
                <a:latin typeface="Consolas"/>
              </a:rPr>
              <a:t>--expire-hours</a:t>
            </a:r>
          </a:p>
        </p:txBody>
      </p:sp>
      <p:sp>
        <p:nvSpPr>
          <p:cNvPr id="24" name="Rounded Rectangle 23"/>
          <p:cNvSpPr/>
          <p:nvPr/>
        </p:nvSpPr>
        <p:spPr>
          <a:xfrm>
            <a:off x="411480" y="4846320"/>
            <a:ext cx="11365992" cy="146304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411480" y="4846320"/>
            <a:ext cx="82296" cy="146304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640080" y="4901183"/>
            <a:ext cx="11000232" cy="135331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Iceberg-specific risks:</a:t>
            </a:r>
            <a:r>
              <a:rPr sz="1300" b="0" i="0">
                <a:solidFill>
                  <a:srgbClr val="1C2433"/>
                </a:solidFill>
                <a:latin typeface="Calibri"/>
              </a:rPr>
              <a:t> a manifest still names every data file of an old day, so </a:t>
            </a:r>
            <a:r>
              <a:rPr sz="1300" b="1" i="0">
                <a:solidFill>
                  <a:srgbClr val="1C2433"/>
                </a:solidFill>
                <a:latin typeface="Calibri"/>
              </a:rPr>
              <a:t>never</a:t>
            </a:r>
            <a:r>
              <a:rPr sz="1300" b="0" i="0">
                <a:solidFill>
                  <a:srgbClr val="1C2433"/>
                </a:solidFill>
                <a:latin typeface="Calibri"/>
              </a:rPr>
              <a:t> an S3 expiry on table files (the table breaks); and Glacier Flexible Retrieval or Deep Archive would make a planned read wait hours. Only </a:t>
            </a:r>
            <a:r>
              <a:rPr sz="1200" b="0" i="0">
                <a:solidFill>
                  <a:srgbClr val="0E7C86"/>
                </a:solidFill>
                <a:latin typeface="Consolas"/>
              </a:rPr>
              <a:t>IcebergMaintenance</a:t>
            </a:r>
            <a:r>
              <a:rPr sz="1300" b="0" i="0">
                <a:solidFill>
                  <a:srgbClr val="1C2433"/>
                </a:solidFill>
                <a:latin typeface="Calibri"/>
              </a:rPr>
              <a:t> removes files, then S3 keeps noncurrent versions 14 days.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07</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The layout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Prefixes and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37</a:t>
            </a:r>
          </a:p>
        </p:txBody>
      </p:sp>
      <p:sp>
        <p:nvSpPr>
          <p:cNvPr id="9" name="Rounded Rectangle 8"/>
          <p:cNvSpPr/>
          <p:nvPr/>
        </p:nvSpPr>
        <p:spPr>
          <a:xfrm>
            <a:off x="411480" y="1143000"/>
            <a:ext cx="7040880" cy="51663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821424" cy="5020056"/>
          </a:xfrm>
          <a:prstGeom prst="rect">
            <a:avLst/>
          </a:prstGeom>
          <a:noFill/>
        </p:spPr>
        <p:txBody>
          <a:bodyPr wrap="square" lIns="45720" rIns="45720" tIns="27432" bIns="27432" anchor="t">
            <a:spAutoFit/>
          </a:bodyPr>
          <a:lstStyle/>
          <a:p>
            <a:pPr algn="l">
              <a:lnSpc>
                <a:spcPct val="100000"/>
              </a:lnSpc>
            </a:pPr>
            <a:r>
              <a:rPr sz="1250" b="0" i="0">
                <a:solidFill>
                  <a:srgbClr val="E6EDF3"/>
                </a:solidFill>
                <a:latin typeface="Consolas"/>
              </a:rPr>
              <a:t>s3://acme-drishti-prod-lake/</a:t>
            </a:r>
          </a:p>
          <a:p>
            <a:pPr algn="l">
              <a:lnSpc>
                <a:spcPct val="100000"/>
              </a:lnSpc>
            </a:pPr>
            <a:r>
              <a:rPr sz="1250" b="0" i="0">
                <a:solidFill>
                  <a:srgbClr val="E6EDF3"/>
                </a:solidFill>
                <a:latin typeface="Consolas"/>
              </a:rPr>
              <a:t>├── lake/                     Delta tables (DRISHTI_DELTA_ROOT)</a:t>
            </a:r>
          </a:p>
          <a:p>
            <a:pPr algn="l">
              <a:lnSpc>
                <a:spcPct val="100000"/>
              </a:lnSpc>
            </a:pPr>
            <a:r>
              <a:rPr sz="1250" b="0" i="0">
                <a:solidFill>
                  <a:srgbClr val="E6EDF3"/>
                </a:solidFill>
                <a:latin typeface="Consolas"/>
              </a:rPr>
              <a:t>└── iceberg/                  DRISHTI_ICEBERG_ROOT = s3://…/iceberg</a:t>
            </a:r>
          </a:p>
          <a:p>
            <a:pPr algn="l">
              <a:lnSpc>
                <a:spcPct val="100000"/>
              </a:lnSpc>
            </a:pPr>
            <a:r>
              <a:rPr sz="1250" b="0" i="0">
                <a:solidFill>
                  <a:srgbClr val="E6EDF3"/>
                </a:solidFill>
                <a:latin typeface="Consolas"/>
              </a:rPr>
              <a:t>    └── trading/              the domain (a REST catalog's namespace)</a:t>
            </a:r>
          </a:p>
          <a:p>
            <a:pPr algn="l">
              <a:lnSpc>
                <a:spcPct val="100000"/>
              </a:lnSpc>
            </a:pPr>
            <a:r>
              <a:rPr sz="1250" b="0" i="0">
                <a:solidFill>
                  <a:srgbClr val="E6EDF3"/>
                </a:solidFill>
                <a:latin typeface="Consolas"/>
              </a:rPr>
              <a:t>        ├── trade_calypso/    one table per source system and kind</a:t>
            </a:r>
          </a:p>
          <a:p>
            <a:pPr algn="l">
              <a:lnSpc>
                <a:spcPct val="100000"/>
              </a:lnSpc>
            </a:pPr>
            <a:r>
              <a:rPr sz="1250" b="0" i="0">
                <a:solidFill>
                  <a:srgbClr val="E6EDF3"/>
                </a:solidFill>
                <a:latin typeface="Consolas"/>
              </a:rPr>
              <a:t>        │   ├── metadata/</a:t>
            </a:r>
          </a:p>
          <a:p>
            <a:pPr algn="l">
              <a:lnSpc>
                <a:spcPct val="100000"/>
              </a:lnSpc>
            </a:pPr>
            <a:r>
              <a:rPr sz="1250" b="0" i="0">
                <a:solidFill>
                  <a:srgbClr val="E6EDF3"/>
                </a:solidFill>
                <a:latin typeface="Consolas"/>
              </a:rPr>
              <a:t>        │   │   ├── v12.metadata.json   schema, spec, sort order,</a:t>
            </a:r>
          </a:p>
          <a:p>
            <a:pPr algn="l">
              <a:lnSpc>
                <a:spcPct val="100000"/>
              </a:lnSpc>
            </a:pPr>
            <a:r>
              <a:rPr sz="1250" b="0" i="0">
                <a:solidFill>
                  <a:srgbClr val="E6EDF3"/>
                </a:solidFill>
                <a:latin typeface="Consolas"/>
              </a:rPr>
              <a:t>        │   │   │                       properties, snapshots</a:t>
            </a:r>
          </a:p>
          <a:p>
            <a:pPr algn="l">
              <a:lnSpc>
                <a:spcPct val="100000"/>
              </a:lnSpc>
            </a:pPr>
            <a:r>
              <a:rPr sz="1250" b="0" i="0">
                <a:solidFill>
                  <a:srgbClr val="E6EDF3"/>
                </a:solidFill>
                <a:latin typeface="Consolas"/>
              </a:rPr>
              <a:t>        │   │   ├── version-hint.text   path-based tables only</a:t>
            </a:r>
          </a:p>
          <a:p>
            <a:pPr algn="l">
              <a:lnSpc>
                <a:spcPct val="100000"/>
              </a:lnSpc>
            </a:pPr>
            <a:r>
              <a:rPr sz="1250" b="0" i="0">
                <a:solidFill>
                  <a:srgbClr val="E6EDF3"/>
                </a:solidFill>
                <a:latin typeface="Consolas"/>
              </a:rPr>
              <a:t>        │   │   ├── snap-…-….avro       a manifest list per snapshot</a:t>
            </a:r>
          </a:p>
          <a:p>
            <a:pPr algn="l">
              <a:lnSpc>
                <a:spcPct val="100000"/>
              </a:lnSpc>
            </a:pPr>
            <a:r>
              <a:rPr sz="1250" b="0" i="0">
                <a:solidFill>
                  <a:srgbClr val="E6EDF3"/>
                </a:solidFill>
                <a:latin typeface="Consolas"/>
              </a:rPr>
              <a:t>        │   │   └── …-m0.avro           manifests: files, partitions,</a:t>
            </a:r>
          </a:p>
          <a:p>
            <a:pPr algn="l">
              <a:lnSpc>
                <a:spcPct val="100000"/>
              </a:lnSpc>
            </a:pPr>
            <a:r>
              <a:rPr sz="1250" b="0" i="0">
                <a:solidFill>
                  <a:srgbClr val="E6EDF3"/>
                </a:solidFill>
                <a:latin typeface="Consolas"/>
              </a:rPr>
              <a:t>        │   │                           column bounds</a:t>
            </a:r>
          </a:p>
          <a:p>
            <a:pPr algn="l">
              <a:lnSpc>
                <a:spcPct val="100000"/>
              </a:lnSpc>
            </a:pPr>
            <a:r>
              <a:rPr sz="1250" b="0" i="0">
                <a:solidFill>
                  <a:srgbClr val="E6EDF3"/>
                </a:solidFill>
                <a:latin typeface="Consolas"/>
              </a:rPr>
              <a:t>        │   └── data/</a:t>
            </a:r>
          </a:p>
          <a:p>
            <a:pPr algn="l">
              <a:lnSpc>
                <a:spcPct val="100000"/>
              </a:lnSpc>
            </a:pPr>
            <a:r>
              <a:rPr sz="1250" b="0" i="0">
                <a:solidFill>
                  <a:srgbClr val="E6EDF3"/>
                </a:solidFill>
                <a:latin typeface="Consolas"/>
              </a:rPr>
              <a:t>        │       ├── business_date=2026-10-19/</a:t>
            </a:r>
          </a:p>
          <a:p>
            <a:pPr algn="l">
              <a:lnSpc>
                <a:spcPct val="100000"/>
              </a:lnSpc>
            </a:pPr>
            <a:r>
              <a:rPr sz="1250" b="0" i="0">
                <a:solidFill>
                  <a:srgbClr val="E6EDF3"/>
                </a:solidFill>
                <a:latin typeface="Consolas"/>
              </a:rPr>
              <a:t>        │       └── business_date=2026-10-20/</a:t>
            </a:r>
          </a:p>
          <a:p>
            <a:pPr algn="l">
              <a:lnSpc>
                <a:spcPct val="100000"/>
              </a:lnSpc>
            </a:pPr>
            <a:r>
              <a:rPr sz="1250" b="0" i="0">
                <a:solidFill>
                  <a:srgbClr val="E6EDF3"/>
                </a:solidFill>
                <a:latin typeface="Consolas"/>
              </a:rPr>
              <a:t>        │           ├── 2026-10-20-00000-&lt;uuid&gt;.parquet  ids A… – C…</a:t>
            </a:r>
          </a:p>
          <a:p>
            <a:pPr algn="l">
              <a:lnSpc>
                <a:spcPct val="100000"/>
              </a:lnSpc>
            </a:pPr>
            <a:r>
              <a:rPr sz="1250" b="0" i="0">
                <a:solidFill>
                  <a:srgbClr val="E6EDF3"/>
                </a:solidFill>
                <a:latin typeface="Consolas"/>
              </a:rPr>
              <a:t>        │           └── 2026-10-20-00001-&lt;uuid&gt;.parquet  ids C… – Z…</a:t>
            </a:r>
          </a:p>
          <a:p>
            <a:pPr algn="l">
              <a:lnSpc>
                <a:spcPct val="100000"/>
              </a:lnSpc>
            </a:pPr>
            <a:r>
              <a:rPr sz="1250" b="0" i="0">
                <a:solidFill>
                  <a:srgbClr val="E6EDF3"/>
                </a:solidFill>
                <a:latin typeface="Consolas"/>
              </a:rPr>
              <a:t>        └── trade_murex/ …</a:t>
            </a:r>
          </a:p>
        </p:txBody>
      </p:sp>
      <p:graphicFrame>
        <p:nvGraphicFramePr>
          <p:cNvPr id="11" name="Table 10"/>
          <p:cNvGraphicFramePr>
            <a:graphicFrameLocks noGrp="1"/>
          </p:cNvGraphicFramePr>
          <p:nvPr/>
        </p:nvGraphicFramePr>
        <p:xfrm>
          <a:off x="7635240" y="1143000"/>
          <a:ext cx="4142232" cy="3441850"/>
        </p:xfrm>
        <a:graphic>
          <a:graphicData uri="http://schemas.openxmlformats.org/drawingml/2006/table">
            <a:tbl>
              <a:tblPr firstRow="1" bandRow="1">
                <a:tableStyleId>{5940675A-B579-460E-94D1-54222C63F5DA}</a:tableStyleId>
              </a:tblPr>
              <a:tblGrid>
                <a:gridCol w="1737360"/>
                <a:gridCol w="2404872"/>
              </a:tblGrid>
              <a:tr h="435254">
                <a:tc>
                  <a:txBody>
                    <a:bodyPr wrap="square"/>
                    <a:lstStyle/>
                    <a:p>
                      <a:pPr algn="l">
                        <a:lnSpc>
                          <a:spcPct val="100000"/>
                        </a:lnSpc>
                      </a:pPr>
                      <a:r>
                        <a:rPr sz="1150" b="1" i="0">
                          <a:solidFill>
                            <a:srgbClr val="FFFFFF"/>
                          </a:solidFill>
                          <a:latin typeface="Calibri"/>
                        </a:rPr>
                        <a:t>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876376">
                <a:tc>
                  <a:txBody>
                    <a:bodyPr wrap="square"/>
                    <a:lstStyle/>
                    <a:p>
                      <a:pPr algn="l">
                        <a:lnSpc>
                          <a:spcPct val="100000"/>
                        </a:lnSpc>
                      </a:pPr>
                      <a:r>
                        <a:rPr sz="1150" b="1" i="0">
                          <a:solidFill>
                            <a:srgbClr val="1C2433"/>
                          </a:solidFill>
                          <a:latin typeface="Calibri"/>
                        </a:rPr>
                        <a:t>One table per source system and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each source loads, restates and fails on its own (</a:t>
                      </a:r>
                      <a:r>
                        <a:rPr sz="1050" b="0" i="0">
                          <a:solidFill>
                            <a:srgbClr val="0E7C86"/>
                          </a:solidFill>
                          <a:latin typeface="Consolas"/>
                        </a:rPr>
                        <a:t>table.trade: trade_calypso</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Domain as the first folder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connector's </a:t>
                      </a:r>
                      <a:r>
                        <a:rPr sz="1050" b="0" i="0">
                          <a:solidFill>
                            <a:srgbClr val="0E7C86"/>
                          </a:solidFill>
                          <a:latin typeface="Consolas"/>
                        </a:rPr>
                        <a:t>domain</a:t>
                      </a:r>
                      <a:r>
                        <a:rPr sz="1150" b="0" i="0">
                          <a:solidFill>
                            <a:srgbClr val="1C2433"/>
                          </a:solidFill>
                          <a:latin typeface="Calibri"/>
                        </a:rPr>
                        <a:t>; IAM and lifecycle can name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76376">
                <a:tc>
                  <a:txBody>
                    <a:bodyPr wrap="square"/>
                    <a:lstStyle/>
                    <a:p>
                      <a:pPr algn="l">
                        <a:lnSpc>
                          <a:spcPct val="100000"/>
                        </a:lnSpc>
                      </a:pPr>
                      <a:r>
                        <a:rPr sz="1050" b="1" i="0">
                          <a:solidFill>
                            <a:srgbClr val="0E7C86"/>
                          </a:solidFill>
                          <a:latin typeface="Consolas"/>
                        </a:rPr>
                        <a:t>metadata/</a:t>
                      </a:r>
                      <a:r>
                        <a:rPr sz="1150" b="1" i="0">
                          <a:solidFill>
                            <a:srgbClr val="1C2433"/>
                          </a:solidFill>
                          <a:latin typeface="Calibri"/>
                        </a:rPr>
                        <a:t> beside </a:t>
                      </a:r>
                      <a:r>
                        <a:rPr sz="1050" b="1" i="0">
                          <a:solidFill>
                            <a:srgbClr val="0E7C86"/>
                          </a:solidFill>
                          <a:latin typeface="Consolas"/>
                        </a:rPr>
                        <a:t>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whole table under one prefix: copy, replicate, grant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Absolute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moved table needs </a:t>
                      </a:r>
                      <a:r>
                        <a:rPr sz="1050" b="0" i="0">
                          <a:solidFill>
                            <a:srgbClr val="0E7C86"/>
                          </a:solidFill>
                          <a:latin typeface="Consolas"/>
                        </a:rPr>
                        <a:t>relocate</a:t>
                      </a:r>
                      <a:r>
                        <a:rPr sz="1150" b="0" i="0">
                          <a:solidFill>
                            <a:srgbClr val="1C2433"/>
                          </a:solidFill>
                          <a:latin typeface="Calibri"/>
                        </a:rPr>
                        <a:t>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Columns and table properties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38</a:t>
            </a:r>
          </a:p>
        </p:txBody>
      </p:sp>
      <p:graphicFrame>
        <p:nvGraphicFramePr>
          <p:cNvPr id="9" name="Table 8"/>
          <p:cNvGraphicFramePr>
            <a:graphicFrameLocks noGrp="1"/>
          </p:cNvGraphicFramePr>
          <p:nvPr/>
        </p:nvGraphicFramePr>
        <p:xfrm>
          <a:off x="411480" y="1143000"/>
          <a:ext cx="11365992" cy="1870860"/>
        </p:xfrm>
        <a:graphic>
          <a:graphicData uri="http://schemas.openxmlformats.org/drawingml/2006/table">
            <a:tbl>
              <a:tblPr firstRow="1" bandRow="1">
                <a:tableStyleId>{5940675A-B579-460E-94D1-54222C63F5DA}</a:tableStyleId>
              </a:tblPr>
              <a:tblGrid>
                <a:gridCol w="3017520"/>
                <a:gridCol w="1737360"/>
                <a:gridCol w="6611112"/>
              </a:tblGrid>
              <a:tr h="374172">
                <a:tc>
                  <a:txBody>
                    <a:bodyPr wrap="square"/>
                    <a:lstStyle/>
                    <a:p>
                      <a:pPr algn="l">
                        <a:lnSpc>
                          <a:spcPct val="100000"/>
                        </a:lnSpc>
                      </a:pPr>
                      <a:r>
                        <a:rPr sz="1200" b="1" i="0">
                          <a:solidFill>
                            <a:srgbClr val="FFFFFF"/>
                          </a:solidFill>
                          <a:latin typeface="Calibri"/>
                        </a:rPr>
                        <a:t>Column (field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Content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4172">
                <a:tc>
                  <a:txBody>
                    <a:bodyPr wrap="square"/>
                    <a:lstStyle/>
                    <a:p>
                      <a:pPr algn="l">
                        <a:lnSpc>
                          <a:spcPct val="100000"/>
                        </a:lnSpc>
                      </a:pPr>
                      <a:r>
                        <a:rPr sz="1100" b="1" i="0">
                          <a:solidFill>
                            <a:srgbClr val="0E7C86"/>
                          </a:solidFill>
                          <a:latin typeface="Consolas"/>
                        </a:rPr>
                        <a:t>id</a:t>
                      </a:r>
                      <a:r>
                        <a:rPr sz="1200" b="1" i="0">
                          <a:solidFill>
                            <a:srgbClr val="1C2433"/>
                          </a:solidFill>
                          <a:latin typeface="Calibri"/>
                        </a:rPr>
                        <a:t> (1)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string,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entity's id: </a:t>
                      </a:r>
                      <a:r>
                        <a:rPr sz="1100" b="0" i="0">
                          <a:solidFill>
                            <a:srgbClr val="0E7C86"/>
                          </a:solidFill>
                          <a:latin typeface="Consolas"/>
                        </a:rPr>
                        <a:t>MX-20000001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100" b="1" i="0">
                          <a:solidFill>
                            <a:srgbClr val="0E7C86"/>
                          </a:solidFill>
                          <a:latin typeface="Consolas"/>
                        </a:rPr>
                        <a:t>doc</a:t>
                      </a:r>
                      <a:r>
                        <a:rPr sz="1200" b="1" i="0">
                          <a:solidFill>
                            <a:srgbClr val="1C2433"/>
                          </a:solidFill>
                          <a:latin typeface="Calibri"/>
                        </a:rPr>
                        <a:t>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JSON document, exactly what a view shows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4172">
                <a:tc>
                  <a:txBody>
                    <a:bodyPr wrap="square"/>
                    <a:lstStyle/>
                    <a:p>
                      <a:pPr algn="l">
                        <a:lnSpc>
                          <a:spcPct val="100000"/>
                        </a:lnSpc>
                      </a:pPr>
                      <a:r>
                        <a:rPr sz="1100" b="1" i="0">
                          <a:solidFill>
                            <a:srgbClr val="0E7C86"/>
                          </a:solidFill>
                          <a:latin typeface="Consolas"/>
                        </a:rPr>
                        <a:t>business_date</a:t>
                      </a:r>
                      <a:r>
                        <a:rPr sz="1200" b="1" i="0">
                          <a:solidFill>
                            <a:srgbClr val="1C2433"/>
                          </a:solidFill>
                          <a:latin typeface="Calibri"/>
                        </a:rPr>
                        <a:t> (3)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date,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identity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200" b="1" i="0">
                          <a:solidFill>
                            <a:srgbClr val="1C2433"/>
                          </a:solidFill>
                          <a:latin typeface="Calibri"/>
                        </a:rPr>
                        <a:t>promoted (</a:t>
                      </a:r>
                      <a:r>
                        <a:rPr sz="1100" b="1" i="0">
                          <a:solidFill>
                            <a:srgbClr val="0E7C86"/>
                          </a:solidFill>
                          <a:latin typeface="Consolas"/>
                        </a:rPr>
                        <a:t>TRADE_ID</a:t>
                      </a:r>
                      <a:r>
                        <a:rPr sz="1200" b="1" i="0">
                          <a:solidFill>
                            <a:srgbClr val="1C2433"/>
                          </a:solidFill>
                          <a:latin typeface="Calibri"/>
                        </a:rPr>
                        <a:t>, </a:t>
                      </a:r>
                      <a:r>
                        <a:rPr sz="1100" b="1" i="0">
                          <a:solidFill>
                            <a:srgbClr val="0E7C86"/>
                          </a:solidFill>
                          <a:latin typeface="Consolas"/>
                        </a:rPr>
                        <a:t>PORTFOLIO</a:t>
                      </a:r>
                      <a:r>
                        <a:rPr sz="1200" b="1" i="0">
                          <a:solidFill>
                            <a:srgbClr val="1C2433"/>
                          </a:solidFill>
                          <a:latin typeface="Calibri"/>
                        </a:rPr>
                        <a:t>,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 / double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pack's </a:t>
                      </a:r>
                      <a:r>
                        <a:rPr sz="1100" b="0" i="0">
                          <a:solidFill>
                            <a:srgbClr val="0E7C86"/>
                          </a:solidFill>
                          <a:latin typeface="Consolas"/>
                        </a:rPr>
                        <a:t>layout.&lt;kind&gt;.columns</a:t>
                      </a:r>
                      <a:r>
                        <a:rPr sz="1200" b="0" i="0">
                          <a:solidFill>
                            <a:srgbClr val="1C2433"/>
                          </a:solidFill>
                          <a:latin typeface="Calibri"/>
                        </a:rPr>
                        <a:t>; </a:t>
                      </a:r>
                      <a:r>
                        <a:rPr sz="1100" b="0" i="0">
                          <a:solidFill>
                            <a:srgbClr val="0E7C86"/>
                          </a:solidFill>
                          <a:latin typeface="Consolas"/>
                        </a:rPr>
                        <a:t>LEGS.CURRENCY</a:t>
                      </a:r>
                      <a:r>
                        <a:rPr sz="1200" b="0" i="0">
                          <a:solidFill>
                            <a:srgbClr val="1C2433"/>
                          </a:solidFill>
                          <a:latin typeface="Calibri"/>
                        </a:rPr>
                        <a:t> → </a:t>
                      </a:r>
                      <a:r>
                        <a:rPr sz="1100" b="0" i="0">
                          <a:solidFill>
                            <a:srgbClr val="0E7C86"/>
                          </a:solidFill>
                          <a:latin typeface="Consolas"/>
                        </a:rPr>
                        <a:t>LEGS__CURRENCY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3337560"/>
          <a:ext cx="11365992" cy="2806290"/>
        </p:xfrm>
        <a:graphic>
          <a:graphicData uri="http://schemas.openxmlformats.org/drawingml/2006/table">
            <a:tbl>
              <a:tblPr firstRow="1" bandRow="1">
                <a:tableStyleId>{5940675A-B579-460E-94D1-54222C63F5DA}</a:tableStyleId>
              </a:tblPr>
              <a:tblGrid>
                <a:gridCol w="3566160"/>
                <a:gridCol w="2651760"/>
                <a:gridCol w="5148072"/>
              </a:tblGrid>
              <a:tr h="311810">
                <a:tc>
                  <a:txBody>
                    <a:bodyPr wrap="square"/>
                    <a:lstStyle/>
                    <a:p>
                      <a:pPr algn="l">
                        <a:lnSpc>
                          <a:spcPct val="100000"/>
                        </a:lnSpc>
                      </a:pPr>
                      <a:r>
                        <a:rPr sz="1150" b="1" i="0">
                          <a:solidFill>
                            <a:srgbClr val="FFFFFF"/>
                          </a:solidFill>
                          <a:latin typeface="Calibri"/>
                        </a:rPr>
                        <a:t>Property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1810">
                <a:tc>
                  <a:txBody>
                    <a:bodyPr wrap="square"/>
                    <a:lstStyle/>
                    <a:p>
                      <a:pPr algn="l">
                        <a:lnSpc>
                          <a:spcPct val="100000"/>
                        </a:lnSpc>
                      </a:pPr>
                      <a:r>
                        <a:rPr sz="1150" b="1" i="0">
                          <a:solidFill>
                            <a:srgbClr val="1C2433"/>
                          </a:solidFill>
                          <a:latin typeface="Calibri"/>
                        </a:rPr>
                        <a:t>partition spec / sort order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identity(business_date)</a:t>
                      </a:r>
                      <a:r>
                        <a:rPr sz="1150" b="0" i="0">
                          <a:solidFill>
                            <a:srgbClr val="1C2433"/>
                          </a:solidFill>
                          <a:latin typeface="Calibri"/>
                        </a:rPr>
                        <a:t> / </a:t>
                      </a:r>
                      <a:r>
                        <a:rPr sz="1050" b="0" i="0">
                          <a:solidFill>
                            <a:srgbClr val="0E7C86"/>
                          </a:solidFill>
                          <a:latin typeface="Consolas"/>
                        </a:rPr>
                        <a:t>id ASC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day is a unit; engines that honour the sort order keep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format-version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write.parquet.row-group-size-bytes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1,048,576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read decodes about 3 MB of documents (sized compressed)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write.parquet.compression-codec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zstd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about 0.7 KB per 6.5 KB trade (measured)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write.metadata.metrics.column.doc</a:t>
                      </a:r>
                      <a:r>
                        <a:rPr sz="1150" b="1" i="0">
                          <a:solidFill>
                            <a:srgbClr val="1C2433"/>
                          </a:solidFill>
                          <a:latin typeface="Calibri"/>
                        </a:rPr>
                        <a:t> / </a:t>
                      </a:r>
                      <a:r>
                        <a:rPr sz="1050" b="1" i="0">
                          <a:solidFill>
                            <a:srgbClr val="0E7C86"/>
                          </a:solidFill>
                          <a:latin typeface="Consolas"/>
                        </a:rPr>
                        <a:t>.id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 full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 bounds of documents; exact id bounds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write.metadata.previous-versions-max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50 (delete after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old metadata files removed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commit.retry.num-retries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concurrent day commits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drishti.layout.file-rows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rows per file; maintenance re-cuts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Partitions, and what each read needs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39</a:t>
            </a:r>
          </a:p>
        </p:txBody>
      </p:sp>
      <p:graphicFrame>
        <p:nvGraphicFramePr>
          <p:cNvPr id="9" name="Table 8"/>
          <p:cNvGraphicFramePr>
            <a:graphicFrameLocks noGrp="1"/>
          </p:cNvGraphicFramePr>
          <p:nvPr/>
        </p:nvGraphicFramePr>
        <p:xfrm>
          <a:off x="411480" y="1143000"/>
          <a:ext cx="11365992" cy="2040940"/>
        </p:xfrm>
        <a:graphic>
          <a:graphicData uri="http://schemas.openxmlformats.org/drawingml/2006/table">
            <a:tbl>
              <a:tblPr firstRow="1" bandRow="1">
                <a:tableStyleId>{5940675A-B579-460E-94D1-54222C63F5DA}</a:tableStyleId>
              </a:tblPr>
              <a:tblGrid>
                <a:gridCol w="1737360"/>
                <a:gridCol w="2560320"/>
                <a:gridCol w="2834640"/>
                <a:gridCol w="4233672"/>
              </a:tblGrid>
              <a:tr h="373075">
                <a:tc>
                  <a:txBody>
                    <a:bodyPr wrap="square"/>
                    <a:lstStyle/>
                    <a:p>
                      <a:pPr algn="l">
                        <a:lnSpc>
                          <a:spcPct val="100000"/>
                        </a:lnSpc>
                      </a:pPr>
                      <a:r>
                        <a:rPr sz="1200" b="1" i="0">
                          <a:solidFill>
                            <a:srgbClr val="FFFFFF"/>
                          </a:solidFill>
                          <a:latin typeface="Calibri"/>
                        </a:rPr>
                        <a:t>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55955">
                <a:tc>
                  <a:txBody>
                    <a:bodyPr wrap="square"/>
                    <a:lstStyle/>
                    <a:p>
                      <a:pPr algn="l">
                        <a:lnSpc>
                          <a:spcPct val="100000"/>
                        </a:lnSpc>
                      </a:pPr>
                      <a:r>
                        <a:rPr sz="1200" b="1" i="0">
                          <a:solidFill>
                            <a:srgbClr val="1C2433"/>
                          </a:solidFill>
                          <a:latin typeface="Calibri"/>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first partition key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only partition (identity)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interactive read names a date; a day is loaded, restated, dropped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5955">
                <a:tc>
                  <a:txBody>
                    <a:bodyPr wrap="square"/>
                    <a:lstStyle/>
                    <a:p>
                      <a:pPr algn="l">
                        <a:lnSpc>
                          <a:spcPct val="100000"/>
                        </a:lnSpc>
                      </a:pPr>
                      <a:r>
                        <a:rPr sz="1200" b="1" i="0">
                          <a:solidFill>
                            <a:srgbClr val="1C2433"/>
                          </a:solidFill>
                          <a:latin typeface="Calibri"/>
                        </a:rPr>
                        <a:t>PRODUCT_TYPE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second key (</a:t>
                      </a:r>
                      <a:r>
                        <a:rPr sz="1100" b="0" i="0">
                          <a:solidFill>
                            <a:srgbClr val="0E7C86"/>
                          </a:solidFill>
                          <a:latin typeface="Consolas"/>
                        </a:rPr>
                        <a:t>--partition-by</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needs it to sort a partition in one batch; Iceberg sorts a whole day externally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55955">
                <a:tc>
                  <a:txBody>
                    <a:bodyPr wrap="square"/>
                    <a:lstStyle/>
                    <a:p>
                      <a:pPr algn="l">
                        <a:lnSpc>
                          <a:spcPct val="100000"/>
                        </a:lnSpc>
                      </a:pPr>
                      <a:r>
                        <a:rPr sz="1200" b="1" i="0">
                          <a:solidFill>
                            <a:srgbClr val="1C2433"/>
                          </a:solidFill>
                          <a:latin typeface="Calibri"/>
                        </a:rPr>
                        <a:t>Hidden transforms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read for any table (</a:t>
                      </a:r>
                      <a:r>
                        <a:rPr sz="1100" b="0" i="0">
                          <a:solidFill>
                            <a:srgbClr val="0E7C86"/>
                          </a:solidFill>
                          <a:latin typeface="Consolas"/>
                        </a:rPr>
                        <a:t>day(ts)</a:t>
                      </a:r>
                      <a:r>
                        <a:rPr sz="1200" b="0" i="0">
                          <a:solidFill>
                            <a:srgbClr val="1C2433"/>
                          </a:solidFill>
                          <a:latin typeface="Calibri"/>
                        </a:rPr>
                        <a:t>, </a:t>
                      </a:r>
                      <a:r>
                        <a:rPr sz="1100" b="0" i="0">
                          <a:solidFill>
                            <a:srgbClr val="0E7C86"/>
                          </a:solidFill>
                          <a:latin typeface="Consolas"/>
                        </a:rPr>
                        <a:t>bucket(id)</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other engines' tables, served by </a:t>
                      </a:r>
                      <a:r>
                        <a:rPr sz="1100" b="0" i="0">
                          <a:solidFill>
                            <a:srgbClr val="0E7C86"/>
                          </a:solidFill>
                          <a:latin typeface="Consolas"/>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657600"/>
          <a:ext cx="11365992" cy="2176270"/>
        </p:xfrm>
        <a:graphic>
          <a:graphicData uri="http://schemas.openxmlformats.org/drawingml/2006/table">
            <a:tbl>
              <a:tblPr firstRow="1" bandRow="1">
                <a:tableStyleId>{5940675A-B579-460E-94D1-54222C63F5DA}</a:tableStyleId>
              </a:tblPr>
              <a:tblGrid>
                <a:gridCol w="2377440"/>
                <a:gridCol w="4572000"/>
                <a:gridCol w="4416552"/>
              </a:tblGrid>
              <a:tr h="435254">
                <a:tc>
                  <a:txBody>
                    <a:bodyPr wrap="square"/>
                    <a:lstStyle/>
                    <a:p>
                      <a:pPr algn="l">
                        <a:lnSpc>
                          <a:spcPct val="100000"/>
                        </a:lnSpc>
                      </a:pPr>
                      <a:r>
                        <a:rPr sz="1200" b="1" i="0">
                          <a:solidFill>
                            <a:srgbClr val="FFFFFF"/>
                          </a:solidFill>
                          <a:latin typeface="Calibri"/>
                        </a:rPr>
                        <a:t>Need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So the table needs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id map, then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rows sorted by id; small row groups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History of 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r>
                        <a:rPr sz="1200" b="0" i="0">
                          <a:solidFill>
                            <a:srgbClr val="1C2433"/>
                          </a:solidFill>
                          <a:latin typeface="Calibri"/>
                        </a:rPr>
                        <a:t> as the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day's column set: id and promoted columns, never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searched field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 and row-group skipping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 bounds per file; footer statistics per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metrics on id and promoted columns,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08</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Files and loading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41</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1828800"/>
                <a:gridCol w="3108960"/>
                <a:gridCol w="3840480"/>
                <a:gridCol w="2587752"/>
              </a:tblGrid>
              <a:tr h="435254">
                <a:tc>
                  <a:txBody>
                    <a:bodyPr wrap="square"/>
                    <a:lstStyle/>
                    <a:p>
                      <a:pPr algn="l">
                        <a:lnSpc>
                          <a:spcPct val="100000"/>
                        </a:lnSpc>
                      </a:pPr>
                      <a:r>
                        <a:rPr sz="1200" b="1" i="0">
                          <a:solidFill>
                            <a:srgbClr val="FFFFFF"/>
                          </a:solidFill>
                          <a:latin typeface="Calibri"/>
                        </a:rPr>
                        <a:t>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Rows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250,000 (</a:t>
                      </a:r>
                      <a:r>
                        <a:rPr sz="1100" b="0" i="0">
                          <a:solidFill>
                            <a:srgbClr val="0E7C86"/>
                          </a:solidFill>
                          <a:latin typeface="Consolas"/>
                        </a:rPr>
                        <a:t>--file-rows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100" b="0" i="0">
                          <a:solidFill>
                            <a:srgbClr val="0E7C86"/>
                          </a:solidFill>
                          <a:latin typeface="Consolas"/>
                        </a:rPr>
                        <a:t>LAKE_ROW_GROUP_KB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 MB </a:t>
                      </a:r>
                      <a:r>
                        <a:rPr sz="1200" b="1" i="0">
                          <a:solidFill>
                            <a:srgbClr val="1C2433"/>
                          </a:solidFill>
                          <a:latin typeface="Calibri"/>
                        </a:rPr>
                        <a:t>compressed</a:t>
                      </a:r>
                      <a:r>
                        <a:rPr sz="1200" b="0" i="0">
                          <a:solidFill>
                            <a:srgbClr val="1C2433"/>
                          </a:solidFill>
                          <a:latin typeface="Calibri"/>
                        </a:rPr>
                        <a:t> (</a:t>
                      </a:r>
                      <a:r>
                        <a:rPr sz="1100" b="0" i="0">
                          <a:solidFill>
                            <a:srgbClr val="0E7C86"/>
                          </a:solidFill>
                          <a:latin typeface="Consolas"/>
                        </a:rPr>
                        <a:t>--row-group-mb</a:t>
                      </a:r>
                      <a:r>
                        <a:rPr sz="1200" b="0" i="0">
                          <a:solidFill>
                            <a:srgbClr val="1C2433"/>
                          </a:solidFill>
                          <a:latin typeface="Calibri"/>
                        </a:rPr>
                        <a:t>): 300–700 trades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Iceberg sizes by compressed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Compression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zstd (about 9× on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writers' choices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Statistics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log: id, business_date,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manifests: id full, promoted, none on </a:t>
                      </a:r>
                      <a:r>
                        <a:rPr sz="1100" b="0" i="0">
                          <a:solidFill>
                            <a:srgbClr val="0E7C86"/>
                          </a:solidFill>
                          <a:latin typeface="Consolas"/>
                        </a:rPr>
                        <a:t>doc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Sort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within a batch (</a:t>
                      </a:r>
                      <a:r>
                        <a:rPr sz="1100" b="0" i="0">
                          <a:solidFill>
                            <a:srgbClr val="0E7C86"/>
                          </a:solidFill>
                          <a:latin typeface="Consolas"/>
                        </a:rPr>
                        <a:t>LAKE_BATCH_ROWS</a:t>
                      </a:r>
                      <a:r>
                        <a:rPr sz="1200" b="0" i="0">
                          <a:solidFill>
                            <a:srgbClr val="1C2433"/>
                          </a:solidFill>
                          <a:latin typeface="Calibri"/>
                        </a:rPr>
                        <a:t> 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by id over the whole day (external sort, spill)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 partition-size limit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Commit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table per day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day of ≥ 100,000 rows; small days together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fewer commits for 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History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30 days, files 7 days (7 years in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snapshots 168 h (</a:t>
                      </a:r>
                      <a:r>
                        <a:rPr sz="1100" b="0" i="0">
                          <a:solidFill>
                            <a:srgbClr val="0E7C86"/>
                          </a:solidFill>
                          <a:latin typeface="Consolas"/>
                        </a:rPr>
                        <a:t>--expire-hours</a:t>
                      </a:r>
                      <a:r>
                        <a:rPr sz="1200" b="0" i="0">
                          <a:solidFill>
                            <a:srgbClr val="1C2433"/>
                          </a:solidFill>
                          <a:latin typeface="Calibri"/>
                        </a:rPr>
                        <a:t>); metadata 50 versions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see section 13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Sorted by id, one commit per day</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42</a:t>
            </a:r>
          </a:p>
        </p:txBody>
      </p:sp>
      <p:sp>
        <p:nvSpPr>
          <p:cNvPr id="9" name="Rounded Rectangle 8"/>
          <p:cNvSpPr/>
          <p:nvPr/>
        </p:nvSpPr>
        <p:spPr>
          <a:xfrm>
            <a:off x="41148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read</a:t>
            </a:r>
          </a:p>
        </p:txBody>
      </p:sp>
      <p:sp>
        <p:nvSpPr>
          <p:cNvPr id="11" name="TextBox 10"/>
          <p:cNvSpPr txBox="1"/>
          <p:nvPr/>
        </p:nvSpPr>
        <p:spPr>
          <a:xfrm>
            <a:off x="50292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JSON Lines from a file or stdin; dates after tomorrow refused</a:t>
            </a:r>
          </a:p>
        </p:txBody>
      </p:sp>
      <p:cxnSp>
        <p:nvCxnSpPr>
          <p:cNvPr id="12" name="Connector 11"/>
          <p:cNvCxnSpPr/>
          <p:nvPr/>
        </p:nvCxnSpPr>
        <p:spPr>
          <a:xfrm>
            <a:off x="306324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24612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33756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sort</a:t>
            </a:r>
          </a:p>
        </p:txBody>
      </p:sp>
      <p:sp>
        <p:nvSpPr>
          <p:cNvPr id="15" name="TextBox 14"/>
          <p:cNvSpPr txBox="1"/>
          <p:nvPr/>
        </p:nvSpPr>
        <p:spPr>
          <a:xfrm>
            <a:off x="333756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per day, in memory up to </a:t>
            </a:r>
            <a:r>
              <a:rPr sz="1150" b="0" i="0">
                <a:solidFill>
                  <a:srgbClr val="0E7C86"/>
                </a:solidFill>
                <a:latin typeface="Consolas"/>
              </a:rPr>
              <a:t>--buffer-mb</a:t>
            </a:r>
            <a:r>
              <a:rPr sz="1250" b="0" i="0">
                <a:solidFill>
                  <a:srgbClr val="1C2433"/>
                </a:solidFill>
                <a:latin typeface="Calibri"/>
              </a:rPr>
              <a:t>, spilled runs beyond</a:t>
            </a:r>
          </a:p>
        </p:txBody>
      </p:sp>
      <p:cxnSp>
        <p:nvCxnSpPr>
          <p:cNvPr id="16" name="Connector 15"/>
          <p:cNvCxnSpPr/>
          <p:nvPr/>
        </p:nvCxnSpPr>
        <p:spPr>
          <a:xfrm>
            <a:off x="589788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08076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17220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merge</a:t>
            </a:r>
          </a:p>
        </p:txBody>
      </p:sp>
      <p:sp>
        <p:nvSpPr>
          <p:cNvPr id="19" name="TextBox 18"/>
          <p:cNvSpPr txBox="1"/>
          <p:nvPr/>
        </p:nvSpPr>
        <p:spPr>
          <a:xfrm>
            <a:off x="617220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runs merged in id order; files of 250,000 rows</a:t>
            </a:r>
          </a:p>
        </p:txBody>
      </p:sp>
      <p:cxnSp>
        <p:nvCxnSpPr>
          <p:cNvPr id="20" name="Connector 19"/>
          <p:cNvCxnSpPr/>
          <p:nvPr/>
        </p:nvCxnSpPr>
        <p:spPr>
          <a:xfrm>
            <a:off x="8732520" y="1874519"/>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15400" y="1188720"/>
            <a:ext cx="2651760"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006840" y="1234440"/>
            <a:ext cx="2468879" cy="329184"/>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commit</a:t>
            </a:r>
          </a:p>
        </p:txBody>
      </p:sp>
      <p:sp>
        <p:nvSpPr>
          <p:cNvPr id="23" name="TextBox 22"/>
          <p:cNvSpPr txBox="1"/>
          <p:nvPr/>
        </p:nvSpPr>
        <p:spPr>
          <a:xfrm>
            <a:off x="9006840" y="1554480"/>
            <a:ext cx="2468879" cy="96012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one overwrite of the day's partition: readers see the old day or the new</a:t>
            </a:r>
          </a:p>
        </p:txBody>
      </p:sp>
      <p:sp>
        <p:nvSpPr>
          <p:cNvPr id="24" name="TextBox 23"/>
          <p:cNvSpPr txBox="1"/>
          <p:nvPr/>
        </p:nvSpPr>
        <p:spPr>
          <a:xfrm>
            <a:off x="411480" y="2788920"/>
            <a:ext cx="6766560" cy="356616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A file holds a contiguous id range; manifests keep each file's min and max </a:t>
            </a:r>
            <a:r>
              <a:rPr sz="1250" b="0" i="0">
                <a:solidFill>
                  <a:srgbClr val="0E7C86"/>
                </a:solidFill>
                <a:latin typeface="Consolas"/>
              </a:rPr>
              <a:t>id</a:t>
            </a:r>
            <a:r>
              <a:rPr sz="1350" b="0" i="0">
                <a:solidFill>
                  <a:srgbClr val="1C2433"/>
                </a:solidFill>
                <a:latin typeface="Calibri"/>
              </a:rPr>
              <a:t>; footers each row group's: one id reads one row group</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Sorting has </a:t>
            </a:r>
            <a:r>
              <a:rPr sz="1350" b="1" i="0">
                <a:solidFill>
                  <a:srgbClr val="1C2433"/>
                </a:solidFill>
                <a:latin typeface="Calibri"/>
              </a:rPr>
              <a:t>no batch limit</a:t>
            </a:r>
            <a:r>
              <a:rPr sz="1350" b="0" i="0">
                <a:solidFill>
                  <a:srgbClr val="1C2433"/>
                </a:solidFill>
                <a:latin typeface="Calibri"/>
              </a:rPr>
              <a:t> (unlike </a:t>
            </a:r>
            <a:r>
              <a:rPr sz="1250" b="0" i="0">
                <a:solidFill>
                  <a:srgbClr val="0E7C86"/>
                </a:solidFill>
                <a:latin typeface="Consolas"/>
              </a:rPr>
              <a:t>lake build</a:t>
            </a:r>
            <a:r>
              <a:rPr sz="1350" b="0" i="0">
                <a:solidFill>
                  <a:srgbClr val="1C2433"/>
                </a:solidFill>
                <a:latin typeface="Calibri"/>
              </a:rPr>
              <a:t>'s 250,000 rows): the spill directory needs about the JSON's size</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 day is replaced whole: the load is idempotent; </a:t>
            </a:r>
            <a:r>
              <a:rPr sz="1350" b="0" i="1">
                <a:solidFill>
                  <a:srgbClr val="1C2433"/>
                </a:solidFill>
                <a:latin typeface="Calibri"/>
              </a:rPr>
              <a:t>known at</a:t>
            </a:r>
            <a:r>
              <a:rPr sz="1350" b="0" i="0">
                <a:solidFill>
                  <a:srgbClr val="1C2433"/>
                </a:solidFill>
                <a:latin typeface="Calibri"/>
              </a:rPr>
              <a:t> before the commit still sees the old day</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Another engine (Spark) writes the same layout: </a:t>
            </a:r>
            <a:r>
              <a:rPr sz="1250" b="0" i="0">
                <a:solidFill>
                  <a:srgbClr val="0E7C86"/>
                </a:solidFill>
                <a:latin typeface="Consolas"/>
              </a:rPr>
              <a:t>repartitionByRange("id").sortWithinPartitions("id")</a:t>
            </a:r>
            <a:r>
              <a:rPr sz="1350" b="0" i="0">
                <a:solidFill>
                  <a:srgbClr val="1C2433"/>
                </a:solidFill>
                <a:latin typeface="Calibri"/>
              </a:rPr>
              <a:t>, </a:t>
            </a:r>
            <a:r>
              <a:rPr sz="1250" b="0" i="0">
                <a:solidFill>
                  <a:srgbClr val="0E7C86"/>
                </a:solidFill>
                <a:latin typeface="Consolas"/>
              </a:rPr>
              <a:t>WRITE ORDERED BY id</a:t>
            </a:r>
          </a:p>
        </p:txBody>
      </p:sp>
      <p:sp>
        <p:nvSpPr>
          <p:cNvPr id="25" name="Rounded Rectangle 24"/>
          <p:cNvSpPr/>
          <p:nvPr/>
        </p:nvSpPr>
        <p:spPr>
          <a:xfrm>
            <a:off x="7498079" y="278892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635240" y="2880360"/>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 40 s a million</a:t>
            </a:r>
          </a:p>
        </p:txBody>
      </p:sp>
      <p:sp>
        <p:nvSpPr>
          <p:cNvPr id="27" name="TextBox 26"/>
          <p:cNvSpPr txBox="1"/>
          <p:nvPr/>
        </p:nvSpPr>
        <p:spPr>
          <a:xfrm>
            <a:off x="7635240" y="342900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day of 1,000,000 trades written by one thread: 4 files, 0.70–0.75 GB (estimate from a trial)</a:t>
            </a:r>
          </a:p>
        </p:txBody>
      </p:sp>
      <p:sp>
        <p:nvSpPr>
          <p:cNvPr id="28" name="Rounded Rectangle 27"/>
          <p:cNvSpPr/>
          <p:nvPr/>
        </p:nvSpPr>
        <p:spPr>
          <a:xfrm>
            <a:off x="7498079" y="4434840"/>
            <a:ext cx="4279392" cy="14630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635240" y="4526279"/>
            <a:ext cx="400507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17,910 rows in 8 s</a:t>
            </a:r>
          </a:p>
        </p:txBody>
      </p:sp>
      <p:sp>
        <p:nvSpPr>
          <p:cNvPr id="30" name="TextBox 29"/>
          <p:cNvSpPr txBox="1"/>
          <p:nvPr/>
        </p:nvSpPr>
        <p:spPr>
          <a:xfrm>
            <a:off x="7635240" y="5074920"/>
            <a:ext cx="4005072" cy="77724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samples into 46 tables, measured; 30,000 trade-days in 5 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daily load on AWS: Delta's four steps, Iceberg's one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43</a:t>
            </a:r>
          </a:p>
        </p:txBody>
      </p:sp>
      <p:sp>
        <p:nvSpPr>
          <p:cNvPr id="9" name="TextBox 8"/>
          <p:cNvSpPr txBox="1"/>
          <p:nvPr/>
        </p:nvSpPr>
        <p:spPr>
          <a:xfrm>
            <a:off x="41148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Delta (built): build locally, then publish</a:t>
            </a:r>
          </a:p>
        </p:txBody>
      </p:sp>
      <p:sp>
        <p:nvSpPr>
          <p:cNvPr id="10" name="Rounded Rectangle 9"/>
          <p:cNvSpPr/>
          <p:nvPr/>
        </p:nvSpPr>
        <p:spPr>
          <a:xfrm>
            <a:off x="411480" y="155448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12" name="TextBox 11"/>
          <p:cNvSpPr txBox="1"/>
          <p:nvPr/>
        </p:nvSpPr>
        <p:spPr>
          <a:xfrm>
            <a:off x="502920" y="192024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landing → EFS scratch</a:t>
            </a:r>
          </a:p>
        </p:txBody>
      </p:sp>
      <p:cxnSp>
        <p:nvCxnSpPr>
          <p:cNvPr id="13" name="Connector 12"/>
          <p:cNvCxnSpPr/>
          <p:nvPr/>
        </p:nvCxnSpPr>
        <p:spPr>
          <a:xfrm>
            <a:off x="3108960" y="226771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42316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24688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build</a:t>
            </a:r>
          </a:p>
        </p:txBody>
      </p:sp>
      <p:sp>
        <p:nvSpPr>
          <p:cNvPr id="16" name="TextBox 15"/>
          <p:cNvSpPr txBox="1"/>
          <p:nvPr/>
        </p:nvSpPr>
        <p:spPr>
          <a:xfrm>
            <a:off x="502920" y="278892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scratch Delta table</a:t>
            </a:r>
          </a:p>
        </p:txBody>
      </p:sp>
      <p:cxnSp>
        <p:nvCxnSpPr>
          <p:cNvPr id="17" name="Connector 16"/>
          <p:cNvCxnSpPr/>
          <p:nvPr/>
        </p:nvCxnSpPr>
        <p:spPr>
          <a:xfrm>
            <a:off x="3108960" y="3136391"/>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291839"/>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3375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20" name="TextBox 19"/>
          <p:cNvSpPr txBox="1"/>
          <p:nvPr/>
        </p:nvSpPr>
        <p:spPr>
          <a:xfrm>
            <a:off x="502920" y="3657599"/>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data files → S3</a:t>
            </a:r>
          </a:p>
        </p:txBody>
      </p:sp>
      <p:cxnSp>
        <p:nvCxnSpPr>
          <p:cNvPr id="21" name="Connector 20"/>
          <p:cNvCxnSpPr/>
          <p:nvPr/>
        </p:nvCxnSpPr>
        <p:spPr>
          <a:xfrm>
            <a:off x="3108960" y="400507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11480" y="416052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420624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publish</a:t>
            </a:r>
          </a:p>
        </p:txBody>
      </p:sp>
      <p:sp>
        <p:nvSpPr>
          <p:cNvPr id="24" name="TextBox 23"/>
          <p:cNvSpPr txBox="1"/>
          <p:nvPr/>
        </p:nvSpPr>
        <p:spPr>
          <a:xfrm>
            <a:off x="502920" y="452628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one commit, conditional PUT</a:t>
            </a:r>
          </a:p>
        </p:txBody>
      </p:sp>
      <p:sp>
        <p:nvSpPr>
          <p:cNvPr id="25" name="TextBox 24"/>
          <p:cNvSpPr txBox="1"/>
          <p:nvPr/>
        </p:nvSpPr>
        <p:spPr>
          <a:xfrm>
            <a:off x="6217920" y="1143000"/>
            <a:ext cx="5559552"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Iceberg (built, </a:t>
            </a:r>
            <a:r>
              <a:rPr sz="1400" b="1" i="0">
                <a:solidFill>
                  <a:srgbClr val="0E7C86"/>
                </a:solidFill>
                <a:latin typeface="Consolas"/>
              </a:rPr>
              <a:t>iceberg/load-day.sh</a:t>
            </a:r>
            <a:r>
              <a:rPr sz="1500" b="1" i="0">
                <a:solidFill>
                  <a:srgbClr val="0B1E3B"/>
                </a:solidFill>
                <a:latin typeface="Calibri"/>
              </a:rPr>
              <a:t>): the loader writes S3</a:t>
            </a:r>
          </a:p>
        </p:txBody>
      </p:sp>
      <p:sp>
        <p:nvSpPr>
          <p:cNvPr id="26" name="Rounded Rectangle 25"/>
          <p:cNvSpPr/>
          <p:nvPr/>
        </p:nvSpPr>
        <p:spPr>
          <a:xfrm>
            <a:off x="6217920" y="1554480"/>
            <a:ext cx="5559552" cy="19202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09359" y="1600200"/>
            <a:ext cx="53766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IcebergLoader, engine native</a:t>
            </a:r>
          </a:p>
        </p:txBody>
      </p:sp>
      <p:sp>
        <p:nvSpPr>
          <p:cNvPr id="28" name="TextBox 27"/>
          <p:cNvSpPr txBox="1"/>
          <p:nvPr/>
        </p:nvSpPr>
        <p:spPr>
          <a:xfrm>
            <a:off x="6309359" y="1920240"/>
            <a:ext cx="5376672" cy="15087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reads the landing dumps (stdin or a file)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sorts each day by id, spills to EFS or ephemeral disk</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writes Parquet and manifests to </a:t>
            </a:r>
            <a:r>
              <a:rPr sz="1150" b="0" i="0">
                <a:solidFill>
                  <a:srgbClr val="0E7C86"/>
                </a:solidFill>
                <a:latin typeface="Consolas"/>
              </a:rPr>
              <a:t>s3://…/iceberg/&lt;domain&gt;/&lt;table&gt;/</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commits: conditional PUT of </a:t>
            </a:r>
            <a:r>
              <a:rPr sz="1150" b="0" i="0">
                <a:solidFill>
                  <a:srgbClr val="0E7C86"/>
                </a:solidFill>
                <a:latin typeface="Consolas"/>
              </a:rPr>
              <a:t>vN+1.metadata.json</a:t>
            </a:r>
            <a:r>
              <a:rPr sz="1250" b="0" i="0">
                <a:solidFill>
                  <a:srgbClr val="1C2433"/>
                </a:solidFill>
                <a:latin typeface="Calibri"/>
              </a:rPr>
              <a:t>, then </a:t>
            </a:r>
            <a:r>
              <a:rPr sz="1150" b="0" i="0">
                <a:solidFill>
                  <a:srgbClr val="0E7C86"/>
                </a:solidFill>
                <a:latin typeface="Consolas"/>
              </a:rPr>
              <a:t>version-hint.text</a:t>
            </a:r>
          </a:p>
        </p:txBody>
      </p:sp>
      <p:sp>
        <p:nvSpPr>
          <p:cNvPr id="29" name="Rounded Rectangle 28"/>
          <p:cNvSpPr/>
          <p:nvPr/>
        </p:nvSpPr>
        <p:spPr>
          <a:xfrm>
            <a:off x="6217920" y="3611880"/>
            <a:ext cx="5559552" cy="14630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327648" y="3685032"/>
            <a:ext cx="5340096" cy="1316736"/>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deploy/aws/iceberg/load-day.sh --date 2026-10-20</a:t>
            </a:r>
          </a:p>
          <a:p>
            <a:pPr algn="l">
              <a:lnSpc>
                <a:spcPct val="100000"/>
              </a:lnSpc>
            </a:pPr>
            <a:r>
              <a:rPr sz="1100" b="0" i="0">
                <a:solidFill>
                  <a:srgbClr val="E6EDF3"/>
                </a:solidFill>
                <a:latin typeface="Consolas"/>
              </a:rPr>
              <a:t>  # per table in ICEBERG_TABLES_FILE, under its lock:</a:t>
            </a:r>
          </a:p>
          <a:p>
            <a:pPr algn="l">
              <a:lnSpc>
                <a:spcPct val="100000"/>
              </a:lnSpc>
            </a:pPr>
            <a:r>
              <a:rPr sz="1100" b="0" i="0">
                <a:solidFill>
                  <a:srgbClr val="E6EDF3"/>
                </a:solidFill>
                <a:latin typeface="Consolas"/>
              </a:rPr>
              <a:t>  # landing dumps → lake build --format iceberg \</a:t>
            </a:r>
          </a:p>
          <a:p>
            <a:pPr algn="l">
              <a:lnSpc>
                <a:spcPct val="100000"/>
              </a:lnSpc>
            </a:pPr>
            <a:r>
              <a:rPr sz="1100" b="0" i="0">
                <a:solidFill>
                  <a:srgbClr val="E6EDF3"/>
                </a:solidFill>
                <a:latin typeface="Consolas"/>
              </a:rPr>
              <a:t>  #   --lake s3://LAKE_BUCKET/iceberg</a:t>
            </a:r>
          </a:p>
          <a:p>
            <a:pPr algn="l">
              <a:lnSpc>
                <a:spcPct val="100000"/>
              </a:lnSpc>
            </a:pPr>
            <a:r>
              <a:rPr sz="1100" b="0" i="0">
                <a:solidFill>
                  <a:srgbClr val="E6EDF3"/>
                </a:solidFill>
                <a:latin typeface="Consolas"/>
              </a:rPr>
              <a:t>  # metrics: LoadSucceeded, LoadSeconds</a:t>
            </a:r>
          </a:p>
        </p:txBody>
      </p:sp>
      <p:sp>
        <p:nvSpPr>
          <p:cNvPr id="31" name="Rounded Rectangle 30"/>
          <p:cNvSpPr/>
          <p:nvPr/>
        </p:nvSpPr>
        <p:spPr>
          <a:xfrm>
            <a:off x="411480" y="5257800"/>
            <a:ext cx="11365992" cy="10515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11480" y="5257800"/>
            <a:ext cx="82296"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0080" y="5312664"/>
            <a:ext cx="11000232" cy="9418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Fewer moving parts on Iceberg:</a:t>
            </a:r>
            <a:r>
              <a:rPr sz="1300" b="0" i="0">
                <a:solidFill>
                  <a:srgbClr val="1C2433"/>
                </a:solidFill>
                <a:latin typeface="Calibri"/>
              </a:rPr>
              <a:t> no scratch table and no second sync; the loader holds the table's lock only while it writes. Keep the Delta scripts' rules: one table per lock, </a:t>
            </a:r>
            <a:r>
              <a:rPr sz="1200" b="0" i="0">
                <a:solidFill>
                  <a:srgbClr val="0E7C86"/>
                </a:solidFill>
                <a:latin typeface="Consolas"/>
              </a:rPr>
              <a:t>--dry-run</a:t>
            </a:r>
            <a:r>
              <a:rPr sz="1300" b="0" i="0">
                <a:solidFill>
                  <a:srgbClr val="1C2433"/>
                </a:solidFill>
                <a:latin typeface="Calibri"/>
              </a:rPr>
              <a:t>, exit codes, metrics to </a:t>
            </a:r>
            <a:r>
              <a:rPr sz="1200" b="0" i="0">
                <a:solidFill>
                  <a:srgbClr val="0E7C86"/>
                </a:solidFill>
                <a:latin typeface="Consolas"/>
              </a:rPr>
              <a:t>Drishti/Lake</a:t>
            </a:r>
            <a:r>
              <a:rPr sz="1300" b="0" i="0">
                <a:solidFill>
                  <a:srgbClr val="1C2433"/>
                </a:solidFill>
                <a:latin typeface="Calibr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Backfill and restatement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8</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44</a:t>
            </a:r>
          </a:p>
        </p:txBody>
      </p:sp>
      <p:graphicFrame>
        <p:nvGraphicFramePr>
          <p:cNvPr id="9" name="Table 8"/>
          <p:cNvGraphicFramePr>
            <a:graphicFrameLocks noGrp="1"/>
          </p:cNvGraphicFramePr>
          <p:nvPr/>
        </p:nvGraphicFramePr>
        <p:xfrm>
          <a:off x="411480" y="1143000"/>
          <a:ext cx="11365992" cy="2381093"/>
        </p:xfrm>
        <a:graphic>
          <a:graphicData uri="http://schemas.openxmlformats.org/drawingml/2006/table">
            <a:tbl>
              <a:tblPr firstRow="1" bandRow="1">
                <a:tableStyleId>{5940675A-B579-460E-94D1-54222C63F5DA}</a:tableStyleId>
              </a:tblPr>
              <a:tblGrid>
                <a:gridCol w="2286000"/>
                <a:gridCol w="4206240"/>
                <a:gridCol w="4873752"/>
              </a:tblGrid>
              <a:tr h="433699">
                <a:tc>
                  <a:txBody>
                    <a:bodyPr wrap="square"/>
                    <a:lstStyle/>
                    <a:p>
                      <a:pPr algn="l">
                        <a:lnSpc>
                          <a:spcPct val="100000"/>
                        </a:lnSpc>
                      </a:pPr>
                      <a:r>
                        <a:rPr sz="1200" b="1" i="0">
                          <a:solidFill>
                            <a:srgbClr val="FFFFFF"/>
                          </a:solidFill>
                          <a:latin typeface="Calibri"/>
                        </a:rPr>
                        <a:t>A source re-sent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(built scripts)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(built scripts, </a:t>
                      </a:r>
                      <a:r>
                        <a:rPr sz="1100" b="1" i="0">
                          <a:solidFill>
                            <a:srgbClr val="C9D3E3"/>
                          </a:solidFill>
                          <a:latin typeface="Consolas"/>
                        </a:rPr>
                        <a:t>iceberg/</a:t>
                      </a:r>
                      <a:r>
                        <a:rPr sz="120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3699">
                <a:tc>
                  <a:txBody>
                    <a:bodyPr wrap="square"/>
                    <a:lstStyle/>
                    <a:p>
                      <a:pPr algn="l">
                        <a:lnSpc>
                          <a:spcPct val="100000"/>
                        </a:lnSpc>
                      </a:pPr>
                      <a:r>
                        <a:rPr sz="1200" b="1" i="0">
                          <a:solidFill>
                            <a:srgbClr val="1C2433"/>
                          </a:solidFill>
                          <a:latin typeface="Calibri"/>
                        </a:rPr>
                        <a:t>some whole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--dates 2026-10-14,2026-10-15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 the days again: each replaces its partition in one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one product type of a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load-day.sh … --mode overwrite-partitions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day again (product type is not a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6297">
                <a:tc>
                  <a:txBody>
                    <a:bodyPr wrap="square"/>
                    <a:lstStyle/>
                    <a:p>
                      <a:pPr algn="l">
                        <a:lnSpc>
                          <a:spcPct val="100000"/>
                        </a:lnSpc>
                      </a:pPr>
                      <a:r>
                        <a:rPr sz="1200" b="1" i="0">
                          <a:solidFill>
                            <a:srgbClr val="1C2433"/>
                          </a:solidFill>
                          <a:latin typeface="Calibri"/>
                        </a:rPr>
                        <a:t>years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resumable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backfill.sh --from … --to …</a:t>
                      </a:r>
                      <a:r>
                        <a:rPr sz="1200" b="0" i="0">
                          <a:solidFill>
                            <a:srgbClr val="1C2433"/>
                          </a:solidFill>
                          <a:latin typeface="Calibri"/>
                        </a:rPr>
                        <a:t>, oldest first; stops and says how to resume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3699">
                <a:tc>
                  <a:txBody>
                    <a:bodyPr wrap="square"/>
                    <a:lstStyle/>
                    <a:p>
                      <a:pPr algn="l">
                        <a:lnSpc>
                          <a:spcPct val="100000"/>
                        </a:lnSpc>
                      </a:pPr>
                      <a:r>
                        <a:rPr sz="1200" b="1" i="0">
                          <a:solidFill>
                            <a:srgbClr val="1C2433"/>
                          </a:solidFill>
                          <a:latin typeface="Calibri"/>
                        </a:rPr>
                        <a:t>old days to 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retention (metadata only), 7-year floor for 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886200"/>
            <a:ext cx="11365992" cy="1371600"/>
          </a:xfrm>
          <a:prstGeom prst="rect">
            <a:avLst/>
          </a:prstGeom>
          <a:noFill/>
        </p:spPr>
        <p:txBody>
          <a:bodyPr wrap="square" lIns="45720" rIns="45720" tIns="27432" bIns="27432" anchor="t">
            <a:spAutoFit/>
          </a:bodyPr>
          <a:lstStyle/>
          <a:p>
            <a:pPr algn="l">
              <a:lnSpc>
                <a:spcPct val="105000"/>
              </a:lnSpc>
              <a:spcAft>
                <a:spcPts val="500"/>
              </a:spcAft>
            </a:pPr>
            <a:r>
              <a:rPr sz="1350" b="0" i="0">
                <a:solidFill>
                  <a:srgbClr val="E87A1E"/>
                </a:solidFill>
                <a:latin typeface="Calibri"/>
              </a:rPr>
              <a:t>•  </a:t>
            </a:r>
            <a:r>
              <a:rPr sz="1350" b="0" i="0">
                <a:solidFill>
                  <a:srgbClr val="1C2433"/>
                </a:solidFill>
                <a:latin typeface="Calibri"/>
              </a:rPr>
              <a:t>Readers switch at the commit; a reader sees the old day or the new, never a mixture (both formats)</a:t>
            </a:r>
          </a:p>
          <a:p>
            <a:pPr algn="l">
              <a:lnSpc>
                <a:spcPct val="105000"/>
              </a:lnSpc>
              <a:spcAft>
                <a:spcPts val="500"/>
              </a:spcAft>
            </a:pPr>
            <a:r>
              <a:rPr sz="1350" b="0" i="0">
                <a:solidFill>
                  <a:srgbClr val="E87A1E"/>
                </a:solidFill>
                <a:latin typeface="Calibri"/>
              </a:rPr>
              <a:t>•  </a:t>
            </a:r>
            <a:r>
              <a:rPr sz="1350" b="0" i="1">
                <a:solidFill>
                  <a:srgbClr val="1C2433"/>
                </a:solidFill>
                <a:latin typeface="Calibri"/>
              </a:rPr>
              <a:t>Known at</a:t>
            </a:r>
            <a:r>
              <a:rPr sz="1350" b="0" i="0">
                <a:solidFill>
                  <a:srgbClr val="1C2433"/>
                </a:solidFill>
                <a:latin typeface="Calibri"/>
              </a:rPr>
              <a:t> before the restatement shows the day as it was until snapshots expire (Iceberg) or vacuum runs (Delta)</a:t>
            </a:r>
          </a:p>
          <a:p>
            <a:pPr algn="l">
              <a:lnSpc>
                <a:spcPct val="105000"/>
              </a:lnSpc>
              <a:spcAft>
                <a:spcPts val="500"/>
              </a:spcAft>
            </a:pPr>
            <a:r>
              <a:rPr sz="1350" b="0" i="0">
                <a:solidFill>
                  <a:srgbClr val="E87A1E"/>
                </a:solidFill>
                <a:latin typeface="Calibri"/>
              </a:rPr>
              <a:t>•  </a:t>
            </a:r>
            <a:r>
              <a:rPr sz="1350" b="0" i="0">
                <a:solidFill>
                  <a:srgbClr val="1C2433"/>
                </a:solidFill>
                <a:latin typeface="Calibri"/>
              </a:rPr>
              <a:t>Data files of an old restated day tier by their date prefix at the next lifecycle run (the rule is by date, not object age)</a:t>
            </a:r>
          </a:p>
        </p:txBody>
      </p:sp>
      <p:sp>
        <p:nvSpPr>
          <p:cNvPr id="11" name="Rounded Rectangle 10"/>
          <p:cNvSpPr/>
          <p:nvPr/>
        </p:nvSpPr>
        <p:spPr>
          <a:xfrm>
            <a:off x="411480" y="5349240"/>
            <a:ext cx="11365992" cy="9601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411480" y="5349240"/>
            <a:ext cx="82296" cy="9601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Guarded:</a:t>
            </a:r>
            <a:r>
              <a:rPr sz="1300" b="0" i="0">
                <a:solidFill>
                  <a:srgbClr val="1C2433"/>
                </a:solidFill>
                <a:latin typeface="Calibri"/>
              </a:rPr>
              <a:t> removing more than half of a table's rows fails, removing nothing, unless </a:t>
            </a:r>
            <a:r>
              <a:rPr sz="1200" b="0" i="0">
                <a:solidFill>
                  <a:srgbClr val="0E7C86"/>
                </a:solidFill>
                <a:latin typeface="Consolas"/>
              </a:rPr>
              <a:t>--force-drop</a:t>
            </a:r>
            <a:r>
              <a:rPr sz="1300" b="0" i="0">
                <a:solidFill>
                  <a:srgbClr val="1C2433"/>
                </a:solidFill>
                <a:latin typeface="Calibri"/>
              </a:rPr>
              <a:t>; a row dated after tomorrow in the business zone is not loaded and the load ends with an error naming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09</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Maintenance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a nightly Iceberg maintenance run does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9</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46</a:t>
            </a:r>
          </a:p>
        </p:txBody>
      </p:sp>
      <p:sp>
        <p:nvSpPr>
          <p:cNvPr id="9" name="Rounded Rectangle 8"/>
          <p:cNvSpPr/>
          <p:nvPr/>
        </p:nvSpPr>
        <p:spPr>
          <a:xfrm>
            <a:off x="411480" y="1143000"/>
            <a:ext cx="10040112" cy="6858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9820656" cy="5394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deploy/aws/iceberg/maintain.sh        # lake maintain, format: iceberg: IcebergMaintenance per table</a:t>
            </a:r>
          </a:p>
          <a:p>
            <a:pPr algn="l">
              <a:lnSpc>
                <a:spcPct val="100000"/>
              </a:lnSpc>
            </a:pPr>
            <a:r>
              <a:rPr sz="1150" b="0" i="0">
                <a:solidFill>
                  <a:srgbClr val="E6EDF3"/>
                </a:solidFill>
                <a:latin typeface="Consolas"/>
              </a:rPr>
              <a:t>     --keep-days 1800 --relayout --rewrite-manifests --expire-hours 168 --remove-orphans --floor-days 2557</a:t>
            </a:r>
          </a:p>
        </p:txBody>
      </p:sp>
      <p:graphicFrame>
        <p:nvGraphicFramePr>
          <p:cNvPr id="11" name="Table 10"/>
          <p:cNvGraphicFramePr>
            <a:graphicFrameLocks noGrp="1"/>
          </p:cNvGraphicFramePr>
          <p:nvPr/>
        </p:nvGraphicFramePr>
        <p:xfrm>
          <a:off x="411480" y="2011680"/>
          <a:ext cx="11365992" cy="2723892"/>
        </p:xfrm>
        <a:graphic>
          <a:graphicData uri="http://schemas.openxmlformats.org/drawingml/2006/table">
            <a:tbl>
              <a:tblPr firstRow="1" bandRow="1">
                <a:tableStyleId>{5940675A-B579-460E-94D1-54222C63F5DA}</a:tableStyleId>
              </a:tblPr>
              <a:tblGrid>
                <a:gridCol w="2377440"/>
                <a:gridCol w="5486400"/>
                <a:gridCol w="3502152"/>
              </a:tblGrid>
              <a:tr h="310896">
                <a:tc>
                  <a:txBody>
                    <a:bodyPr wrap="square"/>
                    <a:lstStyle/>
                    <a:p>
                      <a:pPr algn="l">
                        <a:lnSpc>
                          <a:spcPct val="100000"/>
                        </a:lnSpc>
                      </a:pPr>
                      <a:r>
                        <a:rPr sz="1150" b="1" i="0">
                          <a:solidFill>
                            <a:srgbClr val="FFFFFF"/>
                          </a:solidFill>
                          <a:latin typeface="Calibri"/>
                        </a:rPr>
                        <a:t>Step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Delta's counterpart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050" b="1" i="0">
                          <a:solidFill>
                            <a:srgbClr val="0E7C86"/>
                          </a:solidFill>
                          <a:latin typeface="Consolas"/>
                        </a:rPr>
                        <a:t>--keep-days 1800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drop business days older than seven years: metadata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a:t>
                      </a:r>
                      <a:r>
                        <a:rPr sz="1050" b="0" i="0">
                          <a:solidFill>
                            <a:srgbClr val="0E7C86"/>
                          </a:solidFill>
                          <a:latin typeface="Consolas"/>
                        </a:rPr>
                        <a:t>keep-business-days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re-sort days another writer appended out of order; fold delete files into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compaction /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manifest per month: planning reads a few dozen manifests, not thousands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050" b="1" i="0">
                          <a:solidFill>
                            <a:srgbClr val="0E7C86"/>
                          </a:solidFill>
                          <a:latin typeface="Consolas"/>
                        </a:rPr>
                        <a:t>--expire-hours 168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keep the metadata JSON small; bounds </a:t>
                      </a:r>
                      <a:r>
                        <a:rPr sz="115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vacuum + log retention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47801">
                <a:tc>
                  <a:txBody>
                    <a:bodyPr wrap="square"/>
                    <a:lstStyle/>
                    <a:p>
                      <a:pPr algn="l">
                        <a:lnSpc>
                          <a:spcPct val="100000"/>
                        </a:lnSpc>
                      </a:pPr>
                      <a:r>
                        <a:rPr sz="1050" b="1" i="0">
                          <a:solidFill>
                            <a:srgbClr val="0E7C86"/>
                          </a:solidFill>
                          <a:latin typeface="Consolas"/>
                        </a:rPr>
                        <a:t>--remove-orphans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files of a crashed writer no snapshot names, 72 h at least; a dry run lists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050" b="1" i="0">
                          <a:solidFill>
                            <a:srgbClr val="0E7C86"/>
                          </a:solidFill>
                          <a:latin typeface="Consolas"/>
                        </a:rPr>
                        <a:t>--floor-days 2557</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risk and risk-results: no date dropped, no snapshot expired inside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retention-floor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2" name="Rounded Rectangle 11"/>
          <p:cNvSpPr/>
          <p:nvPr/>
        </p:nvSpPr>
        <p:spPr>
          <a:xfrm>
            <a:off x="41148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160 ms → 33 ms</a:t>
            </a:r>
          </a:p>
        </p:txBody>
      </p:sp>
      <p:sp>
        <p:nvSpPr>
          <p:cNvPr id="14" name="TextBox 13"/>
          <p:cNvSpPr txBox="1"/>
          <p:nvPr/>
        </p:nvSpPr>
        <p:spPr>
          <a:xfrm>
            <a:off x="54864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connector start on 1,800 daily commits, before and after manifests + expiry (measured)</a:t>
            </a:r>
          </a:p>
        </p:txBody>
      </p:sp>
      <p:sp>
        <p:nvSpPr>
          <p:cNvPr id="15" name="Rounded Rectangle 14"/>
          <p:cNvSpPr/>
          <p:nvPr/>
        </p:nvSpPr>
        <p:spPr>
          <a:xfrm>
            <a:off x="4251960" y="4983480"/>
            <a:ext cx="3657600"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4389120" y="5074920"/>
            <a:ext cx="3383280"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93 ms a commit</a:t>
            </a:r>
          </a:p>
        </p:txBody>
      </p:sp>
      <p:sp>
        <p:nvSpPr>
          <p:cNvPr id="17" name="TextBox 16"/>
          <p:cNvSpPr txBox="1"/>
          <p:nvPr/>
        </p:nvSpPr>
        <p:spPr>
          <a:xfrm>
            <a:off x="4389120" y="5623560"/>
            <a:ext cx="3383280"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writing a table of 1,800 daily commits (measured, small rows)</a:t>
            </a:r>
          </a:p>
        </p:txBody>
      </p:sp>
      <p:sp>
        <p:nvSpPr>
          <p:cNvPr id="18" name="Rounded Rectangle 17"/>
          <p:cNvSpPr/>
          <p:nvPr/>
        </p:nvSpPr>
        <p:spPr>
          <a:xfrm>
            <a:off x="8092440" y="4983480"/>
            <a:ext cx="368503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29600" y="5074920"/>
            <a:ext cx="341071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0.7 s / 2.9 s</a:t>
            </a:r>
          </a:p>
        </p:txBody>
      </p:sp>
      <p:sp>
        <p:nvSpPr>
          <p:cNvPr id="20" name="TextBox 19"/>
          <p:cNvSpPr txBox="1"/>
          <p:nvPr/>
        </p:nvSpPr>
        <p:spPr>
          <a:xfrm>
            <a:off x="8229600" y="5623560"/>
            <a:ext cx="341071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drift check / keep 5 + rewrite 5 + manifests + expiry, 10,000 trades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10</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Caches and staying fast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each server caches, Delta and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48</a:t>
            </a:r>
          </a:p>
        </p:txBody>
      </p:sp>
      <p:graphicFrame>
        <p:nvGraphicFramePr>
          <p:cNvPr id="9" name="Table 8"/>
          <p:cNvGraphicFramePr>
            <a:graphicFrameLocks noGrp="1"/>
          </p:cNvGraphicFramePr>
          <p:nvPr/>
        </p:nvGraphicFramePr>
        <p:xfrm>
          <a:off x="411480" y="1143000"/>
          <a:ext cx="11365992" cy="3316525"/>
        </p:xfrm>
        <a:graphic>
          <a:graphicData uri="http://schemas.openxmlformats.org/drawingml/2006/table">
            <a:tbl>
              <a:tblPr firstRow="1" bandRow="1">
                <a:tableStyleId>{5940675A-B579-460E-94D1-54222C63F5DA}</a:tableStyleId>
              </a:tblPr>
              <a:tblGrid>
                <a:gridCol w="2286000"/>
                <a:gridCol w="3108960"/>
                <a:gridCol w="3291840"/>
                <a:gridCol w="2679192"/>
              </a:tblGrid>
              <a:tr h="391534">
                <a:tc>
                  <a:txBody>
                    <a:bodyPr wrap="square"/>
                    <a:lstStyle/>
                    <a:p>
                      <a:pPr algn="l">
                        <a:lnSpc>
                          <a:spcPct val="100000"/>
                        </a:lnSpc>
                      </a:pPr>
                      <a:r>
                        <a:rPr sz="1200" b="1" i="0">
                          <a:solidFill>
                            <a:srgbClr val="FFFFFF"/>
                          </a:solidFill>
                          <a:latin typeface="Calibri"/>
                        </a:rPr>
                        <a:t>Cache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Keyed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83463">
                <a:tc>
                  <a:txBody>
                    <a:bodyPr wrap="square"/>
                    <a:lstStyle/>
                    <a:p>
                      <a:pPr algn="l">
                        <a:lnSpc>
                          <a:spcPct val="100000"/>
                        </a:lnSpc>
                      </a:pPr>
                      <a:r>
                        <a:rPr sz="1200" b="1" i="0">
                          <a:solidFill>
                            <a:srgbClr val="1C2433"/>
                          </a:solidFill>
                          <a:latin typeface="Calibri"/>
                        </a:rPr>
                        <a:t>the table's file list /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per snapshot (</a:t>
                      </a:r>
                      <a:r>
                        <a:rPr sz="1100" b="0" i="0">
                          <a:solidFill>
                            <a:srgbClr val="0E7C86"/>
                          </a:solidFill>
                          <a:latin typeface="Consolas"/>
                        </a:rPr>
                        <a:t>layout-cache</a:t>
                      </a:r>
                      <a:r>
                        <a:rPr sz="1200" b="0" i="0">
                          <a:solidFill>
                            <a:srgbClr val="1C2433"/>
                          </a:solidFill>
                          <a:latin typeface="Calibri"/>
                        </a:rPr>
                        <a:t> 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Delta: version; Iceberg: snapshot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id maps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id-map-mb</a:t>
                      </a:r>
                      <a:r>
                        <a:rPr sz="1200" b="0" i="0">
                          <a:solidFill>
                            <a:srgbClr val="1C2433"/>
                          </a:solidFill>
                          <a:latin typeface="Calibri"/>
                        </a:rPr>
                        <a:t>) </a:t>
                      </a:r>
                      <a:r>
                        <a:rPr sz="1200" b="1" i="0">
                          <a:solidFill>
                            <a:srgbClr val="1C2433"/>
                          </a:solidFill>
                          <a:latin typeface="Calibri"/>
                        </a:rPr>
                        <a:t>and disk</a:t>
                      </a:r>
                      <a:r>
                        <a:rPr sz="1200" b="0" i="0">
                          <a:solidFill>
                            <a:srgbClr val="1C2433"/>
                          </a:solidFill>
                          <a:latin typeface="Calibri"/>
                        </a:rPr>
                        <a:t> (memory-mapped)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disk</a:t>
                      </a:r>
                      <a:r>
                        <a:rPr sz="1200" b="0" i="0">
                          <a:solidFill>
                            <a:srgbClr val="1C2433"/>
                          </a:solidFill>
                          <a:latin typeface="Calibri"/>
                        </a:rPr>
                        <a:t> (memory-mapped)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table version; </a:t>
                      </a:r>
                      <a:r>
                        <a:rPr sz="1200" b="1" i="0">
                          <a:solidFill>
                            <a:srgbClr val="1C2433"/>
                          </a:solidFill>
                          <a:latin typeface="Calibri"/>
                        </a:rPr>
                        <a:t>Iceberg: the day's fingerprint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column sets of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a:t>
                      </a:r>
                      <a:r>
                        <a:rPr sz="1100" b="0" i="0">
                          <a:solidFill>
                            <a:srgbClr val="0E7C86"/>
                          </a:solidFill>
                          <a:latin typeface="Consolas"/>
                        </a:rPr>
                        <a:t>columns-cache-mb</a:t>
                      </a:r>
                      <a:r>
                        <a:rPr sz="1200" b="0" i="0">
                          <a:solidFill>
                            <a:srgbClr val="1C2433"/>
                          </a:solidFill>
                          <a:latin typeface="Calibri"/>
                        </a:rPr>
                        <a:t>, 1024)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1534">
                <a:tc>
                  <a:txBody>
                    <a:bodyPr wrap="square"/>
                    <a:lstStyle/>
                    <a:p>
                      <a:pPr algn="l">
                        <a:lnSpc>
                          <a:spcPct val="100000"/>
                        </a:lnSpc>
                      </a:pPr>
                      <a:r>
                        <a:rPr sz="1200" b="1" i="0">
                          <a:solidFill>
                            <a:srgbClr val="1C2433"/>
                          </a:solidFill>
                          <a:latin typeface="Calibri"/>
                        </a:rPr>
                        <a:t>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a:t>
                      </a:r>
                      <a:r>
                        <a:rPr sz="1200" b="1" i="0">
                          <a:solidFill>
                            <a:srgbClr val="1C2433"/>
                          </a:solidFill>
                          <a:latin typeface="Calibri"/>
                        </a:rPr>
                        <a:t>and RocksDB on disk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 above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1534">
                <a:tc>
                  <a:txBody>
                    <a:bodyPr wrap="square"/>
                    <a:lstStyle/>
                    <a:p>
                      <a:pPr algn="l">
                        <a:lnSpc>
                          <a:spcPct val="100000"/>
                        </a:lnSpc>
                      </a:pPr>
                      <a:r>
                        <a:rPr sz="1200" b="1" i="0">
                          <a:solidFill>
                            <a:srgbClr val="1C2433"/>
                          </a:solidFill>
                          <a:latin typeface="Calibri"/>
                        </a:rPr>
                        <a:t>Parquet footers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heap (native engine), shared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file (never changes)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3463">
                <a:tc>
                  <a:txBody>
                    <a:bodyPr wrap="square"/>
                    <a:lstStyle/>
                    <a:p>
                      <a:pPr algn="l">
                        <a:lnSpc>
                          <a:spcPct val="100000"/>
                        </a:lnSpc>
                      </a:pPr>
                      <a:r>
                        <a:rPr sz="1200" b="1" i="0">
                          <a:solidFill>
                            <a:srgbClr val="1C2433"/>
                          </a:solidFill>
                          <a:latin typeface="Calibri"/>
                        </a:rPr>
                        <a:t>manifests, delete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heap: 2,000,000 entries; 5,000,000 delete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846320"/>
            <a:ext cx="5577840" cy="146304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46320"/>
            <a:ext cx="82296" cy="14630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901183"/>
            <a:ext cx="5212079"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Iceberg's edge:</a:t>
            </a:r>
            <a:r>
              <a:rPr sz="1250" b="0" i="0">
                <a:solidFill>
                  <a:srgbClr val="1C2433"/>
                </a:solidFill>
                <a:latin typeface="Calibri"/>
              </a:rPr>
              <a:t> committing a new day leaves every other day's caches in place (keyed by the day's files). On Delta a commit moves the table version, so untouched days reload.</a:t>
            </a:r>
          </a:p>
        </p:txBody>
      </p:sp>
      <p:sp>
        <p:nvSpPr>
          <p:cNvPr id="13" name="Rounded Rectangle 12"/>
          <p:cNvSpPr/>
          <p:nvPr/>
        </p:nvSpPr>
        <p:spPr>
          <a:xfrm>
            <a:off x="6172200" y="4846320"/>
            <a:ext cx="5605272" cy="146304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ectangle 13"/>
          <p:cNvSpPr/>
          <p:nvPr/>
        </p:nvSpPr>
        <p:spPr>
          <a:xfrm>
            <a:off x="6172200" y="4846320"/>
            <a:ext cx="82296" cy="14630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0" y="4901183"/>
            <a:ext cx="5239512" cy="13533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Equal after a restart:</a:t>
            </a:r>
            <a:r>
              <a:rPr sz="1250" b="0" i="0">
                <a:solidFill>
                  <a:srgbClr val="1C2433"/>
                </a:solidFill>
                <a:latin typeface="Calibri"/>
              </a:rPr>
              <a:t> id maps and documents survive on disk for both formats; Iceberg's keyed by the day's fingerprint, so a commit of another date keeps them valid.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What never scans the whole lake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49</a:t>
            </a:r>
          </a:p>
        </p:txBody>
      </p:sp>
      <p:graphicFrame>
        <p:nvGraphicFramePr>
          <p:cNvPr id="9" name="Table 8"/>
          <p:cNvGraphicFramePr>
            <a:graphicFrameLocks noGrp="1"/>
          </p:cNvGraphicFramePr>
          <p:nvPr/>
        </p:nvGraphicFramePr>
        <p:xfrm>
          <a:off x="411480" y="1143000"/>
          <a:ext cx="11365992" cy="3741720"/>
        </p:xfrm>
        <a:graphic>
          <a:graphicData uri="http://schemas.openxmlformats.org/drawingml/2006/table">
            <a:tbl>
              <a:tblPr firstRow="1" bandRow="1">
                <a:tableStyleId>{5940675A-B579-460E-94D1-54222C63F5DA}</a:tableStyleId>
              </a:tblPr>
              <a:tblGrid>
                <a:gridCol w="2743200"/>
                <a:gridCol w="5852160"/>
                <a:gridCol w="2770632"/>
              </a:tblGrid>
              <a:tr h="395088">
                <a:tc>
                  <a:txBody>
                    <a:bodyPr wrap="square"/>
                    <a:lstStyle/>
                    <a:p>
                      <a:pPr algn="l">
                        <a:lnSpc>
                          <a:spcPct val="100000"/>
                        </a:lnSpc>
                      </a:pPr>
                      <a:r>
                        <a:rPr sz="1200" b="1" i="0">
                          <a:solidFill>
                            <a:srgbClr val="FFFFFF"/>
                          </a:solidFill>
                          <a:latin typeface="Calibri"/>
                        </a:rPr>
                        <a:t>Request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Reads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Grows with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5088">
                <a:tc>
                  <a:txBody>
                    <a:bodyPr wrap="square"/>
                    <a:lstStyle/>
                    <a:p>
                      <a:pPr algn="l">
                        <a:lnSpc>
                          <a:spcPct val="100000"/>
                        </a:lnSpc>
                      </a:pPr>
                      <a:r>
                        <a:rPr sz="1200" b="1" i="0">
                          <a:solidFill>
                            <a:srgbClr val="1C2433"/>
                          </a:solidFill>
                          <a:latin typeface="Calibri"/>
                        </a:rPr>
                        <a:t>Open one entity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planned layout (in memory), the day's id map, one row group of one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5088">
                <a:tc>
                  <a:txBody>
                    <a:bodyPr wrap="square"/>
                    <a:lstStyle/>
                    <a:p>
                      <a:pPr algn="l">
                        <a:lnSpc>
                          <a:spcPct val="100000"/>
                        </a:lnSpc>
                      </a:pPr>
                      <a:r>
                        <a:rPr sz="1200" b="1" i="0">
                          <a:solidFill>
                            <a:srgbClr val="1C2433"/>
                          </a:solidFill>
                          <a:latin typeface="Calibri"/>
                        </a:rPr>
                        <a:t>History of one entity over N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layout's days whose id map holds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with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newest day's ids (</a:t>
                      </a:r>
                      <a:r>
                        <a:rPr sz="1100" b="0" i="0">
                          <a:solidFill>
                            <a:srgbClr val="0E7C86"/>
                          </a:solidFill>
                          <a:latin typeface="Consolas"/>
                        </a:rPr>
                        <a:t>index.days</a:t>
                      </a:r>
                      <a:r>
                        <a:rPr sz="1200" b="0" i="0">
                          <a:solidFill>
                            <a:srgbClr val="1C2433"/>
                          </a:solidFill>
                          <a:latin typeface="Calibri"/>
                        </a:rPr>
                        <a:t> more if set)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Search, pick list, impact on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that day's column set; files and row groups skipped by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88760">
                <a:tc>
                  <a:txBody>
                    <a:bodyPr wrap="square"/>
                    <a:lstStyle/>
                    <a:p>
                      <a:pPr algn="l">
                        <a:lnSpc>
                          <a:spcPct val="100000"/>
                        </a:lnSpc>
                      </a:pPr>
                      <a:r>
                        <a:rPr sz="1200" b="1" i="0">
                          <a:solidFill>
                            <a:srgbClr val="1C2433"/>
                          </a:solidFill>
                          <a:latin typeface="Calibri"/>
                        </a:rPr>
                        <a:t>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version-hint.text</a:t>
                      </a:r>
                      <a:r>
                        <a:rPr sz="1200" b="0" i="0">
                          <a:solidFill>
                            <a:srgbClr val="1C2433"/>
                          </a:solidFill>
                          <a:latin typeface="Calibri"/>
                        </a:rPr>
                        <a:t> (path) or </a:t>
                      </a:r>
                      <a:r>
                        <a:rPr sz="1100" b="0" i="0">
                          <a:solidFill>
                            <a:srgbClr val="0E7C86"/>
                          </a:solidFill>
                          <a:latin typeface="Consolas"/>
                        </a:rPr>
                        <a:t>loadTable</a:t>
                      </a:r>
                      <a:r>
                        <a:rPr sz="1200" b="0" i="0">
                          <a:solidFill>
                            <a:srgbClr val="1C2433"/>
                          </a:solidFill>
                          <a:latin typeface="Calibri"/>
                        </a:rPr>
                        <a:t> with ETag (REST); a changed snapshot's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with live manifests: regroup monthly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88760">
                <a:tc>
                  <a:txBody>
                    <a:bodyPr wrap="square"/>
                    <a:lstStyle/>
                    <a:p>
                      <a:pPr algn="l">
                        <a:lnSpc>
                          <a:spcPct val="100000"/>
                        </a:lnSpc>
                      </a:pPr>
                      <a:r>
                        <a:rPr sz="1200" b="1" i="0">
                          <a:solidFill>
                            <a:srgbClr val="1C2433"/>
                          </a:solidFill>
                          <a:latin typeface="Calibri"/>
                        </a:rPr>
                        <a:t>Load, restatement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day's files and one commit (metadata JSON rewritten)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metadata JSON grows with snapshots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5088">
                <a:tc>
                  <a:txBody>
                    <a:bodyPr wrap="square"/>
                    <a:lstStyle/>
                    <a:p>
                      <a:pPr algn="l">
                        <a:lnSpc>
                          <a:spcPct val="100000"/>
                        </a:lnSpc>
                      </a:pPr>
                      <a:r>
                        <a:rPr sz="1200" b="1" i="0">
                          <a:solidFill>
                            <a:srgbClr val="1C2433"/>
                          </a:solidFill>
                          <a:latin typeface="Calibri"/>
                        </a:rPr>
                        <a:t>Questions over all of 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not interactive: Athena, Trino, Spark on the same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one Iceberg-specific growth:</a:t>
            </a:r>
            <a:r>
              <a:rPr sz="1300" b="0" i="0">
                <a:solidFill>
                  <a:srgbClr val="1C2433"/>
                </a:solidFill>
                <a:latin typeface="Calibri"/>
              </a:rPr>
              <a:t> each commit rewrites a metadata JSON that lists every snapshot kept. Expire snapshots (or, for seven-year risk tables, see section 13) and regroup manifests monthly.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numbers to watch, for an Iceberg table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10</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50</a:t>
            </a:r>
          </a:p>
        </p:txBody>
      </p:sp>
      <p:sp>
        <p:nvSpPr>
          <p:cNvPr id="9" name="Rounded Rectangle 8"/>
          <p:cNvSpPr/>
          <p:nvPr/>
        </p:nvSpPr>
        <p:spPr>
          <a:xfrm>
            <a:off x="411480" y="114300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722375"/>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{"name": "trade-calypso", "health": "UP", "engine": "native",</a:t>
            </a:r>
          </a:p>
          <a:p>
            <a:pPr algn="l">
              <a:lnSpc>
                <a:spcPct val="100000"/>
              </a:lnSpc>
            </a:pPr>
            <a:r>
              <a:rPr sz="1100" b="0" i="0">
                <a:solidFill>
                  <a:srgbClr val="E6EDF3"/>
                </a:solidFill>
                <a:latin typeface="Consolas"/>
              </a:rPr>
              <a:t> "cache": {"tables": 1, "snapshots": 1, "idMaps": 2, "columnSets": 2, "documents": 2,</a:t>
            </a:r>
          </a:p>
          <a:p>
            <a:pPr algn="l">
              <a:lnSpc>
                <a:spcPct val="100000"/>
              </a:lnSpc>
            </a:pPr>
            <a:r>
              <a:rPr sz="1100" b="0" i="0">
                <a:solidFill>
                  <a:srgbClr val="E6EDF3"/>
                </a:solidFill>
                <a:latin typeface="Consolas"/>
              </a:rPr>
              <a:t>           "partitions": 0, "daysWithDeletes": 0, "ids": 10000}}</a:t>
            </a:r>
          </a:p>
        </p:txBody>
      </p:sp>
      <p:graphicFrame>
        <p:nvGraphicFramePr>
          <p:cNvPr id="11" name="Table 10"/>
          <p:cNvGraphicFramePr>
            <a:graphicFrameLocks noGrp="1"/>
          </p:cNvGraphicFramePr>
          <p:nvPr/>
        </p:nvGraphicFramePr>
        <p:xfrm>
          <a:off x="411480" y="2194560"/>
          <a:ext cx="11365992" cy="3686858"/>
        </p:xfrm>
        <a:graphic>
          <a:graphicData uri="http://schemas.openxmlformats.org/drawingml/2006/table">
            <a:tbl>
              <a:tblPr firstRow="1" bandRow="1">
                <a:tableStyleId>{5940675A-B579-460E-94D1-54222C63F5DA}</a:tableStyleId>
              </a:tblPr>
              <a:tblGrid>
                <a:gridCol w="3200400"/>
                <a:gridCol w="2103120"/>
                <a:gridCol w="4462272"/>
                <a:gridCol w="1600200"/>
              </a:tblGrid>
              <a:tr h="435254">
                <a:tc>
                  <a:txBody>
                    <a:bodyPr wrap="square"/>
                    <a:lstStyle/>
                    <a:p>
                      <a:pPr algn="l">
                        <a:lnSpc>
                          <a:spcPct val="100000"/>
                        </a:lnSpc>
                      </a:pPr>
                      <a:r>
                        <a:rPr sz="1200" b="1" i="0">
                          <a:solidFill>
                            <a:srgbClr val="FFFFFF"/>
                          </a:solidFill>
                          <a:latin typeface="Calibri"/>
                        </a:rPr>
                        <a:t>Number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Healthy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If not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daysWithDeletes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 for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single reads slow: </a:t>
                      </a:r>
                      <a:r>
                        <a:rPr sz="110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Health: </a:t>
                      </a:r>
                      <a:r>
                        <a:rPr sz="1100" b="1" i="0">
                          <a:solidFill>
                            <a:srgbClr val="0E7C86"/>
                          </a:solidFill>
                          <a:latin typeface="Consolas"/>
                        </a:rPr>
                        <a:t>not laid out as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--columns trade:path,…</a:t>
                      </a:r>
                      <a:r>
                        <a:rPr sz="1200" b="0" i="0">
                          <a:solidFill>
                            <a:srgbClr val="1C2433"/>
                          </a:solidFill>
                          <a:latin typeface="Calibri"/>
                        </a:rPr>
                        <a:t> or reload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100" b="1" i="0">
                          <a:solidFill>
                            <a:srgbClr val="0E7C86"/>
                          </a:solidFill>
                          <a:latin typeface="Consolas"/>
                        </a:rPr>
                        <a:t>DEGRADED: … names files that are not there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moved table: set the </a:t>
                      </a:r>
                      <a:r>
                        <a:rPr sz="1100" b="0" i="0">
                          <a:solidFill>
                            <a:srgbClr val="0E7C86"/>
                          </a:solidFill>
                          <a:latin typeface="Consolas"/>
                        </a:rPr>
                        <a:t>relocate</a:t>
                      </a:r>
                      <a:r>
                        <a:rPr sz="1200" b="0" i="0">
                          <a:solidFill>
                            <a:srgbClr val="1C2433"/>
                          </a:solidFill>
                          <a:latin typeface="Calibri"/>
                        </a:rPr>
                        <a:t> pair Health gives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snapshots kept (</a:t>
                      </a:r>
                      <a:r>
                        <a:rPr sz="1100" b="1" i="0">
                          <a:solidFill>
                            <a:srgbClr val="0E7C86"/>
                          </a:solidFill>
                          <a:latin typeface="Consolas"/>
                        </a:rPr>
                        <a:t>IcebergSnapshots</a:t>
                      </a:r>
                      <a:r>
                        <a:rPr sz="1200" b="1" i="0">
                          <a:solidFill>
                            <a:srgbClr val="1C2433"/>
                          </a:solidFill>
                          <a:latin typeface="Calibri"/>
                        </a:rPr>
                        <a:t>, alarm at 500)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bounded by </a:t>
                      </a:r>
                      <a:r>
                        <a:rPr sz="110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and refreshes slow: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live manifests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few dozen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planning slow: </a:t>
                      </a:r>
                      <a:r>
                        <a:rPr sz="1100" b="0"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single-writer warning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store ignores </a:t>
                      </a:r>
                      <a:r>
                        <a:rPr sz="1100" b="0" i="0">
                          <a:solidFill>
                            <a:srgbClr val="0E7C86"/>
                          </a:solidFill>
                          <a:latin typeface="Consolas"/>
                        </a:rPr>
                        <a:t>If-None-Match</a:t>
                      </a:r>
                      <a:r>
                        <a:rPr sz="1200" b="0" i="0">
                          <a:solidFill>
                            <a:srgbClr val="1C2433"/>
                          </a:solidFill>
                          <a:latin typeface="Calibri"/>
                        </a:rPr>
                        <a:t>: one writer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11</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Delta Lake and Iceberg side by side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Inside each format: a log against a tree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52</a:t>
            </a:r>
          </a:p>
        </p:txBody>
      </p:sp>
      <p:sp>
        <p:nvSpPr>
          <p:cNvPr id="9" name="TextBox 8"/>
          <p:cNvSpPr txBox="1"/>
          <p:nvPr/>
        </p:nvSpPr>
        <p:spPr>
          <a:xfrm>
            <a:off x="411480"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Delta Lake: a transaction log</a:t>
            </a:r>
          </a:p>
        </p:txBody>
      </p:sp>
      <p:sp>
        <p:nvSpPr>
          <p:cNvPr id="10" name="Rounded Rectangle 9"/>
          <p:cNvSpPr/>
          <p:nvPr/>
        </p:nvSpPr>
        <p:spPr>
          <a:xfrm>
            <a:off x="411480" y="1554480"/>
            <a:ext cx="5394960" cy="658368"/>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table folder</a:t>
            </a:r>
          </a:p>
        </p:txBody>
      </p:sp>
      <p:sp>
        <p:nvSpPr>
          <p:cNvPr id="12" name="TextBox 11"/>
          <p:cNvSpPr txBox="1"/>
          <p:nvPr/>
        </p:nvSpPr>
        <p:spPr>
          <a:xfrm>
            <a:off x="502920"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s3://…/lake/trading/trade_endur/</a:t>
            </a:r>
          </a:p>
        </p:txBody>
      </p:sp>
      <p:sp>
        <p:nvSpPr>
          <p:cNvPr id="13" name="Rounded Rectangle 12"/>
          <p:cNvSpPr/>
          <p:nvPr/>
        </p:nvSpPr>
        <p:spPr>
          <a:xfrm>
            <a:off x="411480" y="2395728"/>
            <a:ext cx="5394960" cy="18288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44144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_delta_log/</a:t>
            </a:r>
          </a:p>
        </p:txBody>
      </p:sp>
      <p:sp>
        <p:nvSpPr>
          <p:cNvPr id="15" name="TextBox 14"/>
          <p:cNvSpPr txBox="1"/>
          <p:nvPr/>
        </p:nvSpPr>
        <p:spPr>
          <a:xfrm>
            <a:off x="502920" y="2761488"/>
            <a:ext cx="5212080" cy="141732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…0451.json</a:t>
            </a:r>
            <a:r>
              <a:rPr sz="1200" b="0" i="0">
                <a:solidFill>
                  <a:srgbClr val="1C2433"/>
                </a:solidFill>
                <a:latin typeface="Calibri"/>
              </a:rPr>
              <a:t> </a:t>
            </a:r>
            <a:r>
              <a:rPr sz="1100" b="0" i="0">
                <a:solidFill>
                  <a:srgbClr val="0E7C86"/>
                </a:solidFill>
                <a:latin typeface="Consolas"/>
              </a:rPr>
              <a:t>…0452.json</a:t>
            </a:r>
            <a:r>
              <a:rPr sz="1200" b="0" i="0">
                <a:solidFill>
                  <a:srgbClr val="1C2433"/>
                </a:solidFill>
                <a:latin typeface="Calibri"/>
              </a:rPr>
              <a:t> one commit each: add / remove + stats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…0450.checkpoint.parquet</a:t>
            </a:r>
            <a:r>
              <a:rPr sz="1200" b="0" i="0">
                <a:solidFill>
                  <a:srgbClr val="1C2433"/>
                </a:solidFill>
                <a:latin typeface="Calibri"/>
              </a:rPr>
              <a:t> every 10 commits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_last_checkpoint</a:t>
            </a:r>
            <a:r>
              <a:rPr sz="1200" b="0" i="0">
                <a:solidFill>
                  <a:srgbClr val="1C2433"/>
                </a:solidFill>
                <a:latin typeface="Calibri"/>
              </a:rPr>
              <a:t>: where to start replaying</a:t>
            </a:r>
          </a:p>
        </p:txBody>
      </p:sp>
      <p:sp>
        <p:nvSpPr>
          <p:cNvPr id="16" name="Rounded Rectangle 15"/>
          <p:cNvSpPr/>
          <p:nvPr/>
        </p:nvSpPr>
        <p:spPr>
          <a:xfrm>
            <a:off x="411480" y="4407408"/>
            <a:ext cx="5394960" cy="109728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445312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files</a:t>
            </a:r>
          </a:p>
        </p:txBody>
      </p:sp>
      <p:sp>
        <p:nvSpPr>
          <p:cNvPr id="18" name="TextBox 17"/>
          <p:cNvSpPr txBox="1"/>
          <p:nvPr/>
        </p:nvSpPr>
        <p:spPr>
          <a:xfrm>
            <a:off x="502920" y="4773168"/>
            <a:ext cx="5212080" cy="68580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business_date=…/PRODUCT_TYPE=…/part-….snappy.parquet</a:t>
            </a:r>
          </a:p>
        </p:txBody>
      </p:sp>
      <p:cxnSp>
        <p:nvCxnSpPr>
          <p:cNvPr id="19" name="Connector 18"/>
          <p:cNvCxnSpPr/>
          <p:nvPr/>
        </p:nvCxnSpPr>
        <p:spPr>
          <a:xfrm>
            <a:off x="3108960" y="221284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422452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replay checkpoint + later commits → the file list. Commit: create the next </a:t>
            </a:r>
            <a:r>
              <a:rPr sz="1150" b="0" i="0">
                <a:solidFill>
                  <a:srgbClr val="0E7C86"/>
                </a:solidFill>
                <a:latin typeface="Consolas"/>
              </a:rPr>
              <a:t>NNN.json</a:t>
            </a:r>
            <a:r>
              <a:rPr sz="1250" b="0" i="0">
                <a:solidFill>
                  <a:srgbClr val="5B677A"/>
                </a:solidFill>
                <a:latin typeface="Calibri"/>
              </a:rPr>
              <a:t>.</a:t>
            </a:r>
          </a:p>
        </p:txBody>
      </p:sp>
      <p:sp>
        <p:nvSpPr>
          <p:cNvPr id="22" name="TextBox 21"/>
          <p:cNvSpPr txBox="1"/>
          <p:nvPr/>
        </p:nvSpPr>
        <p:spPr>
          <a:xfrm>
            <a:off x="6382512"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Iceberg: a metadata tree</a:t>
            </a:r>
          </a:p>
        </p:txBody>
      </p:sp>
      <p:sp>
        <p:nvSpPr>
          <p:cNvPr id="23" name="Rounded Rectangle 22"/>
          <p:cNvSpPr/>
          <p:nvPr/>
        </p:nvSpPr>
        <p:spPr>
          <a:xfrm>
            <a:off x="6382512" y="1554480"/>
            <a:ext cx="5394960" cy="658368"/>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73952"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catalog pointer</a:t>
            </a:r>
          </a:p>
        </p:txBody>
      </p:sp>
      <p:sp>
        <p:nvSpPr>
          <p:cNvPr id="25" name="TextBox 24"/>
          <p:cNvSpPr txBox="1"/>
          <p:nvPr/>
        </p:nvSpPr>
        <p:spPr>
          <a:xfrm>
            <a:off x="6473952"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version-hint.text</a:t>
            </a:r>
            <a:r>
              <a:rPr sz="1200" b="0" i="0">
                <a:solidFill>
                  <a:srgbClr val="1C2433"/>
                </a:solidFill>
                <a:latin typeface="Calibri"/>
              </a:rPr>
              <a:t> (path) or the REST catalog's metadata location</a:t>
            </a:r>
          </a:p>
        </p:txBody>
      </p:sp>
      <p:sp>
        <p:nvSpPr>
          <p:cNvPr id="26" name="Rounded Rectangle 25"/>
          <p:cNvSpPr/>
          <p:nvPr/>
        </p:nvSpPr>
        <p:spPr>
          <a:xfrm>
            <a:off x="6382512" y="233172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73952" y="237743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vN.metadata.json</a:t>
            </a:r>
          </a:p>
        </p:txBody>
      </p:sp>
      <p:sp>
        <p:nvSpPr>
          <p:cNvPr id="28" name="TextBox 27"/>
          <p:cNvSpPr txBox="1"/>
          <p:nvPr/>
        </p:nvSpPr>
        <p:spPr>
          <a:xfrm>
            <a:off x="6473952" y="2697479"/>
            <a:ext cx="5212080" cy="246887"/>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schemas, partition specs, sort orders, snapshots, properties</a:t>
            </a:r>
          </a:p>
        </p:txBody>
      </p:sp>
      <p:sp>
        <p:nvSpPr>
          <p:cNvPr id="29" name="Rounded Rectangle 28"/>
          <p:cNvSpPr/>
          <p:nvPr/>
        </p:nvSpPr>
        <p:spPr>
          <a:xfrm>
            <a:off x="6382512" y="310896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473952" y="31546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 list (per snapshot)</a:t>
            </a:r>
          </a:p>
        </p:txBody>
      </p:sp>
      <p:sp>
        <p:nvSpPr>
          <p:cNvPr id="31" name="TextBox 30"/>
          <p:cNvSpPr txBox="1"/>
          <p:nvPr/>
        </p:nvSpPr>
        <p:spPr>
          <a:xfrm>
            <a:off x="6473952" y="347472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snap-….avro</a:t>
            </a:r>
            <a:r>
              <a:rPr sz="1200" b="0" i="0">
                <a:solidFill>
                  <a:srgbClr val="1C2433"/>
                </a:solidFill>
                <a:latin typeface="Calibri"/>
              </a:rPr>
              <a:t>: the manifests, with partition summaries</a:t>
            </a:r>
          </a:p>
        </p:txBody>
      </p:sp>
      <p:sp>
        <p:nvSpPr>
          <p:cNvPr id="32" name="Rounded Rectangle 31"/>
          <p:cNvSpPr/>
          <p:nvPr/>
        </p:nvSpPr>
        <p:spPr>
          <a:xfrm>
            <a:off x="6382512" y="388620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73952" y="393192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manifests</a:t>
            </a:r>
          </a:p>
        </p:txBody>
      </p:sp>
      <p:sp>
        <p:nvSpPr>
          <p:cNvPr id="34" name="TextBox 33"/>
          <p:cNvSpPr txBox="1"/>
          <p:nvPr/>
        </p:nvSpPr>
        <p:spPr>
          <a:xfrm>
            <a:off x="6473952" y="425196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…-m0.avro</a:t>
            </a:r>
            <a:r>
              <a:rPr sz="1200" b="0" i="0">
                <a:solidFill>
                  <a:srgbClr val="1C2433"/>
                </a:solidFill>
                <a:latin typeface="Calibri"/>
              </a:rPr>
              <a:t>: data and delete files, partition values, column bounds</a:t>
            </a:r>
          </a:p>
        </p:txBody>
      </p:sp>
      <p:sp>
        <p:nvSpPr>
          <p:cNvPr id="35" name="Rounded Rectangle 34"/>
          <p:cNvSpPr/>
          <p:nvPr/>
        </p:nvSpPr>
        <p:spPr>
          <a:xfrm>
            <a:off x="6382512" y="4663440"/>
            <a:ext cx="5394960" cy="841248"/>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473952" y="47091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and delete files</a:t>
            </a:r>
          </a:p>
        </p:txBody>
      </p:sp>
      <p:sp>
        <p:nvSpPr>
          <p:cNvPr id="37" name="TextBox 36"/>
          <p:cNvSpPr txBox="1"/>
          <p:nvPr/>
        </p:nvSpPr>
        <p:spPr>
          <a:xfrm>
            <a:off x="6473952" y="5029200"/>
            <a:ext cx="5212080" cy="429768"/>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data/business_date=…/…parquet</a:t>
            </a:r>
            <a:r>
              <a:rPr sz="1200" b="0" i="0">
                <a:solidFill>
                  <a:srgbClr val="1C2433"/>
                </a:solidFill>
                <a:latin typeface="Calibri"/>
              </a:rPr>
              <a:t>; position or equality delete files</a:t>
            </a:r>
          </a:p>
        </p:txBody>
      </p:sp>
      <p:cxnSp>
        <p:nvCxnSpPr>
          <p:cNvPr id="38" name="Connector 37"/>
          <p:cNvCxnSpPr/>
          <p:nvPr/>
        </p:nvCxnSpPr>
        <p:spPr>
          <a:xfrm>
            <a:off x="9079992" y="221284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79992" y="299008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79992" y="376732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079992" y="454456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82512"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pointer → metadata → one manifest list → pruned manifests. Commit: create </a:t>
            </a:r>
            <a:r>
              <a:rPr sz="1150" b="0" i="0">
                <a:solidFill>
                  <a:srgbClr val="0E7C86"/>
                </a:solidFill>
                <a:latin typeface="Consolas"/>
              </a:rPr>
              <a:t>vN+1.metadata.json</a:t>
            </a:r>
            <a:r>
              <a:rPr sz="1250" b="0" i="0">
                <a:solidFill>
                  <a:srgbClr val="5B677A"/>
                </a:solidFill>
                <a:latin typeface="Calibri"/>
              </a:rPr>
              <a:t> (or the catalog swaps the pointer).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(1/3): log, commits, time travel, evolution</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53</a:t>
            </a:r>
          </a:p>
        </p:txBody>
      </p:sp>
      <p:graphicFrame>
        <p:nvGraphicFramePr>
          <p:cNvPr id="9" name="Table 8"/>
          <p:cNvGraphicFramePr>
            <a:graphicFrameLocks noGrp="1"/>
          </p:cNvGraphicFramePr>
          <p:nvPr/>
        </p:nvGraphicFramePr>
        <p:xfrm>
          <a:off x="411480" y="1143000"/>
          <a:ext cx="11365992" cy="4847230"/>
        </p:xfrm>
        <a:graphic>
          <a:graphicData uri="http://schemas.openxmlformats.org/drawingml/2006/table">
            <a:tbl>
              <a:tblPr firstRow="1" bandRow="1">
                <a:tableStyleId>{5940675A-B579-460E-94D1-54222C63F5DA}</a:tableStyleId>
              </a:tblPr>
              <a:tblGrid>
                <a:gridCol w="1828800"/>
                <a:gridCol w="3017520"/>
                <a:gridCol w="3108960"/>
                <a:gridCol w="3410712"/>
              </a:tblGrid>
              <a:tr h="422008">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9906">
                <a:tc>
                  <a:txBody>
                    <a:bodyPr wrap="square"/>
                    <a:lstStyle/>
                    <a:p>
                      <a:pPr algn="l">
                        <a:lnSpc>
                          <a:spcPct val="100000"/>
                        </a:lnSpc>
                      </a:pPr>
                      <a:r>
                        <a:rPr sz="1250" b="1" i="0">
                          <a:solidFill>
                            <a:srgbClr val="1C2433"/>
                          </a:solidFill>
                          <a:latin typeface="Calibri"/>
                        </a:rPr>
                        <a:t>Where the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an ordered log of JSON commits + Parquet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tree: metadata JSON → manifest list →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read natively,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Commit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_delta_log/N.json</a:t>
                      </a:r>
                      <a:r>
                        <a:rPr sz="1250" b="0" i="0">
                          <a:solidFill>
                            <a:srgbClr val="1C2433"/>
                          </a:solidFill>
                          <a:latin typeface="Calibri"/>
                        </a:rPr>
                        <a:t> if 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vN+1.metadata.json</a:t>
                      </a:r>
                      <a:r>
                        <a:rPr sz="1250" b="0" i="0">
                          <a:solidFill>
                            <a:srgbClr val="1C2433"/>
                          </a:solidFill>
                          <a:latin typeface="Calibri"/>
                        </a:rPr>
                        <a:t> if absent, or a catalog swap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both by </a:t>
                      </a:r>
                      <a:r>
                        <a:rPr sz="1150" b="0" i="0">
                          <a:solidFill>
                            <a:srgbClr val="0E7C86"/>
                          </a:solidFill>
                          <a:latin typeface="Consolas"/>
                        </a:rPr>
                        <a:t>If-None-Match: *</a:t>
                      </a:r>
                      <a:r>
                        <a:rPr sz="1250" b="0" i="0">
                          <a:solidFill>
                            <a:srgbClr val="1C2433"/>
                          </a:solidFill>
                          <a:latin typeface="Calibri"/>
                        </a:rPr>
                        <a:t>; Delta via </a:t>
                      </a:r>
                      <a:r>
                        <a:rPr sz="1150" b="0" i="0">
                          <a:solidFill>
                            <a:srgbClr val="0E7C86"/>
                          </a:solidFill>
                          <a:latin typeface="Consolas"/>
                        </a:rPr>
                        <a:t>lake publish</a:t>
                      </a:r>
                      <a:r>
                        <a:rPr sz="1250" b="0" i="0">
                          <a:solidFill>
                            <a:srgbClr val="1C2433"/>
                          </a:solidFill>
                          <a:latin typeface="Calibri"/>
                        </a:rPr>
                        <a:t>, Iceberg via the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12799">
                <a:tc>
                  <a:txBody>
                    <a:bodyPr wrap="square"/>
                    <a:lstStyle/>
                    <a:p>
                      <a:pPr algn="l">
                        <a:lnSpc>
                          <a:spcPct val="100000"/>
                        </a:lnSpc>
                      </a:pPr>
                      <a:r>
                        <a:rPr sz="1250" b="1" i="0">
                          <a:solidFill>
                            <a:srgbClr val="1C2433"/>
                          </a:solidFill>
                          <a:latin typeface="Calibri"/>
                        </a:rPr>
                        <a:t>Concurrency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conflicting writers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requirements re-validated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rewrite of a changed day is refused (Iceberg); per-table locks in the scripts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version or timestamp, until vacuum and log cleanup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snapshot or timestamp, until snapshots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1">
                          <a:solidFill>
                            <a:srgbClr val="1C2433"/>
                          </a:solidFill>
                          <a:latin typeface="Calibri"/>
                        </a:rPr>
                        <a:t>known at</a:t>
                      </a:r>
                      <a:r>
                        <a:rPr sz="1250" b="0" i="0">
                          <a:solidFill>
                            <a:srgbClr val="1C2433"/>
                          </a:solidFill>
                          <a:latin typeface="Calibri"/>
                        </a:rPr>
                        <a:t> on both; 7-year floor for risk tables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12799">
                <a:tc>
                  <a:txBody>
                    <a:bodyPr wrap="square"/>
                    <a:lstStyle/>
                    <a:p>
                      <a:pPr algn="l">
                        <a:lnSpc>
                          <a:spcPct val="100000"/>
                        </a:lnSpc>
                      </a:pPr>
                      <a:r>
                        <a:rPr sz="12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add columns by name; renames need column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by field id: add, drop, rename, reorder, widen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Iceberg reads every change by id; Delta publish refuses a changed day (in-place add: planned, not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Reading cost of a 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commits since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one small pointer, then metadata if changed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Iceberg keys caches by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(2/3): partitions, deletes, maintenance, catalogs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54</a:t>
            </a:r>
          </a:p>
        </p:txBody>
      </p:sp>
      <p:graphicFrame>
        <p:nvGraphicFramePr>
          <p:cNvPr id="9" name="Table 8"/>
          <p:cNvGraphicFramePr>
            <a:graphicFrameLocks noGrp="1"/>
          </p:cNvGraphicFramePr>
          <p:nvPr/>
        </p:nvGraphicFramePr>
        <p:xfrm>
          <a:off x="411480" y="1143000"/>
          <a:ext cx="11365992" cy="4329074"/>
        </p:xfrm>
        <a:graphic>
          <a:graphicData uri="http://schemas.openxmlformats.org/drawingml/2006/table">
            <a:tbl>
              <a:tblPr firstRow="1" bandRow="1">
                <a:tableStyleId>{5940675A-B579-460E-94D1-54222C63F5DA}</a:tableStyleId>
              </a:tblPr>
              <a:tblGrid>
                <a:gridCol w="1737360"/>
                <a:gridCol w="2834640"/>
                <a:gridCol w="3108960"/>
                <a:gridCol w="3685032"/>
              </a:tblGrid>
              <a:tr h="435254">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Hive-style folders on columns; liquid clustering (Databricks)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1" i="0">
                          <a:solidFill>
                            <a:srgbClr val="1C2433"/>
                          </a:solidFill>
                          <a:latin typeface="Calibri"/>
                        </a:rPr>
                        <a:t>hidden</a:t>
                      </a:r>
                      <a:r>
                        <a:rPr sz="1250" b="0" i="0">
                          <a:solidFill>
                            <a:srgbClr val="1C2433"/>
                          </a:solidFill>
                          <a:latin typeface="Calibri"/>
                        </a:rPr>
                        <a:t>: transforms (day, bucket, truncate) in the spec; specs evolve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business_date</a:t>
                      </a:r>
                      <a:r>
                        <a:rPr sz="1250" b="0" i="0">
                          <a:solidFill>
                            <a:srgbClr val="1C2433"/>
                          </a:solidFill>
                          <a:latin typeface="Calibri"/>
                        </a:rPr>
                        <a:t> only (+ PRODUCT_TYPE on Delta/AWS); Iceberg transforms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Row deletes, merges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deletion vectors or file rewrites (copy-on-write)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position / equality delete files (merge-on-read) or rewrites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Drishti writes neither: a day is replaced; reads others' deletes (Delta: columns off; Iceberg: columns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OPTIMIZE, checkpoint,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rewrite data and manifests, expire snapshots, remove 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lake maintain</a:t>
                      </a:r>
                      <a:r>
                        <a:rPr sz="1250" b="0" i="0">
                          <a:solidFill>
                            <a:srgbClr val="1C2433"/>
                          </a:solidFill>
                          <a:latin typeface="Calibri"/>
                        </a:rPr>
                        <a:t> + Admin → Lakes; Iceberg with orphan removal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optional (the log is the table); Unity, Glue for discovery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central to most engines (Glue, Polaris, Unity, Nessie); path tables work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none; Iceberg: path or REST, incl. Glue and S3 Tables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Table identity across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id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UUID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report it to Drishti*net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Side by side (3/3): the ecosystem and the running cost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55</a:t>
            </a:r>
          </a:p>
        </p:txBody>
      </p:sp>
      <p:graphicFrame>
        <p:nvGraphicFramePr>
          <p:cNvPr id="9" name="Table 8"/>
          <p:cNvGraphicFramePr>
            <a:graphicFrameLocks noGrp="1"/>
          </p:cNvGraphicFramePr>
          <p:nvPr/>
        </p:nvGraphicFramePr>
        <p:xfrm>
          <a:off x="411480" y="1143000"/>
          <a:ext cx="11365992" cy="2891329"/>
        </p:xfrm>
        <a:graphic>
          <a:graphicData uri="http://schemas.openxmlformats.org/drawingml/2006/table">
            <a:tbl>
              <a:tblPr firstRow="1" bandRow="1">
                <a:tableStyleId>{5940675A-B579-460E-94D1-54222C63F5DA}</a:tableStyleId>
              </a:tblPr>
              <a:tblGrid>
                <a:gridCol w="2377440"/>
                <a:gridCol w="4114800"/>
                <a:gridCol w="4873752"/>
              </a:tblGrid>
              <a:tr h="347470">
                <a:tc>
                  <a:txBody>
                    <a:bodyPr wrap="square"/>
                    <a:lstStyle/>
                    <a:p>
                      <a:pPr algn="l">
                        <a:lnSpc>
                          <a:spcPct val="100000"/>
                        </a:lnSpc>
                      </a:pPr>
                      <a:r>
                        <a:rPr sz="115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7470">
                <a:tc>
                  <a:txBody>
                    <a:bodyPr wrap="square"/>
                    <a:lstStyle/>
                    <a:p>
                      <a:pPr algn="l">
                        <a:lnSpc>
                          <a:spcPct val="100000"/>
                        </a:lnSpc>
                      </a:pPr>
                      <a:r>
                        <a:rPr sz="1150" b="1" i="0">
                          <a:solidFill>
                            <a:srgbClr val="1C2433"/>
                          </a:solidFill>
                          <a:latin typeface="Calibri"/>
                        </a:rPr>
                        <a:t>Apache Spark, Amazon EMR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(Delta's Spark 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(Iceberg's Spark runtime)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7470">
                <a:tc>
                  <a:txBody>
                    <a:bodyPr wrap="square"/>
                    <a:lstStyle/>
                    <a:p>
                      <a:pPr algn="l">
                        <a:lnSpc>
                          <a:spcPct val="100000"/>
                        </a:lnSpc>
                      </a:pPr>
                      <a:r>
                        <a:rPr sz="1150" b="1" i="0">
                          <a:solidFill>
                            <a:srgbClr val="1C2433"/>
                          </a:solidFill>
                          <a:latin typeface="Calibri"/>
                        </a:rPr>
                        <a:t>Trino, Starburst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0483">
                <a:tc>
                  <a:txBody>
                    <a:bodyPr wrap="square"/>
                    <a:lstStyle/>
                    <a:p>
                      <a:pPr algn="l">
                        <a:lnSpc>
                          <a:spcPct val="100000"/>
                        </a:lnSpc>
                      </a:pPr>
                      <a:r>
                        <a:rPr sz="1150" b="1" i="0">
                          <a:solidFill>
                            <a:srgbClr val="1C2433"/>
                          </a:solidFill>
                          <a:latin typeface="Calibri"/>
                        </a:rPr>
                        <a:t>Amazon Athena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Delta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and writes Iceberg tables in the Glue catalog; OPTIMIZE,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Snowflake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reads through external tables / catalog integration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native Iceberg tables (managed or catalog-linked), Open Catalog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47470">
                <a:tc>
                  <a:txBody>
                    <a:bodyPr wrap="square"/>
                    <a:lstStyle/>
                    <a:p>
                      <a:pPr algn="l">
                        <a:lnSpc>
                          <a:spcPct val="100000"/>
                        </a:lnSpc>
                      </a:pPr>
                      <a:r>
                        <a:rPr sz="1150" b="1" i="0">
                          <a:solidFill>
                            <a:srgbClr val="1C2433"/>
                          </a:solidFill>
                          <a:latin typeface="Calibri"/>
                        </a:rPr>
                        <a:t>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native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through Unity's Iceberg REST interface or UniForm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pyiceberg, DuckDB, pandas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delta-rs (deltalake), DuckDB's delta extension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pyiceberg, DuckDB's iceberg extension (both used in Drishti's tests)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526280"/>
          <a:ext cx="11365992" cy="1691385"/>
        </p:xfrm>
        <a:graphic>
          <a:graphicData uri="http://schemas.openxmlformats.org/drawingml/2006/table">
            <a:tbl>
              <a:tblPr firstRow="1" bandRow="1">
                <a:tableStyleId>{5940675A-B579-460E-94D1-54222C63F5DA}</a:tableStyleId>
              </a:tblPr>
              <a:tblGrid>
                <a:gridCol w="2377440"/>
                <a:gridCol w="4114800"/>
                <a:gridCol w="4873752"/>
              </a:tblGrid>
              <a:tr h="310896">
                <a:tc>
                  <a:txBody>
                    <a:bodyPr wrap="square"/>
                    <a:lstStyle/>
                    <a:p>
                      <a:pPr algn="l">
                        <a:lnSpc>
                          <a:spcPct val="100000"/>
                        </a:lnSpc>
                      </a:pPr>
                      <a:r>
                        <a:rPr sz="1150" b="1" i="0">
                          <a:solidFill>
                            <a:srgbClr val="FFFFFF"/>
                          </a:solidFill>
                          <a:latin typeface="Calibri"/>
                        </a:rPr>
                        <a:t>Running cost 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50" b="1" i="0">
                          <a:solidFill>
                            <a:srgbClr val="1C2433"/>
                          </a:solidFill>
                          <a:latin typeface="Calibri"/>
                        </a:rPr>
                        <a:t>Storage (Parquet), tiers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150" b="1" i="0">
                          <a:solidFill>
                            <a:srgbClr val="1C2433"/>
                          </a:solidFill>
                          <a:latin typeface="Calibri"/>
                        </a:rPr>
                        <a:t>Metadata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small JSON; a checkpoint every 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metadata JSON listing every snapshot kept + a manifest list + a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(path) or Glue / S3 Tables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150" b="1" i="0">
                          <a:solidFill>
                            <a:srgbClr val="1C2433"/>
                          </a:solidFill>
                          <a:latin typeface="Calibri"/>
                        </a:rPr>
                        <a:t>Maintenance compute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IcebergMaintenance</a:t>
                      </a:r>
                      <a:r>
                        <a:rPr sz="1150" b="0" i="0">
                          <a:solidFill>
                            <a:srgbClr val="1C2433"/>
                          </a:solidFill>
                          <a:latin typeface="Calibri"/>
                        </a:rPr>
                        <a:t>, or managed optimizers (charged)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Drishti's support,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11</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56</a:t>
            </a:r>
          </a:p>
        </p:txBody>
      </p:sp>
      <p:graphicFrame>
        <p:nvGraphicFramePr>
          <p:cNvPr id="9" name="Table 8"/>
          <p:cNvGraphicFramePr>
            <a:graphicFrameLocks noGrp="1"/>
          </p:cNvGraphicFramePr>
          <p:nvPr/>
        </p:nvGraphicFramePr>
        <p:xfrm>
          <a:off x="411480" y="1143000"/>
          <a:ext cx="11365992" cy="4847232"/>
        </p:xfrm>
        <a:graphic>
          <a:graphicData uri="http://schemas.openxmlformats.org/drawingml/2006/table">
            <a:tbl>
              <a:tblPr firstRow="1" bandRow="1">
                <a:tableStyleId>{5940675A-B579-460E-94D1-54222C63F5DA}</a:tableStyleId>
              </a:tblPr>
              <a:tblGrid>
                <a:gridCol w="5120640"/>
                <a:gridCol w="3108960"/>
                <a:gridCol w="3136392"/>
              </a:tblGrid>
              <a:tr h="372864">
                <a:tc>
                  <a:txBody>
                    <a:bodyPr wrap="square"/>
                    <a:lstStyle/>
                    <a:p>
                      <a:pPr algn="l">
                        <a:lnSpc>
                          <a:spcPct val="100000"/>
                        </a:lnSpc>
                      </a:pPr>
                      <a:r>
                        <a:rPr sz="1200" b="1" i="0">
                          <a:solidFill>
                            <a:srgbClr val="FFFFFF"/>
                          </a:solidFill>
                          <a:latin typeface="Calibri"/>
                        </a:rPr>
                        <a:t>Capability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2864">
                <a:tc>
                  <a:txBody>
                    <a:bodyPr wrap="square"/>
                    <a:lstStyle/>
                    <a:p>
                      <a:pPr algn="l">
                        <a:lnSpc>
                          <a:spcPct val="100000"/>
                        </a:lnSpc>
                      </a:pPr>
                      <a:r>
                        <a:rPr sz="1200" b="1" i="0">
                          <a:solidFill>
                            <a:srgbClr val="1C2433"/>
                          </a:solidFill>
                          <a:latin typeface="Calibri"/>
                        </a:rPr>
                        <a:t>Read local disk, EFS, S3 without Hadoop;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Write a table in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a:t>
                      </a:r>
                      <a:r>
                        <a:rPr sz="1100" b="0" i="0">
                          <a:solidFill>
                            <a:srgbClr val="0E7C86"/>
                          </a:solidFill>
                          <a:latin typeface="Consolas"/>
                        </a:rPr>
                        <a:t>lake publish</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(the loader,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864">
                <a:tc>
                  <a:txBody>
                    <a:bodyPr wrap="square"/>
                    <a:lstStyle/>
                    <a:p>
                      <a:pPr algn="l">
                        <a:lnSpc>
                          <a:spcPct val="100000"/>
                        </a:lnSpc>
                      </a:pPr>
                      <a:r>
                        <a:rPr sz="1200" b="1" i="0">
                          <a:solidFill>
                            <a:srgbClr val="1C2433"/>
                          </a:solidFill>
                          <a:latin typeface="Calibri"/>
                        </a:rPr>
                        <a:t>Tables other engines write, in their own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a:t>
                      </a:r>
                      <a:r>
                        <a:rPr sz="1100" b="0" i="0">
                          <a:solidFill>
                            <a:srgbClr val="0E7C86"/>
                          </a:solidFill>
                          <a:latin typeface="Consolas"/>
                        </a:rPr>
                        <a:t>iceberg-external</a:t>
                      </a:r>
                      <a:r>
                        <a:rPr sz="1200" b="0" i="0">
                          <a:solidFill>
                            <a:srgbClr val="1C2433"/>
                          </a:solidFill>
                          <a:latin typeface="Calibri"/>
                        </a:rPr>
                        <a:t>, 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REST, Glue or S3 Tables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(not needed)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(client); NOT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864">
                <a:tc>
                  <a:txBody>
                    <a:bodyPr wrap="square"/>
                    <a:lstStyle/>
                    <a:p>
                      <a:pPr algn="l">
                        <a:lnSpc>
                          <a:spcPct val="100000"/>
                        </a:lnSpc>
                      </a:pPr>
                      <a:r>
                        <a:rPr sz="1200" b="1" i="0">
                          <a:solidFill>
                            <a:srgbClr val="1C2433"/>
                          </a:solidFill>
                          <a:latin typeface="Calibri"/>
                        </a:rPr>
                        <a:t>AWS scripts: load, backfill, maintain, lifecycle, alarms, report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(dry-run tested)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Maintenance UI, schedules, ownership rule, 7-year risk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864">
                <a:tc>
                  <a:txBody>
                    <a:bodyPr wrap="square"/>
                    <a:lstStyle/>
                    <a:p>
                      <a:pPr algn="l">
                        <a:lnSpc>
                          <a:spcPct val="100000"/>
                        </a:lnSpc>
                      </a:pPr>
                      <a:r>
                        <a:rPr sz="1200" b="1" i="0">
                          <a:solidFill>
                            <a:srgbClr val="1C2433"/>
                          </a:solidFill>
                          <a:latin typeface="Calibri"/>
                        </a:rPr>
                        <a:t>Disk caches (id maps, documents) across restarts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VaR, intraday and exposure from the lake (vector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(equal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864">
                <a:tc>
                  <a:txBody>
                    <a:bodyPr wrap="square"/>
                    <a:lstStyle/>
                    <a:p>
                      <a:pPr algn="l">
                        <a:lnSpc>
                          <a:spcPct val="100000"/>
                        </a:lnSpc>
                      </a:pPr>
                      <a:r>
                        <a:rPr sz="1200" b="1" i="0">
                          <a:solidFill>
                            <a:srgbClr val="1C2433"/>
                          </a:solidFill>
                          <a:latin typeface="Calibri"/>
                        </a:rPr>
                        <a:t>VaR sharded across servers; the parallel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Official VaR and exposure results, local or </a:t>
                      </a:r>
                      <a:r>
                        <a:rPr sz="1100" b="1"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864">
                <a:tc>
                  <a:txBody>
                    <a:bodyPr wrap="square"/>
                    <a:lstStyle/>
                    <a:p>
                      <a:pPr algn="l">
                        <a:lnSpc>
                          <a:spcPct val="100000"/>
                        </a:lnSpc>
                      </a:pPr>
                      <a:r>
                        <a:rPr sz="1200" b="1" i="0">
                          <a:solidFill>
                            <a:srgbClr val="1C2433"/>
                          </a:solidFill>
                          <a:latin typeface="Calibri"/>
                        </a:rPr>
                        <a:t>Schema change without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B1E3B"/>
                          </a:solidFill>
                          <a:latin typeface="Calibri"/>
                        </a:rPr>
                        <a:t>PLANNED</a:t>
                      </a:r>
                      <a:r>
                        <a:rPr sz="1200" b="0" i="0">
                          <a:solidFill>
                            <a:srgbClr val="1C2433"/>
                          </a:solidFill>
                          <a:latin typeface="Calibri"/>
                        </a:rPr>
                        <a:t> (in-place add)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864">
                <a:tc>
                  <a:txBody>
                    <a:bodyPr wrap="square"/>
                    <a:lstStyle/>
                    <a:p>
                      <a:pPr algn="l">
                        <a:lnSpc>
                          <a:spcPct val="100000"/>
                        </a:lnSpc>
                      </a:pPr>
                      <a:r>
                        <a:rPr sz="1200" b="1" i="0">
                          <a:solidFill>
                            <a:srgbClr val="1C2433"/>
                          </a:solidFill>
                          <a:latin typeface="Calibri"/>
                        </a:rPr>
                        <a:t>Caches survive a commit of another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12</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Which to choose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A decision guide for a bank</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58</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3657600"/>
                <a:gridCol w="2560320"/>
                <a:gridCol w="5148072"/>
              </a:tblGrid>
              <a:tr h="435254">
                <a:tc>
                  <a:txBody>
                    <a:bodyPr wrap="square"/>
                    <a:lstStyle/>
                    <a:p>
                      <a:pPr algn="l">
                        <a:lnSpc>
                          <a:spcPct val="100000"/>
                        </a:lnSpc>
                      </a:pPr>
                      <a:r>
                        <a:rPr sz="1200" b="1" i="0">
                          <a:solidFill>
                            <a:srgbClr val="FFFFFF"/>
                          </a:solidFill>
                          <a:latin typeface="Calibri"/>
                        </a:rPr>
                        <a:t>If the bank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Choose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Because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has no format standard yet, or runs Kafka intraday heavily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Delta</a:t>
                      </a:r>
                      <a:r>
                        <a:rPr sz="1200" b="0"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default everywhere; small JSON commits; the longest-run AWS scripts and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runs VaR or exposure and standardises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--store risk=iceberg</a:t>
                      </a:r>
                      <a:r>
                        <a:rPr sz="1200" b="0" i="0">
                          <a:solidFill>
                            <a:srgbClr val="1C2433"/>
                          </a:solidFill>
                          <a:latin typeface="Calibri"/>
                        </a:rPr>
                        <a:t>: VaR, exposure, intraday and official results equal Delta's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already keeps trades in Iceberg (Snowflake, Glue, Spark pipelines)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read in place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serves them read-only; no copy, no Drishti 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needs other engines to write the same tables Drishti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through the catalog's requirements; Drishti's loader is one writer among several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changes promoted columns often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those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column is added by field id; Delta's publish needs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standardises on Databricks and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Drishti reads Delta natively; Iceberg only through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must run Drishti on Windows laptops for QA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either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both native engines run without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recommendation, in one page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12</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59</a:t>
            </a:r>
          </a:p>
        </p:txBody>
      </p:sp>
      <p:sp>
        <p:nvSpPr>
          <p:cNvPr id="9" name="Rounded Rectangle 8"/>
          <p:cNvSpPr/>
          <p:nvPr/>
        </p:nvSpPr>
        <p:spPr>
          <a:xfrm>
            <a:off x="411480" y="1188720"/>
            <a:ext cx="5486400" cy="51206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512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380744"/>
            <a:ext cx="5120640" cy="5010912"/>
          </a:xfrm>
          <a:prstGeom prst="rect">
            <a:avLst/>
          </a:prstGeom>
          <a:noFill/>
        </p:spPr>
        <p:txBody>
          <a:bodyPr wrap="square" lIns="45720" rIns="45720" tIns="27432" bIns="27432" anchor="t">
            <a:spAutoFit/>
          </a:bodyPr>
          <a:lstStyle/>
          <a:p>
            <a:pPr algn="l">
              <a:lnSpc>
                <a:spcPct val="105000"/>
              </a:lnSpc>
              <a:spcAft>
                <a:spcPts val="1400"/>
              </a:spcAft>
            </a:pPr>
            <a:r>
              <a:rPr sz="1700" b="1" i="0">
                <a:solidFill>
                  <a:srgbClr val="1C2433"/>
                </a:solidFill>
                <a:latin typeface="Calibri"/>
              </a:rPr>
              <a:t>Delta by default; Iceberg wherever the bank standardises on it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Risk domain</a:t>
            </a:r>
            <a:r>
              <a:rPr sz="1450" b="0" i="0">
                <a:solidFill>
                  <a:srgbClr val="1C2433"/>
                </a:solidFill>
                <a:latin typeface="Calibri"/>
              </a:rPr>
              <a:t> (P&amp;L vectors, scenario PVs, exposure paths, official results): Delta by default; Iceberg equal to the cent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Trades, reference, market data</a:t>
            </a:r>
            <a:r>
              <a:rPr sz="1450" b="0" i="0">
                <a:solidFill>
                  <a:srgbClr val="1C2433"/>
                </a:solidFill>
                <a:latin typeface="Calibri"/>
              </a:rPr>
              <a:t>: either, chosen per source system (</a:t>
            </a:r>
            <a:r>
              <a:rPr sz="1350" b="0" i="0">
                <a:solidFill>
                  <a:srgbClr val="0E7C86"/>
                </a:solidFill>
                <a:latin typeface="Consolas"/>
              </a:rPr>
              <a:t>--store</a:t>
            </a:r>
            <a:r>
              <a:rPr sz="1450" b="0" i="0">
                <a:solidFill>
                  <a:srgbClr val="1C2433"/>
                </a:solidFill>
                <a:latin typeface="Calibri"/>
              </a:rPr>
              <a: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The bank's Iceberg tables</a:t>
            </a:r>
            <a:r>
              <a:rPr sz="1450" b="0" i="0">
                <a:solidFill>
                  <a:srgbClr val="1C2433"/>
                </a:solidFill>
                <a:latin typeface="Calibri"/>
              </a:rPr>
              <a:t> (Snowflake, Glue): </a:t>
            </a:r>
            <a:r>
              <a:rPr sz="1350" b="0" i="0">
                <a:solidFill>
                  <a:srgbClr val="0E7C86"/>
                </a:solidFill>
                <a:latin typeface="Consolas"/>
              </a:rPr>
              <a:t>iceberg-external</a:t>
            </a:r>
            <a:r>
              <a:rPr sz="1450" b="0" i="0">
                <a:solidFill>
                  <a:srgbClr val="1C2433"/>
                </a:solidFill>
                <a:latin typeface="Calibri"/>
              </a:rPr>
              <a:t>, read in place</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One switch per table</a:t>
            </a:r>
            <a:r>
              <a:rPr sz="1450" b="0" i="0">
                <a:solidFill>
                  <a:srgbClr val="1C2433"/>
                </a:solidFill>
                <a:latin typeface="Calibri"/>
              </a:rPr>
              <a:t>: the connector name never changes, so a table can move later</a:t>
            </a:r>
          </a:p>
        </p:txBody>
      </p:sp>
      <p:sp>
        <p:nvSpPr>
          <p:cNvPr id="12" name="TextBox 11"/>
          <p:cNvSpPr txBox="1"/>
          <p:nvPr/>
        </p:nvSpPr>
        <p:spPr>
          <a:xfrm>
            <a:off x="6172200" y="1188720"/>
            <a:ext cx="557784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Built for Iceberg; what remains</a:t>
            </a:r>
          </a:p>
        </p:txBody>
      </p:sp>
      <p:sp>
        <p:nvSpPr>
          <p:cNvPr id="13" name="Oval 12"/>
          <p:cNvSpPr/>
          <p:nvPr/>
        </p:nvSpPr>
        <p:spPr>
          <a:xfrm>
            <a:off x="6217920" y="170992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70992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1</a:t>
            </a:r>
          </a:p>
        </p:txBody>
      </p:sp>
      <p:sp>
        <p:nvSpPr>
          <p:cNvPr id="15" name="TextBox 14"/>
          <p:cNvSpPr txBox="1"/>
          <p:nvPr/>
        </p:nvSpPr>
        <p:spPr>
          <a:xfrm>
            <a:off x="6720840" y="1645920"/>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vectors()</a:t>
            </a:r>
            <a:r>
              <a:rPr sz="1300" b="0" i="0">
                <a:solidFill>
                  <a:srgbClr val="1C2433"/>
                </a:solidFill>
                <a:latin typeface="Calibri"/>
              </a:rPr>
              <a:t>, documents, identity, disk caches; VaR, intraday, exposure on Iceberg</a:t>
            </a:r>
          </a:p>
        </p:txBody>
      </p:sp>
      <p:sp>
        <p:nvSpPr>
          <p:cNvPr id="16" name="Oval 15"/>
          <p:cNvSpPr/>
          <p:nvPr/>
        </p:nvSpPr>
        <p:spPr>
          <a:xfrm>
            <a:off x="6217920" y="248716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48716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2</a:t>
            </a:r>
          </a:p>
        </p:txBody>
      </p:sp>
      <p:sp>
        <p:nvSpPr>
          <p:cNvPr id="18" name="TextBox 17"/>
          <p:cNvSpPr txBox="1"/>
          <p:nvPr/>
        </p:nvSpPr>
        <p:spPr>
          <a:xfrm>
            <a:off x="6720840" y="2423160"/>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Official results to Iceberg and to </a:t>
            </a:r>
            <a:r>
              <a:rPr sz="1200" b="0" i="0">
                <a:solidFill>
                  <a:srgbClr val="0E7C86"/>
                </a:solidFill>
                <a:latin typeface="Consolas"/>
              </a:rPr>
              <a:t>s3://</a:t>
            </a:r>
            <a:r>
              <a:rPr sz="1300" b="0" i="0">
                <a:solidFill>
                  <a:srgbClr val="1C2433"/>
                </a:solidFill>
                <a:latin typeface="Calibri"/>
              </a:rPr>
              <a:t> (both formats); BI readers follow</a:t>
            </a:r>
          </a:p>
        </p:txBody>
      </p:sp>
      <p:sp>
        <p:nvSpPr>
          <p:cNvPr id="19" name="Oval 18"/>
          <p:cNvSpPr/>
          <p:nvPr/>
        </p:nvSpPr>
        <p:spPr>
          <a:xfrm>
            <a:off x="6217920" y="326440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26440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3</a:t>
            </a:r>
          </a:p>
        </p:txBody>
      </p:sp>
      <p:sp>
        <p:nvSpPr>
          <p:cNvPr id="21" name="TextBox 20"/>
          <p:cNvSpPr txBox="1"/>
          <p:nvPr/>
        </p:nvSpPr>
        <p:spPr>
          <a:xfrm>
            <a:off x="6720840" y="3200400"/>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deploy/aws/iceberg/</a:t>
            </a:r>
            <a:r>
              <a:rPr sz="1300" b="0" i="0">
                <a:solidFill>
                  <a:srgbClr val="1C2433"/>
                </a:solidFill>
                <a:latin typeface="Calibri"/>
              </a:rPr>
              <a:t>, orphan files, Admin → Lakes, the 7-year floor</a:t>
            </a:r>
          </a:p>
        </p:txBody>
      </p:sp>
      <p:sp>
        <p:nvSpPr>
          <p:cNvPr id="22" name="Oval 21"/>
          <p:cNvSpPr/>
          <p:nvPr/>
        </p:nvSpPr>
        <p:spPr>
          <a:xfrm>
            <a:off x="6217920" y="404164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04164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4</a:t>
            </a:r>
          </a:p>
        </p:txBody>
      </p:sp>
      <p:sp>
        <p:nvSpPr>
          <p:cNvPr id="24" name="TextBox 23"/>
          <p:cNvSpPr txBox="1"/>
          <p:nvPr/>
        </p:nvSpPr>
        <p:spPr>
          <a:xfrm>
            <a:off x="6720840" y="3977639"/>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sharded across a cluster and the parallel Java loader, on either format</a:t>
            </a:r>
          </a:p>
        </p:txBody>
      </p:sp>
      <p:sp>
        <p:nvSpPr>
          <p:cNvPr id="25" name="Oval 24"/>
          <p:cNvSpPr/>
          <p:nvPr/>
        </p:nvSpPr>
        <p:spPr>
          <a:xfrm>
            <a:off x="6217920" y="481888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81888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5</a:t>
            </a:r>
          </a:p>
        </p:txBody>
      </p:sp>
      <p:sp>
        <p:nvSpPr>
          <p:cNvPr id="27" name="TextBox 26"/>
          <p:cNvSpPr txBox="1"/>
          <p:nvPr/>
        </p:nvSpPr>
        <p:spPr>
          <a:xfrm>
            <a:off x="6720840" y="475487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NOT RUN:</a:t>
            </a:r>
            <a:r>
              <a:rPr sz="1300" b="0" i="0">
                <a:solidFill>
                  <a:srgbClr val="1C2433"/>
                </a:solidFill>
                <a:latin typeface="Calibri"/>
              </a:rPr>
              <a:t> the Glue and S3 Tables runs on a real AWS account (</a:t>
            </a:r>
            <a:r>
              <a:rPr sz="1200" b="0" i="0">
                <a:solidFill>
                  <a:srgbClr val="0E7C86"/>
                </a:solidFill>
                <a:latin typeface="Consolas"/>
              </a:rPr>
              <a:t>check-glue.sh</a:t>
            </a:r>
            <a:r>
              <a:rPr sz="1300" b="0" i="0">
                <a:solidFill>
                  <a:srgbClr val="1C2433"/>
                </a:solidFill>
                <a:latin typeface="Calibri"/>
              </a:rPr>
              <a:t>)</a:t>
            </a:r>
          </a:p>
        </p:txBody>
      </p:sp>
      <p:sp>
        <p:nvSpPr>
          <p:cNvPr id="28" name="Oval 27"/>
          <p:cNvSpPr/>
          <p:nvPr/>
        </p:nvSpPr>
        <p:spPr>
          <a:xfrm>
            <a:off x="6217920" y="5596127"/>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5596127"/>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6</a:t>
            </a:r>
          </a:p>
        </p:txBody>
      </p:sp>
      <p:sp>
        <p:nvSpPr>
          <p:cNvPr id="30" name="TextBox 29"/>
          <p:cNvSpPr txBox="1"/>
          <p:nvPr/>
        </p:nvSpPr>
        <p:spPr>
          <a:xfrm>
            <a:off x="6720840" y="553211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PLANNED:</a:t>
            </a:r>
            <a:r>
              <a:rPr sz="1300" b="0" i="0">
                <a:solidFill>
                  <a:srgbClr val="1C2433"/>
                </a:solidFill>
                <a:latin typeface="Calibri"/>
              </a:rPr>
              <a:t> Delta↔Iceberg conversion, Delta in-place schema evolution, the 200K benchmark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13</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Risk workloads on Iceberg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VaR and exposure inputs: what each needs from the format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61</a:t>
            </a:r>
          </a:p>
        </p:txBody>
      </p:sp>
      <p:graphicFrame>
        <p:nvGraphicFramePr>
          <p:cNvPr id="9" name="Table 8"/>
          <p:cNvGraphicFramePr>
            <a:graphicFrameLocks noGrp="1"/>
          </p:cNvGraphicFramePr>
          <p:nvPr/>
        </p:nvGraphicFramePr>
        <p:xfrm>
          <a:off x="411480" y="1143000"/>
          <a:ext cx="11365992" cy="2011680"/>
        </p:xfrm>
        <a:graphic>
          <a:graphicData uri="http://schemas.openxmlformats.org/drawingml/2006/table">
            <a:tbl>
              <a:tblPr firstRow="1" bandRow="1">
                <a:tableStyleId>{5940675A-B579-460E-94D1-54222C63F5DA}</a:tableStyleId>
              </a:tblPr>
              <a:tblGrid>
                <a:gridCol w="3291840"/>
                <a:gridCol w="2651760"/>
                <a:gridCol w="2496312"/>
                <a:gridCol w="1188720"/>
                <a:gridCol w="1737360"/>
              </a:tblGrid>
              <a:tr h="310896">
                <a:tc>
                  <a:txBody>
                    <a:bodyPr wrap="square"/>
                    <a:lstStyle/>
                    <a:p>
                      <a:pPr algn="l">
                        <a:lnSpc>
                          <a:spcPct val="100000"/>
                        </a:lnSpc>
                      </a:pPr>
                      <a:r>
                        <a:rPr sz="1200" b="1" i="0">
                          <a:solidFill>
                            <a:srgbClr val="FFFFFF"/>
                          </a:solidFill>
                          <a:latin typeface="Calibri"/>
                        </a:rPr>
                        <a:t>Input (pack)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Vector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Size driver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100" b="1" i="0">
                          <a:solidFill>
                            <a:srgbClr val="0E7C86"/>
                          </a:solidFill>
                          <a:latin typeface="Consolas"/>
                        </a:rPr>
                        <a:t>pnl-vector</a:t>
                      </a:r>
                      <a:r>
                        <a:rPr sz="1200" b="1" i="0">
                          <a:solidFill>
                            <a:srgbClr val="1C2433"/>
                          </a:solidFill>
                          <a:latin typeface="Calibri"/>
                        </a:rPr>
                        <a:t> (market-risk), </a:t>
                      </a:r>
                      <a:r>
                        <a:rPr sz="1100" b="1" i="0">
                          <a:solidFill>
                            <a:srgbClr val="0E7C86"/>
                          </a:solidFill>
                          <a:latin typeface="Consolas"/>
                        </a:rPr>
                        <a:t>PNL-&lt;trade&gt;-&lt;set&gt;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PNL list&lt;double&gt;</a:t>
                      </a:r>
                      <a:r>
                        <a:rPr sz="1200" b="0" i="0">
                          <a:solidFill>
                            <a:srgbClr val="1C2433"/>
                          </a:solidFill>
                          <a:latin typeface="Calibri"/>
                        </a:rPr>
                        <a:t>,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row per trade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scenario-pv</a:t>
                      </a:r>
                      <a:r>
                        <a:rPr sz="1200" b="1" i="0">
                          <a:solidFill>
                            <a:srgbClr val="1C2433"/>
                          </a:solidFill>
                          <a:latin typeface="Calibri"/>
                        </a:rPr>
                        <a:t> (market-risk)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scenario PVs, </a:t>
                      </a:r>
                      <a:r>
                        <a:rPr sz="1100" b="0" i="0">
                          <a:solidFill>
                            <a:srgbClr val="0E7C86"/>
                          </a:solidFill>
                          <a:latin typeface="Consolas"/>
                        </a:rPr>
                        <a:t>list&lt;double&gt;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row per trade or position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00" b="1" i="0">
                          <a:solidFill>
                            <a:srgbClr val="0E7C86"/>
                          </a:solidFill>
                          <a:latin typeface="Consolas"/>
                        </a:rPr>
                        <a:t>exposure-path</a:t>
                      </a:r>
                      <a:r>
                        <a:rPr sz="1200" b="1" i="0">
                          <a:solidFill>
                            <a:srgbClr val="1C2433"/>
                          </a:solidFill>
                          <a:latin typeface="Calibri"/>
                        </a:rPr>
                        <a:t> (counterparty-risk)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MTM</a:t>
                      </a:r>
                      <a:r>
                        <a:rPr sz="1200" b="0" i="0">
                          <a:solidFill>
                            <a:srgbClr val="1C2433"/>
                          </a:solidFill>
                          <a:latin typeface="Calibri"/>
                        </a:rPr>
                        <a:t>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4,000 × VaR's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risk-hierarchy</a:t>
                      </a:r>
                      <a:r>
                        <a:rPr sz="1200" b="1" i="0">
                          <a:solidFill>
                            <a:srgbClr val="1C2433"/>
                          </a:solidFill>
                          <a:latin typeface="Calibri"/>
                        </a:rPr>
                        <a:t>, </a:t>
                      </a:r>
                      <a:r>
                        <a:rPr sz="1100" b="1" i="0">
                          <a:solidFill>
                            <a:srgbClr val="0E7C86"/>
                          </a:solidFill>
                          <a:latin typeface="Consolas"/>
                        </a:rPr>
                        <a:t>var-limit</a:t>
                      </a:r>
                      <a:r>
                        <a:rPr sz="1200" b="1" i="0">
                          <a:solidFill>
                            <a:srgbClr val="1C2433"/>
                          </a:solidFill>
                          <a:latin typeface="Calibri"/>
                        </a:rPr>
                        <a:t>, </a:t>
                      </a:r>
                      <a:r>
                        <a:rPr sz="1100" b="1" i="0">
                          <a:solidFill>
                            <a:srgbClr val="0E7C86"/>
                          </a:solidFill>
                          <a:latin typeface="Consolas"/>
                        </a:rPr>
                        <a:t>scenario-set</a:t>
                      </a:r>
                      <a:r>
                        <a:rPr sz="1200" b="1" i="0">
                          <a:solidFill>
                            <a:srgbClr val="1C2433"/>
                          </a:solidFill>
                          <a:latin typeface="Calibri"/>
                        </a:rPr>
                        <a:t>, </a:t>
                      </a:r>
                      <a:r>
                        <a:rPr sz="1100" b="1" i="0">
                          <a:solidFill>
                            <a:srgbClr val="0E7C86"/>
                          </a:solidFill>
                          <a:latin typeface="Consolas"/>
                        </a:rPr>
                        <a:t>portfolio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small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3429000"/>
            <a:ext cx="576072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What is built for Iceberg</a:t>
            </a:r>
          </a:p>
        </p:txBody>
      </p:sp>
      <p:sp>
        <p:nvSpPr>
          <p:cNvPr id="11" name="TextBox 10"/>
          <p:cNvSpPr txBox="1"/>
          <p:nvPr/>
        </p:nvSpPr>
        <p:spPr>
          <a:xfrm>
            <a:off x="411480" y="3794760"/>
            <a:ext cx="5760720" cy="256032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1" i="0">
                <a:solidFill>
                  <a:srgbClr val="1C2433"/>
                </a:solidFill>
                <a:latin typeface="Calibri"/>
              </a:rPr>
              <a:t>Engine:</a:t>
            </a:r>
            <a:r>
              <a:rPr sz="1250" b="0" i="0">
                <a:solidFill>
                  <a:srgbClr val="1C2433"/>
                </a:solidFill>
                <a:latin typeface="Calibri"/>
              </a:rPr>
              <a:t> list types read and written by drishti-iceberg</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Loader:</a:t>
            </a:r>
            <a:r>
              <a:rPr sz="1250" b="0" i="0">
                <a:solidFill>
                  <a:srgbClr val="1C2433"/>
                </a:solidFill>
                <a:latin typeface="Calibri"/>
              </a:rPr>
              <a:t> </a:t>
            </a:r>
            <a:r>
              <a:rPr sz="1150" b="0" i="0">
                <a:solidFill>
                  <a:srgbClr val="0E7C86"/>
                </a:solidFill>
                <a:latin typeface="Consolas"/>
              </a:rPr>
              <a:t>layout.&lt;kind&gt;.vectors</a:t>
            </a:r>
            <a:r>
              <a:rPr sz="1250" b="0" i="0">
                <a:solidFill>
                  <a:srgbClr val="1C2433"/>
                </a:solidFill>
                <a:latin typeface="Calibri"/>
              </a:rPr>
              <a:t> → a </a:t>
            </a:r>
            <a:r>
              <a:rPr sz="1150" b="0" i="0">
                <a:solidFill>
                  <a:srgbClr val="0E7C86"/>
                </a:solidFill>
                <a:latin typeface="Consolas"/>
              </a:rPr>
              <a:t>list&lt;double&gt;</a:t>
            </a:r>
            <a:r>
              <a:rPr sz="1250" b="0" i="0">
                <a:solidFill>
                  <a:srgbClr val="1C2433"/>
                </a:solidFill>
                <a:latin typeface="Calibri"/>
              </a:rPr>
              <a:t> column, the document keeping </a:t>
            </a:r>
            <a:r>
              <a:rPr sz="1150" b="0" i="0">
                <a:solidFill>
                  <a:srgbClr val="0E7C86"/>
                </a:solidFill>
                <a:latin typeface="Consolas"/>
              </a:rPr>
              <a:t>{"$vector": "PNL"}</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Plugin:</a:t>
            </a:r>
            <a:r>
              <a:rPr sz="1250" b="0" i="0">
                <a:solidFill>
                  <a:srgbClr val="1C2433"/>
                </a:solidFill>
                <a:latin typeface="Calibri"/>
              </a:rPr>
              <a:t> </a:t>
            </a:r>
            <a:r>
              <a:rPr sz="1150" b="0" i="0">
                <a:solidFill>
                  <a:srgbClr val="0E7C86"/>
                </a:solidFill>
                <a:latin typeface="Consolas"/>
              </a:rPr>
              <a:t>vectorColumns()</a:t>
            </a:r>
            <a:r>
              <a:rPr sz="1250" b="0" i="0">
                <a:solidFill>
                  <a:srgbClr val="1C2433"/>
                </a:solidFill>
                <a:latin typeface="Calibri"/>
              </a:rPr>
              <a:t> and </a:t>
            </a:r>
            <a:r>
              <a:rPr sz="1150" b="0" i="0">
                <a:solidFill>
                  <a:srgbClr val="0E7C86"/>
                </a:solidFill>
                <a:latin typeface="Consolas"/>
              </a:rPr>
              <a:t>vectors()</a:t>
            </a:r>
            <a:r>
              <a:rPr sz="1250" b="0" i="0">
                <a:solidFill>
                  <a:srgbClr val="1C2433"/>
                </a:solidFill>
                <a:latin typeface="Calibri"/>
              </a:rPr>
              <a:t> streaming a date file by file, one reused buffer, bit for bit</a:t>
            </a:r>
          </a:p>
          <a:p>
            <a:pPr algn="l">
              <a:lnSpc>
                <a:spcPct val="105000"/>
              </a:lnSpc>
              <a:spcAft>
                <a:spcPts val="500"/>
              </a:spcAft>
            </a:pPr>
            <a:r>
              <a:rPr sz="1250" b="0" i="0">
                <a:solidFill>
                  <a:srgbClr val="E87A1E"/>
                </a:solidFill>
                <a:latin typeface="Calibri"/>
              </a:rPr>
              <a:t>•  </a:t>
            </a:r>
            <a:r>
              <a:rPr sz="1250" b="1" i="0">
                <a:solidFill>
                  <a:srgbClr val="1C2433"/>
                </a:solidFill>
                <a:latin typeface="Calibri"/>
              </a:rPr>
              <a:t>Limit letters:</a:t>
            </a:r>
            <a:r>
              <a:rPr sz="1250" b="0" i="0">
                <a:solidFill>
                  <a:srgbClr val="1C2433"/>
                </a:solidFill>
                <a:latin typeface="Calibri"/>
              </a:rPr>
              <a:t> </a:t>
            </a:r>
            <a:r>
              <a:rPr sz="1150" b="0" i="0">
                <a:solidFill>
                  <a:srgbClr val="0E7C86"/>
                </a:solidFill>
                <a:latin typeface="Consolas"/>
              </a:rPr>
              <a:t>LIMIT_LETTER</a:t>
            </a:r>
            <a:r>
              <a:rPr sz="1250" b="0" i="0">
                <a:solidFill>
                  <a:srgbClr val="1C2433"/>
                </a:solidFill>
                <a:latin typeface="Calibri"/>
              </a:rPr>
              <a:t> on every vector row; a source without the column skips that hierarchy alone, with a warning (</a:t>
            </a:r>
            <a:r>
              <a:rPr sz="1150" b="0" i="0">
                <a:solidFill>
                  <a:srgbClr val="0E7C86"/>
                </a:solidFill>
                <a:latin typeface="Consolas"/>
              </a:rPr>
              <a:t>DRS-5211</a:t>
            </a:r>
            <a:r>
              <a:rPr sz="1250" b="0" i="0">
                <a:solidFill>
                  <a:srgbClr val="1C2433"/>
                </a:solidFill>
                <a:latin typeface="Calibri"/>
              </a:rPr>
              <a:t>)</a:t>
            </a:r>
          </a:p>
        </p:txBody>
      </p:sp>
      <p:sp>
        <p:nvSpPr>
          <p:cNvPr id="12" name="Rounded Rectangle 11"/>
          <p:cNvSpPr/>
          <p:nvPr/>
        </p:nvSpPr>
        <p:spPr>
          <a:xfrm>
            <a:off x="6400800" y="3429000"/>
            <a:ext cx="5376672" cy="28803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400800" y="3429000"/>
            <a:ext cx="82296" cy="28803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629400" y="3483864"/>
            <a:ext cx="5010912" cy="277063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the format barely matters for the arithmetic:</a:t>
            </a:r>
            <a:r>
              <a:rPr sz="1250" b="0" i="0">
                <a:solidFill>
                  <a:srgbClr val="1C2433"/>
                </a:solidFill>
                <a:latin typeface="Calibri"/>
              </a:rPr>
              <a:t> the engine reads a date once into its memory-mapped hot file and answers from there (the VaR engine deck). The lake is read at load: 9.37 GB of float64 a date at 2.3M positions (ESTIMATED), either format the same Parquet column.</a:t>
            </a:r>
          </a:p>
          <a:p>
            <a:pPr algn="l">
              <a:lnSpc>
                <a:spcPct val="105000"/>
              </a:lnSpc>
            </a:pPr>
            <a:r>
              <a:rPr sz="1250" b="1" i="0">
                <a:solidFill>
                  <a:srgbClr val="1C2433"/>
                </a:solidFill>
                <a:latin typeface="Calibri"/>
              </a:rPr>
              <a:t>Where it does matter:</a:t>
            </a:r>
            <a:r>
              <a:rPr sz="1250" b="0" i="0">
                <a:solidFill>
                  <a:srgbClr val="1C2433"/>
                </a:solidFill>
                <a:latin typeface="Calibri"/>
              </a:rPr>
              <a:t> commits, history and metadata (next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The evidence: Delta = Iceberg, to the cent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62</a:t>
            </a:r>
          </a:p>
        </p:txBody>
      </p:sp>
      <p:graphicFrame>
        <p:nvGraphicFramePr>
          <p:cNvPr id="9" name="Table 8"/>
          <p:cNvGraphicFramePr>
            <a:graphicFrameLocks noGrp="1"/>
          </p:cNvGraphicFramePr>
          <p:nvPr/>
        </p:nvGraphicFramePr>
        <p:xfrm>
          <a:off x="411480" y="1143000"/>
          <a:ext cx="11365992" cy="2389630"/>
        </p:xfrm>
        <a:graphic>
          <a:graphicData uri="http://schemas.openxmlformats.org/drawingml/2006/table">
            <a:tbl>
              <a:tblPr firstRow="1" bandRow="1">
                <a:tableStyleId>{5940675A-B579-460E-94D1-54222C63F5DA}</a:tableStyleId>
              </a:tblPr>
              <a:tblGrid>
                <a:gridCol w="3291840"/>
                <a:gridCol w="6519672"/>
                <a:gridCol w="1554480"/>
              </a:tblGrid>
              <a:tr h="435254">
                <a:tc>
                  <a:txBody>
                    <a:bodyPr wrap="square"/>
                    <a:lstStyle/>
                    <a:p>
                      <a:pPr algn="l">
                        <a:lnSpc>
                          <a:spcPct val="100000"/>
                        </a:lnSpc>
                      </a:pPr>
                      <a:r>
                        <a:rPr sz="120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lines, Delta lake and Iceberg lake, one connector switched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Equal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100" b="1" i="0">
                          <a:solidFill>
                            <a:srgbClr val="0E7C86"/>
                          </a:solidFill>
                          <a:latin typeface="Consolas"/>
                        </a:rPr>
                        <a:t>VarFormatEqualityTest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ES, component and incremental VaR, worst scenarios, limits; every scope incl. the limit letters; USD and EUR; intraday file batches applied live;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ExposureFormatEqualityTest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EE, PFE, EPE, profiles, contributions;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LakeAppendsTest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Kafka PV stream's window: one Iceberg append (on Delta, as before)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applied live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IcebergParityTest</a:t>
                      </a:r>
                      <a:r>
                        <a:rPr sz="1200" b="1" i="0">
                          <a:solidFill>
                            <a:srgbClr val="1C2433"/>
                          </a:solidFill>
                          <a:latin typeface="Calibri"/>
                        </a:rPr>
                        <a:t>, </a:t>
                      </a:r>
                      <a:r>
                        <a:rPr sz="1100" b="1" i="0">
                          <a:solidFill>
                            <a:srgbClr val="0E7C86"/>
                          </a:solidFill>
                          <a:latin typeface="Consolas"/>
                        </a:rPr>
                        <a:t>IcebergVectorsTest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documents, vectors (both engines), identity, inventory against the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bit for bit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069080"/>
          <a:ext cx="9326880" cy="1954376"/>
        </p:xfrm>
        <a:graphic>
          <a:graphicData uri="http://schemas.openxmlformats.org/drawingml/2006/table">
            <a:tbl>
              <a:tblPr firstRow="1" bandRow="1">
                <a:tableStyleId>{5940675A-B579-460E-94D1-54222C63F5DA}</a:tableStyleId>
              </a:tblPr>
              <a:tblGrid>
                <a:gridCol w="3657600"/>
                <a:gridCol w="1737360"/>
                <a:gridCol w="2194560"/>
                <a:gridCol w="1737360"/>
              </a:tblGrid>
              <a:tr h="435254">
                <a:tc>
                  <a:txBody>
                    <a:bodyPr wrap="square"/>
                    <a:lstStyle/>
                    <a:p>
                      <a:pPr algn="l">
                        <a:lnSpc>
                          <a:spcPct val="100000"/>
                        </a:lnSpc>
                      </a:pPr>
                      <a:r>
                        <a:rPr sz="1200" b="1" i="0">
                          <a:solidFill>
                            <a:srgbClr val="FFFFFF"/>
                          </a:solidFill>
                          <a:latin typeface="Calibri"/>
                        </a:rPr>
                        <a:t>On the demo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Label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VAR BANK</a:t>
                      </a:r>
                      <a:r>
                        <a:rPr sz="1200" b="1" i="0">
                          <a:solidFill>
                            <a:srgbClr val="1C2433"/>
                          </a:solidFill>
                          <a:latin typeface="Calibri"/>
                        </a:rPr>
                        <a:t>, 2026-09-30, USD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risk domain moved (</a:t>
                      </a:r>
                      <a:r>
                        <a:rPr sz="1100" b="1" i="0">
                          <a:solidFill>
                            <a:srgbClr val="0E7C86"/>
                          </a:solidFill>
                          <a:latin typeface="Consolas"/>
                        </a:rPr>
                        <a:t>--store risk=iceberg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14 tables, 955,124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in 579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LL:LL-0003</a:t>
                      </a:r>
                      <a:r>
                        <a:rPr sz="1200" b="1" i="0">
                          <a:solidFill>
                            <a:srgbClr val="1C2433"/>
                          </a:solidFill>
                          <a:latin typeface="Calibri"/>
                        </a:rPr>
                        <a:t>, </a:t>
                      </a:r>
                      <a:r>
                        <a:rPr sz="1100" b="1" i="0">
                          <a:solidFill>
                            <a:srgbClr val="0E7C86"/>
                          </a:solidFill>
                          <a:latin typeface="Consolas"/>
                        </a:rPr>
                        <a:t>XPO BANK</a:t>
                      </a:r>
                      <a:r>
                        <a:rPr sz="1200" b="1" i="0">
                          <a:solidFill>
                            <a:srgbClr val="1C2433"/>
                          </a:solidFill>
                          <a:latin typeface="Calibri"/>
                        </a:rPr>
                        <a:t>,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 from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9921240" y="4069080"/>
            <a:ext cx="1856231" cy="224028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9921240" y="4069080"/>
            <a:ext cx="82296" cy="22402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10149840" y="4123944"/>
            <a:ext cx="1490472" cy="2130552"/>
          </a:xfrm>
          <a:prstGeom prst="rect">
            <a:avLst/>
          </a:prstGeom>
          <a:noFill/>
        </p:spPr>
        <p:txBody>
          <a:bodyPr wrap="square" lIns="45720" rIns="45720" tIns="27432" bIns="27432" anchor="ctr">
            <a:spAutoFit/>
          </a:bodyPr>
          <a:lstStyle/>
          <a:p>
            <a:pPr algn="l">
              <a:lnSpc>
                <a:spcPct val="105000"/>
              </a:lnSpc>
            </a:pPr>
            <a:r>
              <a:rPr sz="1150" b="1" i="0">
                <a:solidFill>
                  <a:srgbClr val="1C2433"/>
                </a:solidFill>
                <a:latin typeface="Calibri"/>
              </a:rPr>
              <a:t>Demo data, not bank scale.</a:t>
            </a:r>
            <a:r>
              <a:rPr sz="1150" b="0" i="0">
                <a:solidFill>
                  <a:srgbClr val="1C2433"/>
                </a:solidFill>
                <a:latin typeface="Calibri"/>
              </a:rPr>
              <a:t> The benchmark on both formats is </a:t>
            </a:r>
            <a:r>
              <a:rPr sz="1150" b="1" i="0">
                <a:solidFill>
                  <a:srgbClr val="1C2433"/>
                </a:solidFill>
                <a:latin typeface="Calibri"/>
              </a:rPr>
              <a:t>PLANNED</a:t>
            </a:r>
            <a:r>
              <a:rPr sz="1150" b="0" i="0">
                <a:solidFill>
                  <a:srgbClr val="1C2433"/>
                </a:solidFill>
                <a:latin typeface="Calibri"/>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Scale-out on either format: sharded VaR and the Java loader</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63</a:t>
            </a:r>
          </a:p>
        </p:txBody>
      </p:sp>
      <p:sp>
        <p:nvSpPr>
          <p:cNvPr id="9" name="Rounded Rectangle 8"/>
          <p:cNvSpPr/>
          <p:nvPr/>
        </p:nvSpPr>
        <p:spPr>
          <a:xfrm>
            <a:off x="411480" y="1143000"/>
            <a:ext cx="5577840" cy="233172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88720"/>
            <a:ext cx="53949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VaR sharded across Drishti servers</a:t>
            </a:r>
          </a:p>
        </p:txBody>
      </p:sp>
      <p:sp>
        <p:nvSpPr>
          <p:cNvPr id="11" name="TextBox 10"/>
          <p:cNvSpPr txBox="1"/>
          <p:nvPr/>
        </p:nvSpPr>
        <p:spPr>
          <a:xfrm>
            <a:off x="502920" y="1508760"/>
            <a:ext cx="5394959" cy="1920239"/>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a date cut into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ranges; two owners per shard</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an owner reads only its ranges: Iceberg files skipped by their bounds, Delta by its stats</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every member answers every scope; partial vectors added in shard order</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equal to one server to the cent on Delta and on Iceberg (</a:t>
            </a:r>
            <a:r>
              <a:rPr sz="1100" b="0" i="0">
                <a:solidFill>
                  <a:srgbClr val="0E7C86"/>
                </a:solidFill>
                <a:latin typeface="Consolas"/>
              </a:rPr>
              <a:t>VarShardClusterTest</a:t>
            </a:r>
            <a:r>
              <a:rPr sz="1200" b="0" i="0">
                <a:solidFill>
                  <a:srgbClr val="1C2433"/>
                </a:solidFill>
                <a:latin typeface="Calibri"/>
              </a:rPr>
              <a:t>)</a:t>
            </a:r>
          </a:p>
        </p:txBody>
      </p:sp>
      <p:sp>
        <p:nvSpPr>
          <p:cNvPr id="12" name="Rounded Rectangle 11"/>
          <p:cNvSpPr/>
          <p:nvPr/>
        </p:nvSpPr>
        <p:spPr>
          <a:xfrm>
            <a:off x="6199632" y="1143000"/>
            <a:ext cx="5577840" cy="233172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291072" y="1188720"/>
            <a:ext cx="53949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The parallel Java loader (drishti-lakeload)</a:t>
            </a:r>
          </a:p>
        </p:txBody>
      </p:sp>
      <p:sp>
        <p:nvSpPr>
          <p:cNvPr id="14" name="TextBox 13"/>
          <p:cNvSpPr txBox="1"/>
          <p:nvPr/>
        </p:nvSpPr>
        <p:spPr>
          <a:xfrm>
            <a:off x="6291072" y="1508760"/>
            <a:ext cx="5394959" cy="1920239"/>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JSON Lines from a folder or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.gz</a:t>
            </a:r>
            <a:r>
              <a:rPr sz="1200" b="0" i="0">
                <a:solidFill>
                  <a:srgbClr val="1C2433"/>
                </a:solidFill>
                <a:latin typeface="Calibri"/>
              </a:rPr>
              <a:t> and </a:t>
            </a:r>
            <a:r>
              <a:rPr sz="1100" b="0" i="0">
                <a:solidFill>
                  <a:srgbClr val="0E7C86"/>
                </a:solidFill>
                <a:latin typeface="Consolas"/>
              </a:rPr>
              <a:t>.zst</a:t>
            </a:r>
            <a:r>
              <a:rPr sz="1200" b="0" i="0">
                <a:solidFill>
                  <a:srgbClr val="1C2433"/>
                </a:solidFill>
                <a:latin typeface="Calibri"/>
              </a:rPr>
              <a:t> streamed</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Iceberg: one </a:t>
            </a:r>
            <a:r>
              <a:rPr sz="1100" b="0" i="0">
                <a:solidFill>
                  <a:srgbClr val="0E7C86"/>
                </a:solidFill>
                <a:latin typeface="Consolas"/>
              </a:rPr>
              <a:t>replacePartitions</a:t>
            </a:r>
            <a:r>
              <a:rPr sz="1200" b="0" i="0">
                <a:solidFill>
                  <a:srgbClr val="1C2433"/>
                </a:solidFill>
                <a:latin typeface="Calibri"/>
              </a:rPr>
              <a:t> per business date; Delta: one Kernel commit</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sorted by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a:t>
            </a:r>
            <a:r>
              <a:rPr sz="1100" b="0" i="0">
                <a:solidFill>
                  <a:srgbClr val="0E7C86"/>
                </a:solidFill>
                <a:latin typeface="Consolas"/>
              </a:rPr>
              <a:t>id</a:t>
            </a:r>
            <a:r>
              <a:rPr sz="1200" b="0" i="0">
                <a:solidFill>
                  <a:srgbClr val="1C2433"/>
                </a:solidFill>
                <a:latin typeface="Calibri"/>
              </a:rPr>
              <a:t>; a manifest of each file's key range</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equal to the Python path on both formats (</a:t>
            </a:r>
            <a:r>
              <a:rPr sz="1100" b="0" i="0">
                <a:solidFill>
                  <a:srgbClr val="0E7C86"/>
                </a:solidFill>
                <a:latin typeface="Consolas"/>
              </a:rPr>
              <a:t>PythonPathEqualityTest</a:t>
            </a:r>
            <a:r>
              <a:rPr sz="1200" b="0" i="0">
                <a:solidFill>
                  <a:srgbClr val="1C2433"/>
                </a:solidFill>
                <a:latin typeface="Calibri"/>
              </a:rPr>
              <a:t>)</a:t>
            </a:r>
          </a:p>
        </p:txBody>
      </p:sp>
      <p:sp>
        <p:nvSpPr>
          <p:cNvPr id="15" name="Rounded Rectangle 14"/>
          <p:cNvSpPr/>
          <p:nvPr/>
        </p:nvSpPr>
        <p:spPr>
          <a:xfrm>
            <a:off x="411480" y="3657600"/>
            <a:ext cx="5577840" cy="160020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703320"/>
            <a:ext cx="539495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On ECS Fargate: scale in safely</a:t>
            </a:r>
          </a:p>
        </p:txBody>
      </p:sp>
      <p:sp>
        <p:nvSpPr>
          <p:cNvPr id="17" name="TextBox 16"/>
          <p:cNvSpPr txBox="1"/>
          <p:nvPr/>
        </p:nvSpPr>
        <p:spPr>
          <a:xfrm>
            <a:off x="502920" y="4023360"/>
            <a:ext cx="5394959" cy="118872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stop hook: </a:t>
            </a:r>
            <a:r>
              <a:rPr sz="1100" b="0" i="0">
                <a:solidFill>
                  <a:srgbClr val="0E7C86"/>
                </a:solidFill>
                <a:latin typeface="Consolas"/>
              </a:rPr>
              <a:t>drishti.py var shards --drain</a:t>
            </a:r>
          </a:p>
          <a:p>
            <a:pPr algn="l">
              <a:lnSpc>
                <a:spcPct val="105000"/>
              </a:lnSpc>
              <a:spcAft>
                <a:spcPts val="200"/>
              </a:spcAft>
            </a:pPr>
            <a:r>
              <a:rPr sz="1200" b="0" i="0">
                <a:solidFill>
                  <a:srgbClr val="E87A1E"/>
                </a:solidFill>
                <a:latin typeface="Calibri"/>
              </a:rPr>
              <a:t>•  </a:t>
            </a:r>
            <a:r>
              <a:rPr sz="1200" b="0" i="0">
                <a:solidFill>
                  <a:srgbClr val="1C2433"/>
                </a:solidFill>
                <a:latin typeface="Calibri"/>
              </a:rPr>
              <a:t>wait for </a:t>
            </a:r>
            <a:r>
              <a:rPr sz="1100" b="0" i="0">
                <a:solidFill>
                  <a:srgbClr val="0E7C86"/>
                </a:solidFill>
                <a:latin typeface="Consolas"/>
              </a:rPr>
              <a:t>GET /api/v1/var/shards</a:t>
            </a:r>
            <a:r>
              <a:rPr sz="1200" b="0" i="0">
                <a:solidFill>
                  <a:srgbClr val="1C2433"/>
                </a:solidFill>
                <a:latin typeface="Calibri"/>
              </a:rPr>
              <a:t> → </a:t>
            </a:r>
            <a:r>
              <a:rPr sz="1100" b="0" i="0">
                <a:solidFill>
                  <a:srgbClr val="0E7C86"/>
                </a:solidFill>
                <a:latin typeface="Consolas"/>
              </a:rPr>
              <a:t>"safeToStop": true</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stopTimeout</a:t>
            </a:r>
            <a:r>
              <a:rPr sz="1200" b="0" i="0">
                <a:solidFill>
                  <a:srgbClr val="1C2433"/>
                </a:solidFill>
                <a:latin typeface="Calibri"/>
              </a:rPr>
              <a:t> ≥ the largest shard's build + </a:t>
            </a:r>
            <a:r>
              <a:rPr sz="1100" b="0" i="0">
                <a:solidFill>
                  <a:srgbClr val="0E7C86"/>
                </a:solidFill>
                <a:latin typeface="Consolas"/>
              </a:rPr>
              <a:t>grace-seconds</a:t>
            </a:r>
          </a:p>
        </p:txBody>
      </p:sp>
      <p:graphicFrame>
        <p:nvGraphicFramePr>
          <p:cNvPr id="18" name="Table 17"/>
          <p:cNvGraphicFramePr>
            <a:graphicFrameLocks noGrp="1"/>
          </p:cNvGraphicFramePr>
          <p:nvPr/>
        </p:nvGraphicFramePr>
        <p:xfrm>
          <a:off x="6199632" y="3657600"/>
          <a:ext cx="5577840" cy="1488184"/>
        </p:xfrm>
        <a:graphic>
          <a:graphicData uri="http://schemas.openxmlformats.org/drawingml/2006/table">
            <a:tbl>
              <a:tblPr firstRow="1" bandRow="1">
                <a:tableStyleId>{5940675A-B579-460E-94D1-54222C63F5DA}</a:tableStyleId>
              </a:tblPr>
              <a:tblGrid>
                <a:gridCol w="3017520"/>
                <a:gridCol w="1280160"/>
                <a:gridCol w="1280160"/>
              </a:tblGrid>
              <a:tr h="372046">
                <a:tc>
                  <a:txBody>
                    <a:bodyPr wrap="square"/>
                    <a:lstStyle/>
                    <a:p>
                      <a:pPr algn="l">
                        <a:lnSpc>
                          <a:spcPct val="100000"/>
                        </a:lnSpc>
                      </a:pPr>
                      <a:r>
                        <a:rPr sz="1200" b="1" i="0">
                          <a:solidFill>
                            <a:srgbClr val="FFFFFF"/>
                          </a:solidFill>
                          <a:latin typeface="Calibri"/>
                        </a:rPr>
                        <a:t>Loader, 10K positions × 510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Warm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Label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2046">
                <a:tc>
                  <a:txBody>
                    <a:bodyPr wrap="square"/>
                    <a:lstStyle/>
                    <a:p>
                      <a:pPr algn="l">
                        <a:lnSpc>
                          <a:spcPct val="100000"/>
                        </a:lnSpc>
                      </a:pPr>
                      <a:r>
                        <a:rPr sz="1200" b="1" i="0">
                          <a:solidFill>
                            <a:srgbClr val="1C2433"/>
                          </a:solidFill>
                          <a:latin typeface="Calibri"/>
                        </a:rPr>
                        <a:t>into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0.19–0.29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2046">
                <a:tc>
                  <a:txBody>
                    <a:bodyPr wrap="square"/>
                    <a:lstStyle/>
                    <a:p>
                      <a:pPr algn="l">
                        <a:lnSpc>
                          <a:spcPct val="100000"/>
                        </a:lnSpc>
                      </a:pPr>
                      <a:r>
                        <a:rPr sz="1200" b="1" i="0">
                          <a:solidFill>
                            <a:srgbClr val="1C2433"/>
                          </a:solidFill>
                          <a:latin typeface="Calibri"/>
                        </a:rPr>
                        <a:t>into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0.25–0.27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E7C86"/>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2046">
                <a:tc>
                  <a:txBody>
                    <a:bodyPr wrap="square"/>
                    <a:lstStyle/>
                    <a:p>
                      <a:pPr algn="l">
                        <a:lnSpc>
                          <a:spcPct val="100000"/>
                        </a:lnSpc>
                      </a:pPr>
                      <a:r>
                        <a:rPr sz="1200" b="1" i="0">
                          <a:solidFill>
                            <a:srgbClr val="1C2433"/>
                          </a:solidFill>
                          <a:latin typeface="Calibri"/>
                        </a:rPr>
                        <a:t>2.3M, 16–32 vCPU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1–5 min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9" name="Rounded Rectangle 18"/>
          <p:cNvSpPr/>
          <p:nvPr/>
        </p:nvSpPr>
        <p:spPr>
          <a:xfrm>
            <a:off x="411480" y="5440680"/>
            <a:ext cx="11365992" cy="86868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ectangle 19"/>
          <p:cNvSpPr/>
          <p:nvPr/>
        </p:nvSpPr>
        <p:spPr>
          <a:xfrm>
            <a:off x="411480" y="5440680"/>
            <a:ext cx="82296"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640080" y="5495544"/>
            <a:ext cx="11000232" cy="75895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Sharding is off by default; nothing changes for one server. A shard with no live owner answers </a:t>
            </a:r>
            <a:r>
              <a:rPr sz="1150" b="0" i="0">
                <a:solidFill>
                  <a:srgbClr val="0E7C86"/>
                </a:solidFill>
                <a:latin typeface="Consolas"/>
              </a:rPr>
              <a:t>503 DRS-5215</a:t>
            </a:r>
            <a:r>
              <a:rPr sz="1250" b="0" i="0">
                <a:solidFill>
                  <a:srgbClr val="1C2433"/>
                </a:solidFill>
                <a:latin typeface="Calibri"/>
              </a:rPr>
              <a:t>, never a partial VaR. The sharded benchmark (200K positions, three nodes) is planned, not run.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Official results: Delta or Iceberg, a folder or S3</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64</a:t>
            </a:r>
          </a:p>
        </p:txBody>
      </p:sp>
      <p:sp>
        <p:nvSpPr>
          <p:cNvPr id="9" name="Rounded Rectangle 8"/>
          <p:cNvSpPr/>
          <p:nvPr/>
        </p:nvSpPr>
        <p:spPr>
          <a:xfrm>
            <a:off x="411480" y="1188720"/>
            <a:ext cx="3291840" cy="14630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10896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Official capture</a:t>
            </a:r>
          </a:p>
        </p:txBody>
      </p:sp>
      <p:sp>
        <p:nvSpPr>
          <p:cNvPr id="11" name="TextBox 10"/>
          <p:cNvSpPr txBox="1"/>
          <p:nvPr/>
        </p:nvSpPr>
        <p:spPr>
          <a:xfrm>
            <a:off x="502920" y="1554480"/>
            <a:ext cx="310896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every node of every hierarchy (MGMT, LEGAL, limit letters)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 restatement adds a result version</a:t>
            </a:r>
          </a:p>
        </p:txBody>
      </p:sp>
      <p:sp>
        <p:nvSpPr>
          <p:cNvPr id="12" name="Rounded Rectangle 11"/>
          <p:cNvSpPr/>
          <p:nvPr/>
        </p:nvSpPr>
        <p:spPr>
          <a:xfrm>
            <a:off x="4160520" y="1188720"/>
            <a:ext cx="3657600" cy="1463040"/>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251959" y="1234440"/>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Content store</a:t>
            </a:r>
          </a:p>
        </p:txBody>
      </p:sp>
      <p:sp>
        <p:nvSpPr>
          <p:cNvPr id="14" name="TextBox 13"/>
          <p:cNvSpPr txBox="1"/>
          <p:nvPr/>
        </p:nvSpPr>
        <p:spPr>
          <a:xfrm>
            <a:off x="4251959" y="1554480"/>
            <a:ext cx="3474720" cy="10515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captures and date records: the numbers of record</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any format, any lake</a:t>
            </a:r>
          </a:p>
        </p:txBody>
      </p:sp>
      <p:cxnSp>
        <p:nvCxnSpPr>
          <p:cNvPr id="15" name="Connector 14"/>
          <p:cNvCxnSpPr/>
          <p:nvPr/>
        </p:nvCxnSpPr>
        <p:spPr>
          <a:xfrm>
            <a:off x="3703320" y="1920240"/>
            <a:ext cx="45720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11480" y="3017520"/>
            <a:ext cx="356616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3063239"/>
            <a:ext cx="3383279"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Delta (default): folder or </a:t>
            </a:r>
            <a:r>
              <a:rPr sz="1200" b="1" i="0">
                <a:solidFill>
                  <a:srgbClr val="0E7C86"/>
                </a:solidFill>
                <a:latin typeface="Consolas"/>
              </a:rPr>
              <a:t>s3://</a:t>
            </a:r>
          </a:p>
        </p:txBody>
      </p:sp>
      <p:sp>
        <p:nvSpPr>
          <p:cNvPr id="18" name="TextBox 17"/>
          <p:cNvSpPr txBox="1"/>
          <p:nvPr/>
        </p:nvSpPr>
        <p:spPr>
          <a:xfrm>
            <a:off x="502920" y="3383279"/>
            <a:ext cx="3383279"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risk-results/var-official</a:t>
            </a:r>
            <a:r>
              <a:rPr sz="1250" b="0" i="0">
                <a:solidFill>
                  <a:srgbClr val="1C2433"/>
                </a:solidFill>
                <a:latin typeface="Calibri"/>
              </a:rPr>
              <a:t>, </a:t>
            </a:r>
            <a:r>
              <a:rPr sz="1150" b="0" i="0">
                <a:solidFill>
                  <a:srgbClr val="0E7C86"/>
                </a:solidFill>
                <a:latin typeface="Consolas"/>
              </a:rPr>
              <a:t>exposure-official</a:t>
            </a:r>
            <a:r>
              <a:rPr sz="1250" b="0" i="0">
                <a:solidFill>
                  <a:srgbClr val="1C2433"/>
                </a:solidFill>
                <a:latin typeface="Calibri"/>
              </a:rPr>
              <a:t>, </a:t>
            </a:r>
            <a:r>
              <a:rPr sz="1150" b="0" i="0">
                <a:solidFill>
                  <a:srgbClr val="0E7C86"/>
                </a:solidFill>
                <a:latin typeface="Consolas"/>
              </a:rPr>
              <a:t>-cpty</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append-only,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read by BI (</a:t>
            </a:r>
            <a:r>
              <a:rPr sz="1150" b="0" i="0">
                <a:solidFill>
                  <a:srgbClr val="0E7C86"/>
                </a:solidFill>
                <a:latin typeface="Consolas"/>
              </a:rPr>
              <a:t>VOFF</a:t>
            </a:r>
            <a:r>
              <a:rPr sz="1250" b="0" i="0">
                <a:solidFill>
                  <a:srgbClr val="1C2433"/>
                </a:solidFill>
                <a:latin typeface="Calibri"/>
              </a:rPr>
              <a:t>, </a:t>
            </a:r>
            <a:r>
              <a:rPr sz="1150" b="0" i="0">
                <a:solidFill>
                  <a:srgbClr val="0E7C86"/>
                </a:solidFill>
                <a:latin typeface="Consolas"/>
              </a:rPr>
              <a:t>XOFC</a:t>
            </a:r>
            <a:r>
              <a:rPr sz="1250" b="0" i="0">
                <a:solidFill>
                  <a:srgbClr val="1C2433"/>
                </a:solidFill>
                <a:latin typeface="Calibri"/>
              </a:rPr>
              <a:t>)</a:t>
            </a:r>
          </a:p>
        </p:txBody>
      </p:sp>
      <p:sp>
        <p:nvSpPr>
          <p:cNvPr id="19" name="Rounded Rectangle 18"/>
          <p:cNvSpPr/>
          <p:nvPr/>
        </p:nvSpPr>
        <p:spPr>
          <a:xfrm>
            <a:off x="4160520" y="3017520"/>
            <a:ext cx="3657600"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4251959" y="3063239"/>
            <a:ext cx="347472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JSON Lines beside it</a:t>
            </a:r>
          </a:p>
        </p:txBody>
      </p:sp>
      <p:sp>
        <p:nvSpPr>
          <p:cNvPr id="21" name="TextBox 20"/>
          <p:cNvSpPr txBox="1"/>
          <p:nvPr/>
        </p:nvSpPr>
        <p:spPr>
          <a:xfrm>
            <a:off x="4251959" y="3383279"/>
            <a:ext cx="3474720" cy="132588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0E7C86"/>
                </a:solidFill>
                <a:latin typeface="Consolas"/>
              </a:rPr>
              <a:t>risk-results/jsonl/&lt;table&gt;/&lt;date&gt;/…-v&lt;n&gt;.jsonl</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for any other system</a:t>
            </a:r>
          </a:p>
        </p:txBody>
      </p:sp>
      <p:sp>
        <p:nvSpPr>
          <p:cNvPr id="22" name="Rounded Rectangle 21"/>
          <p:cNvSpPr/>
          <p:nvPr/>
        </p:nvSpPr>
        <p:spPr>
          <a:xfrm>
            <a:off x="8001000" y="3017520"/>
            <a:ext cx="3776472" cy="173736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8092440" y="3063239"/>
            <a:ext cx="3593591"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 folder or </a:t>
            </a:r>
            <a:r>
              <a:rPr sz="1200" b="1" i="0">
                <a:solidFill>
                  <a:srgbClr val="0E7C86"/>
                </a:solidFill>
                <a:latin typeface="Consolas"/>
              </a:rPr>
              <a:t>s3://</a:t>
            </a:r>
          </a:p>
        </p:txBody>
      </p:sp>
      <p:sp>
        <p:nvSpPr>
          <p:cNvPr id="24" name="TextBox 23"/>
          <p:cNvSpPr txBox="1"/>
          <p:nvPr/>
        </p:nvSpPr>
        <p:spPr>
          <a:xfrm>
            <a:off x="8092440" y="3383279"/>
            <a:ext cx="3593591" cy="132588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append commits only, a snapshot per run, 7 years</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BI's readers switch to </a:t>
            </a:r>
            <a:r>
              <a:rPr sz="1150" b="0" i="0">
                <a:solidFill>
                  <a:srgbClr val="0E7C86"/>
                </a:solidFill>
                <a:latin typeface="Consolas"/>
              </a:rPr>
              <a:t>plugin: iceberg</a:t>
            </a:r>
            <a:r>
              <a:rPr sz="1250" b="0" i="0">
                <a:solidFill>
                  <a:srgbClr val="1C2433"/>
                </a:solidFill>
                <a:latin typeface="Calibri"/>
              </a:rPr>
              <a:t> by themselves</a:t>
            </a:r>
          </a:p>
        </p:txBody>
      </p:sp>
      <p:cxnSp>
        <p:nvCxnSpPr>
          <p:cNvPr id="25" name="Connector 24"/>
          <p:cNvCxnSpPr/>
          <p:nvPr/>
        </p:nvCxnSpPr>
        <p:spPr>
          <a:xfrm>
            <a:off x="2057400" y="2651760"/>
            <a:ext cx="0" cy="18288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57400" y="2834640"/>
            <a:ext cx="7772400" cy="0"/>
          </a:xfrm>
          <a:prstGeom prst="line">
            <a:avLst/>
          </a:prstGeom>
          <a:ln w="25400">
            <a:solidFill>
              <a:srgbClr val="5B677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0574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98932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829800" y="2834640"/>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11480" y="5029200"/>
            <a:ext cx="11365992" cy="128016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11480" y="5029200"/>
            <a:ext cx="82296" cy="12801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40080" y="5084064"/>
            <a:ext cx="11000232" cy="11704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Status:</a:t>
            </a:r>
            <a:r>
              <a:rPr sz="1300" b="0" i="0">
                <a:solidFill>
                  <a:srgbClr val="1C2433"/>
                </a:solidFill>
                <a:latin typeface="Calibri"/>
              </a:rPr>
              <a:t> official VaR and exposure results go to Delta (the default) or Iceberg, in a folder or on </a:t>
            </a:r>
            <a:r>
              <a:rPr sz="1200" b="0" i="0">
                <a:solidFill>
                  <a:srgbClr val="0E7C86"/>
                </a:solidFill>
                <a:latin typeface="Consolas"/>
              </a:rPr>
              <a:t>s3://</a:t>
            </a:r>
            <a:r>
              <a:rPr sz="1300" b="0" i="0">
                <a:solidFill>
                  <a:srgbClr val="1C2433"/>
                </a:solidFill>
                <a:latin typeface="Calibri"/>
              </a:rPr>
              <a:t>, with JSON Lines beside them; two servers publishing at once both land (exclusive create). Tested on S3Mock (</a:t>
            </a:r>
            <a:r>
              <a:rPr sz="1200" b="0" i="0">
                <a:solidFill>
                  <a:srgbClr val="0E7C86"/>
                </a:solidFill>
                <a:latin typeface="Consolas"/>
              </a:rPr>
              <a:t>OfficialS3Test</a:t>
            </a:r>
            <a:r>
              <a:rPr sz="1300" b="0" i="0">
                <a:solidFill>
                  <a:srgbClr val="1C2433"/>
                </a:solidFill>
                <a:latin typeface="Calibri"/>
              </a:rPr>
              <a:t>); not yet run against a real bucket.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Sizing at bank scale: where the format matters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65</a:t>
            </a:r>
          </a:p>
        </p:txBody>
      </p:sp>
      <p:graphicFrame>
        <p:nvGraphicFramePr>
          <p:cNvPr id="9" name="Table 8"/>
          <p:cNvGraphicFramePr>
            <a:graphicFrameLocks noGrp="1"/>
          </p:cNvGraphicFramePr>
          <p:nvPr/>
        </p:nvGraphicFramePr>
        <p:xfrm>
          <a:off x="411480" y="1143000"/>
          <a:ext cx="11365992" cy="3869277"/>
        </p:xfrm>
        <a:graphic>
          <a:graphicData uri="http://schemas.openxmlformats.org/drawingml/2006/table">
            <a:tbl>
              <a:tblPr firstRow="1" bandRow="1">
                <a:tableStyleId>{5940675A-B579-460E-94D1-54222C63F5DA}</a:tableStyleId>
              </a:tblPr>
              <a:tblGrid>
                <a:gridCol w="3291840"/>
                <a:gridCol w="3291840"/>
                <a:gridCol w="2560320"/>
                <a:gridCol w="2221992"/>
              </a:tblGrid>
              <a:tr h="463825">
                <a:tc>
                  <a:txBody>
                    <a:bodyPr wrap="square"/>
                    <a:lstStyle/>
                    <a:p>
                      <a:pPr algn="l">
                        <a:lnSpc>
                          <a:spcPct val="100000"/>
                        </a:lnSpc>
                      </a:pPr>
                      <a:r>
                        <a:rPr sz="1200" b="1" i="0">
                          <a:solidFill>
                            <a:srgbClr val="FFFFFF"/>
                          </a:solidFill>
                          <a:latin typeface="Calibri"/>
                        </a:rPr>
                        <a:t>Per business date (2.3M positions, 509 scenarios)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Basis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825">
                <a:tc>
                  <a:txBody>
                    <a:bodyPr wrap="square"/>
                    <a:lstStyle/>
                    <a:p>
                      <a:pPr algn="l">
                        <a:lnSpc>
                          <a:spcPct val="100000"/>
                        </a:lnSpc>
                      </a:pPr>
                      <a:r>
                        <a:rPr sz="1200" b="1" i="0">
                          <a:solidFill>
                            <a:srgbClr val="1C2433"/>
                          </a:solidFill>
                          <a:latin typeface="Calibri"/>
                        </a:rPr>
                        <a:t>P&amp;L or scenario-PV vectors, float64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2.3M × 509 × 8 B = </a:t>
                      </a:r>
                      <a:r>
                        <a:rPr sz="1200" b="1" i="0">
                          <a:solidFill>
                            <a:srgbClr val="1C2433"/>
                          </a:solidFill>
                          <a:latin typeface="Calibri"/>
                        </a:rPr>
                        <a:t>9.37 GB</a:t>
                      </a:r>
                      <a:r>
                        <a:rPr sz="1200" b="0" i="0">
                          <a:solidFill>
                            <a:srgbClr val="1C2433"/>
                          </a:solidFill>
                          <a:latin typeface="Calibri"/>
                        </a:rPr>
                        <a:t>; ≈ 7.02 GB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one </a:t>
                      </a:r>
                      <a:r>
                        <a:rPr sz="1100" b="0" i="0">
                          <a:solidFill>
                            <a:srgbClr val="0E7C86"/>
                          </a:solidFill>
                          <a:latin typeface="Consolas"/>
                        </a:rPr>
                        <a:t>list&lt;double&gt;</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arithmetic; ≈ 0.75 × raw (ESTIMATED)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251">
                <a:tc>
                  <a:txBody>
                    <a:bodyPr wrap="square"/>
                    <a:lstStyle/>
                    <a:p>
                      <a:pPr algn="l">
                        <a:lnSpc>
                          <a:spcPct val="100000"/>
                        </a:lnSpc>
                      </a:pPr>
                      <a:r>
                        <a:rPr sz="1200" b="1" i="0">
                          <a:solidFill>
                            <a:srgbClr val="1C2433"/>
                          </a:solidFill>
                          <a:latin typeface="Calibri"/>
                        </a:rPr>
                        <a:t>The same, float32 (hot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2.3M × 509 × 4 B = </a:t>
                      </a:r>
                      <a:r>
                        <a:rPr sz="1200" b="1" i="0">
                          <a:solidFill>
                            <a:srgbClr val="1C2433"/>
                          </a:solidFill>
                          <a:latin typeface="Calibri"/>
                        </a:rPr>
                        <a:t>4.68 GB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(engine memory)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A year / seven years of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7.02 GB × 252 ≈ </a:t>
                      </a:r>
                      <a:r>
                        <a:rPr sz="1200" b="1" i="0">
                          <a:solidFill>
                            <a:srgbClr val="1C2433"/>
                          </a:solidFill>
                          <a:latin typeface="Calibri"/>
                        </a:rPr>
                        <a:t>1.77 TB</a:t>
                      </a:r>
                      <a:r>
                        <a:rPr sz="1200" b="0" i="0">
                          <a:solidFill>
                            <a:srgbClr val="1C2433"/>
                          </a:solidFill>
                          <a:latin typeface="Calibri"/>
                        </a:rPr>
                        <a:t> / × 1,764 ≈ </a:t>
                      </a:r>
                      <a:r>
                        <a:rPr sz="1200" b="1" i="0">
                          <a:solidFill>
                            <a:srgbClr val="1C2433"/>
                          </a:solidFill>
                          <a:latin typeface="Calibri"/>
                        </a:rPr>
                        <a:t>12.4 TB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ESTIMATED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15,000 portfolio vectors (if stored)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15k × 509 × 8 B ≈ </a:t>
                      </a:r>
                      <a:r>
                        <a:rPr sz="1200" b="1" i="0">
                          <a:solidFill>
                            <a:srgbClr val="1C2433"/>
                          </a:solidFill>
                          <a:latin typeface="Calibri"/>
                        </a:rPr>
                        <a:t>61 MB</a:t>
                      </a:r>
                      <a:r>
                        <a:rPr sz="1200" b="0" i="0">
                          <a:solidFill>
                            <a:srgbClr val="1C2433"/>
                          </a:solidFill>
                          <a:latin typeface="Calibri"/>
                        </a:rPr>
                        <a:t>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arithmetic; storing them is proposed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251">
                <a:tc>
                  <a:txBody>
                    <a:bodyPr wrap="square"/>
                    <a:lstStyle/>
                    <a:p>
                      <a:pPr algn="l">
                        <a:lnSpc>
                          <a:spcPct val="100000"/>
                        </a:lnSpc>
                      </a:pPr>
                      <a:r>
                        <a:rPr sz="1200" b="1" i="0">
                          <a:solidFill>
                            <a:srgbClr val="1C2433"/>
                          </a:solidFill>
                          <a:latin typeface="Calibri"/>
                        </a:rPr>
                        <a:t>Full-run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a year, one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commit per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Intraday micro-batch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one per window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Delta: one JSON each; Iceberg: a snapshot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ASSUMPTION: depends on the window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825">
                <a:tc>
                  <a:txBody>
                    <a:bodyPr wrap="square"/>
                    <a:lstStyle/>
                    <a:p>
                      <a:pPr algn="l">
                        <a:lnSpc>
                          <a:spcPct val="100000"/>
                        </a:lnSpc>
                      </a:pPr>
                      <a:r>
                        <a:rPr sz="1200" b="1" i="0">
                          <a:solidFill>
                            <a:srgbClr val="1C2433"/>
                          </a:solidFill>
                          <a:latin typeface="Calibri"/>
                        </a:rPr>
                        <a:t>Seven years of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1,764 full-run versions + intraday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no</a:t>
                      </a:r>
                      <a:r>
                        <a:rPr sz="1200" b="0" i="0">
                          <a:solidFill>
                            <a:srgbClr val="1C2433"/>
                          </a:solidFill>
                          <a:latin typeface="Calibri"/>
                        </a:rPr>
                        <a:t>: see the next slide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7 years kept (decided)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825">
                <a:tc>
                  <a:txBody>
                    <a:bodyPr wrap="square"/>
                    <a:lstStyle/>
                    <a:p>
                      <a:pPr algn="l">
                        <a:lnSpc>
                          <a:spcPct val="100000"/>
                        </a:lnSpc>
                      </a:pPr>
                      <a:r>
                        <a:rPr sz="1200" b="1" i="0">
                          <a:solidFill>
                            <a:srgbClr val="1C2433"/>
                          </a:solidFill>
                          <a:latin typeface="Calibri"/>
                        </a:rPr>
                        <a:t>Files a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 14–28 at 512–250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ESTIMATED; layout open (VAR_GUIDE 29.2)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440680"/>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40680"/>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95544"/>
            <a:ext cx="11000232" cy="75895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data volume is format-neutral; the history is not.</a:t>
            </a:r>
            <a:r>
              <a:rPr sz="1250" b="0" i="0">
                <a:solidFill>
                  <a:srgbClr val="1C2433"/>
                </a:solidFill>
                <a:latin typeface="Calibri"/>
              </a:rPr>
              <a:t> Both store the same vectors; they differ in how they keep seven years of versions.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Seven years of time travel: Delta against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13</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66</a:t>
            </a:r>
          </a:p>
        </p:txBody>
      </p:sp>
      <p:graphicFrame>
        <p:nvGraphicFramePr>
          <p:cNvPr id="9" name="Table 8"/>
          <p:cNvGraphicFramePr>
            <a:graphicFrameLocks noGrp="1"/>
          </p:cNvGraphicFramePr>
          <p:nvPr/>
        </p:nvGraphicFramePr>
        <p:xfrm>
          <a:off x="411480" y="1143000"/>
          <a:ext cx="11365992" cy="3274004"/>
        </p:xfrm>
        <a:graphic>
          <a:graphicData uri="http://schemas.openxmlformats.org/drawingml/2006/table">
            <a:tbl>
              <a:tblPr firstRow="1" bandRow="1">
                <a:tableStyleId>{5940675A-B579-460E-94D1-54222C63F5DA}</a:tableStyleId>
              </a:tblPr>
              <a:tblGrid>
                <a:gridCol w="2377440"/>
                <a:gridCol w="4480560"/>
                <a:gridCol w="4507992"/>
              </a:tblGrid>
              <a:tr h="328689">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28689">
                <a:tc>
                  <a:txBody>
                    <a:bodyPr wrap="square"/>
                    <a:lstStyle/>
                    <a:p>
                      <a:pPr algn="l">
                        <a:lnSpc>
                          <a:spcPct val="100000"/>
                        </a:lnSpc>
                      </a:pPr>
                      <a:r>
                        <a:rPr sz="1200" b="1" i="0">
                          <a:solidFill>
                            <a:srgbClr val="1C2433"/>
                          </a:solidFill>
                          <a:latin typeface="Calibri"/>
                        </a:rPr>
                        <a:t>How 7 years are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log and removed files kept 2,557 days;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 every snapshot 7 years (</a:t>
                      </a:r>
                      <a:r>
                        <a:rPr sz="1100" b="0" i="0">
                          <a:solidFill>
                            <a:srgbClr val="0E7C86"/>
                          </a:solidFill>
                          <a:latin typeface="Consolas"/>
                        </a:rPr>
                        <a:t>--expire-hours</a:t>
                      </a:r>
                      <a:r>
                        <a:rPr sz="1200" b="0" i="0">
                          <a:solidFill>
                            <a:srgbClr val="1C2433"/>
                          </a:solidFill>
                          <a:latin typeface="Calibri"/>
                        </a:rPr>
                        <a:t> ≥ 61,368)</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Data kept, 2.3M positions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1,764 dates × 7.02 GB ≈ </a:t>
                      </a:r>
                      <a:r>
                        <a:rPr sz="1200" b="1" i="0">
                          <a:solidFill>
                            <a:srgbClr val="1C2433"/>
                          </a:solidFill>
                          <a:latin typeface="Calibri"/>
                        </a:rPr>
                        <a:t>12.4 TB</a:t>
                      </a:r>
                      <a:r>
                        <a:rPr sz="1200" b="0" i="0">
                          <a:solidFill>
                            <a:srgbClr val="1C2433"/>
                          </a:solidFill>
                          <a:latin typeface="Calibri"/>
                        </a:rPr>
                        <a:t> of vector Parquet (+ replaced files of restated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 </a:t>
                      </a:r>
                      <a:r>
                        <a:rPr sz="1200" b="1" i="0">
                          <a:solidFill>
                            <a:srgbClr val="1C2433"/>
                          </a:solidFill>
                          <a:latin typeface="Calibri"/>
                        </a:rPr>
                        <a:t>12.4 TB</a:t>
                      </a:r>
                      <a:r>
                        <a:rPr sz="1200" b="0" i="0">
                          <a:solidFill>
                            <a:srgbClr val="1C2433"/>
                          </a:solidFill>
                          <a:latin typeface="Calibri"/>
                        </a:rPr>
                        <a:t>: the data is format-neutral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28689">
                <a:tc>
                  <a:txBody>
                    <a:bodyPr wrap="square"/>
                    <a:lstStyle/>
                    <a:p>
                      <a:pPr algn="l">
                        <a:lnSpc>
                          <a:spcPct val="100000"/>
                        </a:lnSpc>
                      </a:pPr>
                      <a:r>
                        <a:rPr sz="1200" b="1" i="0">
                          <a:solidFill>
                            <a:srgbClr val="1C2433"/>
                          </a:solidFill>
                          <a:latin typeface="Calibri"/>
                        </a:rPr>
                        <a:t>Versions kept (full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252 × 7 = </a:t>
                      </a:r>
                      <a:r>
                        <a:rPr sz="1200" b="1" i="0">
                          <a:solidFill>
                            <a:srgbClr val="1C2433"/>
                          </a:solidFill>
                          <a:latin typeface="Calibri"/>
                        </a:rPr>
                        <a:t>1,764</a:t>
                      </a:r>
                      <a:r>
                        <a:rPr sz="1200" b="0" i="0">
                          <a:solidFill>
                            <a:srgbClr val="1C2433"/>
                          </a:solidFill>
                          <a:latin typeface="Calibri"/>
                        </a:rPr>
                        <a:t> commits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1,764</a:t>
                      </a:r>
                      <a:r>
                        <a:rPr sz="1200" b="0" i="0">
                          <a:solidFill>
                            <a:srgbClr val="1C2433"/>
                          </a:solidFill>
                          <a:latin typeface="Calibri"/>
                        </a:rPr>
                        <a:t> snapshots listed in every metadata 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28689">
                <a:tc>
                  <a:txBody>
                    <a:bodyPr wrap="square"/>
                    <a:lstStyle/>
                    <a:p>
                      <a:pPr algn="l">
                        <a:lnSpc>
                          <a:spcPct val="100000"/>
                        </a:lnSpc>
                      </a:pPr>
                      <a:r>
                        <a:rPr sz="1200" b="1" i="0">
                          <a:solidFill>
                            <a:srgbClr val="1C2433"/>
                          </a:solidFill>
                          <a:latin typeface="Calibri"/>
                        </a:rPr>
                        <a:t>Cost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small JSON; replay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metadata JSON rewritten with every snapshot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7,200 files list in 84 ms from a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1,800 daily commits: 93 ms a commit, start 160 ms → 33 ms after regrouping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89812">
                <a:tc>
                  <a:txBody>
                    <a:bodyPr wrap="square"/>
                    <a:lstStyle/>
                    <a:p>
                      <a:pPr algn="l">
                        <a:lnSpc>
                          <a:spcPct val="100000"/>
                        </a:lnSpc>
                      </a:pPr>
                      <a:r>
                        <a:rPr sz="1200" b="1" i="0">
                          <a:solidFill>
                            <a:srgbClr val="1C2433"/>
                          </a:solidFill>
                          <a:latin typeface="Calibri"/>
                        </a:rPr>
                        <a:t>With intraday micro-batches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small JSON files; checkpoints absorb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more snapshots in every metadata file: compact intraday into the day's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89812">
                <a:tc>
                  <a:txBody>
                    <a:bodyPr wrap="square"/>
                    <a:lstStyle/>
                    <a:p>
                      <a:pPr algn="l">
                        <a:lnSpc>
                          <a:spcPct val="100000"/>
                        </a:lnSpc>
                      </a:pPr>
                      <a:r>
                        <a:rPr sz="1200" b="1" i="0">
                          <a:solidFill>
                            <a:srgbClr val="1C2433"/>
                          </a:solidFill>
                          <a:latin typeface="Calibri"/>
                        </a:rPr>
                        <a:t>Guard against a short 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raises it (</a:t>
                      </a:r>
                      <a:r>
                        <a:rPr sz="1100" b="0" i="0">
                          <a:solidFill>
                            <a:srgbClr val="0E7C86"/>
                          </a:solidFill>
                          <a:latin typeface="Consolas"/>
                        </a:rPr>
                        <a:t>retention-floor</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--floor-days 2557</a:t>
                      </a:r>
                      <a:r>
                        <a:rPr sz="1200" b="0" i="0">
                          <a:solidFill>
                            <a:srgbClr val="1C2433"/>
                          </a:solidFill>
                          <a:latin typeface="Calibri"/>
                        </a:rPr>
                        <a:t>; official tables: max snapshot age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4800600"/>
            <a:ext cx="11365992" cy="150876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00600"/>
            <a:ext cx="82296" cy="15087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855464"/>
            <a:ext cx="11000232" cy="13990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PROPOSED for an Iceberg risk lake:</a:t>
            </a:r>
            <a:r>
              <a:rPr sz="1300" b="0" i="0">
                <a:solidFill>
                  <a:srgbClr val="1C2433"/>
                </a:solidFill>
                <a:latin typeface="Calibri"/>
              </a:rPr>
              <a:t> keep full-run snapshots for seven years and compact intraday appends into the day's run (the content store keeps the official captures); the 7-year floor is built; measure the metadata JSON at 2,000+ snapshots (with the planned benchmark) before committing.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14</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Migration and coexistence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Running Delta and Iceberg side by side</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68</a:t>
            </a:r>
          </a:p>
        </p:txBody>
      </p:sp>
      <p:sp>
        <p:nvSpPr>
          <p:cNvPr id="9" name="Rounded Rectangle 8"/>
          <p:cNvSpPr/>
          <p:nvPr/>
        </p:nvSpPr>
        <p:spPr>
          <a:xfrm>
            <a:off x="411480" y="1188720"/>
            <a:ext cx="11365992" cy="548640"/>
          </a:xfrm>
          <a:prstGeom prst="roundRect">
            <a:avLst>
              <a:gd name="adj" fmla="val 20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88720"/>
            <a:ext cx="11091672" cy="548640"/>
          </a:xfrm>
          <a:prstGeom prst="rect">
            <a:avLst/>
          </a:prstGeom>
          <a:noFill/>
        </p:spPr>
        <p:txBody>
          <a:bodyPr wrap="square" lIns="45720" rIns="45720" tIns="27432" bIns="27432" anchor="ctr">
            <a:spAutoFit/>
          </a:bodyPr>
          <a:lstStyle/>
          <a:p>
            <a:pPr algn="l">
              <a:lnSpc>
                <a:spcPct val="105000"/>
              </a:lnSpc>
            </a:pPr>
            <a:r>
              <a:rPr sz="1400" b="1" i="0">
                <a:solidFill>
                  <a:srgbClr val="1C2433"/>
                </a:solidFill>
                <a:latin typeface="Calibri"/>
              </a:rPr>
              <a:t>kind </a:t>
            </a:r>
            <a:r>
              <a:rPr sz="1300" b="1" i="0">
                <a:solidFill>
                  <a:srgbClr val="0E7C86"/>
                </a:solidFill>
                <a:latin typeface="Consolas"/>
              </a:rPr>
              <a:t>trade</a:t>
            </a:r>
            <a:r>
              <a:rPr sz="1400" b="1" i="0">
                <a:solidFill>
                  <a:srgbClr val="1C2433"/>
                </a:solidFill>
                <a:latin typeface="Calibri"/>
              </a:rPr>
              <a:t> (trading pack) · one search, one page, one BI model over all three</a:t>
            </a:r>
          </a:p>
        </p:txBody>
      </p:sp>
      <p:cxnSp>
        <p:nvCxnSpPr>
          <p:cNvPr id="11" name="Connector 10"/>
          <p:cNvCxnSpPr/>
          <p:nvPr/>
        </p:nvCxnSpPr>
        <p:spPr>
          <a:xfrm>
            <a:off x="2240280"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11480" y="2011680"/>
            <a:ext cx="3666744" cy="100584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trade-endur</a:t>
            </a:r>
          </a:p>
        </p:txBody>
      </p:sp>
      <p:sp>
        <p:nvSpPr>
          <p:cNvPr id="14" name="TextBox 13"/>
          <p:cNvSpPr txBox="1"/>
          <p:nvPr/>
        </p:nvSpPr>
        <p:spPr>
          <a:xfrm>
            <a:off x="502920"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delta · lake/trading/trade_endur</a:t>
            </a:r>
          </a:p>
        </p:txBody>
      </p:sp>
      <p:cxnSp>
        <p:nvCxnSpPr>
          <p:cNvPr id="15" name="Connector 14"/>
          <p:cNvCxnSpPr/>
          <p:nvPr/>
        </p:nvCxnSpPr>
        <p:spPr>
          <a:xfrm>
            <a:off x="6089904"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61104"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4352544"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trade-calypso</a:t>
            </a:r>
          </a:p>
        </p:txBody>
      </p:sp>
      <p:sp>
        <p:nvSpPr>
          <p:cNvPr id="18" name="TextBox 17"/>
          <p:cNvSpPr txBox="1"/>
          <p:nvPr/>
        </p:nvSpPr>
        <p:spPr>
          <a:xfrm>
            <a:off x="4352544"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iceberg/trading/trade_calypso</a:t>
            </a:r>
          </a:p>
        </p:txBody>
      </p:sp>
      <p:cxnSp>
        <p:nvCxnSpPr>
          <p:cNvPr id="19" name="Connector 18"/>
          <p:cNvCxnSpPr/>
          <p:nvPr/>
        </p:nvCxnSpPr>
        <p:spPr>
          <a:xfrm>
            <a:off x="9939528" y="1737360"/>
            <a:ext cx="0" cy="27432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0727" y="2011680"/>
            <a:ext cx="3666744" cy="10058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8202167" y="2057400"/>
            <a:ext cx="3483863"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trade-murex</a:t>
            </a:r>
          </a:p>
        </p:txBody>
      </p:sp>
      <p:sp>
        <p:nvSpPr>
          <p:cNvPr id="22" name="TextBox 21"/>
          <p:cNvSpPr txBox="1"/>
          <p:nvPr/>
        </p:nvSpPr>
        <p:spPr>
          <a:xfrm>
            <a:off x="8202167" y="2377440"/>
            <a:ext cx="3483863" cy="594360"/>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plugin: iceberg · iceberg/trading/trade_murex</a:t>
            </a:r>
          </a:p>
        </p:txBody>
      </p:sp>
      <p:graphicFrame>
        <p:nvGraphicFramePr>
          <p:cNvPr id="23" name="Table 22"/>
          <p:cNvGraphicFramePr>
            <a:graphicFrameLocks noGrp="1"/>
          </p:cNvGraphicFramePr>
          <p:nvPr/>
        </p:nvGraphicFramePr>
        <p:xfrm>
          <a:off x="411480" y="3291840"/>
          <a:ext cx="7315200" cy="2176270"/>
        </p:xfrm>
        <a:graphic>
          <a:graphicData uri="http://schemas.openxmlformats.org/drawingml/2006/table">
            <a:tbl>
              <a:tblPr firstRow="1" bandRow="1">
                <a:tableStyleId>{5940675A-B579-460E-94D1-54222C63F5DA}</a:tableStyleId>
              </a:tblPr>
              <a:tblGrid>
                <a:gridCol w="5486400"/>
                <a:gridCol w="1828800"/>
              </a:tblGrid>
              <a:tr h="435254">
                <a:tc>
                  <a:txBody>
                    <a:bodyPr wrap="square"/>
                    <a:lstStyle/>
                    <a:p>
                      <a:pPr algn="l">
                        <a:lnSpc>
                          <a:spcPct val="100000"/>
                        </a:lnSpc>
                      </a:pPr>
                      <a:r>
                        <a:rPr sz="1250" b="1" i="0">
                          <a:solidFill>
                            <a:srgbClr val="FFFFFF"/>
                          </a:solidFill>
                          <a:latin typeface="Calibri"/>
                        </a:rPr>
                        <a:t>Compared, all-Delta against mixed (stores_equality.py)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Result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50" b="1" i="0">
                          <a:solidFill>
                            <a:srgbClr val="1C2433"/>
                          </a:solidFill>
                          <a:latin typeface="Calibri"/>
                        </a:rPr>
                        <a:t>six trade pages; </a:t>
                      </a:r>
                      <a:r>
                        <a:rPr sz="1150" b="1" i="0">
                          <a:solidFill>
                            <a:srgbClr val="0E7C86"/>
                          </a:solidFill>
                          <a:latin typeface="Consolas"/>
                        </a:rPr>
                        <a:t>TRD &lt;id&gt; 10</a:t>
                      </a:r>
                      <a:r>
                        <a:rPr sz="1250" b="1" i="0">
                          <a:solidFill>
                            <a:srgbClr val="1C2433"/>
                          </a:solidFill>
                          <a:latin typeface="Calibri"/>
                        </a:rPr>
                        <a:t> histories for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two counterparty-trades pages; three searches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50" b="1" i="0">
                          <a:solidFill>
                            <a:srgbClr val="1C2433"/>
                          </a:solidFill>
                          <a:latin typeface="Calibri"/>
                        </a:rPr>
                        <a:t>a BI model query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total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1" i="0">
                          <a:solidFill>
                            <a:srgbClr val="1C2433"/>
                          </a:solidFill>
                          <a:latin typeface="Calibri"/>
                        </a:rPr>
                        <a:t>18 answers the 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24" name="Rounded Rectangle 23"/>
          <p:cNvSpPr/>
          <p:nvPr/>
        </p:nvSpPr>
        <p:spPr>
          <a:xfrm>
            <a:off x="8001000" y="3291840"/>
            <a:ext cx="3776472" cy="301752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8001000" y="3291840"/>
            <a:ext cx="82296" cy="30175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8229600" y="3346704"/>
            <a:ext cx="3410712" cy="29077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Coexistence is built.</a:t>
            </a:r>
            <a:r>
              <a:rPr sz="1250" b="0" i="0">
                <a:solidFill>
                  <a:srgbClr val="1C2433"/>
                </a:solidFill>
                <a:latin typeface="Calibri"/>
              </a:rPr>
              <a:t> One pack, one route, connectors of either format behind it; the BI column scan, data versions and held dates work on both.</a:t>
            </a:r>
          </a:p>
          <a:p>
            <a:pPr algn="l">
              <a:lnSpc>
                <a:spcPct val="105000"/>
              </a:lnSpc>
            </a:pPr>
            <a:r>
              <a:rPr sz="1250" b="0" i="0">
                <a:solidFill>
                  <a:srgbClr val="1C2433"/>
                </a:solidFill>
                <a:latin typeface="Calibri"/>
              </a:rPr>
              <a:t>Each table has exactly one connector: never both formats for the same system's trades.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Converting tables between formats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69</a:t>
            </a:r>
          </a:p>
        </p:txBody>
      </p:sp>
      <p:graphicFrame>
        <p:nvGraphicFramePr>
          <p:cNvPr id="9" name="Table 8"/>
          <p:cNvGraphicFramePr>
            <a:graphicFrameLocks noGrp="1"/>
          </p:cNvGraphicFramePr>
          <p:nvPr/>
        </p:nvGraphicFramePr>
        <p:xfrm>
          <a:off x="411480" y="1143000"/>
          <a:ext cx="11365992" cy="2806289"/>
        </p:xfrm>
        <a:graphic>
          <a:graphicData uri="http://schemas.openxmlformats.org/drawingml/2006/table">
            <a:tbl>
              <a:tblPr firstRow="1" bandRow="1">
                <a:tableStyleId>{5940675A-B579-460E-94D1-54222C63F5DA}</a:tableStyleId>
              </a:tblPr>
              <a:tblGrid>
                <a:gridCol w="2560320"/>
                <a:gridCol w="4572000"/>
                <a:gridCol w="2286000"/>
                <a:gridCol w="1947672"/>
              </a:tblGrid>
              <a:tr h="433699">
                <a:tc>
                  <a:txBody>
                    <a:bodyPr wrap="square"/>
                    <a:lstStyle/>
                    <a:p>
                      <a:pPr algn="l">
                        <a:lnSpc>
                          <a:spcPct val="100000"/>
                        </a:lnSpc>
                      </a:pPr>
                      <a:r>
                        <a:rPr sz="1200" b="1" i="0">
                          <a:solidFill>
                            <a:srgbClr val="FFFFFF"/>
                          </a:solidFill>
                          <a:latin typeface="Calibri"/>
                        </a:rPr>
                        <a:t>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6297">
                <a:tc>
                  <a:txBody>
                    <a:bodyPr wrap="square"/>
                    <a:lstStyle/>
                    <a:p>
                      <a:pPr algn="l">
                        <a:lnSpc>
                          <a:spcPct val="100000"/>
                        </a:lnSpc>
                      </a:pPr>
                      <a:r>
                        <a:rPr sz="1200" b="1" i="0">
                          <a:solidFill>
                            <a:srgbClr val="1C2433"/>
                          </a:solidFill>
                          <a:latin typeface="Calibri"/>
                        </a:rPr>
                        <a:t>Delta → Iceberg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stores.py</a:t>
                      </a:r>
                      <a:r>
                        <a:rPr sz="1200" b="0" i="0">
                          <a:solidFill>
                            <a:srgbClr val="1C2433"/>
                          </a:solidFill>
                          <a:latin typeface="Calibri"/>
                        </a:rPr>
                        <a:t> / </a:t>
                      </a:r>
                      <a:r>
                        <a:rPr sz="1100" b="0" i="0">
                          <a:solidFill>
                            <a:srgbClr val="0E7C86"/>
                          </a:solidFill>
                          <a:latin typeface="Consolas"/>
                        </a:rPr>
                        <a:t>build_demo_lakes.py --store &lt;system&gt;=iceberg</a:t>
                      </a:r>
                      <a:r>
                        <a:rPr sz="1200" b="0" i="0">
                          <a:solidFill>
                            <a:srgbClr val="1C2433"/>
                          </a:solidFill>
                          <a:latin typeface="Calibri"/>
                        </a:rPr>
                        <a:t>: rows → </a:t>
                      </a:r>
                      <a:r>
                        <a:rPr sz="1100" b="0"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 one snapshot per copied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Risk domain, either way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build_demo_lakes.py --store risk=iceberg</a:t>
                      </a:r>
                      <a:r>
                        <a:rPr sz="1200" b="0" i="0">
                          <a:solidFill>
                            <a:srgbClr val="1C2433"/>
                          </a:solidFill>
                          <a:latin typeface="Calibri"/>
                        </a:rPr>
                        <a:t> (or </a:t>
                      </a:r>
                      <a:r>
                        <a:rPr sz="1100" b="0" i="0">
                          <a:solidFill>
                            <a:srgbClr val="0E7C86"/>
                          </a:solidFill>
                          <a:latin typeface="Consolas"/>
                        </a:rPr>
                        <a:t>risk=delta</a:t>
                      </a:r>
                      <a:r>
                        <a:rPr sz="1200" b="0" i="0">
                          <a:solidFill>
                            <a:srgbClr val="1C2433"/>
                          </a:solidFill>
                          <a:latin typeface="Calibri"/>
                        </a:rPr>
                        <a:t>): rebuilt from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days in the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3699">
                <a:tc>
                  <a:txBody>
                    <a:bodyPr wrap="square"/>
                    <a:lstStyle/>
                    <a:p>
                      <a:pPr algn="l">
                        <a:lnSpc>
                          <a:spcPct val="100000"/>
                        </a:lnSpc>
                      </a:pPr>
                      <a:r>
                        <a:rPr sz="1200" b="1" i="0">
                          <a:solidFill>
                            <a:srgbClr val="1C2433"/>
                          </a:solidFill>
                          <a:latin typeface="Calibri"/>
                        </a:rPr>
                        <a:t>Any table, Delta ↔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conversion of an existing table in either 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B1E3B"/>
                          </a:solidFill>
                          <a:latin typeface="Calibri"/>
                        </a:rPr>
                        <a:t>PLANNED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In place: Delta UniForm, Iceberg </a:t>
                      </a:r>
                      <a:r>
                        <a:rPr sz="1100" b="1" i="0">
                          <a:solidFill>
                            <a:srgbClr val="0E7C86"/>
                          </a:solidFill>
                          <a:latin typeface="Consolas"/>
                        </a:rPr>
                        <a:t>snapshot</a:t>
                      </a:r>
                      <a:r>
                        <a:rPr sz="1200" b="1" i="0">
                          <a:solidFill>
                            <a:srgbClr val="1C2433"/>
                          </a:solidFill>
                          <a:latin typeface="Calibri"/>
                        </a:rPr>
                        <a:t>/</a:t>
                      </a:r>
                      <a:r>
                        <a:rPr sz="1100" b="1" i="0">
                          <a:solidFill>
                            <a:srgbClr val="0E7C86"/>
                          </a:solidFill>
                          <a:latin typeface="Consolas"/>
                        </a:rPr>
                        <a:t>migrate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other engines write the second format's metadata over the same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converter's 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(evaluate)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343400"/>
            <a:ext cx="11365992" cy="1965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343400"/>
            <a:ext cx="82296" cy="1965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398264"/>
            <a:ext cx="11000232" cy="18562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Keep the old table until the new one is proven:</a:t>
            </a:r>
            <a:r>
              <a:rPr sz="1300" b="0" i="0">
                <a:solidFill>
                  <a:srgbClr val="1C2433"/>
                </a:solidFill>
                <a:latin typeface="Calibri"/>
              </a:rPr>
              <a:t> build the Iceberg table beside the Delta one, run the equality test against both, then switch the connector file. Keep the Delta folder for its time travel (and the content store keeps every official capture), or archive it.</a:t>
            </a:r>
          </a:p>
          <a:p>
            <a:pPr algn="l">
              <a:lnSpc>
                <a:spcPct val="105000"/>
              </a:lnSpc>
            </a:pPr>
            <a:r>
              <a:rPr sz="1300" b="1" i="0">
                <a:solidFill>
                  <a:srgbClr val="1C2433"/>
                </a:solidFill>
                <a:latin typeface="Calibri"/>
              </a:rPr>
              <a:t>Never</a:t>
            </a:r>
            <a:r>
              <a:rPr sz="1300" b="0" i="0">
                <a:solidFill>
                  <a:srgbClr val="1C2433"/>
                </a:solidFill>
                <a:latin typeface="Calibri"/>
              </a:rPr>
              <a:t> let two connectors serve one system's trades at once: the union would double them.</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Keeping one logical connector name across a switch</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14</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70</a:t>
            </a:r>
          </a:p>
        </p:txBody>
      </p:sp>
      <p:sp>
        <p:nvSpPr>
          <p:cNvPr id="9" name="Rounded Rectangle 8"/>
          <p:cNvSpPr/>
          <p:nvPr/>
        </p:nvSpPr>
        <p:spPr>
          <a:xfrm>
            <a:off x="411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2" name="TextBox 11"/>
          <p:cNvSpPr txBox="1"/>
          <p:nvPr/>
        </p:nvSpPr>
        <p:spPr>
          <a:xfrm>
            <a:off x="1051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Build beside</a:t>
            </a:r>
          </a:p>
        </p:txBody>
      </p:sp>
      <p:sp>
        <p:nvSpPr>
          <p:cNvPr id="13" name="TextBox 12"/>
          <p:cNvSpPr txBox="1"/>
          <p:nvPr/>
        </p:nvSpPr>
        <p:spPr>
          <a:xfrm>
            <a:off x="521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write the Iceberg table next to the Delta one (</a:t>
            </a:r>
            <a:r>
              <a:rPr sz="1050" b="0" i="0">
                <a:solidFill>
                  <a:srgbClr val="0E7C86"/>
                </a:solidFill>
                <a:latin typeface="Consolas"/>
              </a:rPr>
              <a:t>stores.py</a:t>
            </a:r>
            <a:r>
              <a:rPr sz="1150" b="0" i="0">
                <a:solidFill>
                  <a:srgbClr val="1C2433"/>
                </a:solidFill>
                <a:latin typeface="Calibri"/>
              </a:rPr>
              <a:t>, or the loader)</a:t>
            </a:r>
          </a:p>
        </p:txBody>
      </p:sp>
      <p:cxnSp>
        <p:nvCxnSpPr>
          <p:cNvPr id="14" name="Connector 13"/>
          <p:cNvCxnSpPr/>
          <p:nvPr/>
        </p:nvCxnSpPr>
        <p:spPr>
          <a:xfrm>
            <a:off x="2542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97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07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07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18" name="TextBox 17"/>
          <p:cNvSpPr txBox="1"/>
          <p:nvPr/>
        </p:nvSpPr>
        <p:spPr>
          <a:xfrm>
            <a:off x="3337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Compare</a:t>
            </a:r>
          </a:p>
        </p:txBody>
      </p:sp>
      <p:sp>
        <p:nvSpPr>
          <p:cNvPr id="19" name="TextBox 18"/>
          <p:cNvSpPr txBox="1"/>
          <p:nvPr/>
        </p:nvSpPr>
        <p:spPr>
          <a:xfrm>
            <a:off x="2807208" y="1828800"/>
            <a:ext cx="1911095" cy="1417320"/>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stores_equality.py</a:t>
            </a:r>
            <a:r>
              <a:rPr sz="1150" b="0" i="0">
                <a:solidFill>
                  <a:srgbClr val="1C2433"/>
                </a:solidFill>
                <a:latin typeface="Calibri"/>
              </a:rPr>
              <a:t>-style answers, both lakes, the same dates</a:t>
            </a:r>
          </a:p>
        </p:txBody>
      </p:sp>
      <p:cxnSp>
        <p:nvCxnSpPr>
          <p:cNvPr id="20" name="Connector 19"/>
          <p:cNvCxnSpPr/>
          <p:nvPr/>
        </p:nvCxnSpPr>
        <p:spPr>
          <a:xfrm>
            <a:off x="4828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983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093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93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4" name="TextBox 23"/>
          <p:cNvSpPr txBox="1"/>
          <p:nvPr/>
        </p:nvSpPr>
        <p:spPr>
          <a:xfrm>
            <a:off x="5623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Switch</a:t>
            </a:r>
          </a:p>
        </p:txBody>
      </p:sp>
      <p:sp>
        <p:nvSpPr>
          <p:cNvPr id="25" name="TextBox 24"/>
          <p:cNvSpPr txBox="1"/>
          <p:nvPr/>
        </p:nvSpPr>
        <p:spPr>
          <a:xfrm>
            <a:off x="5093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edit </a:t>
            </a:r>
            <a:r>
              <a:rPr sz="1050" b="0" i="0">
                <a:solidFill>
                  <a:srgbClr val="0E7C86"/>
                </a:solidFill>
                <a:latin typeface="Consolas"/>
              </a:rPr>
              <a:t>trade-calypso.yaml</a:t>
            </a:r>
            <a:r>
              <a:rPr sz="1150" b="0" i="0">
                <a:solidFill>
                  <a:srgbClr val="1C2433"/>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a:t>
            </a:r>
            <a:r>
              <a:rPr sz="1050" b="0" i="0">
                <a:solidFill>
                  <a:srgbClr val="0E7C86"/>
                </a:solidFill>
                <a:latin typeface="Consolas"/>
              </a:rPr>
              <a:t>root</a:t>
            </a:r>
            <a:r>
              <a:rPr sz="1150" b="0" i="0">
                <a:solidFill>
                  <a:srgbClr val="1C2433"/>
                </a:solidFill>
                <a:latin typeface="Calibri"/>
              </a:rPr>
              <a:t>, </a:t>
            </a:r>
            <a:r>
              <a:rPr sz="1050" b="0" i="0">
                <a:solidFill>
                  <a:srgbClr val="0E7C86"/>
                </a:solidFill>
                <a:latin typeface="Consolas"/>
              </a:rPr>
              <a:t>table.trade</a:t>
            </a:r>
            <a:r>
              <a:rPr sz="1150" b="0" i="0">
                <a:solidFill>
                  <a:srgbClr val="1C2433"/>
                </a:solidFill>
                <a:latin typeface="Calibri"/>
              </a:rPr>
              <a:t>, the same </a:t>
            </a:r>
            <a:r>
              <a:rPr sz="1050" b="0" i="0">
                <a:solidFill>
                  <a:srgbClr val="0E7C86"/>
                </a:solidFill>
                <a:latin typeface="Consolas"/>
              </a:rPr>
              <a:t>layout</a:t>
            </a:r>
          </a:p>
        </p:txBody>
      </p:sp>
      <p:cxnSp>
        <p:nvCxnSpPr>
          <p:cNvPr id="26" name="Connector 25"/>
          <p:cNvCxnSpPr/>
          <p:nvPr/>
        </p:nvCxnSpPr>
        <p:spPr>
          <a:xfrm>
            <a:off x="7114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9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379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9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0" name="TextBox 29"/>
          <p:cNvSpPr txBox="1"/>
          <p:nvPr/>
        </p:nvSpPr>
        <p:spPr>
          <a:xfrm>
            <a:off x="7909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Signal</a:t>
            </a:r>
          </a:p>
        </p:txBody>
      </p:sp>
      <p:sp>
        <p:nvSpPr>
          <p:cNvPr id="31" name="TextBox 30"/>
          <p:cNvSpPr txBox="1"/>
          <p:nvPr/>
        </p:nvSpPr>
        <p:spPr>
          <a:xfrm>
            <a:off x="7379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data-load signal, or wait </a:t>
            </a:r>
            <a:r>
              <a:rPr sz="1050" b="0" i="0">
                <a:solidFill>
                  <a:srgbClr val="0E7C86"/>
                </a:solidFill>
                <a:latin typeface="Consolas"/>
              </a:rPr>
              <a:t>refresh-seconds</a:t>
            </a:r>
            <a:r>
              <a:rPr sz="1150" b="0" i="0">
                <a:solidFill>
                  <a:srgbClr val="1C2433"/>
                </a:solidFill>
                <a:latin typeface="Calibri"/>
              </a:rPr>
              <a:t>; Health shows </a:t>
            </a:r>
            <a:r>
              <a:rPr sz="1050" b="0" i="0">
                <a:solidFill>
                  <a:srgbClr val="0E7C86"/>
                </a:solidFill>
                <a:latin typeface="Consolas"/>
              </a:rPr>
              <a:t>engine: native</a:t>
            </a:r>
            <a:r>
              <a:rPr sz="1150" b="0" i="0">
                <a:solidFill>
                  <a:srgbClr val="1C2433"/>
                </a:solidFill>
                <a:latin typeface="Calibri"/>
              </a:rPr>
              <a:t>, UP</a:t>
            </a:r>
          </a:p>
        </p:txBody>
      </p:sp>
      <p:cxnSp>
        <p:nvCxnSpPr>
          <p:cNvPr id="32" name="Connector 31"/>
          <p:cNvCxnSpPr/>
          <p:nvPr/>
        </p:nvCxnSpPr>
        <p:spPr>
          <a:xfrm>
            <a:off x="9400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55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665207"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65207"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6" name="TextBox 35"/>
          <p:cNvSpPr txBox="1"/>
          <p:nvPr/>
        </p:nvSpPr>
        <p:spPr>
          <a:xfrm>
            <a:off x="10195559"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Keep, then retire</a:t>
            </a:r>
          </a:p>
        </p:txBody>
      </p:sp>
      <p:sp>
        <p:nvSpPr>
          <p:cNvPr id="37" name="TextBox 36"/>
          <p:cNvSpPr txBox="1"/>
          <p:nvPr/>
        </p:nvSpPr>
        <p:spPr>
          <a:xfrm>
            <a:off x="9665207"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keep the Delta table for its history; roll back by restoring the file</a:t>
            </a:r>
          </a:p>
        </p:txBody>
      </p:sp>
      <p:sp>
        <p:nvSpPr>
          <p:cNvPr id="38" name="Rounded Rectangle 37"/>
          <p:cNvSpPr/>
          <p:nvPr/>
        </p:nvSpPr>
        <p:spPr>
          <a:xfrm>
            <a:off x="411480" y="3794760"/>
            <a:ext cx="6583680" cy="25146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867912"/>
            <a:ext cx="6364224" cy="23682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 config/connectors/trade-calypso.yaml (the name never changes)</a:t>
            </a:r>
          </a:p>
          <a:p>
            <a:pPr algn="l">
              <a:lnSpc>
                <a:spcPct val="100000"/>
              </a:lnSpc>
            </a:pPr>
            <a:r>
              <a:rPr sz="1150" b="0" i="0">
                <a:solidFill>
                  <a:srgbClr val="E6EDF3"/>
                </a:solidFill>
                <a:latin typeface="Consolas"/>
              </a:rPr>
              <a:t>plugin: iceberg                 # was: delta</a:t>
            </a:r>
          </a:p>
          <a:p>
            <a:pPr algn="l">
              <a:lnSpc>
                <a:spcPct val="100000"/>
              </a:lnSpc>
            </a:pPr>
            <a:r>
              <a:rPr sz="1150" b="0" i="0">
                <a:solidFill>
                  <a:srgbClr val="E6EDF3"/>
                </a:solidFill>
                <a:latin typeface="Consolas"/>
              </a:rPr>
              <a:t>kinds: [trade]</a:t>
            </a:r>
          </a:p>
          <a:p>
            <a:pPr algn="l">
              <a:lnSpc>
                <a:spcPct val="100000"/>
              </a:lnSpc>
            </a:pPr>
            <a:r>
              <a:rPr sz="1150" b="0" i="0">
                <a:solidFill>
                  <a:srgbClr val="E6EDF3"/>
                </a:solidFill>
                <a:latin typeface="Consolas"/>
              </a:rPr>
              <a:t>settings:</a:t>
            </a:r>
          </a:p>
          <a:p>
            <a:pPr algn="l">
              <a:lnSpc>
                <a:spcPct val="100000"/>
              </a:lnSpc>
            </a:pPr>
            <a:r>
              <a:rPr sz="1150" b="0" i="0">
                <a:solidFill>
                  <a:srgbClr val="E6EDF3"/>
                </a:solidFill>
                <a:latin typeface="Consolas"/>
              </a:rPr>
              <a:t>  domain: trading</a:t>
            </a:r>
          </a:p>
          <a:p>
            <a:pPr algn="l">
              <a:lnSpc>
                <a:spcPct val="100000"/>
              </a:lnSpc>
            </a:pPr>
            <a:r>
              <a:rPr sz="1150" b="0" i="0">
                <a:solidFill>
                  <a:srgbClr val="E6EDF3"/>
                </a:solidFill>
                <a:latin typeface="Consolas"/>
              </a:rPr>
              <a:t>  engine: native</a:t>
            </a:r>
          </a:p>
          <a:p>
            <a:pPr algn="l">
              <a:lnSpc>
                <a:spcPct val="100000"/>
              </a:lnSpc>
            </a:pPr>
            <a:r>
              <a:rPr sz="1150" b="0" i="0">
                <a:solidFill>
                  <a:srgbClr val="E6EDF3"/>
                </a:solidFill>
                <a:latin typeface="Consolas"/>
              </a:rPr>
              <a:t>  root: ${DRISHTI_ICEBERG_ROOT:${drishti.data.dir:./data}/iceberg}</a:t>
            </a:r>
          </a:p>
          <a:p>
            <a:pPr algn="l">
              <a:lnSpc>
                <a:spcPct val="100000"/>
              </a:lnSpc>
            </a:pPr>
            <a:r>
              <a:rPr sz="1150" b="0" i="0">
                <a:solidFill>
                  <a:srgbClr val="E6EDF3"/>
                </a:solidFill>
                <a:latin typeface="Consolas"/>
              </a:rPr>
              <a:t>  table: {trade: trade_calypso}</a:t>
            </a:r>
          </a:p>
          <a:p>
            <a:pPr algn="l">
              <a:lnSpc>
                <a:spcPct val="100000"/>
              </a:lnSpc>
            </a:pPr>
            <a:r>
              <a:rPr sz="1150" b="0" i="0">
                <a:solidFill>
                  <a:srgbClr val="E6EDF3"/>
                </a:solidFill>
                <a:latin typeface="Consolas"/>
              </a:rPr>
              <a:t>  layout: {trade: {columns: [TRADE_ID, SOURCE_SYSTEM, …]}}</a:t>
            </a:r>
          </a:p>
        </p:txBody>
      </p:sp>
      <p:sp>
        <p:nvSpPr>
          <p:cNvPr id="40" name="Rounded Rectangle 39"/>
          <p:cNvSpPr/>
          <p:nvPr/>
        </p:nvSpPr>
        <p:spPr>
          <a:xfrm>
            <a:off x="7223760" y="3794760"/>
            <a:ext cx="4553712" cy="251460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223760" y="3794760"/>
            <a:ext cx="82296" cy="2514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7452360" y="3849624"/>
            <a:ext cx="4187952"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Nothing above the connector moves:</a:t>
            </a:r>
            <a:r>
              <a:rPr sz="1250" b="0" i="0">
                <a:solidFill>
                  <a:srgbClr val="1C2433"/>
                </a:solidFill>
                <a:latin typeface="Calibri"/>
              </a:rPr>
              <a:t> the pack's route, saved searches, BI models, reports and bookmarks name the connector or the kind, never the format.</a:t>
            </a:r>
          </a:p>
          <a:p>
            <a:pPr algn="l">
              <a:lnSpc>
                <a:spcPct val="105000"/>
              </a:lnSpc>
            </a:pPr>
            <a:r>
              <a:rPr sz="1250" b="0" i="0">
                <a:solidFill>
                  <a:srgbClr val="1C2433"/>
                </a:solidFill>
                <a:latin typeface="Calibri"/>
              </a:rPr>
              <a:t>Caches of the old connector are dropped when the file changes. At an upgrade the edited file keeps its values and gains the pack's new keys.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15</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Sizing and cost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Monthly cost: what changes with Iceberg</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15</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72</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2377440"/>
                <a:gridCol w="3108960"/>
                <a:gridCol w="5879592"/>
              </a:tblGrid>
              <a:tr h="413047">
                <a:tc>
                  <a:txBody>
                    <a:bodyPr wrap="square"/>
                    <a:lstStyle/>
                    <a:p>
                      <a:pPr algn="l">
                        <a:lnSpc>
                          <a:spcPct val="100000"/>
                        </a:lnSpc>
                      </a:pPr>
                      <a:r>
                        <a:rPr sz="1200" b="1" i="0">
                          <a:solidFill>
                            <a:srgbClr val="FFFFFF"/>
                          </a:solidFill>
                          <a:latin typeface="Calibri"/>
                        </a:rPr>
                        <a:t>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deck (200 TB, per month)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With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3047">
                <a:tc>
                  <a:txBody>
                    <a:bodyPr wrap="square"/>
                    <a:lstStyle/>
                    <a:p>
                      <a:pPr algn="l">
                        <a:lnSpc>
                          <a:spcPct val="100000"/>
                        </a:lnSpc>
                      </a:pPr>
                      <a:r>
                        <a:rPr sz="1200" b="1" i="0">
                          <a:solidFill>
                            <a:srgbClr val="1C2433"/>
                          </a:solidFill>
                          <a:latin typeface="Calibri"/>
                        </a:rPr>
                        <a:t>S3 storage, tiered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about USD 1,400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same tiers; zstd may store less than Snappy (not measured side by side)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5521">
                <a:tc>
                  <a:txBody>
                    <a:bodyPr wrap="square"/>
                    <a:lstStyle/>
                    <a:p>
                      <a:pPr algn="l">
                        <a:lnSpc>
                          <a:spcPct val="100000"/>
                        </a:lnSpc>
                      </a:pPr>
                      <a:r>
                        <a:rPr sz="1200" b="1" i="0">
                          <a:solidFill>
                            <a:srgbClr val="1C2433"/>
                          </a:solidFill>
                          <a:latin typeface="Calibri"/>
                        </a:rPr>
                        <a:t>S3 requests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500–700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about the same for reads; a few more small objects per commit (metadata JSON, manifest list,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3047">
                <a:tc>
                  <a:txBody>
                    <a:bodyPr wrap="square"/>
                    <a:lstStyle/>
                    <a:p>
                      <a:pPr algn="l">
                        <a:lnSpc>
                          <a:spcPct val="100000"/>
                        </a:lnSpc>
                      </a:pPr>
                      <a:r>
                        <a:rPr sz="120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none (path-based) · Glue or S3 Tables: their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Server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650–750 (3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tasks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Loader,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50–150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fewer steps (no scratch table, no sync); or managed optimizers, charged separately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3047">
                <a:tc>
                  <a:txBody>
                    <a:bodyPr wrap="square"/>
                    <a:lstStyle/>
                    <a:p>
                      <a:pPr algn="l">
                        <a:lnSpc>
                          <a:spcPct val="100000"/>
                        </a:lnSpc>
                      </a:pPr>
                      <a:r>
                        <a:rPr sz="1200" b="1" i="0">
                          <a:solidFill>
                            <a:srgbClr val="1C2433"/>
                          </a:solidFill>
                          <a:latin typeface="Calibri"/>
                        </a:rPr>
                        <a:t>EFS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USD 300 + throughput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(Iceberg has the same disk caches)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5521">
                <a:tc>
                  <a:txBody>
                    <a:bodyPr wrap="square"/>
                    <a:lstStyle/>
                    <a:p>
                      <a:pPr algn="l">
                        <a:lnSpc>
                          <a:spcPct val="100000"/>
                        </a:lnSpc>
                      </a:pPr>
                      <a:r>
                        <a:rPr sz="1200" b="1" i="0">
                          <a:solidFill>
                            <a:srgbClr val="1C2433"/>
                          </a:solidFill>
                          <a:latin typeface="Calibri"/>
                        </a:rPr>
                        <a:t>Monitoring, secrets, endpoints, ALB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USD 200–400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 a Glue interface endpoint if Glue is the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486400"/>
            <a:ext cx="11365992" cy="822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486400"/>
            <a:ext cx="82296" cy="822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541264"/>
            <a:ext cx="11000232" cy="71323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bill is the same order of magnitude in either format:</a:t>
            </a:r>
            <a:r>
              <a:rPr sz="1300" b="0" i="0">
                <a:solidFill>
                  <a:srgbClr val="1C2433"/>
                </a:solidFill>
                <a:latin typeface="Calibri"/>
              </a:rPr>
              <a:t> storage dominates, and it is the same Parquet in the same tiers. The choice is about capability and operations, not cost.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16</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Runbooks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Runbooks: symptoms, causes, fixes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74</a:t>
            </a:r>
          </a:p>
        </p:txBody>
      </p:sp>
      <p:graphicFrame>
        <p:nvGraphicFramePr>
          <p:cNvPr id="9" name="Table 8"/>
          <p:cNvGraphicFramePr>
            <a:graphicFrameLocks noGrp="1"/>
          </p:cNvGraphicFramePr>
          <p:nvPr/>
        </p:nvGraphicFramePr>
        <p:xfrm>
          <a:off x="411480" y="1143000"/>
          <a:ext cx="11365991" cy="4889748"/>
        </p:xfrm>
        <a:graphic>
          <a:graphicData uri="http://schemas.openxmlformats.org/drawingml/2006/table">
            <a:tbl>
              <a:tblPr firstRow="1" bandRow="1">
                <a:tableStyleId>{5940675A-B579-460E-94D1-54222C63F5DA}</a:tableStyleId>
              </a:tblPr>
              <a:tblGrid>
                <a:gridCol w="3749039"/>
                <a:gridCol w="3840480"/>
                <a:gridCol w="3776472"/>
              </a:tblGrid>
              <a:tr h="415744">
                <a:tc>
                  <a:txBody>
                    <a:bodyPr wrap="square"/>
                    <a:lstStyle/>
                    <a:p>
                      <a:pPr algn="l">
                        <a:lnSpc>
                          <a:spcPct val="100000"/>
                        </a:lnSpc>
                      </a:pPr>
                      <a:r>
                        <a:rPr sz="1150" b="1" i="0">
                          <a:solidFill>
                            <a:srgbClr val="FFFFFF"/>
                          </a:solidFill>
                          <a:latin typeface="Calibri"/>
                        </a:rPr>
                        <a:t>Symptom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Likely cause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5744">
                <a:tc>
                  <a:txBody>
                    <a:bodyPr wrap="square"/>
                    <a:lstStyle/>
                    <a:p>
                      <a:pPr algn="l">
                        <a:lnSpc>
                          <a:spcPct val="100000"/>
                        </a:lnSpc>
                      </a:pPr>
                      <a:r>
                        <a:rPr sz="1050" b="1" i="0">
                          <a:solidFill>
                            <a:srgbClr val="0E7C86"/>
                          </a:solidFill>
                          <a:latin typeface="Consolas"/>
                        </a:rPr>
                        <a:t>DOWN: cannot reach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root, bucket or catalog namespace not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 </a:t>
                      </a:r>
                      <a:r>
                        <a:rPr sz="1050" b="0" i="0">
                          <a:solidFill>
                            <a:srgbClr val="0E7C86"/>
                          </a:solidFill>
                          <a:latin typeface="Consolas"/>
                        </a:rPr>
                        <a:t>root</a:t>
                      </a:r>
                      <a:r>
                        <a:rPr sz="1150" b="0" i="0">
                          <a:solidFill>
                            <a:srgbClr val="1C2433"/>
                          </a:solidFill>
                          <a:latin typeface="Calibri"/>
                        </a:rPr>
                        <a:t> / </a:t>
                      </a:r>
                      <a:r>
                        <a:rPr sz="1050" b="0" i="0">
                          <a:solidFill>
                            <a:srgbClr val="0E7C86"/>
                          </a:solidFill>
                          <a:latin typeface="Consolas"/>
                        </a:rPr>
                        <a:t>uri</a:t>
                      </a:r>
                      <a:r>
                        <a:rPr sz="1150" b="0" i="0">
                          <a:solidFill>
                            <a:srgbClr val="1C2433"/>
                          </a:solidFill>
                          <a:latin typeface="Calibri"/>
                        </a:rPr>
                        <a:t>, the task role,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050" b="1" i="0">
                          <a:solidFill>
                            <a:srgbClr val="0E7C86"/>
                          </a:solidFill>
                          <a:latin typeface="Consolas"/>
                        </a:rPr>
                        <a:t>DOWN: no Iceberg tables under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nothing loaded in that domain, or the wrong </a:t>
                      </a:r>
                      <a:r>
                        <a:rPr sz="1050" b="0" i="0">
                          <a:solidFill>
                            <a:srgbClr val="0E7C86"/>
                          </a:solidFill>
                          <a:latin typeface="Consolas"/>
                        </a:rPr>
                        <a:t>domain</a:t>
                      </a:r>
                      <a:r>
                        <a:rPr sz="1150" b="0" i="0">
                          <a:solidFill>
                            <a:srgbClr val="1C2433"/>
                          </a:solidFill>
                          <a:latin typeface="Calibri"/>
                        </a:rPr>
                        <a:t> / </a:t>
                      </a:r>
                      <a:r>
                        <a:rPr sz="1050" b="0" i="0">
                          <a:solidFill>
                            <a:srgbClr val="0E7C86"/>
                          </a:solidFill>
                          <a:latin typeface="Consolas"/>
                        </a:rPr>
                        <a:t>namespace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load it; check the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new data not visible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refresh has not run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wait </a:t>
                      </a:r>
                      <a:r>
                        <a:rPr sz="1050" b="0" i="0">
                          <a:solidFill>
                            <a:srgbClr val="0E7C86"/>
                          </a:solidFill>
                          <a:latin typeface="Consolas"/>
                        </a:rPr>
                        <a:t>refresh-seconds</a:t>
                      </a:r>
                      <a:r>
                        <a:rPr sz="1150" b="0" i="0">
                          <a:solidFill>
                            <a:srgbClr val="1C2433"/>
                          </a:solidFill>
                          <a:latin typeface="Calibri"/>
                        </a:rPr>
                        <a:t> (10) or send the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single reads slow, </a:t>
                      </a:r>
                      <a:r>
                        <a:rPr sz="1050" b="1" i="0">
                          <a:solidFill>
                            <a:srgbClr val="0E7C86"/>
                          </a:solidFill>
                          <a:latin typeface="Consolas"/>
                        </a:rPr>
                        <a:t>daysWithDeletes</a:t>
                      </a:r>
                      <a:r>
                        <a:rPr sz="1150" b="1" i="0">
                          <a:solidFill>
                            <a:srgbClr val="1C2433"/>
                          </a:solidFill>
                          <a:latin typeface="Calibri"/>
                        </a:rPr>
                        <a:t> &gt; 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another engine's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single reads slow on another engine's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large row groups or unsorted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--relayout --force</a:t>
                      </a:r>
                      <a:r>
                        <a:rPr sz="1150" b="0" i="0">
                          <a:solidFill>
                            <a:srgbClr val="1C2433"/>
                          </a:solidFill>
                          <a:latin typeface="Calibri"/>
                        </a:rPr>
                        <a:t>, or that engine's sorted rewrite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searches say </a:t>
                      </a:r>
                      <a:r>
                        <a:rPr sz="1050" b="1" i="0">
                          <a:solidFill>
                            <a:srgbClr val="0E7C86"/>
                          </a:solidFill>
                          <a:latin typeface="Consolas"/>
                        </a:rPr>
                        <a:t>partial: true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field the query reads is not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add it to the layout, then </a:t>
                      </a:r>
                      <a:r>
                        <a:rPr sz="1050" b="0" i="0">
                          <a:solidFill>
                            <a:srgbClr val="0E7C86"/>
                          </a:solidFill>
                          <a:latin typeface="Consolas"/>
                        </a:rPr>
                        <a:t>--columns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1">
                          <a:solidFill>
                            <a:srgbClr val="1C2433"/>
                          </a:solidFill>
                          <a:latin typeface="Calibri"/>
                        </a:rPr>
                        <a:t>known at</a:t>
                      </a:r>
                      <a:r>
                        <a:rPr sz="1150" b="1" i="0">
                          <a:solidFill>
                            <a:srgbClr val="1C2433"/>
                          </a:solidFill>
                          <a:latin typeface="Calibri"/>
                        </a:rPr>
                        <a:t> finds 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snapshots of that time were expired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more history (</a:t>
                      </a:r>
                      <a:r>
                        <a:rPr sz="1050" b="0" i="0">
                          <a:solidFill>
                            <a:srgbClr val="0E7C86"/>
                          </a:solidFill>
                          <a:latin typeface="Consolas"/>
                        </a:rPr>
                        <a:t>--expire-hours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150" b="1" i="0">
                          <a:solidFill>
                            <a:srgbClr val="1C2433"/>
                          </a:solidFill>
                          <a:latin typeface="Calibri"/>
                        </a:rPr>
                        <a:t>log: </a:t>
                      </a:r>
                      <a:r>
                        <a:rPr sz="1050" b="1" i="0">
                          <a:solidFill>
                            <a:srgbClr val="0E7C86"/>
                          </a:solidFill>
                          <a:latin typeface="Consolas"/>
                        </a:rPr>
                        <a:t>… does not honour conditional writes …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store ignores </a:t>
                      </a:r>
                      <a:r>
                        <a:rPr sz="1050" b="0" i="0">
                          <a:solidFill>
                            <a:srgbClr val="0E7C86"/>
                          </a:solidFill>
                          <a:latin typeface="Consolas"/>
                        </a:rPr>
                        <a:t>If-None-Match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writer per table,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0">
                          <a:solidFill>
                            <a:srgbClr val="1C2433"/>
                          </a:solidFill>
                          <a:latin typeface="Calibri"/>
                        </a:rPr>
                        <a:t>loader: </a:t>
                      </a:r>
                      <a:r>
                        <a:rPr sz="1050" b="1" i="0">
                          <a:solidFill>
                            <a:srgbClr val="0E7C86"/>
                          </a:solidFill>
                          <a:latin typeface="Consolas"/>
                        </a:rPr>
                        <a:t>iceberg: the load failed: &lt;why&gt;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first reason in the failure's chain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fix and load the day again (idempotent)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Disaster recovery and moved tables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16</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75</a:t>
            </a:r>
          </a:p>
        </p:txBody>
      </p:sp>
      <p:graphicFrame>
        <p:nvGraphicFramePr>
          <p:cNvPr id="9" name="Table 8"/>
          <p:cNvGraphicFramePr>
            <a:graphicFrameLocks noGrp="1"/>
          </p:cNvGraphicFramePr>
          <p:nvPr/>
        </p:nvGraphicFramePr>
        <p:xfrm>
          <a:off x="411480" y="1143000"/>
          <a:ext cx="11365992" cy="3686858"/>
        </p:xfrm>
        <a:graphic>
          <a:graphicData uri="http://schemas.openxmlformats.org/drawingml/2006/table">
            <a:tbl>
              <a:tblPr firstRow="1" bandRow="1">
                <a:tableStyleId>{5940675A-B579-460E-94D1-54222C63F5DA}</a:tableStyleId>
              </a:tblPr>
              <a:tblGrid>
                <a:gridCol w="2926080"/>
                <a:gridCol w="6702552"/>
                <a:gridCol w="1737360"/>
              </a:tblGrid>
              <a:tr h="435254">
                <a:tc>
                  <a:txBody>
                    <a:bodyPr wrap="square"/>
                    <a:lstStyle/>
                    <a:p>
                      <a:pPr algn="l">
                        <a:lnSpc>
                          <a:spcPct val="100000"/>
                        </a:lnSpc>
                      </a:pPr>
                      <a:r>
                        <a:rPr sz="1200" b="1" i="0">
                          <a:solidFill>
                            <a:srgbClr val="FFFFFF"/>
                          </a:solidFill>
                          <a:latin typeface="Calibri"/>
                        </a:rPr>
                        <a:t>Event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 to recover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A wrong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1">
                          <a:solidFill>
                            <a:srgbClr val="1C2433"/>
                          </a:solidFill>
                          <a:latin typeface="Calibri"/>
                        </a:rPr>
                        <a:t>known at</a:t>
                      </a:r>
                      <a:r>
                        <a:rPr sz="1200" b="0" i="0">
                          <a:solidFill>
                            <a:srgbClr val="1C2433"/>
                          </a:solidFill>
                          <a:latin typeface="Calibri"/>
                        </a:rPr>
                        <a:t> reads the snapshot before it; restate the days from the landing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Files deleted by mistake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S3 versioning: restore noncurrent versions within 14 days (as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table moved or copied (a laptop, another bucket)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relocate: '&lt;old&gt; -&gt; &lt;new&gt;'</a:t>
                      </a:r>
                      <a:r>
                        <a:rPr sz="1200" b="0" i="0">
                          <a:solidFill>
                            <a:srgbClr val="1C2433"/>
                          </a:solidFill>
                          <a:latin typeface="Calibri"/>
                        </a:rPr>
                        <a:t>, the pair Health gives; the library engine ignores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A Region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CRR of the lake bucket; read the replica with </a:t>
                      </a:r>
                      <a:r>
                        <a:rPr sz="1100" b="0" i="0">
                          <a:solidFill>
                            <a:srgbClr val="0E7C86"/>
                          </a:solidFill>
                          <a:latin typeface="Consolas"/>
                        </a:rPr>
                        <a:t>relocate: 's3://prod/… -&gt; s3://dr/…'</a:t>
                      </a:r>
                      <a:r>
                        <a:rPr sz="1200" b="0" i="0">
                          <a:solidFill>
                            <a:srgbClr val="1C2433"/>
                          </a:solidFill>
                          <a:latin typeface="Calibri"/>
                        </a:rPr>
                        <a:t> once the backlog is empty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 commit arrived before its files (replication)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that day fails to read until the files arrive; other days unaffected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Node state lost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AWS Backup of EFS; caches rebuild from the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349240"/>
            <a:ext cx="11365992" cy="96012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349240"/>
            <a:ext cx="82296" cy="96012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404103"/>
            <a:ext cx="11000232" cy="8503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Iceberg-specific DR rule:</a:t>
            </a:r>
            <a:r>
              <a:rPr sz="1300" b="0" i="0">
                <a:solidFill>
                  <a:srgbClr val="1C2433"/>
                </a:solidFill>
                <a:latin typeface="Calibri"/>
              </a:rPr>
              <a:t> absolute paths make a copy a different table until </a:t>
            </a:r>
            <a:r>
              <a:rPr sz="1200" b="0" i="0">
                <a:solidFill>
                  <a:srgbClr val="0E7C86"/>
                </a:solidFill>
                <a:latin typeface="Consolas"/>
              </a:rPr>
              <a:t>relocate</a:t>
            </a:r>
            <a:r>
              <a:rPr sz="1300" b="0" i="0">
                <a:solidFill>
                  <a:srgbClr val="1C2433"/>
                </a:solidFill>
                <a:latin typeface="Calibri"/>
              </a:rPr>
              <a:t> maps it; with a REST catalog, the catalog's metadata location must be repointed in the recovery Region too.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extBox 2"/>
          <p:cNvSpPr txBox="1"/>
          <p:nvPr/>
        </p:nvSpPr>
        <p:spPr>
          <a:xfrm>
            <a:off x="4754880" y="-822960"/>
            <a:ext cx="7223760" cy="7863840"/>
          </a:xfrm>
          <a:prstGeom prst="rect">
            <a:avLst/>
          </a:prstGeom>
          <a:noFill/>
        </p:spPr>
        <p:txBody>
          <a:bodyPr wrap="none" lIns="45720" rIns="45720" tIns="27432" bIns="27432" anchor="ctr">
            <a:spAutoFit/>
          </a:bodyPr>
          <a:lstStyle/>
          <a:p>
            <a:pPr algn="r">
              <a:lnSpc>
                <a:spcPct val="105000"/>
              </a:lnSpc>
            </a:pPr>
            <a:r>
              <a:rPr sz="42000" b="1" i="0">
                <a:solidFill>
                  <a:srgbClr val="1C3560"/>
                </a:solidFill>
                <a:latin typeface="Calibri"/>
              </a:rPr>
              <a:t>17</a:t>
            </a:r>
          </a:p>
        </p:txBody>
      </p:sp>
      <p:sp>
        <p:nvSpPr>
          <p:cNvPr id="4" name="TextBox 3"/>
          <p:cNvSpPr txBox="1"/>
          <p:nvPr/>
        </p:nvSpPr>
        <p:spPr>
          <a:xfrm>
            <a:off x="822960" y="2514600"/>
            <a:ext cx="6949440" cy="1828800"/>
          </a:xfrm>
          <a:prstGeom prst="rect">
            <a:avLst/>
          </a:prstGeom>
          <a:noFill/>
        </p:spPr>
        <p:txBody>
          <a:bodyPr wrap="square" lIns="45720" rIns="45720" tIns="27432" bIns="27432" anchor="ctr">
            <a:spAutoFit/>
          </a:bodyPr>
          <a:lstStyle/>
          <a:p>
            <a:pPr algn="l">
              <a:lnSpc>
                <a:spcPct val="105000"/>
              </a:lnSpc>
            </a:pPr>
            <a:r>
              <a:rPr sz="4400" b="1" i="0">
                <a:solidFill>
                  <a:srgbClr val="FFFFFF"/>
                </a:solidFill>
                <a:latin typeface="Calibri"/>
              </a:rPr>
              <a:t>Limits and what comes next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Limits and what comes next</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section 17</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77</a:t>
            </a:r>
          </a:p>
        </p:txBody>
      </p:sp>
      <p:sp>
        <p:nvSpPr>
          <p:cNvPr id="9" name="TextBox 8"/>
          <p:cNvSpPr txBox="1"/>
          <p:nvPr/>
        </p:nvSpPr>
        <p:spPr>
          <a:xfrm>
            <a:off x="411480" y="1188720"/>
            <a:ext cx="11365992" cy="5120640"/>
          </a:xfrm>
          <a:prstGeom prst="rect">
            <a:avLst/>
          </a:prstGeom>
          <a:noFill/>
        </p:spPr>
        <p:txBody>
          <a:bodyPr wrap="square" lIns="45720" rIns="45720" tIns="27432" bIns="27432" anchor="t">
            <a:spAutoFit/>
          </a:bodyPr>
          <a:lstStyle/>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run in AWS.</a:t>
            </a:r>
            <a:r>
              <a:rPr sz="1550" b="0" i="0">
                <a:solidFill>
                  <a:srgbClr val="1C2433"/>
                </a:solidFill>
                <a:latin typeface="Calibri"/>
              </a:rPr>
              <a:t> No Iceberg table written to a real S3 bucket; the Glue and S3 Tables runs (</a:t>
            </a:r>
            <a:r>
              <a:rPr sz="1450" b="0" i="0">
                <a:solidFill>
                  <a:srgbClr val="0E7C86"/>
                </a:solidFill>
                <a:latin typeface="Consolas"/>
              </a:rPr>
              <a:t>check-glue.sh</a:t>
            </a:r>
            <a:r>
              <a:rPr sz="1550" b="0" i="0">
                <a:solidFill>
                  <a:srgbClr val="1C2433"/>
                </a:solidFill>
                <a:latin typeface="Calibri"/>
              </a:rPr>
              <a:t>) are written and wait for an account: </a:t>
            </a:r>
            <a:r>
              <a:rPr sz="1550" b="1" i="0">
                <a:solidFill>
                  <a:srgbClr val="1C2433"/>
                </a:solidFill>
                <a:latin typeface="Calibri"/>
              </a:rPr>
              <a:t>NOT RUN</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Not yet measured at bank scale:</a:t>
            </a:r>
            <a:r>
              <a:rPr sz="1550" b="0" i="0">
                <a:solidFill>
                  <a:srgbClr val="1C2433"/>
                </a:solidFill>
                <a:latin typeface="Calibri"/>
              </a:rPr>
              <a:t> the 200K-position benchmark on both formats (2.3M extrapolated) is </a:t>
            </a:r>
            <a:r>
              <a:rPr sz="1550" b="1" i="0">
                <a:solidFill>
                  <a:srgbClr val="1C2433"/>
                </a:solidFill>
                <a:latin typeface="Calibri"/>
              </a:rPr>
              <a:t>PLANNED</a:t>
            </a:r>
            <a:r>
              <a:rPr sz="1550" b="0" i="0">
                <a:solidFill>
                  <a:srgbClr val="1C2433"/>
                </a:solidFill>
                <a:latin typeface="Calibri"/>
              </a:rPr>
              <a:t>; the demo figures are demo data only</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Conversion and Delta evolution:</a:t>
            </a:r>
            <a:r>
              <a:rPr sz="1550" b="0" i="0">
                <a:solidFill>
                  <a:srgbClr val="1C2433"/>
                </a:solidFill>
                <a:latin typeface="Calibri"/>
              </a:rPr>
              <a:t> Delta↔Iceberg conversion of any table and Delta's in-place schema evolution are </a:t>
            </a:r>
            <a:r>
              <a:rPr sz="1550" b="1" i="0">
                <a:solidFill>
                  <a:srgbClr val="1C2433"/>
                </a:solidFill>
                <a:latin typeface="Calibri"/>
              </a:rPr>
              <a:t>PLANNED</a:t>
            </a:r>
            <a:r>
              <a:rPr sz="1550" b="0" i="0">
                <a:solidFill>
                  <a:srgbClr val="1C2433"/>
                </a:solidFill>
                <a:latin typeface="Calibri"/>
              </a:rPr>
              <a:t>, not built</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Spec gaps, refused by name:</a:t>
            </a:r>
            <a:r>
              <a:rPr sz="1550" b="0" i="0">
                <a:solidFill>
                  <a:srgbClr val="1C2433"/>
                </a:solidFill>
                <a:latin typeface="Calibri"/>
              </a:rPr>
              <a:t> format v3 (deletion vectors, new types), encrypted tables, ORC and Avro data files, branches and tags</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Native engine reaches local disk and S3 only;</a:t>
            </a:r>
            <a:r>
              <a:rPr sz="1550" b="0" i="0">
                <a:solidFill>
                  <a:srgbClr val="1C2433"/>
                </a:solidFill>
                <a:latin typeface="Calibri"/>
              </a:rPr>
              <a:t> Azure, GCS, HDFS need </a:t>
            </a:r>
            <a:r>
              <a:rPr sz="1450" b="0" i="0">
                <a:solidFill>
                  <a:srgbClr val="0E7C86"/>
                </a:solidFill>
                <a:latin typeface="Consolas"/>
              </a:rPr>
              <a:t>engine: library</a:t>
            </a:r>
            <a:r>
              <a:rPr sz="1550" b="0" i="0">
                <a:solidFill>
                  <a:srgbClr val="1C2433"/>
                </a:solidFill>
                <a:latin typeface="Calibri"/>
              </a:rPr>
              <a:t> (Hadoop)</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Cluster:</a:t>
            </a:r>
            <a:r>
              <a:rPr sz="1550" b="0" i="0">
                <a:solidFill>
                  <a:srgbClr val="1C2433"/>
                </a:solidFill>
                <a:latin typeface="Calibri"/>
              </a:rPr>
              <a:t> VaR sharding across Drishti servers is built on either format; ECS Fargate scale-in drains a task first (slide 63)</a:t>
            </a:r>
          </a:p>
          <a:p>
            <a:pPr algn="l">
              <a:lnSpc>
                <a:spcPct val="105000"/>
              </a:lnSpc>
              <a:spcAft>
                <a:spcPts val="1100"/>
              </a:spcAft>
            </a:pPr>
            <a:r>
              <a:rPr sz="1550" b="0" i="0">
                <a:solidFill>
                  <a:srgbClr val="E87A1E"/>
                </a:solidFill>
                <a:latin typeface="Calibri"/>
              </a:rPr>
              <a:t>•  </a:t>
            </a:r>
            <a:r>
              <a:rPr sz="1550" b="1" i="0">
                <a:solidFill>
                  <a:srgbClr val="1C2433"/>
                </a:solidFill>
                <a:latin typeface="Calibri"/>
              </a:rPr>
              <a:t>Doc fix to make:</a:t>
            </a:r>
            <a:r>
              <a:rPr sz="1550" b="0" i="0">
                <a:solidFill>
                  <a:srgbClr val="1C2433"/>
                </a:solidFill>
                <a:latin typeface="Calibri"/>
              </a:rPr>
              <a:t> ICEBERG_CONNECTOR.md section 4 (path tables on S3 'need a single writer': true only of the library engine)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Decisions and actions for the product owner</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summary</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78</a:t>
            </a:r>
          </a:p>
        </p:txBody>
      </p:sp>
      <p:graphicFrame>
        <p:nvGraphicFramePr>
          <p:cNvPr id="9" name="Table 8"/>
          <p:cNvGraphicFramePr>
            <a:graphicFrameLocks noGrp="1"/>
          </p:cNvGraphicFramePr>
          <p:nvPr/>
        </p:nvGraphicFramePr>
        <p:xfrm>
          <a:off x="411480" y="1143000"/>
          <a:ext cx="11365992" cy="4222038"/>
        </p:xfrm>
        <a:graphic>
          <a:graphicData uri="http://schemas.openxmlformats.org/drawingml/2006/table">
            <a:tbl>
              <a:tblPr firstRow="1" bandRow="1">
                <a:tableStyleId>{5940675A-B579-460E-94D1-54222C63F5DA}</a:tableStyleId>
              </a:tblPr>
              <a:tblGrid>
                <a:gridCol w="457200"/>
                <a:gridCol w="4572000"/>
                <a:gridCol w="6336792"/>
              </a:tblGrid>
              <a:tr h="435254">
                <a:tc>
                  <a:txBody>
                    <a:bodyPr wrap="square"/>
                    <a:lstStyle/>
                    <a:p>
                      <a:pPr algn="l">
                        <a:lnSpc>
                          <a:spcPct val="100000"/>
                        </a:lnSpc>
                      </a:pPr>
                      <a:r>
                        <a:rPr sz="12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Decision or action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Recommendation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Which format for the </a:t>
                      </a:r>
                      <a:r>
                        <a:rPr sz="1250" b="1" i="0">
                          <a:solidFill>
                            <a:srgbClr val="1C2433"/>
                          </a:solidFill>
                          <a:latin typeface="Calibri"/>
                        </a:rPr>
                        <a:t>risk domain</a:t>
                      </a:r>
                      <a:r>
                        <a:rPr sz="1250" b="0" i="0">
                          <a:solidFill>
                            <a:srgbClr val="1C2433"/>
                          </a:solidFill>
                          <a:latin typeface="Calibri"/>
                        </a:rPr>
                        <a:t> (vectors, official results)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Delta by default; Iceberg where the bank standardises on it (equal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50" b="1"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Which format for </a:t>
                      </a:r>
                      <a:r>
                        <a:rPr sz="1250" b="1" i="0">
                          <a:solidFill>
                            <a:srgbClr val="1C2433"/>
                          </a:solidFill>
                          <a:latin typeface="Calibri"/>
                        </a:rPr>
                        <a:t>trades and reference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either, per source system; Iceberg where the bank's pipelines already write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a:t>
                      </a:r>
                      <a:r>
                        <a:rPr sz="1250" b="1" i="0">
                          <a:solidFill>
                            <a:srgbClr val="1C2433"/>
                          </a:solidFill>
                          <a:latin typeface="Calibri"/>
                        </a:rPr>
                        <a:t>catalog</a:t>
                      </a:r>
                      <a:r>
                        <a:rPr sz="1250" b="0" i="0">
                          <a:solidFill>
                            <a:srgbClr val="1C2433"/>
                          </a:solidFill>
                          <a:latin typeface="Calibri"/>
                        </a:rPr>
                        <a:t> on AWS for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path-based first; Glue's REST endpoint when Athena or Spark must share the tables; S3 Tables only after a proof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4</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First real run in a </a:t>
                      </a:r>
                      <a:r>
                        <a:rPr sz="1250" b="1" i="0">
                          <a:solidFill>
                            <a:srgbClr val="1C2433"/>
                          </a:solidFill>
                          <a:latin typeface="Calibri"/>
                        </a:rPr>
                        <a:t>development AWS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0E7C86"/>
                          </a:solidFill>
                          <a:latin typeface="Consolas"/>
                        </a:rPr>
                        <a:t>check-conditional-writes.sh</a:t>
                      </a:r>
                      <a:r>
                        <a:rPr sz="1250" b="0" i="0">
                          <a:solidFill>
                            <a:srgbClr val="1C2433"/>
                          </a:solidFill>
                          <a:latin typeface="Calibri"/>
                        </a:rPr>
                        <a:t>, </a:t>
                      </a:r>
                      <a:r>
                        <a:rPr sz="1150" b="0" i="0">
                          <a:solidFill>
                            <a:srgbClr val="0E7C86"/>
                          </a:solidFill>
                          <a:latin typeface="Consolas"/>
                        </a:rPr>
                        <a:t>check-glue.sh</a:t>
                      </a:r>
                      <a:r>
                        <a:rPr sz="1250" b="0" i="0">
                          <a:solidFill>
                            <a:srgbClr val="1C2433"/>
                          </a:solidFill>
                          <a:latin typeface="Calibri"/>
                        </a:rPr>
                        <a:t> (Glue and </a:t>
                      </a:r>
                      <a:r>
                        <a:rPr sz="1150" b="0" i="0">
                          <a:solidFill>
                            <a:srgbClr val="0E7C86"/>
                          </a:solidFill>
                          <a:latin typeface="Consolas"/>
                        </a:rPr>
                        <a:t>--s3-tables</a:t>
                      </a:r>
                      <a:r>
                        <a:rPr sz="1250" b="0" i="0">
                          <a:solidFill>
                            <a:srgbClr val="1C2433"/>
                          </a:solidFill>
                          <a:latin typeface="Calibri"/>
                        </a:rPr>
                        <a:t>), one Iceberg load and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The planned benchmark on both formats (200K positions, 2.3M extrapolated)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decide the risk domain's format at bank scale on measured figures, not demo ones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70306">
                <a:tc>
                  <a:txBody>
                    <a:bodyPr wrap="square"/>
                    <a:lstStyle/>
                    <a:p>
                      <a:pPr algn="l">
                        <a:lnSpc>
                          <a:spcPct val="100000"/>
                        </a:lnSpc>
                      </a:pPr>
                      <a:r>
                        <a:rPr sz="1250" b="1" i="0">
                          <a:solidFill>
                            <a:srgbClr val="1C2433"/>
                          </a:solidFill>
                          <a:latin typeface="Calibri"/>
                        </a:rPr>
                        <a:t>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Seven-year history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the floor is built; keep full-run snapshots, compact intraday; measure metadata at 2,000+ 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Rectangle 2"/>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Rectangle 3"/>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extBox 4"/>
          <p:cNvSpPr txBox="1"/>
          <p:nvPr/>
        </p:nvSpPr>
        <p:spPr>
          <a:xfrm>
            <a:off x="411480" y="109728"/>
            <a:ext cx="8778240" cy="685800"/>
          </a:xfrm>
          <a:prstGeom prst="rect">
            <a:avLst/>
          </a:prstGeom>
          <a:noFill/>
        </p:spPr>
        <p:txBody>
          <a:bodyPr wrap="square" lIns="45720" rIns="45720" tIns="27432" bIns="27432" anchor="ctr">
            <a:spAutoFit/>
          </a:bodyPr>
          <a:lstStyle/>
          <a:p>
            <a:pPr algn="l">
              <a:lnSpc>
                <a:spcPct val="105000"/>
              </a:lnSpc>
            </a:pPr>
            <a:r>
              <a:rPr sz="2600" b="1" i="0">
                <a:solidFill>
                  <a:srgbClr val="FFFFFF"/>
                </a:solidFill>
                <a:latin typeface="Calibri"/>
              </a:rPr>
              <a:t>Related documents</a:t>
            </a:r>
          </a:p>
        </p:txBody>
      </p:sp>
      <p:sp>
        <p:nvSpPr>
          <p:cNvPr id="6" name="TextBox 5"/>
          <p:cNvSpPr txBox="1"/>
          <p:nvPr/>
        </p:nvSpPr>
        <p:spPr>
          <a:xfrm>
            <a:off x="8412480" y="109728"/>
            <a:ext cx="3429000" cy="685800"/>
          </a:xfrm>
          <a:prstGeom prst="rect">
            <a:avLst/>
          </a:prstGeom>
          <a:noFill/>
        </p:spPr>
        <p:txBody>
          <a:bodyPr wrap="square" lIns="45720" rIns="45720" tIns="27432" bIns="27432" anchor="ctr">
            <a:spAutoFit/>
          </a:bodyPr>
          <a:lstStyle/>
          <a:p>
            <a:pPr algn="r">
              <a:lnSpc>
                <a:spcPct val="105000"/>
              </a:lnSpc>
            </a:pPr>
            <a:r>
              <a:rPr sz="1100" b="0" i="0">
                <a:solidFill>
                  <a:srgbClr val="C9D3E3"/>
                </a:solidFill>
                <a:latin typeface="Calibri"/>
              </a:rPr>
              <a:t>references</a:t>
            </a:r>
          </a:p>
        </p:txBody>
      </p:sp>
      <p:sp>
        <p:nvSpPr>
          <p:cNvPr id="7" name="TextBox 6"/>
          <p:cNvSpPr txBox="1"/>
          <p:nvPr/>
        </p:nvSpPr>
        <p:spPr>
          <a:xfrm>
            <a:off x="411480" y="6510528"/>
            <a:ext cx="9601200" cy="274320"/>
          </a:xfrm>
          <a:prstGeom prst="rect">
            <a:avLst/>
          </a:prstGeom>
          <a:noFill/>
        </p:spPr>
        <p:txBody>
          <a:bodyPr wrap="square" lIns="45720" rIns="45720" tIns="27432" bIns="27432" anchor="t">
            <a:spAutoFit/>
          </a:bodyPr>
          <a:lstStyle/>
          <a:p>
            <a:pPr algn="l">
              <a:lnSpc>
                <a:spcPct val="105000"/>
              </a:lnSpc>
            </a:pPr>
            <a:r>
              <a:rPr sz="900" b="0" i="0">
                <a:solidFill>
                  <a:srgbClr val="5B677A"/>
                </a:solidFill>
                <a:latin typeface="Calibri"/>
              </a:rPr>
              <a:t>Drishti · Drishti on AWS with Apache Iceberg · sources: DRISHTI_ICEBERG.md, ICEBERG_CONNECTOR.md, AWS_DEPLOYMENT.md 22</a:t>
            </a:r>
          </a:p>
        </p:txBody>
      </p:sp>
      <p:sp>
        <p:nvSpPr>
          <p:cNvPr id="8" name="TextBox 7"/>
          <p:cNvSpPr txBox="1"/>
          <p:nvPr/>
        </p:nvSpPr>
        <p:spPr>
          <a:xfrm>
            <a:off x="11091672" y="6510528"/>
            <a:ext cx="731520" cy="274320"/>
          </a:xfrm>
          <a:prstGeom prst="rect">
            <a:avLst/>
          </a:prstGeom>
          <a:noFill/>
        </p:spPr>
        <p:txBody>
          <a:bodyPr wrap="square" lIns="45720" rIns="45720" tIns="27432" bIns="27432" anchor="t">
            <a:spAutoFit/>
          </a:bodyPr>
          <a:lstStyle/>
          <a:p>
            <a:pPr algn="r">
              <a:lnSpc>
                <a:spcPct val="105000"/>
              </a:lnSpc>
            </a:pPr>
            <a:r>
              <a:rPr sz="900" b="0" i="0">
                <a:solidFill>
                  <a:srgbClr val="5B677A"/>
                </a:solidFill>
                <a:latin typeface="Calibri"/>
              </a:rPr>
              <a:t>79</a:t>
            </a:r>
          </a:p>
        </p:txBody>
      </p:sp>
      <p:graphicFrame>
        <p:nvGraphicFramePr>
          <p:cNvPr id="9" name="Table 8"/>
          <p:cNvGraphicFramePr>
            <a:graphicFrameLocks noGrp="1"/>
          </p:cNvGraphicFramePr>
          <p:nvPr/>
        </p:nvGraphicFramePr>
        <p:xfrm>
          <a:off x="411480" y="1143000"/>
          <a:ext cx="11365992" cy="4847232"/>
        </p:xfrm>
        <a:graphic>
          <a:graphicData uri="http://schemas.openxmlformats.org/drawingml/2006/table">
            <a:tbl>
              <a:tblPr firstRow="1" bandRow="1">
                <a:tableStyleId>{5940675A-B579-460E-94D1-54222C63F5DA}</a:tableStyleId>
              </a:tblPr>
              <a:tblGrid>
                <a:gridCol w="4206240"/>
                <a:gridCol w="7159752"/>
              </a:tblGrid>
              <a:tr h="388083">
                <a:tc>
                  <a:txBody>
                    <a:bodyPr wrap="square"/>
                    <a:lstStyle/>
                    <a:p>
                      <a:pPr algn="l">
                        <a:lnSpc>
                          <a:spcPct val="100000"/>
                        </a:lnSpc>
                      </a:pPr>
                      <a:r>
                        <a:rPr sz="1200" b="1" i="0">
                          <a:solidFill>
                            <a:srgbClr val="FFFFFF"/>
                          </a:solidFill>
                          <a:latin typeface="Calibri"/>
                        </a:rPr>
                        <a:t>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it holds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88083">
                <a:tc>
                  <a:txBody>
                    <a:bodyPr wrap="square"/>
                    <a:lstStyle/>
                    <a:p>
                      <a:pPr algn="l">
                        <a:lnSpc>
                          <a:spcPct val="100000"/>
                        </a:lnSpc>
                      </a:pPr>
                      <a:r>
                        <a:rPr sz="1200" b="1" i="0">
                          <a:solidFill>
                            <a:srgbClr val="1C2433"/>
                          </a:solidFill>
                          <a:latin typeface="Calibri"/>
                        </a:rPr>
                        <a:t>docs/architecture/DRISHTI_ICEBERG.md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native engine's design: protocol coverage, catalogs, commits, two connectors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8083">
                <a:tc>
                  <a:txBody>
                    <a:bodyPr wrap="square"/>
                    <a:lstStyle/>
                    <a:p>
                      <a:pPr algn="l">
                        <a:lnSpc>
                          <a:spcPct val="100000"/>
                        </a:lnSpc>
                      </a:pPr>
                      <a:r>
                        <a:rPr sz="1200" b="1" i="0">
                          <a:solidFill>
                            <a:srgbClr val="1C2433"/>
                          </a:solidFill>
                          <a:latin typeface="Calibri"/>
                        </a:rPr>
                        <a:t>docs/connectors/ICEBERG_CONNECTOR.md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iceberg</a:t>
                      </a:r>
                      <a:r>
                        <a:rPr sz="1200" b="0" i="0">
                          <a:solidFill>
                            <a:srgbClr val="1C2433"/>
                          </a:solidFill>
                          <a:latin typeface="Calibri"/>
                        </a:rPr>
                        <a:t> connector: layout, catalogs, loader, reads, maintenance, engines, settings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8083">
                <a:tc>
                  <a:txBody>
                    <a:bodyPr wrap="square"/>
                    <a:lstStyle/>
                    <a:p>
                      <a:pPr algn="l">
                        <a:lnSpc>
                          <a:spcPct val="100000"/>
                        </a:lnSpc>
                      </a:pPr>
                      <a:r>
                        <a:rPr sz="1200" b="1" i="0">
                          <a:solidFill>
                            <a:srgbClr val="1C2433"/>
                          </a:solidFill>
                          <a:latin typeface="Calibri"/>
                        </a:rPr>
                        <a:t>docs/connectors/ICEBERG_EXTERNAL_CONNECTOR.md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tables Drishti does not 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8083">
                <a:tc>
                  <a:txBody>
                    <a:bodyPr wrap="square"/>
                    <a:lstStyle/>
                    <a:p>
                      <a:pPr algn="l">
                        <a:lnSpc>
                          <a:spcPct val="100000"/>
                        </a:lnSpc>
                      </a:pPr>
                      <a:r>
                        <a:rPr sz="1200" b="1" i="0">
                          <a:solidFill>
                            <a:srgbClr val="1C2433"/>
                          </a:solidFill>
                          <a:latin typeface="Calibri"/>
                        </a:rPr>
                        <a:t>docs/architecture/AWS_DELTA_LAKE.md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Delta lake on AWS: scripts, layout, loading, maintenance, cost,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8083">
                <a:tc>
                  <a:txBody>
                    <a:bodyPr wrap="square"/>
                    <a:lstStyle/>
                    <a:p>
                      <a:pPr algn="l">
                        <a:lnSpc>
                          <a:spcPct val="100000"/>
                        </a:lnSpc>
                      </a:pPr>
                      <a:r>
                        <a:rPr sz="1200" b="1" i="0">
                          <a:solidFill>
                            <a:srgbClr val="1C2433"/>
                          </a:solidFill>
                          <a:latin typeface="Calibri"/>
                        </a:rPr>
                        <a:t>docs/architecture/AWS_DEPLOYMENT.md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ECS, EFS, buckets, secrets, DR; section 22: Iceberg on AWS and official results to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8083">
                <a:tc>
                  <a:txBody>
                    <a:bodyPr wrap="square"/>
                    <a:lstStyle/>
                    <a:p>
                      <a:pPr algn="l">
                        <a:lnSpc>
                          <a:spcPct val="100000"/>
                        </a:lnSpc>
                      </a:pPr>
                      <a:r>
                        <a:rPr sz="1200" b="1" i="0">
                          <a:solidFill>
                            <a:srgbClr val="1C2433"/>
                          </a:solidFill>
                          <a:latin typeface="Calibri"/>
                        </a:rPr>
                        <a:t>docs/connectors/DELTA_CONNECTOR.md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how Drishti reads Delta; engines native and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8083">
                <a:tc>
                  <a:txBody>
                    <a:bodyPr wrap="square"/>
                    <a:lstStyle/>
                    <a:p>
                      <a:pPr algn="l">
                        <a:lnSpc>
                          <a:spcPct val="100000"/>
                        </a:lnSpc>
                      </a:pPr>
                      <a:r>
                        <a:rPr sz="1200" b="1" i="0">
                          <a:solidFill>
                            <a:srgbClr val="1C2433"/>
                          </a:solidFill>
                          <a:latin typeface="Calibri"/>
                        </a:rPr>
                        <a:t>docs/admin/LAKE_MAINTENANCE.md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lake maintain</a:t>
                      </a:r>
                      <a:r>
                        <a:rPr sz="1200" b="0" i="0">
                          <a:solidFill>
                            <a:srgbClr val="1C2433"/>
                          </a:solidFill>
                          <a:latin typeface="Calibri"/>
                        </a:rPr>
                        <a:t> and Admin → Lakes; the 7-year risk floor; section 8: Iceberg lakes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78319">
                <a:tc>
                  <a:txBody>
                    <a:bodyPr wrap="square"/>
                    <a:lstStyle/>
                    <a:p>
                      <a:pPr algn="l">
                        <a:lnSpc>
                          <a:spcPct val="100000"/>
                        </a:lnSpc>
                      </a:pPr>
                      <a:r>
                        <a:rPr sz="1200" b="1" i="0">
                          <a:solidFill>
                            <a:srgbClr val="1C2433"/>
                          </a:solidFill>
                          <a:latin typeface="Calibri"/>
                        </a:rPr>
                        <a:t>docs/guides/VAR_GUIDE.md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hierarchies (5.2), inputs (15), official results (19), sizing (27), sharding (28), vectors (29)</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8083">
                <a:tc>
                  <a:txBody>
                    <a:bodyPr wrap="square"/>
                    <a:lstStyle/>
                    <a:p>
                      <a:pPr algn="l">
                        <a:lnSpc>
                          <a:spcPct val="100000"/>
                        </a:lnSpc>
                      </a:pPr>
                      <a:r>
                        <a:rPr sz="1200" b="1" i="0">
                          <a:solidFill>
                            <a:srgbClr val="1C2433"/>
                          </a:solidFill>
                          <a:latin typeface="Calibri"/>
                        </a:rPr>
                        <a:t>docs/connectors/DEMO_DATA.md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mixed Delta and Iceberg storage in the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8083">
                <a:tc>
                  <a:txBody>
                    <a:bodyPr wrap="square"/>
                    <a:lstStyle/>
                    <a:p>
                      <a:pPr algn="l">
                        <a:lnSpc>
                          <a:spcPct val="100000"/>
                        </a:lnSpc>
                      </a:pPr>
                      <a:r>
                        <a:rPr sz="1200" b="1" i="0">
                          <a:solidFill>
                            <a:srgbClr val="1C2433"/>
                          </a:solidFill>
                          <a:latin typeface="Calibri"/>
                        </a:rPr>
                        <a:t>docs/architecture/DRISHTI_NET.md, docs/admin/NET.md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several servers: replicas, shards, routing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8083">
                <a:tc>
                  <a:txBody>
                    <a:bodyPr wrap="square"/>
                    <a:lstStyle/>
                    <a:p>
                      <a:pPr algn="l">
                        <a:lnSpc>
                          <a:spcPct val="100000"/>
                        </a:lnSpc>
                      </a:pPr>
                      <a:r>
                        <a:rPr sz="1200" b="1" i="0">
                          <a:solidFill>
                            <a:srgbClr val="1C2433"/>
                          </a:solidFill>
                          <a:latin typeface="Calibri"/>
                        </a:rPr>
                        <a:t>docs/architecture/VAR_SHARDING.md, PARALLEL_LOADER.md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sharded across servers, Fargate drain; the parallel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on AWS with Apache Iceberg</dc:title>
  <dc:subject>Drishti: Iceberg on AWS, a full alternative to Delta Lake</dc:subject>
  <dc:creator>Ashutosh Sinha</dc:creator>
  <cp:keywords>Drishti, Iceberg, Delta Lake, AWS, S3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
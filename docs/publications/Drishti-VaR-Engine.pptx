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9" r:id="rId9"/>
    <p:sldId id="300" r:id="rId10"/>
    <p:sldId id="301" r:id="rId11"/>
    <p:sldId id="302" r:id="rId12"/>
    <p:sldId id="303" r:id="rId13"/>
    <p:sldId id="304" r:id="rId14"/>
    <p:sldId id="305" r:id="rId15"/>
    <p:sldId id="306" r:id="rId16"/>
    <p:sldId id="307" r:id="rId17"/>
    <p:sldId id="308" r:id="rId18"/>
    <p:sldId id="309" r:id="rId19"/>
    <p:sldId id="310" r:id="rId20"/>
    <p:sldId id="311" r:id="rId21"/>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fff05ea-7e3f-edc1-6e4c-b237f484a65c}">
          <p14:sldIdLst>
            <p14:sldId id="256"/>
            <p14:sldId id="257"/>
          </p14:sldIdLst>
        </p14:section>
        <p14:section name="1 The idea" id="{ca601b58-0b8b-3761-3239-43cfc2554691}">
          <p14:sldIdLst>
            <p14:sldId id="258"/>
            <p14:sldId id="259"/>
            <p14:sldId id="260"/>
            <p14:sldId id="261"/>
            <p14:sldId id="262"/>
            <p14:sldId id="263"/>
            <p14:sldId id="264"/>
            <p14:sldId id="265"/>
            <p14:sldId id="266"/>
            <p14:sldId id="267"/>
            <p14:sldId id="268"/>
            <p14:sldId id="269"/>
          </p14:sldIdLst>
        </p14:section>
        <p14:section name="2 The product" id="{426419ec-ae60-8af7-70b6-913aa38d3bca}">
          <p14:sldIdLst>
            <p14:sldId id="270"/>
            <p14:sldId id="271"/>
            <p14:sldId id="272"/>
            <p14:sldId id="273"/>
            <p14:sldId id="274"/>
            <p14:sldId id="275"/>
            <p14:sldId id="276"/>
            <p14:sldId id="277"/>
            <p14:sldId id="278"/>
            <p14:sldId id="279"/>
            <p14:sldId id="280"/>
            <p14:sldId id="281"/>
          </p14:sldIdLst>
        </p14:section>
        <p14:section name="3 Security" id="{31e90070-bf08-f842-13da-c475a1110454}">
          <p14:sldIdLst>
            <p14:sldId id="282"/>
            <p14:sldId id="283"/>
            <p14:sldId id="284"/>
            <p14:sldId id="285"/>
            <p14:sldId id="286"/>
            <p14:sldId id="287"/>
          </p14:sldIdLst>
        </p14:section>
        <p14:section name="4 Evidence" id="{c3cbb4b4-ca8c-870f-e402-1568eefc4f50}">
          <p14:sldIdLst>
            <p14:sldId id="288"/>
            <p14:sldId id="289"/>
            <p14:sldId id="290"/>
            <p14:sldId id="291"/>
            <p14:sldId id="292"/>
            <p14:sldId id="293"/>
            <p14:sldId id="294"/>
          </p14:sldIdLst>
        </p14:section>
        <p14:section name="5 Where it is going" id="{40493725-4708-b045-208a-8e178f7cb474}">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44" Type="http://schemas.openxmlformats.org/officeDocument/2006/relationships/slide" Target="slides/slide48.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Bank VaR 99%, EUR m</c:v>
                </c:pt>
              </c:strCache>
            </c:strRef>
          </c:tx>
          <c:dPt>
            <c:idx val="0"/>
            <c:spPr>
              <a:solidFill>
                <a:srgbClr val="8A1626"/>
              </a:solidFill>
            </c:spPr>
          </c:dPt>
          <c:dPt>
            <c:idx val="1"/>
            <c:spPr>
              <a:solidFill>
                <a:srgbClr val="B9AFA5"/>
              </a:solidFill>
            </c:spPr>
          </c:dPt>
          <c:cat>
            <c:strRef>
              <c:f>Sheet1!$A$2:$A$3</c:f>
              <c:strCache>
                <c:ptCount val="2"/>
                <c:pt idx="0">
                  <c:v>EUR VaR, scenario FX</c:v>
                </c:pt>
                <c:pt idx="1">
                  <c:v>USD VaR × today's rate</c:v>
                </c:pt>
              </c:strCache>
            </c:strRef>
          </c:cat>
          <c:val>
            <c:numRef>
              <c:f>Sheet1!$B$2:$B$3</c:f>
              <c:numCache>
                <c:formatCode>General</c:formatCode>
                <c:ptCount val="2"/>
                <c:pt idx="0">
                  <c:v>111.84</c:v>
                </c:pt>
                <c:pt idx="1">
                  <c:v>95.4</c:v>
                </c:pt>
              </c:numCache>
            </c:numRef>
          </c:val>
        </c:ser>
        <c:dLbls>
          <c:numFmt formatCode="0.0" sourceLinked="0"/>
          <c:txPr>
            <a:bodyPr/>
            <a:lstStyle/>
            <a:p>
              <a:pPr>
                <a:defRPr sz="1200" b="1">
                  <a:solidFill>
                    <a:srgbClr val="8A1626"/>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E3DED7"/>
            </a:solidFill>
          </a:ln>
        </c:spPr>
        <c:txPr>
          <a:bodyPr/>
          <a:lstStyle/>
          <a:p>
            <a:pPr>
              <a:defRPr sz="1100">
                <a:solidFill>
                  <a:srgbClr val="4A5058"/>
                </a:solidFill>
              </a:defRPr>
            </a:pPr>
          </a:p>
        </c:txPr>
        <c:crossAx val="-2113994440"/>
        <c:crosses val="autoZero"/>
        <c:auto val="1"/>
        <c:lblAlgn val="ctr"/>
        <c:lblOffset val="100"/>
        <c:noMultiLvlLbl val="0"/>
      </c:catAx>
      <c:valAx>
        <c:axId val="-2113994440"/>
        <c:scaling>
          <c:max val="175.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docs/guides/VAR_GUIDE.md (2.9.4, branch worktree-agent-a090d127ed73d193a), docs/knowledge/market-risk.md, docs/tutorials/25-var-from-the-bank-to-a-trade.md, docs/architecture/IMPLEMENTATION_PLAN.md (2.9.4 section).</a:t>
            </a:r>
          </a:p>
          <a:p/>
          <a:p>
            <a:r>
              <a:t>Talk track: this deck explains the VaR engine that sits inside the Drishti server: what it computes, how the data reaches it, what the 2.9.4 release adds (scenario PVs in each trade's own currency, any reporting currency, intraday updates, JSONL as the delivery standard), what the console shows, and how it scales to a bank of 1.3 million positions and 100,000 portfolios.</a:t>
            </a:r>
          </a:p>
          <a:p/>
          <a:p>
            <a:r>
              <a:t>Status words used throughout: BUILT means in the code and tested; everything new in 2.9.4 ships in the 2.9.4 release; DESIGNED means documented in the VaR guide but not built; PROPOSED means a recommendation of this deck, not yet in the docs.</a:t>
            </a:r>
          </a:p>
          <a:p/>
          <a:p>
            <a:r>
              <a:t>All figures are from the committed synthetic test data (a correlated, fat-tailed factor market), not real prices.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figures of the demo bank, for reference (the figure tiles were removed from the slide): VaR 99% 1-day 112,041,646 USD and ES 97.5% 160,143,809 USD on 2026-09-30; 509 scenario days (2024-09-17 to 2026-09-29); 9,572 live trades in 7,984 derived positions, 88 hierarchy nodes, 28 portfolios; a node's VaR in under 1 ms from its float64 aggregate; the date loads in 572 ms.</a:t>
            </a:r>
          </a:p>
          <a:p/>
          <a:p>
            <a:r>
              <a:t>Sources: VAR_GUIDE.md section 2.2 (the bank on 2026-09-30: VaR 112,041,646, ES 160,143,809, 9,572 trades in 7,984 positions); section 15.3 (HS-509, 2024-09-17 to 2026-09-29); section 15.4 (88 nodes), 15.5 (28 portfolios); section 26.7 (loadMs 572 for the test date); section 26.2 and 27.3 (a node under 1 ms, 0.48 ms measured); section 27.2 (VarScaleBenchmark: the whole bank of 1 million trades summed in 58 ms on 24 threads); section 27.3 (VarTierBenchmark: 100,000 trades × 5 dates).</a:t>
            </a:r>
          </a:p>
          <a:p/>
          <a:p>
            <a:r>
              <a:t>The input message (product owner): Drishti handles every input contract: scenario PVs or P&amp;L vectors, at trade or position grain, in any native currency, from files or Kafka, mixed across source systems on one date and switchable day to day, with optional per-system pins as a check. Status: all of it is built and ships in 2.9.4 (P&amp;L vectors by trade since 2.8.0).</a:t>
            </a:r>
          </a:p>
          <a:p/>
          <a:p>
            <a:r>
              <a:t>Talk track: if you remember one slide, make it this one. The engine is generic: a hierarchy node is just a scope that happens to be precomputed. Additive where it can be (P&amp;L vectors and ES contributions add up), honest where it cannot (VaR does not add: the screens show diversification instead of summing VaRs).</a:t>
            </a:r>
          </a:p>
          <a:p/>
          <a:p>
            <a:r>
              <a:t>Status: the VaR engine itself is built and released (2.8.0 to 2.9.3). The 2.9.4 work (scenario PVs, reporting currencies, the currency picker, intraday from files and Kafka, any input contract, the configurable window, confidence and root name, JSONL) is built and ships in the 2.9.4 release. Only scaling one date out across a cluster of servers (VaR sharding) is designed and not yet built.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section 1 (the question, methodology: historical simulation, equal weights, 1-day; ES at 97.5% as in FRTB IMA without liquidity horizons), section 2 (the measures table), section 2.1 (the worked example: every number on this slide), section 18 (formulas: k = clamp(ceil(N(1−α) − 1e-9), 1, N); component tail = ranks k−h..k+h with window 5; scale c = VaR / smoothed VaR), section 7 (backtest: the Basel traffic light counts breaches, losses bigger than VaR, in 250 days at 99%: 0–4 green, 5–9 amber, 10+ red; the Kupiec test (Paul Kupiec, 1995) asks whether the number of breaches is consistent with 99%, about 2–3 in 250 days; the Christoffersen test (Peter Christoffersen, 1998) asks whether breaches cluster together, a sign the model reacts too slowly when markets turn. Both are standard statistical tests named after the researchers who published them. Drishti reports their p-values), section 3.2 (limit bars: amber at 75%, red at 90%).</a:t>
            </a:r>
          </a:p>
          <a:p/>
          <a:p>
            <a:r>
              <a:t>Talk track: the whole engine is in these four steps. Step 2 is where scope matters: any scope (bank, legal entity, desk, book, position, trade, stored portfolio, a rule such as every short EUR position, a basket, or unions, differences and intersections of these) resolves to a set of trades, so a trade in two parts of a scope counts once, and a long and a short of one instrument cancel before the quantile is taken. That is why a desk's VaR is never the sum of its books' VaRs.</a:t>
            </a:r>
          </a:p>
          <a:p/>
          <a:p>
            <a:r>
              <a:t>The worked example uses α = 80% so that k = 2 on ten scenarios and every step can be checked by hand. The book's sorted P&amp;Ls are −7 (scenario 3), −6 (4), −6 (9), so VaR = 6 and ES = 6.5. Component VaR averages the scope's scenarios ranked 1 to 3 (window 3), scaled by c = 6 / 6.3333 so that P1 (1.2632) and P2 (4.7368) add up to the VaR. P1's incremental VaR is −1: it hedges, and removing it would raise the book's VaR from 6 to 7.</a:t>
            </a:r>
          </a:p>
          <a:p/>
          <a:p>
            <a:r>
              <a:t>On the test data (section 2.2): the ten desks' VaRs add up to 367.9 million against the bank's 112.0 million; the credit desk alone (130.7 million) has a larger VaR than the bank, because other desks gain on its worst days.</a:t>
            </a:r>
          </a:p>
          <a:p/>
          <a:p>
            <a:r>
              <a:t>Not built (stated in the guide): age-weighted or filtered methods, 10-day VaR, stressed VaR, ES backtests.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on this slide is built and ships in 2.9.4.</a:t>
            </a:r>
          </a:p>
          <a:p/>
          <a:p>
            <a:r>
              <a:t>Scenario window (2.9.4): drishti.var.scenario-window takes all (the whole set, 509 days in the demo) or N, the newest N scenarios of the set. A request may pass window= to compare, for example, a 1-year (250) and a 2-year (all) view of the same scope; such answers are labelled with their window and are never official. Ranks follow the guide's rule k = ⌈N(1 − α)⌉ (VAR_GUIDE.md section 18.1): at N = 509 VaR 99% is the 6th worst and ES 97.5% the mean of the 13 worst; at N = 250 the 3rd worst and the mean of the 7 worst (250 × 2.5% = 6.25, rounded up); at 95% the 26th worst of 509 (25.45 rounded up) and the 13th worst of 250 (12.5 rounded up).</a:t>
            </a:r>
          </a:p>
          <a:p/>
          <a:p>
            <a:r>
              <a:t>Choosing the window: banks typically use one year (about 250 business days, the regulatory minimum for internal-model VaR) or two years (about 500). One year reacts faster when volatility changes; two years is steadier and keeps more stress days in the tail. The per-request window lets a risk manager see both before changing the bank's setting.</a:t>
            </a:r>
          </a:p>
          <a:p/>
          <a:p>
            <a:r>
              <a:t>Confidence (2.9.4): VaR 99% by default, 95% by configuration (DRISHTI_VAR_CONFIDENCE, the setting drishti.var.confidence); ES 97.5% by default (DRISHTI_VAR_ES_CONFIDENCE); both may also be set per request, and every label on the screens follows the answer. The backtest stays at 99%: the Basel traffic light (breaches in 250 days at 99%: 0–4 green, 5–9 amber, 10+ red), the Kupiec test (Paul Kupiec, 1995: is the number of breaches consistent with 99%, about 2–3 in 250 days?) and the Christoffersen test (Peter Christoffersen, 1998: do breaches cluster together, a sign the model reacts too slowly when markets turn?). Both are standard statistical tests named after the researchers who published them. Drishti reports their p-values.</a:t>
            </a:r>
          </a:p>
          <a:p/>
          <a:p>
            <a:r>
              <a:t>Currencies built ahead (VAR_GUIDE.md section 15.11): drishti.var.currencies (default USD, EUR, CAD, JPY, GBP) are built in the background after a date's USD book, each into its own hot file; drishti.var.currency-retention-dates (5) keeps the newest five business dates; older dates' currency files are deleted and built again on first ask. Measured on the demo lake: 21.4 MB a currency a date, 58 to 148 ms to build each; extrapolated 250 MB a currency per 100,000 trades.</a:t>
            </a:r>
          </a:p>
          <a:p/>
          <a:p>
            <a:r>
              <a:t>Names: drishti.var.root-name (DRISHTI_VAR_ROOT_NAME; blank keeps the hierarchy data's NAME) names the top of every hierarchy when a date loads, drishti.var.root-names one hierarchy's; the tree, breadcrumbs, headline, CLI, var-result, captures and new official records follow. The demo's bank, short name, legal entities and branches come from config/demo/names.yaml (lake demo and build_demo_lakes.py --names FILE; LEIs and BICs kept).</a:t>
            </a:r>
          </a:p>
          <a:p/>
          <a:p>
            <a:r>
              <a:t>Inputs and intraday: drishti.var.inputs pins a source system's form and grain (optional cross-check, DRS-5209 when a record disagrees); drishti.var.intraday.kafka.window (DRISHTI_VAR_INTRADAY_KAFKA_WINDOW, 5m) and max-trades (500). Official records are captured in drishti.var.official.currencies (default USD).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section 15.1 (the risk lake layout: risk/pnl-vector, scenario-pv, fx-scenario, scenario-set, risk-hierarchy, portfolio, all partitioned by business_date; risk-results/var-official), 15.8 (cadence, delivery and the load signal), 15.9 (scenario PVs, the conversion at load in VarIntake / ScenarioFx.pnlFromPv, FX supplied or derived, crosses through USD), 15.11 (currencies built ahead, per-trade-currency totals in the hot file's CTOT section), section 8.4 'Intraday updates, as built (2.9.4)' (VarIntraday), section 19 (official end-of-day captures, published append-only to risk-results/var-official), section 25 (VarBook), section 26 (tiered memory and the hot file); DATA_FORMATS.md section 4 (official results also written as JSON Lines beside the Delta tables, risk-results/jsonl/&lt;table&gt;/&lt;date&gt;/); USER_GUIDE.md (Home facts computed from the VaR engine's answers); config/bi (the Market risk: VaR report reads var-official).</a:t>
            </a:r>
          </a:p>
          <a:p/>
          <a:p>
            <a:r>
              <a:t>Talk track, left to right. (1) Pricing systems run once in the morning over every live trade and send either form: scenario PVs with the base PV in the trade's own currency, or a finished P&amp;L vector in USD. During the day they send only the trades that changed. (2) Everything lands in Delta tables, one per kind, partitioned by business date; a full run replaces the date, an intraday batch is appended with its own BATCH_ID. (3) The data-load signal makes the engine load the date: every row is checked (a failed scenario is refused, never zero-filled), scenario PVs are converted to USD P&amp;L with the scenario FX, positions are derived by the pack's rules, the trades are sorted into hierarchy order and every book and node is summed once in float64. (4) The date lives in a memory-mapped hot file: float32 position rows, float64 aggregates and, per node, the PVs summed per trade currency, so a headline in any currency is exact and cheap. The listed reporting currencies (USD, EUR, CAD, JPY, GBP by default) are built ahead in the background. Intraday batches are applied as an overlay: each changed trade's new minus old into its book and every node above it, without reloading. (5) Everyone reads the same answers: the VaR explorer, the trade, position, portfolio, desk and legal-entity pages and Home's facts, the command line, the REST API and the computed kinds (VRES var-result, VWIF var-whatif), and BI through the published official results.</a:t>
            </a:r>
          </a:p>
          <a:p/>
          <a:p>
            <a:r>
              <a:t>Official records are taken from the morning run only, for every node of both hierarchies, and published to risk-results/var-official (Delta, append-only) with a JSONL copy beside it. No engine reads risk-results back (a guard test).</a:t>
            </a:r>
          </a:p>
          <a:p/>
          <a:p>
            <a:r>
              <a:t>Status: everything on this slide is built; the 2.9.4 parts ship in the 2.9.4 release.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owner's message: Drishti handles every input contract. The four combinations (scenario PVs or P&amp;L vectors, by trade or by position) work in any native currency, from files or Kafka, mixed across source systems on one date, switchable day to day, with optional per-system pins as a check. We adapt to the source systems; they do not have to adapt to us.</a:t>
            </a:r>
          </a:p>
          <a:p/>
          <a:p>
            <a:r>
              <a:t>Status: P&amp;L vectors by trade are as built since 2.8.0; everything else on this slide is built in 2.9.4 and ships in the 2.9.4 release: scenario PVs (VAR_GUIDE.md section 15.9), position grain for both forms, the canonical record, the per-system pin, intraday files (section 8.4) and Kafka micro-batches ('Intraday updates from Kafka, as built (2.9.4)'), and the PV scripts (tools/pvgen: morning run, intraday files, Kafka publisher, checker). Old files are brought to the canonical record with drishti.py convert --set ….</a:t>
            </a:r>
          </a:p>
          <a:p/>
          <a:p>
            <a:r>
              <a:t>The record (verbatim as endorsed): VALUE_TYPE (PV or PNL), GRAIN (TRADE or POSITION) with the matching TRADE_ID or POSITION_ID, CURRENCY (native for PVs) and SOURCE_SYSTEM are required on every record, in files and on Kafka. The per-system pin, drishti.var.inputs, is an optional cross-check: a record that contradicts its system's pin is refused (DRS-5209); a record missing a field or contradicting its payload or id is refused (DRS-5208); a second form or grain from one system on one date is DRS-5210. Switching a system's input is a configuration change effective from the next date loaded and recorded in the provenance. Within one system and date there is exactly one form and grain, which prevents double counting; intraday updates follow that day's form and grain. Field names: the endorsed record says PVS and BOOK; the as-built contracts say SCENARIO_PV and TT_BOOK.</a:t>
            </a:r>
          </a:p>
          <a:p/>
          <a:p>
            <a:r>
              <a:t>Whatever the input, the engine keeps one internal representation: a USD P&amp;L vector per row (converted at load from PVs with the scenario FX, crosses via USD), plus, per node, the PVs summed per trade currency. Every scope, currency, capture and official record works the same whichever form a trade came in.</a:t>
            </a:r>
          </a:p>
          <a:p/>
          <a:p>
            <a:r>
              <a:t>The caveat, precisely (VAR_GUIDE section 15.10): converting to a reporting currency r uses each trade's USD value today p: P&amp;L_r(s) = (p + P&amp;L_USD(s)) / FX_r(s) − p / FX_r(base). A P&amp;L-vector row that carries its optional PV converts exactly by this formula; a trade with no PV converts its P&amp;L alone, missing the FX move of its base value, and is counted in the provenance (fx.rates.&lt;CCY&gt;.tradesWithoutPv). Scenario PVs always carry the base PV, so they give exact multi-currency VaR.</a:t>
            </a:r>
          </a:p>
          <a:p/>
          <a:p>
            <a:r>
              <a:t>Kafka (built): JSONL payloads with one or more records per message, a 5-minute window (configurable), an early flush, an administrator's Apply now, one intraday batch per window in the lake, the latest COMPUTED_AT per trade winning.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section 15.9 (scenario-pv: the product owner's decisions of 2026-10-27, the conversion P&amp;L_USD(s) = PV(s) × FX_c(s) − PV(base) × FX_c(base), FX supplied by fx-scenario or derived from fx-spot as FX(s) = FX(base) × H(d_s) / H(d_s − 1), crosses through USD, DRS-5206 and DRS-5207, the demo's 1,339 Endur trades and the figures that moved); section 15.10 (reporting currency: P&amp;L_r(s) = (p + P&amp;L_USD(s)) / FX_r(s) − p / FX_r(base); the table of the bank in seven currencies; 'At today's rates the USD VaR would be 95.4 million EUR or 155.6 million CAD ... the bank's net value (3.65 billion USD)'); section 15.11 (per-trade-currency totals, exact to the cent; Trade currency on the trade pages); section 20.3 (the load checks). Input form and grain (2.9.4): all four combinations are accepted. Every record is self-describing: VALUE_TYPE (PV or PNL), GRAIN (TRADE or POSITION) with the matching TRADE_ID or POSITION_ID, CURRENCY and SOURCE_SYSTEM are required. The per-system pin in drishti.var.inputs is an optional cross-check: a record that disagrees with it is refused. A pin makes an unexpected upstream change refused and visible; switching a system's input is a configuration change effective from the next date loaded. Within one system and date there is exactly one form and grain (no double counting); intraday updates follow that day's form and grain; the provenance shows the form and grain per system. Today a bank can already send one row per position by using the position id as TRADE_ID (VAR_GUIDE section 15.2).</a:t>
            </a:r>
          </a:p>
          <a:p/>
          <a:p>
            <a:r>
              <a:t>Talk track: pricing systems always send PVs in the trade's native currency, kept as received. Drishti makes the P&amp;L itself, which means it controls the FX: the scenario's own exchange rate, not today's, so a EUR bond's USD P&amp;L carries both the bond's move and the euro's move on that scenario day. Using today's rate for every scenario would silently drop the currency risk.</a:t>
            </a:r>
          </a:p>
          <a:p/>
          <a:p>
            <a:r>
              <a:t>The chart is the key point for a non-USD reader: the same bank has a VaR of 111.8 million EUR, not the 95.4 million that a simple conversion of the USD VaR gives, because the bank's net 3.65 billion USD of value moves against the euro on the scenario days. Which currency is right is the owner's question, not the model's. The engine answers in any currency with scenario FX on the date; USD, EUR, CAD, JPY and GBP are built ahead.</a:t>
            </a:r>
          </a:p>
          <a:p/>
          <a:p>
            <a:r>
              <a:t>A scenario that failed to price is never treated as zero (a zero would claim the trade neither gains nor loses on that day, quietly lowering the VaR): the whole trade is left out and named in every answer's provenance.</a:t>
            </a:r>
          </a:p>
          <a:p/>
          <a:p>
            <a:r>
              <a:t>At position grain: rows carry POSITION_ID, LEGAL_ENTITY, DESK, TT_BOOK, CURRENCY, the security or product identifiers and optionally TRADE_IDS; everything that adds up still works (tree, portfolios, scopes, baskets, captures, official records, currencies, intraday keyed by POSITION_ID); trade-level drill-down degrades cleanly.</a:t>
            </a:r>
          </a:p>
          <a:p/>
          <a:p>
            <a:r>
              <a:t>(The form × grain grid and the caveat are on the Any input contract slide.) The form × grain grid: P&amp;L vectors at trade grain are as built since 2.8.0; scenario PVs at trade grain and position grain for either form are built in 2.9.4. The forms and grains can mix per source system and per date (each system uses exactly one grain).</a:t>
            </a:r>
          </a:p>
          <a:p/>
          <a:p>
            <a:r>
              <a:t>The caveat, precisely (VAR_GUIDE section 15.10): converting to a reporting currency r uses each trade's USD value today p (its PV): P&amp;L_r(s) = (p + P&amp;L_USD(s)) / FX_r(s) − p / FX_r(base). A P&amp;L-vector row that carries its optional PV column converts exactly by this formula; a trade with no PV converts its P&amp;L alone, which misses the FX translation of its base value, and is counted in the provenance as fx.rates.&lt;CCY&gt;.tradesWithoutPv. Scenario PVs always carry the base PV, so they give exact multi-currency VaR, and they also feed the per-trade-currency totals in their own currency.</a:t>
            </a:r>
          </a:p>
          <a:p/>
          <a:p>
            <a:r>
              <a:t>The refusals at load (DRS-5201, 5206, 5207) are listed on the data-contracts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section 8.4 'Intraday updates, as built (2.9.4)' (the marker RUN_KIND INTRADAY, own BATCH_ID, later COMPUTED_AT, appended with lake build --mode append or drishti.py var intraday --load; the rules table; applying incrementally with VarIntraday; labels; 'the official records are the morning run's'; measured with VarIntradayApiTest: 200 batches of 3 trades, equal to the cent to the same final data loaded as one run, on every node; a restart equal too; batch time not growing); section 15.8 (cadence); 'Intraday updates from Kafka, as built (2.9.4)' (commit 295cba961).</a:t>
            </a:r>
          </a:p>
          <a:p/>
          <a:p>
            <a:r>
              <a:t>Kafka as built: the market-risk pack's connector pv-updates (plugin var-pv-stream, off by default: DRISHTI_VAR_PV_STREAM=true) reads the PV topic; each message's value is JSONL text, one or more records of the scenario-pv or pnl-vector contract a line (both forms and cancels may share a message; the key is not read; a tombstone carries no record and is ignored; a malformed line is rejected, DRS-5201, with its partition, offset and line number, without dropping the others). Everything received in drishti.var.intraday.kafka.window (5m) keeps the latest COMPUTED_AT per trade and is appended to the lake as one intraday batch (BATCH_ID K-&lt;date&gt;-&lt;time&gt;-&lt;n&gt;), then applied after one data-load signal; earlier at max-trades (500) or an administrator's Apply now (POST /api/v1/var/intraday/streams/{connector}/apply). Sizing from the guide: a record is 4–8 KB, so 10,000 updates a day are 40–80 MB on the topic; a window of a few hundred trades is written and applied in about a second. Tested with VarPvStreamTest (in-process Kafka): files and windows mixed equal one run to the cent in USD, EUR and CAD; a replay writes nothing.</a:t>
            </a:r>
          </a:p>
          <a:p/>
          <a:p>
            <a:r>
              <a:t>Talk track: before 2.9.4 a second BATCH_ID on a date refused the date and the engine answered yesterday, silently turning today's VaR into yesterday's at the first intraday update. Now the pricing systems send only what changed, priced over the same scenario set as the morning. The engine keeps only the current P&amp;L per trade, never the batches, so the work of a batch does not grow with the batches before it. The old P&amp;L subtracted is the morning row exactly as received (with the tiered memory its float32 copy is not exact, so the row is read back from the lake by its id): that is what makes the incremental result equal a full reload to the cent.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Part II (contract version 1.8 on the newest branch's working tree; 1.7 committed): section 15.2 pnl-vector (every column, type and rule), 15.3 scenario-set, 15.4 risk-hierarchy, 15.5 portfolio, 15.9 scenario-pv and fx-scenario, 15.12 'Producing P&amp;L vectors and scenario PVs' (JSONL, one row of the contract a line), section 20 (validation and the DRS codes); the contract files config/packs/market-risk/contracts/{scenario-pv,pnl-vector,fx-scenario,scenario-set,risk-hierarchy,portfolio}.contract.yaml; DATA_FORMATS.md (release-2.9.4: JSON Lines is Drishti's data standard since 2.9.4).</a:t>
            </a:r>
          </a:p>
          <a:p/>
          <a:p>
            <a:r>
              <a:t>The tables show the as-built contracts' key fields. Every trade-level row also carries LEGAL_ENTITY, DESK and TT_BOOK promoted (the load fails otherwise), the keys a position rule names (SECURITY_ID …), PRODUCT_GROUP and PRODUCT_TYPE, COUNTERPARTY, DIRECTION, signed QUANTITY, TRADE_STATUS and MATURITY_DATE (only live trades count), SCENARIO_SET_ID and BATCH_ID (one run per date), STATUS, and from 2.9.4 RUN_KIND and COMPUTED_AT. The self-describing fields of the endorsed record (VALUE_TYPE, GRAIN with TRADE_ID or POSITION_ID, CURRENCY, SOURCE_SYSTEM, all required) are built in 2.9.4; GRAIN is always present and must match TRADE_ID or POSITION_ID; old files are brought to the format with drishti.py convert --set …. The canonical record names the scenario PVs PVS and the book BOOK where the 2.8.0-era contract columns say SCENARIO_PV and TT_BOOK. The four canonical lines are on the Any input contract slide.</a:t>
            </a:r>
          </a:p>
          <a:p/>
          <a:p>
            <a:r>
              <a:t>Talk track: the engine reads no master data; everything it needs is on the rows. Positions are not an input unless a system sends position grain: Drishti derives them with the pack's configured rules (securities by book and security, listed by book and contract, OTC one per trade). JSONL is the delivery standard: one object a line, no array around the lines; every generator writes it, every loader reads it, every export offers it, and a drill test guards the rule.</a:t>
            </a:r>
          </a:p>
          <a:p/>
          <a:p>
            <a:r>
              <a:t>Refusals are never silent and never padded: DRS-5201, 5206, 5207, 5208 (record fields missing or contradicting the payload or id), 5209 (against the system's pin) and 5210 (a second form or grain from one system on one date) reject a row or a trade and are listed in every answer's provenance (the first 20 reasons); DRS-5202 and 5203 refuse the date (the date before is answered, with a warning); DRS-5204 is a capacity refusal (503). Still not checked (planned): a TRADE_ID live in the trade master, a book in exactly one leaf of each hierarchy, a portfolio's members existing, completeness of the batch against the trades booked.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section 3 (the explorer: commands, the three columns, the six tiles, drill-down, the tabs, Construct your basket, How this number was built, the portfolio and position pages, the trade page's Risk group, the phone), section 15.11 (the Reporting currency picker, the tab In other currencies, Trade currency), section 5 (scopes, portfolios and baskets), section 6 (captures and compare), section 7 (history and backtesting), section 8 (VRES var-result, VWIF var-whatif, the pre-deal what-if in the basket tray), section 9 (entitlements and audit), section 10 (CLI), section 11 (API), section 12 (drishti.var.root-name, drishti.var.root-names), section 27.2 (painted in 9 to 14 ms with answers fetched ahead, 30 to 35 ms without; the product owner's target 300 ms click to painted); config/demo/names.yaml on release-2.9.4 (the demo's bank and legal-entity names); USER_GUIDE.md (Home facts); the screenshot docs/guides/img/var/15-reporting-currency.jpg.</a:t>
            </a:r>
          </a:p>
          <a:p/>
          <a:p>
            <a:r>
              <a:t>Talk track: the explorer is a console page over /api/v1/var. Type VAR BANK, VAR DESK RATES, VAR TRD &lt;id&gt;, VAR PORT &lt;id&gt; or any scope in the grammar, optionally ending IN EUR. The left column is the hierarchy with each node's VaR, ES and limit bar; the middle has the breadcrumb, six tiles and the tabs; the right column says exactly how the number was built. The basket tray computes the VaR of any mix live, flags anything that matches nothing in words (never a VaR of 0 that looks computed), and offers a pre-deal what-if: a copy of a booked trade's vector scaled by a factor (−1 is its unwind), answered by the Python VaR engine in the compute pool (off by default; without it the tray says so, 503 DRS-5205).</a:t>
            </a:r>
          </a:p>
          <a:p/>
          <a:p>
            <a:r>
              <a:t>The same engine answers everywhere: trade pages show Trade currency and a Risk group (P&amp;L vector, VaR of this trade); position, portfolio, desk and legal-entity pages show the engine's figures computed as the viewer; the command line takes --ccy; var-result and var-whatif are ordinary computed kinds; BI's Market risk: VaR report reads the published official results; Home's facts (for example a book over its VaR limit inside a desk within its own) are computed from the engine's answers.</a:t>
            </a:r>
          </a:p>
          <a:p/>
          <a:p>
            <a:r>
              <a:t>Governance in the UI: the top of the tree is named by drishti.var.root-name (blank keeps the hierarchy data's NAME), the demo's bank and legal-entity names come from config/demo/names.yaml; access is per role and node at positions or aggregate level; masks apply to contribution rows; every headline, capture, basket change, reload and official run is an audit entry.</a:t>
            </a:r>
          </a:p>
          <a:p/>
          <a:p>
            <a:r>
              <a:t>Not built: pricing a new or amended trade from its terms (QLRisk, parked until its API is stable); the copy of a booked trade's vector stands in for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section 24 (where the engine lives: Java in drishti-compute and drishti-server, Python in the compute pool for what does not add), section 25 (VarBook, the planner: 'Markets minus three trades costs four vector operations', ParallelSums: slices summed into their own float64 accumulators and added in slice order, the answer cache of 512 entries), section 26 (the tiers, the life of a date: hot-dates 2, disk-dates 60, the hot file format, float32 rows and float64 aggregates, precision bound), section 27.1 (bytes per date: 509 × 8 = 4,072 bytes a trade; mapped about 0.8 MB of heap and 2.1 MB of hot file per 1,000 trades), section 27.2 (VarScaleBenchmark: 1,000,000 trades in memory, the whole bank in 58 ms, about 70 GB/s on 24 threads), section 27.3 (VarTierBenchmark at 100,000 trades × 5 dates: node 0.48 ms, bank minus a desk 1.1 ms, whole bank 3.4 ms at about 60 GB/s, basket of 50,000 positions 2.6 ms plus about 45 ms resolving ids, reopening a date 23 ms, first load 0.8 to 1.2 s, heap about 80 MB per open date), section 26.7 (loadMs 572 for the test date), section 15.11 (currencies built ahead: 21.4 MB a currency a date on the demo lake, 5 dates retained), section 28 (sharding planned).</a:t>
            </a:r>
          </a:p>
          <a:p/>
          <a:p>
            <a:r>
              <a:t>Talk track: base VaR is additions and sorts. A row is 509 numbers; a node's vector is summed once when the date loads and kept in float64, so any node's VaR is answered from its aggregate in under a millisecond whatever its size. Anything else (a rule, a basket, the bank minus a few trades) is planned over the aggregates: cover what is whole with aggregates, add or subtract the few rows left. A filter that cuts across every node sums position rows on every core at memory bandwidth.</a:t>
            </a:r>
          </a:p>
          <a:p/>
          <a:p>
            <a:r>
              <a:t>The tiered memory keeps the heap small: the vectors are never on the heap when mapped; the operating system's page cache holds only the pages in use. Precision is proven: a node's figures are the lake's to the bit; any other scope is within 2^-24 of the gross P&amp;L (measured 0 USD on the test data, 5.86 × 10^-8 of the VaR on data scaled 1,000×).</a:t>
            </a:r>
          </a:p>
          <a:p/>
          <a:p>
            <a:r>
              <a:t>All benchmark figures were measured on one workstation (24 hardware threads, 61 GB, JDK 25, NVMe); the full million-trade × 50-date run is for a server and has not been run (a million-trade run once took the workstation down).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Arithmetic and bases (all decimal GB). Vectors: 1,300,000 × 509 × 8 bytes = 5,293,600,000 B = 5.29 GB per date per currency in float64; float32 halves it to 2.65 GB. Hot file: VarTierBenchmark measured 237.7 MB per date for 100,000 trades (203.6 MB of float32 rows plus aggregates of 2,100 books and nodes, columns and ids), scaled × 13. Heap: about 80 MB per open date per 100,000 trades measured, × 13 ≈ 1.0 GB; with hot-dates 2 about 2.1 GB. First load: 0.8–1.2 s per 100,000 measured (the sort is n log n, so slightly more than linear), plus the lake read: the guide estimates 10 to 40 s for a cold whole-bank read of about 4 GB of Parquet on one server. Reopening: 23 ms per 100,000. Whole bank resident: 3.4 ms for 203.6 MB measured (≈ 60 GB/s), so 2.65 GB ≈ 45 ms; cold from NVMe at about 3 GB/s ≈ 0.9 s (the guide's own basis). A node: 0.48 ms measured, independent of size.</a:t>
            </a:r>
          </a:p>
          <a:p/>
          <a:p>
            <a:r>
              <a:t>Currencies built ahead (VAR_GUIDE 15.11, measured on the demo lake 2026-10-27): 21.4 MB a currency a date for 8,566 trades; the guide's linear extrapolation is 250 MB a currency per 100,000 trades, 1.0 GB for four, 5.0 GB for the 5 retained dates, and about 4.3 s to build the four in the background. Scaled × 13: ≈ 3.25 GB a currency, ≈ 13 GB a date for four, ≈ 65 GB for five dates, ≈ 56 s background build. (A figure of 1.6 GB per 100,000 trades for four currencies was mentioned in the brief; the guide says 1.0 GB per date, 5.0 GB over the 5 retained dates, so the guide's numbers are used.) USD hot files: disk-dates 60 × ≈ 3.1 GB ≈ 185 GB of local disk (lower disk-dates to need less). Lake: Parquet ≈ 0.75 × raw (the design's estimate), × 252 business dates ≈ 1.0 TB a year, ≈ 7 TB for the 7 years kept.</a:t>
            </a:r>
          </a:p>
          <a:p/>
          <a:p>
            <a:r>
              <a:t>100,000 portfolios: the cost of computing every portfolio's vector is the sum over portfolios of their position counts × 509. The average size is not known, so 130 positions is an assumption for illustration (13 million row reads, 26.5 GB of float32 rows). Sequential reads at the measured 60 GB/s give ≈ 0.45 s; scattered reads at the design's 5 GB/s effective give ≈ 5 s; both per currency, both estimated. Roll-ups save most of it: a HIERARCHY portfolio is a node, answered from its aggregate; a portfolio covering whole books costs one addition per book; the planner takes a node's aggregate minus the missing rows when at most max(16, covered/8) are missing (built). Sharing sub-sums across portfolios (sum each book or common sleeve once and reuse it) beyond the hierarchy aggregates is a proposal. Storing every portfolio vector: 100,000 × 509 × 8 B = 407 MB a date a currency, ≈ 2.0 GB for five currencies, half in float32 (proposed; today only captures keep a vector).</a:t>
            </a:r>
          </a:p>
          <a:p/>
          <a:p>
            <a:r>
              <a:t>Per-trade-currency totals: each node keeps, per trade currency, the 509 scenario PV sums and today's sum (510 float64 = 4 KB). With an assumed 5,000 nodes × 10 currencies on average: ≈ 204 MB. A headline in any currency is then a sum over the node's trade currencies of 509 multiply-adds: microseconds.</a:t>
            </a:r>
          </a:p>
          <a:p/>
          <a:p>
            <a:r>
              <a:t>Intraday per changed trade, in a four-level tree: its book aggregate and the nodes above it in MGMT and LEGAL (about 9 vectors), in USD and the 4 built currencies (≈ 45 vector additions of 509 numbers, plus the trade-currency totals): microseconds. The measured cost of a batch is dominated by the lake (its 1-second refresh in VarIntradayApiTest); with tiered memory the old row is read back from the lake by its id for an exact subtraction.</a:t>
            </a:r>
          </a:p>
          <a:p/>
          <a:p>
            <a:r>
              <a:t>Position grain: if the bank sends 1.3M positions, rows equal positions, so no trade matrix (TMAT) is needed and the vector count is bounded by positions, not trades.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designed, proposed. Sources: VAR_GUIDE.md section 15.1 (partitioned by business_date only; 7-year log and file retention, time travel; 'Design differs': the sort by legal entity, desk, book and position, the partition by scenario set, 512 MB files, BYTE_STREAM_SPLIT and ZSTD are designed, not built; open question 7), section 29 (the vector grain, the four layouts compared: list&lt;double&gt; chosen; a fixed-length binary blob rejected for interoperability; deletion vectors avoided; the append-only daily snapshot), section 29.3 (the lake tools can write the list&lt;double&gt; column to Iceberg, but only the Delta plugin implements SourcePlugin.vectors(), so VaR and exposure cannot read their inputs from Iceberg today: not built, per the Iceberg review of the code), section 30 (cubes and rule-portfolio vectors designed, kept in memory; the overnight precomputation not built), section 19 ('No vectors and no trade or position rows are published'; a publish to an s3:// root fails and is recorded as publishError), section 28 (sharding: the mechanism is not in place; each server holds whole dates; the plan: shard map by legal entity and desk with two owners each, POST /api/v1/var/partial, partial float64 vectors added in a fixed order), section 20.3 (only the first 100,000 hierarchy nodes or portfolios are read from a connector that cannot list a date whole), section 8.4 (intraday appends); LAKE_MAINTENANCE.md (compaction, checkpoint, vacuum; never below 7 years for risk domains); DELTA_CONNECTOR.md (file statistics kept on the id, the date and promoted columns via delta.dataSkippingStatsColumns; OPTIMIZE ZORDER or liquid clustering mentioned only as a Databricks option); the AWS deck and AWS_DELTA_LAKE.md (reading Delta in S3 built; lake publish built; AWS scripts dry-run tested, first real run pending); NET.md (Drishti*net: gossip membership, capability digest, replicas and shards for entity reads, view and data forwarding, the console's backend.urls with discovery and failover, one token secret across nodes); LIVE.md and IMPLEMENTATION_PLAN.md known gaps (the workers of one console relay a channel's calls to the worker that holds it; several console processes behind a load balancer need sticky sessions); CONFIGURATION.md (DRISHTI_SESSION_SECRET).</a:t>
            </a:r>
          </a:p>
          <a:p/>
          <a:p>
            <a:r>
              <a:t>What is built for scale-out today: several servers form one cluster; each server that reads the risk lake loads whole dates and answers VaR on its own (a console session stays on one server, falls over to another, and returns); several consoles can share the servers with one session secret and sticky sessions at the load balancer.</a:t>
            </a:r>
          </a:p>
          <a:p/>
          <a:p>
            <a:r>
              <a:t>Designed, not built: VaR sharding. Each member would map only its ranges of position rows (a desk never split, two owners each), and a sum over the bank would be a scatter-gather: the coordinator sends each owner its part of the set and adds the partial vectors (509 doubles, 4 KB each). Because vectors add, this is map-reduce over vectors, exact in any order in float64. The hot file already keeps rows contiguous by legal entity and desk, so a shard is a byte range.</a:t>
            </a:r>
          </a:p>
          <a:p/>
          <a:p>
            <a:r>
              <a:t>Proposed by this deck (not in the docs): Z-order or liquid clustering by book and portfolio; a published Delta table of node and portfolio vectors per currency (BI and other servers read sums instead of 1.3M rows); the change data feed on the input tables for downstream followers; one designated node computing the official end-of-day records (drishti.var.official.enabled true there, DRISHTI_VAR_OFFICIAL=false elsewhere) while read replicas serve the UI.</a:t>
            </a:r>
          </a:p>
          <a:p/>
          <a:p>
            <a:r>
              <a:t>The gap list in full: (1) run the 1M × 50 benchmark (and 1.3M × 60) on a real server, including a cold first touch of a history date; (2) build VaR sharding across Drishti*net; (3) the lake layout at bank scale (sort by hierarchy, partition by scenario set, file and row-group sizes, BYTE_STREAM_SPLIT + ZSTD); (4) a batch that builds every portfolio vector (the designed overnight precomputation), raise the 100,000-row read limit for portfolios and nodes, and size max-parts (5,000) for contribution tables; (5) Iceberg for VaR and exposure inputs (SourcePlugin.vectors() in the Iceberg plugin); (6) official results published to an s3:// root (today a local or EFS Delta root only; an s3:// root fails and is recorded as publishError); (7) several consoles without sticky sessions. Position grain and Kafka micro-batching are built in 2.9.4 and no longer gaps.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VAR_GUIDE.md section 19 (official end-of-day captures of every node of every hierarchy, as the server; one capture at a time; unchanged inputs not captured again; restatements get the next result version, the earlier kept; published append-only with delta.appendOnly and 7 years of log and removed files; no vectors published), section 4 and 15.6 (each official capture records the membership and the rules' text and digest, so a figure can be recomputed later), section 11.2 (provenance: inputs, batchIds, positionRules, membershipHash, engine), section 6 (captures keep the vector), section 15.1 and open question 10 (7 years), section 9 (entitlements and audit), section 31 (open items: what-if pricing via QLRisk; intraday from write-backs; sharding and the full benchmark; the lake layout; several scenario sets and SVAR-250; age-weighted and filtered methods; 10-day VaR; ES backtests; a bank's own hypothetical P&amp;L; the batch's due time and completeness; risk-position grouping; cubes and the overnight precomputation; the common risk lake); DATA_FORMATS.md (official results also as JSONL); the 2.9.4 release (everything new in it built).</a:t>
            </a:r>
          </a:p>
          <a:p/>
          <a:p>
            <a:r>
              <a:t>Talk track: an official number is never a screen value someone remembered: it is a record in the content store and a row in an append-only Delta table, stamped with the versions of every input and the position rules it was built with. Intraday updates never restate it. A restated batch produces a new result version and keeps the old one, so 'what did we report on that day' and 'what is the corrected number' are both answerable for seven years.</a:t>
            </a:r>
          </a:p>
          <a:p/>
          <a:p>
            <a:r>
              <a:t>Roadmap: only items stated in the docs are listed. Scope words GROUP: and NSET: are parked by the product owner (fundamentals and VaR only). No dates are given for the planned items in the docs.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Questions.</a:t>
            </a:r>
          </a:p>
          <a:p/>
          <a:p>
            <a:r>
              <a:t>Where to read more: docs/guides/VAR_GUIDE.md (the complete guide: Part I using VaR, Part II the data contract, Part III how the engine stores data), docs/tutorials/25-var-from-the-bank-to-a-trade.md (twelve hands-on steps), and the Market risk Knowledge page (docs/knowledge/market-risk.md).</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66928"/>
            <a:ext cx="274320" cy="54864"/>
          </a:xfrm>
          <a:prstGeom prst="rect">
            <a:avLst/>
          </a:prstGeom>
          <a:solidFill>
            <a:srgbClr val="A51C30"/>
          </a:solidFill>
          <a:ln/>
        </p:spPr>
      </p:sp>
      <p:sp>
        <p:nvSpPr>
          <p:cNvPr id="3" name="Shape 1"/>
          <p:cNvSpPr/>
          <p:nvPr/>
        </p:nvSpPr>
        <p:spPr>
          <a:xfrm>
            <a:off x="777240" y="6355080"/>
            <a:ext cx="10634472" cy="9144"/>
          </a:xfrm>
          <a:prstGeom prst="rect">
            <a:avLst/>
          </a:prstGeom>
          <a:solidFill>
            <a:srgbClr val="E3DED7"/>
          </a:solidFill>
          <a:ln/>
        </p:spPr>
      </p:sp>
      <p:sp>
        <p:nvSpPr>
          <p:cNvPr id="4" name="Text 2"/>
          <p:cNvSpPr/>
          <p:nvPr/>
        </p:nvSpPr>
        <p:spPr>
          <a:xfrm>
            <a:off x="777240" y="6437376"/>
            <a:ext cx="7443216" cy="219456"/>
          </a:xfrm>
          <a:prstGeom prst="rect">
            <a:avLst/>
          </a:prstGeom>
          <a:noFill/>
          <a:ln/>
        </p:spPr>
        <p:txBody>
          <a:bodyPr wrap="square" lIns="0" tIns="0" rIns="0" bIns="0" rtlCol="0" anchor="ctr"/>
          <a:lstStyle/>
          <a:p>
            <a:pPr indent="0" marL="0">
              <a:buNone/>
            </a:pPr>
            <a:r>
              <a:rPr lang="en-US" sz="850" dirty="0">
                <a:solidFill>
                  <a:srgbClr val="61666E"/>
                </a:solidFill>
              </a:rPr>
              <a:t>Drishti • Ashutosh Sinha</a:t>
            </a:r>
            <a:endParaRPr lang="en-US" sz="850" dirty="0"/>
          </a:p>
        </p:txBody>
      </p:sp>
      <p:sp>
        <p:nvSpPr>
          <p:cNvPr id="5" name="Text 3"/>
          <p:cNvSpPr/>
          <p:nvPr>
            <p:ph idx="103" type="body" hasCustomPrompt="1"/>
          </p:nvPr>
        </p:nvSpPr>
        <p:spPr>
          <a:xfrm>
            <a:off x="777240" y="457200"/>
            <a:ext cx="10634472" cy="237744"/>
          </a:xfrm>
          <a:prstGeom prst="rect">
            <a:avLst/>
          </a:prstGeom>
          <a:noFill/>
          <a:ln/>
        </p:spPr>
        <p:txBody>
          <a:bodyPr wrap="square" rtlCol="0"/>
          <a:lstStyle>
            <a:lvl1pPr algn="l" indent="0" marL="0">
              <a:buNone/>
              <a:defRPr lang="en-US" sz="1050" b="1" spc="100" kern="0" dirty="0">
                <a:solidFill>
                  <a:srgbClr val="A51C30"/>
                </a:solidFill>
              </a:defRPr>
            </a:lvl1pPr>
          </a:lstStyle>
          <a:p>
            <a:pPr algn="l" indent="0" marL="0">
              <a:buNone/>
            </a:pPr>
            <a:endParaRPr lang="en-US" sz="1050" dirty="0"/>
          </a:p>
        </p:txBody>
      </p:sp>
      <p:sp>
        <p:nvSpPr>
          <p:cNvPr id="6" name="Text 3"/>
          <p:cNvSpPr/>
          <p:nvPr>
            <p:ph idx="104" type="title" hasCustomPrompt="1"/>
          </p:nvPr>
        </p:nvSpPr>
        <p:spPr>
          <a:xfrm>
            <a:off x="777240" y="731520"/>
            <a:ext cx="10634472" cy="502920"/>
          </a:xfrm>
          <a:prstGeom prst="rect">
            <a:avLst/>
          </a:prstGeom>
          <a:noFill/>
          <a:ln/>
        </p:spPr>
        <p:txBody>
          <a:bodyPr wrap="square" rtlCol="0"/>
          <a:lstStyle>
            <a:lvl1pPr algn="l" indent="0" marL="0">
              <a:buNone/>
              <a:defRPr lang="en-US" sz="2600" b="1" dirty="0">
                <a:solidFill>
                  <a:srgbClr val="1A1A1A"/>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8A162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E1120"/>
          </a:solidFill>
          <a:ln/>
        </p:spPr>
      </p:sp>
      <p:sp>
        <p:nvSpPr>
          <p:cNvPr id="25" name="Slide Number Placeholder 0"/>
          <p:cNvSpPr>
            <a:spLocks noGrp="1"/>
          </p:cNvSpPr>
          <p:nvPr>
            <p:ph type="sldNum" sz="quarter" idx="4294967295"/>
          </p:nvPr>
        </p:nvSpPr>
        <p:spPr>
          <a:xfrm>
            <a:off x="777240" y="6437376"/>
            <a:ext cx="10634472"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F6E6E9"/>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931920"/>
          </a:xfrm>
          <a:prstGeom prst="rect">
            <a:avLst/>
          </a:prstGeom>
          <a:solidFill>
            <a:srgbClr val="8A1626"/>
          </a:solidFill>
          <a:ln/>
        </p:spPr>
        <p:txBody>
          <a:bodyPr/>
          <a:p/>
        </p:txBody>
      </p:sp>
      <p:sp>
        <p:nvSpPr>
          <p:cNvPr id="3" name="Shape 1"/>
          <p:cNvSpPr/>
          <p:nvPr/>
        </p:nvSpPr>
        <p:spPr>
          <a:xfrm>
            <a:off x="0" y="3931920"/>
            <a:ext cx="12191695" cy="54864"/>
          </a:xfrm>
          <a:prstGeom prst="rect">
            <a:avLst/>
          </a:prstGeom>
          <a:solidFill>
            <a:srgbClr val="C4384B"/>
          </a:solidFill>
          <a:ln/>
        </p:spPr>
        <p:txBody>
          <a:bodyPr/>
          <a:p/>
        </p:txBody>
      </p:sp>
      <p:sp>
        <p:nvSpPr>
          <p:cNvPr id="4" name="Shape 2"/>
          <p:cNvSpPr/>
          <p:nvPr/>
        </p:nvSpPr>
        <p:spPr>
          <a:xfrm>
            <a:off x="0" y="0"/>
            <a:ext cx="182880" cy="3931920"/>
          </a:xfrm>
          <a:prstGeom prst="rect">
            <a:avLst/>
          </a:prstGeom>
          <a:solidFill>
            <a:srgbClr val="6E1120"/>
          </a:solidFill>
          <a:ln/>
        </p:spPr>
        <p:txBody>
          <a:bodyPr/>
          <a:p/>
        </p:txBody>
      </p:sp>
      <p:sp>
        <p:nvSpPr>
          <p:cNvPr id="5" name="Shape 3"/>
          <p:cNvSpPr/>
          <p:nvPr/>
        </p:nvSpPr>
        <p:spPr>
          <a:xfrm>
            <a:off x="10085832" y="941832"/>
            <a:ext cx="1024128" cy="256032"/>
          </a:xfrm>
          <a:prstGeom prst="arc">
            <a:avLst>
              <a:gd name="adj1" fmla="val 12000000"/>
              <a:gd name="adj2" fmla="val 20400000"/>
            </a:avLst>
          </a:prstGeom>
          <a:ln w="25400">
            <a:solidFill>
              <a:srgbClr val="C4384B"/>
            </a:solidFill>
            <a:prstDash val="solid"/>
          </a:ln>
        </p:spPr>
        <p:txBody>
          <a:bodyPr/>
          <a:p/>
        </p:txBody>
      </p:sp>
      <p:sp>
        <p:nvSpPr>
          <p:cNvPr id="6" name="Shape 4"/>
          <p:cNvSpPr/>
          <p:nvPr/>
        </p:nvSpPr>
        <p:spPr>
          <a:xfrm>
            <a:off x="10085832" y="1088136"/>
            <a:ext cx="1024128" cy="256032"/>
          </a:xfrm>
          <a:prstGeom prst="arc">
            <a:avLst>
              <a:gd name="adj1" fmla="val 12000000"/>
              <a:gd name="adj2" fmla="val 20400000"/>
            </a:avLst>
          </a:prstGeom>
          <a:ln w="25400">
            <a:solidFill>
              <a:srgbClr val="C4384B"/>
            </a:solidFill>
            <a:prstDash val="solid"/>
          </a:ln>
        </p:spPr>
        <p:txBody>
          <a:bodyPr/>
          <a:p/>
        </p:txBody>
      </p:sp>
      <p:sp>
        <p:nvSpPr>
          <p:cNvPr id="7" name="Shape 5"/>
          <p:cNvSpPr/>
          <p:nvPr/>
        </p:nvSpPr>
        <p:spPr>
          <a:xfrm>
            <a:off x="10085832" y="1234440"/>
            <a:ext cx="1024128" cy="256032"/>
          </a:xfrm>
          <a:prstGeom prst="arc">
            <a:avLst>
              <a:gd name="adj1" fmla="val 12000000"/>
              <a:gd name="adj2" fmla="val 20400000"/>
            </a:avLst>
          </a:prstGeom>
          <a:ln w="25400">
            <a:solidFill>
              <a:srgbClr val="C4384B"/>
            </a:solidFill>
            <a:prstDash val="solid"/>
          </a:ln>
        </p:spPr>
        <p:txBody>
          <a:bodyPr/>
          <a:p/>
        </p:txBody>
      </p:sp>
      <p:sp>
        <p:nvSpPr>
          <p:cNvPr id="8" name="Text 6"/>
          <p:cNvSpPr txBox="1"/>
          <p:nvPr/>
        </p:nvSpPr>
        <p:spPr>
          <a:xfrm>
            <a:off x="1051560" y="731520"/>
            <a:ext cx="7772400" cy="310896"/>
          </a:xfrm>
          <a:prstGeom prst="rect">
            <a:avLst/>
          </a:prstGeom>
          <a:noFill/>
          <a:ln/>
        </p:spPr>
        <p:txBody>
          <a:bodyPr wrap="square" lIns="0" tIns="0" rIns="0" bIns="0" rtlCol="0" anchor="ctr"/>
          <a:lstStyle/>
          <a:p>
            <a:pPr indent="0" marL="0">
              <a:buNone/>
            </a:pPr>
            <a:r>
              <a:rPr lang="en-US" sz="1100" b="1" spc="200" kern="0" dirty="0">
                <a:solidFill>
                  <a:srgbClr val="F2A7B2"/>
                </a:solidFill>
              </a:rPr>
              <a:t>DRISHTI · दृष्टि · SIGHT</a:t>
            </a:r>
            <a:endParaRPr lang="en-US" sz="1100" dirty="0"/>
          </a:p>
        </p:txBody>
      </p:sp>
      <p:sp>
        <p:nvSpPr>
          <p:cNvPr id="9" name="Text 7"/>
          <p:cNvSpPr txBox="1"/>
          <p:nvPr/>
        </p:nvSpPr>
        <p:spPr>
          <a:xfrm>
            <a:off x="1051560" y="1143000"/>
            <a:ext cx="8595360" cy="1737360"/>
          </a:xfrm>
          <a:prstGeom prst="rect">
            <a:avLst/>
          </a:prstGeom>
          <a:noFill/>
          <a:ln/>
        </p:spPr>
        <p:txBody>
          <a:bodyPr wrap="square" lIns="0" tIns="0" rIns="0" bIns="0" rtlCol="0" anchor="t"/>
          <a:lstStyle/>
          <a:p>
            <a:pPr indent="0" marL="0">
              <a:buNone/>
            </a:pPr>
            <a:r>
              <a:rPr lang="en-US" sz="3400" b="1" dirty="0">
                <a:solidFill>
                  <a:srgbClr val="FFFFFF"/>
                </a:solidFill>
              </a:rPr>
              <a:t>Drishti VaR engine</a:t>
            </a:r>
            <a:endParaRPr lang="en-US" sz="3400" dirty="0"/>
          </a:p>
          <a:p>
            <a:pPr indent="0" marL="0">
              <a:buNone/>
            </a:pPr>
            <a:r>
              <a:rPr lang="en-US" sz="3400" b="1" dirty="0">
                <a:solidFill>
                  <a:srgbClr val="FFFFFF"/>
                </a:solidFill>
              </a:rPr>
              <a:t>Architecture, data contract and how VaR works</a:t>
            </a:r>
            <a:endParaRPr lang="en-US" sz="3400" dirty="0"/>
          </a:p>
        </p:txBody>
      </p:sp>
      <p:sp>
        <p:nvSpPr>
          <p:cNvPr id="10" name="Shape 8"/>
          <p:cNvSpPr/>
          <p:nvPr/>
        </p:nvSpPr>
        <p:spPr>
          <a:xfrm>
            <a:off x="1051560" y="2971800"/>
            <a:ext cx="1554480" cy="36576"/>
          </a:xfrm>
          <a:prstGeom prst="rect">
            <a:avLst/>
          </a:prstGeom>
          <a:solidFill>
            <a:srgbClr val="C4384B"/>
          </a:solidFill>
          <a:ln/>
        </p:spPr>
        <p:txBody>
          <a:bodyPr/>
          <a:p/>
        </p:txBody>
      </p:sp>
      <p:sp>
        <p:nvSpPr>
          <p:cNvPr id="11" name="Text 9"/>
          <p:cNvSpPr txBox="1"/>
          <p:nvPr/>
        </p:nvSpPr>
        <p:spPr>
          <a:xfrm>
            <a:off x="1051560" y="3127248"/>
            <a:ext cx="9052560" cy="640080"/>
          </a:xfrm>
          <a:prstGeom prst="rect">
            <a:avLst/>
          </a:prstGeom>
          <a:noFill/>
          <a:ln/>
        </p:spPr>
        <p:txBody>
          <a:bodyPr wrap="square" lIns="0" tIns="0" rIns="0" bIns="0" rtlCol="0" anchor="ctr"/>
          <a:lstStyle/>
          <a:p>
            <a:pPr indent="0" marL="0">
              <a:buNone/>
            </a:pPr>
            <a:r>
              <a:rPr lang="en-US" sz="2500" i="1" dirty="0">
                <a:solidFill>
                  <a:srgbClr val="FFFFFF"/>
                </a:solidFill>
              </a:rPr>
              <a:t>Any set of trades or positions, in any reporting currency</a:t>
            </a:r>
            <a:endParaRPr lang="en-US" sz="2500" dirty="0"/>
          </a:p>
        </p:txBody>
      </p:sp>
      <p:sp>
        <p:nvSpPr>
          <p:cNvPr id="12" name="Text 10"/>
          <p:cNvSpPr txBox="1"/>
          <p:nvPr/>
        </p:nvSpPr>
        <p:spPr>
          <a:xfrm>
            <a:off x="1051560" y="4343400"/>
            <a:ext cx="4251960" cy="1188720"/>
          </a:xfrm>
          <a:prstGeom prst="rect">
            <a:avLst/>
          </a:prstGeom>
          <a:noFill/>
          <a:ln/>
        </p:spPr>
        <p:txBody>
          <a:bodyPr wrap="square" lIns="0" tIns="0" rIns="0" bIns="0" rtlCol="0" anchor="t"/>
          <a:lstStyle/>
          <a:p>
            <a:pPr indent="0" marL="0">
              <a:buNone/>
            </a:pPr>
            <a:r>
              <a:rPr lang="en-US" sz="2000" b="1" dirty="0">
                <a:solidFill>
                  <a:srgbClr val="1A1A1A"/>
                </a:solidFill>
              </a:rPr>
              <a:t>Ashutosh Sinha</a:t>
            </a:r>
            <a:endParaRPr lang="en-US" sz="2000" dirty="0"/>
          </a:p>
          <a:p>
            <a:pPr indent="0" marL="0">
              <a:buNone/>
            </a:pPr>
            <a:r>
              <a:rPr lang="en-US" sz="1400" dirty="0">
                <a:solidFill>
                  <a:srgbClr val="4A5058"/>
                </a:solidFill>
              </a:rPr>
              <a:t>October 2026</a:t>
            </a:r>
            <a:endParaRPr lang="en-US" sz="2000" dirty="0"/>
          </a:p>
          <a:p>
            <a:pPr indent="0" marL="0">
              <a:buNone/>
            </a:pPr>
            <a:r>
              <a:rPr lang="en-US" sz="1200" dirty="0">
                <a:solidFill>
                  <a:srgbClr val="61666E"/>
                </a:solidFill>
              </a:rPr>
              <a:t>Release 2.9.4 · historical simulation over 509 scenario days, window and confidence configurable</a:t>
            </a:r>
            <a:endParaRPr lang="en-US" sz="2000" dirty="0"/>
          </a:p>
        </p:txBody>
      </p:sp>
      <p:sp>
        <p:nvSpPr>
          <p:cNvPr id="13" name="Text 11"/>
          <p:cNvSpPr txBox="1"/>
          <p:nvPr/>
        </p:nvSpPr>
        <p:spPr>
          <a:xfrm>
            <a:off x="5559552" y="4224528"/>
            <a:ext cx="5303520" cy="219456"/>
          </a:xfrm>
          <a:prstGeom prst="rect">
            <a:avLst/>
          </a:prstGeom>
          <a:noFill/>
          <a:ln/>
        </p:spPr>
        <p:txBody>
          <a:bodyPr wrap="square" lIns="0" tIns="0" rIns="0" bIns="0" rtlCol="0" anchor="ctr"/>
          <a:lstStyle/>
          <a:p>
            <a:pPr indent="0" marL="0">
              <a:buNone/>
            </a:pPr>
            <a:r>
              <a:rPr lang="en-US" sz="950" b="1" spc="200" kern="0" dirty="0">
                <a:solidFill>
                  <a:srgbClr val="A51C30"/>
                </a:solidFill>
              </a:rPr>
              <a:t>IN THIS DECK</a:t>
            </a:r>
            <a:endParaRPr lang="en-US" sz="950" dirty="0"/>
          </a:p>
        </p:txBody>
      </p:sp>
      <p:sp>
        <p:nvSpPr>
          <p:cNvPr id="14" name="Text 12"/>
          <p:cNvSpPr txBox="1"/>
          <p:nvPr/>
        </p:nvSpPr>
        <p:spPr>
          <a:xfrm>
            <a:off x="5559552" y="4498848"/>
            <a:ext cx="2926080" cy="1463040"/>
          </a:xfrm>
          <a:prstGeom prst="rect">
            <a:avLst/>
          </a:prstGeom>
          <a:noFill/>
          <a:ln/>
        </p:spPr>
        <p:txBody>
          <a:bodyPr wrap="square" lIns="0" tIns="0" rIns="0" bIns="0" rtlCol="0" anchor="t"/>
          <a:lstStyle/>
          <a:p>
            <a:pPr indent="0" marL="0">
              <a:spcAft>
                <a:spcPts val="600"/>
              </a:spcAft>
              <a:buNone/>
            </a:pPr>
            <a:r>
              <a:rPr lang="en-US" sz="1200" b="1" dirty="0">
                <a:solidFill>
                  <a:srgbClr val="A51C30"/>
                </a:solidFill>
              </a:rPr>
              <a:t>1  How VaR works in Drishti</a:t>
            </a:r>
            <a:endParaRPr lang="en-US" sz="1200" dirty="0"/>
          </a:p>
          <a:p>
            <a:pPr indent="0" marL="0">
              <a:spcAft>
                <a:spcPts val="600"/>
              </a:spcAft>
              <a:buNone/>
            </a:pPr>
            <a:r>
              <a:rPr lang="en-US" sz="1200" b="1" dirty="0">
                <a:solidFill>
                  <a:srgbClr val="A51C30"/>
                </a:solidFill>
              </a:rPr>
              <a:t>2  Architecture and data flow</a:t>
            </a:r>
            <a:endParaRPr lang="en-US" sz="1200" dirty="0"/>
          </a:p>
          <a:p>
            <a:pPr indent="0" marL="0">
              <a:spcAft>
                <a:spcPts val="600"/>
              </a:spcAft>
              <a:buNone/>
            </a:pPr>
            <a:r>
              <a:rPr lang="en-US" sz="1200" b="1" dirty="0">
                <a:solidFill>
                  <a:srgbClr val="A51C30"/>
                </a:solidFill>
              </a:rPr>
              <a:t>3  Any input: PVs, P&amp;L, intraday, contracts</a:t>
            </a:r>
            <a:endParaRPr lang="en-US" sz="1200" dirty="0"/>
          </a:p>
        </p:txBody>
      </p:sp>
      <p:sp>
        <p:nvSpPr>
          <p:cNvPr id="15" name="Text 13"/>
          <p:cNvSpPr txBox="1"/>
          <p:nvPr/>
        </p:nvSpPr>
        <p:spPr>
          <a:xfrm>
            <a:off x="8577072" y="4498848"/>
            <a:ext cx="2834640" cy="1463040"/>
          </a:xfrm>
          <a:prstGeom prst="rect">
            <a:avLst/>
          </a:prstGeom>
          <a:noFill/>
          <a:ln/>
        </p:spPr>
        <p:txBody>
          <a:bodyPr wrap="square" lIns="0" tIns="0" rIns="0" bIns="0" rtlCol="0" anchor="t"/>
          <a:lstStyle/>
          <a:p>
            <a:pPr indent="0" marL="0">
              <a:spcAft>
                <a:spcPts val="600"/>
              </a:spcAft>
              <a:buNone/>
            </a:pPr>
            <a:r>
              <a:rPr lang="en-US" sz="1200" b="1" dirty="0">
                <a:solidFill>
                  <a:srgbClr val="A51C30"/>
                </a:solidFill>
              </a:rPr>
              <a:t>4  The VaR UI and capabilities</a:t>
            </a:r>
            <a:endParaRPr lang="en-US" sz="1200" dirty="0"/>
          </a:p>
          <a:p>
            <a:pPr indent="0" marL="0">
              <a:spcAft>
                <a:spcPts val="600"/>
              </a:spcAft>
              <a:buNone/>
            </a:pPr>
            <a:r>
              <a:rPr lang="en-US" sz="1200" b="1" dirty="0">
                <a:solidFill>
                  <a:srgbClr val="A51C30"/>
                </a:solidFill>
              </a:rPr>
              <a:t>5  Scale, Delta Lake, scale-out</a:t>
            </a:r>
            <a:endParaRPr lang="en-US" sz="1200" dirty="0"/>
          </a:p>
          <a:p>
            <a:pPr indent="0" marL="0">
              <a:spcAft>
                <a:spcPts val="600"/>
              </a:spcAft>
              <a:buNone/>
            </a:pPr>
            <a:r>
              <a:rPr lang="en-US" sz="1200" b="1" dirty="0">
                <a:solidFill>
                  <a:srgbClr val="A51C30"/>
                </a:solidFill>
              </a:rPr>
              <a:t>6  Governance and roadmap</a:t>
            </a:r>
            <a:endParaRPr lang="en-US" sz="1200" dirty="0"/>
          </a:p>
        </p:txBody>
      </p:sp>
      <p:sp>
        <p:nvSpPr>
          <p:cNvPr id="16" name="Shape 14"/>
          <p:cNvSpPr/>
          <p:nvPr/>
        </p:nvSpPr>
        <p:spPr>
          <a:xfrm>
            <a:off x="777240" y="6355080"/>
            <a:ext cx="10634472" cy="9144"/>
          </a:xfrm>
          <a:prstGeom prst="rect">
            <a:avLst/>
          </a:prstGeom>
          <a:solidFill>
            <a:srgbClr val="E3DED7"/>
          </a:solidFill>
          <a:ln/>
        </p:spPr>
        <p:txBody>
          <a:bodyPr/>
          <a:p/>
        </p:txBody>
      </p:sp>
      <p:sp>
        <p:nvSpPr>
          <p:cNvPr id="17" name="Text 15"/>
          <p:cNvSpPr txBox="1"/>
          <p:nvPr/>
        </p:nvSpPr>
        <p:spPr>
          <a:xfrm>
            <a:off x="777240" y="6437376"/>
            <a:ext cx="7443216" cy="219456"/>
          </a:xfrm>
          <a:prstGeom prst="rect">
            <a:avLst/>
          </a:prstGeom>
          <a:noFill/>
          <a:ln/>
        </p:spPr>
        <p:txBody>
          <a:bodyPr wrap="square" lIns="0" tIns="0" rIns="0" bIns="0" rtlCol="0" anchor="ctr"/>
          <a:lstStyle/>
          <a:p>
            <a:pPr indent="0" marL="0">
              <a:buNone/>
            </a:pPr>
            <a:r>
              <a:rPr lang="en-US" sz="850" dirty="0">
                <a:solidFill>
                  <a:srgbClr val="61666E"/>
                </a:solidFill>
              </a:rPr>
              <a:t>Drishti • Ashutosh Sinha</a:t>
            </a:r>
            <a:endParaRPr lang="en-US" sz="850" dirty="0"/>
          </a:p>
        </p:txBody>
      </p:sp>
      <p:sp>
        <p:nvSpPr>
          <p:cNvPr id="18" name="TextBox 17"/>
          <p:cNvSpPr txBox="1"/>
          <p:nvPr/>
        </p:nvSpPr>
        <p:spPr>
          <a:xfrm>
            <a:off x="6949440" y="6437376"/>
            <a:ext cx="4462272" cy="219456"/>
          </a:xfrm>
          <a:prstGeom prst="rect">
            <a:avLst/>
          </a:prstGeom>
          <a:noFill/>
        </p:spPr>
        <p:txBody>
          <a:bodyPr wrap="square" lIns="0" rIns="0" tIns="0" bIns="0" anchor="ctr">
            <a:spAutoFit/>
          </a:bodyPr>
          <a:lstStyle/>
          <a:p>
            <a:pPr algn="r"/>
            <a:r>
              <a:rPr sz="850" b="0" i="0">
                <a:solidFill>
                  <a:srgbClr val="61666E"/>
                </a:solidFill>
              </a:rPr>
              <a:t>Copyright © 2026 Ashutosh Sinha. All rights reserved. Proprietary and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TL;DR · DRISHTI 2.9.4</a:t>
            </a:r>
          </a:p>
        </p:txBody>
      </p:sp>
      <p:sp>
        <p:nvSpPr>
          <p:cNvPr id="3" name="Title 2"/>
          <p:cNvSpPr>
            <a:spLocks noGrp="1"/>
          </p:cNvSpPr>
          <p:nvPr>
            <p:ph type="title" idx="104"/>
          </p:nvPr>
        </p:nvSpPr>
        <p:spPr/>
        <p:txBody>
          <a:bodyPr/>
          <a:lstStyle/>
          <a:p>
            <a:r>
              <a:t>Executive summary</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81328"/>
            <a:ext cx="2331720" cy="786384"/>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941832" y="1481328"/>
            <a:ext cx="2103120" cy="786384"/>
          </a:xfrm>
          <a:prstGeom prst="rect">
            <a:avLst/>
          </a:prstGeom>
          <a:noFill/>
        </p:spPr>
        <p:txBody>
          <a:bodyPr wrap="square" lIns="0" rIns="0" tIns="0" bIns="0" anchor="ctr">
            <a:spAutoFit/>
          </a:bodyPr>
          <a:lstStyle/>
          <a:p>
            <a:pPr algn="l"/>
            <a:r>
              <a:rPr sz="1400" b="1" i="0">
                <a:solidFill>
                  <a:srgbClr val="8A1626"/>
                </a:solidFill>
              </a:rPr>
              <a:t>What is it?</a:t>
            </a:r>
          </a:p>
        </p:txBody>
      </p:sp>
      <p:sp>
        <p:nvSpPr>
          <p:cNvPr id="28" name="Rectangle 27"/>
          <p:cNvSpPr/>
          <p:nvPr/>
        </p:nvSpPr>
        <p:spPr>
          <a:xfrm>
            <a:off x="3154680" y="1481328"/>
            <a:ext cx="8257032" cy="78638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3337560" y="1481328"/>
            <a:ext cx="7936992" cy="786384"/>
          </a:xfrm>
          <a:prstGeom prst="rect">
            <a:avLst/>
          </a:prstGeom>
          <a:noFill/>
        </p:spPr>
        <p:txBody>
          <a:bodyPr wrap="square" lIns="0" rIns="0" tIns="0" bIns="0" anchor="ctr">
            <a:spAutoFit/>
          </a:bodyPr>
          <a:lstStyle/>
          <a:p>
            <a:pPr algn="l"/>
            <a:r>
              <a:rPr sz="1300" b="0" i="0">
                <a:solidFill>
                  <a:srgbClr val="1A1A1A"/>
                </a:solidFill>
              </a:rPr>
              <a:t>A VaR engine in the Drishti server: historical simulation over 509 scenario days (or a set window), VaR 99% (95% by setting) and ES 97.5%, 1 day, on demand for any set of trades or positions: the bank, a legal entity, desk, book, a portfolio, a rule or a basket.</a:t>
            </a:r>
          </a:p>
        </p:txBody>
      </p:sp>
      <p:sp>
        <p:nvSpPr>
          <p:cNvPr id="30" name="Rectangle 29"/>
          <p:cNvSpPr/>
          <p:nvPr/>
        </p:nvSpPr>
        <p:spPr>
          <a:xfrm>
            <a:off x="777240" y="2359152"/>
            <a:ext cx="2331720" cy="676656"/>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941832" y="2359152"/>
            <a:ext cx="2103120" cy="676656"/>
          </a:xfrm>
          <a:prstGeom prst="rect">
            <a:avLst/>
          </a:prstGeom>
          <a:noFill/>
        </p:spPr>
        <p:txBody>
          <a:bodyPr wrap="square" lIns="0" rIns="0" tIns="0" bIns="0" anchor="ctr">
            <a:spAutoFit/>
          </a:bodyPr>
          <a:lstStyle/>
          <a:p>
            <a:pPr algn="l"/>
            <a:r>
              <a:rPr sz="1400" b="1" i="0">
                <a:solidFill>
                  <a:srgbClr val="FFFFFF"/>
                </a:solidFill>
              </a:rPr>
              <a:t>Every input</a:t>
            </a:r>
          </a:p>
        </p:txBody>
      </p:sp>
      <p:sp>
        <p:nvSpPr>
          <p:cNvPr id="32" name="Rectangle 31"/>
          <p:cNvSpPr/>
          <p:nvPr/>
        </p:nvSpPr>
        <p:spPr>
          <a:xfrm>
            <a:off x="3154680" y="2359152"/>
            <a:ext cx="8257032" cy="676656"/>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3337560" y="2359152"/>
            <a:ext cx="7936992" cy="676656"/>
          </a:xfrm>
          <a:prstGeom prst="rect">
            <a:avLst/>
          </a:prstGeom>
          <a:noFill/>
        </p:spPr>
        <p:txBody>
          <a:bodyPr wrap="square" lIns="0" rIns="0" tIns="0" bIns="0" anchor="ctr">
            <a:spAutoFit/>
          </a:bodyPr>
          <a:lstStyle/>
          <a:p>
            <a:pPr algn="l"/>
            <a:r>
              <a:rPr sz="1350" b="1" i="0">
                <a:solidFill>
                  <a:srgbClr val="8A1626"/>
                </a:solidFill>
              </a:rPr>
              <a:t>One engine, every input: scenario PVs or path P&amp;L, by trade or by position, any currency, files or Kafka. Source systems keep their own formats.</a:t>
            </a:r>
          </a:p>
        </p:txBody>
      </p:sp>
      <p:sp>
        <p:nvSpPr>
          <p:cNvPr id="34" name="Rectangle 33"/>
          <p:cNvSpPr/>
          <p:nvPr/>
        </p:nvSpPr>
        <p:spPr>
          <a:xfrm>
            <a:off x="777240" y="3127248"/>
            <a:ext cx="2331720" cy="118872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941832" y="3127248"/>
            <a:ext cx="2103120" cy="1188720"/>
          </a:xfrm>
          <a:prstGeom prst="rect">
            <a:avLst/>
          </a:prstGeom>
          <a:noFill/>
        </p:spPr>
        <p:txBody>
          <a:bodyPr wrap="square" lIns="0" rIns="0" tIns="0" bIns="0" anchor="ctr">
            <a:spAutoFit/>
          </a:bodyPr>
          <a:lstStyle/>
          <a:p>
            <a:pPr algn="l"/>
            <a:r>
              <a:rPr sz="1400" b="1" i="0">
                <a:solidFill>
                  <a:srgbClr val="8A1626"/>
                </a:solidFill>
              </a:rPr>
              <a:t>How does it work?</a:t>
            </a:r>
          </a:p>
        </p:txBody>
      </p:sp>
      <p:sp>
        <p:nvSpPr>
          <p:cNvPr id="36" name="Rectangle 35"/>
          <p:cNvSpPr/>
          <p:nvPr/>
        </p:nvSpPr>
        <p:spPr>
          <a:xfrm>
            <a:off x="3154680" y="3127248"/>
            <a:ext cx="8257032" cy="118872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3337560" y="3127248"/>
            <a:ext cx="7936992" cy="1188720"/>
          </a:xfrm>
          <a:prstGeom prst="rect">
            <a:avLst/>
          </a:prstGeom>
          <a:noFill/>
        </p:spPr>
        <p:txBody>
          <a:bodyPr wrap="square" lIns="0" rIns="0" tIns="0" bIns="0" anchor="ctr">
            <a:spAutoFit/>
          </a:bodyPr>
          <a:lstStyle/>
          <a:p>
            <a:pPr algn="l"/>
            <a:r>
              <a:rPr sz="1300" b="0" i="0">
                <a:solidFill>
                  <a:srgbClr val="1A1A1A"/>
                </a:solidFill>
              </a:rPr>
              <a:t>It never reprices. The pricing systems send scenario PVs (in each trade's or position's own currency) or path P&amp;L, at trade or position level, through files or Kafka. Drishti turns each into one internal form, a P&amp;L vector per trade or position, converting PVs with scenario FX into any reporting currency. A scope's vector is the sum of its trades' or positions' vectors, and VaR, ES and every contribution are read from that one vector.</a:t>
            </a:r>
          </a:p>
        </p:txBody>
      </p:sp>
      <p:sp>
        <p:nvSpPr>
          <p:cNvPr id="38" name="Rectangle 37"/>
          <p:cNvSpPr/>
          <p:nvPr/>
        </p:nvSpPr>
        <p:spPr>
          <a:xfrm>
            <a:off x="777240" y="4407408"/>
            <a:ext cx="2331720" cy="786384"/>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941832" y="4407408"/>
            <a:ext cx="2103120" cy="786384"/>
          </a:xfrm>
          <a:prstGeom prst="rect">
            <a:avLst/>
          </a:prstGeom>
          <a:noFill/>
        </p:spPr>
        <p:txBody>
          <a:bodyPr wrap="square" lIns="0" rIns="0" tIns="0" bIns="0" anchor="ctr">
            <a:spAutoFit/>
          </a:bodyPr>
          <a:lstStyle/>
          <a:p>
            <a:pPr algn="l"/>
            <a:r>
              <a:rPr sz="1400" b="1" i="0">
                <a:solidFill>
                  <a:srgbClr val="8A1626"/>
                </a:solidFill>
              </a:rPr>
              <a:t>Can I trust it?</a:t>
            </a:r>
          </a:p>
        </p:txBody>
      </p:sp>
      <p:sp>
        <p:nvSpPr>
          <p:cNvPr id="40" name="Rectangle 39"/>
          <p:cNvSpPr/>
          <p:nvPr/>
        </p:nvSpPr>
        <p:spPr>
          <a:xfrm>
            <a:off x="3154680" y="4407408"/>
            <a:ext cx="8257032" cy="78638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3337560" y="4407408"/>
            <a:ext cx="7936992" cy="786384"/>
          </a:xfrm>
          <a:prstGeom prst="rect">
            <a:avLst/>
          </a:prstGeom>
          <a:noFill/>
        </p:spPr>
        <p:txBody>
          <a:bodyPr wrap="square" lIns="0" rIns="0" tIns="0" bIns="0" anchor="ctr">
            <a:spAutoFit/>
          </a:bodyPr>
          <a:lstStyle/>
          <a:p>
            <a:pPr algn="l"/>
            <a:r>
              <a:rPr sz="1300" b="0" i="0">
                <a:solidFill>
                  <a:srgbClr val="1A1A1A"/>
                </a:solidFill>
              </a:rPr>
              <a:t>Every answer names its inputs' versions, batch ids, scenario set, method and memory tier; components add up to the VaR exactly; every node gets an official end-of-day record, append-only, kept 7 years.</a:t>
            </a:r>
          </a:p>
        </p:txBody>
      </p:sp>
      <p:sp>
        <p:nvSpPr>
          <p:cNvPr id="42" name="Rectangle 41"/>
          <p:cNvSpPr/>
          <p:nvPr/>
        </p:nvSpPr>
        <p:spPr>
          <a:xfrm>
            <a:off x="777240" y="5285232"/>
            <a:ext cx="2331720" cy="786384"/>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941832" y="5285232"/>
            <a:ext cx="2103120" cy="786384"/>
          </a:xfrm>
          <a:prstGeom prst="rect">
            <a:avLst/>
          </a:prstGeom>
          <a:noFill/>
        </p:spPr>
        <p:txBody>
          <a:bodyPr wrap="square" lIns="0" rIns="0" tIns="0" bIns="0" anchor="ctr">
            <a:spAutoFit/>
          </a:bodyPr>
          <a:lstStyle/>
          <a:p>
            <a:pPr algn="l"/>
            <a:r>
              <a:rPr sz="1400" b="1" i="0">
                <a:solidFill>
                  <a:srgbClr val="8A1626"/>
                </a:solidFill>
              </a:rPr>
              <a:t>Does it scale?</a:t>
            </a:r>
          </a:p>
        </p:txBody>
      </p:sp>
      <p:sp>
        <p:nvSpPr>
          <p:cNvPr id="44" name="Rectangle 43"/>
          <p:cNvSpPr/>
          <p:nvPr/>
        </p:nvSpPr>
        <p:spPr>
          <a:xfrm>
            <a:off x="3154680" y="5285232"/>
            <a:ext cx="8257032" cy="78638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3337560" y="5285232"/>
            <a:ext cx="7936992" cy="786384"/>
          </a:xfrm>
          <a:prstGeom prst="rect">
            <a:avLst/>
          </a:prstGeom>
          <a:noFill/>
        </p:spPr>
        <p:txBody>
          <a:bodyPr wrap="square" lIns="0" rIns="0" tIns="0" bIns="0" anchor="ctr">
            <a:spAutoFit/>
          </a:bodyPr>
          <a:lstStyle/>
          <a:p>
            <a:pPr algn="l"/>
            <a:r>
              <a:rPr sz="1300" b="0" i="0">
                <a:solidFill>
                  <a:srgbClr val="1A1A1A"/>
                </a:solidFill>
              </a:rPr>
              <a:t>Measured: 1 million rows summed in 58 ms (heap tier); 100,000 × 5 dates on the tiered store, a node in 0.48 ms. Sized for 1.3M positions and 100,000 portfolios on slides 12-13; sharding is designed, not built.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THE METHOD</a:t>
            </a:r>
          </a:p>
        </p:txBody>
      </p:sp>
      <p:sp>
        <p:nvSpPr>
          <p:cNvPr id="3" name="Title 2"/>
          <p:cNvSpPr>
            <a:spLocks noGrp="1"/>
          </p:cNvSpPr>
          <p:nvPr>
            <p:ph type="title" idx="104"/>
          </p:nvPr>
        </p:nvSpPr>
        <p:spPr/>
        <p:txBody>
          <a:bodyPr/>
          <a:lstStyle/>
          <a:p>
            <a:r>
              <a:t>How VaR works in Drishti: add vectors, then read the tail</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44752"/>
            <a:ext cx="2432304" cy="987552"/>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Oval 26"/>
          <p:cNvSpPr/>
          <p:nvPr/>
        </p:nvSpPr>
        <p:spPr>
          <a:xfrm>
            <a:off x="886968" y="1554480"/>
            <a:ext cx="329184" cy="329184"/>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rPr>
              <a:t>1</a:t>
            </a:r>
          </a:p>
        </p:txBody>
      </p:sp>
      <p:sp>
        <p:nvSpPr>
          <p:cNvPr id="28" name="TextBox 27"/>
          <p:cNvSpPr txBox="1"/>
          <p:nvPr/>
        </p:nvSpPr>
        <p:spPr>
          <a:xfrm>
            <a:off x="1307592" y="1536192"/>
            <a:ext cx="1828800" cy="365760"/>
          </a:xfrm>
          <a:prstGeom prst="rect">
            <a:avLst/>
          </a:prstGeom>
          <a:noFill/>
        </p:spPr>
        <p:txBody>
          <a:bodyPr wrap="square" lIns="0" rIns="0" tIns="0" bIns="0" anchor="ctr">
            <a:spAutoFit/>
          </a:bodyPr>
          <a:lstStyle/>
          <a:p>
            <a:pPr algn="l"/>
            <a:r>
              <a:rPr sz="1300" b="1" i="0">
                <a:solidFill>
                  <a:srgbClr val="8A1626"/>
                </a:solidFill>
              </a:rPr>
              <a:t>A P&amp;L vector per trade</a:t>
            </a:r>
          </a:p>
        </p:txBody>
      </p:sp>
      <p:sp>
        <p:nvSpPr>
          <p:cNvPr id="29" name="TextBox 28"/>
          <p:cNvSpPr txBox="1"/>
          <p:nvPr/>
        </p:nvSpPr>
        <p:spPr>
          <a:xfrm>
            <a:off x="905256" y="1901952"/>
            <a:ext cx="2231136" cy="512064"/>
          </a:xfrm>
          <a:prstGeom prst="rect">
            <a:avLst/>
          </a:prstGeom>
          <a:noFill/>
        </p:spPr>
        <p:txBody>
          <a:bodyPr wrap="square" lIns="0" rIns="0" tIns="0" bIns="0" anchor="t">
            <a:spAutoFit/>
          </a:bodyPr>
          <a:lstStyle/>
          <a:p>
            <a:pPr algn="l"/>
            <a:r>
              <a:rPr sz="1100" b="0" i="0">
                <a:solidFill>
                  <a:srgbClr val="4A5058"/>
                </a:solidFill>
              </a:rPr>
              <a:t>509 numbers: its P&amp;L if the market moved as on each scenario day</a:t>
            </a:r>
          </a:p>
        </p:txBody>
      </p:sp>
      <p:cxnSp>
        <p:nvCxnSpPr>
          <p:cNvPr id="30" name="Connector 29"/>
          <p:cNvCxnSpPr/>
          <p:nvPr/>
        </p:nvCxnSpPr>
        <p:spPr>
          <a:xfrm>
            <a:off x="3236976" y="1920240"/>
            <a:ext cx="246888" cy="0"/>
          </a:xfrm>
          <a:prstGeom prst="line">
            <a:avLst/>
          </a:prstGeom>
          <a:ln w="2222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511296" y="1444752"/>
            <a:ext cx="2432304" cy="987552"/>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Oval 31"/>
          <p:cNvSpPr/>
          <p:nvPr/>
        </p:nvSpPr>
        <p:spPr>
          <a:xfrm>
            <a:off x="3621024" y="1554480"/>
            <a:ext cx="329184" cy="329184"/>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rPr>
              <a:t>2</a:t>
            </a:r>
          </a:p>
        </p:txBody>
      </p:sp>
      <p:sp>
        <p:nvSpPr>
          <p:cNvPr id="33" name="TextBox 32"/>
          <p:cNvSpPr txBox="1"/>
          <p:nvPr/>
        </p:nvSpPr>
        <p:spPr>
          <a:xfrm>
            <a:off x="4041648" y="1536192"/>
            <a:ext cx="1828800" cy="365760"/>
          </a:xfrm>
          <a:prstGeom prst="rect">
            <a:avLst/>
          </a:prstGeom>
          <a:noFill/>
        </p:spPr>
        <p:txBody>
          <a:bodyPr wrap="square" lIns="0" rIns="0" tIns="0" bIns="0" anchor="ctr">
            <a:spAutoFit/>
          </a:bodyPr>
          <a:lstStyle/>
          <a:p>
            <a:pPr algn="l"/>
            <a:r>
              <a:rPr sz="1300" b="1" i="0">
                <a:solidFill>
                  <a:srgbClr val="8A1626"/>
                </a:solidFill>
              </a:rPr>
              <a:t>Add the scope's vectors</a:t>
            </a:r>
          </a:p>
        </p:txBody>
      </p:sp>
      <p:sp>
        <p:nvSpPr>
          <p:cNvPr id="34" name="TextBox 33"/>
          <p:cNvSpPr txBox="1"/>
          <p:nvPr/>
        </p:nvSpPr>
        <p:spPr>
          <a:xfrm>
            <a:off x="3639312" y="1901952"/>
            <a:ext cx="2231136" cy="512064"/>
          </a:xfrm>
          <a:prstGeom prst="rect">
            <a:avLst/>
          </a:prstGeom>
          <a:noFill/>
        </p:spPr>
        <p:txBody>
          <a:bodyPr wrap="square" lIns="0" rIns="0" tIns="0" bIns="0" anchor="t">
            <a:spAutoFit/>
          </a:bodyPr>
          <a:lstStyle/>
          <a:p>
            <a:pPr algn="l"/>
            <a:r>
              <a:rPr sz="1100" b="0" i="0">
                <a:solidFill>
                  <a:srgbClr val="4A5058"/>
                </a:solidFill>
              </a:rPr>
              <a:t>any scope is a set of trades; overlaps count once, longs and shorts net</a:t>
            </a:r>
          </a:p>
        </p:txBody>
      </p:sp>
      <p:cxnSp>
        <p:nvCxnSpPr>
          <p:cNvPr id="35" name="Connector 34"/>
          <p:cNvCxnSpPr/>
          <p:nvPr/>
        </p:nvCxnSpPr>
        <p:spPr>
          <a:xfrm>
            <a:off x="5971032" y="1920240"/>
            <a:ext cx="246888" cy="0"/>
          </a:xfrm>
          <a:prstGeom prst="line">
            <a:avLst/>
          </a:prstGeom>
          <a:ln w="2222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245352" y="1444752"/>
            <a:ext cx="2432304" cy="987552"/>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Oval 36"/>
          <p:cNvSpPr/>
          <p:nvPr/>
        </p:nvSpPr>
        <p:spPr>
          <a:xfrm>
            <a:off x="6355080" y="1554480"/>
            <a:ext cx="329184" cy="329184"/>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rPr>
              <a:t>3</a:t>
            </a:r>
          </a:p>
        </p:txBody>
      </p:sp>
      <p:sp>
        <p:nvSpPr>
          <p:cNvPr id="38" name="TextBox 37"/>
          <p:cNvSpPr txBox="1"/>
          <p:nvPr/>
        </p:nvSpPr>
        <p:spPr>
          <a:xfrm>
            <a:off x="6775704" y="1536192"/>
            <a:ext cx="1828800" cy="365760"/>
          </a:xfrm>
          <a:prstGeom prst="rect">
            <a:avLst/>
          </a:prstGeom>
          <a:noFill/>
        </p:spPr>
        <p:txBody>
          <a:bodyPr wrap="square" lIns="0" rIns="0" tIns="0" bIns="0" anchor="ctr">
            <a:spAutoFit/>
          </a:bodyPr>
          <a:lstStyle/>
          <a:p>
            <a:pPr algn="l"/>
            <a:r>
              <a:rPr sz="1300" b="1" i="0">
                <a:solidFill>
                  <a:srgbClr val="8A1626"/>
                </a:solidFill>
              </a:rPr>
              <a:t>Sort the 509 P&amp;Ls</a:t>
            </a:r>
          </a:p>
        </p:txBody>
      </p:sp>
      <p:sp>
        <p:nvSpPr>
          <p:cNvPr id="39" name="TextBox 38"/>
          <p:cNvSpPr txBox="1"/>
          <p:nvPr/>
        </p:nvSpPr>
        <p:spPr>
          <a:xfrm>
            <a:off x="6373368" y="1901952"/>
            <a:ext cx="2231136" cy="512064"/>
          </a:xfrm>
          <a:prstGeom prst="rect">
            <a:avLst/>
          </a:prstGeom>
          <a:noFill/>
        </p:spPr>
        <p:txBody>
          <a:bodyPr wrap="square" lIns="0" rIns="0" tIns="0" bIns="0" anchor="t">
            <a:spAutoFit/>
          </a:bodyPr>
          <a:lstStyle/>
          <a:p>
            <a:pPr algn="l"/>
            <a:r>
              <a:rPr sz="1100" b="0" i="0">
                <a:solidFill>
                  <a:srgbClr val="4A5058"/>
                </a:solidFill>
              </a:rPr>
              <a:t>worst first; equal P&amp;Ls: the older scenario first</a:t>
            </a:r>
          </a:p>
        </p:txBody>
      </p:sp>
      <p:cxnSp>
        <p:nvCxnSpPr>
          <p:cNvPr id="40" name="Connector 39"/>
          <p:cNvCxnSpPr/>
          <p:nvPr/>
        </p:nvCxnSpPr>
        <p:spPr>
          <a:xfrm>
            <a:off x="8705088" y="1920240"/>
            <a:ext cx="246888" cy="0"/>
          </a:xfrm>
          <a:prstGeom prst="line">
            <a:avLst/>
          </a:prstGeom>
          <a:ln w="2222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979408" y="1444752"/>
            <a:ext cx="2432304" cy="987552"/>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Oval 41"/>
          <p:cNvSpPr/>
          <p:nvPr/>
        </p:nvSpPr>
        <p:spPr>
          <a:xfrm>
            <a:off x="9089136" y="1554480"/>
            <a:ext cx="329184" cy="329184"/>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rPr>
              <a:t>4</a:t>
            </a:r>
          </a:p>
        </p:txBody>
      </p:sp>
      <p:sp>
        <p:nvSpPr>
          <p:cNvPr id="43" name="TextBox 42"/>
          <p:cNvSpPr txBox="1"/>
          <p:nvPr/>
        </p:nvSpPr>
        <p:spPr>
          <a:xfrm>
            <a:off x="9509760" y="1536192"/>
            <a:ext cx="1828800" cy="365760"/>
          </a:xfrm>
          <a:prstGeom prst="rect">
            <a:avLst/>
          </a:prstGeom>
          <a:noFill/>
        </p:spPr>
        <p:txBody>
          <a:bodyPr wrap="square" lIns="0" rIns="0" tIns="0" bIns="0" anchor="ctr">
            <a:spAutoFit/>
          </a:bodyPr>
          <a:lstStyle/>
          <a:p>
            <a:pPr algn="l"/>
            <a:r>
              <a:rPr sz="1300" b="1" i="0">
                <a:solidFill>
                  <a:srgbClr val="8A1626"/>
                </a:solidFill>
              </a:rPr>
              <a:t>Read the tail</a:t>
            </a:r>
          </a:p>
        </p:txBody>
      </p:sp>
      <p:sp>
        <p:nvSpPr>
          <p:cNvPr id="44" name="TextBox 43"/>
          <p:cNvSpPr txBox="1"/>
          <p:nvPr/>
        </p:nvSpPr>
        <p:spPr>
          <a:xfrm>
            <a:off x="9107424" y="1901952"/>
            <a:ext cx="2231136" cy="512064"/>
          </a:xfrm>
          <a:prstGeom prst="rect">
            <a:avLst/>
          </a:prstGeom>
          <a:noFill/>
        </p:spPr>
        <p:txBody>
          <a:bodyPr wrap="square" lIns="0" rIns="0" tIns="0" bIns="0" anchor="t">
            <a:spAutoFit/>
          </a:bodyPr>
          <a:lstStyle/>
          <a:p>
            <a:pPr algn="l"/>
            <a:r>
              <a:rPr sz="1100" b="0" i="0">
                <a:solidFill>
                  <a:srgbClr val="4A5058"/>
                </a:solidFill>
              </a:rPr>
              <a:t>VaR: minus the 6th worst; ES: minus the mean of the 13 worst</a:t>
            </a:r>
          </a:p>
        </p:txBody>
      </p:sp>
      <p:sp>
        <p:nvSpPr>
          <p:cNvPr id="45" name="TextBox 44"/>
          <p:cNvSpPr txBox="1"/>
          <p:nvPr/>
        </p:nvSpPr>
        <p:spPr>
          <a:xfrm>
            <a:off x="777240" y="2560320"/>
            <a:ext cx="6400800" cy="274320"/>
          </a:xfrm>
          <a:prstGeom prst="rect">
            <a:avLst/>
          </a:prstGeom>
          <a:noFill/>
        </p:spPr>
        <p:txBody>
          <a:bodyPr wrap="square" lIns="0" rIns="0" tIns="0" bIns="0" anchor="t">
            <a:spAutoFit/>
          </a:bodyPr>
          <a:lstStyle/>
          <a:p>
            <a:pPr algn="l"/>
            <a:r>
              <a:rPr sz="1300" b="1" i="0">
                <a:solidFill>
                  <a:srgbClr val="A51C30"/>
                </a:solidFill>
              </a:rPr>
              <a:t>Worked example  </a:t>
            </a:r>
            <a:r>
              <a:rPr sz="1200" b="0" i="0">
                <a:solidFill>
                  <a:srgbClr val="4A5058"/>
                </a:solidFill>
              </a:rPr>
              <a:t>ten scenarios, α = 80% so k = 2; one book holding P1 (T1 long, T2 short) and P2 (T3)</a:t>
            </a:r>
          </a:p>
        </p:txBody>
      </p:sp>
      <p:graphicFrame>
        <p:nvGraphicFramePr>
          <p:cNvPr id="46" name="Table 45"/>
          <p:cNvGraphicFramePr>
            <a:graphicFrameLocks noGrp="1"/>
          </p:cNvGraphicFramePr>
          <p:nvPr/>
        </p:nvGraphicFramePr>
        <p:xfrm>
          <a:off x="777240" y="2862072"/>
          <a:ext cx="6400800" cy="1591056"/>
        </p:xfrm>
        <a:graphic>
          <a:graphicData uri="http://schemas.openxmlformats.org/drawingml/2006/table">
            <a:tbl>
              <a:tblPr firstRow="0" bandRow="0">
                <a:tableStyleId>{5940675A-B579-460E-94D1-54222C63F5DA}</a:tableStyleId>
              </a:tblPr>
              <a:tblGrid>
                <a:gridCol w="1463040"/>
                <a:gridCol w="493776"/>
                <a:gridCol w="493776"/>
                <a:gridCol w="493776"/>
                <a:gridCol w="493776"/>
                <a:gridCol w="493776"/>
                <a:gridCol w="493776"/>
                <a:gridCol w="493776"/>
                <a:gridCol w="493776"/>
                <a:gridCol w="493776"/>
                <a:gridCol w="493776"/>
              </a:tblGrid>
              <a:tr h="265176">
                <a:tc>
                  <a:txBody>
                    <a:bodyPr wrap="square"/>
                    <a:lstStyle/>
                    <a:p>
                      <a:r>
                        <a:rPr sz="1200" b="1" i="0">
                          <a:solidFill>
                            <a:srgbClr val="FFFFFF"/>
                          </a:solidFill>
                        </a:rPr>
                        <a:t>Vector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7</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8</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200" b="1" i="0">
                          <a:solidFill>
                            <a:srgbClr val="FFFFFF"/>
                          </a:solidFill>
                        </a:rPr>
                        <a:t>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265176">
                <a:tc>
                  <a:txBody>
                    <a:bodyPr wrap="square"/>
                    <a:lstStyle/>
                    <a:p>
                      <a:r>
                        <a:rPr sz="1200" b="1" i="0">
                          <a:solidFill>
                            <a:srgbClr val="8A1626"/>
                          </a:solidFill>
                        </a:rPr>
                        <a:t>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−8</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−12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7</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65176">
                <a:tc>
                  <a:txBody>
                    <a:bodyPr wrap="square"/>
                    <a:lstStyle/>
                    <a:p>
                      <a:r>
                        <a:rPr sz="1200" b="1" i="0">
                          <a:solidFill>
                            <a:srgbClr val="8A1626"/>
                          </a:solidFill>
                        </a:rPr>
                        <a:t>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65176">
                <a:tc>
                  <a:txBody>
                    <a:bodyPr wrap="square"/>
                    <a:lstStyle/>
                    <a:p>
                      <a:r>
                        <a:rPr sz="1200" b="1" i="0">
                          <a:solidFill>
                            <a:srgbClr val="8A1626"/>
                          </a:solidFill>
                        </a:rPr>
                        <a:t>P2 = 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−7</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65176">
                <a:tc>
                  <a:txBody>
                    <a:bodyPr wrap="square"/>
                    <a:lstStyle/>
                    <a:p>
                      <a:r>
                        <a:rPr sz="1200" b="1" i="0">
                          <a:solidFill>
                            <a:srgbClr val="8A1626"/>
                          </a:solidFill>
                        </a:rPr>
                        <a:t>P1 = T1 + 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−8</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65176">
                <a:tc>
                  <a:txBody>
                    <a:bodyPr wrap="square"/>
                    <a:lstStyle/>
                    <a:p>
                      <a:r>
                        <a:rPr sz="1200" b="1" i="0">
                          <a:solidFill>
                            <a:srgbClr val="8A1626"/>
                          </a:solidFill>
                        </a:rPr>
                        <a:t>Book = P1 + P2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1" i="0">
                          <a:solidFill>
                            <a:srgbClr val="A51C30"/>
                          </a:solidFill>
                        </a:rPr>
                        <a:t>−7</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1" i="0">
                          <a:solidFill>
                            <a:srgbClr val="A51C30"/>
                          </a:solidFill>
                        </a:rPr>
                        <a:t>−6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0" i="0">
                          <a:solidFill>
                            <a:srgbClr val="1A1A1A"/>
                          </a:solidFill>
                        </a:rPr>
                        <a:t>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200" b="1" i="0">
                          <a:solidFill>
                            <a:srgbClr val="A51C30"/>
                          </a:solidFill>
                        </a:rPr>
                        <a:t>−6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bl>
          </a:graphicData>
        </a:graphic>
      </p:graphicFrame>
      <p:sp>
        <p:nvSpPr>
          <p:cNvPr id="47" name="Rectangle 46"/>
          <p:cNvSpPr/>
          <p:nvPr/>
        </p:nvSpPr>
        <p:spPr>
          <a:xfrm>
            <a:off x="777240" y="4526280"/>
            <a:ext cx="1207008" cy="98755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xtBox 47"/>
          <p:cNvSpPr txBox="1"/>
          <p:nvPr/>
        </p:nvSpPr>
        <p:spPr>
          <a:xfrm>
            <a:off x="868680" y="4572000"/>
            <a:ext cx="1069848" cy="228600"/>
          </a:xfrm>
          <a:prstGeom prst="rect">
            <a:avLst/>
          </a:prstGeom>
          <a:noFill/>
        </p:spPr>
        <p:txBody>
          <a:bodyPr wrap="square" lIns="0" rIns="0" tIns="0" bIns="0" anchor="t">
            <a:spAutoFit/>
          </a:bodyPr>
          <a:lstStyle/>
          <a:p>
            <a:pPr algn="l"/>
            <a:r>
              <a:rPr sz="1100" b="1" i="0">
                <a:solidFill>
                  <a:srgbClr val="4A5058"/>
                </a:solidFill>
              </a:rPr>
              <a:t>VaR</a:t>
            </a:r>
          </a:p>
        </p:txBody>
      </p:sp>
      <p:sp>
        <p:nvSpPr>
          <p:cNvPr id="49" name="TextBox 48"/>
          <p:cNvSpPr txBox="1"/>
          <p:nvPr/>
        </p:nvSpPr>
        <p:spPr>
          <a:xfrm>
            <a:off x="868680" y="4800600"/>
            <a:ext cx="1069848" cy="320040"/>
          </a:xfrm>
          <a:prstGeom prst="rect">
            <a:avLst/>
          </a:prstGeom>
          <a:noFill/>
        </p:spPr>
        <p:txBody>
          <a:bodyPr wrap="square" lIns="0" rIns="0" tIns="0" bIns="0" anchor="t">
            <a:spAutoFit/>
          </a:bodyPr>
          <a:lstStyle/>
          <a:p>
            <a:pPr algn="l"/>
            <a:r>
              <a:rPr sz="1500" b="1" i="0">
                <a:solidFill>
                  <a:srgbClr val="8A1626"/>
                </a:solidFill>
              </a:rPr>
              <a:t>6</a:t>
            </a:r>
          </a:p>
        </p:txBody>
      </p:sp>
      <p:sp>
        <p:nvSpPr>
          <p:cNvPr id="50" name="TextBox 49"/>
          <p:cNvSpPr txBox="1"/>
          <p:nvPr/>
        </p:nvSpPr>
        <p:spPr>
          <a:xfrm>
            <a:off x="868680" y="5102352"/>
            <a:ext cx="1069848" cy="411480"/>
          </a:xfrm>
          <a:prstGeom prst="rect">
            <a:avLst/>
          </a:prstGeom>
          <a:noFill/>
        </p:spPr>
        <p:txBody>
          <a:bodyPr wrap="square" lIns="0" rIns="0" tIns="0" bIns="0" anchor="t">
            <a:spAutoFit/>
          </a:bodyPr>
          <a:lstStyle/>
          <a:p>
            <a:pPr algn="l"/>
            <a:r>
              <a:rPr sz="1050" b="0" i="0">
                <a:solidFill>
                  <a:srgbClr val="4A5058"/>
                </a:solidFill>
              </a:rPr>
              <a:t>2nd worst of the book: −6</a:t>
            </a:r>
          </a:p>
        </p:txBody>
      </p:sp>
      <p:sp>
        <p:nvSpPr>
          <p:cNvPr id="51" name="Rectangle 50"/>
          <p:cNvSpPr/>
          <p:nvPr/>
        </p:nvSpPr>
        <p:spPr>
          <a:xfrm>
            <a:off x="2066544" y="4526280"/>
            <a:ext cx="1207008" cy="98755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TextBox 51"/>
          <p:cNvSpPr txBox="1"/>
          <p:nvPr/>
        </p:nvSpPr>
        <p:spPr>
          <a:xfrm>
            <a:off x="2157984" y="4572000"/>
            <a:ext cx="1069848" cy="228600"/>
          </a:xfrm>
          <a:prstGeom prst="rect">
            <a:avLst/>
          </a:prstGeom>
          <a:noFill/>
        </p:spPr>
        <p:txBody>
          <a:bodyPr wrap="square" lIns="0" rIns="0" tIns="0" bIns="0" anchor="t">
            <a:spAutoFit/>
          </a:bodyPr>
          <a:lstStyle/>
          <a:p>
            <a:pPr algn="l"/>
            <a:r>
              <a:rPr sz="1100" b="1" i="0">
                <a:solidFill>
                  <a:srgbClr val="4A5058"/>
                </a:solidFill>
              </a:rPr>
              <a:t>ES</a:t>
            </a:r>
          </a:p>
        </p:txBody>
      </p:sp>
      <p:sp>
        <p:nvSpPr>
          <p:cNvPr id="53" name="TextBox 52"/>
          <p:cNvSpPr txBox="1"/>
          <p:nvPr/>
        </p:nvSpPr>
        <p:spPr>
          <a:xfrm>
            <a:off x="2157984" y="4800600"/>
            <a:ext cx="1069848" cy="320040"/>
          </a:xfrm>
          <a:prstGeom prst="rect">
            <a:avLst/>
          </a:prstGeom>
          <a:noFill/>
        </p:spPr>
        <p:txBody>
          <a:bodyPr wrap="square" lIns="0" rIns="0" tIns="0" bIns="0" anchor="t">
            <a:spAutoFit/>
          </a:bodyPr>
          <a:lstStyle/>
          <a:p>
            <a:pPr algn="l"/>
            <a:r>
              <a:rPr sz="1500" b="1" i="0">
                <a:solidFill>
                  <a:srgbClr val="8A1626"/>
                </a:solidFill>
              </a:rPr>
              <a:t>6.5</a:t>
            </a:r>
          </a:p>
        </p:txBody>
      </p:sp>
      <p:sp>
        <p:nvSpPr>
          <p:cNvPr id="54" name="TextBox 53"/>
          <p:cNvSpPr txBox="1"/>
          <p:nvPr/>
        </p:nvSpPr>
        <p:spPr>
          <a:xfrm>
            <a:off x="2157984" y="5102352"/>
            <a:ext cx="1069848" cy="411480"/>
          </a:xfrm>
          <a:prstGeom prst="rect">
            <a:avLst/>
          </a:prstGeom>
          <a:noFill/>
        </p:spPr>
        <p:txBody>
          <a:bodyPr wrap="square" lIns="0" rIns="0" tIns="0" bIns="0" anchor="t">
            <a:spAutoFit/>
          </a:bodyPr>
          <a:lstStyle/>
          <a:p>
            <a:pPr algn="l"/>
            <a:r>
              <a:rPr sz="1050" b="0" i="0">
                <a:solidFill>
                  <a:srgbClr val="4A5058"/>
                </a:solidFill>
              </a:rPr>
              <a:t>mean of −7 and −6</a:t>
            </a:r>
          </a:p>
        </p:txBody>
      </p:sp>
      <p:sp>
        <p:nvSpPr>
          <p:cNvPr id="55" name="Rectangle 54"/>
          <p:cNvSpPr/>
          <p:nvPr/>
        </p:nvSpPr>
        <p:spPr>
          <a:xfrm>
            <a:off x="3355848" y="4526280"/>
            <a:ext cx="1207008" cy="98755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3447288" y="4572000"/>
            <a:ext cx="1069848" cy="228600"/>
          </a:xfrm>
          <a:prstGeom prst="rect">
            <a:avLst/>
          </a:prstGeom>
          <a:noFill/>
        </p:spPr>
        <p:txBody>
          <a:bodyPr wrap="square" lIns="0" rIns="0" tIns="0" bIns="0" anchor="t">
            <a:spAutoFit/>
          </a:bodyPr>
          <a:lstStyle/>
          <a:p>
            <a:pPr algn="l"/>
            <a:r>
              <a:rPr sz="1100" b="1" i="0">
                <a:solidFill>
                  <a:srgbClr val="4A5058"/>
                </a:solidFill>
              </a:rPr>
              <a:t>Component VaR</a:t>
            </a:r>
          </a:p>
        </p:txBody>
      </p:sp>
      <p:sp>
        <p:nvSpPr>
          <p:cNvPr id="57" name="TextBox 56"/>
          <p:cNvSpPr txBox="1"/>
          <p:nvPr/>
        </p:nvSpPr>
        <p:spPr>
          <a:xfrm>
            <a:off x="3447288" y="4800600"/>
            <a:ext cx="1069848" cy="320040"/>
          </a:xfrm>
          <a:prstGeom prst="rect">
            <a:avLst/>
          </a:prstGeom>
          <a:noFill/>
        </p:spPr>
        <p:txBody>
          <a:bodyPr wrap="square" lIns="0" rIns="0" tIns="0" bIns="0" anchor="t">
            <a:spAutoFit/>
          </a:bodyPr>
          <a:lstStyle/>
          <a:p>
            <a:pPr algn="l"/>
            <a:r>
              <a:rPr sz="1500" b="1" i="0">
                <a:solidFill>
                  <a:srgbClr val="8A1626"/>
                </a:solidFill>
              </a:rPr>
              <a:t>1.26 + 4.74</a:t>
            </a:r>
          </a:p>
        </p:txBody>
      </p:sp>
      <p:sp>
        <p:nvSpPr>
          <p:cNvPr id="58" name="TextBox 57"/>
          <p:cNvSpPr txBox="1"/>
          <p:nvPr/>
        </p:nvSpPr>
        <p:spPr>
          <a:xfrm>
            <a:off x="3447288" y="5102352"/>
            <a:ext cx="1069848" cy="411480"/>
          </a:xfrm>
          <a:prstGeom prst="rect">
            <a:avLst/>
          </a:prstGeom>
          <a:noFill/>
        </p:spPr>
        <p:txBody>
          <a:bodyPr wrap="square" lIns="0" rIns="0" tIns="0" bIns="0" anchor="t">
            <a:spAutoFit/>
          </a:bodyPr>
          <a:lstStyle/>
          <a:p>
            <a:pPr algn="l"/>
            <a:r>
              <a:rPr sz="1050" b="0" i="0">
                <a:solidFill>
                  <a:srgbClr val="4A5058"/>
                </a:solidFill>
              </a:rPr>
              <a:t>P1 + P2 = 6: Euler, adds up</a:t>
            </a:r>
          </a:p>
        </p:txBody>
      </p:sp>
      <p:sp>
        <p:nvSpPr>
          <p:cNvPr id="59" name="Rectangle 58"/>
          <p:cNvSpPr/>
          <p:nvPr/>
        </p:nvSpPr>
        <p:spPr>
          <a:xfrm>
            <a:off x="4645152" y="4526280"/>
            <a:ext cx="1207008" cy="98755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xtBox 59"/>
          <p:cNvSpPr txBox="1"/>
          <p:nvPr/>
        </p:nvSpPr>
        <p:spPr>
          <a:xfrm>
            <a:off x="4736592" y="4572000"/>
            <a:ext cx="1069848" cy="228600"/>
          </a:xfrm>
          <a:prstGeom prst="rect">
            <a:avLst/>
          </a:prstGeom>
          <a:noFill/>
        </p:spPr>
        <p:txBody>
          <a:bodyPr wrap="square" lIns="0" rIns="0" tIns="0" bIns="0" anchor="t">
            <a:spAutoFit/>
          </a:bodyPr>
          <a:lstStyle/>
          <a:p>
            <a:pPr algn="l"/>
            <a:r>
              <a:rPr sz="1100" b="1" i="0">
                <a:solidFill>
                  <a:srgbClr val="4A5058"/>
                </a:solidFill>
              </a:rPr>
              <a:t>Diversification</a:t>
            </a:r>
          </a:p>
        </p:txBody>
      </p:sp>
      <p:sp>
        <p:nvSpPr>
          <p:cNvPr id="61" name="TextBox 60"/>
          <p:cNvSpPr txBox="1"/>
          <p:nvPr/>
        </p:nvSpPr>
        <p:spPr>
          <a:xfrm>
            <a:off x="4736592" y="4800600"/>
            <a:ext cx="1069848" cy="320040"/>
          </a:xfrm>
          <a:prstGeom prst="rect">
            <a:avLst/>
          </a:prstGeom>
          <a:noFill/>
        </p:spPr>
        <p:txBody>
          <a:bodyPr wrap="square" lIns="0" rIns="0" tIns="0" bIns="0" anchor="t">
            <a:spAutoFit/>
          </a:bodyPr>
          <a:lstStyle/>
          <a:p>
            <a:pPr algn="l"/>
            <a:r>
              <a:rPr sz="1500" b="1" i="0">
                <a:solidFill>
                  <a:srgbClr val="8A1626"/>
                </a:solidFill>
              </a:rPr>
              <a:t>6</a:t>
            </a:r>
          </a:p>
        </p:txBody>
      </p:sp>
      <p:sp>
        <p:nvSpPr>
          <p:cNvPr id="62" name="TextBox 61"/>
          <p:cNvSpPr txBox="1"/>
          <p:nvPr/>
        </p:nvSpPr>
        <p:spPr>
          <a:xfrm>
            <a:off x="4736592" y="5102352"/>
            <a:ext cx="1069848" cy="411480"/>
          </a:xfrm>
          <a:prstGeom prst="rect">
            <a:avLst/>
          </a:prstGeom>
          <a:noFill/>
        </p:spPr>
        <p:txBody>
          <a:bodyPr wrap="square" lIns="0" rIns="0" tIns="0" bIns="0" anchor="t">
            <a:spAutoFit/>
          </a:bodyPr>
          <a:lstStyle/>
          <a:p>
            <a:pPr algn="l"/>
            <a:r>
              <a:rPr sz="1050" b="0" i="0">
                <a:solidFill>
                  <a:srgbClr val="4A5058"/>
                </a:solidFill>
              </a:rPr>
              <a:t>standalone 5 + 7 − 6</a:t>
            </a:r>
          </a:p>
        </p:txBody>
      </p:sp>
      <p:sp>
        <p:nvSpPr>
          <p:cNvPr id="63" name="Rectangle 62"/>
          <p:cNvSpPr/>
          <p:nvPr/>
        </p:nvSpPr>
        <p:spPr>
          <a:xfrm>
            <a:off x="5934456" y="4526280"/>
            <a:ext cx="1207008" cy="98755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TextBox 63"/>
          <p:cNvSpPr txBox="1"/>
          <p:nvPr/>
        </p:nvSpPr>
        <p:spPr>
          <a:xfrm>
            <a:off x="6025896" y="4572000"/>
            <a:ext cx="1069848" cy="228600"/>
          </a:xfrm>
          <a:prstGeom prst="rect">
            <a:avLst/>
          </a:prstGeom>
          <a:noFill/>
        </p:spPr>
        <p:txBody>
          <a:bodyPr wrap="square" lIns="0" rIns="0" tIns="0" bIns="0" anchor="t">
            <a:spAutoFit/>
          </a:bodyPr>
          <a:lstStyle/>
          <a:p>
            <a:pPr algn="l"/>
            <a:r>
              <a:rPr sz="1100" b="1" i="0">
                <a:solidFill>
                  <a:srgbClr val="4A5058"/>
                </a:solidFill>
              </a:rPr>
              <a:t>Incremental, P1</a:t>
            </a:r>
          </a:p>
        </p:txBody>
      </p:sp>
      <p:sp>
        <p:nvSpPr>
          <p:cNvPr id="65" name="TextBox 64"/>
          <p:cNvSpPr txBox="1"/>
          <p:nvPr/>
        </p:nvSpPr>
        <p:spPr>
          <a:xfrm>
            <a:off x="6025896" y="4800600"/>
            <a:ext cx="1069848" cy="320040"/>
          </a:xfrm>
          <a:prstGeom prst="rect">
            <a:avLst/>
          </a:prstGeom>
          <a:noFill/>
        </p:spPr>
        <p:txBody>
          <a:bodyPr wrap="square" lIns="0" rIns="0" tIns="0" bIns="0" anchor="t">
            <a:spAutoFit/>
          </a:bodyPr>
          <a:lstStyle/>
          <a:p>
            <a:pPr algn="l"/>
            <a:r>
              <a:rPr sz="1500" b="1" i="0">
                <a:solidFill>
                  <a:srgbClr val="8A1626"/>
                </a:solidFill>
              </a:rPr>
              <a:t>−1</a:t>
            </a:r>
          </a:p>
        </p:txBody>
      </p:sp>
      <p:sp>
        <p:nvSpPr>
          <p:cNvPr id="66" name="TextBox 65"/>
          <p:cNvSpPr txBox="1"/>
          <p:nvPr/>
        </p:nvSpPr>
        <p:spPr>
          <a:xfrm>
            <a:off x="6025896" y="5102352"/>
            <a:ext cx="1069848" cy="411480"/>
          </a:xfrm>
          <a:prstGeom prst="rect">
            <a:avLst/>
          </a:prstGeom>
          <a:noFill/>
        </p:spPr>
        <p:txBody>
          <a:bodyPr wrap="square" lIns="0" rIns="0" tIns="0" bIns="0" anchor="t">
            <a:spAutoFit/>
          </a:bodyPr>
          <a:lstStyle/>
          <a:p>
            <a:pPr algn="l"/>
            <a:r>
              <a:rPr sz="1050" b="0" i="0">
                <a:solidFill>
                  <a:srgbClr val="4A5058"/>
                </a:solidFill>
              </a:rPr>
              <a:t>a hedge: removing it raises VaR</a:t>
            </a:r>
          </a:p>
        </p:txBody>
      </p:sp>
      <p:sp>
        <p:nvSpPr>
          <p:cNvPr id="67" name="TextBox 66"/>
          <p:cNvSpPr txBox="1"/>
          <p:nvPr/>
        </p:nvSpPr>
        <p:spPr>
          <a:xfrm>
            <a:off x="777240" y="5815584"/>
            <a:ext cx="10634472" cy="493776"/>
          </a:xfrm>
          <a:prstGeom prst="rect">
            <a:avLst/>
          </a:prstGeom>
          <a:noFill/>
        </p:spPr>
        <p:txBody>
          <a:bodyPr wrap="square" lIns="0" rIns="0" tIns="0" bIns="0" anchor="b">
            <a:spAutoFit/>
          </a:bodyPr>
          <a:lstStyle/>
          <a:p>
            <a:pPr algn="l"/>
            <a:r>
              <a:rPr sz="1000" b="0" i="0">
                <a:solidFill>
                  <a:srgbClr val="4A5058"/>
                </a:solidFill>
              </a:rPr>
              <a:t>Kupiec test (Paul Kupiec, 1995): is the number of VaR breaches (losses bigger than VaR) consistent with 99%, about 2–3 in 250 days?</a:t>
            </a:r>
          </a:p>
          <a:p>
            <a:pPr algn="l"/>
            <a:r>
              <a:rPr sz="1000" b="0" i="0">
                <a:solidFill>
                  <a:srgbClr val="4A5058"/>
                </a:solidFill>
              </a:rPr>
              <a:t>Christoffersen test (Peter Christoffersen, 1998): do breaches cluster together, a sign the model reacts too slowly when markets turn?</a:t>
            </a:r>
          </a:p>
          <a:p>
            <a:pPr algn="l"/>
            <a:r>
              <a:rPr sz="1000" b="0" i="0">
                <a:solidFill>
                  <a:srgbClr val="4A5058"/>
                </a:solidFill>
              </a:rPr>
              <a:t>Basel traffic light: breaches in 250 days at 99%: 0–4 green, 5–9 amber, 10+ red.</a:t>
            </a:r>
          </a:p>
        </p:txBody>
      </p:sp>
      <p:sp>
        <p:nvSpPr>
          <p:cNvPr id="68" name="TextBox 67"/>
          <p:cNvSpPr txBox="1"/>
          <p:nvPr/>
        </p:nvSpPr>
        <p:spPr>
          <a:xfrm>
            <a:off x="7452360" y="2560320"/>
            <a:ext cx="3959352" cy="274320"/>
          </a:xfrm>
          <a:prstGeom prst="rect">
            <a:avLst/>
          </a:prstGeom>
          <a:noFill/>
        </p:spPr>
        <p:txBody>
          <a:bodyPr wrap="square" lIns="0" rIns="0" tIns="0" bIns="0" anchor="t">
            <a:spAutoFit/>
          </a:bodyPr>
          <a:lstStyle/>
          <a:p>
            <a:pPr algn="l"/>
            <a:r>
              <a:rPr sz="1300" b="1" i="0">
                <a:solidFill>
                  <a:srgbClr val="A51C30"/>
                </a:solidFill>
              </a:rPr>
              <a:t>The measures at N = 509</a:t>
            </a:r>
          </a:p>
        </p:txBody>
      </p:sp>
      <p:graphicFrame>
        <p:nvGraphicFramePr>
          <p:cNvPr id="69" name="Table 68"/>
          <p:cNvGraphicFramePr>
            <a:graphicFrameLocks noGrp="1"/>
          </p:cNvGraphicFramePr>
          <p:nvPr/>
        </p:nvGraphicFramePr>
        <p:xfrm>
          <a:off x="7452360" y="2862072"/>
          <a:ext cx="3959352" cy="2551176"/>
        </p:xfrm>
        <a:graphic>
          <a:graphicData uri="http://schemas.openxmlformats.org/drawingml/2006/table">
            <a:tbl>
              <a:tblPr firstRow="0" bandRow="0">
                <a:tableStyleId>{5940675A-B579-460E-94D1-54222C63F5DA}</a:tableStyleId>
              </a:tblPr>
              <a:tblGrid>
                <a:gridCol w="1298448"/>
                <a:gridCol w="2660904"/>
              </a:tblGrid>
              <a:tr h="283464">
                <a:tc>
                  <a:txBody>
                    <a:bodyPr wrap="square"/>
                    <a:lstStyle/>
                    <a:p>
                      <a:r>
                        <a:rPr sz="1100" b="1" i="0">
                          <a:solidFill>
                            <a:srgbClr val="FFFFFF"/>
                          </a:solidFill>
                        </a:rPr>
                        <a:t>Measure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Definition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283464">
                <a:tc>
                  <a:txBody>
                    <a:bodyPr wrap="square"/>
                    <a:lstStyle/>
                    <a:p>
                      <a:r>
                        <a:rPr sz="1100" b="1" i="0">
                          <a:solidFill>
                            <a:srgbClr val="8A1626"/>
                          </a:solidFill>
                        </a:rPr>
                        <a:t>VaR 99%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minus the 6th worst P&amp;L</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83464">
                <a:tc>
                  <a:txBody>
                    <a:bodyPr wrap="square"/>
                    <a:lstStyle/>
                    <a:p>
                      <a:r>
                        <a:rPr sz="1100" b="1" i="0">
                          <a:solidFill>
                            <a:srgbClr val="8A1626"/>
                          </a:solidFill>
                        </a:rPr>
                        <a:t>ES 97.5%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minus the mean of the 13 worst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83464">
                <a:tc>
                  <a:txBody>
                    <a:bodyPr wrap="square"/>
                    <a:lstStyle/>
                    <a:p>
                      <a:r>
                        <a:rPr sz="1100" b="1" i="0">
                          <a:solidFill>
                            <a:srgbClr val="8A1626"/>
                          </a:solidFill>
                        </a:rPr>
                        <a:t>Component VaR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Euler on ranks 4–8; adds up to VaR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83464">
                <a:tc>
                  <a:txBody>
                    <a:bodyPr wrap="square"/>
                    <a:lstStyle/>
                    <a:p>
                      <a:r>
                        <a:rPr sz="1100" b="1" i="0">
                          <a:solidFill>
                            <a:srgbClr val="8A1626"/>
                          </a:solidFill>
                        </a:rPr>
                        <a:t>Component 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mean over the 13 worst; adds up to 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83464">
                <a:tc>
                  <a:txBody>
                    <a:bodyPr wrap="square"/>
                    <a:lstStyle/>
                    <a:p>
                      <a:r>
                        <a:rPr sz="1100" b="1" i="0">
                          <a:solidFill>
                            <a:srgbClr val="8A1626"/>
                          </a:solidFill>
                        </a:rPr>
                        <a:t>Incremental</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VaR(scope) − VaR(scope − part)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83464">
                <a:tc>
                  <a:txBody>
                    <a:bodyPr wrap="square"/>
                    <a:lstStyle/>
                    <a:p>
                      <a:r>
                        <a:rPr sz="1100" b="1" i="0">
                          <a:solidFill>
                            <a:srgbClr val="8A1626"/>
                          </a:solidFill>
                        </a:rPr>
                        <a:t>Marginal</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component ÷ |size| × 1,000,000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83464">
                <a:tc>
                  <a:txBody>
                    <a:bodyPr wrap="square"/>
                    <a:lstStyle/>
                    <a:p>
                      <a:r>
                        <a:rPr sz="1100" b="1" i="0">
                          <a:solidFill>
                            <a:srgbClr val="8A1626"/>
                          </a:solidFill>
                        </a:rPr>
                        <a:t>Diversification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Σ standalone VaR − VaR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83464">
                <a:tc>
                  <a:txBody>
                    <a:bodyPr wrap="square"/>
                    <a:lstStyle/>
                    <a:p>
                      <a:r>
                        <a:rPr sz="1100" b="1" i="0">
                          <a:solidFill>
                            <a:srgbClr val="8A1626"/>
                          </a:solidFill>
                        </a:rPr>
                        <a:t>Limits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per node, portfolio; amber 75%, red 90%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CONFIGURABLE · 2.9.4</a:t>
            </a:r>
          </a:p>
        </p:txBody>
      </p:sp>
      <p:sp>
        <p:nvSpPr>
          <p:cNvPr id="3" name="Title 2"/>
          <p:cNvSpPr>
            <a:spLocks noGrp="1"/>
          </p:cNvSpPr>
          <p:nvPr>
            <p:ph type="title" idx="104"/>
          </p:nvPr>
        </p:nvSpPr>
        <p:spPr/>
        <p:txBody>
          <a:bodyPr/>
          <a:lstStyle/>
          <a:p>
            <a:r>
              <a:t>The window, the confidence, the currencies and the names are settings</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17320"/>
            <a:ext cx="5202936" cy="2286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1417320"/>
            <a:ext cx="45720" cy="2286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60120" y="1490472"/>
            <a:ext cx="4928616" cy="1143000"/>
          </a:xfrm>
          <a:prstGeom prst="rect">
            <a:avLst/>
          </a:prstGeom>
          <a:noFill/>
        </p:spPr>
        <p:txBody>
          <a:bodyPr wrap="square" lIns="0" rIns="0" tIns="0" bIns="0" anchor="t">
            <a:spAutoFit/>
          </a:bodyPr>
          <a:lstStyle/>
          <a:p>
            <a:pPr algn="l">
              <a:spcAft>
                <a:spcPts val="300"/>
              </a:spcAft>
            </a:pPr>
            <a:r>
              <a:rPr sz="1350" b="1" i="0">
                <a:solidFill>
                  <a:srgbClr val="8A1626"/>
                </a:solidFill>
              </a:rPr>
              <a:t>Scenario window</a:t>
            </a:r>
          </a:p>
          <a:p>
            <a:pPr algn="l">
              <a:spcAft>
                <a:spcPts val="400"/>
              </a:spcAft>
            </a:pPr>
            <a:r>
              <a:rPr sz="1050" b="1" i="0">
                <a:solidFill>
                  <a:srgbClr val="A51C30"/>
                </a:solidFill>
                <a:latin typeface="Courier New"/>
              </a:rPr>
              <a:t>drishti.var.scenario-window: all | N</a:t>
            </a:r>
          </a:p>
          <a:p>
            <a:pPr algn="l"/>
            <a:r>
              <a:rPr sz="1150" b="0" i="0">
                <a:solidFill>
                  <a:srgbClr val="1A1A1A"/>
                </a:solidFill>
              </a:rPr>
              <a:t>The newest N scenarios of the set (all: 509). Per request, window=250 shows a 1-year view beside the 2-year one: labelled on every answer, never official.</a:t>
            </a:r>
          </a:p>
        </p:txBody>
      </p:sp>
      <p:graphicFrame>
        <p:nvGraphicFramePr>
          <p:cNvPr id="29" name="Table 28"/>
          <p:cNvGraphicFramePr>
            <a:graphicFrameLocks noGrp="1"/>
          </p:cNvGraphicFramePr>
          <p:nvPr/>
        </p:nvGraphicFramePr>
        <p:xfrm>
          <a:off x="960120" y="2743200"/>
          <a:ext cx="4837176" cy="822960"/>
        </p:xfrm>
        <a:graphic>
          <a:graphicData uri="http://schemas.openxmlformats.org/drawingml/2006/table">
            <a:tbl>
              <a:tblPr firstRow="0" bandRow="0">
                <a:tableStyleId>{5940675A-B579-460E-94D1-54222C63F5DA}</a:tableStyleId>
              </a:tblPr>
              <a:tblGrid>
                <a:gridCol w="1463040"/>
                <a:gridCol w="1687068"/>
                <a:gridCol w="1687068"/>
              </a:tblGrid>
              <a:tr h="274320">
                <a:tc>
                  <a:txBody>
                    <a:bodyPr wrap="square"/>
                    <a:lstStyle/>
                    <a:p>
                      <a:r>
                        <a:rPr sz="1100" b="1" i="0">
                          <a:solidFill>
                            <a:srgbClr val="FFFFFF"/>
                          </a:solidFill>
                        </a:rPr>
                        <a:t>Window</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VaR 99%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ES 97.5%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274320">
                <a:tc>
                  <a:txBody>
                    <a:bodyPr wrap="square"/>
                    <a:lstStyle/>
                    <a:p>
                      <a:r>
                        <a:rPr sz="1100" b="1" i="0">
                          <a:solidFill>
                            <a:srgbClr val="8A1626"/>
                          </a:solidFill>
                        </a:rPr>
                        <a:t>all (509)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6th worst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mean of 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74320">
                <a:tc>
                  <a:txBody>
                    <a:bodyPr wrap="square"/>
                    <a:lstStyle/>
                    <a:p>
                      <a:r>
                        <a:rPr sz="1100" b="1" i="0">
                          <a:solidFill>
                            <a:srgbClr val="8A1626"/>
                          </a:solidFill>
                        </a:rPr>
                        <a:t>250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3rd worst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mean of 7</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30" name="Rectangle 29"/>
          <p:cNvSpPr/>
          <p:nvPr/>
        </p:nvSpPr>
        <p:spPr>
          <a:xfrm>
            <a:off x="6208776" y="1417320"/>
            <a:ext cx="5202936" cy="2286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ectangle 30"/>
          <p:cNvSpPr/>
          <p:nvPr/>
        </p:nvSpPr>
        <p:spPr>
          <a:xfrm>
            <a:off x="6208776" y="1417320"/>
            <a:ext cx="45720" cy="2286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391656" y="1490472"/>
            <a:ext cx="4928616" cy="1143000"/>
          </a:xfrm>
          <a:prstGeom prst="rect">
            <a:avLst/>
          </a:prstGeom>
          <a:noFill/>
        </p:spPr>
        <p:txBody>
          <a:bodyPr wrap="square" lIns="0" rIns="0" tIns="0" bIns="0" anchor="t">
            <a:spAutoFit/>
          </a:bodyPr>
          <a:lstStyle/>
          <a:p>
            <a:pPr algn="l">
              <a:spcAft>
                <a:spcPts val="300"/>
              </a:spcAft>
            </a:pPr>
            <a:r>
              <a:rPr sz="1350" b="1" i="0">
                <a:solidFill>
                  <a:srgbClr val="8A1626"/>
                </a:solidFill>
              </a:rPr>
              <a:t>Confidence</a:t>
            </a:r>
          </a:p>
          <a:p>
            <a:pPr algn="l">
              <a:spcAft>
                <a:spcPts val="400"/>
              </a:spcAft>
            </a:pPr>
            <a:r>
              <a:rPr sz="1050" b="1" i="0">
                <a:solidFill>
                  <a:srgbClr val="A51C30"/>
                </a:solidFill>
                <a:latin typeface="Courier New"/>
              </a:rPr>
              <a:t>DRISHTI_VAR_CONFIDENCE · DRISHTI_VAR_ES_CONFIDENCE</a:t>
            </a:r>
          </a:p>
          <a:p>
            <a:pPr algn="l"/>
            <a:r>
              <a:rPr sz="1150" b="0" i="0">
                <a:solidFill>
                  <a:srgbClr val="1A1A1A"/>
                </a:solidFill>
              </a:rPr>
              <a:t>VaR 99% by default, 95% by configuration; ES 97.5% by default; both also per request. Every label follows the answer (VaR 95% · 1 day). Backtesting stays at 99%.</a:t>
            </a:r>
          </a:p>
        </p:txBody>
      </p:sp>
      <p:graphicFrame>
        <p:nvGraphicFramePr>
          <p:cNvPr id="33" name="Table 32"/>
          <p:cNvGraphicFramePr>
            <a:graphicFrameLocks noGrp="1"/>
          </p:cNvGraphicFramePr>
          <p:nvPr/>
        </p:nvGraphicFramePr>
        <p:xfrm>
          <a:off x="6391656" y="2743200"/>
          <a:ext cx="4837176" cy="822960"/>
        </p:xfrm>
        <a:graphic>
          <a:graphicData uri="http://schemas.openxmlformats.org/drawingml/2006/table">
            <a:tbl>
              <a:tblPr firstRow="0" bandRow="0">
                <a:tableStyleId>{5940675A-B579-460E-94D1-54222C63F5DA}</a:tableStyleId>
              </a:tblPr>
              <a:tblGrid>
                <a:gridCol w="1463040"/>
                <a:gridCol w="1687068"/>
                <a:gridCol w="1687068"/>
              </a:tblGrid>
              <a:tr h="274320">
                <a:tc>
                  <a:txBody>
                    <a:bodyPr wrap="square"/>
                    <a:lstStyle/>
                    <a:p>
                      <a:r>
                        <a:rPr sz="1100" b="1" i="0">
                          <a:solidFill>
                            <a:srgbClr val="FFFFFF"/>
                          </a:solidFill>
                        </a:rPr>
                        <a:t>VaR at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509 days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250 days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274320">
                <a:tc>
                  <a:txBody>
                    <a:bodyPr wrap="square"/>
                    <a:lstStyle/>
                    <a:p>
                      <a:r>
                        <a:rPr sz="1100" b="1" i="0">
                          <a:solidFill>
                            <a:srgbClr val="8A1626"/>
                          </a:solidFill>
                        </a:rPr>
                        <a:t>99% (default)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6th worst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3rd worst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74320">
                <a:tc>
                  <a:txBody>
                    <a:bodyPr wrap="square"/>
                    <a:lstStyle/>
                    <a:p>
                      <a:r>
                        <a:rPr sz="1100" b="1" i="0">
                          <a:solidFill>
                            <a:srgbClr val="8A1626"/>
                          </a:solidFill>
                        </a:rPr>
                        <a:t>95%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26th worst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13th worst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34" name="Rectangle 33"/>
          <p:cNvSpPr/>
          <p:nvPr/>
        </p:nvSpPr>
        <p:spPr>
          <a:xfrm>
            <a:off x="777240" y="3813048"/>
            <a:ext cx="10634472" cy="56692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ectangle 34"/>
          <p:cNvSpPr/>
          <p:nvPr/>
        </p:nvSpPr>
        <p:spPr>
          <a:xfrm>
            <a:off x="777240" y="3813048"/>
            <a:ext cx="54864" cy="56692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1005840" y="3813048"/>
            <a:ext cx="10314432" cy="566928"/>
          </a:xfrm>
          <a:prstGeom prst="rect">
            <a:avLst/>
          </a:prstGeom>
          <a:noFill/>
        </p:spPr>
        <p:txBody>
          <a:bodyPr wrap="square" lIns="0" rIns="0" tIns="0" bIns="0" anchor="ctr">
            <a:spAutoFit/>
          </a:bodyPr>
          <a:lstStyle/>
          <a:p>
            <a:pPr algn="l"/>
            <a:r>
              <a:rPr sz="1250" b="1" i="0">
                <a:solidFill>
                  <a:srgbClr val="A51C30"/>
                </a:solidFill>
              </a:rPr>
              <a:t>Choosing the window  </a:t>
            </a:r>
            <a:r>
              <a:rPr sz="1150" b="0" i="0">
                <a:solidFill>
                  <a:srgbClr val="1A1A1A"/>
                </a:solidFill>
              </a:rPr>
              <a:t>banks typically use 1 year (≈ 250 days, the regulatory minimum) or 2 years (≈ 500). A shorter window reacts faster to new volatility; a longer one is steadier and keeps more stress days. Compare both with window= before changing the setting.</a:t>
            </a:r>
          </a:p>
        </p:txBody>
      </p:sp>
      <p:sp>
        <p:nvSpPr>
          <p:cNvPr id="37" name="Rectangle 36"/>
          <p:cNvSpPr/>
          <p:nvPr/>
        </p:nvSpPr>
        <p:spPr>
          <a:xfrm>
            <a:off x="777240" y="4489704"/>
            <a:ext cx="3422904" cy="1773935"/>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886968" y="4544568"/>
            <a:ext cx="3240024" cy="1682495"/>
          </a:xfrm>
          <a:prstGeom prst="rect">
            <a:avLst/>
          </a:prstGeom>
          <a:noFill/>
        </p:spPr>
        <p:txBody>
          <a:bodyPr wrap="square" lIns="0" rIns="0" tIns="0" bIns="0" anchor="t">
            <a:spAutoFit/>
          </a:bodyPr>
          <a:lstStyle/>
          <a:p>
            <a:pPr algn="l">
              <a:spcAft>
                <a:spcPts val="300"/>
              </a:spcAft>
            </a:pPr>
            <a:r>
              <a:rPr sz="1250" b="1" i="0">
                <a:solidFill>
                  <a:srgbClr val="8A1626"/>
                </a:solidFill>
              </a:rPr>
              <a:t>Currencies, built ahead</a:t>
            </a:r>
          </a:p>
          <a:p>
            <a:pPr algn="l"/>
            <a:r>
              <a:rPr sz="1000" b="1" i="0">
                <a:solidFill>
                  <a:srgbClr val="A51C30"/>
                </a:solidFill>
                <a:latin typeface="Courier New"/>
              </a:rPr>
              <a:t>drishti.var.currencies</a:t>
            </a:r>
          </a:p>
          <a:p>
            <a:pPr algn="l">
              <a:spcAft>
                <a:spcPts val="300"/>
              </a:spcAft>
            </a:pPr>
            <a:r>
              <a:rPr sz="1100" b="0" i="0">
                <a:solidFill>
                  <a:srgbClr val="4A5058"/>
                </a:solidFill>
              </a:rPr>
              <a:t>USD, EUR, CAD, JPY, GBP, built in the background after the USD book</a:t>
            </a:r>
          </a:p>
          <a:p>
            <a:pPr algn="l"/>
            <a:r>
              <a:rPr sz="1000" b="1" i="0">
                <a:solidFill>
                  <a:srgbClr val="A51C30"/>
                </a:solidFill>
                <a:latin typeface="Courier New"/>
              </a:rPr>
              <a:t>currency-retention-dates</a:t>
            </a:r>
          </a:p>
          <a:p>
            <a:pPr algn="l">
              <a:spcAft>
                <a:spcPts val="300"/>
              </a:spcAft>
            </a:pPr>
            <a:r>
              <a:rPr sz="1100" b="0" i="0">
                <a:solidFill>
                  <a:srgbClr val="4A5058"/>
                </a:solidFill>
              </a:rPr>
              <a:t>5: the newest dates kept; older ones built again on first ask</a:t>
            </a:r>
          </a:p>
        </p:txBody>
      </p:sp>
      <p:sp>
        <p:nvSpPr>
          <p:cNvPr id="39" name="Rectangle 38"/>
          <p:cNvSpPr/>
          <p:nvPr/>
        </p:nvSpPr>
        <p:spPr>
          <a:xfrm>
            <a:off x="4383024" y="4489704"/>
            <a:ext cx="3422904" cy="1773935"/>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4492752" y="4544568"/>
            <a:ext cx="3240024" cy="1682495"/>
          </a:xfrm>
          <a:prstGeom prst="rect">
            <a:avLst/>
          </a:prstGeom>
          <a:noFill/>
        </p:spPr>
        <p:txBody>
          <a:bodyPr wrap="square" lIns="0" rIns="0" tIns="0" bIns="0" anchor="t">
            <a:spAutoFit/>
          </a:bodyPr>
          <a:lstStyle/>
          <a:p>
            <a:pPr algn="l">
              <a:spcAft>
                <a:spcPts val="300"/>
              </a:spcAft>
            </a:pPr>
            <a:r>
              <a:rPr sz="1250" b="1" i="0">
                <a:solidFill>
                  <a:srgbClr val="8A1626"/>
                </a:solidFill>
              </a:rPr>
              <a:t>Names</a:t>
            </a:r>
          </a:p>
          <a:p>
            <a:pPr algn="l"/>
            <a:r>
              <a:rPr sz="1000" b="1" i="0">
                <a:solidFill>
                  <a:srgbClr val="A51C30"/>
                </a:solidFill>
                <a:latin typeface="Courier New"/>
              </a:rPr>
              <a:t>DRISHTI_VAR_ROOT_NAME</a:t>
            </a:r>
          </a:p>
          <a:p>
            <a:pPr algn="l">
              <a:spcAft>
                <a:spcPts val="300"/>
              </a:spcAft>
            </a:pPr>
            <a:r>
              <a:rPr sz="1100" b="0" i="0">
                <a:solidFill>
                  <a:srgbClr val="4A5058"/>
                </a:solidFill>
              </a:rPr>
              <a:t>the top of every VaR tree (root-names: per hierarchy)</a:t>
            </a:r>
          </a:p>
          <a:p>
            <a:pPr algn="l"/>
            <a:r>
              <a:rPr sz="1000" b="1" i="0">
                <a:solidFill>
                  <a:srgbClr val="A51C30"/>
                </a:solidFill>
                <a:latin typeface="Courier New"/>
              </a:rPr>
              <a:t>config/demo/names.yaml</a:t>
            </a:r>
          </a:p>
          <a:p>
            <a:pPr algn="l">
              <a:spcAft>
                <a:spcPts val="300"/>
              </a:spcAft>
            </a:pPr>
            <a:r>
              <a:rPr sz="1100" b="0" i="0">
                <a:solidFill>
                  <a:srgbClr val="4A5058"/>
                </a:solidFill>
              </a:rPr>
              <a:t>the demo's bank and legal-entity names</a:t>
            </a:r>
          </a:p>
        </p:txBody>
      </p:sp>
      <p:sp>
        <p:nvSpPr>
          <p:cNvPr id="41" name="Rectangle 40"/>
          <p:cNvSpPr/>
          <p:nvPr/>
        </p:nvSpPr>
        <p:spPr>
          <a:xfrm>
            <a:off x="7988808" y="4489704"/>
            <a:ext cx="3422904" cy="1773935"/>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8098536" y="4544568"/>
            <a:ext cx="3240024" cy="1682495"/>
          </a:xfrm>
          <a:prstGeom prst="rect">
            <a:avLst/>
          </a:prstGeom>
          <a:noFill/>
        </p:spPr>
        <p:txBody>
          <a:bodyPr wrap="square" lIns="0" rIns="0" tIns="0" bIns="0" anchor="t">
            <a:spAutoFit/>
          </a:bodyPr>
          <a:lstStyle/>
          <a:p>
            <a:pPr algn="l">
              <a:spcAft>
                <a:spcPts val="300"/>
              </a:spcAft>
            </a:pPr>
            <a:r>
              <a:rPr sz="1250" b="1" i="0">
                <a:solidFill>
                  <a:srgbClr val="8A1626"/>
                </a:solidFill>
              </a:rPr>
              <a:t>Inputs and intraday</a:t>
            </a:r>
          </a:p>
          <a:p>
            <a:pPr algn="l"/>
            <a:r>
              <a:rPr sz="1000" b="1" i="0">
                <a:solidFill>
                  <a:srgbClr val="A51C30"/>
                </a:solidFill>
                <a:latin typeface="Courier New"/>
              </a:rPr>
              <a:t>drishti.var.inputs</a:t>
            </a:r>
          </a:p>
          <a:p>
            <a:pPr algn="l">
              <a:spcAft>
                <a:spcPts val="300"/>
              </a:spcAft>
            </a:pPr>
            <a:r>
              <a:rPr sz="1100" b="0" i="0">
                <a:solidFill>
                  <a:srgbClr val="4A5058"/>
                </a:solidFill>
              </a:rPr>
              <a:t>optional pin per source system: form and grain</a:t>
            </a:r>
          </a:p>
          <a:p>
            <a:pPr algn="l"/>
            <a:r>
              <a:rPr sz="1000" b="1" i="0">
                <a:solidFill>
                  <a:srgbClr val="A51C30"/>
                </a:solidFill>
                <a:latin typeface="Courier New"/>
              </a:rPr>
              <a:t>intraday.kafka.window</a:t>
            </a:r>
          </a:p>
          <a:p>
            <a:pPr algn="l">
              <a:spcAft>
                <a:spcPts val="300"/>
              </a:spcAft>
            </a:pPr>
            <a:r>
              <a:rPr sz="1100" b="0" i="0">
                <a:solidFill>
                  <a:srgbClr val="4A5058"/>
                </a:solidFill>
              </a:rPr>
              <a:t>5m; early flush at max-trades (500)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ARCHITECTURE AND DATA FLOW</a:t>
            </a:r>
          </a:p>
        </p:txBody>
      </p:sp>
      <p:sp>
        <p:nvSpPr>
          <p:cNvPr id="3" name="Title 2"/>
          <p:cNvSpPr>
            <a:spLocks noGrp="1"/>
          </p:cNvSpPr>
          <p:nvPr>
            <p:ph type="title" idx="104"/>
          </p:nvPr>
        </p:nvSpPr>
        <p:spPr/>
        <p:txBody>
          <a:bodyPr/>
          <a:lstStyle/>
          <a:p>
            <a:r>
              <a:t>From the pricing systems to every screen, in one direction</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TextBox 25"/>
          <p:cNvSpPr txBox="1"/>
          <p:nvPr/>
        </p:nvSpPr>
        <p:spPr>
          <a:xfrm>
            <a:off x="777240" y="1389888"/>
            <a:ext cx="1920240" cy="237744"/>
          </a:xfrm>
          <a:prstGeom prst="rect">
            <a:avLst/>
          </a:prstGeom>
          <a:noFill/>
        </p:spPr>
        <p:txBody>
          <a:bodyPr wrap="square" lIns="0" rIns="0" tIns="0" bIns="0" anchor="ctr">
            <a:spAutoFit/>
          </a:bodyPr>
          <a:lstStyle/>
          <a:p>
            <a:pPr algn="l"/>
            <a:r>
              <a:rPr sz="1050" b="1" i="0">
                <a:solidFill>
                  <a:srgbClr val="A51C30"/>
                </a:solidFill>
              </a:rPr>
              <a:t>1 · SOURCES</a:t>
            </a:r>
          </a:p>
        </p:txBody>
      </p:sp>
      <p:sp>
        <p:nvSpPr>
          <p:cNvPr id="27" name="TextBox 26"/>
          <p:cNvSpPr txBox="1"/>
          <p:nvPr/>
        </p:nvSpPr>
        <p:spPr>
          <a:xfrm>
            <a:off x="2990088" y="1389888"/>
            <a:ext cx="1920240" cy="237744"/>
          </a:xfrm>
          <a:prstGeom prst="rect">
            <a:avLst/>
          </a:prstGeom>
          <a:noFill/>
        </p:spPr>
        <p:txBody>
          <a:bodyPr wrap="square" lIns="0" rIns="0" tIns="0" bIns="0" anchor="ctr">
            <a:spAutoFit/>
          </a:bodyPr>
          <a:lstStyle/>
          <a:p>
            <a:pPr algn="l"/>
            <a:r>
              <a:rPr sz="1050" b="1" i="0">
                <a:solidFill>
                  <a:srgbClr val="A51C30"/>
                </a:solidFill>
              </a:rPr>
              <a:t>2 · THE LAKE (DELTA)</a:t>
            </a:r>
          </a:p>
        </p:txBody>
      </p:sp>
      <p:sp>
        <p:nvSpPr>
          <p:cNvPr id="28" name="TextBox 27"/>
          <p:cNvSpPr txBox="1"/>
          <p:nvPr/>
        </p:nvSpPr>
        <p:spPr>
          <a:xfrm>
            <a:off x="5202936" y="1389888"/>
            <a:ext cx="2011680" cy="237744"/>
          </a:xfrm>
          <a:prstGeom prst="rect">
            <a:avLst/>
          </a:prstGeom>
          <a:noFill/>
        </p:spPr>
        <p:txBody>
          <a:bodyPr wrap="square" lIns="0" rIns="0" tIns="0" bIns="0" anchor="ctr">
            <a:spAutoFit/>
          </a:bodyPr>
          <a:lstStyle/>
          <a:p>
            <a:pPr algn="l"/>
            <a:r>
              <a:rPr sz="1050" b="1" i="0">
                <a:solidFill>
                  <a:srgbClr val="A51C30"/>
                </a:solidFill>
              </a:rPr>
              <a:t>3 · LOAD AND CONVERT</a:t>
            </a:r>
          </a:p>
        </p:txBody>
      </p:sp>
      <p:sp>
        <p:nvSpPr>
          <p:cNvPr id="29" name="TextBox 28"/>
          <p:cNvSpPr txBox="1"/>
          <p:nvPr/>
        </p:nvSpPr>
        <p:spPr>
          <a:xfrm>
            <a:off x="7507224" y="1389888"/>
            <a:ext cx="2011680" cy="237744"/>
          </a:xfrm>
          <a:prstGeom prst="rect">
            <a:avLst/>
          </a:prstGeom>
          <a:noFill/>
        </p:spPr>
        <p:txBody>
          <a:bodyPr wrap="square" lIns="0" rIns="0" tIns="0" bIns="0" anchor="ctr">
            <a:spAutoFit/>
          </a:bodyPr>
          <a:lstStyle/>
          <a:p>
            <a:pPr algn="l"/>
            <a:r>
              <a:rPr sz="1050" b="1" i="0">
                <a:solidFill>
                  <a:srgbClr val="A51C30"/>
                </a:solidFill>
              </a:rPr>
              <a:t>4 · THE ENGINE, ONE DATE</a:t>
            </a:r>
          </a:p>
        </p:txBody>
      </p:sp>
      <p:sp>
        <p:nvSpPr>
          <p:cNvPr id="30" name="TextBox 29"/>
          <p:cNvSpPr txBox="1"/>
          <p:nvPr/>
        </p:nvSpPr>
        <p:spPr>
          <a:xfrm>
            <a:off x="9811512" y="1389888"/>
            <a:ext cx="1600200" cy="237744"/>
          </a:xfrm>
          <a:prstGeom prst="rect">
            <a:avLst/>
          </a:prstGeom>
          <a:noFill/>
        </p:spPr>
        <p:txBody>
          <a:bodyPr wrap="square" lIns="0" rIns="0" tIns="0" bIns="0" anchor="ctr">
            <a:spAutoFit/>
          </a:bodyPr>
          <a:lstStyle/>
          <a:p>
            <a:pPr algn="l"/>
            <a:r>
              <a:rPr sz="1050" b="1" i="0">
                <a:solidFill>
                  <a:srgbClr val="A51C30"/>
                </a:solidFill>
              </a:rPr>
              <a:t>5 · WHO READS IT</a:t>
            </a:r>
          </a:p>
        </p:txBody>
      </p:sp>
      <p:sp>
        <p:nvSpPr>
          <p:cNvPr id="31" name="Rectangle 30"/>
          <p:cNvSpPr/>
          <p:nvPr/>
        </p:nvSpPr>
        <p:spPr>
          <a:xfrm>
            <a:off x="777240" y="1691640"/>
            <a:ext cx="1920240" cy="128016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868680" y="1755648"/>
            <a:ext cx="1755648" cy="1188719"/>
          </a:xfrm>
          <a:prstGeom prst="rect">
            <a:avLst/>
          </a:prstGeom>
          <a:noFill/>
        </p:spPr>
        <p:txBody>
          <a:bodyPr wrap="square" lIns="0" rIns="0" tIns="0" bIns="0" anchor="t">
            <a:spAutoFit/>
          </a:bodyPr>
          <a:lstStyle/>
          <a:p>
            <a:pPr algn="l">
              <a:spcAft>
                <a:spcPts val="200"/>
              </a:spcAft>
            </a:pPr>
            <a:r>
              <a:rPr sz="1200" b="1" i="0">
                <a:solidFill>
                  <a:srgbClr val="8A1626"/>
                </a:solidFill>
              </a:rPr>
              <a:t>Morning run · full</a:t>
            </a:r>
          </a:p>
          <a:p>
            <a:pPr algn="l">
              <a:spcAft>
                <a:spcPts val="100"/>
              </a:spcAft>
            </a:pPr>
            <a:r>
              <a:rPr sz="1000" b="0" i="0">
                <a:solidFill>
                  <a:srgbClr val="4A5058"/>
                </a:solidFill>
              </a:rPr>
              <a:t>Any native currency, JSONL:</a:t>
            </a:r>
          </a:p>
        </p:txBody>
      </p:sp>
      <p:sp>
        <p:nvSpPr>
          <p:cNvPr id="33" name="Rectangle 32"/>
          <p:cNvSpPr/>
          <p:nvPr/>
        </p:nvSpPr>
        <p:spPr>
          <a:xfrm>
            <a:off x="850392" y="2331720"/>
            <a:ext cx="868680" cy="246888"/>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50" b="1" i="0">
                <a:solidFill>
                  <a:srgbClr val="8A1626"/>
                </a:solidFill>
              </a:rPr>
              <a:t>PV · trade</a:t>
            </a:r>
          </a:p>
        </p:txBody>
      </p:sp>
      <p:sp>
        <p:nvSpPr>
          <p:cNvPr id="34" name="Rectangle 33"/>
          <p:cNvSpPr/>
          <p:nvPr/>
        </p:nvSpPr>
        <p:spPr>
          <a:xfrm>
            <a:off x="1755648" y="2331720"/>
            <a:ext cx="868680" cy="246888"/>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50" b="1" i="0">
                <a:solidFill>
                  <a:srgbClr val="8A1626"/>
                </a:solidFill>
              </a:rPr>
              <a:t>PV · position</a:t>
            </a:r>
          </a:p>
        </p:txBody>
      </p:sp>
      <p:sp>
        <p:nvSpPr>
          <p:cNvPr id="35" name="Rectangle 34"/>
          <p:cNvSpPr/>
          <p:nvPr/>
        </p:nvSpPr>
        <p:spPr>
          <a:xfrm>
            <a:off x="850392" y="2633472"/>
            <a:ext cx="868680" cy="246888"/>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50" b="1" i="0">
                <a:solidFill>
                  <a:srgbClr val="8A1626"/>
                </a:solidFill>
              </a:rPr>
              <a:t>P&amp;L · trade</a:t>
            </a:r>
          </a:p>
        </p:txBody>
      </p:sp>
      <p:sp>
        <p:nvSpPr>
          <p:cNvPr id="36" name="Rectangle 35"/>
          <p:cNvSpPr/>
          <p:nvPr/>
        </p:nvSpPr>
        <p:spPr>
          <a:xfrm>
            <a:off x="1755648" y="2633472"/>
            <a:ext cx="868680" cy="246888"/>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50" b="1" i="0">
                <a:solidFill>
                  <a:srgbClr val="8A1626"/>
                </a:solidFill>
              </a:rPr>
              <a:t>P&amp;L · position</a:t>
            </a:r>
          </a:p>
        </p:txBody>
      </p:sp>
      <p:sp>
        <p:nvSpPr>
          <p:cNvPr id="37" name="Rectangle 36"/>
          <p:cNvSpPr/>
          <p:nvPr/>
        </p:nvSpPr>
        <p:spPr>
          <a:xfrm>
            <a:off x="777240" y="3081528"/>
            <a:ext cx="1920240" cy="868680"/>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868680" y="3145536"/>
            <a:ext cx="1755648" cy="777240"/>
          </a:xfrm>
          <a:prstGeom prst="rect">
            <a:avLst/>
          </a:prstGeom>
          <a:noFill/>
        </p:spPr>
        <p:txBody>
          <a:bodyPr wrap="square" lIns="0" rIns="0" tIns="0" bIns="0" anchor="t">
            <a:spAutoFit/>
          </a:bodyPr>
          <a:lstStyle/>
          <a:p>
            <a:pPr algn="l">
              <a:spcAft>
                <a:spcPts val="200"/>
              </a:spcAft>
            </a:pPr>
            <a:r>
              <a:rPr sz="1200" b="1" i="0">
                <a:solidFill>
                  <a:srgbClr val="8A1626"/>
                </a:solidFill>
              </a:rPr>
              <a:t>Reference inputs</a:t>
            </a:r>
          </a:p>
          <a:p>
            <a:pPr algn="l">
              <a:spcAft>
                <a:spcPts val="100"/>
              </a:spcAft>
            </a:pPr>
            <a:r>
              <a:rPr sz="1050" b="0" i="0">
                <a:solidFill>
                  <a:srgbClr val="4A5058"/>
                </a:solidFill>
              </a:rPr>
              <a:t>Scenario set · hierarchies and limits · portfolios · scenario FX</a:t>
            </a:r>
          </a:p>
        </p:txBody>
      </p:sp>
      <p:sp>
        <p:nvSpPr>
          <p:cNvPr id="39" name="Rectangle 38"/>
          <p:cNvSpPr/>
          <p:nvPr/>
        </p:nvSpPr>
        <p:spPr>
          <a:xfrm>
            <a:off x="777240" y="4059936"/>
            <a:ext cx="1920240" cy="1197864"/>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868680" y="4123944"/>
            <a:ext cx="1755648" cy="1106424"/>
          </a:xfrm>
          <a:prstGeom prst="rect">
            <a:avLst/>
          </a:prstGeom>
          <a:noFill/>
        </p:spPr>
        <p:txBody>
          <a:bodyPr wrap="square" lIns="0" rIns="0" tIns="0" bIns="0" anchor="t">
            <a:spAutoFit/>
          </a:bodyPr>
          <a:lstStyle/>
          <a:p>
            <a:pPr algn="l">
              <a:spcAft>
                <a:spcPts val="200"/>
              </a:spcAft>
            </a:pPr>
            <a:r>
              <a:rPr sz="1200" b="1" i="0">
                <a:solidFill>
                  <a:srgbClr val="8A1626"/>
                </a:solidFill>
              </a:rPr>
              <a:t>During the day</a:t>
            </a:r>
          </a:p>
          <a:p>
            <a:pPr algn="l">
              <a:spcAft>
                <a:spcPts val="100"/>
              </a:spcAft>
            </a:pPr>
            <a:r>
              <a:rPr sz="1050" b="0" i="0">
                <a:solidFill>
                  <a:srgbClr val="4A5058"/>
                </a:solidFill>
              </a:rPr>
              <a:t>Changed trades only (RUN_KIND INTRADAY): small JSONL files, or a Kafka PV topic, 5-min micro-batches</a:t>
            </a:r>
          </a:p>
        </p:txBody>
      </p:sp>
      <p:sp>
        <p:nvSpPr>
          <p:cNvPr id="41" name="Rounded Rectangle 40"/>
          <p:cNvSpPr/>
          <p:nvPr/>
        </p:nvSpPr>
        <p:spPr>
          <a:xfrm>
            <a:off x="886968" y="4983480"/>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42" name="TextBox 41"/>
          <p:cNvSpPr txBox="1"/>
          <p:nvPr/>
        </p:nvSpPr>
        <p:spPr>
          <a:xfrm>
            <a:off x="1421892" y="4983480"/>
            <a:ext cx="731520" cy="201168"/>
          </a:xfrm>
          <a:prstGeom prst="rect">
            <a:avLst/>
          </a:prstGeom>
          <a:noFill/>
        </p:spPr>
        <p:txBody>
          <a:bodyPr wrap="square" lIns="0" rIns="0" tIns="0" bIns="0" anchor="ctr">
            <a:spAutoFit/>
          </a:bodyPr>
          <a:lstStyle/>
          <a:p>
            <a:pPr algn="l"/>
            <a:r>
              <a:rPr sz="1000" b="1" i="0">
                <a:solidFill>
                  <a:srgbClr val="293352"/>
                </a:solidFill>
              </a:rPr>
              <a:t>Kafka</a:t>
            </a:r>
          </a:p>
        </p:txBody>
      </p:sp>
      <p:sp>
        <p:nvSpPr>
          <p:cNvPr id="43" name="Rectangle 42"/>
          <p:cNvSpPr/>
          <p:nvPr/>
        </p:nvSpPr>
        <p:spPr>
          <a:xfrm>
            <a:off x="2990088" y="1691640"/>
            <a:ext cx="1920240" cy="2880360"/>
          </a:xfrm>
          <a:prstGeom prst="rect">
            <a:avLst/>
          </a:prstGeom>
          <a:solidFill>
            <a:srgbClr val="F7F5F2"/>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3081528" y="1755648"/>
            <a:ext cx="1783080" cy="274320"/>
          </a:xfrm>
          <a:prstGeom prst="rect">
            <a:avLst/>
          </a:prstGeom>
          <a:noFill/>
        </p:spPr>
        <p:txBody>
          <a:bodyPr wrap="square" lIns="0" rIns="0" tIns="0" bIns="0" anchor="t">
            <a:spAutoFit/>
          </a:bodyPr>
          <a:lstStyle/>
          <a:p>
            <a:pPr algn="l"/>
            <a:r>
              <a:rPr sz="1200" b="1" i="0">
                <a:solidFill>
                  <a:srgbClr val="8A1626"/>
                </a:solidFill>
              </a:rPr>
              <a:t>Delta · domain risk</a:t>
            </a:r>
          </a:p>
        </p:txBody>
      </p:sp>
      <p:sp>
        <p:nvSpPr>
          <p:cNvPr id="45" name="Rectangle 44"/>
          <p:cNvSpPr/>
          <p:nvPr/>
        </p:nvSpPr>
        <p:spPr>
          <a:xfrm>
            <a:off x="3127248" y="2075688"/>
            <a:ext cx="1645920" cy="2286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36576" tIns="0" bIns="0" wrap="square"/>
          <a:lstStyle/>
          <a:p>
            <a:pPr algn="l"/>
            <a:r>
              <a:rPr sz="1000" b="0" i="0">
                <a:solidFill>
                  <a:srgbClr val="1A1A1A"/>
                </a:solidFill>
                <a:latin typeface="Courier New"/>
              </a:rPr>
              <a:t>scenario-pv</a:t>
            </a:r>
          </a:p>
        </p:txBody>
      </p:sp>
      <p:sp>
        <p:nvSpPr>
          <p:cNvPr id="46" name="Rectangle 45"/>
          <p:cNvSpPr/>
          <p:nvPr/>
        </p:nvSpPr>
        <p:spPr>
          <a:xfrm>
            <a:off x="3127248" y="2350008"/>
            <a:ext cx="1645920" cy="2286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36576" tIns="0" bIns="0" wrap="square"/>
          <a:lstStyle/>
          <a:p>
            <a:pPr algn="l"/>
            <a:r>
              <a:rPr sz="1000" b="0" i="0">
                <a:solidFill>
                  <a:srgbClr val="1A1A1A"/>
                </a:solidFill>
                <a:latin typeface="Courier New"/>
              </a:rPr>
              <a:t>pnl-vector</a:t>
            </a:r>
          </a:p>
        </p:txBody>
      </p:sp>
      <p:sp>
        <p:nvSpPr>
          <p:cNvPr id="47" name="Rectangle 46"/>
          <p:cNvSpPr/>
          <p:nvPr/>
        </p:nvSpPr>
        <p:spPr>
          <a:xfrm>
            <a:off x="3127248" y="2624328"/>
            <a:ext cx="1645920" cy="2286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36576" tIns="0" bIns="0" wrap="square"/>
          <a:lstStyle/>
          <a:p>
            <a:pPr algn="l"/>
            <a:r>
              <a:rPr sz="1000" b="0" i="0">
                <a:solidFill>
                  <a:srgbClr val="1A1A1A"/>
                </a:solidFill>
                <a:latin typeface="Courier New"/>
              </a:rPr>
              <a:t>fx-scenario</a:t>
            </a:r>
          </a:p>
        </p:txBody>
      </p:sp>
      <p:sp>
        <p:nvSpPr>
          <p:cNvPr id="48" name="Rectangle 47"/>
          <p:cNvSpPr/>
          <p:nvPr/>
        </p:nvSpPr>
        <p:spPr>
          <a:xfrm>
            <a:off x="3127248" y="2898648"/>
            <a:ext cx="1645920" cy="2286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36576" tIns="0" bIns="0" wrap="square"/>
          <a:lstStyle/>
          <a:p>
            <a:pPr algn="l"/>
            <a:r>
              <a:rPr sz="1000" b="0" i="0">
                <a:solidFill>
                  <a:srgbClr val="1A1A1A"/>
                </a:solidFill>
                <a:latin typeface="Courier New"/>
              </a:rPr>
              <a:t>scenario-set</a:t>
            </a:r>
          </a:p>
        </p:txBody>
      </p:sp>
      <p:sp>
        <p:nvSpPr>
          <p:cNvPr id="49" name="Rectangle 48"/>
          <p:cNvSpPr/>
          <p:nvPr/>
        </p:nvSpPr>
        <p:spPr>
          <a:xfrm>
            <a:off x="3127248" y="3172968"/>
            <a:ext cx="1645920" cy="2286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36576" tIns="0" bIns="0" wrap="square"/>
          <a:lstStyle/>
          <a:p>
            <a:pPr algn="l"/>
            <a:r>
              <a:rPr sz="1000" b="0" i="0">
                <a:solidFill>
                  <a:srgbClr val="1A1A1A"/>
                </a:solidFill>
                <a:latin typeface="Courier New"/>
              </a:rPr>
              <a:t>risk-hierarchy</a:t>
            </a:r>
          </a:p>
        </p:txBody>
      </p:sp>
      <p:sp>
        <p:nvSpPr>
          <p:cNvPr id="50" name="Rectangle 49"/>
          <p:cNvSpPr/>
          <p:nvPr/>
        </p:nvSpPr>
        <p:spPr>
          <a:xfrm>
            <a:off x="3127248" y="3447288"/>
            <a:ext cx="1645920" cy="2286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73152" rIns="36576" tIns="0" bIns="0" wrap="square"/>
          <a:lstStyle/>
          <a:p>
            <a:pPr algn="l"/>
            <a:r>
              <a:rPr sz="1000" b="0" i="0">
                <a:solidFill>
                  <a:srgbClr val="1A1A1A"/>
                </a:solidFill>
                <a:latin typeface="Courier New"/>
              </a:rPr>
              <a:t>portfolio</a:t>
            </a:r>
          </a:p>
        </p:txBody>
      </p:sp>
      <p:sp>
        <p:nvSpPr>
          <p:cNvPr id="51" name="TextBox 50"/>
          <p:cNvSpPr txBox="1"/>
          <p:nvPr/>
        </p:nvSpPr>
        <p:spPr>
          <a:xfrm>
            <a:off x="3081528" y="3767328"/>
            <a:ext cx="1783080" cy="777240"/>
          </a:xfrm>
          <a:prstGeom prst="rect">
            <a:avLst/>
          </a:prstGeom>
          <a:noFill/>
        </p:spPr>
        <p:txBody>
          <a:bodyPr wrap="square" lIns="0" rIns="0" tIns="0" bIns="0" anchor="t">
            <a:spAutoFit/>
          </a:bodyPr>
          <a:lstStyle/>
          <a:p>
            <a:pPr algn="l"/>
            <a:r>
              <a:rPr sz="1000" b="0" i="0">
                <a:solidFill>
                  <a:srgbClr val="4A5058"/>
                </a:solidFill>
              </a:rPr>
              <a:t>business_date partitions · intraday batches appended · 7 years of time travel · rows checked at lake build</a:t>
            </a:r>
          </a:p>
        </p:txBody>
      </p:sp>
      <p:sp>
        <p:nvSpPr>
          <p:cNvPr id="52" name="Rectangle 51"/>
          <p:cNvSpPr/>
          <p:nvPr/>
        </p:nvSpPr>
        <p:spPr>
          <a:xfrm>
            <a:off x="2990088" y="4709160"/>
            <a:ext cx="1920240" cy="1097280"/>
          </a:xfrm>
          <a:prstGeom prst="rect">
            <a:avLst/>
          </a:prstGeom>
          <a:solidFill>
            <a:srgbClr val="F7F5F2"/>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3081528" y="4773168"/>
            <a:ext cx="1755648" cy="1005839"/>
          </a:xfrm>
          <a:prstGeom prst="rect">
            <a:avLst/>
          </a:prstGeom>
          <a:noFill/>
        </p:spPr>
        <p:txBody>
          <a:bodyPr wrap="square" lIns="0" rIns="0" tIns="0" bIns="0" anchor="t">
            <a:spAutoFit/>
          </a:bodyPr>
          <a:lstStyle/>
          <a:p>
            <a:pPr algn="l">
              <a:spcAft>
                <a:spcPts val="200"/>
              </a:spcAft>
            </a:pPr>
            <a:r>
              <a:rPr sz="1200" b="1" i="0">
                <a:solidFill>
                  <a:srgbClr val="8A1626"/>
                </a:solidFill>
              </a:rPr>
              <a:t>risk-results</a:t>
            </a:r>
          </a:p>
          <a:p>
            <a:pPr algn="l">
              <a:spcAft>
                <a:spcPts val="100"/>
              </a:spcAft>
            </a:pPr>
            <a:r>
              <a:rPr sz="1050" b="0" i="0">
                <a:solidFill>
                  <a:srgbClr val="4A5058"/>
                </a:solidFill>
              </a:rPr>
              <a:t>var-official: append-only Delta, JSONL beside it; BI reads it (VOFF)</a:t>
            </a:r>
          </a:p>
        </p:txBody>
      </p:sp>
      <p:sp>
        <p:nvSpPr>
          <p:cNvPr id="54" name="Rectangle 53"/>
          <p:cNvSpPr/>
          <p:nvPr/>
        </p:nvSpPr>
        <p:spPr>
          <a:xfrm>
            <a:off x="5202936" y="1691640"/>
            <a:ext cx="2011680" cy="2468880"/>
          </a:xfrm>
          <a:prstGeom prst="rect">
            <a:avLst/>
          </a:prstGeom>
          <a:solidFill>
            <a:srgbClr val="F6E6E9"/>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5294376" y="1755648"/>
            <a:ext cx="1847088" cy="2377440"/>
          </a:xfrm>
          <a:prstGeom prst="rect">
            <a:avLst/>
          </a:prstGeom>
          <a:noFill/>
        </p:spPr>
        <p:txBody>
          <a:bodyPr wrap="square" lIns="0" rIns="0" tIns="0" bIns="0" anchor="t">
            <a:spAutoFit/>
          </a:bodyPr>
          <a:lstStyle/>
          <a:p>
            <a:pPr algn="l">
              <a:spcAft>
                <a:spcPts val="300"/>
              </a:spcAft>
            </a:pPr>
            <a:r>
              <a:rPr sz="1200" b="1" i="0">
                <a:solidFill>
                  <a:srgbClr val="8A1626"/>
                </a:solidFill>
              </a:rPr>
              <a:t>VarIntake → VarLoader</a:t>
            </a:r>
          </a:p>
          <a:p>
            <a:pPr algn="l" marL="146304" indent="-146304">
              <a:spcAft>
                <a:spcPts val="200"/>
              </a:spcAft>
              <a:buClr>
                <a:srgbClr val="A51C30"/>
              </a:buClr>
              <a:buSzPct val="100000"/>
              <a:buFont typeface="Arial"/>
              <a:buChar char="▪"/>
            </a:pPr>
            <a:r>
              <a:rPr sz="1050" b="1" i="0">
                <a:solidFill>
                  <a:srgbClr val="8A1626"/>
                </a:solidFill>
              </a:rPr>
              <a:t>Four input types → one internal form: a USD P&amp;L vector per row</a:t>
            </a:r>
          </a:p>
          <a:p>
            <a:pPr algn="l" marL="146304" indent="-146304">
              <a:spcAft>
                <a:spcPts val="200"/>
              </a:spcAft>
              <a:buClr>
                <a:srgbClr val="A51C30"/>
              </a:buClr>
              <a:buSzPct val="100000"/>
              <a:buFont typeface="Arial"/>
              <a:buChar char="▪"/>
            </a:pPr>
            <a:r>
              <a:rPr sz="1050" b="0" i="0">
                <a:solidFill>
                  <a:srgbClr val="1A1A1A"/>
                </a:solidFill>
              </a:rPr>
              <a:t>Every row checked; refusals named (DRS-…)</a:t>
            </a:r>
          </a:p>
          <a:p>
            <a:pPr algn="l" marL="146304" indent="-146304">
              <a:spcAft>
                <a:spcPts val="200"/>
              </a:spcAft>
              <a:buClr>
                <a:srgbClr val="A51C30"/>
              </a:buClr>
              <a:buSzPct val="100000"/>
              <a:buFont typeface="Arial"/>
              <a:buChar char="▪"/>
            </a:pPr>
            <a:r>
              <a:rPr sz="1050" b="0" i="0">
                <a:solidFill>
                  <a:srgbClr val="1A1A1A"/>
                </a:solidFill>
              </a:rPr>
              <a:t>PV → USD P&amp;L: </a:t>
            </a:r>
            <a:r>
              <a:rPr sz="950" b="0" i="0">
                <a:solidFill>
                  <a:srgbClr val="8A1626"/>
                </a:solidFill>
                <a:latin typeface="Courier New"/>
              </a:rPr>
              <a:t>PV(s)·FX(s) − PV(b)·FX(b)</a:t>
            </a:r>
          </a:p>
          <a:p>
            <a:pPr algn="l" marL="146304" indent="-146304">
              <a:spcAft>
                <a:spcPts val="200"/>
              </a:spcAft>
              <a:buClr>
                <a:srgbClr val="A51C30"/>
              </a:buClr>
              <a:buSzPct val="100000"/>
              <a:buFont typeface="Arial"/>
              <a:buChar char="▪"/>
            </a:pPr>
            <a:r>
              <a:rPr sz="1050" b="0" i="0">
                <a:solidFill>
                  <a:srgbClr val="1A1A1A"/>
                </a:solidFill>
              </a:rPr>
              <a:t>FX supplied or derived, via USD; positions by the pack's rules</a:t>
            </a:r>
          </a:p>
          <a:p>
            <a:pPr algn="l" marL="146304" indent="-146304">
              <a:buClr>
                <a:srgbClr val="A51C30"/>
              </a:buClr>
              <a:buSzPct val="100000"/>
              <a:buFont typeface="Arial"/>
              <a:buChar char="▪"/>
            </a:pPr>
            <a:r>
              <a:rPr sz="1050" b="0" i="0">
                <a:solidFill>
                  <a:srgbClr val="1A1A1A"/>
                </a:solidFill>
              </a:rPr>
              <a:t>Hierarchy order; every node summed in float64</a:t>
            </a:r>
          </a:p>
        </p:txBody>
      </p:sp>
      <p:sp>
        <p:nvSpPr>
          <p:cNvPr id="56" name="Rectangle 55"/>
          <p:cNvSpPr/>
          <p:nvPr/>
        </p:nvSpPr>
        <p:spPr>
          <a:xfrm>
            <a:off x="5202936" y="4297680"/>
            <a:ext cx="2011680" cy="868680"/>
          </a:xfrm>
          <a:prstGeom prst="rect">
            <a:avLst/>
          </a:prstGeom>
          <a:solidFill>
            <a:srgbClr val="F6E6E9"/>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xtBox 56"/>
          <p:cNvSpPr txBox="1"/>
          <p:nvPr/>
        </p:nvSpPr>
        <p:spPr>
          <a:xfrm>
            <a:off x="5294376" y="4361688"/>
            <a:ext cx="1847088" cy="777240"/>
          </a:xfrm>
          <a:prstGeom prst="rect">
            <a:avLst/>
          </a:prstGeom>
          <a:noFill/>
        </p:spPr>
        <p:txBody>
          <a:bodyPr wrap="square" lIns="0" rIns="0" tIns="0" bIns="0" anchor="t">
            <a:spAutoFit/>
          </a:bodyPr>
          <a:lstStyle/>
          <a:p>
            <a:pPr algn="l">
              <a:spcAft>
                <a:spcPts val="200"/>
              </a:spcAft>
            </a:pPr>
            <a:r>
              <a:rPr sz="1200" b="1" i="0">
                <a:solidFill>
                  <a:srgbClr val="8A1626"/>
                </a:solidFill>
              </a:rPr>
              <a:t>Intraday apply</a:t>
            </a:r>
          </a:p>
          <a:p>
            <a:pPr algn="l">
              <a:spcAft>
                <a:spcPts val="100"/>
              </a:spcAft>
            </a:pPr>
            <a:r>
              <a:rPr sz="1050" b="0" i="0">
                <a:solidFill>
                  <a:srgbClr val="4A5058"/>
                </a:solidFill>
              </a:rPr>
              <a:t>Latest COMPUTED_AT per trade wins; no reload of the date</a:t>
            </a:r>
          </a:p>
        </p:txBody>
      </p:sp>
      <p:sp>
        <p:nvSpPr>
          <p:cNvPr id="58" name="Rectangle 57"/>
          <p:cNvSpPr/>
          <p:nvPr/>
        </p:nvSpPr>
        <p:spPr>
          <a:xfrm>
            <a:off x="7507224" y="1691640"/>
            <a:ext cx="2011680" cy="1371600"/>
          </a:xfrm>
          <a:prstGeom prst="rect">
            <a:avLst/>
          </a:prstGeom>
          <a:solidFill>
            <a:srgbClr val="F7F5F2"/>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7598664" y="1755648"/>
            <a:ext cx="1847088" cy="1280160"/>
          </a:xfrm>
          <a:prstGeom prst="rect">
            <a:avLst/>
          </a:prstGeom>
          <a:noFill/>
        </p:spPr>
        <p:txBody>
          <a:bodyPr wrap="square" lIns="0" rIns="0" tIns="0" bIns="0" anchor="t">
            <a:spAutoFit/>
          </a:bodyPr>
          <a:lstStyle/>
          <a:p>
            <a:pPr algn="l">
              <a:spcAft>
                <a:spcPts val="200"/>
              </a:spcAft>
            </a:pPr>
            <a:r>
              <a:rPr sz="1200" b="1" i="0">
                <a:solidFill>
                  <a:srgbClr val="8A1626"/>
                </a:solidFill>
              </a:rPr>
              <a:t>VarBook, tiered memory</a:t>
            </a:r>
          </a:p>
          <a:p>
            <a:pPr algn="l">
              <a:spcAft>
                <a:spcPts val="100"/>
              </a:spcAft>
            </a:pPr>
            <a:r>
              <a:rPr sz="1000" b="0" i="0">
                <a:solidFill>
                  <a:srgbClr val="4A5058"/>
                </a:solidFill>
              </a:rPr>
              <a:t>Hot file per date, mapped: float32 position rows, float64 node aggregates, per-trade-currency totals</a:t>
            </a:r>
          </a:p>
          <a:p>
            <a:pPr algn="l">
              <a:spcAft>
                <a:spcPts val="100"/>
              </a:spcAft>
            </a:pPr>
            <a:r>
              <a:rPr sz="1000" b="0" i="0">
                <a:solidFill>
                  <a:srgbClr val="4A5058"/>
                </a:solidFill>
              </a:rPr>
              <a:t>USD, EUR, CAD, JPY, GBP built ahead</a:t>
            </a:r>
          </a:p>
        </p:txBody>
      </p:sp>
      <p:sp>
        <p:nvSpPr>
          <p:cNvPr id="60" name="Rectangle 59"/>
          <p:cNvSpPr/>
          <p:nvPr/>
        </p:nvSpPr>
        <p:spPr>
          <a:xfrm>
            <a:off x="7507224" y="3200400"/>
            <a:ext cx="2011680" cy="96012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1" name="TextBox 60"/>
          <p:cNvSpPr txBox="1"/>
          <p:nvPr/>
        </p:nvSpPr>
        <p:spPr>
          <a:xfrm>
            <a:off x="7598664" y="3236976"/>
            <a:ext cx="1874519" cy="914400"/>
          </a:xfrm>
          <a:prstGeom prst="rect">
            <a:avLst/>
          </a:prstGeom>
          <a:noFill/>
        </p:spPr>
        <p:txBody>
          <a:bodyPr wrap="square" lIns="0" rIns="0" tIns="0" bIns="0" anchor="ctr">
            <a:spAutoFit/>
          </a:bodyPr>
          <a:lstStyle/>
          <a:p>
            <a:pPr algn="l">
              <a:spcAft>
                <a:spcPts val="200"/>
              </a:spcAft>
            </a:pPr>
            <a:r>
              <a:rPr sz="1200" b="1" i="0">
                <a:solidFill>
                  <a:srgbClr val="FFFFFF"/>
                </a:solidFill>
              </a:rPr>
              <a:t>Engine answers</a:t>
            </a:r>
          </a:p>
          <a:p>
            <a:pPr algn="l"/>
            <a:r>
              <a:rPr sz="1050" b="0" i="0">
                <a:solidFill>
                  <a:srgbClr val="F6E6E9"/>
                </a:solidFill>
              </a:rPr>
              <a:t>headline · path · contributions · tree · baskets · captures · what-if</a:t>
            </a:r>
          </a:p>
        </p:txBody>
      </p:sp>
      <p:sp>
        <p:nvSpPr>
          <p:cNvPr id="62" name="Rectangle 61"/>
          <p:cNvSpPr/>
          <p:nvPr/>
        </p:nvSpPr>
        <p:spPr>
          <a:xfrm>
            <a:off x="7507224" y="4297680"/>
            <a:ext cx="2011680" cy="868680"/>
          </a:xfrm>
          <a:prstGeom prst="rect">
            <a:avLst/>
          </a:prstGeom>
          <a:solidFill>
            <a:srgbClr val="FFFFFF"/>
          </a:solidFill>
          <a:ln w="12700">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xtBox 62"/>
          <p:cNvSpPr txBox="1"/>
          <p:nvPr/>
        </p:nvSpPr>
        <p:spPr>
          <a:xfrm>
            <a:off x="7598664" y="4361688"/>
            <a:ext cx="1847088" cy="777240"/>
          </a:xfrm>
          <a:prstGeom prst="rect">
            <a:avLst/>
          </a:prstGeom>
          <a:noFill/>
        </p:spPr>
        <p:txBody>
          <a:bodyPr wrap="square" lIns="0" rIns="0" tIns="0" bIns="0" anchor="t">
            <a:spAutoFit/>
          </a:bodyPr>
          <a:lstStyle/>
          <a:p>
            <a:pPr algn="l">
              <a:spcAft>
                <a:spcPts val="200"/>
              </a:spcAft>
            </a:pPr>
            <a:r>
              <a:rPr sz="1200" b="1" i="0">
                <a:solidFill>
                  <a:srgbClr val="8A1626"/>
                </a:solidFill>
              </a:rPr>
              <a:t>Intraday layer</a:t>
            </a:r>
          </a:p>
          <a:p>
            <a:pPr algn="l">
              <a:spcAft>
                <a:spcPts val="100"/>
              </a:spcAft>
            </a:pPr>
            <a:r>
              <a:rPr sz="1050" b="0" i="0">
                <a:solidFill>
                  <a:srgbClr val="4A5058"/>
                </a:solidFill>
              </a:rPr>
              <a:t>new − old into the book, every node above, totals, currencies</a:t>
            </a:r>
          </a:p>
        </p:txBody>
      </p:sp>
      <p:sp>
        <p:nvSpPr>
          <p:cNvPr id="64" name="Rectangle 63"/>
          <p:cNvSpPr/>
          <p:nvPr/>
        </p:nvSpPr>
        <p:spPr>
          <a:xfrm>
            <a:off x="7507224" y="5303520"/>
            <a:ext cx="2011680" cy="502920"/>
          </a:xfrm>
          <a:prstGeom prst="rect">
            <a:avLst/>
          </a:prstGeom>
          <a:solidFill>
            <a:srgbClr val="F7F5F2"/>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xtBox 64"/>
          <p:cNvSpPr txBox="1"/>
          <p:nvPr/>
        </p:nvSpPr>
        <p:spPr>
          <a:xfrm>
            <a:off x="7598664" y="5367528"/>
            <a:ext cx="1847088" cy="411480"/>
          </a:xfrm>
          <a:prstGeom prst="rect">
            <a:avLst/>
          </a:prstGeom>
          <a:noFill/>
        </p:spPr>
        <p:txBody>
          <a:bodyPr wrap="square" lIns="0" rIns="0" tIns="0" bIns="0" anchor="t">
            <a:spAutoFit/>
          </a:bodyPr>
          <a:lstStyle/>
          <a:p>
            <a:pPr algn="l">
              <a:spcAft>
                <a:spcPts val="200"/>
              </a:spcAft>
            </a:pPr>
            <a:r>
              <a:rPr sz="1200" b="1" i="0">
                <a:solidFill>
                  <a:srgbClr val="8A1626"/>
                </a:solidFill>
              </a:rPr>
              <a:t>Official end-of-day</a:t>
            </a:r>
          </a:p>
        </p:txBody>
      </p:sp>
      <p:sp>
        <p:nvSpPr>
          <p:cNvPr id="66" name="TextBox 65"/>
          <p:cNvSpPr txBox="1"/>
          <p:nvPr/>
        </p:nvSpPr>
        <p:spPr>
          <a:xfrm>
            <a:off x="7598664" y="5550408"/>
            <a:ext cx="1874519" cy="256032"/>
          </a:xfrm>
          <a:prstGeom prst="rect">
            <a:avLst/>
          </a:prstGeom>
          <a:noFill/>
        </p:spPr>
        <p:txBody>
          <a:bodyPr wrap="square" lIns="0" rIns="0" tIns="0" bIns="0" anchor="t">
            <a:spAutoFit/>
          </a:bodyPr>
          <a:lstStyle/>
          <a:p>
            <a:pPr algn="l"/>
            <a:r>
              <a:rPr sz="1000" b="0" i="0">
                <a:solidFill>
                  <a:srgbClr val="4A5058"/>
                </a:solidFill>
              </a:rPr>
              <a:t>every node, morning book</a:t>
            </a:r>
          </a:p>
        </p:txBody>
      </p:sp>
      <p:sp>
        <p:nvSpPr>
          <p:cNvPr id="67" name="Rectangle 66"/>
          <p:cNvSpPr/>
          <p:nvPr/>
        </p:nvSpPr>
        <p:spPr>
          <a:xfrm>
            <a:off x="9811512" y="1691640"/>
            <a:ext cx="1600200" cy="749808"/>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xtBox 67"/>
          <p:cNvSpPr txBox="1"/>
          <p:nvPr/>
        </p:nvSpPr>
        <p:spPr>
          <a:xfrm>
            <a:off x="9884664" y="1746504"/>
            <a:ext cx="1481328" cy="676656"/>
          </a:xfrm>
          <a:prstGeom prst="rect">
            <a:avLst/>
          </a:prstGeom>
          <a:noFill/>
        </p:spPr>
        <p:txBody>
          <a:bodyPr wrap="square" lIns="0" rIns="0" tIns="0" bIns="0" anchor="t">
            <a:spAutoFit/>
          </a:bodyPr>
          <a:lstStyle/>
          <a:p>
            <a:pPr algn="l">
              <a:spcAft>
                <a:spcPts val="100"/>
              </a:spcAft>
            </a:pPr>
            <a:r>
              <a:rPr sz="1150" b="1" i="0">
                <a:solidFill>
                  <a:srgbClr val="8A1626"/>
                </a:solidFill>
              </a:rPr>
              <a:t>VaR explorer /var</a:t>
            </a:r>
          </a:p>
          <a:p>
            <a:pPr algn="l"/>
            <a:r>
              <a:rPr sz="1000" b="0" i="0">
                <a:solidFill>
                  <a:srgbClr val="4A5058"/>
                </a:solidFill>
              </a:rPr>
              <a:t>currency picker, tabs, provenance</a:t>
            </a:r>
          </a:p>
        </p:txBody>
      </p:sp>
      <p:sp>
        <p:nvSpPr>
          <p:cNvPr id="69" name="Rectangle 68"/>
          <p:cNvSpPr/>
          <p:nvPr/>
        </p:nvSpPr>
        <p:spPr>
          <a:xfrm>
            <a:off x="9811512" y="2532888"/>
            <a:ext cx="1600200" cy="749808"/>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TextBox 69"/>
          <p:cNvSpPr txBox="1"/>
          <p:nvPr/>
        </p:nvSpPr>
        <p:spPr>
          <a:xfrm>
            <a:off x="9884664" y="2587752"/>
            <a:ext cx="1481328" cy="676656"/>
          </a:xfrm>
          <a:prstGeom prst="rect">
            <a:avLst/>
          </a:prstGeom>
          <a:noFill/>
        </p:spPr>
        <p:txBody>
          <a:bodyPr wrap="square" lIns="0" rIns="0" tIns="0" bIns="0" anchor="t">
            <a:spAutoFit/>
          </a:bodyPr>
          <a:lstStyle/>
          <a:p>
            <a:pPr algn="l">
              <a:spcAft>
                <a:spcPts val="100"/>
              </a:spcAft>
            </a:pPr>
            <a:r>
              <a:rPr sz="1150" b="1" i="0">
                <a:solidFill>
                  <a:srgbClr val="8A1626"/>
                </a:solidFill>
              </a:rPr>
              <a:t>Pages and Home</a:t>
            </a:r>
          </a:p>
          <a:p>
            <a:pPr algn="l"/>
            <a:r>
              <a:rPr sz="1000" b="0" i="0">
                <a:solidFill>
                  <a:srgbClr val="4A5058"/>
                </a:solidFill>
              </a:rPr>
              <a:t>trade, position, portfolio, desk, LE; facts</a:t>
            </a:r>
          </a:p>
        </p:txBody>
      </p:sp>
      <p:sp>
        <p:nvSpPr>
          <p:cNvPr id="71" name="Rectangle 70"/>
          <p:cNvSpPr/>
          <p:nvPr/>
        </p:nvSpPr>
        <p:spPr>
          <a:xfrm>
            <a:off x="9811512" y="3374136"/>
            <a:ext cx="1600200" cy="749808"/>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TextBox 71"/>
          <p:cNvSpPr txBox="1"/>
          <p:nvPr/>
        </p:nvSpPr>
        <p:spPr>
          <a:xfrm>
            <a:off x="9884664" y="3429000"/>
            <a:ext cx="1481328" cy="676656"/>
          </a:xfrm>
          <a:prstGeom prst="rect">
            <a:avLst/>
          </a:prstGeom>
          <a:noFill/>
        </p:spPr>
        <p:txBody>
          <a:bodyPr wrap="square" lIns="0" rIns="0" tIns="0" bIns="0" anchor="t">
            <a:spAutoFit/>
          </a:bodyPr>
          <a:lstStyle/>
          <a:p>
            <a:pPr algn="l">
              <a:spcAft>
                <a:spcPts val="100"/>
              </a:spcAft>
            </a:pPr>
            <a:r>
              <a:rPr sz="1150" b="1" i="0">
                <a:solidFill>
                  <a:srgbClr val="8A1626"/>
                </a:solidFill>
              </a:rPr>
              <a:t>CLI</a:t>
            </a:r>
          </a:p>
          <a:p>
            <a:pPr algn="l"/>
            <a:r>
              <a:rPr sz="1000" b="0" i="0">
                <a:solidFill>
                  <a:srgbClr val="4A5058"/>
                </a:solidFill>
              </a:rPr>
              <a:t>drishti.py var … --ccy EUR</a:t>
            </a:r>
          </a:p>
        </p:txBody>
      </p:sp>
      <p:sp>
        <p:nvSpPr>
          <p:cNvPr id="73" name="Rectangle 72"/>
          <p:cNvSpPr/>
          <p:nvPr/>
        </p:nvSpPr>
        <p:spPr>
          <a:xfrm>
            <a:off x="9811512" y="4215383"/>
            <a:ext cx="1600200" cy="749808"/>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TextBox 73"/>
          <p:cNvSpPr txBox="1"/>
          <p:nvPr/>
        </p:nvSpPr>
        <p:spPr>
          <a:xfrm>
            <a:off x="9884664" y="4270247"/>
            <a:ext cx="1481328" cy="676656"/>
          </a:xfrm>
          <a:prstGeom prst="rect">
            <a:avLst/>
          </a:prstGeom>
          <a:noFill/>
        </p:spPr>
        <p:txBody>
          <a:bodyPr wrap="square" lIns="0" rIns="0" tIns="0" bIns="0" anchor="t">
            <a:spAutoFit/>
          </a:bodyPr>
          <a:lstStyle/>
          <a:p>
            <a:pPr algn="l">
              <a:spcAft>
                <a:spcPts val="100"/>
              </a:spcAft>
            </a:pPr>
            <a:r>
              <a:rPr sz="1150" b="1" i="0">
                <a:solidFill>
                  <a:srgbClr val="8A1626"/>
                </a:solidFill>
              </a:rPr>
              <a:t>REST API</a:t>
            </a:r>
          </a:p>
          <a:p>
            <a:pPr algn="l"/>
            <a:r>
              <a:rPr sz="1000" b="0" i="0">
                <a:solidFill>
                  <a:srgbClr val="4A5058"/>
                </a:solidFill>
              </a:rPr>
              <a:t>/api/v1/var · VRES · VWIF</a:t>
            </a:r>
          </a:p>
        </p:txBody>
      </p:sp>
      <p:sp>
        <p:nvSpPr>
          <p:cNvPr id="75" name="Rectangle 74"/>
          <p:cNvSpPr/>
          <p:nvPr/>
        </p:nvSpPr>
        <p:spPr>
          <a:xfrm>
            <a:off x="9811512" y="5056631"/>
            <a:ext cx="1600200" cy="749808"/>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TextBox 75"/>
          <p:cNvSpPr txBox="1"/>
          <p:nvPr/>
        </p:nvSpPr>
        <p:spPr>
          <a:xfrm>
            <a:off x="9884664" y="5111495"/>
            <a:ext cx="1481328" cy="676656"/>
          </a:xfrm>
          <a:prstGeom prst="rect">
            <a:avLst/>
          </a:prstGeom>
          <a:noFill/>
        </p:spPr>
        <p:txBody>
          <a:bodyPr wrap="square" lIns="0" rIns="0" tIns="0" bIns="0" anchor="t">
            <a:spAutoFit/>
          </a:bodyPr>
          <a:lstStyle/>
          <a:p>
            <a:pPr algn="l">
              <a:spcAft>
                <a:spcPts val="100"/>
              </a:spcAft>
            </a:pPr>
            <a:r>
              <a:rPr sz="1150" b="1" i="0">
                <a:solidFill>
                  <a:srgbClr val="8A1626"/>
                </a:solidFill>
              </a:rPr>
              <a:t>BI</a:t>
            </a:r>
          </a:p>
          <a:p>
            <a:pPr algn="l"/>
            <a:r>
              <a:rPr sz="1000" b="0" i="0">
                <a:solidFill>
                  <a:srgbClr val="4A5058"/>
                </a:solidFill>
              </a:rPr>
              <a:t>Market risk: VaR report</a:t>
            </a:r>
          </a:p>
        </p:txBody>
      </p:sp>
      <p:cxnSp>
        <p:nvCxnSpPr>
          <p:cNvPr id="77" name="Connector 76"/>
          <p:cNvCxnSpPr/>
          <p:nvPr/>
        </p:nvCxnSpPr>
        <p:spPr>
          <a:xfrm>
            <a:off x="2697480" y="2331720"/>
            <a:ext cx="292608" cy="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697480" y="3520440"/>
            <a:ext cx="292608" cy="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2697480" y="4343400"/>
            <a:ext cx="292608" cy="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910328" y="2651760"/>
            <a:ext cx="29260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910328" y="4434840"/>
            <a:ext cx="292608" cy="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214616" y="2377440"/>
            <a:ext cx="29260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214616" y="4727448"/>
            <a:ext cx="292608" cy="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8513064" y="3063240"/>
            <a:ext cx="0" cy="13716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8513064" y="4160520"/>
            <a:ext cx="0" cy="13716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4910328" y="5559552"/>
            <a:ext cx="2596896" cy="0"/>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257800" y="5285232"/>
            <a:ext cx="1920240" cy="256032"/>
          </a:xfrm>
          <a:prstGeom prst="rect">
            <a:avLst/>
          </a:prstGeom>
          <a:noFill/>
        </p:spPr>
        <p:txBody>
          <a:bodyPr wrap="square" lIns="0" rIns="0" tIns="0" bIns="0" anchor="ctr">
            <a:spAutoFit/>
          </a:bodyPr>
          <a:lstStyle/>
          <a:p>
            <a:pPr algn="ctr"/>
            <a:r>
              <a:rPr sz="1000" b="0" i="1">
                <a:solidFill>
                  <a:srgbClr val="A51C30"/>
                </a:solidFill>
              </a:rPr>
              <a:t>published: Delta + JSONL</a:t>
            </a:r>
          </a:p>
        </p:txBody>
      </p:sp>
      <p:cxnSp>
        <p:nvCxnSpPr>
          <p:cNvPr id="88" name="Connector 87"/>
          <p:cNvCxnSpPr/>
          <p:nvPr/>
        </p:nvCxnSpPr>
        <p:spPr>
          <a:xfrm>
            <a:off x="9518904" y="3675887"/>
            <a:ext cx="146304"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665208" y="2066543"/>
            <a:ext cx="0" cy="3374137"/>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9665208" y="2066544"/>
            <a:ext cx="146304"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9665208" y="2907792"/>
            <a:ext cx="146304"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9665208" y="3749039"/>
            <a:ext cx="146304"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665208" y="4590288"/>
            <a:ext cx="146304"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9665208" y="5431536"/>
            <a:ext cx="146304"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77240" y="5897880"/>
            <a:ext cx="10634472" cy="329184"/>
          </a:xfrm>
          <a:prstGeom prst="rect">
            <a:avLst/>
          </a:prstGeom>
          <a:noFill/>
        </p:spPr>
        <p:txBody>
          <a:bodyPr wrap="square" lIns="0" rIns="0" tIns="0" bIns="0" anchor="t">
            <a:spAutoFit/>
          </a:bodyPr>
          <a:lstStyle/>
          <a:p>
            <a:pPr algn="l"/>
            <a:r>
              <a:rPr sz="1050" b="0" i="1">
                <a:solidFill>
                  <a:srgbClr val="4A5058"/>
                </a:solidFill>
              </a:rPr>
              <a:t>Each batch's data-load signal </a:t>
            </a:r>
            <a:r>
              <a:rPr sz="1000" b="0" i="0">
                <a:solidFill>
                  <a:srgbClr val="4A5058"/>
                </a:solidFill>
                <a:latin typeface="Courier New"/>
              </a:rPr>
              <a:t>POST /api/v1/packs/market-risk/loads</a:t>
            </a:r>
            <a:r>
              <a:rPr sz="1050" b="0" i="1">
                <a:solidFill>
                  <a:srgbClr val="4A5058"/>
                </a:solidFill>
              </a:rPr>
              <a:t> tells the engine: a full run reloads the date; an intraday batch is applied on top. The lake is the record: a restart rebuilds everything, the intraday layer included.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ANY INPUT CONTRACT</a:t>
            </a:r>
          </a:p>
        </p:txBody>
      </p:sp>
      <p:sp>
        <p:nvSpPr>
          <p:cNvPr id="3" name="Title 2"/>
          <p:cNvSpPr>
            <a:spLocks noGrp="1"/>
          </p:cNvSpPr>
          <p:nvPr>
            <p:ph type="title" idx="104"/>
          </p:nvPr>
        </p:nvSpPr>
        <p:spPr/>
        <p:txBody>
          <a:bodyPr/>
          <a:lstStyle/>
          <a:p>
            <a:r>
              <a:t>One engine, every input: source systems keep their own formats</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2011680" y="1417320"/>
            <a:ext cx="2011680" cy="38404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50" b="1" i="0">
                <a:solidFill>
                  <a:srgbClr val="FFFFFF"/>
                </a:solidFill>
              </a:rPr>
              <a:t>Scenario PVs</a:t>
            </a:r>
          </a:p>
          <a:p>
            <a:pPr algn="ctr"/>
            <a:r>
              <a:rPr sz="1000" b="0" i="0">
                <a:solidFill>
                  <a:srgbClr val="F6E6E9"/>
                </a:solidFill>
              </a:rPr>
              <a:t>native currency</a:t>
            </a:r>
          </a:p>
        </p:txBody>
      </p:sp>
      <p:sp>
        <p:nvSpPr>
          <p:cNvPr id="27" name="Rectangle 26"/>
          <p:cNvSpPr/>
          <p:nvPr/>
        </p:nvSpPr>
        <p:spPr>
          <a:xfrm>
            <a:off x="4078224" y="1417320"/>
            <a:ext cx="2011680" cy="38404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50" b="1" i="0">
                <a:solidFill>
                  <a:srgbClr val="FFFFFF"/>
                </a:solidFill>
              </a:rPr>
              <a:t>Path P&amp;L vectors</a:t>
            </a:r>
          </a:p>
          <a:p>
            <a:pPr algn="ctr"/>
            <a:r>
              <a:rPr sz="1000" b="0" i="0">
                <a:solidFill>
                  <a:srgbClr val="F6E6E9"/>
                </a:solidFill>
              </a:rPr>
              <a:t>any currency</a:t>
            </a:r>
          </a:p>
        </p:txBody>
      </p:sp>
      <p:sp>
        <p:nvSpPr>
          <p:cNvPr id="28" name="Rectangle 27"/>
          <p:cNvSpPr/>
          <p:nvPr/>
        </p:nvSpPr>
        <p:spPr>
          <a:xfrm>
            <a:off x="777240" y="1856231"/>
            <a:ext cx="1179576" cy="64008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886968" y="1856231"/>
            <a:ext cx="1051560" cy="640080"/>
          </a:xfrm>
          <a:prstGeom prst="rect">
            <a:avLst/>
          </a:prstGeom>
          <a:noFill/>
        </p:spPr>
        <p:txBody>
          <a:bodyPr wrap="square" lIns="0" rIns="0" tIns="0" bIns="0" anchor="ctr">
            <a:spAutoFit/>
          </a:bodyPr>
          <a:lstStyle/>
          <a:p>
            <a:pPr algn="l"/>
            <a:r>
              <a:rPr sz="1300" b="1" i="0">
                <a:solidFill>
                  <a:srgbClr val="8A1626"/>
                </a:solidFill>
              </a:rPr>
              <a:t>By trade</a:t>
            </a:r>
          </a:p>
        </p:txBody>
      </p:sp>
      <p:sp>
        <p:nvSpPr>
          <p:cNvPr id="30" name="Rectangle 29"/>
          <p:cNvSpPr/>
          <p:nvPr/>
        </p:nvSpPr>
        <p:spPr>
          <a:xfrm>
            <a:off x="2011680" y="1856231"/>
            <a:ext cx="2011680" cy="6400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Oval 30"/>
          <p:cNvSpPr/>
          <p:nvPr/>
        </p:nvSpPr>
        <p:spPr>
          <a:xfrm>
            <a:off x="2148840" y="1947672"/>
            <a:ext cx="457200" cy="457200"/>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rPr>
              <a:t>✓</a:t>
            </a:r>
          </a:p>
        </p:txBody>
      </p:sp>
      <p:sp>
        <p:nvSpPr>
          <p:cNvPr id="32" name="Rounded Rectangle 31"/>
          <p:cNvSpPr/>
          <p:nvPr/>
        </p:nvSpPr>
        <p:spPr>
          <a:xfrm>
            <a:off x="2743200" y="1947672"/>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33" name="TextBox 32"/>
          <p:cNvSpPr txBox="1"/>
          <p:nvPr/>
        </p:nvSpPr>
        <p:spPr>
          <a:xfrm>
            <a:off x="2743200" y="2185415"/>
            <a:ext cx="1234440" cy="274320"/>
          </a:xfrm>
          <a:prstGeom prst="rect">
            <a:avLst/>
          </a:prstGeom>
          <a:noFill/>
        </p:spPr>
        <p:txBody>
          <a:bodyPr wrap="square" lIns="0" rIns="0" tIns="0" bIns="0" anchor="ctr">
            <a:spAutoFit/>
          </a:bodyPr>
          <a:lstStyle/>
          <a:p>
            <a:pPr algn="l"/>
            <a:r>
              <a:rPr sz="1100" b="0" i="0">
                <a:solidFill>
                  <a:srgbClr val="4A5058"/>
                </a:solidFill>
              </a:rPr>
              <a:t>2.9.4</a:t>
            </a:r>
          </a:p>
        </p:txBody>
      </p:sp>
      <p:sp>
        <p:nvSpPr>
          <p:cNvPr id="34" name="Rectangle 33"/>
          <p:cNvSpPr/>
          <p:nvPr/>
        </p:nvSpPr>
        <p:spPr>
          <a:xfrm>
            <a:off x="4078224" y="1856231"/>
            <a:ext cx="2011680" cy="6400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Oval 34"/>
          <p:cNvSpPr/>
          <p:nvPr/>
        </p:nvSpPr>
        <p:spPr>
          <a:xfrm>
            <a:off x="4215384" y="1947672"/>
            <a:ext cx="457200" cy="457200"/>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rPr>
              <a:t>✓</a:t>
            </a:r>
          </a:p>
        </p:txBody>
      </p:sp>
      <p:sp>
        <p:nvSpPr>
          <p:cNvPr id="36" name="Rounded Rectangle 35"/>
          <p:cNvSpPr/>
          <p:nvPr/>
        </p:nvSpPr>
        <p:spPr>
          <a:xfrm>
            <a:off x="4809744" y="1947672"/>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37" name="TextBox 36"/>
          <p:cNvSpPr txBox="1"/>
          <p:nvPr/>
        </p:nvSpPr>
        <p:spPr>
          <a:xfrm>
            <a:off x="4809744" y="2185415"/>
            <a:ext cx="1234440" cy="274320"/>
          </a:xfrm>
          <a:prstGeom prst="rect">
            <a:avLst/>
          </a:prstGeom>
          <a:noFill/>
        </p:spPr>
        <p:txBody>
          <a:bodyPr wrap="square" lIns="0" rIns="0" tIns="0" bIns="0" anchor="ctr">
            <a:spAutoFit/>
          </a:bodyPr>
          <a:lstStyle/>
          <a:p>
            <a:pPr algn="l"/>
            <a:r>
              <a:rPr sz="1100" b="0" i="0">
                <a:solidFill>
                  <a:srgbClr val="4A5058"/>
                </a:solidFill>
              </a:rPr>
              <a:t>since 2.8.0</a:t>
            </a:r>
          </a:p>
        </p:txBody>
      </p:sp>
      <p:sp>
        <p:nvSpPr>
          <p:cNvPr id="38" name="Rectangle 37"/>
          <p:cNvSpPr/>
          <p:nvPr/>
        </p:nvSpPr>
        <p:spPr>
          <a:xfrm>
            <a:off x="777240" y="2551176"/>
            <a:ext cx="1179576" cy="64008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886968" y="2551176"/>
            <a:ext cx="1051560" cy="640080"/>
          </a:xfrm>
          <a:prstGeom prst="rect">
            <a:avLst/>
          </a:prstGeom>
          <a:noFill/>
        </p:spPr>
        <p:txBody>
          <a:bodyPr wrap="square" lIns="0" rIns="0" tIns="0" bIns="0" anchor="ctr">
            <a:spAutoFit/>
          </a:bodyPr>
          <a:lstStyle/>
          <a:p>
            <a:pPr algn="l"/>
            <a:r>
              <a:rPr sz="1300" b="1" i="0">
                <a:solidFill>
                  <a:srgbClr val="8A1626"/>
                </a:solidFill>
              </a:rPr>
              <a:t>By position</a:t>
            </a:r>
          </a:p>
        </p:txBody>
      </p:sp>
      <p:sp>
        <p:nvSpPr>
          <p:cNvPr id="40" name="Rectangle 39"/>
          <p:cNvSpPr/>
          <p:nvPr/>
        </p:nvSpPr>
        <p:spPr>
          <a:xfrm>
            <a:off x="2011680" y="2551176"/>
            <a:ext cx="2011680" cy="6400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Oval 40"/>
          <p:cNvSpPr/>
          <p:nvPr/>
        </p:nvSpPr>
        <p:spPr>
          <a:xfrm>
            <a:off x="2148840" y="2642616"/>
            <a:ext cx="457200" cy="457200"/>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rPr>
              <a:t>✓</a:t>
            </a:r>
          </a:p>
        </p:txBody>
      </p:sp>
      <p:sp>
        <p:nvSpPr>
          <p:cNvPr id="42" name="Rounded Rectangle 41"/>
          <p:cNvSpPr/>
          <p:nvPr/>
        </p:nvSpPr>
        <p:spPr>
          <a:xfrm>
            <a:off x="2743200" y="2642616"/>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43" name="TextBox 42"/>
          <p:cNvSpPr txBox="1"/>
          <p:nvPr/>
        </p:nvSpPr>
        <p:spPr>
          <a:xfrm>
            <a:off x="2743200" y="2880360"/>
            <a:ext cx="1234440" cy="274320"/>
          </a:xfrm>
          <a:prstGeom prst="rect">
            <a:avLst/>
          </a:prstGeom>
          <a:noFill/>
        </p:spPr>
        <p:txBody>
          <a:bodyPr wrap="square" lIns="0" rIns="0" tIns="0" bIns="0" anchor="ctr">
            <a:spAutoFit/>
          </a:bodyPr>
          <a:lstStyle/>
          <a:p>
            <a:pPr algn="l"/>
            <a:r>
              <a:rPr sz="1100" b="0" i="0">
                <a:solidFill>
                  <a:srgbClr val="4A5058"/>
                </a:solidFill>
              </a:rPr>
              <a:t>2.9.4</a:t>
            </a:r>
          </a:p>
        </p:txBody>
      </p:sp>
      <p:sp>
        <p:nvSpPr>
          <p:cNvPr id="44" name="Rectangle 43"/>
          <p:cNvSpPr/>
          <p:nvPr/>
        </p:nvSpPr>
        <p:spPr>
          <a:xfrm>
            <a:off x="4078224" y="2551176"/>
            <a:ext cx="2011680" cy="64008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Oval 44"/>
          <p:cNvSpPr/>
          <p:nvPr/>
        </p:nvSpPr>
        <p:spPr>
          <a:xfrm>
            <a:off x="4215384" y="2642616"/>
            <a:ext cx="457200" cy="457200"/>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rPr>
              <a:t>✓</a:t>
            </a:r>
          </a:p>
        </p:txBody>
      </p:sp>
      <p:sp>
        <p:nvSpPr>
          <p:cNvPr id="46" name="Rounded Rectangle 45"/>
          <p:cNvSpPr/>
          <p:nvPr/>
        </p:nvSpPr>
        <p:spPr>
          <a:xfrm>
            <a:off x="4809744" y="2642616"/>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47" name="TextBox 46"/>
          <p:cNvSpPr txBox="1"/>
          <p:nvPr/>
        </p:nvSpPr>
        <p:spPr>
          <a:xfrm>
            <a:off x="4809744" y="2880360"/>
            <a:ext cx="1234440" cy="274320"/>
          </a:xfrm>
          <a:prstGeom prst="rect">
            <a:avLst/>
          </a:prstGeom>
          <a:noFill/>
        </p:spPr>
        <p:txBody>
          <a:bodyPr wrap="square" lIns="0" rIns="0" tIns="0" bIns="0" anchor="ctr">
            <a:spAutoFit/>
          </a:bodyPr>
          <a:lstStyle/>
          <a:p>
            <a:pPr algn="l"/>
            <a:r>
              <a:rPr sz="1100" b="0" i="0">
                <a:solidFill>
                  <a:srgbClr val="4A5058"/>
                </a:solidFill>
              </a:rPr>
              <a:t>2.9.4</a:t>
            </a:r>
          </a:p>
        </p:txBody>
      </p:sp>
      <p:sp>
        <p:nvSpPr>
          <p:cNvPr id="48" name="TextBox 47"/>
          <p:cNvSpPr txBox="1"/>
          <p:nvPr/>
        </p:nvSpPr>
        <p:spPr>
          <a:xfrm>
            <a:off x="6409944" y="1399032"/>
            <a:ext cx="5001768" cy="274320"/>
          </a:xfrm>
          <a:prstGeom prst="rect">
            <a:avLst/>
          </a:prstGeom>
          <a:noFill/>
        </p:spPr>
        <p:txBody>
          <a:bodyPr wrap="square" lIns="0" rIns="0" tIns="0" bIns="0" anchor="ctr">
            <a:spAutoFit/>
          </a:bodyPr>
          <a:lstStyle/>
          <a:p>
            <a:pPr algn="l"/>
            <a:r>
              <a:rPr sz="1300" b="1" i="0">
                <a:solidFill>
                  <a:srgbClr val="A51C30"/>
                </a:solidFill>
              </a:rPr>
              <a:t>Delivery routes</a:t>
            </a:r>
          </a:p>
        </p:txBody>
      </p:sp>
      <p:sp>
        <p:nvSpPr>
          <p:cNvPr id="49" name="Rectangle 48"/>
          <p:cNvSpPr/>
          <p:nvPr/>
        </p:nvSpPr>
        <p:spPr>
          <a:xfrm>
            <a:off x="6409944" y="1719072"/>
            <a:ext cx="5001768" cy="493776"/>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xtBox 49"/>
          <p:cNvSpPr txBox="1"/>
          <p:nvPr/>
        </p:nvSpPr>
        <p:spPr>
          <a:xfrm>
            <a:off x="6519672" y="1737360"/>
            <a:ext cx="3767328" cy="457200"/>
          </a:xfrm>
          <a:prstGeom prst="rect">
            <a:avLst/>
          </a:prstGeom>
          <a:noFill/>
        </p:spPr>
        <p:txBody>
          <a:bodyPr wrap="square" lIns="0" rIns="0" tIns="0" bIns="0" anchor="ctr">
            <a:spAutoFit/>
          </a:bodyPr>
          <a:lstStyle/>
          <a:p>
            <a:pPr algn="l"/>
            <a:r>
              <a:rPr sz="1200" b="1" i="0">
                <a:solidFill>
                  <a:srgbClr val="8A1626"/>
                </a:solidFill>
              </a:rPr>
              <a:t>Files, JSONL</a:t>
            </a:r>
          </a:p>
          <a:p>
            <a:pPr algn="l"/>
            <a:r>
              <a:rPr sz="1050" b="0" i="0">
                <a:solidFill>
                  <a:srgbClr val="4A5058"/>
                </a:solidFill>
              </a:rPr>
              <a:t>the morning run; small intraday batches appended</a:t>
            </a:r>
          </a:p>
        </p:txBody>
      </p:sp>
      <p:sp>
        <p:nvSpPr>
          <p:cNvPr id="51" name="Rounded Rectangle 50"/>
          <p:cNvSpPr/>
          <p:nvPr/>
        </p:nvSpPr>
        <p:spPr>
          <a:xfrm>
            <a:off x="10858500" y="1865376"/>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52" name="Rectangle 51"/>
          <p:cNvSpPr/>
          <p:nvPr/>
        </p:nvSpPr>
        <p:spPr>
          <a:xfrm>
            <a:off x="6409944" y="2249424"/>
            <a:ext cx="5001768" cy="493776"/>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6519672" y="2267712"/>
            <a:ext cx="3767328" cy="457200"/>
          </a:xfrm>
          <a:prstGeom prst="rect">
            <a:avLst/>
          </a:prstGeom>
          <a:noFill/>
        </p:spPr>
        <p:txBody>
          <a:bodyPr wrap="square" lIns="0" rIns="0" tIns="0" bIns="0" anchor="ctr">
            <a:spAutoFit/>
          </a:bodyPr>
          <a:lstStyle/>
          <a:p>
            <a:pPr algn="l"/>
            <a:r>
              <a:rPr sz="1200" b="1" i="0">
                <a:solidFill>
                  <a:srgbClr val="8A1626"/>
                </a:solidFill>
              </a:rPr>
              <a:t>Kafka, micro-batched</a:t>
            </a:r>
          </a:p>
          <a:p>
            <a:pPr algn="l"/>
            <a:r>
              <a:rPr sz="1050" b="0" i="0">
                <a:solidFill>
                  <a:srgbClr val="4A5058"/>
                </a:solidFill>
              </a:rPr>
              <a:t>JSONL messages; 5-min window, early flush, Apply now</a:t>
            </a:r>
          </a:p>
        </p:txBody>
      </p:sp>
      <p:sp>
        <p:nvSpPr>
          <p:cNvPr id="54" name="Rounded Rectangle 53"/>
          <p:cNvSpPr/>
          <p:nvPr/>
        </p:nvSpPr>
        <p:spPr>
          <a:xfrm>
            <a:off x="10858500" y="2395728"/>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55" name="Rectangle 54"/>
          <p:cNvSpPr/>
          <p:nvPr/>
        </p:nvSpPr>
        <p:spPr>
          <a:xfrm>
            <a:off x="6409944" y="2779776"/>
            <a:ext cx="5001768" cy="493776"/>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6519672" y="2798064"/>
            <a:ext cx="3767328" cy="457200"/>
          </a:xfrm>
          <a:prstGeom prst="rect">
            <a:avLst/>
          </a:prstGeom>
          <a:noFill/>
        </p:spPr>
        <p:txBody>
          <a:bodyPr wrap="square" lIns="0" rIns="0" tIns="0" bIns="0" anchor="ctr">
            <a:spAutoFit/>
          </a:bodyPr>
          <a:lstStyle/>
          <a:p>
            <a:pPr algn="l"/>
            <a:r>
              <a:rPr sz="1200" b="1" i="0">
                <a:solidFill>
                  <a:srgbClr val="8A1626"/>
                </a:solidFill>
              </a:rPr>
              <a:t>Intraday, either route</a:t>
            </a:r>
          </a:p>
          <a:p>
            <a:pPr algn="l"/>
            <a:r>
              <a:rPr sz="1050" b="0" i="0">
                <a:solidFill>
                  <a:srgbClr val="4A5058"/>
                </a:solidFill>
              </a:rPr>
              <a:t>changed trades only, as new − old; latest wins</a:t>
            </a:r>
          </a:p>
        </p:txBody>
      </p:sp>
      <p:sp>
        <p:nvSpPr>
          <p:cNvPr id="57" name="Rounded Rectangle 56"/>
          <p:cNvSpPr/>
          <p:nvPr/>
        </p:nvSpPr>
        <p:spPr>
          <a:xfrm>
            <a:off x="10858500" y="2926080"/>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58" name="Rectangle 57"/>
          <p:cNvSpPr/>
          <p:nvPr/>
        </p:nvSpPr>
        <p:spPr>
          <a:xfrm>
            <a:off x="777240" y="3346704"/>
            <a:ext cx="10634472" cy="932688"/>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914400" y="3401568"/>
            <a:ext cx="10405872" cy="859536"/>
          </a:xfrm>
          <a:prstGeom prst="rect">
            <a:avLst/>
          </a:prstGeom>
          <a:noFill/>
        </p:spPr>
        <p:txBody>
          <a:bodyPr wrap="square" lIns="0" rIns="0" tIns="0" bIns="0" anchor="t">
            <a:spAutoFit/>
          </a:bodyPr>
          <a:lstStyle/>
          <a:p>
            <a:pPr algn="l">
              <a:spcAft>
                <a:spcPts val="250"/>
              </a:spcAft>
            </a:pPr>
            <a:r>
              <a:rPr sz="950" b="0" i="0">
                <a:solidFill>
                  <a:srgbClr val="F1EEE9"/>
                </a:solidFill>
                <a:latin typeface="Courier New"/>
              </a:rPr>
              <a:t>{"VALUE_TYPE":"PV",  "GRAIN":"TRADE",    "TRADE_ID":"1000279", "CURRENCY":"EUR", "BASE_PV":…, "PVS":[…509…], "COMPUTED_AT":"…", …}</a:t>
            </a:r>
          </a:p>
          <a:p>
            <a:pPr algn="l">
              <a:spcAft>
                <a:spcPts val="250"/>
              </a:spcAft>
            </a:pPr>
            <a:r>
              <a:rPr sz="950" b="0" i="0">
                <a:solidFill>
                  <a:srgbClr val="F1EEE9"/>
                </a:solidFill>
                <a:latin typeface="Courier New"/>
              </a:rPr>
              <a:t>{"VALUE_TYPE":"PV",  "GRAIN":"POSITION", "POSITION_ID":"POS-…", "CURRENCY":"JPY", "BOOK":"…", "BASE_PV":…, "PVS":[…], …}</a:t>
            </a:r>
          </a:p>
          <a:p>
            <a:pPr algn="l">
              <a:spcAft>
                <a:spcPts val="250"/>
              </a:spcAft>
            </a:pPr>
            <a:r>
              <a:rPr sz="950" b="0" i="0">
                <a:solidFill>
                  <a:srgbClr val="F1EEE9"/>
                </a:solidFill>
                <a:latin typeface="Courier New"/>
              </a:rPr>
              <a:t>{"VALUE_TYPE":"PNL", "GRAIN":"TRADE",    "TRADE_ID":"MX-…",    "CURRENCY":"USD", "PNL":[…509…], …}</a:t>
            </a:r>
          </a:p>
          <a:p>
            <a:pPr algn="l">
              <a:spcAft>
                <a:spcPts val="250"/>
              </a:spcAft>
            </a:pPr>
            <a:r>
              <a:rPr sz="950" b="0" i="0">
                <a:solidFill>
                  <a:srgbClr val="F1EEE9"/>
                </a:solidFill>
                <a:latin typeface="Courier New"/>
              </a:rPr>
              <a:t>{"VALUE_TYPE":"PNL", "GRAIN":"POSITION", "POSITION_ID":"POS-…", "CURRENCY":"USD", "PNL":[…], …}</a:t>
            </a:r>
          </a:p>
        </p:txBody>
      </p:sp>
      <p:sp>
        <p:nvSpPr>
          <p:cNvPr id="60" name="Rectangle 59"/>
          <p:cNvSpPr/>
          <p:nvPr/>
        </p:nvSpPr>
        <p:spPr>
          <a:xfrm>
            <a:off x="777240" y="4389120"/>
            <a:ext cx="3429000" cy="13716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1" name="TextBox 60"/>
          <p:cNvSpPr txBox="1"/>
          <p:nvPr/>
        </p:nvSpPr>
        <p:spPr>
          <a:xfrm>
            <a:off x="905256" y="4443983"/>
            <a:ext cx="3227832" cy="1280160"/>
          </a:xfrm>
          <a:prstGeom prst="rect">
            <a:avLst/>
          </a:prstGeom>
          <a:noFill/>
        </p:spPr>
        <p:txBody>
          <a:bodyPr wrap="square" lIns="0" rIns="0" tIns="0" bIns="0" anchor="t">
            <a:spAutoFit/>
          </a:bodyPr>
          <a:lstStyle/>
          <a:p>
            <a:pPr algn="l">
              <a:spcAft>
                <a:spcPts val="300"/>
              </a:spcAft>
            </a:pPr>
            <a:r>
              <a:rPr sz="1250" b="1" i="0">
                <a:solidFill>
                  <a:srgbClr val="A51C30"/>
                </a:solidFill>
              </a:rPr>
              <a:t>Mix and switch</a:t>
            </a:r>
          </a:p>
          <a:p>
            <a:pPr algn="l" marL="146304" indent="-146304">
              <a:spcAft>
                <a:spcPts val="200"/>
              </a:spcAft>
              <a:buClr>
                <a:srgbClr val="A51C30"/>
              </a:buClr>
              <a:buSzPct val="100000"/>
              <a:buFont typeface="Arial"/>
              <a:buChar char="▪"/>
            </a:pPr>
            <a:r>
              <a:rPr sz="1150" b="0" i="0">
                <a:solidFill>
                  <a:srgbClr val="1A1A1A"/>
                </a:solidFill>
              </a:rPr>
              <a:t>Each system sends its own form and grain; systems mix on one date.</a:t>
            </a:r>
          </a:p>
          <a:p>
            <a:pPr algn="l" marL="146304" indent="-146304">
              <a:spcAft>
                <a:spcPts val="200"/>
              </a:spcAft>
              <a:buClr>
                <a:srgbClr val="A51C30"/>
              </a:buClr>
              <a:buSzPct val="100000"/>
              <a:buFont typeface="Arial"/>
              <a:buChar char="▪"/>
            </a:pPr>
            <a:r>
              <a:rPr sz="1150" b="0" i="0">
                <a:solidFill>
                  <a:srgbClr val="1A1A1A"/>
                </a:solidFill>
              </a:rPr>
              <a:t>A system may switch day to day; each date loads as it stands.</a:t>
            </a:r>
          </a:p>
          <a:p>
            <a:pPr algn="l" marL="146304" indent="-146304">
              <a:buClr>
                <a:srgbClr val="A51C30"/>
              </a:buClr>
              <a:buSzPct val="100000"/>
              <a:buFont typeface="Arial"/>
              <a:buChar char="▪"/>
            </a:pPr>
            <a:r>
              <a:rPr sz="1150" b="0" i="0">
                <a:solidFill>
                  <a:srgbClr val="1A1A1A"/>
                </a:solidFill>
              </a:rPr>
              <a:t>Old files: </a:t>
            </a:r>
            <a:r>
              <a:rPr sz="1000" b="0" i="0">
                <a:solidFill>
                  <a:srgbClr val="1A1A1A"/>
                </a:solidFill>
                <a:latin typeface="Courier New"/>
              </a:rPr>
              <a:t>drishti.py convert --set …</a:t>
            </a:r>
          </a:p>
        </p:txBody>
      </p:sp>
      <p:sp>
        <p:nvSpPr>
          <p:cNvPr id="62" name="Rectangle 61"/>
          <p:cNvSpPr/>
          <p:nvPr/>
        </p:nvSpPr>
        <p:spPr>
          <a:xfrm>
            <a:off x="4389120" y="4389120"/>
            <a:ext cx="2926080" cy="1371600"/>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xtBox 62"/>
          <p:cNvSpPr txBox="1"/>
          <p:nvPr/>
        </p:nvSpPr>
        <p:spPr>
          <a:xfrm>
            <a:off x="4498848" y="4480559"/>
            <a:ext cx="2761488" cy="1234440"/>
          </a:xfrm>
          <a:prstGeom prst="rect">
            <a:avLst/>
          </a:prstGeom>
          <a:noFill/>
        </p:spPr>
        <p:txBody>
          <a:bodyPr wrap="square" lIns="0" rIns="0" tIns="0" bIns="0" anchor="t">
            <a:spAutoFit/>
          </a:bodyPr>
          <a:lstStyle/>
          <a:p>
            <a:pPr algn="l">
              <a:spcAft>
                <a:spcPts val="200"/>
              </a:spcAft>
            </a:pPr>
            <a:r>
              <a:rPr sz="1000" b="0" i="0">
                <a:solidFill>
                  <a:srgbClr val="9AA0A8"/>
                </a:solidFill>
                <a:latin typeface="Courier New"/>
              </a:rPr>
              <a:t># optional cross-check</a:t>
            </a:r>
          </a:p>
          <a:p>
            <a:pPr algn="l">
              <a:spcAft>
                <a:spcPts val="200"/>
              </a:spcAft>
            </a:pPr>
            <a:r>
              <a:rPr sz="1000" b="0" i="0">
                <a:solidFill>
                  <a:srgbClr val="F1EEE9"/>
                </a:solidFill>
                <a:latin typeface="Courier New"/>
              </a:rPr>
              <a:t>drishti.var.inputs:</a:t>
            </a:r>
          </a:p>
          <a:p>
            <a:pPr algn="l">
              <a:spcAft>
                <a:spcPts val="200"/>
              </a:spcAft>
            </a:pPr>
            <a:r>
              <a:rPr sz="1000" b="0" i="0">
                <a:solidFill>
                  <a:srgbClr val="E8A0AC"/>
                </a:solidFill>
                <a:latin typeface="Courier New"/>
              </a:rPr>
              <a:t>  ENDUR:   {form: pv,  grain: trade}</a:t>
            </a:r>
          </a:p>
          <a:p>
            <a:pPr algn="l">
              <a:spcAft>
                <a:spcPts val="200"/>
              </a:spcAft>
            </a:pPr>
            <a:r>
              <a:rPr sz="1000" b="0" i="0">
                <a:solidFill>
                  <a:srgbClr val="E8A0AC"/>
                </a:solidFill>
                <a:latin typeface="Courier New"/>
              </a:rPr>
              <a:t>  CALYPSO: {form: pnl, grain: trade}</a:t>
            </a:r>
          </a:p>
          <a:p>
            <a:pPr algn="l">
              <a:spcAft>
                <a:spcPts val="200"/>
              </a:spcAft>
            </a:pPr>
            <a:r>
              <a:rPr sz="1000" b="0" i="0">
                <a:solidFill>
                  <a:srgbClr val="F1EEE9"/>
                </a:solidFill>
                <a:latin typeface="Courier New"/>
              </a:rPr>
              <a:t>  default: {form: any, grain: any}</a:t>
            </a:r>
          </a:p>
        </p:txBody>
      </p:sp>
      <p:sp>
        <p:nvSpPr>
          <p:cNvPr id="64" name="Rectangle 63"/>
          <p:cNvSpPr/>
          <p:nvPr/>
        </p:nvSpPr>
        <p:spPr>
          <a:xfrm>
            <a:off x="7498079" y="4389120"/>
            <a:ext cx="3913632" cy="137160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xtBox 64"/>
          <p:cNvSpPr txBox="1"/>
          <p:nvPr/>
        </p:nvSpPr>
        <p:spPr>
          <a:xfrm>
            <a:off x="7626096" y="4443983"/>
            <a:ext cx="3712464" cy="1280160"/>
          </a:xfrm>
          <a:prstGeom prst="rect">
            <a:avLst/>
          </a:prstGeom>
          <a:noFill/>
        </p:spPr>
        <p:txBody>
          <a:bodyPr wrap="square" lIns="0" rIns="0" tIns="0" bIns="0" anchor="t">
            <a:spAutoFit/>
          </a:bodyPr>
          <a:lstStyle/>
          <a:p>
            <a:pPr algn="l">
              <a:spcAft>
                <a:spcPts val="300"/>
              </a:spcAft>
            </a:pPr>
            <a:r>
              <a:rPr sz="1250" b="1" i="0">
                <a:solidFill>
                  <a:srgbClr val="A51C30"/>
                </a:solidFill>
              </a:rPr>
              <a:t>Guarantees</a:t>
            </a:r>
          </a:p>
          <a:p>
            <a:pPr algn="l" marL="146304" indent="-146304">
              <a:spcAft>
                <a:spcPts val="200"/>
              </a:spcAft>
              <a:buClr>
                <a:srgbClr val="A51C30"/>
              </a:buClr>
              <a:buSzPct val="100000"/>
              <a:buFont typeface="Arial"/>
              <a:buChar char="▪"/>
            </a:pPr>
            <a:r>
              <a:rPr sz="1150" b="0" i="0">
                <a:solidFill>
                  <a:srgbClr val="1A1A1A"/>
                </a:solidFill>
              </a:rPr>
              <a:t>One form and grain per system per date (DRS-5210): no double counting</a:t>
            </a:r>
          </a:p>
          <a:p>
            <a:pPr algn="l" marL="146304" indent="-146304">
              <a:spcAft>
                <a:spcPts val="200"/>
              </a:spcAft>
              <a:buClr>
                <a:srgbClr val="A51C30"/>
              </a:buClr>
              <a:buSzPct val="100000"/>
              <a:buFont typeface="Arial"/>
              <a:buChar char="▪"/>
            </a:pPr>
            <a:r>
              <a:rPr sz="1150" b="0" i="0">
                <a:solidFill>
                  <a:srgbClr val="1A1A1A"/>
                </a:solidFill>
              </a:rPr>
              <a:t>Fields missing or wrong (DRS-5208), or against the pin (DRS-5209): refused, never guessed</a:t>
            </a:r>
          </a:p>
          <a:p>
            <a:pPr algn="l" marL="146304" indent="-146304">
              <a:buClr>
                <a:srgbClr val="A51C30"/>
              </a:buClr>
              <a:buSzPct val="100000"/>
              <a:buFont typeface="Arial"/>
              <a:buChar char="▪"/>
            </a:pPr>
            <a:r>
              <a:rPr sz="1150" b="0" i="0">
                <a:solidFill>
                  <a:srgbClr val="1A1A1A"/>
                </a:solidFill>
              </a:rPr>
              <a:t>Provenance shows what each system sent</a:t>
            </a:r>
          </a:p>
        </p:txBody>
      </p:sp>
      <p:sp>
        <p:nvSpPr>
          <p:cNvPr id="66" name="TextBox 65"/>
          <p:cNvSpPr txBox="1"/>
          <p:nvPr/>
        </p:nvSpPr>
        <p:spPr>
          <a:xfrm>
            <a:off x="777240" y="5824728"/>
            <a:ext cx="10634472" cy="429768"/>
          </a:xfrm>
          <a:prstGeom prst="rect">
            <a:avLst/>
          </a:prstGeom>
          <a:noFill/>
        </p:spPr>
        <p:txBody>
          <a:bodyPr wrap="square" lIns="0" rIns="0" tIns="0" bIns="0" anchor="ctr">
            <a:spAutoFit/>
          </a:bodyPr>
          <a:lstStyle/>
          <a:p>
            <a:pPr algn="l"/>
            <a:r>
              <a:rPr sz="1100" b="1" i="0">
                <a:solidFill>
                  <a:srgbClr val="A51C30"/>
                </a:solidFill>
              </a:rPr>
              <a:t>Caveat  </a:t>
            </a:r>
            <a:r>
              <a:rPr sz="1100" b="0" i="0">
                <a:solidFill>
                  <a:srgbClr val="4A5058"/>
                </a:solidFill>
              </a:rPr>
              <a:t>a P&amp;L vector sent without its PV converts to another reporting currency only approximately (at each scenario's rate, without the FX move of its base value; counted as </a:t>
            </a:r>
            <a:r>
              <a:rPr sz="1000" b="0" i="0">
                <a:solidFill>
                  <a:srgbClr val="4A5058"/>
                </a:solidFill>
                <a:latin typeface="Courier New"/>
              </a:rPr>
              <a:t>tradesWithoutPv</a:t>
            </a:r>
            <a:r>
              <a:rPr sz="1100" b="0" i="0">
                <a:solidFill>
                  <a:srgbClr val="4A5058"/>
                </a:solidFill>
              </a:rPr>
              <a:t>). Scenario PVs give exact multi-currency VaR.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THE PV-BASED ENGINE · 2.9.4</a:t>
            </a:r>
          </a:p>
        </p:txBody>
      </p:sp>
      <p:sp>
        <p:nvSpPr>
          <p:cNvPr id="3" name="Title 2"/>
          <p:cNvSpPr>
            <a:spLocks noGrp="1"/>
          </p:cNvSpPr>
          <p:nvPr>
            <p:ph type="title" idx="104"/>
          </p:nvPr>
        </p:nvSpPr>
        <p:spPr/>
        <p:txBody>
          <a:bodyPr/>
          <a:lstStyle/>
          <a:p>
            <a:r>
              <a:t>From scenario PVs in each trade's currency to VaR in any currency</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TextBox 25"/>
          <p:cNvSpPr txBox="1"/>
          <p:nvPr/>
        </p:nvSpPr>
        <p:spPr>
          <a:xfrm>
            <a:off x="777240" y="1417320"/>
            <a:ext cx="5623560" cy="1783080"/>
          </a:xfrm>
          <a:prstGeom prst="rect">
            <a:avLst/>
          </a:prstGeom>
          <a:noFill/>
        </p:spPr>
        <p:txBody>
          <a:bodyPr wrap="square" lIns="0" rIns="0" tIns="0" bIns="0" anchor="t">
            <a:spAutoFit/>
          </a:bodyPr>
          <a:lstStyle/>
          <a:p>
            <a:pPr algn="l">
              <a:spcAft>
                <a:spcPts val="300"/>
              </a:spcAft>
            </a:pPr>
            <a:r>
              <a:rPr sz="1300" b="1" i="0">
                <a:solidFill>
                  <a:srgbClr val="A51C30"/>
                </a:solidFill>
              </a:rPr>
              <a:t>Inputs</a:t>
            </a:r>
          </a:p>
          <a:p>
            <a:pPr algn="l" marL="146304" indent="-146304">
              <a:spcAft>
                <a:spcPts val="300"/>
              </a:spcAft>
              <a:buClr>
                <a:srgbClr val="A51C30"/>
              </a:buClr>
              <a:buSzPct val="100000"/>
              <a:buFont typeface="Arial"/>
              <a:buChar char="▪"/>
            </a:pPr>
            <a:r>
              <a:rPr sz="1200" b="0" i="0">
                <a:solidFill>
                  <a:srgbClr val="1A1A1A"/>
                </a:solidFill>
              </a:rPr>
              <a:t>Pricing systems send each trade's 509 scenario PVs and base PV in the trade's own currency (</a:t>
            </a:r>
            <a:r>
              <a:rPr sz="1100" b="0" i="0">
                <a:solidFill>
                  <a:srgbClr val="1A1A1A"/>
                </a:solidFill>
                <a:latin typeface="Courier New"/>
              </a:rPr>
              <a:t>scenario-pv</a:t>
            </a:r>
            <a:r>
              <a:rPr sz="1200" b="0" i="0">
                <a:solidFill>
                  <a:srgbClr val="1A1A1A"/>
                </a:solidFill>
              </a:rPr>
              <a:t>). The USD P&amp;L-vector form stays supported; a date may mix both, a trade in one form.</a:t>
            </a:r>
          </a:p>
          <a:p>
            <a:pPr algn="l" marL="146304" indent="-146304">
              <a:spcAft>
                <a:spcPts val="300"/>
              </a:spcAft>
              <a:buClr>
                <a:srgbClr val="A51C30"/>
              </a:buClr>
              <a:buSzPct val="100000"/>
              <a:buFont typeface="Arial"/>
              <a:buChar char="▪"/>
            </a:pPr>
            <a:r>
              <a:rPr sz="1200" b="0" i="0">
                <a:solidFill>
                  <a:srgbClr val="1A1A1A"/>
                </a:solidFill>
              </a:rPr>
              <a:t>Scenario FX: the batch's own (</a:t>
            </a:r>
            <a:r>
              <a:rPr sz="1100" b="0" i="0">
                <a:solidFill>
                  <a:srgbClr val="1A1A1A"/>
                </a:solidFill>
                <a:latin typeface="Courier New"/>
              </a:rPr>
              <a:t>fx-scenario</a:t>
            </a:r>
            <a:r>
              <a:rPr sz="1200" b="0" i="0">
                <a:solidFill>
                  <a:srgbClr val="1A1A1A"/>
                </a:solidFill>
              </a:rPr>
              <a:t>) when sent, else derived from the FX history. Every cross goes via USD. Horizon: 1 day.</a:t>
            </a:r>
          </a:p>
          <a:p>
            <a:pPr algn="l" marL="146304" indent="-146304">
              <a:buClr>
                <a:srgbClr val="A51C30"/>
              </a:buClr>
              <a:buSzPct val="100000"/>
              <a:buFont typeface="Arial"/>
              <a:buChar char="▪"/>
            </a:pPr>
            <a:r>
              <a:rPr sz="1200" b="0" i="0">
                <a:solidFill>
                  <a:srgbClr val="1A1A1A"/>
                </a:solidFill>
              </a:rPr>
              <a:t>Converted when the date loads; positions, nodes, captures and official records do not know which form a trade came in.</a:t>
            </a:r>
          </a:p>
        </p:txBody>
      </p:sp>
      <p:sp>
        <p:nvSpPr>
          <p:cNvPr id="27" name="Rectangle 26"/>
          <p:cNvSpPr/>
          <p:nvPr/>
        </p:nvSpPr>
        <p:spPr>
          <a:xfrm>
            <a:off x="777240" y="3200400"/>
            <a:ext cx="5623560" cy="1170432"/>
          </a:xfrm>
          <a:prstGeom prst="rect">
            <a:avLst/>
          </a:prstGeom>
          <a:solidFill>
            <a:srgbClr val="1E1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14400" y="3273552"/>
            <a:ext cx="5394960" cy="1051560"/>
          </a:xfrm>
          <a:prstGeom prst="rect">
            <a:avLst/>
          </a:prstGeom>
          <a:noFill/>
        </p:spPr>
        <p:txBody>
          <a:bodyPr wrap="square" lIns="0" rIns="0" tIns="0" bIns="0" anchor="t">
            <a:spAutoFit/>
          </a:bodyPr>
          <a:lstStyle/>
          <a:p>
            <a:pPr algn="l">
              <a:spcAft>
                <a:spcPts val="200"/>
              </a:spcAft>
            </a:pPr>
            <a:r>
              <a:rPr sz="1100" b="1" i="0">
                <a:solidFill>
                  <a:srgbClr val="E8A0AC"/>
                </a:solidFill>
                <a:latin typeface="Courier New"/>
              </a:rPr>
              <a:t>USD P&amp;L     </a:t>
            </a:r>
            <a:r>
              <a:rPr sz="1100" b="0" i="0">
                <a:solidFill>
                  <a:srgbClr val="F1EEE9"/>
                </a:solidFill>
                <a:latin typeface="Courier New"/>
              </a:rPr>
              <a:t>PV(s)·FX_c(s) − PV(base)·FX_c(base)</a:t>
            </a:r>
          </a:p>
          <a:p>
            <a:pPr algn="l">
              <a:spcAft>
                <a:spcPts val="200"/>
              </a:spcAft>
            </a:pPr>
            <a:r>
              <a:rPr sz="1100" b="1" i="0">
                <a:solidFill>
                  <a:srgbClr val="E8A0AC"/>
                </a:solidFill>
                <a:latin typeface="Courier New"/>
              </a:rPr>
              <a:t>FX derived  </a:t>
            </a:r>
            <a:r>
              <a:rPr sz="1100" b="0" i="0">
                <a:solidFill>
                  <a:srgbClr val="F1EEE9"/>
                </a:solidFill>
                <a:latin typeface="Courier New"/>
              </a:rPr>
              <a:t>FX(s) = FX(base) · H(d_s) / H(d_s − 1)</a:t>
            </a:r>
          </a:p>
          <a:p>
            <a:pPr algn="l">
              <a:spcAft>
                <a:spcPts val="200"/>
              </a:spcAft>
            </a:pPr>
            <a:r>
              <a:rPr sz="1100" b="1" i="0">
                <a:solidFill>
                  <a:srgbClr val="E8A0AC"/>
                </a:solidFill>
                <a:latin typeface="Courier New"/>
              </a:rPr>
              <a:t>In r        </a:t>
            </a:r>
            <a:r>
              <a:rPr sz="1100" b="0" i="0">
                <a:solidFill>
                  <a:srgbClr val="F1EEE9"/>
                </a:solidFill>
                <a:latin typeface="Courier New"/>
              </a:rPr>
              <a:t>(p + P&amp;L_USD(s)) / FX_r(s) − p / FX_r(base)</a:t>
            </a:r>
          </a:p>
          <a:p>
            <a:pPr algn="l">
              <a:spcAft>
                <a:spcPts val="200"/>
              </a:spcAft>
            </a:pPr>
            <a:r>
              <a:rPr sz="1100" b="1" i="0">
                <a:solidFill>
                  <a:srgbClr val="E8A0AC"/>
                </a:solidFill>
                <a:latin typeface="Courier New"/>
              </a:rPr>
              <a:t>Node in X   </a:t>
            </a:r>
            <a:r>
              <a:rPr sz="1100" b="0" i="0">
                <a:solidFill>
                  <a:srgbClr val="F1EEE9"/>
                </a:solidFill>
                <a:latin typeface="Courier New"/>
              </a:rPr>
              <a:t>Σ_c [PVsum_c(s)·FX_c→X(s) − PVbase_c·FX_c→X(base)]</a:t>
            </a:r>
          </a:p>
        </p:txBody>
      </p:sp>
      <p:sp>
        <p:nvSpPr>
          <p:cNvPr id="29" name="Rectangle 28"/>
          <p:cNvSpPr/>
          <p:nvPr/>
        </p:nvSpPr>
        <p:spPr>
          <a:xfrm>
            <a:off x="777240" y="4498848"/>
            <a:ext cx="5623560" cy="173736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914400" y="4553712"/>
            <a:ext cx="5394960" cy="1645920"/>
          </a:xfrm>
          <a:prstGeom prst="rect">
            <a:avLst/>
          </a:prstGeom>
          <a:noFill/>
        </p:spPr>
        <p:txBody>
          <a:bodyPr wrap="square" lIns="0" rIns="0" tIns="0" bIns="0" anchor="t">
            <a:spAutoFit/>
          </a:bodyPr>
          <a:lstStyle/>
          <a:p>
            <a:pPr algn="l">
              <a:spcAft>
                <a:spcPts val="300"/>
              </a:spcAft>
            </a:pPr>
            <a:r>
              <a:rPr sz="1250" b="1" i="0">
                <a:solidFill>
                  <a:srgbClr val="A51C30"/>
                </a:solidFill>
              </a:rPr>
              <a:t>Reporting currencies</a:t>
            </a:r>
          </a:p>
          <a:p>
            <a:pPr algn="l" marL="146304" indent="-146304">
              <a:spcAft>
                <a:spcPts val="300"/>
              </a:spcAft>
              <a:buClr>
                <a:srgbClr val="A51C30"/>
              </a:buClr>
              <a:buSzPct val="100000"/>
              <a:buFont typeface="Arial"/>
              <a:buChar char="▪"/>
            </a:pPr>
            <a:r>
              <a:rPr sz="1150" b="0" i="0">
                <a:solidFill>
                  <a:srgbClr val="1A1A1A"/>
                </a:solidFill>
              </a:rPr>
              <a:t>Built ahead in the background: USD · EUR · CAD · JPY · GBP (</a:t>
            </a:r>
            <a:r>
              <a:rPr sz="1050" b="0" i="0">
                <a:solidFill>
                  <a:srgbClr val="1A1A1A"/>
                </a:solidFill>
                <a:latin typeface="Courier New"/>
              </a:rPr>
              <a:t>drishti.var.currencies</a:t>
            </a:r>
            <a:r>
              <a:rPr sz="1150" b="0" i="0">
                <a:solidFill>
                  <a:srgbClr val="1A1A1A"/>
                </a:solidFill>
              </a:rPr>
              <a:t>); the newest 5 dates kept; any other currency with FX on first ask.</a:t>
            </a:r>
          </a:p>
          <a:p>
            <a:pPr algn="l" marL="146304" indent="-146304">
              <a:spcAft>
                <a:spcPts val="300"/>
              </a:spcAft>
              <a:buClr>
                <a:srgbClr val="A51C30"/>
              </a:buClr>
              <a:buSzPct val="100000"/>
              <a:buFont typeface="Arial"/>
              <a:buChar char="▪"/>
            </a:pPr>
            <a:r>
              <a:rPr sz="1150" b="0" i="0">
                <a:solidFill>
                  <a:srgbClr val="1A1A1A"/>
                </a:solidFill>
              </a:rPr>
              <a:t>Every node keeps its PVs summed per trade currency: a headline in any currency is exact to the cent.</a:t>
            </a:r>
          </a:p>
          <a:p>
            <a:pPr algn="l" marL="146304" indent="-146304">
              <a:buClr>
                <a:srgbClr val="A51C30"/>
              </a:buClr>
              <a:buSzPct val="100000"/>
              <a:buFont typeface="Arial"/>
              <a:buChar char="▪"/>
            </a:pPr>
            <a:r>
              <a:rPr sz="1150" b="0" i="0">
                <a:solidFill>
                  <a:srgbClr val="1A1A1A"/>
                </a:solidFill>
              </a:rPr>
              <a:t>Trade pages say the Trade currency (EUR · as priced); official records in USD, others per setting.</a:t>
            </a:r>
          </a:p>
        </p:txBody>
      </p:sp>
      <p:sp>
        <p:nvSpPr>
          <p:cNvPr id="31" name="TextBox 30"/>
          <p:cNvSpPr txBox="1"/>
          <p:nvPr/>
        </p:nvSpPr>
        <p:spPr>
          <a:xfrm>
            <a:off x="6720840" y="1417320"/>
            <a:ext cx="4690872" cy="274320"/>
          </a:xfrm>
          <a:prstGeom prst="rect">
            <a:avLst/>
          </a:prstGeom>
          <a:noFill/>
        </p:spPr>
        <p:txBody>
          <a:bodyPr wrap="square" lIns="0" rIns="0" tIns="0" bIns="0" anchor="t">
            <a:spAutoFit/>
          </a:bodyPr>
          <a:lstStyle/>
          <a:p>
            <a:pPr algn="l"/>
            <a:r>
              <a:rPr sz="1300" b="1" i="0">
                <a:solidFill>
                  <a:srgbClr val="A51C30"/>
                </a:solidFill>
              </a:rPr>
              <a:t>Why EUR VaR ≠ USD VaR × today's rate  </a:t>
            </a:r>
          </a:p>
          <a:p>
            <a:pPr algn="l"/>
            <a:r>
              <a:rPr sz="1100" b="0" i="0">
                <a:solidFill>
                  <a:srgbClr val="4A5058"/>
                </a:solidFill>
              </a:rPr>
              <a:t>the bank, EUR millions</a:t>
            </a:r>
          </a:p>
        </p:txBody>
      </p:sp>
      <p:graphicFrame>
        <p:nvGraphicFramePr>
          <p:cNvPr id="32" name="Chart 31"/>
          <p:cNvGraphicFramePr>
            <a:graphicFrameLocks noGrp="1"/>
          </p:cNvGraphicFramePr>
          <p:nvPr/>
        </p:nvGraphicFramePr>
        <p:xfrm>
          <a:off x="6720840" y="1719072"/>
          <a:ext cx="4690872" cy="1325880"/>
        </p:xfrm>
        <a:graphic>
          <a:graphicData uri="http://schemas.openxmlformats.org/drawingml/2006/chart">
            <c:chart xmlns:c="http://schemas.openxmlformats.org/drawingml/2006/chart" r:id="rId2"/>
          </a:graphicData>
        </a:graphic>
      </p:graphicFrame>
      <p:sp>
        <p:nvSpPr>
          <p:cNvPr id="33" name="TextBox 32"/>
          <p:cNvSpPr txBox="1"/>
          <p:nvPr/>
        </p:nvSpPr>
        <p:spPr>
          <a:xfrm>
            <a:off x="6720840" y="3072384"/>
            <a:ext cx="4690872" cy="566928"/>
          </a:xfrm>
          <a:prstGeom prst="rect">
            <a:avLst/>
          </a:prstGeom>
          <a:noFill/>
        </p:spPr>
        <p:txBody>
          <a:bodyPr wrap="square" lIns="0" rIns="0" tIns="0" bIns="0" anchor="t">
            <a:spAutoFit/>
          </a:bodyPr>
          <a:lstStyle/>
          <a:p>
            <a:pPr algn="l"/>
            <a:r>
              <a:rPr sz="1150" b="0" i="0">
                <a:solidFill>
                  <a:srgbClr val="4A5058"/>
                </a:solidFill>
              </a:rPr>
              <a:t>The bank on 2026-09-30 holds a net 3.65 bn USD of value; on the scenario days it moves against the euro, a risk a euro-based owner carries and a dollar-based one does not.</a:t>
            </a:r>
          </a:p>
        </p:txBody>
      </p:sp>
      <p:graphicFrame>
        <p:nvGraphicFramePr>
          <p:cNvPr id="34" name="Table 33"/>
          <p:cNvGraphicFramePr>
            <a:graphicFrameLocks noGrp="1"/>
          </p:cNvGraphicFramePr>
          <p:nvPr/>
        </p:nvGraphicFramePr>
        <p:xfrm>
          <a:off x="6720840" y="3675887"/>
          <a:ext cx="4690872" cy="1481328"/>
        </p:xfrm>
        <a:graphic>
          <a:graphicData uri="http://schemas.openxmlformats.org/drawingml/2006/table">
            <a:tbl>
              <a:tblPr firstRow="0" bandRow="0">
                <a:tableStyleId>{5940675A-B579-460E-94D1-54222C63F5DA}</a:tableStyleId>
              </a:tblPr>
              <a:tblGrid>
                <a:gridCol w="685800"/>
                <a:gridCol w="2002536"/>
                <a:gridCol w="2002536"/>
              </a:tblGrid>
              <a:tr h="246888">
                <a:tc>
                  <a:txBody>
                    <a:bodyPr wrap="square"/>
                    <a:lstStyle/>
                    <a:p>
                      <a:r>
                        <a:rPr sz="1150" b="1" i="0">
                          <a:solidFill>
                            <a:srgbClr val="FFFFFF"/>
                          </a:solidFill>
                        </a:rPr>
                        <a:t>Ccy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50" b="1" i="0">
                          <a:solidFill>
                            <a:srgbClr val="FFFFFF"/>
                          </a:solidFill>
                        </a:rPr>
                        <a:t>Bank VaR 99%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50" b="1" i="0">
                          <a:solidFill>
                            <a:srgbClr val="FFFFFF"/>
                          </a:solidFill>
                        </a:rPr>
                        <a:t>Bank ES 97.5%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246888">
                <a:tc>
                  <a:txBody>
                    <a:bodyPr wrap="square"/>
                    <a:lstStyle/>
                    <a:p>
                      <a:r>
                        <a:rPr sz="1150" b="1" i="0">
                          <a:solidFill>
                            <a:srgbClr val="8A1626"/>
                          </a:solidFill>
                        </a:rPr>
                        <a:t>USD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112,041,646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160,143,809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1150" b="1" i="0">
                          <a:solidFill>
                            <a:srgbClr val="8A1626"/>
                          </a:solidFill>
                        </a:rPr>
                        <a:t>EUR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111,837,045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137,631,546</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1150" b="1" i="0">
                          <a:solidFill>
                            <a:srgbClr val="8A1626"/>
                          </a:solidFill>
                        </a:rPr>
                        <a:t>CAD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189,801,404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230,680,413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1150" b="1" i="0">
                          <a:solidFill>
                            <a:srgbClr val="8A1626"/>
                          </a:solidFill>
                        </a:rPr>
                        <a:t>JPY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20,883,226,318</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23,578,418,999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1150" b="1" i="0">
                          <a:solidFill>
                            <a:srgbClr val="8A1626"/>
                          </a:solidFill>
                        </a:rPr>
                        <a:t>GBP</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104,139,554</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125,595,958</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bl>
          </a:graphicData>
        </a:graphic>
      </p:graphicFrame>
      <p:sp>
        <p:nvSpPr>
          <p:cNvPr id="35" name="Rectangle 34"/>
          <p:cNvSpPr/>
          <p:nvPr/>
        </p:nvSpPr>
        <p:spPr>
          <a:xfrm>
            <a:off x="6720840" y="5257800"/>
            <a:ext cx="4690872" cy="960120"/>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6848855" y="5285232"/>
            <a:ext cx="4462272" cy="914400"/>
          </a:xfrm>
          <a:prstGeom prst="rect">
            <a:avLst/>
          </a:prstGeom>
          <a:noFill/>
        </p:spPr>
        <p:txBody>
          <a:bodyPr wrap="square" lIns="0" rIns="0" tIns="0" bIns="0" anchor="ctr">
            <a:spAutoFit/>
          </a:bodyPr>
          <a:lstStyle/>
          <a:p>
            <a:pPr algn="l"/>
            <a:r>
              <a:rPr sz="1150" b="1" i="0">
                <a:solidFill>
                  <a:srgbClr val="8A1626"/>
                </a:solidFill>
              </a:rPr>
              <a:t>On the demo: </a:t>
            </a:r>
            <a:r>
              <a:rPr sz="1150" b="0" i="0">
                <a:solidFill>
                  <a:srgbClr val="1A1A1A"/>
                </a:solidFill>
              </a:rPr>
              <a:t>the 1,339 Endur trades come as scenario PVs (1,089 USD, 246 EUR, 4 CAD). Bank VaR 112,035,906 → 112,041,646 and ES 160,132,107 → 160,143,809: the FX move of the 250 EUR and CAD trades. A USD trade reproduces its vector exactly.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INTRADAY UPDATES · 2.9.4</a:t>
            </a:r>
          </a:p>
        </p:txBody>
      </p:sp>
      <p:sp>
        <p:nvSpPr>
          <p:cNvPr id="3" name="Title 2"/>
          <p:cNvSpPr>
            <a:spLocks noGrp="1"/>
          </p:cNvSpPr>
          <p:nvPr>
            <p:ph type="title" idx="104"/>
          </p:nvPr>
        </p:nvSpPr>
        <p:spPr/>
        <p:txBody>
          <a:bodyPr/>
          <a:lstStyle/>
          <a:p>
            <a:r>
              <a:t>Intraday: only the changed trades, applied as new − old up the tree</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63040"/>
            <a:ext cx="1947672" cy="1298448"/>
          </a:xfrm>
          <a:prstGeom prst="rect">
            <a:avLst/>
          </a:prstGeom>
          <a:solidFill>
            <a:srgbClr val="F7F5F2"/>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868680" y="1527048"/>
            <a:ext cx="1783080" cy="1207007"/>
          </a:xfrm>
          <a:prstGeom prst="rect">
            <a:avLst/>
          </a:prstGeom>
          <a:noFill/>
        </p:spPr>
        <p:txBody>
          <a:bodyPr wrap="square" lIns="0" rIns="0" tIns="0" bIns="0" anchor="t">
            <a:spAutoFit/>
          </a:bodyPr>
          <a:lstStyle/>
          <a:p>
            <a:pPr algn="l">
              <a:spcAft>
                <a:spcPts val="300"/>
              </a:spcAft>
            </a:pPr>
            <a:r>
              <a:rPr sz="1250" b="1" i="0">
                <a:solidFill>
                  <a:srgbClr val="8A1626"/>
                </a:solidFill>
              </a:rPr>
              <a:t>Morning full run</a:t>
            </a:r>
          </a:p>
          <a:p>
            <a:pPr algn="l"/>
            <a:r>
              <a:rPr sz="1100" b="0" i="0">
                <a:solidFill>
                  <a:srgbClr val="4A5058"/>
                </a:solidFill>
              </a:rPr>
              <a:t>RUN_KIND FULL: every live trade; the date loads, hot file built; official records taken from it</a:t>
            </a:r>
          </a:p>
        </p:txBody>
      </p:sp>
      <p:cxnSp>
        <p:nvCxnSpPr>
          <p:cNvPr id="28" name="Connector 27"/>
          <p:cNvCxnSpPr/>
          <p:nvPr/>
        </p:nvCxnSpPr>
        <p:spPr>
          <a:xfrm>
            <a:off x="2743200" y="2112264"/>
            <a:ext cx="187452" cy="0"/>
          </a:xfrm>
          <a:prstGeom prst="line">
            <a:avLst/>
          </a:prstGeom>
          <a:ln w="2222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2948940" y="1463040"/>
            <a:ext cx="1947672" cy="1298448"/>
          </a:xfrm>
          <a:prstGeom prst="rect">
            <a:avLst/>
          </a:prstGeom>
          <a:solidFill>
            <a:srgbClr val="F7F5F2"/>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3040380" y="1527048"/>
            <a:ext cx="1783080" cy="1207007"/>
          </a:xfrm>
          <a:prstGeom prst="rect">
            <a:avLst/>
          </a:prstGeom>
          <a:noFill/>
        </p:spPr>
        <p:txBody>
          <a:bodyPr wrap="square" lIns="0" rIns="0" tIns="0" bIns="0" anchor="t">
            <a:spAutoFit/>
          </a:bodyPr>
          <a:lstStyle/>
          <a:p>
            <a:pPr algn="l">
              <a:spcAft>
                <a:spcPts val="300"/>
              </a:spcAft>
            </a:pPr>
            <a:r>
              <a:rPr sz="1250" b="1" i="0">
                <a:solidFill>
                  <a:srgbClr val="8A1626"/>
                </a:solidFill>
              </a:rPr>
              <a:t>Changed trades</a:t>
            </a:r>
          </a:p>
          <a:p>
            <a:pPr algn="l"/>
            <a:r>
              <a:rPr sz="1100" b="0" i="0">
                <a:solidFill>
                  <a:srgbClr val="4A5058"/>
                </a:solidFill>
              </a:rPr>
              <a:t>Amended, new, cancelled; same scenario set; own BATCH_ID, later COMPUTED_AT</a:t>
            </a:r>
          </a:p>
        </p:txBody>
      </p:sp>
      <p:cxnSp>
        <p:nvCxnSpPr>
          <p:cNvPr id="31" name="Connector 30"/>
          <p:cNvCxnSpPr/>
          <p:nvPr/>
        </p:nvCxnSpPr>
        <p:spPr>
          <a:xfrm>
            <a:off x="4914900" y="2112264"/>
            <a:ext cx="187452" cy="0"/>
          </a:xfrm>
          <a:prstGeom prst="line">
            <a:avLst/>
          </a:prstGeom>
          <a:ln w="2222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120640" y="1463040"/>
            <a:ext cx="1947672" cy="1298448"/>
          </a:xfrm>
          <a:prstGeom prst="rect">
            <a:avLst/>
          </a:prstGeom>
          <a:solidFill>
            <a:srgbClr val="F7F5F2"/>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5212079" y="1527048"/>
            <a:ext cx="1783080" cy="1207007"/>
          </a:xfrm>
          <a:prstGeom prst="rect">
            <a:avLst/>
          </a:prstGeom>
          <a:noFill/>
        </p:spPr>
        <p:txBody>
          <a:bodyPr wrap="square" lIns="0" rIns="0" tIns="0" bIns="0" anchor="t">
            <a:spAutoFit/>
          </a:bodyPr>
          <a:lstStyle/>
          <a:p>
            <a:pPr algn="l">
              <a:spcAft>
                <a:spcPts val="300"/>
              </a:spcAft>
            </a:pPr>
            <a:r>
              <a:rPr sz="1250" b="1" i="0">
                <a:solidFill>
                  <a:srgbClr val="8A1626"/>
                </a:solidFill>
              </a:rPr>
              <a:t>Lake: appended batch</a:t>
            </a:r>
          </a:p>
          <a:p>
            <a:pPr algn="l"/>
            <a:r>
              <a:rPr sz="1100" b="0" i="0">
                <a:solidFill>
                  <a:srgbClr val="4A5058"/>
                </a:solidFill>
              </a:rPr>
              <a:t>Files: drishti.py var intraday --load (lake build --mode append). Kafka: one batch per window</a:t>
            </a:r>
          </a:p>
        </p:txBody>
      </p:sp>
      <p:cxnSp>
        <p:nvCxnSpPr>
          <p:cNvPr id="34" name="Connector 33"/>
          <p:cNvCxnSpPr/>
          <p:nvPr/>
        </p:nvCxnSpPr>
        <p:spPr>
          <a:xfrm>
            <a:off x="7086599" y="2112264"/>
            <a:ext cx="187453" cy="0"/>
          </a:xfrm>
          <a:prstGeom prst="line">
            <a:avLst/>
          </a:prstGeom>
          <a:ln w="2222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292340" y="1463040"/>
            <a:ext cx="1947672" cy="1298448"/>
          </a:xfrm>
          <a:prstGeom prst="rect">
            <a:avLst/>
          </a:prstGeom>
          <a:solidFill>
            <a:srgbClr val="F6E6E9"/>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7383779" y="1527048"/>
            <a:ext cx="1783080" cy="1207007"/>
          </a:xfrm>
          <a:prstGeom prst="rect">
            <a:avLst/>
          </a:prstGeom>
          <a:noFill/>
        </p:spPr>
        <p:txBody>
          <a:bodyPr wrap="square" lIns="0" rIns="0" tIns="0" bIns="0" anchor="t">
            <a:spAutoFit/>
          </a:bodyPr>
          <a:lstStyle/>
          <a:p>
            <a:pPr algn="l">
              <a:spcAft>
                <a:spcPts val="300"/>
              </a:spcAft>
            </a:pPr>
            <a:r>
              <a:rPr sz="1250" b="1" i="0">
                <a:solidFill>
                  <a:srgbClr val="8A1626"/>
                </a:solidFill>
              </a:rPr>
              <a:t>Apply: new − old</a:t>
            </a:r>
          </a:p>
          <a:p>
            <a:pPr algn="l"/>
            <a:r>
              <a:rPr sz="1100" b="0" i="0">
                <a:solidFill>
                  <a:srgbClr val="4A5058"/>
                </a:solidFill>
              </a:rPr>
              <a:t>Into the book, every node above (MGMT and LEGAL), the currency totals and built currencies</a:t>
            </a:r>
          </a:p>
        </p:txBody>
      </p:sp>
      <p:cxnSp>
        <p:nvCxnSpPr>
          <p:cNvPr id="37" name="Connector 36"/>
          <p:cNvCxnSpPr/>
          <p:nvPr/>
        </p:nvCxnSpPr>
        <p:spPr>
          <a:xfrm>
            <a:off x="9258300" y="2112264"/>
            <a:ext cx="187452" cy="0"/>
          </a:xfrm>
          <a:prstGeom prst="line">
            <a:avLst/>
          </a:prstGeom>
          <a:ln w="2222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9464040" y="1463040"/>
            <a:ext cx="1947672" cy="1298448"/>
          </a:xfrm>
          <a:prstGeom prst="rect">
            <a:avLst/>
          </a:prstGeom>
          <a:solidFill>
            <a:srgbClr val="F7F5F2"/>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9555480" y="1527048"/>
            <a:ext cx="1783080" cy="1207007"/>
          </a:xfrm>
          <a:prstGeom prst="rect">
            <a:avLst/>
          </a:prstGeom>
          <a:noFill/>
        </p:spPr>
        <p:txBody>
          <a:bodyPr wrap="square" lIns="0" rIns="0" tIns="0" bIns="0" anchor="t">
            <a:spAutoFit/>
          </a:bodyPr>
          <a:lstStyle/>
          <a:p>
            <a:pPr algn="l">
              <a:spcAft>
                <a:spcPts val="300"/>
              </a:spcAft>
            </a:pPr>
            <a:r>
              <a:rPr sz="1250" b="1" i="0">
                <a:solidFill>
                  <a:srgbClr val="8A1626"/>
                </a:solidFill>
              </a:rPr>
              <a:t>Answers say intraday</a:t>
            </a:r>
          </a:p>
          <a:p>
            <a:pPr algn="l"/>
            <a:r>
              <a:rPr sz="1100" b="0" i="0">
                <a:solidFill>
                  <a:srgbClr val="4A5058"/>
                </a:solidFill>
              </a:rPr>
              <a:t>Badge in the status line, intraday on every answer; morning hot file never changed</a:t>
            </a:r>
          </a:p>
        </p:txBody>
      </p:sp>
      <p:sp>
        <p:nvSpPr>
          <p:cNvPr id="40" name="Rounded Rectangle 39"/>
          <p:cNvSpPr/>
          <p:nvPr/>
        </p:nvSpPr>
        <p:spPr>
          <a:xfrm>
            <a:off x="3040380" y="2834640"/>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41" name="TextBox 40"/>
          <p:cNvSpPr txBox="1"/>
          <p:nvPr/>
        </p:nvSpPr>
        <p:spPr>
          <a:xfrm>
            <a:off x="3662172" y="2816352"/>
            <a:ext cx="1463040" cy="237744"/>
          </a:xfrm>
          <a:prstGeom prst="rect">
            <a:avLst/>
          </a:prstGeom>
          <a:noFill/>
        </p:spPr>
        <p:txBody>
          <a:bodyPr wrap="square" lIns="0" rIns="0" tIns="0" bIns="0" anchor="ctr">
            <a:spAutoFit/>
          </a:bodyPr>
          <a:lstStyle/>
          <a:p>
            <a:pPr algn="l"/>
            <a:r>
              <a:rPr sz="1100" b="1" i="0">
                <a:solidFill>
                  <a:srgbClr val="8A1626"/>
                </a:solidFill>
              </a:rPr>
              <a:t>JSONL files</a:t>
            </a:r>
          </a:p>
        </p:txBody>
      </p:sp>
      <p:sp>
        <p:nvSpPr>
          <p:cNvPr id="42" name="Rounded Rectangle 41"/>
          <p:cNvSpPr/>
          <p:nvPr/>
        </p:nvSpPr>
        <p:spPr>
          <a:xfrm>
            <a:off x="5216652" y="2834640"/>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43" name="TextBox 42"/>
          <p:cNvSpPr txBox="1"/>
          <p:nvPr/>
        </p:nvSpPr>
        <p:spPr>
          <a:xfrm>
            <a:off x="5856732" y="2816352"/>
            <a:ext cx="1828800" cy="237744"/>
          </a:xfrm>
          <a:prstGeom prst="rect">
            <a:avLst/>
          </a:prstGeom>
          <a:noFill/>
        </p:spPr>
        <p:txBody>
          <a:bodyPr wrap="square" lIns="0" rIns="0" tIns="0" bIns="0" anchor="ctr">
            <a:spAutoFit/>
          </a:bodyPr>
          <a:lstStyle/>
          <a:p>
            <a:pPr algn="l"/>
            <a:r>
              <a:rPr sz="1100" b="1" i="0">
                <a:solidFill>
                  <a:srgbClr val="8A1626"/>
                </a:solidFill>
              </a:rPr>
              <a:t>Kafka micro-batches</a:t>
            </a:r>
          </a:p>
        </p:txBody>
      </p:sp>
      <p:graphicFrame>
        <p:nvGraphicFramePr>
          <p:cNvPr id="44" name="Table 43"/>
          <p:cNvGraphicFramePr>
            <a:graphicFrameLocks noGrp="1"/>
          </p:cNvGraphicFramePr>
          <p:nvPr/>
        </p:nvGraphicFramePr>
        <p:xfrm>
          <a:off x="777240" y="3154680"/>
          <a:ext cx="6172200" cy="2633472"/>
        </p:xfrm>
        <a:graphic>
          <a:graphicData uri="http://schemas.openxmlformats.org/drawingml/2006/table">
            <a:tbl>
              <a:tblPr firstRow="0" bandRow="0">
                <a:tableStyleId>{5940675A-B579-460E-94D1-54222C63F5DA}</a:tableStyleId>
              </a:tblPr>
              <a:tblGrid>
                <a:gridCol w="2697480"/>
                <a:gridCol w="3474720"/>
              </a:tblGrid>
              <a:tr h="329184">
                <a:tc>
                  <a:txBody>
                    <a:bodyPr wrap="square"/>
                    <a:lstStyle/>
                    <a:p>
                      <a:r>
                        <a:rPr sz="1150" b="1" i="0">
                          <a:solidFill>
                            <a:srgbClr val="FFFFFF"/>
                          </a:solidFill>
                        </a:rPr>
                        <a:t>Case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50" b="1" i="0">
                          <a:solidFill>
                            <a:srgbClr val="FFFFFF"/>
                          </a:solidFill>
                        </a:rPr>
                        <a:t>What the engine does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329184">
                <a:tc>
                  <a:txBody>
                    <a:bodyPr wrap="square"/>
                    <a:lstStyle/>
                    <a:p>
                      <a:r>
                        <a:rPr sz="1150" b="1" i="0">
                          <a:solidFill>
                            <a:srgbClr val="8A1626"/>
                          </a:solidFill>
                        </a:rPr>
                        <a:t>Same trade in several batches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latest COMPUTED_AT wins across files and Kafka; an equal one keeps the first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29184">
                <a:tc>
                  <a:txBody>
                    <a:bodyPr wrap="square"/>
                    <a:lstStyle/>
                    <a:p>
                      <a:r>
                        <a:rPr sz="1150" b="1" i="0">
                          <a:solidFill>
                            <a:srgbClr val="8A1626"/>
                          </a:solidFill>
                        </a:rPr>
                        <a:t>COMPUTED_AT before the morning run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ignored and counted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29184">
                <a:tc>
                  <a:txBody>
                    <a:bodyPr wrap="square"/>
                    <a:lstStyle/>
                    <a:p>
                      <a:r>
                        <a:rPr sz="1150" b="1" i="0">
                          <a:solidFill>
                            <a:srgbClr val="8A1626"/>
                          </a:solidFill>
                        </a:rPr>
                        <a:t>Cancel (CANCELLED, vector null)</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trade removed from every scope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29184">
                <a:tc>
                  <a:txBody>
                    <a:bodyPr wrap="square"/>
                    <a:lstStyle/>
                    <a:p>
                      <a:r>
                        <a:rPr sz="1150" b="1" i="0">
                          <a:solidFill>
                            <a:srgbClr val="8A1626"/>
                          </a:solidFill>
                        </a:rPr>
                        <a:t>New trade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book from TT_BOOK, position by the position rules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29184">
                <a:tc>
                  <a:txBody>
                    <a:bodyPr wrap="square"/>
                    <a:lstStyle/>
                    <a:p>
                      <a:r>
                        <a:rPr sz="1150" b="1" i="0">
                          <a:solidFill>
                            <a:srgbClr val="8A1626"/>
                          </a:solidFill>
                        </a:rPr>
                        <a:t>Moved to another book or position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old ordinal cancelled, added in its new place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329184">
                <a:tc>
                  <a:txBody>
                    <a:bodyPr wrap="square"/>
                    <a:lstStyle/>
                    <a:p>
                      <a:r>
                        <a:rPr sz="1150" b="1" i="0">
                          <a:solidFill>
                            <a:srgbClr val="8A1626"/>
                          </a:solidFill>
                        </a:rPr>
                        <a:t>Another scenario set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50" b="0" i="0">
                          <a:solidFill>
                            <a:srgbClr val="1A1A1A"/>
                          </a:solidFill>
                        </a:rPr>
                        <a:t>row refused (DRS-5203); the date stays as it is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329184">
                <a:tc>
                  <a:txBody>
                    <a:bodyPr wrap="square"/>
                    <a:lstStyle/>
                    <a:p>
                      <a:r>
                        <a:rPr sz="1150" b="1" i="0">
                          <a:solidFill>
                            <a:srgbClr val="8A1626"/>
                          </a:solidFill>
                        </a:rPr>
                        <a:t>A full run of the date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50" b="0" i="0">
                          <a:solidFill>
                            <a:srgbClr val="1A1A1A"/>
                          </a:solidFill>
                        </a:rPr>
                        <a:t>date reloads; the intraday layer is dropped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bl>
          </a:graphicData>
        </a:graphic>
      </p:graphicFrame>
      <p:sp>
        <p:nvSpPr>
          <p:cNvPr id="45" name="Rectangle 44"/>
          <p:cNvSpPr/>
          <p:nvPr/>
        </p:nvSpPr>
        <p:spPr>
          <a:xfrm>
            <a:off x="7178040" y="3154680"/>
            <a:ext cx="4233672" cy="1874519"/>
          </a:xfrm>
          <a:prstGeom prst="rect">
            <a:avLst/>
          </a:prstGeom>
          <a:solidFill>
            <a:srgbClr val="F7F5F2"/>
          </a:solidFill>
          <a:ln w="12700">
            <a:solidFill>
              <a:srgbClr val="29335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7315200" y="3218688"/>
            <a:ext cx="4005072" cy="1783080"/>
          </a:xfrm>
          <a:prstGeom prst="rect">
            <a:avLst/>
          </a:prstGeom>
          <a:noFill/>
        </p:spPr>
        <p:txBody>
          <a:bodyPr wrap="square" lIns="0" rIns="0" tIns="0" bIns="0" anchor="t">
            <a:spAutoFit/>
          </a:bodyPr>
          <a:lstStyle/>
          <a:p>
            <a:pPr algn="l">
              <a:spcAft>
                <a:spcPts val="300"/>
              </a:spcAft>
            </a:pPr>
            <a:r>
              <a:rPr sz="1250" b="1" i="0">
                <a:solidFill>
                  <a:srgbClr val="293352"/>
                </a:solidFill>
              </a:rPr>
              <a:t>Kafka, as built in 2.9.4</a:t>
            </a:r>
          </a:p>
          <a:p>
            <a:pPr algn="l" marL="146304" indent="-146304">
              <a:spcAft>
                <a:spcPts val="200"/>
              </a:spcAft>
              <a:buClr>
                <a:srgbClr val="293352"/>
              </a:buClr>
              <a:buSzPct val="100000"/>
              <a:buFont typeface="Arial"/>
              <a:buChar char="▪"/>
            </a:pPr>
            <a:r>
              <a:rPr sz="1150" b="0" i="0">
                <a:solidFill>
                  <a:srgbClr val="1A1A1A"/>
                </a:solidFill>
              </a:rPr>
              <a:t>A message is JSONL text: one or more records, PVs or P&amp;L, a cancel as a marked line</a:t>
            </a:r>
          </a:p>
          <a:p>
            <a:pPr algn="l" marL="146304" indent="-146304">
              <a:spcAft>
                <a:spcPts val="200"/>
              </a:spcAft>
              <a:buClr>
                <a:srgbClr val="293352"/>
              </a:buClr>
              <a:buSzPct val="100000"/>
              <a:buFont typeface="Arial"/>
              <a:buChar char="▪"/>
            </a:pPr>
            <a:r>
              <a:rPr sz="1150" b="0" i="0">
                <a:solidFill>
                  <a:srgbClr val="1A1A1A"/>
                </a:solidFill>
              </a:rPr>
              <a:t>A window every 5 min (drishti.var.intraday.kafka.window); early flush at 500 trades; admin “Apply now”</a:t>
            </a:r>
          </a:p>
          <a:p>
            <a:pPr algn="l" marL="146304" indent="-146304">
              <a:spcAft>
                <a:spcPts val="200"/>
              </a:spcAft>
              <a:buClr>
                <a:srgbClr val="293352"/>
              </a:buClr>
              <a:buSzPct val="100000"/>
              <a:buFont typeface="Arial"/>
              <a:buChar char="▪"/>
            </a:pPr>
            <a:r>
              <a:rPr sz="1150" b="0" i="0">
                <a:solidFill>
                  <a:srgbClr val="1A1A1A"/>
                </a:solidFill>
              </a:rPr>
              <a:t>Each window written to the lake as ONE intraday batch, then applied like a file</a:t>
            </a:r>
          </a:p>
          <a:p>
            <a:pPr algn="l" marL="146304" indent="-146304">
              <a:buClr>
                <a:srgbClr val="293352"/>
              </a:buClr>
              <a:buSzPct val="100000"/>
              <a:buFont typeface="Arial"/>
              <a:buChar char="▪"/>
            </a:pPr>
            <a:r>
              <a:rPr sz="1150" b="0" i="0">
                <a:solidFill>
                  <a:srgbClr val="1A1A1A"/>
                </a:solidFill>
              </a:rPr>
              <a:t>Replaying the topic after a restart writes nothing twice</a:t>
            </a:r>
          </a:p>
        </p:txBody>
      </p:sp>
      <p:sp>
        <p:nvSpPr>
          <p:cNvPr id="47" name="Rectangle 46"/>
          <p:cNvSpPr/>
          <p:nvPr/>
        </p:nvSpPr>
        <p:spPr>
          <a:xfrm>
            <a:off x="7178040" y="5138928"/>
            <a:ext cx="4233672" cy="1078992"/>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Rectangle 47"/>
          <p:cNvSpPr/>
          <p:nvPr/>
        </p:nvSpPr>
        <p:spPr>
          <a:xfrm>
            <a:off x="7178040" y="5138928"/>
            <a:ext cx="54864" cy="10789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7360919" y="5166360"/>
            <a:ext cx="3959352" cy="1024128"/>
          </a:xfrm>
          <a:prstGeom prst="rect">
            <a:avLst/>
          </a:prstGeom>
          <a:noFill/>
        </p:spPr>
        <p:txBody>
          <a:bodyPr wrap="square" lIns="0" rIns="0" tIns="0" bIns="0" anchor="ctr">
            <a:spAutoFit/>
          </a:bodyPr>
          <a:lstStyle/>
          <a:p>
            <a:pPr algn="l">
              <a:spcAft>
                <a:spcPts val="300"/>
              </a:spcAft>
            </a:pPr>
            <a:r>
              <a:rPr sz="1250" b="1" i="0">
                <a:solidFill>
                  <a:srgbClr val="A51C30"/>
                </a:solidFill>
              </a:rPr>
              <a:t>The guarantee  </a:t>
            </a:r>
            <a:r>
              <a:rPr sz="1200" b="1" i="0">
                <a:solidFill>
                  <a:srgbClr val="8A1626"/>
                </a:solidFill>
              </a:rPr>
              <a:t>incremental = the same data loaded as one run, to the cent, on every node</a:t>
            </a:r>
          </a:p>
          <a:p>
            <a:pPr algn="l"/>
            <a:r>
              <a:rPr sz="1100" b="0" i="0">
                <a:solidFill>
                  <a:srgbClr val="1A1A1A"/>
                </a:solidFill>
              </a:rPr>
              <a:t>Measured: 200 batches of 3 trades on one date; a restart equal too; batch time does not grow. Official numbers come only from full runs.</a:t>
            </a:r>
          </a:p>
        </p:txBody>
      </p:sp>
      <p:sp>
        <p:nvSpPr>
          <p:cNvPr id="50" name="TextBox 49"/>
          <p:cNvSpPr txBox="1"/>
          <p:nvPr/>
        </p:nvSpPr>
        <p:spPr>
          <a:xfrm>
            <a:off x="777240" y="5852160"/>
            <a:ext cx="6172200" cy="365760"/>
          </a:xfrm>
          <a:prstGeom prst="rect">
            <a:avLst/>
          </a:prstGeom>
          <a:noFill/>
        </p:spPr>
        <p:txBody>
          <a:bodyPr wrap="square" lIns="0" rIns="0" tIns="0" bIns="0" anchor="ctr">
            <a:spAutoFit/>
          </a:bodyPr>
          <a:lstStyle/>
          <a:p>
            <a:pPr algn="l"/>
            <a:r>
              <a:rPr sz="1150" b="0" i="1">
                <a:solidFill>
                  <a:srgbClr val="4A5058"/>
                </a:solidFill>
              </a:rPr>
              <a:t>Cost of a batch ∝ trades changed × nodes above × currencies built, never the size of the 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DATA CONTRACTS · CONTRACT 1.8</a:t>
            </a:r>
          </a:p>
        </p:txBody>
      </p:sp>
      <p:sp>
        <p:nvSpPr>
          <p:cNvPr id="3" name="Title 2"/>
          <p:cNvSpPr>
            <a:spLocks noGrp="1"/>
          </p:cNvSpPr>
          <p:nvPr>
            <p:ph type="title" idx="104"/>
          </p:nvPr>
        </p:nvSpPr>
        <p:spPr/>
        <p:txBody>
          <a:bodyPr/>
          <a:lstStyle/>
          <a:p>
            <a:r>
              <a:t>Six input contracts, JSONL on the wire, every check named</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TextBox 25"/>
          <p:cNvSpPr txBox="1"/>
          <p:nvPr/>
        </p:nvSpPr>
        <p:spPr>
          <a:xfrm>
            <a:off x="777240" y="1371600"/>
            <a:ext cx="10634472" cy="274320"/>
          </a:xfrm>
          <a:prstGeom prst="rect">
            <a:avLst/>
          </a:prstGeom>
          <a:noFill/>
        </p:spPr>
        <p:txBody>
          <a:bodyPr wrap="square" lIns="0" rIns="0" tIns="0" bIns="0" anchor="ctr">
            <a:spAutoFit/>
          </a:bodyPr>
          <a:lstStyle/>
          <a:p>
            <a:pPr algn="l"/>
            <a:r>
              <a:rPr sz="1200" b="1" i="0">
                <a:solidFill>
                  <a:srgbClr val="A51C30"/>
                </a:solidFill>
              </a:rPr>
              <a:t>JSONL: </a:t>
            </a:r>
            <a:r>
              <a:rPr sz="1150" b="0" i="0">
                <a:solidFill>
                  <a:srgbClr val="4A5058"/>
                </a:solidFill>
              </a:rPr>
              <a:t>one JSON object a line, UTF-8, .jsonl or .jsonl.gz; each line exactly its contract's fields. Key fields of the as-built contracts:</a:t>
            </a:r>
          </a:p>
        </p:txBody>
      </p:sp>
      <p:sp>
        <p:nvSpPr>
          <p:cNvPr id="27" name="Rectangle 26"/>
          <p:cNvSpPr/>
          <p:nvPr/>
        </p:nvSpPr>
        <p:spPr>
          <a:xfrm>
            <a:off x="777240" y="1737360"/>
            <a:ext cx="3392424" cy="29260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68680" y="1737360"/>
            <a:ext cx="3209544" cy="292608"/>
          </a:xfrm>
          <a:prstGeom prst="rect">
            <a:avLst/>
          </a:prstGeom>
          <a:noFill/>
        </p:spPr>
        <p:txBody>
          <a:bodyPr wrap="square" lIns="0" rIns="0" tIns="0" bIns="0" anchor="ctr">
            <a:spAutoFit/>
          </a:bodyPr>
          <a:lstStyle/>
          <a:p>
            <a:pPr algn="l"/>
            <a:r>
              <a:rPr sz="1150" b="1" i="0">
                <a:solidFill>
                  <a:srgbClr val="FFFFFF"/>
                </a:solidFill>
                <a:latin typeface="Courier New"/>
              </a:rPr>
              <a:t>scenario-pv</a:t>
            </a:r>
            <a:r>
              <a:rPr sz="1050" b="0" i="0">
                <a:solidFill>
                  <a:srgbClr val="F6E6E9"/>
                </a:solidFill>
              </a:rPr>
              <a:t>  SPV · a trade × date × set</a:t>
            </a:r>
          </a:p>
        </p:txBody>
      </p:sp>
      <p:graphicFrame>
        <p:nvGraphicFramePr>
          <p:cNvPr id="29" name="Table 28"/>
          <p:cNvGraphicFramePr>
            <a:graphicFrameLocks noGrp="1"/>
          </p:cNvGraphicFramePr>
          <p:nvPr/>
        </p:nvGraphicFramePr>
        <p:xfrm>
          <a:off x="777240" y="2029967"/>
          <a:ext cx="3392424" cy="1234440"/>
        </p:xfrm>
        <a:graphic>
          <a:graphicData uri="http://schemas.openxmlformats.org/drawingml/2006/table">
            <a:tbl>
              <a:tblPr firstRow="0" bandRow="0">
                <a:tableStyleId>{5940675A-B579-460E-94D1-54222C63F5DA}</a:tableStyleId>
              </a:tblPr>
              <a:tblGrid>
                <a:gridCol w="1691640"/>
                <a:gridCol w="1700784"/>
              </a:tblGrid>
              <a:tr h="246888">
                <a:tc>
                  <a:txBody>
                    <a:bodyPr wrap="square"/>
                    <a:lstStyle/>
                    <a:p>
                      <a:r>
                        <a:rPr sz="950" b="1" i="0">
                          <a:solidFill>
                            <a:srgbClr val="8A1626"/>
                          </a:solidFill>
                          <a:latin typeface="Courier New"/>
                        </a:rPr>
                        <a:t>TRADE_ID … TT_BOOK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the trade; its LE, desk, book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CURRENCY · BASE_PV</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PVs' currency; value today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SCENARIO_PV [509]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per scenario; null = failed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RUN_KIND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FULL or INTRADAY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SCENARIO_SET_ID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and BATCH_ID: the run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30" name="Rectangle 29"/>
          <p:cNvSpPr/>
          <p:nvPr/>
        </p:nvSpPr>
        <p:spPr>
          <a:xfrm>
            <a:off x="4398264" y="1737360"/>
            <a:ext cx="3392424" cy="29260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4489703" y="1737360"/>
            <a:ext cx="3209544" cy="292608"/>
          </a:xfrm>
          <a:prstGeom prst="rect">
            <a:avLst/>
          </a:prstGeom>
          <a:noFill/>
        </p:spPr>
        <p:txBody>
          <a:bodyPr wrap="square" lIns="0" rIns="0" tIns="0" bIns="0" anchor="ctr">
            <a:spAutoFit/>
          </a:bodyPr>
          <a:lstStyle/>
          <a:p>
            <a:pPr algn="l"/>
            <a:r>
              <a:rPr sz="1150" b="1" i="0">
                <a:solidFill>
                  <a:srgbClr val="FFFFFF"/>
                </a:solidFill>
                <a:latin typeface="Courier New"/>
              </a:rPr>
              <a:t>pnl-vector</a:t>
            </a:r>
            <a:r>
              <a:rPr sz="1050" b="0" i="0">
                <a:solidFill>
                  <a:srgbClr val="F6E6E9"/>
                </a:solidFill>
              </a:rPr>
              <a:t>  PNLV · a trade × date × set</a:t>
            </a:r>
          </a:p>
        </p:txBody>
      </p:sp>
      <p:graphicFrame>
        <p:nvGraphicFramePr>
          <p:cNvPr id="32" name="Table 31"/>
          <p:cNvGraphicFramePr>
            <a:graphicFrameLocks noGrp="1"/>
          </p:cNvGraphicFramePr>
          <p:nvPr/>
        </p:nvGraphicFramePr>
        <p:xfrm>
          <a:off x="4398264" y="2029967"/>
          <a:ext cx="3392424" cy="1234440"/>
        </p:xfrm>
        <a:graphic>
          <a:graphicData uri="http://schemas.openxmlformats.org/drawingml/2006/table">
            <a:tbl>
              <a:tblPr firstRow="0" bandRow="0">
                <a:tableStyleId>{5940675A-B579-460E-94D1-54222C63F5DA}</a:tableStyleId>
              </a:tblPr>
              <a:tblGrid>
                <a:gridCol w="1691640"/>
                <a:gridCol w="1700784"/>
              </a:tblGrid>
              <a:tr h="246888">
                <a:tc>
                  <a:txBody>
                    <a:bodyPr wrap="square"/>
                    <a:lstStyle/>
                    <a:p>
                      <a:r>
                        <a:rPr sz="950" b="1" i="0">
                          <a:solidFill>
                            <a:srgbClr val="8A1626"/>
                          </a:solidFill>
                          <a:latin typeface="Courier New"/>
                        </a:rPr>
                        <a:t>VECTOR_ID · TRADE_ID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PV-&lt;trade&gt;-HS-509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PNL [509]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USD P&amp;L, gain positive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PV · REPORTING_CCY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USD value today; USD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STATUS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ok, proxied or failed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RUN_KIND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as scenario-pv</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33" name="Rectangle 32"/>
          <p:cNvSpPr/>
          <p:nvPr/>
        </p:nvSpPr>
        <p:spPr>
          <a:xfrm>
            <a:off x="8019288" y="1737360"/>
            <a:ext cx="3392424" cy="29260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8110727" y="1737360"/>
            <a:ext cx="3209544" cy="292608"/>
          </a:xfrm>
          <a:prstGeom prst="rect">
            <a:avLst/>
          </a:prstGeom>
          <a:noFill/>
        </p:spPr>
        <p:txBody>
          <a:bodyPr wrap="square" lIns="0" rIns="0" tIns="0" bIns="0" anchor="ctr">
            <a:spAutoFit/>
          </a:bodyPr>
          <a:lstStyle/>
          <a:p>
            <a:pPr algn="l"/>
            <a:r>
              <a:rPr sz="1150" b="1" i="0">
                <a:solidFill>
                  <a:srgbClr val="FFFFFF"/>
                </a:solidFill>
                <a:latin typeface="Courier New"/>
              </a:rPr>
              <a:t>fx-scenario</a:t>
            </a:r>
            <a:r>
              <a:rPr sz="1050" b="0" i="0">
                <a:solidFill>
                  <a:srgbClr val="F6E6E9"/>
                </a:solidFill>
              </a:rPr>
              <a:t>  FXS · a currency × date</a:t>
            </a:r>
          </a:p>
        </p:txBody>
      </p:sp>
      <p:graphicFrame>
        <p:nvGraphicFramePr>
          <p:cNvPr id="35" name="Table 34"/>
          <p:cNvGraphicFramePr>
            <a:graphicFrameLocks noGrp="1"/>
          </p:cNvGraphicFramePr>
          <p:nvPr/>
        </p:nvGraphicFramePr>
        <p:xfrm>
          <a:off x="8019288" y="2029967"/>
          <a:ext cx="3392424" cy="1234440"/>
        </p:xfrm>
        <a:graphic>
          <a:graphicData uri="http://schemas.openxmlformats.org/drawingml/2006/table">
            <a:tbl>
              <a:tblPr firstRow="0" bandRow="0">
                <a:tableStyleId>{5940675A-B579-460E-94D1-54222C63F5DA}</a:tableStyleId>
              </a:tblPr>
              <a:tblGrid>
                <a:gridCol w="1691640"/>
                <a:gridCol w="1700784"/>
              </a:tblGrid>
              <a:tr h="246888">
                <a:tc>
                  <a:txBody>
                    <a:bodyPr wrap="square"/>
                    <a:lstStyle/>
                    <a:p>
                      <a:r>
                        <a:rPr sz="950" b="1" i="0">
                          <a:solidFill>
                            <a:srgbClr val="8A1626"/>
                          </a:solidFill>
                          <a:latin typeface="Courier New"/>
                        </a:rPr>
                        <a:t>FX_SCENARIO_ID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FXS-&lt;CCY&gt;-HS-509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CURRENCY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AUD, CAD, EUR, JPY …</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RATE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today, USD per one unit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RATES [509]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per scenario, the set's order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not sent?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derived from the FX history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36" name="Rectangle 35"/>
          <p:cNvSpPr/>
          <p:nvPr/>
        </p:nvSpPr>
        <p:spPr>
          <a:xfrm>
            <a:off x="777240" y="3374136"/>
            <a:ext cx="3392424" cy="29260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868680" y="3374136"/>
            <a:ext cx="3209544" cy="292608"/>
          </a:xfrm>
          <a:prstGeom prst="rect">
            <a:avLst/>
          </a:prstGeom>
          <a:noFill/>
        </p:spPr>
        <p:txBody>
          <a:bodyPr wrap="square" lIns="0" rIns="0" tIns="0" bIns="0" anchor="ctr">
            <a:spAutoFit/>
          </a:bodyPr>
          <a:lstStyle/>
          <a:p>
            <a:pPr algn="l"/>
            <a:r>
              <a:rPr sz="1150" b="1" i="0">
                <a:solidFill>
                  <a:srgbClr val="FFFFFF"/>
                </a:solidFill>
                <a:latin typeface="Courier New"/>
              </a:rPr>
              <a:t>scenario-set</a:t>
            </a:r>
            <a:r>
              <a:rPr sz="1050" b="0" i="0">
                <a:solidFill>
                  <a:srgbClr val="F6E6E9"/>
                </a:solidFill>
              </a:rPr>
              <a:t>  SSET · one row a date</a:t>
            </a:r>
          </a:p>
        </p:txBody>
      </p:sp>
      <p:graphicFrame>
        <p:nvGraphicFramePr>
          <p:cNvPr id="38" name="Table 37"/>
          <p:cNvGraphicFramePr>
            <a:graphicFrameLocks noGrp="1"/>
          </p:cNvGraphicFramePr>
          <p:nvPr/>
        </p:nvGraphicFramePr>
        <p:xfrm>
          <a:off x="777240" y="3666744"/>
          <a:ext cx="3392424" cy="1234440"/>
        </p:xfrm>
        <a:graphic>
          <a:graphicData uri="http://schemas.openxmlformats.org/drawingml/2006/table">
            <a:tbl>
              <a:tblPr firstRow="0" bandRow="0">
                <a:tableStyleId>{5940675A-B579-460E-94D1-54222C63F5DA}</a:tableStyleId>
              </a:tblPr>
              <a:tblGrid>
                <a:gridCol w="1691640"/>
                <a:gridCol w="1700784"/>
              </a:tblGrid>
              <a:tr h="246888">
                <a:tc>
                  <a:txBody>
                    <a:bodyPr wrap="square"/>
                    <a:lstStyle/>
                    <a:p>
                      <a:r>
                        <a:rPr sz="950" b="1" i="0">
                          <a:solidFill>
                            <a:srgbClr val="8A1626"/>
                          </a:solidFill>
                          <a:latin typeface="Courier New"/>
                        </a:rPr>
                        <a:t>SCENARIO_SET_ID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HS-509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SCENARIO_DATES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509 days, oldest first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WINDOW_START … END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2024-09-17 … 2026-09-29</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HORIZON_DAYS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1</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REVALUATION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full or sensitivities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39" name="Rectangle 38"/>
          <p:cNvSpPr/>
          <p:nvPr/>
        </p:nvSpPr>
        <p:spPr>
          <a:xfrm>
            <a:off x="4398264" y="3374136"/>
            <a:ext cx="3392424" cy="29260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4489703" y="3374136"/>
            <a:ext cx="3209544" cy="292608"/>
          </a:xfrm>
          <a:prstGeom prst="rect">
            <a:avLst/>
          </a:prstGeom>
          <a:noFill/>
        </p:spPr>
        <p:txBody>
          <a:bodyPr wrap="square" lIns="0" rIns="0" tIns="0" bIns="0" anchor="ctr">
            <a:spAutoFit/>
          </a:bodyPr>
          <a:lstStyle/>
          <a:p>
            <a:pPr algn="l"/>
            <a:r>
              <a:rPr sz="1150" b="1" i="0">
                <a:solidFill>
                  <a:srgbClr val="FFFFFF"/>
                </a:solidFill>
                <a:latin typeface="Courier New"/>
              </a:rPr>
              <a:t>risk-hierarchy</a:t>
            </a:r>
            <a:r>
              <a:rPr sz="1050" b="0" i="0">
                <a:solidFill>
                  <a:srgbClr val="F6E6E9"/>
                </a:solidFill>
              </a:rPr>
              <a:t>  HIER · a node × date</a:t>
            </a:r>
          </a:p>
        </p:txBody>
      </p:sp>
      <p:graphicFrame>
        <p:nvGraphicFramePr>
          <p:cNvPr id="41" name="Table 40"/>
          <p:cNvGraphicFramePr>
            <a:graphicFrameLocks noGrp="1"/>
          </p:cNvGraphicFramePr>
          <p:nvPr/>
        </p:nvGraphicFramePr>
        <p:xfrm>
          <a:off x="4398264" y="3666744"/>
          <a:ext cx="3392424" cy="1234440"/>
        </p:xfrm>
        <a:graphic>
          <a:graphicData uri="http://schemas.openxmlformats.org/drawingml/2006/table">
            <a:tbl>
              <a:tblPr firstRow="0" bandRow="0">
                <a:tableStyleId>{5940675A-B579-460E-94D1-54222C63F5DA}</a:tableStyleId>
              </a:tblPr>
              <a:tblGrid>
                <a:gridCol w="1691640"/>
                <a:gridCol w="1700784"/>
              </a:tblGrid>
              <a:tr h="246888">
                <a:tc>
                  <a:txBody>
                    <a:bodyPr wrap="square"/>
                    <a:lstStyle/>
                    <a:p>
                      <a:r>
                        <a:rPr sz="950" b="1" i="0">
                          <a:solidFill>
                            <a:srgbClr val="8A1626"/>
                          </a:solidFill>
                          <a:latin typeface="Courier New"/>
                        </a:rPr>
                        <a:t>NODE_ID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MGMT~&lt;id&gt; or LEGAL~&lt;id&gt;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HIERARCHY · LEVEL</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MGMT/LEGAL; bank…book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PARENT_ID · NAME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the tree; display name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BOOKS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every book beneath</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LIMIT_VAR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1-day 99% limit, USD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42" name="Rectangle 41"/>
          <p:cNvSpPr/>
          <p:nvPr/>
        </p:nvSpPr>
        <p:spPr>
          <a:xfrm>
            <a:off x="8019288" y="3374136"/>
            <a:ext cx="3392424" cy="29260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8110727" y="3374136"/>
            <a:ext cx="3209544" cy="292608"/>
          </a:xfrm>
          <a:prstGeom prst="rect">
            <a:avLst/>
          </a:prstGeom>
          <a:noFill/>
        </p:spPr>
        <p:txBody>
          <a:bodyPr wrap="square" lIns="0" rIns="0" tIns="0" bIns="0" anchor="ctr">
            <a:spAutoFit/>
          </a:bodyPr>
          <a:lstStyle/>
          <a:p>
            <a:pPr algn="l"/>
            <a:r>
              <a:rPr sz="1150" b="1" i="0">
                <a:solidFill>
                  <a:srgbClr val="FFFFFF"/>
                </a:solidFill>
                <a:latin typeface="Courier New"/>
              </a:rPr>
              <a:t>portfolio</a:t>
            </a:r>
            <a:r>
              <a:rPr sz="1050" b="0" i="0">
                <a:solidFill>
                  <a:srgbClr val="F6E6E9"/>
                </a:solidFill>
              </a:rPr>
              <a:t>  PORT · a portfolio × date</a:t>
            </a:r>
          </a:p>
        </p:txBody>
      </p:sp>
      <p:graphicFrame>
        <p:nvGraphicFramePr>
          <p:cNvPr id="44" name="Table 43"/>
          <p:cNvGraphicFramePr>
            <a:graphicFrameLocks noGrp="1"/>
          </p:cNvGraphicFramePr>
          <p:nvPr/>
        </p:nvGraphicFramePr>
        <p:xfrm>
          <a:off x="8019288" y="3666744"/>
          <a:ext cx="3392424" cy="1234440"/>
        </p:xfrm>
        <a:graphic>
          <a:graphicData uri="http://schemas.openxmlformats.org/drawingml/2006/table">
            <a:tbl>
              <a:tblPr firstRow="0" bandRow="0">
                <a:tableStyleId>{5940675A-B579-460E-94D1-54222C63F5DA}</a:tableStyleId>
              </a:tblPr>
              <a:tblGrid>
                <a:gridCol w="1691640"/>
                <a:gridCol w="1700784"/>
              </a:tblGrid>
              <a:tr h="246888">
                <a:tc>
                  <a:txBody>
                    <a:bodyPr wrap="square"/>
                    <a:lstStyle/>
                    <a:p>
                      <a:r>
                        <a:rPr sz="950" b="1" i="0">
                          <a:solidFill>
                            <a:srgbClr val="8A1626"/>
                          </a:solidFill>
                          <a:latin typeface="Courier New"/>
                        </a:rPr>
                        <a:t>PORTFOLIO_ID · NAME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PF-…; scope PORT:&lt;id&gt;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TYPE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HIERARCHY, RULE or BASKET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DEFINITION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NODE, RULE or MEMBERS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46888">
                <a:tc>
                  <a:txBody>
                    <a:bodyPr wrap="square"/>
                    <a:lstStyle/>
                    <a:p>
                      <a:r>
                        <a:rPr sz="950" b="1" i="0">
                          <a:solidFill>
                            <a:srgbClr val="8A1626"/>
                          </a:solidFill>
                          <a:latin typeface="Courier New"/>
                        </a:rPr>
                        <a:t>OWNER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050" b="0" i="0">
                          <a:solidFill>
                            <a:srgbClr val="1A1A1A"/>
                          </a:solidFill>
                        </a:rPr>
                        <a:t>a user or a team</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46888">
                <a:tc>
                  <a:txBody>
                    <a:bodyPr wrap="square"/>
                    <a:lstStyle/>
                    <a:p>
                      <a:r>
                        <a:rPr sz="950" b="1" i="0">
                          <a:solidFill>
                            <a:srgbClr val="8A1626"/>
                          </a:solidFill>
                          <a:latin typeface="Courier New"/>
                        </a:rPr>
                        <a:t>LIMIT_VAR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050" b="0" i="0">
                          <a:solidFill>
                            <a:srgbClr val="1A1A1A"/>
                          </a:solidFill>
                        </a:rPr>
                        <a:t>the portfolio's limit, USD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
        <p:nvSpPr>
          <p:cNvPr id="45" name="Rectangle 44"/>
          <p:cNvSpPr/>
          <p:nvPr/>
        </p:nvSpPr>
        <p:spPr>
          <a:xfrm>
            <a:off x="777240" y="5102352"/>
            <a:ext cx="10634472" cy="54864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Rounded Rectangle 45"/>
          <p:cNvSpPr/>
          <p:nvPr/>
        </p:nvSpPr>
        <p:spPr>
          <a:xfrm>
            <a:off x="886968" y="5276088"/>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47" name="TextBox 46"/>
          <p:cNvSpPr txBox="1"/>
          <p:nvPr/>
        </p:nvSpPr>
        <p:spPr>
          <a:xfrm>
            <a:off x="1572768" y="5102352"/>
            <a:ext cx="9747504" cy="548640"/>
          </a:xfrm>
          <a:prstGeom prst="rect">
            <a:avLst/>
          </a:prstGeom>
          <a:noFill/>
        </p:spPr>
        <p:txBody>
          <a:bodyPr wrap="square" lIns="0" rIns="0" tIns="0" bIns="0" anchor="ctr">
            <a:spAutoFit/>
          </a:bodyPr>
          <a:lstStyle/>
          <a:p>
            <a:pPr algn="l"/>
            <a:r>
              <a:rPr sz="1150" b="1" i="0">
                <a:solidFill>
                  <a:srgbClr val="8A1626"/>
                </a:solidFill>
              </a:rPr>
              <a:t>Required on every record (2.9.4): </a:t>
            </a:r>
            <a:r>
              <a:rPr sz="1050" b="0" i="0">
                <a:solidFill>
                  <a:srgbClr val="1A1A1A"/>
                </a:solidFill>
                <a:latin typeface="Courier New"/>
              </a:rPr>
              <a:t>VALUE_TYPE</a:t>
            </a:r>
            <a:r>
              <a:rPr sz="1150" b="0" i="0">
                <a:solidFill>
                  <a:srgbClr val="1A1A1A"/>
                </a:solidFill>
              </a:rPr>
              <a:t>, </a:t>
            </a:r>
            <a:r>
              <a:rPr sz="1050" b="0" i="0">
                <a:solidFill>
                  <a:srgbClr val="1A1A1A"/>
                </a:solidFill>
                <a:latin typeface="Courier New"/>
              </a:rPr>
              <a:t>GRAIN</a:t>
            </a:r>
            <a:r>
              <a:rPr sz="1150" b="0" i="0">
                <a:solidFill>
                  <a:srgbClr val="1A1A1A"/>
                </a:solidFill>
              </a:rPr>
              <a:t> with its id, </a:t>
            </a:r>
            <a:r>
              <a:rPr sz="1050" b="0" i="0">
                <a:solidFill>
                  <a:srgbClr val="1A1A1A"/>
                </a:solidFill>
                <a:latin typeface="Courier New"/>
              </a:rPr>
              <a:t>CURRENCY</a:t>
            </a:r>
            <a:r>
              <a:rPr sz="1150" b="0" i="0">
                <a:solidFill>
                  <a:srgbClr val="1A1A1A"/>
                </a:solidFill>
              </a:rPr>
              <a:t>, </a:t>
            </a:r>
            <a:r>
              <a:rPr sz="1050" b="0" i="0">
                <a:solidFill>
                  <a:srgbClr val="1A1A1A"/>
                </a:solidFill>
                <a:latin typeface="Courier New"/>
              </a:rPr>
              <a:t>SOURCE_SYSTEM</a:t>
            </a:r>
            <a:r>
              <a:rPr sz="1150" b="0" i="0">
                <a:solidFill>
                  <a:srgbClr val="1A1A1A"/>
                </a:solidFill>
              </a:rPr>
              <a:t>; GRAIN matches the id. Old files: </a:t>
            </a:r>
            <a:r>
              <a:rPr sz="1050" b="0" i="0">
                <a:solidFill>
                  <a:srgbClr val="1A1A1A"/>
                </a:solidFill>
                <a:latin typeface="Courier New"/>
              </a:rPr>
              <a:t>convert --set</a:t>
            </a:r>
          </a:p>
        </p:txBody>
      </p:sp>
      <p:sp>
        <p:nvSpPr>
          <p:cNvPr id="48" name="Rectangle 47"/>
          <p:cNvSpPr/>
          <p:nvPr/>
        </p:nvSpPr>
        <p:spPr>
          <a:xfrm>
            <a:off x="777240" y="5760720"/>
            <a:ext cx="127330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850392" y="5779007"/>
            <a:ext cx="1163574" cy="457200"/>
          </a:xfrm>
          <a:prstGeom prst="rect">
            <a:avLst/>
          </a:prstGeom>
          <a:noFill/>
        </p:spPr>
        <p:txBody>
          <a:bodyPr wrap="square" lIns="0" rIns="0" tIns="0" bIns="0" anchor="ctr">
            <a:spAutoFit/>
          </a:bodyPr>
          <a:lstStyle/>
          <a:p>
            <a:pPr algn="l"/>
            <a:r>
              <a:rPr sz="1000" b="1" i="0">
                <a:solidFill>
                  <a:srgbClr val="A51C30"/>
                </a:solidFill>
                <a:latin typeface="Courier New"/>
              </a:rPr>
              <a:t>DRS-5201</a:t>
            </a:r>
          </a:p>
          <a:p>
            <a:pPr algn="l"/>
            <a:r>
              <a:rPr sz="1000" b="0" i="0">
                <a:solidFill>
                  <a:srgbClr val="1A1A1A"/>
                </a:solidFill>
              </a:rPr>
              <a:t>length, null, NaN</a:t>
            </a:r>
          </a:p>
        </p:txBody>
      </p:sp>
      <p:sp>
        <p:nvSpPr>
          <p:cNvPr id="50" name="Rectangle 49"/>
          <p:cNvSpPr/>
          <p:nvPr/>
        </p:nvSpPr>
        <p:spPr>
          <a:xfrm>
            <a:off x="2114550" y="5760720"/>
            <a:ext cx="127330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2187702" y="5779007"/>
            <a:ext cx="1163574" cy="457200"/>
          </a:xfrm>
          <a:prstGeom prst="rect">
            <a:avLst/>
          </a:prstGeom>
          <a:noFill/>
        </p:spPr>
        <p:txBody>
          <a:bodyPr wrap="square" lIns="0" rIns="0" tIns="0" bIns="0" anchor="ctr">
            <a:spAutoFit/>
          </a:bodyPr>
          <a:lstStyle/>
          <a:p>
            <a:pPr algn="l"/>
            <a:r>
              <a:rPr sz="1000" b="1" i="0">
                <a:solidFill>
                  <a:srgbClr val="A51C30"/>
                </a:solidFill>
                <a:latin typeface="Courier New"/>
              </a:rPr>
              <a:t>DRS-5206</a:t>
            </a:r>
          </a:p>
          <a:p>
            <a:pPr algn="l"/>
            <a:r>
              <a:rPr sz="1000" b="0" i="0">
                <a:solidFill>
                  <a:srgbClr val="1A1A1A"/>
                </a:solidFill>
              </a:rPr>
              <a:t>a PV failed</a:t>
            </a:r>
          </a:p>
        </p:txBody>
      </p:sp>
      <p:sp>
        <p:nvSpPr>
          <p:cNvPr id="52" name="Rectangle 51"/>
          <p:cNvSpPr/>
          <p:nvPr/>
        </p:nvSpPr>
        <p:spPr>
          <a:xfrm>
            <a:off x="3451860" y="5760720"/>
            <a:ext cx="127330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3525012" y="5779007"/>
            <a:ext cx="1163574" cy="457200"/>
          </a:xfrm>
          <a:prstGeom prst="rect">
            <a:avLst/>
          </a:prstGeom>
          <a:noFill/>
        </p:spPr>
        <p:txBody>
          <a:bodyPr wrap="square" lIns="0" rIns="0" tIns="0" bIns="0" anchor="ctr">
            <a:spAutoFit/>
          </a:bodyPr>
          <a:lstStyle/>
          <a:p>
            <a:pPr algn="l"/>
            <a:r>
              <a:rPr sz="1000" b="1" i="0">
                <a:solidFill>
                  <a:srgbClr val="A51C30"/>
                </a:solidFill>
                <a:latin typeface="Courier New"/>
              </a:rPr>
              <a:t>DRS-5207</a:t>
            </a:r>
          </a:p>
          <a:p>
            <a:pPr algn="l"/>
            <a:r>
              <a:rPr sz="1000" b="0" i="0">
                <a:solidFill>
                  <a:srgbClr val="1A1A1A"/>
                </a:solidFill>
              </a:rPr>
              <a:t>no scenario FX</a:t>
            </a:r>
          </a:p>
        </p:txBody>
      </p:sp>
      <p:sp>
        <p:nvSpPr>
          <p:cNvPr id="54" name="Rectangle 53"/>
          <p:cNvSpPr/>
          <p:nvPr/>
        </p:nvSpPr>
        <p:spPr>
          <a:xfrm>
            <a:off x="4789170" y="5760720"/>
            <a:ext cx="127330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4862322" y="5779007"/>
            <a:ext cx="1163574" cy="457200"/>
          </a:xfrm>
          <a:prstGeom prst="rect">
            <a:avLst/>
          </a:prstGeom>
          <a:noFill/>
        </p:spPr>
        <p:txBody>
          <a:bodyPr wrap="square" lIns="0" rIns="0" tIns="0" bIns="0" anchor="ctr">
            <a:spAutoFit/>
          </a:bodyPr>
          <a:lstStyle/>
          <a:p>
            <a:pPr algn="l"/>
            <a:r>
              <a:rPr sz="1000" b="1" i="0">
                <a:solidFill>
                  <a:srgbClr val="A51C30"/>
                </a:solidFill>
                <a:latin typeface="Courier New"/>
              </a:rPr>
              <a:t>DRS-5208</a:t>
            </a:r>
          </a:p>
          <a:p>
            <a:pPr algn="l"/>
            <a:r>
              <a:rPr sz="1000" b="0" i="0">
                <a:solidFill>
                  <a:srgbClr val="1A1A1A"/>
                </a:solidFill>
              </a:rPr>
              <a:t>record fields wrong</a:t>
            </a:r>
          </a:p>
        </p:txBody>
      </p:sp>
      <p:sp>
        <p:nvSpPr>
          <p:cNvPr id="56" name="Rectangle 55"/>
          <p:cNvSpPr/>
          <p:nvPr/>
        </p:nvSpPr>
        <p:spPr>
          <a:xfrm>
            <a:off x="6126480" y="5760720"/>
            <a:ext cx="127330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xtBox 56"/>
          <p:cNvSpPr txBox="1"/>
          <p:nvPr/>
        </p:nvSpPr>
        <p:spPr>
          <a:xfrm>
            <a:off x="6199632" y="5779007"/>
            <a:ext cx="1163574" cy="457200"/>
          </a:xfrm>
          <a:prstGeom prst="rect">
            <a:avLst/>
          </a:prstGeom>
          <a:noFill/>
        </p:spPr>
        <p:txBody>
          <a:bodyPr wrap="square" lIns="0" rIns="0" tIns="0" bIns="0" anchor="ctr">
            <a:spAutoFit/>
          </a:bodyPr>
          <a:lstStyle/>
          <a:p>
            <a:pPr algn="l"/>
            <a:r>
              <a:rPr sz="1000" b="1" i="0">
                <a:solidFill>
                  <a:srgbClr val="A51C30"/>
                </a:solidFill>
                <a:latin typeface="Courier New"/>
              </a:rPr>
              <a:t>DRS-5209</a:t>
            </a:r>
          </a:p>
          <a:p>
            <a:pPr algn="l"/>
            <a:r>
              <a:rPr sz="1000" b="0" i="0">
                <a:solidFill>
                  <a:srgbClr val="1A1A1A"/>
                </a:solidFill>
              </a:rPr>
              <a:t>against the pin</a:t>
            </a:r>
          </a:p>
        </p:txBody>
      </p:sp>
      <p:sp>
        <p:nvSpPr>
          <p:cNvPr id="58" name="Rectangle 57"/>
          <p:cNvSpPr/>
          <p:nvPr/>
        </p:nvSpPr>
        <p:spPr>
          <a:xfrm>
            <a:off x="7463790" y="5760720"/>
            <a:ext cx="127330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7536942" y="5779007"/>
            <a:ext cx="1163574" cy="457200"/>
          </a:xfrm>
          <a:prstGeom prst="rect">
            <a:avLst/>
          </a:prstGeom>
          <a:noFill/>
        </p:spPr>
        <p:txBody>
          <a:bodyPr wrap="square" lIns="0" rIns="0" tIns="0" bIns="0" anchor="ctr">
            <a:spAutoFit/>
          </a:bodyPr>
          <a:lstStyle/>
          <a:p>
            <a:pPr algn="l"/>
            <a:r>
              <a:rPr sz="1000" b="1" i="0">
                <a:solidFill>
                  <a:srgbClr val="A51C30"/>
                </a:solidFill>
                <a:latin typeface="Courier New"/>
              </a:rPr>
              <a:t>DRS-5210</a:t>
            </a:r>
          </a:p>
          <a:p>
            <a:pPr algn="l"/>
            <a:r>
              <a:rPr sz="1000" b="0" i="0">
                <a:solidFill>
                  <a:srgbClr val="1A1A1A"/>
                </a:solidFill>
              </a:rPr>
              <a:t>2nd form or grain</a:t>
            </a:r>
          </a:p>
        </p:txBody>
      </p:sp>
      <p:sp>
        <p:nvSpPr>
          <p:cNvPr id="60" name="Rectangle 59"/>
          <p:cNvSpPr/>
          <p:nvPr/>
        </p:nvSpPr>
        <p:spPr>
          <a:xfrm>
            <a:off x="8801100" y="5760720"/>
            <a:ext cx="127330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1" name="TextBox 60"/>
          <p:cNvSpPr txBox="1"/>
          <p:nvPr/>
        </p:nvSpPr>
        <p:spPr>
          <a:xfrm>
            <a:off x="8874252" y="5779007"/>
            <a:ext cx="1163574" cy="457200"/>
          </a:xfrm>
          <a:prstGeom prst="rect">
            <a:avLst/>
          </a:prstGeom>
          <a:noFill/>
        </p:spPr>
        <p:txBody>
          <a:bodyPr wrap="square" lIns="0" rIns="0" tIns="0" bIns="0" anchor="ctr">
            <a:spAutoFit/>
          </a:bodyPr>
          <a:lstStyle/>
          <a:p>
            <a:pPr algn="l"/>
            <a:r>
              <a:rPr sz="1000" b="1" i="0">
                <a:solidFill>
                  <a:srgbClr val="A51C30"/>
                </a:solidFill>
                <a:latin typeface="Courier New"/>
              </a:rPr>
              <a:t>DRS-5202</a:t>
            </a:r>
          </a:p>
          <a:p>
            <a:pPr algn="l"/>
            <a:r>
              <a:rPr sz="1000" b="0" i="0">
                <a:solidFill>
                  <a:srgbClr val="1A1A1A"/>
                </a:solidFill>
              </a:rPr>
              <a:t>trade twice</a:t>
            </a:r>
          </a:p>
        </p:txBody>
      </p:sp>
      <p:sp>
        <p:nvSpPr>
          <p:cNvPr id="62" name="Rectangle 61"/>
          <p:cNvSpPr/>
          <p:nvPr/>
        </p:nvSpPr>
        <p:spPr>
          <a:xfrm>
            <a:off x="10138410" y="5760720"/>
            <a:ext cx="127330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xtBox 62"/>
          <p:cNvSpPr txBox="1"/>
          <p:nvPr/>
        </p:nvSpPr>
        <p:spPr>
          <a:xfrm>
            <a:off x="10211562" y="5779007"/>
            <a:ext cx="1163574" cy="457200"/>
          </a:xfrm>
          <a:prstGeom prst="rect">
            <a:avLst/>
          </a:prstGeom>
          <a:noFill/>
        </p:spPr>
        <p:txBody>
          <a:bodyPr wrap="square" lIns="0" rIns="0" tIns="0" bIns="0" anchor="ctr">
            <a:spAutoFit/>
          </a:bodyPr>
          <a:lstStyle/>
          <a:p>
            <a:pPr algn="l"/>
            <a:r>
              <a:rPr sz="1000" b="1" i="0">
                <a:solidFill>
                  <a:srgbClr val="A51C30"/>
                </a:solidFill>
                <a:latin typeface="Courier New"/>
              </a:rPr>
              <a:t>DRS-5203</a:t>
            </a:r>
          </a:p>
          <a:p>
            <a:pPr algn="l"/>
            <a:r>
              <a:rPr sz="1000" b="0" i="0">
                <a:solidFill>
                  <a:srgbClr val="1A1A1A"/>
                </a:solidFill>
              </a:rPr>
              <a:t>two runs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THE VAR UI AND THE REST</a:t>
            </a:r>
          </a:p>
        </p:txBody>
      </p:sp>
      <p:sp>
        <p:nvSpPr>
          <p:cNvPr id="3" name="Title 2"/>
          <p:cNvSpPr>
            <a:spLocks noGrp="1"/>
          </p:cNvSpPr>
          <p:nvPr>
            <p:ph type="title" idx="104"/>
          </p:nvPr>
        </p:nvSpPr>
        <p:spPr/>
        <p:txBody>
          <a:bodyPr/>
          <a:lstStyle/>
          <a:p>
            <a:r>
              <a:t>One explorer for any scope, and the same answers everywhere else</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pic>
        <p:nvPicPr>
          <p:cNvPr id="26" name="Picture 25" descr="15-reporting-currency.jpg"/>
          <p:cNvPicPr>
            <a:picLocks noChangeAspect="1"/>
          </p:cNvPicPr>
          <p:nvPr/>
        </p:nvPicPr>
        <p:blipFill>
          <a:blip r:embed="rId2"/>
          <a:stretch>
            <a:fillRect/>
          </a:stretch>
        </p:blipFill>
        <p:spPr>
          <a:xfrm>
            <a:off x="777240" y="1444752"/>
            <a:ext cx="5989320" cy="3743325"/>
          </a:xfrm>
          <a:prstGeom prst="rect">
            <a:avLst/>
          </a:prstGeom>
          <a:ln w="9144">
            <a:solidFill>
              <a:srgbClr val="E3DED7"/>
            </a:solidFill>
          </a:ln>
        </p:spPr>
      </p:pic>
      <p:sp>
        <p:nvSpPr>
          <p:cNvPr id="27" name="TextBox 26"/>
          <p:cNvSpPr txBox="1"/>
          <p:nvPr/>
        </p:nvSpPr>
        <p:spPr>
          <a:xfrm>
            <a:off x="777240" y="5242941"/>
            <a:ext cx="5989320" cy="411480"/>
          </a:xfrm>
          <a:prstGeom prst="rect">
            <a:avLst/>
          </a:prstGeom>
          <a:noFill/>
        </p:spPr>
        <p:txBody>
          <a:bodyPr wrap="square" lIns="0" rIns="0" tIns="0" bIns="0" anchor="t">
            <a:spAutoFit/>
          </a:bodyPr>
          <a:lstStyle/>
          <a:p>
            <a:pPr algn="l"/>
            <a:r>
              <a:rPr sz="1050" b="0" i="1">
                <a:solidFill>
                  <a:srgbClr val="4A5058"/>
                </a:solidFill>
              </a:rPr>
              <a:t>VAR DESK DESK-RATES IN EUR: the scope tree and tiles in EUR, the basket tray, the P&amp;L path, and How this number was built naming the reporting currency, the input form, the scenario FX and the crosses via USD (2026-09-30).</a:t>
            </a:r>
          </a:p>
        </p:txBody>
      </p:sp>
      <p:sp>
        <p:nvSpPr>
          <p:cNvPr id="28" name="Rectangle 27"/>
          <p:cNvSpPr/>
          <p:nvPr/>
        </p:nvSpPr>
        <p:spPr>
          <a:xfrm>
            <a:off x="777240" y="5715000"/>
            <a:ext cx="2903220" cy="54864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886968" y="5715000"/>
            <a:ext cx="960120" cy="548640"/>
          </a:xfrm>
          <a:prstGeom prst="rect">
            <a:avLst/>
          </a:prstGeom>
          <a:noFill/>
        </p:spPr>
        <p:txBody>
          <a:bodyPr wrap="square" lIns="0" rIns="0" tIns="0" bIns="0" anchor="ctr">
            <a:spAutoFit/>
          </a:bodyPr>
          <a:lstStyle/>
          <a:p>
            <a:pPr algn="l"/>
            <a:r>
              <a:rPr sz="1500" b="1" i="0">
                <a:solidFill>
                  <a:srgbClr val="8A1626"/>
                </a:solidFill>
              </a:rPr>
              <a:t>9–14 ms</a:t>
            </a:r>
          </a:p>
        </p:txBody>
      </p:sp>
      <p:sp>
        <p:nvSpPr>
          <p:cNvPr id="30" name="TextBox 29"/>
          <p:cNvSpPr txBox="1"/>
          <p:nvPr/>
        </p:nvSpPr>
        <p:spPr>
          <a:xfrm>
            <a:off x="1847088" y="5715000"/>
            <a:ext cx="1760219" cy="548640"/>
          </a:xfrm>
          <a:prstGeom prst="rect">
            <a:avLst/>
          </a:prstGeom>
          <a:noFill/>
        </p:spPr>
        <p:txBody>
          <a:bodyPr wrap="square" lIns="0" rIns="0" tIns="0" bIns="0" anchor="ctr">
            <a:spAutoFit/>
          </a:bodyPr>
          <a:lstStyle/>
          <a:p>
            <a:pPr algn="l"/>
            <a:r>
              <a:rPr sz="1050" b="0" i="0">
                <a:solidFill>
                  <a:srgbClr val="4A5058"/>
                </a:solidFill>
              </a:rPr>
              <a:t>click to painted, a desk, answers fetched ahead (target 300 ms)</a:t>
            </a:r>
          </a:p>
        </p:txBody>
      </p:sp>
      <p:sp>
        <p:nvSpPr>
          <p:cNvPr id="31" name="Rectangle 30"/>
          <p:cNvSpPr/>
          <p:nvPr/>
        </p:nvSpPr>
        <p:spPr>
          <a:xfrm>
            <a:off x="3863339" y="5715000"/>
            <a:ext cx="2903220" cy="54864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3973068" y="5715000"/>
            <a:ext cx="960120" cy="548640"/>
          </a:xfrm>
          <a:prstGeom prst="rect">
            <a:avLst/>
          </a:prstGeom>
          <a:noFill/>
        </p:spPr>
        <p:txBody>
          <a:bodyPr wrap="square" lIns="0" rIns="0" tIns="0" bIns="0" anchor="ctr">
            <a:spAutoFit/>
          </a:bodyPr>
          <a:lstStyle/>
          <a:p>
            <a:pPr algn="l"/>
            <a:r>
              <a:rPr sz="1500" b="1" i="0">
                <a:solidFill>
                  <a:srgbClr val="8A1626"/>
                </a:solidFill>
              </a:rPr>
              <a:t>390 px</a:t>
            </a:r>
          </a:p>
        </p:txBody>
      </p:sp>
      <p:sp>
        <p:nvSpPr>
          <p:cNvPr id="33" name="TextBox 32"/>
          <p:cNvSpPr txBox="1"/>
          <p:nvPr/>
        </p:nvSpPr>
        <p:spPr>
          <a:xfrm>
            <a:off x="4933188" y="5715000"/>
            <a:ext cx="1760219" cy="548640"/>
          </a:xfrm>
          <a:prstGeom prst="rect">
            <a:avLst/>
          </a:prstGeom>
          <a:noFill/>
        </p:spPr>
        <p:txBody>
          <a:bodyPr wrap="square" lIns="0" rIns="0" tIns="0" bIns="0" anchor="ctr">
            <a:spAutoFit/>
          </a:bodyPr>
          <a:lstStyle/>
          <a:p>
            <a:pPr algn="l"/>
            <a:r>
              <a:rPr sz="1050" b="0" i="0">
                <a:solidFill>
                  <a:srgbClr val="4A5058"/>
                </a:solidFill>
              </a:rPr>
              <a:t>on a phone the three columns stack, no sideways scroll</a:t>
            </a:r>
          </a:p>
        </p:txBody>
      </p:sp>
      <p:sp>
        <p:nvSpPr>
          <p:cNvPr id="34" name="TextBox 33"/>
          <p:cNvSpPr txBox="1"/>
          <p:nvPr/>
        </p:nvSpPr>
        <p:spPr>
          <a:xfrm>
            <a:off x="7040879" y="1417320"/>
            <a:ext cx="4370832" cy="4846320"/>
          </a:xfrm>
          <a:prstGeom prst="rect">
            <a:avLst/>
          </a:prstGeom>
          <a:noFill/>
        </p:spPr>
        <p:txBody>
          <a:bodyPr wrap="square" lIns="0" rIns="0" tIns="0" bIns="0" anchor="t">
            <a:spAutoFit/>
          </a:bodyPr>
          <a:lstStyle/>
          <a:p>
            <a:pPr algn="l" marL="146304" indent="-146304">
              <a:spcAft>
                <a:spcPts val="550"/>
              </a:spcAft>
              <a:buClr>
                <a:srgbClr val="A51C30"/>
              </a:buClr>
              <a:buSzPct val="100000"/>
              <a:buFont typeface="Arial"/>
              <a:buChar char="▪"/>
            </a:pPr>
            <a:r>
              <a:rPr sz="1200" b="1" i="0">
                <a:solidFill>
                  <a:srgbClr val="8A1626"/>
                </a:solidFill>
              </a:rPr>
              <a:t>Scope tree and six tiles  </a:t>
            </a:r>
            <a:r>
              <a:rPr sz="1150" b="0" i="0">
                <a:solidFill>
                  <a:srgbClr val="1A1A1A"/>
                </a:solidFill>
              </a:rPr>
              <a:t>MGMT or LEGAL tree with VaR, ES and limit bars; VaR, ES, sum of standalone, diversification, limit use, backtest exceptions.</a:t>
            </a:r>
          </a:p>
          <a:p>
            <a:pPr algn="l" marL="146304" indent="-146304">
              <a:spcAft>
                <a:spcPts val="550"/>
              </a:spcAft>
              <a:buClr>
                <a:srgbClr val="A51C30"/>
              </a:buClr>
              <a:buSzPct val="100000"/>
              <a:buFont typeface="Arial"/>
              <a:buChar char="▪"/>
            </a:pPr>
            <a:r>
              <a:rPr sz="1200" b="1" i="0">
                <a:solidFill>
                  <a:srgbClr val="8A1626"/>
                </a:solidFill>
              </a:rPr>
              <a:t>Five tabs  </a:t>
            </a:r>
            <a:r>
              <a:rPr sz="1150" b="0" i="0">
                <a:solidFill>
                  <a:srgbClr val="1A1A1A"/>
                </a:solidFill>
              </a:rPr>
              <a:t>P&amp;L path (509 days, worst 25, who lost on a day) · VaR/ES history and backtest · contributions · captured results · In other currencies.</a:t>
            </a:r>
          </a:p>
          <a:p>
            <a:pPr algn="l" marL="146304" indent="-146304">
              <a:spcAft>
                <a:spcPts val="550"/>
              </a:spcAft>
              <a:buClr>
                <a:srgbClr val="A51C30"/>
              </a:buClr>
              <a:buSzPct val="100000"/>
              <a:buFont typeface="Arial"/>
              <a:buChar char="▪"/>
            </a:pPr>
            <a:r>
              <a:rPr sz="1200" b="1" i="0">
                <a:solidFill>
                  <a:srgbClr val="8A1626"/>
                </a:solidFill>
              </a:rPr>
              <a:t>Reporting currency picker  </a:t>
            </a:r>
            <a:r>
              <a:rPr sz="1150" b="0" i="0">
                <a:solidFill>
                  <a:srgbClr val="1A1A1A"/>
                </a:solidFill>
              </a:rPr>
              <a:t>USD, EUR, CAD, JPY, GBP and More…; every panel follows; kept in the link; VAR … IN EUR.</a:t>
            </a:r>
          </a:p>
          <a:p>
            <a:pPr algn="l" marL="146304" indent="-146304">
              <a:spcAft>
                <a:spcPts val="550"/>
              </a:spcAft>
              <a:buClr>
                <a:srgbClr val="A51C30"/>
              </a:buClr>
              <a:buSzPct val="100000"/>
              <a:buFont typeface="Arial"/>
              <a:buChar char="▪"/>
            </a:pPr>
            <a:r>
              <a:rPr sz="1200" b="1" i="0">
                <a:solidFill>
                  <a:srgbClr val="8A1626"/>
                </a:solidFill>
              </a:rPr>
              <a:t>How this number was built  </a:t>
            </a:r>
            <a:r>
              <a:rPr sz="1150" b="0" i="0">
                <a:solidFill>
                  <a:srgbClr val="1A1A1A"/>
                </a:solidFill>
              </a:rPr>
              <a:t>the scope as resolved, trades, hidden and unknown ids, batch, data versions, method, tier, timing.</a:t>
            </a:r>
          </a:p>
          <a:p>
            <a:pPr algn="l" marL="146304" indent="-146304">
              <a:spcAft>
                <a:spcPts val="550"/>
              </a:spcAft>
              <a:buClr>
                <a:srgbClr val="A51C30"/>
              </a:buClr>
              <a:buSzPct val="100000"/>
              <a:buFont typeface="Arial"/>
              <a:buChar char="▪"/>
            </a:pPr>
            <a:r>
              <a:rPr sz="1200" b="1" i="0">
                <a:solidFill>
                  <a:srgbClr val="8A1626"/>
                </a:solidFill>
              </a:rPr>
              <a:t>Baskets and pre-deal what-if  </a:t>
            </a:r>
            <a:r>
              <a:rPr sz="1150" b="0" i="0">
                <a:solidFill>
                  <a:srgbClr val="1A1A1A"/>
                </a:solidFill>
              </a:rPr>
              <a:t>any mix of portfolios, trades, counterparties and rules, live; a booked trade's vector × a factor through the Python engine.</a:t>
            </a:r>
          </a:p>
          <a:p>
            <a:pPr algn="l" marL="146304" indent="-146304">
              <a:spcAft>
                <a:spcPts val="550"/>
              </a:spcAft>
              <a:buClr>
                <a:srgbClr val="A51C30"/>
              </a:buClr>
              <a:buSzPct val="100000"/>
              <a:buFont typeface="Arial"/>
              <a:buChar char="▪"/>
            </a:pPr>
            <a:r>
              <a:rPr sz="1200" b="1" i="0">
                <a:solidFill>
                  <a:srgbClr val="8A1626"/>
                </a:solidFill>
              </a:rPr>
              <a:t>Captures, official records  </a:t>
            </a:r>
            <a:r>
              <a:rPr sz="1150" b="0" i="0">
                <a:solidFill>
                  <a:srgbClr val="1A1A1A"/>
                </a:solidFill>
              </a:rPr>
              <a:t>immutable captures, compare with now; each node's official history.</a:t>
            </a:r>
          </a:p>
          <a:p>
            <a:pPr algn="l" marL="146304" indent="-146304">
              <a:spcAft>
                <a:spcPts val="550"/>
              </a:spcAft>
              <a:buClr>
                <a:srgbClr val="A51C30"/>
              </a:buClr>
              <a:buSzPct val="100000"/>
              <a:buFont typeface="Arial"/>
              <a:buChar char="▪"/>
            </a:pPr>
            <a:r>
              <a:rPr sz="1200" b="1" i="0">
                <a:solidFill>
                  <a:srgbClr val="8A1626"/>
                </a:solidFill>
              </a:rPr>
              <a:t>Everywhere else  </a:t>
            </a:r>
            <a:r>
              <a:rPr sz="1150" b="0" i="0">
                <a:solidFill>
                  <a:srgbClr val="1A1A1A"/>
                </a:solidFill>
              </a:rPr>
              <a:t>trade (Trade currency), position, portfolio, desk and LE pages; drishti.py var … --ccy; /api/v1/var; VRES and VWIF; the BI VaR report; Home facts.</a:t>
            </a:r>
          </a:p>
          <a:p>
            <a:pPr algn="l" marL="146304" indent="-146304">
              <a:spcAft>
                <a:spcPts val="550"/>
              </a:spcAft>
              <a:buClr>
                <a:srgbClr val="A51C30"/>
              </a:buClr>
              <a:buSzPct val="100000"/>
              <a:buFont typeface="Arial"/>
              <a:buChar char="▪"/>
            </a:pPr>
            <a:r>
              <a:rPr sz="1200" b="1" i="0">
                <a:solidFill>
                  <a:srgbClr val="8A1626"/>
                </a:solidFill>
              </a:rPr>
              <a:t>Governed  </a:t>
            </a:r>
            <a:r>
              <a:rPr sz="1150" b="0" i="0">
                <a:solidFill>
                  <a:srgbClr val="1A1A1A"/>
                </a:solidFill>
              </a:rPr>
              <a:t>root name drishti.var.root-name; per-node positions or aggregate access; masks; every answer audited.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HOW IT SCALES</a:t>
            </a:r>
          </a:p>
        </p:txBody>
      </p:sp>
      <p:sp>
        <p:nvSpPr>
          <p:cNvPr id="3" name="Title 2"/>
          <p:cNvSpPr>
            <a:spLocks noGrp="1"/>
          </p:cNvSpPr>
          <p:nvPr>
            <p:ph type="title" idx="104"/>
          </p:nvPr>
        </p:nvSpPr>
        <p:spPr/>
        <p:txBody>
          <a:bodyPr/>
          <a:lstStyle/>
          <a:p>
            <a:r>
              <a:t>Why it is fast: vectors add, one date stays hot, sums run on every core</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63040"/>
            <a:ext cx="3703320" cy="786384"/>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905256" y="1508760"/>
            <a:ext cx="3474720" cy="713232"/>
          </a:xfrm>
          <a:prstGeom prst="rect">
            <a:avLst/>
          </a:prstGeom>
          <a:noFill/>
        </p:spPr>
        <p:txBody>
          <a:bodyPr wrap="square" lIns="0" rIns="0" tIns="0" bIns="0" anchor="ctr">
            <a:spAutoFit/>
          </a:bodyPr>
          <a:lstStyle/>
          <a:p>
            <a:pPr algn="l">
              <a:spcAft>
                <a:spcPts val="200"/>
              </a:spcAft>
            </a:pPr>
            <a:r>
              <a:rPr sz="1250" b="1" i="0">
                <a:solidFill>
                  <a:srgbClr val="8A1626"/>
                </a:solidFill>
              </a:rPr>
              <a:t>Consumers</a:t>
            </a:r>
          </a:p>
          <a:p>
            <a:pPr algn="l"/>
            <a:r>
              <a:rPr sz="1100" b="0" i="0">
                <a:solidFill>
                  <a:srgbClr val="4A5058"/>
                </a:solidFill>
              </a:rPr>
              <a:t>console · CLI · REST · BI · computed kinds</a:t>
            </a:r>
          </a:p>
        </p:txBody>
      </p:sp>
      <p:cxnSp>
        <p:nvCxnSpPr>
          <p:cNvPr id="28" name="Connector 27"/>
          <p:cNvCxnSpPr/>
          <p:nvPr/>
        </p:nvCxnSpPr>
        <p:spPr>
          <a:xfrm flipV="1">
            <a:off x="2628900" y="2258568"/>
            <a:ext cx="0" cy="164592"/>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77240" y="2432304"/>
            <a:ext cx="3703320" cy="786384"/>
          </a:xfrm>
          <a:prstGeom prst="rect">
            <a:avLst/>
          </a:prstGeom>
          <a:solidFill>
            <a:srgbClr val="F6E6E9"/>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905256" y="2478024"/>
            <a:ext cx="3474720" cy="713232"/>
          </a:xfrm>
          <a:prstGeom prst="rect">
            <a:avLst/>
          </a:prstGeom>
          <a:noFill/>
        </p:spPr>
        <p:txBody>
          <a:bodyPr wrap="square" lIns="0" rIns="0" tIns="0" bIns="0" anchor="ctr">
            <a:spAutoFit/>
          </a:bodyPr>
          <a:lstStyle/>
          <a:p>
            <a:pPr algn="l">
              <a:spcAft>
                <a:spcPts val="200"/>
              </a:spcAft>
            </a:pPr>
            <a:r>
              <a:rPr sz="1250" b="1" i="0">
                <a:solidFill>
                  <a:srgbClr val="8A1626"/>
                </a:solidFill>
              </a:rPr>
              <a:t>drishti-server · VarService</a:t>
            </a:r>
          </a:p>
          <a:p>
            <a:pPr algn="l"/>
            <a:r>
              <a:rPr sz="1100" b="0" i="0">
                <a:solidFill>
                  <a:srgbClr val="1A1A1A"/>
                </a:solidFill>
              </a:rPr>
              <a:t>scopes, entitlements, a cache of 512 answers, captures, official records</a:t>
            </a:r>
          </a:p>
        </p:txBody>
      </p:sp>
      <p:cxnSp>
        <p:nvCxnSpPr>
          <p:cNvPr id="31" name="Connector 30"/>
          <p:cNvCxnSpPr/>
          <p:nvPr/>
        </p:nvCxnSpPr>
        <p:spPr>
          <a:xfrm flipV="1">
            <a:off x="2628900" y="3227832"/>
            <a:ext cx="0" cy="164592"/>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777240" y="3401568"/>
            <a:ext cx="3703320" cy="786384"/>
          </a:xfrm>
          <a:prstGeom prst="rect">
            <a:avLst/>
          </a:prstGeom>
          <a:solidFill>
            <a:srgbClr val="F7F5F2"/>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905256" y="3447288"/>
            <a:ext cx="3474720" cy="713232"/>
          </a:xfrm>
          <a:prstGeom prst="rect">
            <a:avLst/>
          </a:prstGeom>
          <a:noFill/>
        </p:spPr>
        <p:txBody>
          <a:bodyPr wrap="square" lIns="0" rIns="0" tIns="0" bIns="0" anchor="ctr">
            <a:spAutoFit/>
          </a:bodyPr>
          <a:lstStyle/>
          <a:p>
            <a:pPr algn="l">
              <a:spcAft>
                <a:spcPts val="200"/>
              </a:spcAft>
            </a:pPr>
            <a:r>
              <a:rPr sz="1250" b="1" i="0">
                <a:solidFill>
                  <a:srgbClr val="8A1626"/>
                </a:solidFill>
              </a:rPr>
              <a:t>drishti-compute · the engine</a:t>
            </a:r>
          </a:p>
          <a:p>
            <a:pPr algn="l"/>
            <a:r>
              <a:rPr sz="1100" b="0" i="0">
                <a:solidFill>
                  <a:srgbClr val="1A1A1A"/>
                </a:solidFill>
              </a:rPr>
              <a:t>VarBook, planner, parallel sums, VarMath (Java); Python for what-if</a:t>
            </a:r>
          </a:p>
        </p:txBody>
      </p:sp>
      <p:cxnSp>
        <p:nvCxnSpPr>
          <p:cNvPr id="34" name="Connector 33"/>
          <p:cNvCxnSpPr/>
          <p:nvPr/>
        </p:nvCxnSpPr>
        <p:spPr>
          <a:xfrm flipV="1">
            <a:off x="2628900" y="4197096"/>
            <a:ext cx="0" cy="164592"/>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77240" y="4370832"/>
            <a:ext cx="3703320" cy="786384"/>
          </a:xfrm>
          <a:prstGeom prst="rect">
            <a:avLst/>
          </a:prstGeom>
          <a:solidFill>
            <a:srgbClr val="F7F5F2"/>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905256" y="4416552"/>
            <a:ext cx="3474720" cy="713232"/>
          </a:xfrm>
          <a:prstGeom prst="rect">
            <a:avLst/>
          </a:prstGeom>
          <a:noFill/>
        </p:spPr>
        <p:txBody>
          <a:bodyPr wrap="square" lIns="0" rIns="0" tIns="0" bIns="0" anchor="ctr">
            <a:spAutoFit/>
          </a:bodyPr>
          <a:lstStyle/>
          <a:p>
            <a:pPr algn="l">
              <a:spcAft>
                <a:spcPts val="200"/>
              </a:spcAft>
            </a:pPr>
            <a:r>
              <a:rPr sz="1250" b="1" i="0">
                <a:solidFill>
                  <a:srgbClr val="8A1626"/>
                </a:solidFill>
              </a:rPr>
              <a:t>Tiered memory</a:t>
            </a:r>
          </a:p>
          <a:p>
            <a:pPr algn="l"/>
            <a:r>
              <a:rPr sz="1100" b="0" i="0">
                <a:solidFill>
                  <a:srgbClr val="1A1A1A"/>
                </a:solidFill>
              </a:rPr>
              <a:t>heap: aggregates, columns · hot file: mapped float32 rows · page cache</a:t>
            </a:r>
          </a:p>
        </p:txBody>
      </p:sp>
      <p:cxnSp>
        <p:nvCxnSpPr>
          <p:cNvPr id="37" name="Connector 36"/>
          <p:cNvCxnSpPr/>
          <p:nvPr/>
        </p:nvCxnSpPr>
        <p:spPr>
          <a:xfrm flipV="1">
            <a:off x="2628900" y="5166360"/>
            <a:ext cx="0" cy="164592"/>
          </a:xfrm>
          <a:prstGeom prst="line">
            <a:avLst/>
          </a:prstGeom>
          <a:ln w="1905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777240" y="5340096"/>
            <a:ext cx="3703320" cy="786384"/>
          </a:xfrm>
          <a:prstGeom prst="rect">
            <a:avLst/>
          </a:prstGeom>
          <a:solidFill>
            <a:srgbClr val="8A1626"/>
          </a:solidFill>
          <a:ln w="12700">
            <a:solidFill>
              <a:srgbClr val="8A16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905256" y="5385816"/>
            <a:ext cx="3474720" cy="713232"/>
          </a:xfrm>
          <a:prstGeom prst="rect">
            <a:avLst/>
          </a:prstGeom>
          <a:noFill/>
        </p:spPr>
        <p:txBody>
          <a:bodyPr wrap="square" lIns="0" rIns="0" tIns="0" bIns="0" anchor="ctr">
            <a:spAutoFit/>
          </a:bodyPr>
          <a:lstStyle/>
          <a:p>
            <a:pPr algn="l">
              <a:spcAft>
                <a:spcPts val="200"/>
              </a:spcAft>
            </a:pPr>
            <a:r>
              <a:rPr sz="1250" b="1" i="0">
                <a:solidFill>
                  <a:srgbClr val="FFFFFF"/>
                </a:solidFill>
              </a:rPr>
              <a:t>Lake · Delta</a:t>
            </a:r>
          </a:p>
          <a:p>
            <a:pPr algn="l"/>
            <a:r>
              <a:rPr sz="1100" b="0" i="0">
                <a:solidFill>
                  <a:srgbClr val="F6E6E9"/>
                </a:solidFill>
              </a:rPr>
              <a:t>float64 vectors, every date, 7 years of time travel</a:t>
            </a:r>
          </a:p>
        </p:txBody>
      </p:sp>
      <p:sp>
        <p:nvSpPr>
          <p:cNvPr id="40" name="Rectangle 39"/>
          <p:cNvSpPr/>
          <p:nvPr/>
        </p:nvSpPr>
        <p:spPr>
          <a:xfrm>
            <a:off x="4754879" y="1463040"/>
            <a:ext cx="3259836" cy="69494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4864607" y="1499616"/>
            <a:ext cx="3076956" cy="640080"/>
          </a:xfrm>
          <a:prstGeom prst="rect">
            <a:avLst/>
          </a:prstGeom>
          <a:noFill/>
        </p:spPr>
        <p:txBody>
          <a:bodyPr wrap="square" lIns="0" rIns="0" tIns="0" bIns="0" anchor="ctr">
            <a:spAutoFit/>
          </a:bodyPr>
          <a:lstStyle/>
          <a:p>
            <a:pPr algn="l">
              <a:spcAft>
                <a:spcPts val="100"/>
              </a:spcAft>
            </a:pPr>
            <a:r>
              <a:rPr sz="1200" b="1" i="0">
                <a:solidFill>
                  <a:srgbClr val="8A1626"/>
                </a:solidFill>
              </a:rPr>
              <a:t>Vector math</a:t>
            </a:r>
          </a:p>
          <a:p>
            <a:pPr algn="l"/>
            <a:r>
              <a:rPr sz="1100" b="0" i="0">
                <a:solidFill>
                  <a:srgbClr val="4A5058"/>
                </a:solidFill>
              </a:rPr>
              <a:t>509 doubles = 4,072 B a trade; hot rows float32 (2,036 B); every sum in float64</a:t>
            </a:r>
          </a:p>
        </p:txBody>
      </p:sp>
      <p:sp>
        <p:nvSpPr>
          <p:cNvPr id="42" name="Rectangle 41"/>
          <p:cNvSpPr/>
          <p:nvPr/>
        </p:nvSpPr>
        <p:spPr>
          <a:xfrm>
            <a:off x="8151875" y="1463040"/>
            <a:ext cx="3259836" cy="69494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8261603" y="1499616"/>
            <a:ext cx="3076956" cy="640080"/>
          </a:xfrm>
          <a:prstGeom prst="rect">
            <a:avLst/>
          </a:prstGeom>
          <a:noFill/>
        </p:spPr>
        <p:txBody>
          <a:bodyPr wrap="square" lIns="0" rIns="0" tIns="0" bIns="0" anchor="ctr">
            <a:spAutoFit/>
          </a:bodyPr>
          <a:lstStyle/>
          <a:p>
            <a:pPr algn="l">
              <a:spcAft>
                <a:spcPts val="100"/>
              </a:spcAft>
            </a:pPr>
            <a:r>
              <a:rPr sz="1200" b="1" i="0">
                <a:solidFill>
                  <a:srgbClr val="8A1626"/>
                </a:solidFill>
              </a:rPr>
              <a:t>Memory-mapped hot file</a:t>
            </a:r>
          </a:p>
          <a:p>
            <a:pPr algn="l"/>
            <a:r>
              <a:rPr sz="1100" b="0" i="0">
                <a:solidFill>
                  <a:srgbClr val="4A5058"/>
                </a:solidFill>
              </a:rPr>
              <a:t>one file a date; only touched pages resident; 2 dates open, 60 kept on disk</a:t>
            </a:r>
          </a:p>
        </p:txBody>
      </p:sp>
      <p:sp>
        <p:nvSpPr>
          <p:cNvPr id="44" name="Rectangle 43"/>
          <p:cNvSpPr/>
          <p:nvPr/>
        </p:nvSpPr>
        <p:spPr>
          <a:xfrm>
            <a:off x="4754879" y="2249424"/>
            <a:ext cx="3259836" cy="69494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4864607" y="2286000"/>
            <a:ext cx="3076956" cy="640080"/>
          </a:xfrm>
          <a:prstGeom prst="rect">
            <a:avLst/>
          </a:prstGeom>
          <a:noFill/>
        </p:spPr>
        <p:txBody>
          <a:bodyPr wrap="square" lIns="0" rIns="0" tIns="0" bIns="0" anchor="ctr">
            <a:spAutoFit/>
          </a:bodyPr>
          <a:lstStyle/>
          <a:p>
            <a:pPr algn="l">
              <a:spcAft>
                <a:spcPts val="100"/>
              </a:spcAft>
            </a:pPr>
            <a:r>
              <a:rPr sz="1200" b="1" i="0">
                <a:solidFill>
                  <a:srgbClr val="8A1626"/>
                </a:solidFill>
              </a:rPr>
              <a:t>Planner over aggregates</a:t>
            </a:r>
          </a:p>
          <a:p>
            <a:pPr algn="l"/>
            <a:r>
              <a:rPr sz="1100" b="0" i="0">
                <a:solidFill>
                  <a:srgbClr val="4A5058"/>
                </a:solidFill>
              </a:rPr>
              <a:t>a node is its aggregate; Markets minus three trades = 4 vector operations</a:t>
            </a:r>
          </a:p>
        </p:txBody>
      </p:sp>
      <p:sp>
        <p:nvSpPr>
          <p:cNvPr id="46" name="Rectangle 45"/>
          <p:cNvSpPr/>
          <p:nvPr/>
        </p:nvSpPr>
        <p:spPr>
          <a:xfrm>
            <a:off x="8151875" y="2249424"/>
            <a:ext cx="3259836" cy="69494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8261603" y="2286000"/>
            <a:ext cx="3076956" cy="640080"/>
          </a:xfrm>
          <a:prstGeom prst="rect">
            <a:avLst/>
          </a:prstGeom>
          <a:noFill/>
        </p:spPr>
        <p:txBody>
          <a:bodyPr wrap="square" lIns="0" rIns="0" tIns="0" bIns="0" anchor="ctr">
            <a:spAutoFit/>
          </a:bodyPr>
          <a:lstStyle/>
          <a:p>
            <a:pPr algn="l">
              <a:spcAft>
                <a:spcPts val="100"/>
              </a:spcAft>
            </a:pPr>
            <a:r>
              <a:rPr sz="1200" b="1" i="0">
                <a:solidFill>
                  <a:srgbClr val="8A1626"/>
                </a:solidFill>
              </a:rPr>
              <a:t>Parallel sums</a:t>
            </a:r>
          </a:p>
          <a:p>
            <a:pPr algn="l"/>
            <a:r>
              <a:rPr sz="1100" b="0" i="0">
                <a:solidFill>
                  <a:srgbClr val="4A5058"/>
                </a:solidFill>
              </a:rPr>
              <a:t>slices on every core, added in a fixed order: the same bits every time</a:t>
            </a:r>
          </a:p>
        </p:txBody>
      </p:sp>
      <p:sp>
        <p:nvSpPr>
          <p:cNvPr id="48" name="Rectangle 47"/>
          <p:cNvSpPr/>
          <p:nvPr/>
        </p:nvSpPr>
        <p:spPr>
          <a:xfrm>
            <a:off x="4754879" y="3035808"/>
            <a:ext cx="3259836" cy="69494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4864607" y="3072384"/>
            <a:ext cx="3076956" cy="640080"/>
          </a:xfrm>
          <a:prstGeom prst="rect">
            <a:avLst/>
          </a:prstGeom>
          <a:noFill/>
        </p:spPr>
        <p:txBody>
          <a:bodyPr wrap="square" lIns="0" rIns="0" tIns="0" bIns="0" anchor="ctr">
            <a:spAutoFit/>
          </a:bodyPr>
          <a:lstStyle/>
          <a:p>
            <a:pPr algn="l">
              <a:spcAft>
                <a:spcPts val="100"/>
              </a:spcAft>
            </a:pPr>
            <a:r>
              <a:rPr sz="1200" b="1" i="0">
                <a:solidFill>
                  <a:srgbClr val="8A1626"/>
                </a:solidFill>
              </a:rPr>
              <a:t>Currencies built ahead</a:t>
            </a:r>
          </a:p>
          <a:p>
            <a:pPr algn="l"/>
            <a:r>
              <a:rPr sz="1100" b="0" i="0">
                <a:solidFill>
                  <a:srgbClr val="4A5058"/>
                </a:solidFill>
              </a:rPr>
              <a:t>five books in the background; 21.4 MB a currency a date on the demo</a:t>
            </a:r>
          </a:p>
        </p:txBody>
      </p:sp>
      <p:sp>
        <p:nvSpPr>
          <p:cNvPr id="50" name="Rectangle 49"/>
          <p:cNvSpPr/>
          <p:nvPr/>
        </p:nvSpPr>
        <p:spPr>
          <a:xfrm>
            <a:off x="8151875" y="3035808"/>
            <a:ext cx="3259836" cy="69494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8261603" y="3072384"/>
            <a:ext cx="3076956" cy="640080"/>
          </a:xfrm>
          <a:prstGeom prst="rect">
            <a:avLst/>
          </a:prstGeom>
          <a:noFill/>
        </p:spPr>
        <p:txBody>
          <a:bodyPr wrap="square" lIns="0" rIns="0" tIns="0" bIns="0" anchor="ctr">
            <a:spAutoFit/>
          </a:bodyPr>
          <a:lstStyle/>
          <a:p>
            <a:pPr algn="l">
              <a:spcAft>
                <a:spcPts val="100"/>
              </a:spcAft>
            </a:pPr>
            <a:r>
              <a:rPr sz="1200" b="1" i="0">
                <a:solidFill>
                  <a:srgbClr val="8A1626"/>
                </a:solidFill>
              </a:rPr>
              <a:t>Per-trade-currency totals</a:t>
            </a:r>
          </a:p>
          <a:p>
            <a:pPr algn="l"/>
            <a:r>
              <a:rPr sz="1100" b="0" i="0">
                <a:solidFill>
                  <a:srgbClr val="4A5058"/>
                </a:solidFill>
              </a:rPr>
              <a:t>a headline in any currency from a node's few currency sums, exact</a:t>
            </a:r>
          </a:p>
        </p:txBody>
      </p:sp>
      <p:sp>
        <p:nvSpPr>
          <p:cNvPr id="52" name="Rectangle 51"/>
          <p:cNvSpPr/>
          <p:nvPr/>
        </p:nvSpPr>
        <p:spPr>
          <a:xfrm>
            <a:off x="4754879" y="3822191"/>
            <a:ext cx="3259836" cy="69494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4864607" y="3858768"/>
            <a:ext cx="3076956" cy="640080"/>
          </a:xfrm>
          <a:prstGeom prst="rect">
            <a:avLst/>
          </a:prstGeom>
          <a:noFill/>
        </p:spPr>
        <p:txBody>
          <a:bodyPr wrap="square" lIns="0" rIns="0" tIns="0" bIns="0" anchor="ctr">
            <a:spAutoFit/>
          </a:bodyPr>
          <a:lstStyle/>
          <a:p>
            <a:pPr algn="l">
              <a:spcAft>
                <a:spcPts val="100"/>
              </a:spcAft>
            </a:pPr>
            <a:r>
              <a:rPr sz="1200" b="1" i="0">
                <a:solidFill>
                  <a:srgbClr val="8A1626"/>
                </a:solidFill>
              </a:rPr>
              <a:t>Intraday increments</a:t>
            </a:r>
          </a:p>
          <a:p>
            <a:pPr algn="l"/>
            <a:r>
              <a:rPr sz="1100" b="0" i="0">
                <a:solidFill>
                  <a:srgbClr val="4A5058"/>
                </a:solidFill>
              </a:rPr>
              <a:t>cost ∝ trades changed; Kafka: one commit and one apply per window</a:t>
            </a:r>
          </a:p>
        </p:txBody>
      </p:sp>
      <p:sp>
        <p:nvSpPr>
          <p:cNvPr id="54" name="Rectangle 53"/>
          <p:cNvSpPr/>
          <p:nvPr/>
        </p:nvSpPr>
        <p:spPr>
          <a:xfrm>
            <a:off x="8151875" y="3822191"/>
            <a:ext cx="3259836" cy="69494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8261603" y="3858768"/>
            <a:ext cx="3076956" cy="640080"/>
          </a:xfrm>
          <a:prstGeom prst="rect">
            <a:avLst/>
          </a:prstGeom>
          <a:noFill/>
        </p:spPr>
        <p:txBody>
          <a:bodyPr wrap="square" lIns="0" rIns="0" tIns="0" bIns="0" anchor="ctr">
            <a:spAutoFit/>
          </a:bodyPr>
          <a:lstStyle/>
          <a:p>
            <a:pPr algn="l">
              <a:spcAft>
                <a:spcPts val="100"/>
              </a:spcAft>
            </a:pPr>
            <a:r>
              <a:rPr sz="1200" b="1" i="0">
                <a:solidFill>
                  <a:srgbClr val="8A1626"/>
                </a:solidFill>
              </a:rPr>
              <a:t>Cluster and history</a:t>
            </a:r>
          </a:p>
          <a:p>
            <a:pPr algn="l"/>
            <a:r>
              <a:rPr sz="1100" b="0" i="0">
                <a:solidFill>
                  <a:srgbClr val="4A5058"/>
                </a:solidFill>
              </a:rPr>
              <a:t>Drishti*net replicas; VaR sharding designed; Delta history</a:t>
            </a:r>
          </a:p>
        </p:txBody>
      </p:sp>
      <p:graphicFrame>
        <p:nvGraphicFramePr>
          <p:cNvPr id="56" name="Table 55"/>
          <p:cNvGraphicFramePr>
            <a:graphicFrameLocks noGrp="1"/>
          </p:cNvGraphicFramePr>
          <p:nvPr/>
        </p:nvGraphicFramePr>
        <p:xfrm>
          <a:off x="4754879" y="4645152"/>
          <a:ext cx="6656832" cy="1632204"/>
        </p:xfrm>
        <a:graphic>
          <a:graphicData uri="http://schemas.openxmlformats.org/drawingml/2006/table">
            <a:tbl>
              <a:tblPr firstRow="0" bandRow="0">
                <a:tableStyleId>{5940675A-B579-460E-94D1-54222C63F5DA}</a:tableStyleId>
              </a:tblPr>
              <a:tblGrid>
                <a:gridCol w="3063240"/>
                <a:gridCol w="1600200"/>
                <a:gridCol w="1993392"/>
              </a:tblGrid>
              <a:tr h="233172">
                <a:tc>
                  <a:txBody>
                    <a:bodyPr wrap="square"/>
                    <a:lstStyle/>
                    <a:p>
                      <a:r>
                        <a:rPr sz="1100" b="1" i="0">
                          <a:solidFill>
                            <a:srgbClr val="FFFFFF"/>
                          </a:solidFill>
                        </a:rPr>
                        <a:t>Measured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Time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On</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233172">
                <a:tc>
                  <a:txBody>
                    <a:bodyPr wrap="square"/>
                    <a:lstStyle/>
                    <a:p>
                      <a:r>
                        <a:rPr sz="1100" b="0" i="0">
                          <a:solidFill>
                            <a:srgbClr val="1A1A1A"/>
                          </a:solidFill>
                        </a:rPr>
                        <a:t>A node's VaR and 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0.48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tiered store, 100,000 trades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33172">
                <a:tc>
                  <a:txBody>
                    <a:bodyPr wrap="square"/>
                    <a:lstStyle/>
                    <a:p>
                      <a:r>
                        <a:rPr sz="1100" b="0" i="0">
                          <a:solidFill>
                            <a:srgbClr val="1A1A1A"/>
                          </a:solidFill>
                        </a:rPr>
                        <a:t>The whole bank from float32 rows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3.4 ms (≈ 60 GB/s)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tiered store, 100,000 trades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33172">
                <a:tc>
                  <a:txBody>
                    <a:bodyPr wrap="square"/>
                    <a:lstStyle/>
                    <a:p>
                      <a:r>
                        <a:rPr sz="1100" b="0" i="0">
                          <a:solidFill>
                            <a:srgbClr val="1A1A1A"/>
                          </a:solidFill>
                        </a:rPr>
                        <a:t>The whole bank from float64 rows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58 ms (≈ 70 GB/s)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heap tier, 1,000,000 trades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33172">
                <a:tc>
                  <a:txBody>
                    <a:bodyPr wrap="square"/>
                    <a:lstStyle/>
                    <a:p>
                      <a:r>
                        <a:rPr sz="1100" b="0" i="0">
                          <a:solidFill>
                            <a:srgbClr val="1A1A1A"/>
                          </a:solidFill>
                        </a:rPr>
                        <a:t>A basket of 50,000 scattered positions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2.6 ms + ≈ 45 ms ids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tiered store, 100,000 trades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33172">
                <a:tc>
                  <a:txBody>
                    <a:bodyPr wrap="square"/>
                    <a:lstStyle/>
                    <a:p>
                      <a:r>
                        <a:rPr sz="1100" b="0" i="0">
                          <a:solidFill>
                            <a:srgbClr val="1A1A1A"/>
                          </a:solidFill>
                        </a:rPr>
                        <a:t>First load of a date (after the lake read)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0.8–1.2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tiered store, 100,000 trades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33172">
                <a:tc>
                  <a:txBody>
                    <a:bodyPr wrap="square"/>
                    <a:lstStyle/>
                    <a:p>
                      <a:r>
                        <a:rPr sz="1100" b="0" i="0">
                          <a:solidFill>
                            <a:srgbClr val="1A1A1A"/>
                          </a:solidFill>
                        </a:rPr>
                        <a:t>Loading the demo date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572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9,572 trades, the server</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SIZING · 1.3 MILLION POSITIONS, 100,000 PORTFOLIOS</a:t>
            </a:r>
          </a:p>
        </p:txBody>
      </p:sp>
      <p:sp>
        <p:nvSpPr>
          <p:cNvPr id="3" name="Title 2"/>
          <p:cNvSpPr>
            <a:spLocks noGrp="1"/>
          </p:cNvSpPr>
          <p:nvPr>
            <p:ph type="title" idx="104"/>
          </p:nvPr>
        </p:nvSpPr>
        <p:spPr/>
        <p:txBody>
          <a:bodyPr/>
          <a:lstStyle/>
          <a:p>
            <a:r>
              <a:t>Bank scale, from first principles and the measured figures</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graphicFrame>
        <p:nvGraphicFramePr>
          <p:cNvPr id="26" name="Table 25"/>
          <p:cNvGraphicFramePr>
            <a:graphicFrameLocks noGrp="1"/>
          </p:cNvGraphicFramePr>
          <p:nvPr/>
        </p:nvGraphicFramePr>
        <p:xfrm>
          <a:off x="777240" y="1417320"/>
          <a:ext cx="6903720" cy="4096512"/>
        </p:xfrm>
        <a:graphic>
          <a:graphicData uri="http://schemas.openxmlformats.org/drawingml/2006/table">
            <a:tbl>
              <a:tblPr firstRow="0" bandRow="0">
                <a:tableStyleId>{5940675A-B579-460E-94D1-54222C63F5DA}</a:tableStyleId>
              </a:tblPr>
              <a:tblGrid>
                <a:gridCol w="2377440"/>
                <a:gridCol w="2194560"/>
                <a:gridCol w="1417320"/>
                <a:gridCol w="914400"/>
              </a:tblGrid>
              <a:tr h="292608">
                <a:tc>
                  <a:txBody>
                    <a:bodyPr wrap="square"/>
                    <a:lstStyle/>
                    <a:p>
                      <a:r>
                        <a:rPr sz="1100" b="1" i="0">
                          <a:solidFill>
                            <a:srgbClr val="FFFFFF"/>
                          </a:solidFill>
                        </a:rPr>
                        <a:t>Per business date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Arithmetic</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Result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c>
                  <a:txBody>
                    <a:bodyPr wrap="square"/>
                    <a:lstStyle/>
                    <a:p>
                      <a:r>
                        <a:rPr sz="1100" b="1" i="0">
                          <a:solidFill>
                            <a:srgbClr val="FFFFFF"/>
                          </a:solidFill>
                        </a:rPr>
                        <a:t>Basis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8A1626"/>
                    </a:solidFill>
                  </a:tcPr>
                </a:tc>
              </a:tr>
              <a:tr h="292608">
                <a:tc>
                  <a:txBody>
                    <a:bodyPr wrap="square"/>
                    <a:lstStyle/>
                    <a:p>
                      <a:r>
                        <a:rPr sz="1100" b="1" i="0">
                          <a:solidFill>
                            <a:srgbClr val="8A1626"/>
                          </a:solidFill>
                        </a:rPr>
                        <a:t>Vectors, float64 (the lake)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1.3M × 509 × 8 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5.29 GB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4A5058"/>
                          </a:solidFill>
                        </a:rPr>
                        <a:t>arithmetic</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92608">
                <a:tc>
                  <a:txBody>
                    <a:bodyPr wrap="square"/>
                    <a:lstStyle/>
                    <a:p>
                      <a:r>
                        <a:rPr sz="1100" b="1" i="0">
                          <a:solidFill>
                            <a:srgbClr val="8A1626"/>
                          </a:solidFill>
                        </a:rPr>
                        <a:t>Vectors, float32 (hot rows)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1.3M × 509 × 4 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2.65 GB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4A5058"/>
                          </a:solidFill>
                        </a:rPr>
                        <a:t>arithmetic</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92608">
                <a:tc>
                  <a:txBody>
                    <a:bodyPr wrap="square"/>
                    <a:lstStyle/>
                    <a:p>
                      <a:r>
                        <a:rPr sz="1100" b="1" i="0">
                          <a:solidFill>
                            <a:srgbClr val="8A1626"/>
                          </a:solidFill>
                        </a:rPr>
                        <a:t>Hot file, USD book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237.7 MB per 100k × 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 3.1 GB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92608">
                <a:tc>
                  <a:txBody>
                    <a:bodyPr wrap="square"/>
                    <a:lstStyle/>
                    <a:p>
                      <a:r>
                        <a:rPr sz="1100" b="1" i="0">
                          <a:solidFill>
                            <a:srgbClr val="8A1626"/>
                          </a:solidFill>
                        </a:rPr>
                        <a:t>Heap, one open date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 80 MB per 100k × 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 1.0 GB</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92608">
                <a:tc>
                  <a:txBody>
                    <a:bodyPr wrap="square"/>
                    <a:lstStyle/>
                    <a:p>
                      <a:r>
                        <a:rPr sz="1100" b="1" i="0">
                          <a:solidFill>
                            <a:srgbClr val="8A1626"/>
                          </a:solidFill>
                        </a:rPr>
                        <a:t>First load, after the lake read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0.8–1.2 s per 100k × 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 10–16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92608">
                <a:tc>
                  <a:txBody>
                    <a:bodyPr wrap="square"/>
                    <a:lstStyle/>
                    <a:p>
                      <a:r>
                        <a:rPr sz="1100" b="1" i="0">
                          <a:solidFill>
                            <a:srgbClr val="8A1626"/>
                          </a:solidFill>
                        </a:rPr>
                        <a:t>Reopen a date from its file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23 ms per 100k × 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 0.3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92608">
                <a:tc>
                  <a:txBody>
                    <a:bodyPr wrap="square"/>
                    <a:lstStyle/>
                    <a:p>
                      <a:r>
                        <a:rPr sz="1100" b="1" i="0">
                          <a:solidFill>
                            <a:srgbClr val="8A1626"/>
                          </a:solidFill>
                        </a:rPr>
                        <a:t>Whole bank from rows, resident</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2.65 GB at ≈ 60 GB/s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 45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92608">
                <a:tc>
                  <a:txBody>
                    <a:bodyPr wrap="square"/>
                    <a:lstStyle/>
                    <a:p>
                      <a:r>
                        <a:rPr sz="1100" b="1" i="0">
                          <a:solidFill>
                            <a:srgbClr val="8A1626"/>
                          </a:solidFill>
                        </a:rPr>
                        <a:t>  … cold, from NVMe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2.65 GB at ≈ 3 GB/s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 0.9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92608">
                <a:tc>
                  <a:txBody>
                    <a:bodyPr wrap="square"/>
                    <a:lstStyle/>
                    <a:p>
                      <a:r>
                        <a:rPr sz="1100" b="1" i="0">
                          <a:solidFill>
                            <a:srgbClr val="8A1626"/>
                          </a:solidFill>
                        </a:rPr>
                        <a:t>A node, any size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its float64 aggregate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 0.5 ms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1" i="0">
                          <a:solidFill>
                            <a:srgbClr val="8A1626"/>
                          </a:solidFill>
                        </a:rPr>
                        <a:t>measured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92608">
                <a:tc>
                  <a:txBody>
                    <a:bodyPr wrap="square"/>
                    <a:lstStyle/>
                    <a:p>
                      <a:r>
                        <a:rPr sz="1100" b="1" i="0">
                          <a:solidFill>
                            <a:srgbClr val="8A1626"/>
                          </a:solidFill>
                        </a:rPr>
                        <a:t>4 extra currencies, disk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250 MB × 4 per 100k × 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 13 GB a date</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92608">
                <a:tc>
                  <a:txBody>
                    <a:bodyPr wrap="square"/>
                    <a:lstStyle/>
                    <a:p>
                      <a:r>
                        <a:rPr sz="1100" b="1" i="0">
                          <a:solidFill>
                            <a:srgbClr val="8A1626"/>
                          </a:solidFill>
                        </a:rPr>
                        <a:t>  … 5 retained dates; build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13 GB × 5; 4.3 s per 100k × 13</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 65 GB; ≈ 56 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r h="292608">
                <a:tc>
                  <a:txBody>
                    <a:bodyPr wrap="square"/>
                    <a:lstStyle/>
                    <a:p>
                      <a:r>
                        <a:rPr sz="1100" b="1" i="0">
                          <a:solidFill>
                            <a:srgbClr val="8A1626"/>
                          </a:solidFill>
                        </a:rPr>
                        <a:t>USD hot files, 60 dates</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3.1 GB × 60</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0">
                          <a:solidFill>
                            <a:srgbClr val="1A1A1A"/>
                          </a:solidFill>
                        </a:rPr>
                        <a:t>≈ 185 GB disk</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FFFFF"/>
                    </a:solidFill>
                  </a:tcPr>
                </a:tc>
              </a:tr>
              <a:tr h="292608">
                <a:tc>
                  <a:txBody>
                    <a:bodyPr wrap="square"/>
                    <a:lstStyle/>
                    <a:p>
                      <a:r>
                        <a:rPr sz="1100" b="1" i="0">
                          <a:solidFill>
                            <a:srgbClr val="8A1626"/>
                          </a:solidFill>
                        </a:rPr>
                        <a:t>Lake, a year (Parquet ≈ 0.75×)</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5.29 GB × 0.75 × 252</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0">
                          <a:solidFill>
                            <a:srgbClr val="1A1A1A"/>
                          </a:solidFill>
                        </a:rPr>
                        <a:t>≈ 1 TB; ≈ 7 TB in 7 y</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c>
                  <a:txBody>
                    <a:bodyPr wrap="square"/>
                    <a:lstStyle/>
                    <a:p>
                      <a:r>
                        <a:rPr sz="1100" b="0" i="1">
                          <a:solidFill>
                            <a:srgbClr val="A51C30"/>
                          </a:solidFill>
                        </a:rPr>
                        <a:t>estimated</a:t>
                      </a:r>
                    </a:p>
                  </a:txBody>
                  <a:tcPr marL="64008" marR="64008" marT="27432" marB="27432" anchor="ctr">
                    <a:lnL w="6350" cap="flat" cmpd="sng" algn="ctr">
                      <a:solidFill>
                        <a:srgbClr val="E3DED7"/>
                      </a:solidFill>
                      <a:prstDash val="solid"/>
                    </a:lnL>
                    <a:lnR w="6350" cap="flat" cmpd="sng" algn="ctr">
                      <a:solidFill>
                        <a:srgbClr val="E3DED7"/>
                      </a:solidFill>
                      <a:prstDash val="solid"/>
                    </a:lnR>
                    <a:lnT w="6350" cap="flat" cmpd="sng" algn="ctr">
                      <a:solidFill>
                        <a:srgbClr val="E3DED7"/>
                      </a:solidFill>
                      <a:prstDash val="solid"/>
                    </a:lnT>
                    <a:lnB w="6350" cap="flat" cmpd="sng" algn="ctr">
                      <a:solidFill>
                        <a:srgbClr val="E3DED7"/>
                      </a:solidFill>
                      <a:prstDash val="solid"/>
                    </a:lnB>
                    <a:solidFill>
                      <a:srgbClr val="F7F5F2"/>
                    </a:solidFill>
                  </a:tcPr>
                </a:tc>
              </a:tr>
            </a:tbl>
          </a:graphicData>
        </a:graphic>
      </p:graphicFrame>
      <p:sp>
        <p:nvSpPr>
          <p:cNvPr id="27" name="Rectangle 26"/>
          <p:cNvSpPr/>
          <p:nvPr/>
        </p:nvSpPr>
        <p:spPr>
          <a:xfrm>
            <a:off x="7955280" y="1417320"/>
            <a:ext cx="3456432" cy="2606040"/>
          </a:xfrm>
          <a:prstGeom prst="rect">
            <a:avLst/>
          </a:prstGeom>
          <a:solidFill>
            <a:srgbClr val="F7F5F2"/>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074152" y="1463040"/>
            <a:ext cx="3255264" cy="2560320"/>
          </a:xfrm>
          <a:prstGeom prst="rect">
            <a:avLst/>
          </a:prstGeom>
          <a:noFill/>
        </p:spPr>
        <p:txBody>
          <a:bodyPr wrap="square" lIns="0" rIns="0" tIns="0" bIns="0" anchor="t">
            <a:spAutoFit/>
          </a:bodyPr>
          <a:lstStyle/>
          <a:p>
            <a:pPr algn="l">
              <a:spcAft>
                <a:spcPts val="300"/>
              </a:spcAft>
            </a:pPr>
            <a:r>
              <a:rPr sz="1300" b="1" i="0">
                <a:solidFill>
                  <a:srgbClr val="A51C30"/>
                </a:solidFill>
              </a:rPr>
              <a:t>100,000 portfolios</a:t>
            </a:r>
          </a:p>
          <a:p>
            <a:pPr algn="l" marL="146304" indent="-146304">
              <a:spcAft>
                <a:spcPts val="300"/>
              </a:spcAft>
              <a:buClr>
                <a:srgbClr val="A51C30"/>
              </a:buClr>
              <a:buSzPct val="100000"/>
              <a:buFont typeface="Arial"/>
              <a:buChar char="▪"/>
            </a:pPr>
            <a:r>
              <a:rPr sz="1150" b="0" i="0">
                <a:solidFill>
                  <a:srgbClr val="1A1A1A"/>
                </a:solidFill>
              </a:rPr>
              <a:t>A portfolio is the sum of its positions: the cost is all portfolios' positions together × 509 additions.</a:t>
            </a:r>
          </a:p>
          <a:p>
            <a:pPr algn="l" marL="146304" indent="-146304">
              <a:spcAft>
                <a:spcPts val="300"/>
              </a:spcAft>
              <a:buClr>
                <a:srgbClr val="A51C30"/>
              </a:buClr>
              <a:buSzPct val="100000"/>
              <a:buFont typeface="Arial"/>
              <a:buChar char="▪"/>
            </a:pPr>
            <a:r>
              <a:rPr sz="1150" b="0" i="0">
                <a:solidFill>
                  <a:srgbClr val="1A1A1A"/>
                </a:solidFill>
              </a:rPr>
              <a:t>At 130 positions each (assumed): 13M rows, 26.5 GB of float32 → ≈ 0.45 s at 60 GB/s, ≈ 5 s scattered; per currency, estimated.</a:t>
            </a:r>
          </a:p>
          <a:p>
            <a:pPr algn="l" marL="146304" indent="-146304">
              <a:spcAft>
                <a:spcPts val="300"/>
              </a:spcAft>
              <a:buClr>
                <a:srgbClr val="A51C30"/>
              </a:buClr>
              <a:buSzPct val="100000"/>
              <a:buFont typeface="Arial"/>
              <a:buChar char="▪"/>
            </a:pPr>
            <a:r>
              <a:rPr sz="1150" b="0" i="0">
                <a:solidFill>
                  <a:srgbClr val="1A1A1A"/>
                </a:solidFill>
              </a:rPr>
              <a:t>Roll-ups: a HIERARCHY portfolio is a node aggregate; whole books cost one add each; a node minus a few rows is aggregate − rows (built).</a:t>
            </a:r>
          </a:p>
          <a:p>
            <a:pPr algn="l" marL="146304" indent="-146304">
              <a:buClr>
                <a:srgbClr val="A51C30"/>
              </a:buClr>
              <a:buSzPct val="100000"/>
              <a:buFont typeface="Arial"/>
              <a:buChar char="▪"/>
            </a:pPr>
            <a:r>
              <a:rPr sz="1150" b="0" i="0">
                <a:solidFill>
                  <a:srgbClr val="1A1A1A"/>
                </a:solidFill>
              </a:rPr>
              <a:t>Store them: 100k × 509 × 8 B = 407 MB a date a currency; float32 halves it (proposed).</a:t>
            </a:r>
          </a:p>
        </p:txBody>
      </p:sp>
      <p:sp>
        <p:nvSpPr>
          <p:cNvPr id="29" name="Rectangle 28"/>
          <p:cNvSpPr/>
          <p:nvPr/>
        </p:nvSpPr>
        <p:spPr>
          <a:xfrm>
            <a:off x="7955280" y="4160520"/>
            <a:ext cx="3456432" cy="2084831"/>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074152" y="4224528"/>
            <a:ext cx="3255264" cy="1993392"/>
          </a:xfrm>
          <a:prstGeom prst="rect">
            <a:avLst/>
          </a:prstGeom>
          <a:noFill/>
        </p:spPr>
        <p:txBody>
          <a:bodyPr wrap="square" lIns="0" rIns="0" tIns="0" bIns="0" anchor="t">
            <a:spAutoFit/>
          </a:bodyPr>
          <a:lstStyle/>
          <a:p>
            <a:pPr algn="l">
              <a:spcAft>
                <a:spcPts val="300"/>
              </a:spcAft>
            </a:pPr>
            <a:r>
              <a:rPr sz="1300" b="1" i="0">
                <a:solidFill>
                  <a:srgbClr val="A51C30"/>
                </a:solidFill>
              </a:rPr>
              <a:t>Totals and intraday</a:t>
            </a:r>
          </a:p>
          <a:p>
            <a:pPr algn="l" marL="146304" indent="-146304">
              <a:spcAft>
                <a:spcPts val="300"/>
              </a:spcAft>
              <a:buClr>
                <a:srgbClr val="A51C30"/>
              </a:buClr>
              <a:buSzPct val="100000"/>
              <a:buFont typeface="Arial"/>
              <a:buChar char="▪"/>
            </a:pPr>
            <a:r>
              <a:rPr sz="1150" b="0" i="0">
                <a:solidFill>
                  <a:srgbClr val="1A1A1A"/>
                </a:solidFill>
              </a:rPr>
              <a:t>Currency totals: 510 × 8 B per node per trade currency; 5,000 nodes × 10 ≈ 204 MB (assumed shape).</a:t>
            </a:r>
          </a:p>
          <a:p>
            <a:pPr algn="l" marL="146304" indent="-146304">
              <a:spcAft>
                <a:spcPts val="300"/>
              </a:spcAft>
              <a:buClr>
                <a:srgbClr val="A51C30"/>
              </a:buClr>
              <a:buSzPct val="100000"/>
              <a:buFont typeface="Arial"/>
              <a:buChar char="▪"/>
            </a:pPr>
            <a:r>
              <a:rPr sz="1150" b="0" i="0">
                <a:solidFill>
                  <a:srgbClr val="1A1A1A"/>
                </a:solidFill>
              </a:rPr>
              <a:t>Per changed trade: ≈ 9 node vectors × 5 currency books ≈ 45 additions of 509: microseconds; the lake append dominates (≈ 1 s a batch).</a:t>
            </a:r>
          </a:p>
          <a:p>
            <a:pPr algn="l" marL="146304" indent="-146304">
              <a:buClr>
                <a:srgbClr val="A51C30"/>
              </a:buClr>
              <a:buSzPct val="100000"/>
              <a:buFont typeface="Arial"/>
              <a:buChar char="▪"/>
            </a:pPr>
            <a:r>
              <a:rPr sz="1150" b="0" i="0">
                <a:solidFill>
                  <a:srgbClr val="1A1A1A"/>
                </a:solidFill>
              </a:rPr>
              <a:t>A headline in any currency: a node's few trade-currency sums, converted: microseconds.</a:t>
            </a:r>
          </a:p>
        </p:txBody>
      </p:sp>
      <p:sp>
        <p:nvSpPr>
          <p:cNvPr id="31" name="TextBox 30"/>
          <p:cNvSpPr txBox="1"/>
          <p:nvPr/>
        </p:nvSpPr>
        <p:spPr>
          <a:xfrm>
            <a:off x="777240" y="5577840"/>
            <a:ext cx="6903720" cy="685800"/>
          </a:xfrm>
          <a:prstGeom prst="rect">
            <a:avLst/>
          </a:prstGeom>
          <a:noFill/>
        </p:spPr>
        <p:txBody>
          <a:bodyPr wrap="square" lIns="0" rIns="0" tIns="0" bIns="0" anchor="ctr">
            <a:spAutoFit/>
          </a:bodyPr>
          <a:lstStyle/>
          <a:p>
            <a:pPr algn="l"/>
            <a:r>
              <a:rPr sz="1100" b="1" i="0">
                <a:solidFill>
                  <a:srgbClr val="1A1A1A"/>
                </a:solidFill>
              </a:rPr>
              <a:t>Position grain (2.9.4) keeps rows = positions: no trade matrix in the hot file. </a:t>
            </a:r>
            <a:r>
              <a:rPr sz="1100" b="0" i="1">
                <a:solidFill>
                  <a:srgbClr val="4A5058"/>
                </a:solidFill>
              </a:rPr>
              <a:t>Estimated = scaled linearly from the measured 100,000-trade figures (VAR_GUIDE 27.3, 15.11); not measured at 1.3M.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DELTA LAKE AND SCALE-OUT</a:t>
            </a:r>
          </a:p>
        </p:txBody>
      </p:sp>
      <p:sp>
        <p:nvSpPr>
          <p:cNvPr id="3" name="Title 2"/>
          <p:cNvSpPr>
            <a:spLocks noGrp="1"/>
          </p:cNvSpPr>
          <p:nvPr>
            <p:ph type="title" idx="104"/>
          </p:nvPr>
        </p:nvSpPr>
        <p:spPr/>
        <p:txBody>
          <a:bodyPr/>
          <a:lstStyle/>
          <a:p>
            <a:r>
              <a:t>Delta for history and reproducibility, Drishti*net for scale-out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17320"/>
            <a:ext cx="5989320" cy="34290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868680" y="1417320"/>
            <a:ext cx="4800600" cy="342900"/>
          </a:xfrm>
          <a:prstGeom prst="rect">
            <a:avLst/>
          </a:prstGeom>
          <a:noFill/>
        </p:spPr>
        <p:txBody>
          <a:bodyPr wrap="square" lIns="0" rIns="0" tIns="0" bIns="0" anchor="ctr">
            <a:spAutoFit/>
          </a:bodyPr>
          <a:lstStyle/>
          <a:p>
            <a:pPr algn="l"/>
            <a:r>
              <a:rPr sz="1150" b="1" i="0">
                <a:solidFill>
                  <a:srgbClr val="8A1626"/>
                </a:solidFill>
              </a:rPr>
              <a:t>Partition by business_date; 7 years of time travel</a:t>
            </a:r>
          </a:p>
          <a:p>
            <a:pPr algn="l"/>
            <a:r>
              <a:rPr sz="1050" b="0" i="0">
                <a:solidFill>
                  <a:srgbClr val="4A5058"/>
                </a:solidFill>
              </a:rPr>
              <a:t>full run replaces a date; restatement = new commit</a:t>
            </a:r>
          </a:p>
        </p:txBody>
      </p:sp>
      <p:sp>
        <p:nvSpPr>
          <p:cNvPr id="28" name="Rounded Rectangle 27"/>
          <p:cNvSpPr/>
          <p:nvPr/>
        </p:nvSpPr>
        <p:spPr>
          <a:xfrm>
            <a:off x="6213348" y="1488186"/>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29" name="Rectangle 28"/>
          <p:cNvSpPr/>
          <p:nvPr/>
        </p:nvSpPr>
        <p:spPr>
          <a:xfrm>
            <a:off x="777240" y="1787652"/>
            <a:ext cx="5989320" cy="3429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68680" y="1787652"/>
            <a:ext cx="4800600" cy="342900"/>
          </a:xfrm>
          <a:prstGeom prst="rect">
            <a:avLst/>
          </a:prstGeom>
          <a:noFill/>
        </p:spPr>
        <p:txBody>
          <a:bodyPr wrap="square" lIns="0" rIns="0" tIns="0" bIns="0" anchor="ctr">
            <a:spAutoFit/>
          </a:bodyPr>
          <a:lstStyle/>
          <a:p>
            <a:pPr algn="l"/>
            <a:r>
              <a:rPr sz="1150" b="1" i="0">
                <a:solidFill>
                  <a:srgbClr val="8A1626"/>
                </a:solidFill>
              </a:rPr>
              <a:t>Vector column list&lt;double&gt;, float64</a:t>
            </a:r>
          </a:p>
          <a:p>
            <a:pPr algn="l"/>
            <a:r>
              <a:rPr sz="1050" b="0" i="0">
                <a:solidFill>
                  <a:srgbClr val="4A5058"/>
                </a:solidFill>
              </a:rPr>
              <a:t>standard Parquet; a sum reads one column</a:t>
            </a:r>
          </a:p>
        </p:txBody>
      </p:sp>
      <p:sp>
        <p:nvSpPr>
          <p:cNvPr id="31" name="Rounded Rectangle 30"/>
          <p:cNvSpPr/>
          <p:nvPr/>
        </p:nvSpPr>
        <p:spPr>
          <a:xfrm>
            <a:off x="6213348" y="1858518"/>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32" name="Rectangle 31"/>
          <p:cNvSpPr/>
          <p:nvPr/>
        </p:nvSpPr>
        <p:spPr>
          <a:xfrm>
            <a:off x="777240" y="2157984"/>
            <a:ext cx="5989320" cy="34290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68680" y="2157984"/>
            <a:ext cx="4800600" cy="342900"/>
          </a:xfrm>
          <a:prstGeom prst="rect">
            <a:avLst/>
          </a:prstGeom>
          <a:noFill/>
        </p:spPr>
        <p:txBody>
          <a:bodyPr wrap="square" lIns="0" rIns="0" tIns="0" bIns="0" anchor="ctr">
            <a:spAutoFit/>
          </a:bodyPr>
          <a:lstStyle/>
          <a:p>
            <a:pPr algn="l"/>
            <a:r>
              <a:rPr sz="1150" b="1" i="0">
                <a:solidFill>
                  <a:srgbClr val="8A1626"/>
                </a:solidFill>
              </a:rPr>
              <a:t>Compaction + checkpoints (lake maintain)</a:t>
            </a:r>
          </a:p>
          <a:p>
            <a:pPr algn="l"/>
            <a:r>
              <a:rPr sz="1050" b="0" i="0">
                <a:solidFill>
                  <a:srgbClr val="4A5058"/>
                </a:solidFill>
              </a:rPr>
              <a:t>many small intraday commits stay fast</a:t>
            </a:r>
          </a:p>
        </p:txBody>
      </p:sp>
      <p:sp>
        <p:nvSpPr>
          <p:cNvPr id="34" name="Rounded Rectangle 33"/>
          <p:cNvSpPr/>
          <p:nvPr/>
        </p:nvSpPr>
        <p:spPr>
          <a:xfrm>
            <a:off x="6213348" y="2228850"/>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35" name="Rectangle 34"/>
          <p:cNvSpPr/>
          <p:nvPr/>
        </p:nvSpPr>
        <p:spPr>
          <a:xfrm>
            <a:off x="777240" y="2528316"/>
            <a:ext cx="5989320" cy="3429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868680" y="2528316"/>
            <a:ext cx="4800600" cy="342900"/>
          </a:xfrm>
          <a:prstGeom prst="rect">
            <a:avLst/>
          </a:prstGeom>
          <a:noFill/>
        </p:spPr>
        <p:txBody>
          <a:bodyPr wrap="square" lIns="0" rIns="0" tIns="0" bIns="0" anchor="ctr">
            <a:spAutoFit/>
          </a:bodyPr>
          <a:lstStyle/>
          <a:p>
            <a:pPr algn="l"/>
            <a:r>
              <a:rPr sz="1150" b="1" i="0">
                <a:solidFill>
                  <a:srgbClr val="8A1626"/>
                </a:solidFill>
              </a:rPr>
              <a:t>Sort by LE, desk, book; ZSTD + byte-stream split</a:t>
            </a:r>
          </a:p>
          <a:p>
            <a:pPr algn="l"/>
            <a:r>
              <a:rPr sz="1050" b="0" i="0">
                <a:solidFill>
                  <a:srgbClr val="4A5058"/>
                </a:solidFill>
              </a:rPr>
              <a:t>a node is a contiguous run of rows</a:t>
            </a:r>
          </a:p>
        </p:txBody>
      </p:sp>
      <p:sp>
        <p:nvSpPr>
          <p:cNvPr id="37" name="Rounded Rectangle 36"/>
          <p:cNvSpPr/>
          <p:nvPr/>
        </p:nvSpPr>
        <p:spPr>
          <a:xfrm>
            <a:off x="6007608" y="2599182"/>
            <a:ext cx="667512" cy="201168"/>
          </a:xfrm>
          <a:prstGeom prst="roundRect">
            <a:avLst>
              <a:gd name="adj" fmla="val 50000"/>
            </a:avLst>
          </a:prstGeom>
          <a:solidFill>
            <a:srgbClr val="FFFFFF"/>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A51C30"/>
                </a:solidFill>
              </a:rPr>
              <a:t>DESIGNED</a:t>
            </a:r>
          </a:p>
        </p:txBody>
      </p:sp>
      <p:sp>
        <p:nvSpPr>
          <p:cNvPr id="38" name="Rectangle 37"/>
          <p:cNvSpPr/>
          <p:nvPr/>
        </p:nvSpPr>
        <p:spPr>
          <a:xfrm>
            <a:off x="777240" y="2898648"/>
            <a:ext cx="5989320" cy="34290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868680" y="2898648"/>
            <a:ext cx="4800600" cy="342900"/>
          </a:xfrm>
          <a:prstGeom prst="rect">
            <a:avLst/>
          </a:prstGeom>
          <a:noFill/>
        </p:spPr>
        <p:txBody>
          <a:bodyPr wrap="square" lIns="0" rIns="0" tIns="0" bIns="0" anchor="ctr">
            <a:spAutoFit/>
          </a:bodyPr>
          <a:lstStyle/>
          <a:p>
            <a:pPr algn="l"/>
            <a:r>
              <a:rPr sz="1150" b="1" i="0">
                <a:solidFill>
                  <a:srgbClr val="8A1626"/>
                </a:solidFill>
              </a:rPr>
              <a:t>Z-order or liquid clustering by book and portfolio</a:t>
            </a:r>
          </a:p>
          <a:p>
            <a:pPr algn="l"/>
            <a:r>
              <a:rPr sz="1050" b="0" i="0">
                <a:solidFill>
                  <a:srgbClr val="4A5058"/>
                </a:solidFill>
              </a:rPr>
              <a:t>skip files for a desk's or portfolio's read</a:t>
            </a:r>
          </a:p>
        </p:txBody>
      </p:sp>
      <p:sp>
        <p:nvSpPr>
          <p:cNvPr id="40" name="Rounded Rectangle 39"/>
          <p:cNvSpPr/>
          <p:nvPr/>
        </p:nvSpPr>
        <p:spPr>
          <a:xfrm>
            <a:off x="6007608" y="2969514"/>
            <a:ext cx="667512" cy="201168"/>
          </a:xfrm>
          <a:prstGeom prst="roundRect">
            <a:avLst>
              <a:gd name="adj" fmla="val 50000"/>
            </a:avLst>
          </a:prstGeom>
          <a:solidFill>
            <a:srgbClr val="FFFFFF"/>
          </a:solidFill>
          <a:ln w="12700">
            <a:solidFill>
              <a:srgbClr val="4A50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4A5058"/>
                </a:solidFill>
              </a:rPr>
              <a:t>PROPOSED</a:t>
            </a:r>
          </a:p>
        </p:txBody>
      </p:sp>
      <p:sp>
        <p:nvSpPr>
          <p:cNvPr id="41" name="Rectangle 40"/>
          <p:cNvSpPr/>
          <p:nvPr/>
        </p:nvSpPr>
        <p:spPr>
          <a:xfrm>
            <a:off x="777240" y="3268980"/>
            <a:ext cx="5989320" cy="3429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868680" y="3268980"/>
            <a:ext cx="4800600" cy="342900"/>
          </a:xfrm>
          <a:prstGeom prst="rect">
            <a:avLst/>
          </a:prstGeom>
          <a:noFill/>
        </p:spPr>
        <p:txBody>
          <a:bodyPr wrap="square" lIns="0" rIns="0" tIns="0" bIns="0" anchor="ctr">
            <a:spAutoFit/>
          </a:bodyPr>
          <a:lstStyle/>
          <a:p>
            <a:pPr algn="l"/>
            <a:r>
              <a:rPr sz="1150" b="1" i="0">
                <a:solidFill>
                  <a:srgbClr val="8A1626"/>
                </a:solidFill>
              </a:rPr>
              <a:t>Published node and portfolio vector table</a:t>
            </a:r>
          </a:p>
          <a:p>
            <a:pPr algn="l"/>
            <a:r>
              <a:rPr sz="1050" b="0" i="0">
                <a:solidFill>
                  <a:srgbClr val="4A5058"/>
                </a:solidFill>
              </a:rPr>
              <a:t>BI and peers read sums, not 1.3M rows</a:t>
            </a:r>
          </a:p>
        </p:txBody>
      </p:sp>
      <p:sp>
        <p:nvSpPr>
          <p:cNvPr id="43" name="Rounded Rectangle 42"/>
          <p:cNvSpPr/>
          <p:nvPr/>
        </p:nvSpPr>
        <p:spPr>
          <a:xfrm>
            <a:off x="6007608" y="3339846"/>
            <a:ext cx="667512" cy="201168"/>
          </a:xfrm>
          <a:prstGeom prst="roundRect">
            <a:avLst>
              <a:gd name="adj" fmla="val 50000"/>
            </a:avLst>
          </a:prstGeom>
          <a:solidFill>
            <a:srgbClr val="FFFFFF"/>
          </a:solidFill>
          <a:ln w="12700">
            <a:solidFill>
              <a:srgbClr val="4A50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4A5058"/>
                </a:solidFill>
              </a:rPr>
              <a:t>PROPOSED</a:t>
            </a:r>
          </a:p>
        </p:txBody>
      </p:sp>
      <p:sp>
        <p:nvSpPr>
          <p:cNvPr id="44" name="Rectangle 43"/>
          <p:cNvSpPr/>
          <p:nvPr/>
        </p:nvSpPr>
        <p:spPr>
          <a:xfrm>
            <a:off x="777240" y="3639312"/>
            <a:ext cx="5989320" cy="34290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868680" y="3639312"/>
            <a:ext cx="4800600" cy="342900"/>
          </a:xfrm>
          <a:prstGeom prst="rect">
            <a:avLst/>
          </a:prstGeom>
          <a:noFill/>
        </p:spPr>
        <p:txBody>
          <a:bodyPr wrap="square" lIns="0" rIns="0" tIns="0" bIns="0" anchor="ctr">
            <a:spAutoFit/>
          </a:bodyPr>
          <a:lstStyle/>
          <a:p>
            <a:pPr algn="l"/>
            <a:r>
              <a:rPr sz="1150" b="1" i="0">
                <a:solidFill>
                  <a:srgbClr val="8A1626"/>
                </a:solidFill>
              </a:rPr>
              <a:t>Change data feed on the input tables</a:t>
            </a:r>
          </a:p>
          <a:p>
            <a:pPr algn="l"/>
            <a:r>
              <a:rPr sz="1050" b="0" i="0">
                <a:solidFill>
                  <a:srgbClr val="4A5058"/>
                </a:solidFill>
              </a:rPr>
              <a:t>follow intraday deltas downstream</a:t>
            </a:r>
          </a:p>
        </p:txBody>
      </p:sp>
      <p:sp>
        <p:nvSpPr>
          <p:cNvPr id="46" name="Rounded Rectangle 45"/>
          <p:cNvSpPr/>
          <p:nvPr/>
        </p:nvSpPr>
        <p:spPr>
          <a:xfrm>
            <a:off x="6007608" y="3710178"/>
            <a:ext cx="667512" cy="201168"/>
          </a:xfrm>
          <a:prstGeom prst="roundRect">
            <a:avLst>
              <a:gd name="adj" fmla="val 50000"/>
            </a:avLst>
          </a:prstGeom>
          <a:solidFill>
            <a:srgbClr val="FFFFFF"/>
          </a:solidFill>
          <a:ln w="12700">
            <a:solidFill>
              <a:srgbClr val="4A50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4A5058"/>
                </a:solidFill>
              </a:rPr>
              <a:t>PROPOSED</a:t>
            </a:r>
          </a:p>
        </p:txBody>
      </p:sp>
      <p:sp>
        <p:nvSpPr>
          <p:cNvPr id="47" name="Rectangle 46"/>
          <p:cNvSpPr/>
          <p:nvPr/>
        </p:nvSpPr>
        <p:spPr>
          <a:xfrm>
            <a:off x="777240" y="4009644"/>
            <a:ext cx="5989320" cy="3429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xtBox 47"/>
          <p:cNvSpPr txBox="1"/>
          <p:nvPr/>
        </p:nvSpPr>
        <p:spPr>
          <a:xfrm>
            <a:off x="868680" y="4009644"/>
            <a:ext cx="4800600" cy="342900"/>
          </a:xfrm>
          <a:prstGeom prst="rect">
            <a:avLst/>
          </a:prstGeom>
          <a:noFill/>
        </p:spPr>
        <p:txBody>
          <a:bodyPr wrap="square" lIns="0" rIns="0" tIns="0" bIns="0" anchor="ctr">
            <a:spAutoFit/>
          </a:bodyPr>
          <a:lstStyle/>
          <a:p>
            <a:pPr algn="l"/>
            <a:r>
              <a:rPr sz="1150" b="1" i="0">
                <a:solidFill>
                  <a:srgbClr val="8A1626"/>
                </a:solidFill>
              </a:rPr>
              <a:t>Delta inputs on S3 (reading)</a:t>
            </a:r>
          </a:p>
          <a:p>
            <a:pPr algn="l"/>
            <a:r>
              <a:rPr sz="1050" b="0" i="0">
                <a:solidFill>
                  <a:srgbClr val="4A5058"/>
                </a:solidFill>
              </a:rPr>
              <a:t>the Delta plugin reads s3:// tables</a:t>
            </a:r>
          </a:p>
        </p:txBody>
      </p:sp>
      <p:sp>
        <p:nvSpPr>
          <p:cNvPr id="49" name="Rounded Rectangle 48"/>
          <p:cNvSpPr/>
          <p:nvPr/>
        </p:nvSpPr>
        <p:spPr>
          <a:xfrm>
            <a:off x="6213348" y="4080509"/>
            <a:ext cx="461772"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50" name="Rectangle 49"/>
          <p:cNvSpPr/>
          <p:nvPr/>
        </p:nvSpPr>
        <p:spPr>
          <a:xfrm>
            <a:off x="777240" y="4379976"/>
            <a:ext cx="5989320" cy="342900"/>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868680" y="4379976"/>
            <a:ext cx="4800600" cy="342900"/>
          </a:xfrm>
          <a:prstGeom prst="rect">
            <a:avLst/>
          </a:prstGeom>
          <a:noFill/>
        </p:spPr>
        <p:txBody>
          <a:bodyPr wrap="square" lIns="0" rIns="0" tIns="0" bIns="0" anchor="ctr">
            <a:spAutoFit/>
          </a:bodyPr>
          <a:lstStyle/>
          <a:p>
            <a:pPr algn="l"/>
            <a:r>
              <a:rPr sz="1150" b="1" i="0">
                <a:solidFill>
                  <a:srgbClr val="8A1626"/>
                </a:solidFill>
              </a:rPr>
              <a:t>Iceberg for VaR inputs</a:t>
            </a:r>
          </a:p>
          <a:p>
            <a:pPr algn="l"/>
            <a:r>
              <a:rPr sz="1050" b="0" i="0">
                <a:solidFill>
                  <a:srgbClr val="4A5058"/>
                </a:solidFill>
              </a:rPr>
              <a:t>only the Delta plugin streams vectors</a:t>
            </a:r>
          </a:p>
        </p:txBody>
      </p:sp>
      <p:sp>
        <p:nvSpPr>
          <p:cNvPr id="52" name="Rounded Rectangle 51"/>
          <p:cNvSpPr/>
          <p:nvPr/>
        </p:nvSpPr>
        <p:spPr>
          <a:xfrm>
            <a:off x="5939028" y="4450842"/>
            <a:ext cx="736092" cy="201168"/>
          </a:xfrm>
          <a:prstGeom prst="roundRect">
            <a:avLst>
              <a:gd name="adj" fmla="val 50000"/>
            </a:avLst>
          </a:prstGeom>
          <a:solidFill>
            <a:srgbClr val="E9E6E1"/>
          </a:solidFill>
          <a:ln w="12700">
            <a:solidFill>
              <a:srgbClr val="4A5058"/>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4A5058"/>
                </a:solidFill>
              </a:rPr>
              <a:t>NOT BUILT</a:t>
            </a:r>
          </a:p>
        </p:txBody>
      </p:sp>
      <p:sp>
        <p:nvSpPr>
          <p:cNvPr id="53" name="Rectangle 52"/>
          <p:cNvSpPr/>
          <p:nvPr/>
        </p:nvSpPr>
        <p:spPr>
          <a:xfrm>
            <a:off x="777240" y="4750308"/>
            <a:ext cx="5989320" cy="342900"/>
          </a:xfrm>
          <a:prstGeom prst="rect">
            <a:avLst/>
          </a:prstGeom>
          <a:solidFill>
            <a:srgbClr val="FFFFFF"/>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xtBox 53"/>
          <p:cNvSpPr txBox="1"/>
          <p:nvPr/>
        </p:nvSpPr>
        <p:spPr>
          <a:xfrm>
            <a:off x="868680" y="4750308"/>
            <a:ext cx="4800600" cy="342900"/>
          </a:xfrm>
          <a:prstGeom prst="rect">
            <a:avLst/>
          </a:prstGeom>
          <a:noFill/>
        </p:spPr>
        <p:txBody>
          <a:bodyPr wrap="square" lIns="0" rIns="0" tIns="0" bIns="0" anchor="ctr">
            <a:spAutoFit/>
          </a:bodyPr>
          <a:lstStyle/>
          <a:p>
            <a:pPr algn="l"/>
            <a:r>
              <a:rPr sz="1150" b="1" i="0">
                <a:solidFill>
                  <a:srgbClr val="8A1626"/>
                </a:solidFill>
              </a:rPr>
              <a:t>Official publish to S3</a:t>
            </a:r>
          </a:p>
          <a:p>
            <a:pPr algn="l"/>
            <a:r>
              <a:rPr sz="1050" b="0" i="0">
                <a:solidFill>
                  <a:srgbClr val="4A5058"/>
                </a:solidFill>
              </a:rPr>
              <a:t>local or EFS Delta root only; s3:// fails</a:t>
            </a:r>
          </a:p>
        </p:txBody>
      </p:sp>
      <p:sp>
        <p:nvSpPr>
          <p:cNvPr id="55" name="Rounded Rectangle 54"/>
          <p:cNvSpPr/>
          <p:nvPr/>
        </p:nvSpPr>
        <p:spPr>
          <a:xfrm>
            <a:off x="5939028" y="4821174"/>
            <a:ext cx="736092" cy="201168"/>
          </a:xfrm>
          <a:prstGeom prst="roundRect">
            <a:avLst>
              <a:gd name="adj" fmla="val 50000"/>
            </a:avLst>
          </a:prstGeom>
          <a:solidFill>
            <a:srgbClr val="E9E6E1"/>
          </a:solidFill>
          <a:ln w="12700">
            <a:solidFill>
              <a:srgbClr val="4A5058"/>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4A5058"/>
                </a:solidFill>
              </a:rPr>
              <a:t>NOT BUILT</a:t>
            </a:r>
          </a:p>
        </p:txBody>
      </p:sp>
      <p:sp>
        <p:nvSpPr>
          <p:cNvPr id="56" name="Rectangle 55"/>
          <p:cNvSpPr/>
          <p:nvPr/>
        </p:nvSpPr>
        <p:spPr>
          <a:xfrm>
            <a:off x="8403336" y="1417320"/>
            <a:ext cx="1645920" cy="310896"/>
          </a:xfrm>
          <a:prstGeom prst="rect">
            <a:avLst/>
          </a:prstGeom>
          <a:solidFill>
            <a:srgbClr val="FFFFFF"/>
          </a:solidFill>
          <a:ln w="12700">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1" i="0">
                <a:solidFill>
                  <a:srgbClr val="4A5058"/>
                </a:solidFill>
              </a:rPr>
              <a:t>Load balancer</a:t>
            </a:r>
          </a:p>
        </p:txBody>
      </p:sp>
      <p:cxnSp>
        <p:nvCxnSpPr>
          <p:cNvPr id="57" name="Connector 56"/>
          <p:cNvCxnSpPr/>
          <p:nvPr/>
        </p:nvCxnSpPr>
        <p:spPr>
          <a:xfrm>
            <a:off x="9226296" y="1728216"/>
            <a:ext cx="0" cy="137160"/>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7040879" y="1865376"/>
            <a:ext cx="4370832" cy="640080"/>
          </a:xfrm>
          <a:prstGeom prst="rect">
            <a:avLst/>
          </a:prstGeom>
          <a:solidFill>
            <a:srgbClr val="FFFFFF"/>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7132319" y="1883664"/>
            <a:ext cx="3456432" cy="603504"/>
          </a:xfrm>
          <a:prstGeom prst="rect">
            <a:avLst/>
          </a:prstGeom>
          <a:noFill/>
        </p:spPr>
        <p:txBody>
          <a:bodyPr wrap="square" lIns="0" rIns="0" tIns="0" bIns="0" anchor="ctr">
            <a:spAutoFit/>
          </a:bodyPr>
          <a:lstStyle/>
          <a:p>
            <a:pPr algn="l"/>
            <a:r>
              <a:rPr sz="1200" b="1" i="0">
                <a:solidFill>
                  <a:srgbClr val="8A1626"/>
                </a:solidFill>
              </a:rPr>
              <a:t>Consoles × N</a:t>
            </a:r>
          </a:p>
          <a:p>
            <a:pPr algn="l"/>
            <a:r>
              <a:rPr sz="1000" b="0" i="0">
                <a:solidFill>
                  <a:srgbClr val="4A5058"/>
                </a:solidFill>
              </a:rPr>
              <a:t>worker processes relay a tab's channel; sticky sessions across consoles; one DRISHTI_SESSION_SECRET; servers discovered</a:t>
            </a:r>
          </a:p>
        </p:txBody>
      </p:sp>
      <p:sp>
        <p:nvSpPr>
          <p:cNvPr id="60" name="Rounded Rectangle 59"/>
          <p:cNvSpPr/>
          <p:nvPr/>
        </p:nvSpPr>
        <p:spPr>
          <a:xfrm>
            <a:off x="10753344" y="1938528"/>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cxnSp>
        <p:nvCxnSpPr>
          <p:cNvPr id="61" name="Connector 60"/>
          <p:cNvCxnSpPr/>
          <p:nvPr/>
        </p:nvCxnSpPr>
        <p:spPr>
          <a:xfrm>
            <a:off x="9226296" y="2505456"/>
            <a:ext cx="0" cy="164592"/>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7040879" y="2670048"/>
            <a:ext cx="4370832" cy="1938528"/>
          </a:xfrm>
          <a:prstGeom prst="roundRect">
            <a:avLst>
              <a:gd name="adj" fmla="val 6000"/>
            </a:avLst>
          </a:prstGeom>
          <a:noFill/>
          <a:ln w="12700">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xtBox 62"/>
          <p:cNvSpPr txBox="1"/>
          <p:nvPr/>
        </p:nvSpPr>
        <p:spPr>
          <a:xfrm>
            <a:off x="7150607" y="2697480"/>
            <a:ext cx="2194560" cy="237744"/>
          </a:xfrm>
          <a:prstGeom prst="rect">
            <a:avLst/>
          </a:prstGeom>
          <a:noFill/>
        </p:spPr>
        <p:txBody>
          <a:bodyPr wrap="square" lIns="0" rIns="0" tIns="0" bIns="0" anchor="ctr">
            <a:spAutoFit/>
          </a:bodyPr>
          <a:lstStyle/>
          <a:p>
            <a:pPr algn="l"/>
            <a:r>
              <a:rPr sz="1100" b="1" i="0">
                <a:solidFill>
                  <a:srgbClr val="A51C30"/>
                </a:solidFill>
              </a:rPr>
              <a:t>Drishti*net servers</a:t>
            </a:r>
          </a:p>
        </p:txBody>
      </p:sp>
      <p:sp>
        <p:nvSpPr>
          <p:cNvPr id="64" name="Rectangle 63"/>
          <p:cNvSpPr/>
          <p:nvPr/>
        </p:nvSpPr>
        <p:spPr>
          <a:xfrm>
            <a:off x="7150607" y="3017520"/>
            <a:ext cx="1325880" cy="914400"/>
          </a:xfrm>
          <a:prstGeom prst="rect">
            <a:avLst/>
          </a:prstGeom>
          <a:solidFill>
            <a:srgbClr val="F6E6E9"/>
          </a:solidFill>
          <a:ln w="952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xtBox 64"/>
          <p:cNvSpPr txBox="1"/>
          <p:nvPr/>
        </p:nvSpPr>
        <p:spPr>
          <a:xfrm>
            <a:off x="7205471" y="3035808"/>
            <a:ext cx="1234440" cy="877824"/>
          </a:xfrm>
          <a:prstGeom prst="rect">
            <a:avLst/>
          </a:prstGeom>
          <a:noFill/>
        </p:spPr>
        <p:txBody>
          <a:bodyPr wrap="square" lIns="0" rIns="0" tIns="0" bIns="0" anchor="ctr">
            <a:spAutoFit/>
          </a:bodyPr>
          <a:lstStyle/>
          <a:p>
            <a:pPr algn="l"/>
            <a:r>
              <a:rPr sz="1150" b="1" i="0">
                <a:solidFill>
                  <a:srgbClr val="8A1626"/>
                </a:solidFill>
              </a:rPr>
              <a:t>Coordinator</a:t>
            </a:r>
          </a:p>
          <a:p>
            <a:pPr algn="l"/>
            <a:r>
              <a:rPr sz="1000" b="0" i="0">
                <a:solidFill>
                  <a:srgbClr val="4A5058"/>
                </a:solidFill>
              </a:rPr>
              <a:t>adds partial vectors (4 KB each) in a fixed order</a:t>
            </a:r>
          </a:p>
        </p:txBody>
      </p:sp>
      <p:sp>
        <p:nvSpPr>
          <p:cNvPr id="66" name="Rectangle 65"/>
          <p:cNvSpPr/>
          <p:nvPr/>
        </p:nvSpPr>
        <p:spPr>
          <a:xfrm>
            <a:off x="8732519" y="2990088"/>
            <a:ext cx="1481328" cy="283464"/>
          </a:xfrm>
          <a:prstGeom prst="rect">
            <a:avLst/>
          </a:prstGeom>
          <a:solidFill>
            <a:srgbClr val="F7F5F2"/>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54864" rIns="36576" tIns="0" bIns="0" wrap="square"/>
          <a:lstStyle/>
          <a:p>
            <a:pPr algn="l"/>
            <a:r>
              <a:rPr sz="1000" b="0" i="0">
                <a:solidFill>
                  <a:srgbClr val="1A1A1A"/>
                </a:solidFill>
              </a:rPr>
              <a:t>Shard · LE / desk range A</a:t>
            </a:r>
          </a:p>
        </p:txBody>
      </p:sp>
      <p:cxnSp>
        <p:nvCxnSpPr>
          <p:cNvPr id="67" name="Connector 66"/>
          <p:cNvCxnSpPr/>
          <p:nvPr/>
        </p:nvCxnSpPr>
        <p:spPr>
          <a:xfrm flipV="1">
            <a:off x="8476488" y="3131820"/>
            <a:ext cx="256031" cy="342900"/>
          </a:xfrm>
          <a:prstGeom prst="line">
            <a:avLst/>
          </a:prstGeom>
          <a:ln w="127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8732519" y="3328416"/>
            <a:ext cx="1481328" cy="283464"/>
          </a:xfrm>
          <a:prstGeom prst="rect">
            <a:avLst/>
          </a:prstGeom>
          <a:solidFill>
            <a:srgbClr val="F7F5F2"/>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54864" rIns="36576" tIns="0" bIns="0" wrap="square"/>
          <a:lstStyle/>
          <a:p>
            <a:pPr algn="l"/>
            <a:r>
              <a:rPr sz="1000" b="0" i="0">
                <a:solidFill>
                  <a:srgbClr val="1A1A1A"/>
                </a:solidFill>
              </a:rPr>
              <a:t>Shard · range B</a:t>
            </a:r>
          </a:p>
        </p:txBody>
      </p:sp>
      <p:cxnSp>
        <p:nvCxnSpPr>
          <p:cNvPr id="69" name="Connector 68"/>
          <p:cNvCxnSpPr/>
          <p:nvPr/>
        </p:nvCxnSpPr>
        <p:spPr>
          <a:xfrm flipV="1">
            <a:off x="8476488" y="3470148"/>
            <a:ext cx="256031" cy="4572"/>
          </a:xfrm>
          <a:prstGeom prst="line">
            <a:avLst/>
          </a:prstGeom>
          <a:ln w="127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8732519" y="3666744"/>
            <a:ext cx="1481328" cy="283464"/>
          </a:xfrm>
          <a:prstGeom prst="rect">
            <a:avLst/>
          </a:prstGeom>
          <a:solidFill>
            <a:srgbClr val="F7F5F2"/>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54864" rIns="36576" tIns="0" bIns="0" wrap="square"/>
          <a:lstStyle/>
          <a:p>
            <a:pPr algn="l"/>
            <a:r>
              <a:rPr sz="1000" b="0" i="0">
                <a:solidFill>
                  <a:srgbClr val="1A1A1A"/>
                </a:solidFill>
              </a:rPr>
              <a:t>Shard · range C</a:t>
            </a:r>
          </a:p>
        </p:txBody>
      </p:sp>
      <p:cxnSp>
        <p:nvCxnSpPr>
          <p:cNvPr id="71" name="Connector 70"/>
          <p:cNvCxnSpPr/>
          <p:nvPr/>
        </p:nvCxnSpPr>
        <p:spPr>
          <a:xfrm>
            <a:off x="8476488" y="3474720"/>
            <a:ext cx="256031" cy="333756"/>
          </a:xfrm>
          <a:prstGeom prst="line">
            <a:avLst/>
          </a:prstGeom>
          <a:ln w="127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7150607" y="4005072"/>
            <a:ext cx="667512" cy="201168"/>
          </a:xfrm>
          <a:prstGeom prst="roundRect">
            <a:avLst>
              <a:gd name="adj" fmla="val 50000"/>
            </a:avLst>
          </a:prstGeom>
          <a:solidFill>
            <a:srgbClr val="FFFFFF"/>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A51C30"/>
                </a:solidFill>
              </a:rPr>
              <a:t>DESIGNED</a:t>
            </a:r>
          </a:p>
        </p:txBody>
      </p:sp>
      <p:sp>
        <p:nvSpPr>
          <p:cNvPr id="73" name="TextBox 72"/>
          <p:cNvSpPr txBox="1"/>
          <p:nvPr/>
        </p:nvSpPr>
        <p:spPr>
          <a:xfrm>
            <a:off x="8065008" y="3986784"/>
            <a:ext cx="2194560" cy="237744"/>
          </a:xfrm>
          <a:prstGeom prst="rect">
            <a:avLst/>
          </a:prstGeom>
          <a:noFill/>
        </p:spPr>
        <p:txBody>
          <a:bodyPr wrap="square" lIns="0" rIns="0" tIns="0" bIns="0" anchor="ctr">
            <a:spAutoFit/>
          </a:bodyPr>
          <a:lstStyle/>
          <a:p>
            <a:pPr algn="l"/>
            <a:r>
              <a:rPr sz="1000" b="0" i="1">
                <a:solidFill>
                  <a:srgbClr val="4A5058"/>
                </a:solidFill>
              </a:rPr>
              <a:t>map-reduce over vectors</a:t>
            </a:r>
          </a:p>
        </p:txBody>
      </p:sp>
      <p:sp>
        <p:nvSpPr>
          <p:cNvPr id="74" name="Rectangle 73"/>
          <p:cNvSpPr/>
          <p:nvPr/>
        </p:nvSpPr>
        <p:spPr>
          <a:xfrm>
            <a:off x="10351008" y="2990088"/>
            <a:ext cx="950976" cy="713232"/>
          </a:xfrm>
          <a:prstGeom prst="rect">
            <a:avLst/>
          </a:prstGeom>
          <a:solidFill>
            <a:srgbClr val="FFFFFF"/>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TextBox 74"/>
          <p:cNvSpPr txBox="1"/>
          <p:nvPr/>
        </p:nvSpPr>
        <p:spPr>
          <a:xfrm>
            <a:off x="10415016" y="3017520"/>
            <a:ext cx="859536" cy="457200"/>
          </a:xfrm>
          <a:prstGeom prst="rect">
            <a:avLst/>
          </a:prstGeom>
          <a:noFill/>
        </p:spPr>
        <p:txBody>
          <a:bodyPr wrap="square" lIns="0" rIns="0" tIns="0" bIns="0" anchor="t">
            <a:spAutoFit/>
          </a:bodyPr>
          <a:lstStyle/>
          <a:p>
            <a:pPr algn="l"/>
            <a:r>
              <a:rPr sz="1100" b="1" i="0">
                <a:solidFill>
                  <a:srgbClr val="8A1626"/>
                </a:solidFill>
              </a:rPr>
              <a:t>Read replicas</a:t>
            </a:r>
          </a:p>
          <a:p>
            <a:pPr algn="l"/>
            <a:r>
              <a:rPr sz="1000" b="0" i="0">
                <a:solidFill>
                  <a:srgbClr val="4A5058"/>
                </a:solidFill>
              </a:rPr>
              <a:t>whole dates</a:t>
            </a:r>
          </a:p>
        </p:txBody>
      </p:sp>
      <p:sp>
        <p:nvSpPr>
          <p:cNvPr id="76" name="Rounded Rectangle 75"/>
          <p:cNvSpPr/>
          <p:nvPr/>
        </p:nvSpPr>
        <p:spPr>
          <a:xfrm>
            <a:off x="10415016" y="3474720"/>
            <a:ext cx="566928" cy="201168"/>
          </a:xfrm>
          <a:prstGeom prst="roundRect">
            <a:avLst>
              <a:gd name="adj" fmla="val 50000"/>
            </a:avLst>
          </a:prstGeom>
          <a:solidFill>
            <a:srgbClr val="A51C30"/>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FFFFFF"/>
                </a:solidFill>
              </a:rPr>
              <a:t>BUILT</a:t>
            </a:r>
          </a:p>
        </p:txBody>
      </p:sp>
      <p:sp>
        <p:nvSpPr>
          <p:cNvPr id="77" name="Rectangle 76"/>
          <p:cNvSpPr/>
          <p:nvPr/>
        </p:nvSpPr>
        <p:spPr>
          <a:xfrm>
            <a:off x="10351008" y="3776472"/>
            <a:ext cx="950976" cy="749808"/>
          </a:xfrm>
          <a:prstGeom prst="rect">
            <a:avLst/>
          </a:prstGeom>
          <a:solidFill>
            <a:srgbClr val="FFFFFF"/>
          </a:solidFill>
          <a:ln w="9525">
            <a:solidFill>
              <a:srgbClr val="CFC8B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TextBox 77"/>
          <p:cNvSpPr txBox="1"/>
          <p:nvPr/>
        </p:nvSpPr>
        <p:spPr>
          <a:xfrm>
            <a:off x="10415016" y="3803904"/>
            <a:ext cx="859536" cy="457200"/>
          </a:xfrm>
          <a:prstGeom prst="rect">
            <a:avLst/>
          </a:prstGeom>
          <a:noFill/>
        </p:spPr>
        <p:txBody>
          <a:bodyPr wrap="square" lIns="0" rIns="0" tIns="0" bIns="0" anchor="t">
            <a:spAutoFit/>
          </a:bodyPr>
          <a:lstStyle/>
          <a:p>
            <a:pPr algn="l"/>
            <a:r>
              <a:rPr sz="1100" b="1" i="0">
                <a:solidFill>
                  <a:srgbClr val="8A1626"/>
                </a:solidFill>
              </a:rPr>
              <a:t>Official EOD</a:t>
            </a:r>
          </a:p>
          <a:p>
            <a:pPr algn="l"/>
            <a:r>
              <a:rPr sz="1000" b="0" i="0">
                <a:solidFill>
                  <a:srgbClr val="4A5058"/>
                </a:solidFill>
              </a:rPr>
              <a:t>one node writes</a:t>
            </a:r>
          </a:p>
        </p:txBody>
      </p:sp>
      <p:sp>
        <p:nvSpPr>
          <p:cNvPr id="79" name="Rounded Rectangle 78"/>
          <p:cNvSpPr/>
          <p:nvPr/>
        </p:nvSpPr>
        <p:spPr>
          <a:xfrm>
            <a:off x="10415016" y="4279392"/>
            <a:ext cx="667512" cy="201168"/>
          </a:xfrm>
          <a:prstGeom prst="roundRect">
            <a:avLst>
              <a:gd name="adj" fmla="val 50000"/>
            </a:avLst>
          </a:prstGeom>
          <a:solidFill>
            <a:srgbClr val="FFFFFF"/>
          </a:solidFill>
          <a:ln w="12700">
            <a:solidFill>
              <a:srgbClr val="4A50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wrap="square"/>
          <a:lstStyle/>
          <a:p>
            <a:pPr algn="ctr"/>
            <a:r>
              <a:rPr sz="900" b="1" i="0">
                <a:solidFill>
                  <a:srgbClr val="4A5058"/>
                </a:solidFill>
              </a:rPr>
              <a:t>PROPOSED</a:t>
            </a:r>
          </a:p>
        </p:txBody>
      </p:sp>
      <p:cxnSp>
        <p:nvCxnSpPr>
          <p:cNvPr id="80" name="Connector 79"/>
          <p:cNvCxnSpPr/>
          <p:nvPr/>
        </p:nvCxnSpPr>
        <p:spPr>
          <a:xfrm flipV="1">
            <a:off x="9226296" y="4608576"/>
            <a:ext cx="0" cy="146304"/>
          </a:xfrm>
          <a:prstGeom prst="line">
            <a:avLst/>
          </a:prstGeom>
          <a:ln w="15875">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7040879" y="4754880"/>
            <a:ext cx="4370832" cy="384048"/>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50" b="1" i="0">
                <a:solidFill>
                  <a:srgbClr val="FFFFFF"/>
                </a:solidFill>
              </a:rPr>
              <a:t>One lake: Delta (local, EFS or S3) · 7 years</a:t>
            </a:r>
          </a:p>
        </p:txBody>
      </p:sp>
      <p:sp>
        <p:nvSpPr>
          <p:cNvPr id="82" name="Rectangle 81"/>
          <p:cNvSpPr/>
          <p:nvPr/>
        </p:nvSpPr>
        <p:spPr>
          <a:xfrm>
            <a:off x="777240" y="5230368"/>
            <a:ext cx="10634472" cy="1033271"/>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Rectangle 82"/>
          <p:cNvSpPr/>
          <p:nvPr/>
        </p:nvSpPr>
        <p:spPr>
          <a:xfrm>
            <a:off x="777240" y="5230368"/>
            <a:ext cx="54864" cy="103327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TextBox 83"/>
          <p:cNvSpPr txBox="1"/>
          <p:nvPr/>
        </p:nvSpPr>
        <p:spPr>
          <a:xfrm>
            <a:off x="978408" y="5248656"/>
            <a:ext cx="10360152" cy="274320"/>
          </a:xfrm>
          <a:prstGeom prst="rect">
            <a:avLst/>
          </a:prstGeom>
          <a:noFill/>
        </p:spPr>
        <p:txBody>
          <a:bodyPr wrap="square" lIns="0" rIns="0" tIns="0" bIns="0" anchor="ctr">
            <a:spAutoFit/>
          </a:bodyPr>
          <a:lstStyle/>
          <a:p>
            <a:pPr algn="l"/>
            <a:r>
              <a:rPr sz="1250" b="1" i="0">
                <a:solidFill>
                  <a:srgbClr val="A51C30"/>
                </a:solidFill>
              </a:rPr>
              <a:t>To reach 1.3M positions and 100,000 portfolios, still to build</a:t>
            </a:r>
          </a:p>
        </p:txBody>
      </p:sp>
      <p:sp>
        <p:nvSpPr>
          <p:cNvPr id="85" name="TextBox 84"/>
          <p:cNvSpPr txBox="1"/>
          <p:nvPr/>
        </p:nvSpPr>
        <p:spPr>
          <a:xfrm>
            <a:off x="978408" y="5486400"/>
            <a:ext cx="5120640" cy="768096"/>
          </a:xfrm>
          <a:prstGeom prst="rect">
            <a:avLst/>
          </a:prstGeom>
          <a:noFill/>
        </p:spPr>
        <p:txBody>
          <a:bodyPr wrap="square" lIns="0" rIns="0" tIns="0" bIns="0" anchor="t">
            <a:spAutoFit/>
          </a:bodyPr>
          <a:lstStyle/>
          <a:p>
            <a:pPr algn="l">
              <a:spcAft>
                <a:spcPts val="0"/>
              </a:spcAft>
            </a:pPr>
            <a:r>
              <a:rPr sz="1100" b="0" i="0">
                <a:solidFill>
                  <a:srgbClr val="1A1A1A"/>
                </a:solidFill>
              </a:rPr>
              <a:t>1  The 1M × 50 benchmark (and 1.3M) on a real server</a:t>
            </a:r>
          </a:p>
          <a:p>
            <a:pPr algn="l">
              <a:spcAft>
                <a:spcPts val="0"/>
              </a:spcAft>
            </a:pPr>
            <a:r>
              <a:rPr sz="1100" b="0" i="0">
                <a:solidFill>
                  <a:srgbClr val="1A1A1A"/>
                </a:solidFill>
              </a:rPr>
              <a:t>2  VaR sharding across Drishti*net (scatter-gather)</a:t>
            </a:r>
          </a:p>
          <a:p>
            <a:pPr algn="l">
              <a:spcAft>
                <a:spcPts val="0"/>
              </a:spcAft>
            </a:pPr>
            <a:r>
              <a:rPr sz="1100" b="0" i="0">
                <a:solidFill>
                  <a:srgbClr val="1A1A1A"/>
                </a:solidFill>
              </a:rPr>
              <a:t>3  The lake layout at scale: sort, ZSTD, file sizes</a:t>
            </a:r>
          </a:p>
          <a:p>
            <a:pPr algn="l">
              <a:spcAft>
                <a:spcPts val="0"/>
              </a:spcAft>
            </a:pPr>
            <a:r>
              <a:rPr sz="1100" b="0" i="0">
                <a:solidFill>
                  <a:srgbClr val="1A1A1A"/>
                </a:solidFill>
              </a:rPr>
              <a:t>4  Portfolio vectors in a batch; &gt; 100,000 rows read</a:t>
            </a:r>
          </a:p>
        </p:txBody>
      </p:sp>
      <p:sp>
        <p:nvSpPr>
          <p:cNvPr id="86" name="TextBox 85"/>
          <p:cNvSpPr txBox="1"/>
          <p:nvPr/>
        </p:nvSpPr>
        <p:spPr>
          <a:xfrm>
            <a:off x="6236208" y="5486400"/>
            <a:ext cx="5120640" cy="768096"/>
          </a:xfrm>
          <a:prstGeom prst="rect">
            <a:avLst/>
          </a:prstGeom>
          <a:noFill/>
        </p:spPr>
        <p:txBody>
          <a:bodyPr wrap="square" lIns="0" rIns="0" tIns="0" bIns="0" anchor="t">
            <a:spAutoFit/>
          </a:bodyPr>
          <a:lstStyle/>
          <a:p>
            <a:pPr algn="l">
              <a:spcAft>
                <a:spcPts val="0"/>
              </a:spcAft>
            </a:pPr>
            <a:r>
              <a:rPr sz="1100" b="0" i="0">
                <a:solidFill>
                  <a:srgbClr val="1A1A1A"/>
                </a:solidFill>
              </a:rPr>
              <a:t>5  Iceberg for VaR inputs (vectors from the Iceberg plugin)</a:t>
            </a:r>
          </a:p>
          <a:p>
            <a:pPr algn="l">
              <a:spcAft>
                <a:spcPts val="0"/>
              </a:spcAft>
            </a:pPr>
            <a:r>
              <a:rPr sz="1100" b="0" i="0">
                <a:solidFill>
                  <a:srgbClr val="1A1A1A"/>
                </a:solidFill>
              </a:rPr>
              <a:t>6  Official results published to s3:// (local/EFS today)</a:t>
            </a:r>
          </a:p>
          <a:p>
            <a:pPr algn="l">
              <a:spcAft>
                <a:spcPts val="0"/>
              </a:spcAft>
            </a:pPr>
            <a:r>
              <a:rPr sz="1100" b="0" i="0">
                <a:solidFill>
                  <a:srgbClr val="1A1A1A"/>
                </a:solidFill>
              </a:rPr>
              <a:t>7  Several consoles without sticky sessions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a:lstStyle/>
          <a:p>
            <a:r>
              <a:t>GOVERNANCE AND ROADMAP</a:t>
            </a:r>
          </a:p>
        </p:txBody>
      </p:sp>
      <p:sp>
        <p:nvSpPr>
          <p:cNvPr id="3" name="Title 2"/>
          <p:cNvSpPr>
            <a:spLocks noGrp="1"/>
          </p:cNvSpPr>
          <p:nvPr>
            <p:ph type="title" idx="104"/>
          </p:nvPr>
        </p:nvSpPr>
        <p:spPr/>
        <p:txBody>
          <a:bodyPr/>
          <a:lstStyle/>
          <a:p>
            <a:r>
              <a:t>Numbers of record you can reproduce, and what comes next</a:t>
            </a:r>
          </a:p>
        </p:txBody>
      </p:sp>
      <p:sp>
        <p:nvSpPr>
          <p:cNvPr id="4" name="Title rule"/>
          <p:cNvSpPr/>
          <p:nvPr/>
        </p:nvSpPr>
        <p:spPr>
          <a:xfrm>
            <a:off x="777240" y="1280160"/>
            <a:ext cx="10634472" cy="9144"/>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Slide Number Placeholder 0"/>
          <p:cNvSpPr>
            <a:spLocks noGrp="1"/>
          </p:cNvSpPr>
          <p:nvPr>
            <p:ph type="sldNum" sz="quarter" idx="4294967295"/>
          </p:nvPr>
        </p:nvSpPr>
        <p:spPr>
          <a:xfrm>
            <a:off x="8220456" y="6437376"/>
            <a:ext cx="3191256"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61666E"/>
                </a:solidFill>
              </a:defRPr>
            </a:lvl1pPr>
          </a:lstStyle>
          <a:p>
            <a:pPr algn="r"/>
            <a:fld id="{F7021451-1387-4CA6-816F-3879F97B5CBC}" type="slidenum">
              <a:rPr b="1" lang="en-US"/>
              <a:t>1002</a:t>
            </a:fld>
            <a:endParaRPr lang="en-US"/>
          </a:p>
        </p:txBody>
      </p:sp>
      <p:sp>
        <p:nvSpPr>
          <p:cNvPr id="26" name="Rectangle 25"/>
          <p:cNvSpPr/>
          <p:nvPr/>
        </p:nvSpPr>
        <p:spPr>
          <a:xfrm>
            <a:off x="777240" y="1444752"/>
            <a:ext cx="2926079" cy="1874519"/>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777240" y="1444752"/>
            <a:ext cx="45720" cy="187451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60120" y="1554480"/>
            <a:ext cx="2633472" cy="1691639"/>
          </a:xfrm>
          <a:prstGeom prst="rect">
            <a:avLst/>
          </a:prstGeom>
          <a:noFill/>
        </p:spPr>
        <p:txBody>
          <a:bodyPr wrap="square" lIns="0" rIns="0" tIns="0" bIns="0" anchor="t">
            <a:spAutoFit/>
          </a:bodyPr>
          <a:lstStyle/>
          <a:p>
            <a:pPr algn="l">
              <a:spcAft>
                <a:spcPts val="500"/>
              </a:spcAft>
            </a:pPr>
            <a:r>
              <a:rPr sz="1400" b="1" i="0">
                <a:solidFill>
                  <a:srgbClr val="8A1626"/>
                </a:solidFill>
              </a:rPr>
              <a:t>Official, append-only</a:t>
            </a:r>
          </a:p>
          <a:p>
            <a:pPr algn="l"/>
            <a:r>
              <a:rPr sz="1200" b="0" i="0">
                <a:solidFill>
                  <a:srgbClr val="1A1A1A"/>
                </a:solidFill>
              </a:rPr>
              <a:t>Every MGMT and LEGAL node, every date, from the morning run; a restatement adds a result version. Published to risk-results/var-official (Delta, appendOnly) with JSONL beside it.</a:t>
            </a:r>
          </a:p>
        </p:txBody>
      </p:sp>
      <p:sp>
        <p:nvSpPr>
          <p:cNvPr id="29" name="Rectangle 28"/>
          <p:cNvSpPr/>
          <p:nvPr/>
        </p:nvSpPr>
        <p:spPr>
          <a:xfrm>
            <a:off x="3886200" y="1444752"/>
            <a:ext cx="2926079" cy="1874519"/>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Rectangle 29"/>
          <p:cNvSpPr/>
          <p:nvPr/>
        </p:nvSpPr>
        <p:spPr>
          <a:xfrm>
            <a:off x="3886200" y="1444752"/>
            <a:ext cx="45720" cy="187451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4069080" y="1554480"/>
            <a:ext cx="2633472" cy="1691639"/>
          </a:xfrm>
          <a:prstGeom prst="rect">
            <a:avLst/>
          </a:prstGeom>
          <a:noFill/>
        </p:spPr>
        <p:txBody>
          <a:bodyPr wrap="square" lIns="0" rIns="0" tIns="0" bIns="0" anchor="t">
            <a:spAutoFit/>
          </a:bodyPr>
          <a:lstStyle/>
          <a:p>
            <a:pPr algn="l">
              <a:spcAft>
                <a:spcPts val="500"/>
              </a:spcAft>
            </a:pPr>
            <a:r>
              <a:rPr sz="1400" b="1" i="0">
                <a:solidFill>
                  <a:srgbClr val="8A1626"/>
                </a:solidFill>
              </a:rPr>
              <a:t>Reproducible</a:t>
            </a:r>
          </a:p>
          <a:p>
            <a:pPr algn="l"/>
            <a:r>
              <a:rPr sz="1200" b="0" i="0">
                <a:solidFill>
                  <a:srgbClr val="1A1A1A"/>
                </a:solidFill>
              </a:rPr>
              <a:t>Each answer names its inputs' data versions, batch ids, scenario set, position rules' digest, membership hash and engine version; a capture keeps the vector itself.</a:t>
            </a:r>
          </a:p>
        </p:txBody>
      </p:sp>
      <p:sp>
        <p:nvSpPr>
          <p:cNvPr id="32" name="Rectangle 31"/>
          <p:cNvSpPr/>
          <p:nvPr/>
        </p:nvSpPr>
        <p:spPr>
          <a:xfrm>
            <a:off x="777240" y="3502152"/>
            <a:ext cx="2926079" cy="1874519"/>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Rectangle 32"/>
          <p:cNvSpPr/>
          <p:nvPr/>
        </p:nvSpPr>
        <p:spPr>
          <a:xfrm>
            <a:off x="777240" y="3502152"/>
            <a:ext cx="45720" cy="187451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960120" y="3611880"/>
            <a:ext cx="2633472" cy="1691639"/>
          </a:xfrm>
          <a:prstGeom prst="rect">
            <a:avLst/>
          </a:prstGeom>
          <a:noFill/>
        </p:spPr>
        <p:txBody>
          <a:bodyPr wrap="square" lIns="0" rIns="0" tIns="0" bIns="0" anchor="t">
            <a:spAutoFit/>
          </a:bodyPr>
          <a:lstStyle/>
          <a:p>
            <a:pPr algn="l">
              <a:spcAft>
                <a:spcPts val="500"/>
              </a:spcAft>
            </a:pPr>
            <a:r>
              <a:rPr sz="1400" b="1" i="0">
                <a:solidFill>
                  <a:srgbClr val="8A1626"/>
                </a:solidFill>
              </a:rPr>
              <a:t>Kept 7 years</a:t>
            </a:r>
          </a:p>
          <a:p>
            <a:pPr algn="l"/>
            <a:r>
              <a:rPr sz="1200" b="0" i="0">
                <a:solidFill>
                  <a:srgbClr val="1A1A1A"/>
                </a:solidFill>
              </a:rPr>
              <a:t>Vectors and their time travel, official captures and records; lake maintenance never vacuums the risk domains below 7 years.</a:t>
            </a:r>
          </a:p>
        </p:txBody>
      </p:sp>
      <p:sp>
        <p:nvSpPr>
          <p:cNvPr id="35" name="Rectangle 34"/>
          <p:cNvSpPr/>
          <p:nvPr/>
        </p:nvSpPr>
        <p:spPr>
          <a:xfrm>
            <a:off x="3886200" y="3502152"/>
            <a:ext cx="2926079" cy="1874519"/>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Rectangle 35"/>
          <p:cNvSpPr/>
          <p:nvPr/>
        </p:nvSpPr>
        <p:spPr>
          <a:xfrm>
            <a:off x="3886200" y="3502152"/>
            <a:ext cx="45720" cy="187451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4069080" y="3611880"/>
            <a:ext cx="2633472" cy="1691639"/>
          </a:xfrm>
          <a:prstGeom prst="rect">
            <a:avLst/>
          </a:prstGeom>
          <a:noFill/>
        </p:spPr>
        <p:txBody>
          <a:bodyPr wrap="square" lIns="0" rIns="0" tIns="0" bIns="0" anchor="t">
            <a:spAutoFit/>
          </a:bodyPr>
          <a:lstStyle/>
          <a:p>
            <a:pPr algn="l">
              <a:spcAft>
                <a:spcPts val="500"/>
              </a:spcAft>
            </a:pPr>
            <a:r>
              <a:rPr sz="1400" b="1" i="0">
                <a:solidFill>
                  <a:srgbClr val="8A1626"/>
                </a:solidFill>
              </a:rPr>
              <a:t>Entitled and audited</a:t>
            </a:r>
          </a:p>
          <a:p>
            <a:pPr algn="l"/>
            <a:r>
              <a:rPr sz="1200" b="0" i="0">
                <a:solidFill>
                  <a:srgbClr val="1A1A1A"/>
                </a:solidFill>
              </a:rPr>
              <a:t>Per role and node: positions or aggregate; masks on rows; every headline, capture, basket, reload and official run audited.</a:t>
            </a:r>
          </a:p>
        </p:txBody>
      </p:sp>
      <p:sp>
        <p:nvSpPr>
          <p:cNvPr id="38" name="TextBox 37"/>
          <p:cNvSpPr txBox="1"/>
          <p:nvPr/>
        </p:nvSpPr>
        <p:spPr>
          <a:xfrm>
            <a:off x="7132319" y="1417320"/>
            <a:ext cx="4279392" cy="274320"/>
          </a:xfrm>
          <a:prstGeom prst="rect">
            <a:avLst/>
          </a:prstGeom>
          <a:noFill/>
        </p:spPr>
        <p:txBody>
          <a:bodyPr wrap="square" lIns="0" rIns="0" tIns="0" bIns="0" anchor="t">
            <a:spAutoFit/>
          </a:bodyPr>
          <a:lstStyle/>
          <a:p>
            <a:pPr algn="l"/>
            <a:r>
              <a:rPr sz="1300" b="1" i="0">
                <a:solidFill>
                  <a:srgbClr val="293352"/>
                </a:solidFill>
              </a:rPr>
              <a:t>New in 2.9.4, built</a:t>
            </a:r>
          </a:p>
        </p:txBody>
      </p:sp>
      <p:sp>
        <p:nvSpPr>
          <p:cNvPr id="39" name="TextBox 38"/>
          <p:cNvSpPr txBox="1"/>
          <p:nvPr/>
        </p:nvSpPr>
        <p:spPr>
          <a:xfrm>
            <a:off x="7132319" y="1700784"/>
            <a:ext cx="4279392" cy="1463040"/>
          </a:xfrm>
          <a:prstGeom prst="rect">
            <a:avLst/>
          </a:prstGeom>
          <a:noFill/>
        </p:spPr>
        <p:txBody>
          <a:bodyPr wrap="square" lIns="0" rIns="0" tIns="0" bIns="0" anchor="t">
            <a:spAutoFit/>
          </a:bodyPr>
          <a:lstStyle/>
          <a:p>
            <a:pPr algn="l" marL="146304" indent="-146304">
              <a:spcAft>
                <a:spcPts val="150"/>
              </a:spcAft>
              <a:buClr>
                <a:srgbClr val="293352"/>
              </a:buClr>
              <a:buSzPct val="100000"/>
              <a:buFont typeface="Arial"/>
              <a:buChar char="▪"/>
            </a:pPr>
            <a:r>
              <a:rPr sz="1200" b="0" i="0">
                <a:solidFill>
                  <a:srgbClr val="1A1A1A"/>
                </a:solidFill>
              </a:rPr>
              <a:t>Any input contract: PVs or P&amp;L, by trade or position</a:t>
            </a:r>
          </a:p>
          <a:p>
            <a:pPr algn="l" marL="146304" indent="-146304">
              <a:spcAft>
                <a:spcPts val="150"/>
              </a:spcAft>
              <a:buClr>
                <a:srgbClr val="293352"/>
              </a:buClr>
              <a:buSzPct val="100000"/>
              <a:buFont typeface="Arial"/>
              <a:buChar char="▪"/>
            </a:pPr>
            <a:r>
              <a:rPr sz="1200" b="0" i="0">
                <a:solidFill>
                  <a:srgbClr val="1A1A1A"/>
                </a:solidFill>
              </a:rPr>
              <a:t>Any reporting currency; five built ahead</a:t>
            </a:r>
          </a:p>
          <a:p>
            <a:pPr algn="l" marL="146304" indent="-146304">
              <a:spcAft>
                <a:spcPts val="150"/>
              </a:spcAft>
              <a:buClr>
                <a:srgbClr val="293352"/>
              </a:buClr>
              <a:buSzPct val="100000"/>
              <a:buFont typeface="Arial"/>
              <a:buChar char="▪"/>
            </a:pPr>
            <a:r>
              <a:rPr sz="1200" b="0" i="0">
                <a:solidFill>
                  <a:srgbClr val="1A1A1A"/>
                </a:solidFill>
              </a:rPr>
              <a:t>Intraday from files and Kafka micro-batches</a:t>
            </a:r>
          </a:p>
          <a:p>
            <a:pPr algn="l" marL="146304" indent="-146304">
              <a:spcAft>
                <a:spcPts val="150"/>
              </a:spcAft>
              <a:buClr>
                <a:srgbClr val="293352"/>
              </a:buClr>
              <a:buSzPct val="100000"/>
              <a:buFont typeface="Arial"/>
              <a:buChar char="▪"/>
            </a:pPr>
            <a:r>
              <a:rPr sz="1200" b="0" i="0">
                <a:solidFill>
                  <a:srgbClr val="1A1A1A"/>
                </a:solidFill>
              </a:rPr>
              <a:t>Window, confidence and root name as settings</a:t>
            </a:r>
          </a:p>
          <a:p>
            <a:pPr algn="l" marL="146304" indent="-146304">
              <a:spcAft>
                <a:spcPts val="150"/>
              </a:spcAft>
              <a:buClr>
                <a:srgbClr val="293352"/>
              </a:buClr>
              <a:buSzPct val="100000"/>
              <a:buFont typeface="Arial"/>
              <a:buChar char="▪"/>
            </a:pPr>
            <a:r>
              <a:rPr sz="1200" b="0" i="0">
                <a:solidFill>
                  <a:srgbClr val="1A1A1A"/>
                </a:solidFill>
              </a:rPr>
              <a:t>JSONL everywhere; the PV scripts (tools/pvgen)</a:t>
            </a:r>
          </a:p>
        </p:txBody>
      </p:sp>
      <p:sp>
        <p:nvSpPr>
          <p:cNvPr id="40" name="TextBox 39"/>
          <p:cNvSpPr txBox="1"/>
          <p:nvPr/>
        </p:nvSpPr>
        <p:spPr>
          <a:xfrm>
            <a:off x="7132319" y="3200400"/>
            <a:ext cx="4279392" cy="274320"/>
          </a:xfrm>
          <a:prstGeom prst="rect">
            <a:avLst/>
          </a:prstGeom>
          <a:noFill/>
        </p:spPr>
        <p:txBody>
          <a:bodyPr wrap="square" lIns="0" rIns="0" tIns="0" bIns="0" anchor="t">
            <a:spAutoFit/>
          </a:bodyPr>
          <a:lstStyle/>
          <a:p>
            <a:pPr algn="l"/>
            <a:r>
              <a:rPr sz="1300" b="1" i="0">
                <a:solidFill>
                  <a:srgbClr val="A51C30"/>
                </a:solidFill>
              </a:rPr>
              <a:t>Planned in the VaR guide</a:t>
            </a:r>
          </a:p>
        </p:txBody>
      </p:sp>
      <p:sp>
        <p:nvSpPr>
          <p:cNvPr id="41" name="TextBox 40"/>
          <p:cNvSpPr txBox="1"/>
          <p:nvPr/>
        </p:nvSpPr>
        <p:spPr>
          <a:xfrm>
            <a:off x="7132319" y="3502152"/>
            <a:ext cx="4279392" cy="2194560"/>
          </a:xfrm>
          <a:prstGeom prst="rect">
            <a:avLst/>
          </a:prstGeom>
          <a:noFill/>
        </p:spPr>
        <p:txBody>
          <a:bodyPr wrap="square" lIns="0" rIns="0" tIns="0" bIns="0" anchor="t">
            <a:spAutoFit/>
          </a:bodyPr>
          <a:lstStyle/>
          <a:p>
            <a:pPr algn="l" marL="146304" indent="-146304">
              <a:spcAft>
                <a:spcPts val="200"/>
              </a:spcAft>
              <a:buClr>
                <a:srgbClr val="A51C30"/>
              </a:buClr>
              <a:buSzPct val="100000"/>
              <a:buFont typeface="Arial"/>
              <a:buChar char="▪"/>
            </a:pPr>
            <a:r>
              <a:rPr sz="1200" b="0" i="0">
                <a:solidFill>
                  <a:srgbClr val="1A1A1A"/>
                </a:solidFill>
              </a:rPr>
              <a:t>Sharding across Drishti*net; the 1M × 50 run on a server</a:t>
            </a:r>
          </a:p>
          <a:p>
            <a:pPr algn="l" marL="146304" indent="-146304">
              <a:spcAft>
                <a:spcPts val="200"/>
              </a:spcAft>
              <a:buClr>
                <a:srgbClr val="A51C30"/>
              </a:buClr>
              <a:buSzPct val="100000"/>
              <a:buFont typeface="Arial"/>
              <a:buChar char="▪"/>
            </a:pPr>
            <a:r>
              <a:rPr sz="1200" b="0" i="0">
                <a:solidFill>
                  <a:srgbClr val="1A1A1A"/>
                </a:solidFill>
              </a:rPr>
              <a:t>The lake layout at bank scale</a:t>
            </a:r>
          </a:p>
          <a:p>
            <a:pPr algn="l" marL="146304" indent="-146304">
              <a:spcAft>
                <a:spcPts val="200"/>
              </a:spcAft>
              <a:buClr>
                <a:srgbClr val="A51C30"/>
              </a:buClr>
              <a:buSzPct val="100000"/>
              <a:buFont typeface="Arial"/>
              <a:buChar char="▪"/>
            </a:pPr>
            <a:r>
              <a:rPr sz="1200" b="0" i="0">
                <a:solidFill>
                  <a:srgbClr val="1A1A1A"/>
                </a:solidFill>
              </a:rPr>
              <a:t>What-if pricing through QLRisk, once its API is stable</a:t>
            </a:r>
          </a:p>
          <a:p>
            <a:pPr algn="l" marL="146304" indent="-146304">
              <a:spcAft>
                <a:spcPts val="200"/>
              </a:spcAft>
              <a:buClr>
                <a:srgbClr val="A51C30"/>
              </a:buClr>
              <a:buSzPct val="100000"/>
              <a:buFont typeface="Arial"/>
              <a:buChar char="▪"/>
            </a:pPr>
            <a:r>
              <a:rPr sz="1200" b="0" i="0">
                <a:solidFill>
                  <a:srgbClr val="1A1A1A"/>
                </a:solidFill>
              </a:rPr>
              <a:t>Stressed set SVAR-250; age-weighted and filtered methods; 10-day VaR; ES backtests</a:t>
            </a:r>
          </a:p>
          <a:p>
            <a:pPr algn="l" marL="146304" indent="-146304">
              <a:spcAft>
                <a:spcPts val="200"/>
              </a:spcAft>
              <a:buClr>
                <a:srgbClr val="A51C30"/>
              </a:buClr>
              <a:buSzPct val="100000"/>
              <a:buFont typeface="Arial"/>
              <a:buChar char="▪"/>
            </a:pPr>
            <a:r>
              <a:rPr sz="1200" b="0" i="0">
                <a:solidFill>
                  <a:srgbClr val="1A1A1A"/>
                </a:solidFill>
              </a:rPr>
              <a:t>Cubes, overnight precomputation; the common risk lake</a:t>
            </a:r>
          </a:p>
        </p:txBody>
      </p:sp>
      <p:sp>
        <p:nvSpPr>
          <p:cNvPr id="42" name="Rectangle 41"/>
          <p:cNvSpPr/>
          <p:nvPr/>
        </p:nvSpPr>
        <p:spPr>
          <a:xfrm>
            <a:off x="777240" y="5760720"/>
            <a:ext cx="10634472" cy="475488"/>
          </a:xfrm>
          <a:prstGeom prst="rect">
            <a:avLst/>
          </a:prstGeom>
          <a:solidFill>
            <a:srgbClr val="F6E6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Rectangle 42"/>
          <p:cNvSpPr/>
          <p:nvPr/>
        </p:nvSpPr>
        <p:spPr>
          <a:xfrm>
            <a:off x="777240" y="5760720"/>
            <a:ext cx="54864" cy="47548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1033271" y="5760720"/>
            <a:ext cx="10268712" cy="475488"/>
          </a:xfrm>
          <a:prstGeom prst="rect">
            <a:avLst/>
          </a:prstGeom>
          <a:noFill/>
        </p:spPr>
        <p:txBody>
          <a:bodyPr wrap="square" lIns="0" rIns="0" tIns="0" bIns="0" anchor="ctr">
            <a:spAutoFit/>
          </a:bodyPr>
          <a:lstStyle/>
          <a:p>
            <a:pPr algn="l"/>
            <a:r>
              <a:rPr sz="1300" b="1" i="0">
                <a:solidFill>
                  <a:srgbClr val="A51C30"/>
                </a:solidFill>
              </a:rPr>
              <a:t>Key insight  </a:t>
            </a:r>
            <a:r>
              <a:rPr sz="1300" b="1" i="0">
                <a:solidFill>
                  <a:srgbClr val="8A1626"/>
                </a:solidFill>
              </a:rPr>
              <a:t>Official numbers come only from full runs, and each can be recomputed from its inputs years later.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586984" y="1463040"/>
            <a:ext cx="1024128" cy="256032"/>
          </a:xfrm>
          <a:prstGeom prst="arc">
            <a:avLst>
              <a:gd name="adj1" fmla="val 12000000"/>
              <a:gd name="adj2" fmla="val 20400000"/>
            </a:avLst>
          </a:prstGeom>
          <a:ln w="25400">
            <a:solidFill>
              <a:srgbClr val="C4384B"/>
            </a:solidFill>
            <a:prstDash val="solid"/>
          </a:ln>
        </p:spPr>
        <p:txBody>
          <a:bodyPr/>
          <a:p/>
        </p:txBody>
      </p:sp>
      <p:sp>
        <p:nvSpPr>
          <p:cNvPr id="3" name="Shape 1"/>
          <p:cNvSpPr/>
          <p:nvPr/>
        </p:nvSpPr>
        <p:spPr>
          <a:xfrm>
            <a:off x="5586984" y="1609344"/>
            <a:ext cx="1024128" cy="256032"/>
          </a:xfrm>
          <a:prstGeom prst="arc">
            <a:avLst>
              <a:gd name="adj1" fmla="val 12000000"/>
              <a:gd name="adj2" fmla="val 20400000"/>
            </a:avLst>
          </a:prstGeom>
          <a:ln w="25400">
            <a:solidFill>
              <a:srgbClr val="C4384B"/>
            </a:solidFill>
            <a:prstDash val="solid"/>
          </a:ln>
        </p:spPr>
        <p:txBody>
          <a:bodyPr/>
          <a:p/>
        </p:txBody>
      </p:sp>
      <p:sp>
        <p:nvSpPr>
          <p:cNvPr id="4" name="Shape 2"/>
          <p:cNvSpPr/>
          <p:nvPr/>
        </p:nvSpPr>
        <p:spPr>
          <a:xfrm>
            <a:off x="5586984" y="1755648"/>
            <a:ext cx="1024128" cy="256032"/>
          </a:xfrm>
          <a:prstGeom prst="arc">
            <a:avLst>
              <a:gd name="adj1" fmla="val 12000000"/>
              <a:gd name="adj2" fmla="val 20400000"/>
            </a:avLst>
          </a:prstGeom>
          <a:ln w="25400">
            <a:solidFill>
              <a:srgbClr val="C4384B"/>
            </a:solidFill>
            <a:prstDash val="solid"/>
          </a:ln>
        </p:spPr>
        <p:txBody>
          <a:bodyPr/>
          <a:p/>
        </p:txBody>
      </p:sp>
      <p:sp>
        <p:nvSpPr>
          <p:cNvPr id="5" name="Text 3"/>
          <p:cNvSpPr txBox="1"/>
          <p:nvPr/>
        </p:nvSpPr>
        <p:spPr>
          <a:xfrm>
            <a:off x="1234440" y="2514600"/>
            <a:ext cx="9720072" cy="914400"/>
          </a:xfrm>
          <a:prstGeom prst="rect">
            <a:avLst/>
          </a:prstGeom>
          <a:noFill/>
          <a:ln/>
        </p:spPr>
        <p:txBody>
          <a:bodyPr wrap="square" lIns="0" tIns="0" rIns="0" bIns="0" rtlCol="0" anchor="ctr"/>
          <a:lstStyle/>
          <a:p>
            <a:pPr algn="ctr" indent="0" marL="0">
              <a:buNone/>
            </a:pPr>
            <a:r>
              <a:rPr lang="en-US" sz="4400" b="1" dirty="0">
                <a:solidFill>
                  <a:srgbClr val="FFFFFF"/>
                </a:solidFill>
              </a:rPr>
              <a:t>Thank you</a:t>
            </a:r>
            <a:endParaRPr lang="en-US" sz="4400" dirty="0"/>
          </a:p>
        </p:txBody>
      </p:sp>
      <p:sp>
        <p:nvSpPr>
          <p:cNvPr id="6" name="Shape 4"/>
          <p:cNvSpPr/>
          <p:nvPr/>
        </p:nvSpPr>
        <p:spPr>
          <a:xfrm>
            <a:off x="5413248" y="3611880"/>
            <a:ext cx="1371600" cy="36576"/>
          </a:xfrm>
          <a:prstGeom prst="rect">
            <a:avLst/>
          </a:prstGeom>
          <a:solidFill>
            <a:srgbClr val="C4384B"/>
          </a:solidFill>
          <a:ln/>
        </p:spPr>
        <p:txBody>
          <a:bodyPr/>
          <a:p/>
        </p:txBody>
      </p:sp>
      <p:sp>
        <p:nvSpPr>
          <p:cNvPr id="7" name="Text 5"/>
          <p:cNvSpPr txBox="1"/>
          <p:nvPr/>
        </p:nvSpPr>
        <p:spPr>
          <a:xfrm>
            <a:off x="1234440" y="3840480"/>
            <a:ext cx="9720072" cy="640080"/>
          </a:xfrm>
          <a:prstGeom prst="rect">
            <a:avLst/>
          </a:prstGeom>
          <a:noFill/>
          <a:ln/>
        </p:spPr>
        <p:txBody>
          <a:bodyPr wrap="square" lIns="0" tIns="0" rIns="0" bIns="0" rtlCol="0" anchor="ctr"/>
          <a:lstStyle/>
          <a:p>
            <a:pPr algn="ctr" indent="0" marL="0">
              <a:buNone/>
            </a:pPr>
            <a:r>
              <a:rPr lang="en-US" sz="2400" i="1" dirty="0">
                <a:solidFill>
                  <a:srgbClr val="F6E6E9"/>
                </a:solidFill>
              </a:rPr>
              <a:t>Any data. Any domain. One grammar.</a:t>
            </a:r>
            <a:endParaRPr lang="en-US" sz="2400" dirty="0"/>
          </a:p>
        </p:txBody>
      </p:sp>
      <p:sp>
        <p:nvSpPr>
          <p:cNvPr id="8" name="Text 6"/>
          <p:cNvSpPr txBox="1"/>
          <p:nvPr/>
        </p:nvSpPr>
        <p:spPr>
          <a:xfrm>
            <a:off x="1234440" y="4754880"/>
            <a:ext cx="9720072" cy="365760"/>
          </a:xfrm>
          <a:prstGeom prst="rect">
            <a:avLst/>
          </a:prstGeom>
          <a:noFill/>
          <a:ln/>
        </p:spPr>
        <p:txBody>
          <a:bodyPr wrap="square" lIns="0" tIns="0" rIns="0" bIns="0" rtlCol="0" anchor="ctr"/>
          <a:lstStyle/>
          <a:p>
            <a:pPr algn="ctr" indent="0" marL="0">
              <a:buNone/>
            </a:pPr>
            <a:r>
              <a:rPr lang="en-US" sz="1300" dirty="0">
                <a:solidFill>
                  <a:srgbClr val="F6E6E9"/>
                </a:solidFill>
              </a:rPr>
              <a:t>Drishti • Ashutosh Sinha • October 2026 • VaR engine 2.9.4</a:t>
            </a:r>
            <a:endParaRPr lang="en-US" sz="1300" dirty="0"/>
          </a:p>
        </p:txBody>
      </p:sp>
      <p:sp>
        <p:nvSpPr>
          <p:cNvPr id="25" name="Slide Number Placeholder 0"/>
          <p:cNvSpPr>
            <a:spLocks noGrp="1"/>
          </p:cNvSpPr>
          <p:nvPr>
            <p:ph type="sldNum" sz="quarter" idx="4294967295"/>
          </p:nvPr>
        </p:nvSpPr>
        <p:spPr>
          <a:xfrm>
            <a:off x="777240" y="6437376"/>
            <a:ext cx="10634472" cy="219456"/>
          </a:xfrm>
          <a:prstGeom prst="rect">
            <a:avLst/>
          </a:prstGeom>
          <a:extLst>
            <a:ext uri="{C572A759-6A51-4108-AA02-DFA0A04FC94B}">
              <ma14:wrappingTextBoxFlag xmlns:ma14="http://schemas.microsoft.com/office/mac/drawingml/2011/main" val="0"/>
            </a:ext>
          </a:extLst>
        </p:spPr>
        <p:txBody>
          <a:bodyPr/>
          <a:lstStyle>
            <a:lvl1pPr>
              <a:defRPr sz="850">
                <a:solidFill>
                  <a:srgbClr val="F6E6E9"/>
                </a:solidFill>
              </a:defRPr>
            </a:lvl1pPr>
          </a:lstStyle>
          <a:p>
            <a:pPr algn="r"/>
            <a:fld id="{F7021451-1387-4CA6-816F-3879F97B5CBC}" type="slidenum">
              <a:rPr b="1" lang="en-US"/>
              <a:t>48</a:t>
            </a:fld>
            <a:endParaRPr lang="en-US"/>
          </a:p>
        </p:txBody>
      </p:sp>
      <p:sp>
        <p:nvSpPr>
          <p:cNvPr id="26" name="TextBox 25"/>
          <p:cNvSpPr txBox="1"/>
          <p:nvPr/>
        </p:nvSpPr>
        <p:spPr>
          <a:xfrm>
            <a:off x="1234440" y="4389120"/>
            <a:ext cx="9720072" cy="329184"/>
          </a:xfrm>
          <a:prstGeom prst="rect">
            <a:avLst/>
          </a:prstGeom>
          <a:noFill/>
        </p:spPr>
        <p:txBody>
          <a:bodyPr wrap="square" lIns="0" rIns="0" tIns="0" bIns="0" anchor="ctr">
            <a:spAutoFit/>
          </a:bodyPr>
          <a:lstStyle/>
          <a:p>
            <a:pPr algn="ctr"/>
            <a:r>
              <a:rPr sz="1400" b="1" i="0">
                <a:solidFill>
                  <a:srgbClr val="F6E6E9"/>
                </a:solidFill>
              </a:rPr>
              <a:t>One engine, every input: PVs or P&amp;L, by trade or by position, any currency, files or Kafka.</a:t>
            </a:r>
          </a:p>
        </p:txBody>
      </p:sp>
      <p:sp>
        <p:nvSpPr>
          <p:cNvPr id="27" name="TextBox 26"/>
          <p:cNvSpPr txBox="1"/>
          <p:nvPr/>
        </p:nvSpPr>
        <p:spPr>
          <a:xfrm>
            <a:off x="1234440" y="5257800"/>
            <a:ext cx="9720072" cy="274320"/>
          </a:xfrm>
          <a:prstGeom prst="rect">
            <a:avLst/>
          </a:prstGeom>
          <a:noFill/>
        </p:spPr>
        <p:txBody>
          <a:bodyPr wrap="square" lIns="0" rIns="0" tIns="0" bIns="0" anchor="ctr">
            <a:spAutoFit/>
          </a:bodyPr>
          <a:lstStyle/>
          <a:p>
            <a:pPr algn="ctr"/>
            <a:r>
              <a:rPr sz="1000" b="0" i="0">
                <a:solidFill>
                  <a:srgbClr val="E8C9CF"/>
                </a:solidFill>
              </a:rPr>
              <a:t>Copyright © 2026 Ashutosh Sinha. All rights reserved. Proprietary and confidential.</a:t>
            </a:r>
          </a:p>
        </p:txBody>
      </p:sp>
    </p:spTree>
  </p:cSld>
  <p:clrMapOvr>
    <a:masterClrMapping/>
  </p:clrMapOvr>
</p:sld>
</file>

<file path=ppt/theme/theme1.xml><?xml version="1.0" encoding="utf-8"?>
<a:theme xmlns:a="http://schemas.openxmlformats.org/drawingml/2006/main" name="Drishti Crimson">
  <a:themeElements>
    <a:clrScheme name="Drishti Crimson">
      <a:dk1>
        <a:srgbClr val="1A1A1A"/>
      </a:dk1>
      <a:lt1>
        <a:srgbClr val="FFFFFF"/>
      </a:lt1>
      <a:dk2>
        <a:srgbClr val="8A1626"/>
      </a:dk2>
      <a:lt2>
        <a:srgbClr val="F7F5F2"/>
      </a:lt2>
      <a:accent1>
        <a:srgbClr val="A51C30"/>
      </a:accent1>
      <a:accent2>
        <a:srgbClr val="6E1120"/>
      </a:accent2>
      <a:accent3>
        <a:srgbClr val="C4384B"/>
      </a:accent3>
      <a:accent4>
        <a:srgbClr val="293352"/>
      </a:accent4>
      <a:accent5>
        <a:srgbClr val="4A5058"/>
      </a:accent5>
      <a:accent6>
        <a:srgbClr val="E3DED7"/>
      </a:accent6>
      <a:hlink>
        <a:srgbClr val="A51C30"/>
      </a:hlink>
      <a:folHlink>
        <a:srgbClr val="6E1120"/>
      </a:folHlink>
    </a:clrScheme>
    <a:fontScheme name="Drishti Crims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Drishti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 VaR engine: architecture, data contract and how VaR works</dc:title>
  <dc:subject>Drishti 2.9.4 VaR engine and VaR UI</dc:subject>
  <dc:creator>Ashutosh Sinha</dc:creator>
  <cp:lastModifiedBy>Ashutosh Sinha</cp:lastModifiedBy>
  <cp:revision>1</cp:revision>
  <dcterms:created xsi:type="dcterms:W3CDTF">2026-10-07T03:43:45Z</dcterms:created>
  <dcterms:modified xsi:type="dcterms:W3CDTF">2026-10-07T03:43:45Z</dcterms:modified>
</cp:coreProperties>
</file>
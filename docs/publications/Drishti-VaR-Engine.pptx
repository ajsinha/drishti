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(2.9.4, branch worktree-agent-a090d127ed73d193a), docs/knowledge/market-risk.md, docs/tutorials/25-var-from-the-bank-to-a-trade.md, docs/architecture/IMPLEMENTATION_PLAN.md (2.9.4 section).</a:t>
            </a:r>
          </a:p>
          <a:p/>
          <a:p>
            <a:r>
              <a:t>Talk track: this deck explains the VaR engine that sits inside the Drishti server: what it computes, how the data reaches it, what the 2.9.4 release adds (scenario PVs in each trade's own currency, any reporting currency, intraday updates, JSONL as the delivery standard), what the console shows, and how it scales to a bank of 1.3 million positions and 100,000 portfolios.</a:t>
            </a:r>
          </a:p>
          <a:p/>
          <a:p>
            <a:r>
              <a:t>Status words used throughout: BUILT means in the code and tested (2.9.4 work is on local branches, not yet merged or released); BEING BUILT means decided by the product owner and in progress in 2.9.4 but not yet committed; DESIGNED means documented in the VaR guide but not built; PROPOSED means a recommendation of this deck, not yet in the docs.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PVs and P&amp;L vectors at trade grain and files are built (2.9.4 on a local branch); position grain, the self-describing record and Kafka are decided and being built in 2.9.4.</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the configurable root name, JSONL) is built and tested on local branches for the product owner's review, not merged. The Kafka stream and the configurable input grain (trade or position) are decided and being built.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green 0–4, amber 5–9, red 10+ exceptions in 250 days),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10-day VaR, stressed VaR, ES backtests.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both hierarchies, and published to risk-results/var-official (Delta, append-only) with a JSONL copy beside it. No engine reads risk-results back (a guard test).</a:t>
            </a:r>
          </a:p>
          <a:p/>
          <a:p>
            <a:r>
              <a:t>Status: the Kafka PV stream is being built in 2.9.4 (uncommitted at the time of writing); everything else on this slide is built (2.9.4 parts on local branches).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honestly: P&amp;L vectors by trade are as built since 2.8.0; scenario PVs by trade are built in 2.9.4 (local branch, VAR_GUIDE.md section 15.9); intraday files are built in 2.9.4 (section 8.4). Position grain (both forms), the self-describing record, the per-system pin and the Kafka stream are decided by the product owner and being built in 2.9.4: they are not on the branches yet, except the Kafka stream, which is in the worktree uncommitted. Today a bank can already send one row per position by using the position id as TRADE_ID (section 15.2).</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with a DRS code (not yet assigned).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(decided):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the product owner's 2.9.4 decision (not yet in the docs or the code at the time of writing, so labelled being built):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(decided):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are built in 2.9.4 (local branch); position grain for either form is decided and being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Kafka: the product owner's 2.9.4 decision (JSONL messages with one or more records, TRADE_ID per line, cancels as marked lines, a 5-minute micro-batch, configurable, early flush, an administrator's apply-now, one intraday batch per window in the lake, latest COMPUTED_AT wins).</a:t>
            </a:r>
          </a:p>
          <a:p/>
          <a:p>
            <a:r>
              <a:t>Honesty note on Kafka: the stream is being built on the local branch and is not committed yet. The work in progress (connector pv-updates, plugin var-pv-stream, off by default, DRISHTI_VAR_PV_STREAM=true; window DRISHTI_VAR_PV_WINDOW 5m; max-trades 500; GET /api/v1/var/intraday/streams and POST …/apply) currently reads one JSONL row per message keyed by TRADE_ID and treats a tombstone as a cancel; the decided form (one or more records per message, cancels as marked lines) is what this slide states. Its draft sizing: a message is 4–8 KB (509 numbers as JSON text), so 10,000 updates a day are 40–80 MB on the topic, and a window of a few hundred trades is written and applied in about a second.</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(in progress)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decided and being built in 2.9.4; the four canonical lines are on the Any input contract slide.</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and 5207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Vectors: 1,300,000 × 509 × 8 bytes = 5,293,600,000 B = 5.29 GB per date per currency in float64; float32 halves it to 2.65 GB. Hot file: VarTierBenchmark measured 237.7 MB per date for 100,000 trades (203.6 MB of float32 rows plus aggregates of 2,100 books and nodes, columns and ids), scaled × 13. Heap: about 80 MB per open date per 100,000 trades measured, × 13 ≈ 1.0 GB; with hot-dates 2 about 2.1 GB. First load: 0.8–1.2 s per 100,000 measured (the sort is n log n, so slightly more than linear), plus the lake read: the guide estimates 10 to 40 s for a cold whole-bank read of about 4 GB of Parquet on one server. Reopening: 23 ms per 100,000. Whole bank resident: 3.4 ms for 203.6 MB measured (≈ 60 GB/s), so 2.65 GB ≈ 45 ms; cold from NVMe at about 3 GB/s ≈ 0.9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Scaled × 13: ≈ 3.25 GB a currency, ≈ 13 GB a date for four, ≈ 65 GB for five dates, ≈ 56 s background build. (A figure of 1.6 GB per 100,000 trades for four currencies was mentioned in the brief; the guide says 1.0 GB per date, 5.0 GB over the 5 retained dates, so the guide's numbers are used.) USD hot files: disk-dates 60 × ≈ 3.1 GB ≈ 185 GB of local disk (lower disk-dates to need less). Lake: Parquet ≈ 0.75 × raw (the design's estimate), × 252 business dates ≈ 1.0 TB a year, ≈ 7 TB for the 7 years kept.</a:t>
            </a:r>
          </a:p>
          <a:p/>
          <a:p>
            <a:r>
              <a:t>100,000 portfolios: the cost of computing every portfolio's vector is the sum over portfolios of their position counts × 509. The average size is not known, so 130 positions is an assumption for illustration (13 million row reads, 26.5 GB of float32 rows). Sequential reads at the measured 60 GB/s give ≈ 0.45 s; scattered reads at the design's 5 GB/s effective give ≈ 5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100,000 × 509 × 8 B = 407 MB a date a currency, ≈ 2.0 GB for five currencies, half in float32 (proposed; today only captures keep a vector).</a:t>
            </a:r>
          </a:p>
          <a:p/>
          <a:p>
            <a:r>
              <a:t>Per-trade-currency totals: each node keeps, per trade currency, the 509 scenario PV sums and today's sum (510 float64 = 4 KB). With an assumed 5,000 nodes × 10 currencies on average: ≈ 204 MB. A headline in any currency is then a sum over the node's trade currencies of 509 multiply-adds: microseconds.</a:t>
            </a:r>
          </a:p>
          <a:p/>
          <a:p>
            <a:r>
              <a:t>Intraday per changed trade, in a four-level tree: its book aggregate and the nodes above it in MGMT and LEGAL (about 9 vectors), in USD and the 4 built currencies (≈ 45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1.3M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designed, not built; open question 7), section 29 (the vector grain, the four layouts compared: list&lt;double&gt; chosen; a fixed-length binary blob rejected for interoperability; deletion vectors avoided; the append-only daily snapshot), section 29.3 (Iceberg --store iceberg with the same list&lt;double&gt; column), section 30 (cubes and rule-portfolio vectors designed, kept in memory; the overnight precomputation not built), section 19 ('No vectors and no trade or position rows are published'; a publish to an s3:// root fails and is recorded as publishError),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1.3M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1.3M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raise the 100,000-row read limit for portfolios and nodes, and size max-parts (5,000) for contribution tables; (5) finish the position input grain and the Kafka stream (2.9.4); (6) official results to an s3:// root; several consoles without sticky sessions.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VaR; ES backtests; a bank's own hypothetical P&amp;L; the batch's due time and completeness; risk-position grouping; cubes and the overnight precomputation; the common risk lake); DATA_FORMATS.md (official results also as JSONL); IMPLEMENTATION_PLAN.md (2.9.4 built on a local branch for the product owner's review, not pushed or merged).</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any reporting currency, from the bank to a trade</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2.9.4 (local branches, for the product owner's review) · historical simulation, 509 scenario days</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How VaR works in Drishti</a:t>
            </a:r>
            <a:endParaRPr lang="en-US" sz="1200" dirty="0"/>
          </a:p>
          <a:p>
            <a:pPr indent="0" marL="0">
              <a:spcAft>
                <a:spcPts val="600"/>
              </a:spcAft>
              <a:buNone/>
            </a:pPr>
            <a:r>
              <a:rPr lang="en-US" sz="1200" b="1" dirty="0">
                <a:solidFill>
                  <a:srgbClr val="A51C30"/>
                </a:solidFill>
              </a:rPr>
              <a:t>2  Architecture and data flow</a:t>
            </a:r>
            <a:endParaRPr lang="en-US" sz="1200" dirty="0"/>
          </a:p>
          <a:p>
            <a:pPr indent="0" marL="0">
              <a:spcAft>
                <a:spcPts val="600"/>
              </a:spcAft>
              <a:buNone/>
            </a:pPr>
            <a:r>
              <a:rPr lang="en-US" sz="1200" b="1" dirty="0">
                <a:solidFill>
                  <a:srgbClr val="A51C30"/>
                </a:solidFill>
              </a:rPr>
              <a:t>3  Any input: PVs, P&amp;L, intraday, contracts</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The VaR UI and capabilities</a:t>
            </a:r>
            <a:endParaRPr lang="en-US" sz="1200" dirty="0"/>
          </a:p>
          <a:p>
            <a:pPr indent="0" marL="0">
              <a:spcAft>
                <a:spcPts val="600"/>
              </a:spcAft>
              <a:buNone/>
            </a:pPr>
            <a:r>
              <a:rPr lang="en-US" sz="1200" b="1" dirty="0">
                <a:solidFill>
                  <a:srgbClr val="A51C30"/>
                </a:solidFill>
              </a:rPr>
              <a:t>5  Scale, Delta Lake, scale-out</a:t>
            </a:r>
            <a:endParaRPr lang="en-US" sz="1200" dirty="0"/>
          </a:p>
          <a:p>
            <a:pPr indent="0" marL="0">
              <a:spcAft>
                <a:spcPts val="600"/>
              </a:spcAft>
              <a:buNone/>
            </a:pPr>
            <a:r>
              <a:rPr lang="en-US" sz="1200" b="1" dirty="0">
                <a:solidFill>
                  <a:srgbClr val="A51C30"/>
                </a:solidFill>
              </a:rPr>
              <a:t>6  Governance and roadmap</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2.9.4</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1691639" cy="457200"/>
          </a:xfrm>
          <a:prstGeom prst="rect">
            <a:avLst/>
          </a:prstGeom>
          <a:noFill/>
        </p:spPr>
        <p:txBody>
          <a:bodyPr wrap="square" lIns="0" rIns="0" tIns="0" bIns="0" anchor="ctr">
            <a:spAutoFit/>
          </a:bodyPr>
          <a:lstStyle/>
          <a:p>
            <a:pPr algn="l"/>
            <a:r>
              <a:rPr sz="2400" b="1" i="0">
                <a:solidFill>
                  <a:srgbClr val="8A1626"/>
                </a:solidFill>
              </a:rPr>
              <a:t>112.04m</a:t>
            </a:r>
          </a:p>
        </p:txBody>
      </p:sp>
      <p:sp>
        <p:nvSpPr>
          <p:cNvPr id="29" name="TextBox 28"/>
          <p:cNvSpPr txBox="1"/>
          <p:nvPr/>
        </p:nvSpPr>
        <p:spPr>
          <a:xfrm>
            <a:off x="960120" y="2011680"/>
            <a:ext cx="1691639" cy="493775"/>
          </a:xfrm>
          <a:prstGeom prst="rect">
            <a:avLst/>
          </a:prstGeom>
          <a:noFill/>
        </p:spPr>
        <p:txBody>
          <a:bodyPr wrap="square" lIns="0" rIns="0" tIns="0" bIns="0" anchor="t">
            <a:spAutoFit/>
          </a:bodyPr>
          <a:lstStyle/>
          <a:p>
            <a:pPr algn="l"/>
            <a:r>
              <a:rPr sz="1150" b="0" i="0">
                <a:solidFill>
                  <a:srgbClr val="4A5058"/>
                </a:solidFill>
              </a:rPr>
              <a:t>VaR 99%, 1 day, USD: the demo bank on 2026-09-30 (the 6th worst of 509)</a:t>
            </a:r>
          </a:p>
        </p:txBody>
      </p:sp>
      <p:sp>
        <p:nvSpPr>
          <p:cNvPr id="30" name="Rectangle 29"/>
          <p:cNvSpPr/>
          <p:nvPr/>
        </p:nvSpPr>
        <p:spPr>
          <a:xfrm>
            <a:off x="2944368"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2944368"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127248" y="1536192"/>
            <a:ext cx="1691639" cy="457200"/>
          </a:xfrm>
          <a:prstGeom prst="rect">
            <a:avLst/>
          </a:prstGeom>
          <a:noFill/>
        </p:spPr>
        <p:txBody>
          <a:bodyPr wrap="square" lIns="0" rIns="0" tIns="0" bIns="0" anchor="ctr">
            <a:spAutoFit/>
          </a:bodyPr>
          <a:lstStyle/>
          <a:p>
            <a:pPr algn="l"/>
            <a:r>
              <a:rPr sz="2400" b="1" i="0">
                <a:solidFill>
                  <a:srgbClr val="8A1626"/>
                </a:solidFill>
              </a:rPr>
              <a:t>160.14m</a:t>
            </a:r>
          </a:p>
        </p:txBody>
      </p:sp>
      <p:sp>
        <p:nvSpPr>
          <p:cNvPr id="33" name="TextBox 32"/>
          <p:cNvSpPr txBox="1"/>
          <p:nvPr/>
        </p:nvSpPr>
        <p:spPr>
          <a:xfrm>
            <a:off x="3127248" y="2011680"/>
            <a:ext cx="1691639" cy="493775"/>
          </a:xfrm>
          <a:prstGeom prst="rect">
            <a:avLst/>
          </a:prstGeom>
          <a:noFill/>
        </p:spPr>
        <p:txBody>
          <a:bodyPr wrap="square" lIns="0" rIns="0" tIns="0" bIns="0" anchor="t">
            <a:spAutoFit/>
          </a:bodyPr>
          <a:lstStyle/>
          <a:p>
            <a:pPr algn="l"/>
            <a:r>
              <a:rPr sz="1150" b="0" i="0">
                <a:solidFill>
                  <a:srgbClr val="4A5058"/>
                </a:solidFill>
              </a:rPr>
              <a:t>ES 97.5%, USD: the mean of the 13 worst scenario days</a:t>
            </a:r>
          </a:p>
        </p:txBody>
      </p:sp>
      <p:sp>
        <p:nvSpPr>
          <p:cNvPr id="34" name="Rectangle 33"/>
          <p:cNvSpPr/>
          <p:nvPr/>
        </p:nvSpPr>
        <p:spPr>
          <a:xfrm>
            <a:off x="5111496"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5111496"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5294376" y="1536192"/>
            <a:ext cx="1691639" cy="457200"/>
          </a:xfrm>
          <a:prstGeom prst="rect">
            <a:avLst/>
          </a:prstGeom>
          <a:noFill/>
        </p:spPr>
        <p:txBody>
          <a:bodyPr wrap="square" lIns="0" rIns="0" tIns="0" bIns="0" anchor="ctr">
            <a:spAutoFit/>
          </a:bodyPr>
          <a:lstStyle/>
          <a:p>
            <a:pPr algn="l"/>
            <a:r>
              <a:rPr sz="2400" b="1" i="0">
                <a:solidFill>
                  <a:srgbClr val="8A1626"/>
                </a:solidFill>
              </a:rPr>
              <a:t>509</a:t>
            </a:r>
          </a:p>
        </p:txBody>
      </p:sp>
      <p:sp>
        <p:nvSpPr>
          <p:cNvPr id="37" name="TextBox 36"/>
          <p:cNvSpPr txBox="1"/>
          <p:nvPr/>
        </p:nvSpPr>
        <p:spPr>
          <a:xfrm>
            <a:off x="5294376" y="2011680"/>
            <a:ext cx="1691639" cy="493775"/>
          </a:xfrm>
          <a:prstGeom prst="rect">
            <a:avLst/>
          </a:prstGeom>
          <a:noFill/>
        </p:spPr>
        <p:txBody>
          <a:bodyPr wrap="square" lIns="0" rIns="0" tIns="0" bIns="0" anchor="t">
            <a:spAutoFit/>
          </a:bodyPr>
          <a:lstStyle/>
          <a:p>
            <a:pPr algn="l"/>
            <a:r>
              <a:rPr sz="1150" b="0" i="0">
                <a:solidFill>
                  <a:srgbClr val="4A5058"/>
                </a:solidFill>
              </a:rPr>
              <a:t>historical scenario days (2024-09-17 to 2026-09-29), equal weights</a:t>
            </a:r>
          </a:p>
        </p:txBody>
      </p:sp>
      <p:sp>
        <p:nvSpPr>
          <p:cNvPr id="38" name="Rectangle 37"/>
          <p:cNvSpPr/>
          <p:nvPr/>
        </p:nvSpPr>
        <p:spPr>
          <a:xfrm>
            <a:off x="7278624"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278624"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7461504" y="1536192"/>
            <a:ext cx="1691639" cy="457200"/>
          </a:xfrm>
          <a:prstGeom prst="rect">
            <a:avLst/>
          </a:prstGeom>
          <a:noFill/>
        </p:spPr>
        <p:txBody>
          <a:bodyPr wrap="square" lIns="0" rIns="0" tIns="0" bIns="0" anchor="ctr">
            <a:spAutoFit/>
          </a:bodyPr>
          <a:lstStyle/>
          <a:p>
            <a:pPr algn="l"/>
            <a:r>
              <a:rPr sz="2400" b="1" i="0">
                <a:solidFill>
                  <a:srgbClr val="8A1626"/>
                </a:solidFill>
              </a:rPr>
              <a:t>9,572</a:t>
            </a:r>
          </a:p>
        </p:txBody>
      </p:sp>
      <p:sp>
        <p:nvSpPr>
          <p:cNvPr id="41" name="TextBox 40"/>
          <p:cNvSpPr txBox="1"/>
          <p:nvPr/>
        </p:nvSpPr>
        <p:spPr>
          <a:xfrm>
            <a:off x="7461504" y="2011680"/>
            <a:ext cx="1691639" cy="493775"/>
          </a:xfrm>
          <a:prstGeom prst="rect">
            <a:avLst/>
          </a:prstGeom>
          <a:noFill/>
        </p:spPr>
        <p:txBody>
          <a:bodyPr wrap="square" lIns="0" rIns="0" tIns="0" bIns="0" anchor="t">
            <a:spAutoFit/>
          </a:bodyPr>
          <a:lstStyle/>
          <a:p>
            <a:pPr algn="l"/>
            <a:r>
              <a:rPr sz="1150" b="0" i="0">
                <a:solidFill>
                  <a:srgbClr val="4A5058"/>
                </a:solidFill>
              </a:rPr>
              <a:t>live trades in 7,984 derived positions, 88 nodes, 28 portfolios</a:t>
            </a:r>
          </a:p>
        </p:txBody>
      </p:sp>
      <p:sp>
        <p:nvSpPr>
          <p:cNvPr id="42" name="Rectangle 41"/>
          <p:cNvSpPr/>
          <p:nvPr/>
        </p:nvSpPr>
        <p:spPr>
          <a:xfrm>
            <a:off x="9445752" y="1444752"/>
            <a:ext cx="1965960" cy="111556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9445752" y="1444752"/>
            <a:ext cx="45720" cy="11155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9628632" y="1536192"/>
            <a:ext cx="1691639" cy="457200"/>
          </a:xfrm>
          <a:prstGeom prst="rect">
            <a:avLst/>
          </a:prstGeom>
          <a:noFill/>
        </p:spPr>
        <p:txBody>
          <a:bodyPr wrap="square" lIns="0" rIns="0" tIns="0" bIns="0" anchor="ctr">
            <a:spAutoFit/>
          </a:bodyPr>
          <a:lstStyle/>
          <a:p>
            <a:pPr algn="l"/>
            <a:r>
              <a:rPr sz="2400" b="1" i="0">
                <a:solidFill>
                  <a:srgbClr val="8A1626"/>
                </a:solidFill>
              </a:rPr>
              <a:t>&lt; 1 ms</a:t>
            </a:r>
          </a:p>
        </p:txBody>
      </p:sp>
      <p:sp>
        <p:nvSpPr>
          <p:cNvPr id="45" name="TextBox 44"/>
          <p:cNvSpPr txBox="1"/>
          <p:nvPr/>
        </p:nvSpPr>
        <p:spPr>
          <a:xfrm>
            <a:off x="9628632" y="2011680"/>
            <a:ext cx="1691639" cy="493775"/>
          </a:xfrm>
          <a:prstGeom prst="rect">
            <a:avLst/>
          </a:prstGeom>
          <a:noFill/>
        </p:spPr>
        <p:txBody>
          <a:bodyPr wrap="square" lIns="0" rIns="0" tIns="0" bIns="0" anchor="t">
            <a:spAutoFit/>
          </a:bodyPr>
          <a:lstStyle/>
          <a:p>
            <a:pPr algn="l"/>
            <a:r>
              <a:rPr sz="1150" b="0" i="0">
                <a:solidFill>
                  <a:srgbClr val="4A5058"/>
                </a:solidFill>
              </a:rPr>
              <a:t>a node's VaR from its float64 aggregate; 572 ms to load the date</a:t>
            </a:r>
          </a:p>
        </p:txBody>
      </p:sp>
      <p:sp>
        <p:nvSpPr>
          <p:cNvPr id="46" name="Rectangle 45"/>
          <p:cNvSpPr/>
          <p:nvPr/>
        </p:nvSpPr>
        <p:spPr>
          <a:xfrm>
            <a:off x="777240" y="2724912"/>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941832" y="2724912"/>
            <a:ext cx="2103120" cy="676656"/>
          </a:xfrm>
          <a:prstGeom prst="rect">
            <a:avLst/>
          </a:prstGeom>
          <a:noFill/>
        </p:spPr>
        <p:txBody>
          <a:bodyPr wrap="square" lIns="0" rIns="0" tIns="0" bIns="0" anchor="ctr">
            <a:spAutoFit/>
          </a:bodyPr>
          <a:lstStyle/>
          <a:p>
            <a:pPr algn="l"/>
            <a:r>
              <a:rPr sz="1300" b="1" i="0">
                <a:solidFill>
                  <a:srgbClr val="8A1626"/>
                </a:solidFill>
              </a:rPr>
              <a:t>What is it?</a:t>
            </a:r>
          </a:p>
        </p:txBody>
      </p:sp>
      <p:sp>
        <p:nvSpPr>
          <p:cNvPr id="48" name="Rectangle 47"/>
          <p:cNvSpPr/>
          <p:nvPr/>
        </p:nvSpPr>
        <p:spPr>
          <a:xfrm>
            <a:off x="3154680" y="2724912"/>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3337560" y="2724912"/>
            <a:ext cx="7936992" cy="676656"/>
          </a:xfrm>
          <a:prstGeom prst="rect">
            <a:avLst/>
          </a:prstGeom>
          <a:noFill/>
        </p:spPr>
        <p:txBody>
          <a:bodyPr wrap="square" lIns="0" rIns="0" tIns="0" bIns="0" anchor="ctr">
            <a:spAutoFit/>
          </a:bodyPr>
          <a:lstStyle/>
          <a:p>
            <a:pPr algn="l"/>
            <a:r>
              <a:rPr sz="1200" b="0" i="0">
                <a:solidFill>
                  <a:srgbClr val="1A1A1A"/>
                </a:solidFill>
              </a:rPr>
              <a:t>A VaR engine inside the Drishti server: historical simulation over 509 scenario days, VaR 99% and ES 97.5% over 1 day, computed on demand for any set of trades: the bank, a legal entity, desk, book, position or trade, a stored portfolio, a rule, or a basket someone built.</a:t>
            </a:r>
          </a:p>
        </p:txBody>
      </p:sp>
      <p:sp>
        <p:nvSpPr>
          <p:cNvPr id="50" name="Rectangle 49"/>
          <p:cNvSpPr/>
          <p:nvPr/>
        </p:nvSpPr>
        <p:spPr>
          <a:xfrm>
            <a:off x="777240" y="3438144"/>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3438144"/>
            <a:ext cx="2103120" cy="676656"/>
          </a:xfrm>
          <a:prstGeom prst="rect">
            <a:avLst/>
          </a:prstGeom>
          <a:noFill/>
        </p:spPr>
        <p:txBody>
          <a:bodyPr wrap="square" lIns="0" rIns="0" tIns="0" bIns="0" anchor="ctr">
            <a:spAutoFit/>
          </a:bodyPr>
          <a:lstStyle/>
          <a:p>
            <a:pPr algn="l"/>
            <a:r>
              <a:rPr sz="1300" b="1" i="0">
                <a:solidFill>
                  <a:srgbClr val="FFFFFF"/>
                </a:solidFill>
              </a:rPr>
              <a:t>Every input</a:t>
            </a:r>
          </a:p>
        </p:txBody>
      </p:sp>
      <p:sp>
        <p:nvSpPr>
          <p:cNvPr id="52" name="Rectangle 51"/>
          <p:cNvSpPr/>
          <p:nvPr/>
        </p:nvSpPr>
        <p:spPr>
          <a:xfrm>
            <a:off x="3154680" y="3438144"/>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337560" y="3438144"/>
            <a:ext cx="7936992" cy="676656"/>
          </a:xfrm>
          <a:prstGeom prst="rect">
            <a:avLst/>
          </a:prstGeom>
          <a:noFill/>
        </p:spPr>
        <p:txBody>
          <a:bodyPr wrap="square" lIns="0" rIns="0" tIns="0" bIns="0" anchor="ctr">
            <a:spAutoFit/>
          </a:bodyPr>
          <a:lstStyle/>
          <a:p>
            <a:pPr algn="l"/>
            <a:r>
              <a:rPr sz="1250" b="1" i="0">
                <a:solidFill>
                  <a:srgbClr val="8A1626"/>
                </a:solidFill>
              </a:rPr>
              <a:t>One engine, every input: scenario PVs or path P&amp;L, by trade or by position, any currency, files or Kafka. Source systems keep their own formats; any reporting currency, five built ahead.</a:t>
            </a:r>
          </a:p>
        </p:txBody>
      </p:sp>
      <p:sp>
        <p:nvSpPr>
          <p:cNvPr id="54" name="Rectangle 53"/>
          <p:cNvSpPr/>
          <p:nvPr/>
        </p:nvSpPr>
        <p:spPr>
          <a:xfrm>
            <a:off x="777240" y="4151376"/>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941832" y="4151376"/>
            <a:ext cx="2103120" cy="676656"/>
          </a:xfrm>
          <a:prstGeom prst="rect">
            <a:avLst/>
          </a:prstGeom>
          <a:noFill/>
        </p:spPr>
        <p:txBody>
          <a:bodyPr wrap="square" lIns="0" rIns="0" tIns="0" bIns="0" anchor="ctr">
            <a:spAutoFit/>
          </a:bodyPr>
          <a:lstStyle/>
          <a:p>
            <a:pPr algn="l"/>
            <a:r>
              <a:rPr sz="1300" b="1" i="0">
                <a:solidFill>
                  <a:srgbClr val="8A1626"/>
                </a:solidFill>
              </a:rPr>
              <a:t>How does it work?</a:t>
            </a:r>
          </a:p>
        </p:txBody>
      </p:sp>
      <p:sp>
        <p:nvSpPr>
          <p:cNvPr id="56" name="Rectangle 55"/>
          <p:cNvSpPr/>
          <p:nvPr/>
        </p:nvSpPr>
        <p:spPr>
          <a:xfrm>
            <a:off x="3154680" y="4151376"/>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3337560" y="4151376"/>
            <a:ext cx="7936992" cy="676656"/>
          </a:xfrm>
          <a:prstGeom prst="rect">
            <a:avLst/>
          </a:prstGeom>
          <a:noFill/>
        </p:spPr>
        <p:txBody>
          <a:bodyPr wrap="square" lIns="0" rIns="0" tIns="0" bIns="0" anchor="ctr">
            <a:spAutoFit/>
          </a:bodyPr>
          <a:lstStyle/>
          <a:p>
            <a:pPr algn="l"/>
            <a:r>
              <a:rPr sz="1200" b="0" i="0">
                <a:solidFill>
                  <a:srgbClr val="1A1A1A"/>
                </a:solidFill>
              </a:rPr>
              <a:t>It never reprices. Every input becomes one internal form, a P&amp;L vector per row; a scope's vector is the sum of its trades' vectors, and VaR, ES and every contribution are read from that one vector.</a:t>
            </a:r>
          </a:p>
        </p:txBody>
      </p:sp>
      <p:sp>
        <p:nvSpPr>
          <p:cNvPr id="58" name="Rectangle 57"/>
          <p:cNvSpPr/>
          <p:nvPr/>
        </p:nvSpPr>
        <p:spPr>
          <a:xfrm>
            <a:off x="777240" y="4864608"/>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41832" y="4864608"/>
            <a:ext cx="2103120" cy="676656"/>
          </a:xfrm>
          <a:prstGeom prst="rect">
            <a:avLst/>
          </a:prstGeom>
          <a:noFill/>
        </p:spPr>
        <p:txBody>
          <a:bodyPr wrap="square" lIns="0" rIns="0" tIns="0" bIns="0" anchor="ctr">
            <a:spAutoFit/>
          </a:bodyPr>
          <a:lstStyle/>
          <a:p>
            <a:pPr algn="l"/>
            <a:r>
              <a:rPr sz="1300" b="1" i="0">
                <a:solidFill>
                  <a:srgbClr val="8A1626"/>
                </a:solidFill>
              </a:rPr>
              <a:t>Can I trust it?</a:t>
            </a:r>
          </a:p>
        </p:txBody>
      </p:sp>
      <p:sp>
        <p:nvSpPr>
          <p:cNvPr id="60" name="Rectangle 59"/>
          <p:cNvSpPr/>
          <p:nvPr/>
        </p:nvSpPr>
        <p:spPr>
          <a:xfrm>
            <a:off x="3154680" y="4864608"/>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3337560" y="4864608"/>
            <a:ext cx="7936992" cy="676656"/>
          </a:xfrm>
          <a:prstGeom prst="rect">
            <a:avLst/>
          </a:prstGeom>
          <a:noFill/>
        </p:spPr>
        <p:txBody>
          <a:bodyPr wrap="square" lIns="0" rIns="0" tIns="0" bIns="0" anchor="ctr">
            <a:spAutoFit/>
          </a:bodyPr>
          <a:lstStyle/>
          <a:p>
            <a:pPr algn="l"/>
            <a:r>
              <a:rPr sz="12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62" name="Rectangle 61"/>
          <p:cNvSpPr/>
          <p:nvPr/>
        </p:nvSpPr>
        <p:spPr>
          <a:xfrm>
            <a:off x="777240" y="5577840"/>
            <a:ext cx="2331720"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941832" y="5577840"/>
            <a:ext cx="2103120" cy="676656"/>
          </a:xfrm>
          <a:prstGeom prst="rect">
            <a:avLst/>
          </a:prstGeom>
          <a:noFill/>
        </p:spPr>
        <p:txBody>
          <a:bodyPr wrap="square" lIns="0" rIns="0" tIns="0" bIns="0" anchor="ctr">
            <a:spAutoFit/>
          </a:bodyPr>
          <a:lstStyle/>
          <a:p>
            <a:pPr algn="l"/>
            <a:r>
              <a:rPr sz="1300" b="1" i="0">
                <a:solidFill>
                  <a:srgbClr val="8A1626"/>
                </a:solidFill>
              </a:rPr>
              <a:t>Does it scale?</a:t>
            </a:r>
          </a:p>
        </p:txBody>
      </p:sp>
      <p:sp>
        <p:nvSpPr>
          <p:cNvPr id="64" name="Rectangle 63"/>
          <p:cNvSpPr/>
          <p:nvPr/>
        </p:nvSpPr>
        <p:spPr>
          <a:xfrm>
            <a:off x="3154680" y="5577840"/>
            <a:ext cx="8257032" cy="67665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3337560" y="5577840"/>
            <a:ext cx="7936992" cy="676656"/>
          </a:xfrm>
          <a:prstGeom prst="rect">
            <a:avLst/>
          </a:prstGeom>
          <a:noFill/>
        </p:spPr>
        <p:txBody>
          <a:bodyPr wrap="square" lIns="0" rIns="0" tIns="0" bIns="0" anchor="ctr">
            <a:spAutoFit/>
          </a:bodyPr>
          <a:lstStyle/>
          <a:p>
            <a:pPr algn="l"/>
            <a:r>
              <a:rPr sz="1200" b="0" i="0">
                <a:solidFill>
                  <a:srgbClr val="1A1A1A"/>
                </a:solidFill>
              </a:rPr>
              <a:t>Measured: 1 million trades summed in 58 ms (heap tier); 100,000 trades × 5 dates on the tiered store, a node in 0.48 ms. Sized for 1.3M positions and 100,000 portfolios on slides 11-12; sharding is designed, not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536192"/>
            <a:ext cx="1828800" cy="365760"/>
          </a:xfrm>
          <a:prstGeom prst="rect">
            <a:avLst/>
          </a:prstGeom>
          <a:noFill/>
        </p:spPr>
        <p:txBody>
          <a:bodyPr wrap="square" lIns="0" rIns="0" tIns="0" bIns="0" anchor="ctr">
            <a:spAutoFit/>
          </a:bodyPr>
          <a:lstStyle/>
          <a:p>
            <a:pPr algn="l"/>
            <a:r>
              <a:rPr sz="1300" b="1" i="0">
                <a:solidFill>
                  <a:srgbClr val="8A1626"/>
                </a:solidFill>
              </a:rPr>
              <a:t>A P&amp;L vector per trade</a:t>
            </a:r>
          </a:p>
        </p:txBody>
      </p:sp>
      <p:sp>
        <p:nvSpPr>
          <p:cNvPr id="29" name="TextBox 28"/>
          <p:cNvSpPr txBox="1"/>
          <p:nvPr/>
        </p:nvSpPr>
        <p:spPr>
          <a:xfrm>
            <a:off x="905256" y="1901952"/>
            <a:ext cx="2231136" cy="512064"/>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536192"/>
            <a:ext cx="1828800" cy="365760"/>
          </a:xfrm>
          <a:prstGeom prst="rect">
            <a:avLst/>
          </a:prstGeom>
          <a:noFill/>
        </p:spPr>
        <p:txBody>
          <a:bodyPr wrap="square" lIns="0" rIns="0" tIns="0" bIns="0" anchor="ctr">
            <a:spAutoFit/>
          </a:bodyPr>
          <a:lstStyle/>
          <a:p>
            <a:pPr algn="l"/>
            <a:r>
              <a:rPr sz="1300" b="1" i="0">
                <a:solidFill>
                  <a:srgbClr val="8A1626"/>
                </a:solidFill>
              </a:rPr>
              <a:t>Add the scope's vectors</a:t>
            </a:r>
          </a:p>
        </p:txBody>
      </p:sp>
      <p:sp>
        <p:nvSpPr>
          <p:cNvPr id="34" name="TextBox 33"/>
          <p:cNvSpPr txBox="1"/>
          <p:nvPr/>
        </p:nvSpPr>
        <p:spPr>
          <a:xfrm>
            <a:off x="3639312" y="1901952"/>
            <a:ext cx="2231136" cy="512064"/>
          </a:xfrm>
          <a:prstGeom prst="rect">
            <a:avLst/>
          </a:prstGeom>
          <a:noFill/>
        </p:spPr>
        <p:txBody>
          <a:bodyPr wrap="square" lIns="0" rIns="0" tIns="0" bIns="0" anchor="t">
            <a:spAutoFit/>
          </a:bodyPr>
          <a:lstStyle/>
          <a:p>
            <a:pPr algn="l"/>
            <a:r>
              <a:rPr sz="1100" b="0" i="0">
                <a:solidFill>
                  <a:srgbClr val="4A5058"/>
                </a:solidFill>
              </a:rPr>
              <a:t>any scope is a set of trades; overlaps count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536192"/>
            <a:ext cx="1828800" cy="365760"/>
          </a:xfrm>
          <a:prstGeom prst="rect">
            <a:avLst/>
          </a:prstGeom>
          <a:noFill/>
        </p:spPr>
        <p:txBody>
          <a:bodyPr wrap="square" lIns="0" rIns="0" tIns="0" bIns="0" anchor="ctr">
            <a:spAutoFit/>
          </a:bodyPr>
          <a:lstStyle/>
          <a:p>
            <a:pPr algn="l"/>
            <a:r>
              <a:rPr sz="1300" b="1" i="0">
                <a:solidFill>
                  <a:srgbClr val="8A1626"/>
                </a:solidFill>
              </a:rPr>
              <a:t>Sort the 509 P&amp;Ls</a:t>
            </a:r>
          </a:p>
        </p:txBody>
      </p:sp>
      <p:sp>
        <p:nvSpPr>
          <p:cNvPr id="39" name="TextBox 38"/>
          <p:cNvSpPr txBox="1"/>
          <p:nvPr/>
        </p:nvSpPr>
        <p:spPr>
          <a:xfrm>
            <a:off x="6373368" y="1901952"/>
            <a:ext cx="2231136" cy="512064"/>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987552"/>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536192"/>
            <a:ext cx="1828800" cy="365760"/>
          </a:xfrm>
          <a:prstGeom prst="rect">
            <a:avLst/>
          </a:prstGeom>
          <a:noFill/>
        </p:spPr>
        <p:txBody>
          <a:bodyPr wrap="square" lIns="0" rIns="0" tIns="0" bIns="0" anchor="ctr">
            <a:spAutoFit/>
          </a:bodyPr>
          <a:lstStyle/>
          <a:p>
            <a:pPr algn="l"/>
            <a:r>
              <a:rPr sz="1300" b="1" i="0">
                <a:solidFill>
                  <a:srgbClr val="8A1626"/>
                </a:solidFill>
              </a:rPr>
              <a:t>Read the tail</a:t>
            </a:r>
          </a:p>
        </p:txBody>
      </p:sp>
      <p:sp>
        <p:nvSpPr>
          <p:cNvPr id="44" name="TextBox 43"/>
          <p:cNvSpPr txBox="1"/>
          <p:nvPr/>
        </p:nvSpPr>
        <p:spPr>
          <a:xfrm>
            <a:off x="9107424" y="1901952"/>
            <a:ext cx="2231136" cy="512064"/>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20640"/>
            <a:ext cx="1069848" cy="45720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20640"/>
            <a:ext cx="1069848" cy="45720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20640"/>
            <a:ext cx="1069848" cy="45720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20640"/>
            <a:ext cx="1069848" cy="45720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1051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20640"/>
            <a:ext cx="1069848" cy="45720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669280"/>
            <a:ext cx="6400800" cy="502920"/>
          </a:xfrm>
          <a:prstGeom prst="rect">
            <a:avLst/>
          </a:prstGeom>
          <a:noFill/>
        </p:spPr>
        <p:txBody>
          <a:bodyPr wrap="square" lIns="0" rIns="0" tIns="0" bIns="0" anchor="t">
            <a:spAutoFit/>
          </a:bodyPr>
          <a:lstStyle/>
          <a:p>
            <a:pPr algn="l"/>
            <a:r>
              <a:rPr sz="1100" b="0" i="1">
                <a:solidFill>
                  <a:srgbClr val="4A5058"/>
                </a:solidFill>
              </a:rPr>
              <a:t>At N = 509 the same steps use the 6th worst for VaR, the 13 worst for ES and ranks 4 to 8 for components. Java (VarMath) and Python (drishti_compute.var) are tested on exactly these numbers.</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3017520"/>
        </p:xfrm>
        <a:graphic>
          <a:graphicData uri="http://schemas.openxmlformats.org/drawingml/2006/table">
            <a:tbl>
              <a:tblPr firstRow="0" bandRow="0">
                <a:tableStyleId>{5940675A-B579-460E-94D1-54222C63F5DA}</a:tableStyleId>
              </a:tblPr>
              <a:tblGrid>
                <a:gridCol w="1298448"/>
                <a:gridCol w="2660904"/>
              </a:tblGrid>
              <a:tr h="301752">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100" b="1" i="0">
                          <a:solidFill>
                            <a:srgbClr val="8A1626"/>
                          </a:solidFill>
                        </a:rPr>
                        <a:t>Backtest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250 days, Basel light, Kupiec, Christoffersen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 (DELTA)</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only (RUN_KIND INTRADAY): small JSONL files, or a Kafka PV topic, 5-min micro-batches</a:t>
            </a:r>
          </a:p>
        </p:txBody>
      </p:sp>
      <p:sp>
        <p:nvSpPr>
          <p:cNvPr id="41" name="Rounded Rectangle 40"/>
          <p:cNvSpPr/>
          <p:nvPr/>
        </p:nvSpPr>
        <p:spPr>
          <a:xfrm>
            <a:off x="886968" y="4983480"/>
            <a:ext cx="87325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BEING BUILT</a:t>
            </a:r>
          </a:p>
        </p:txBody>
      </p:sp>
      <p:sp>
        <p:nvSpPr>
          <p:cNvPr id="42" name="TextBox 41"/>
          <p:cNvSpPr txBox="1"/>
          <p:nvPr/>
        </p:nvSpPr>
        <p:spPr>
          <a:xfrm>
            <a:off x="183337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200" b="1" i="0">
                <a:solidFill>
                  <a:srgbClr val="8A1626"/>
                </a:solidFill>
              </a:rPr>
              <a:t>Delta · domain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wins; no reload of the date</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Delta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87325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BEING 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87325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BEING 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5-min window (configurable), early flush, Apply now</a:t>
            </a:r>
          </a:p>
        </p:txBody>
      </p:sp>
      <p:sp>
        <p:nvSpPr>
          <p:cNvPr id="54" name="Rounded Rectangle 53"/>
          <p:cNvSpPr/>
          <p:nvPr/>
        </p:nvSpPr>
        <p:spPr>
          <a:xfrm>
            <a:off x="10447020" y="2395728"/>
            <a:ext cx="87325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BEING 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only,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source system sends its own form and grain; systems mix on one date.</a:t>
            </a:r>
          </a:p>
          <a:p>
            <a:pPr algn="l" marL="146304" indent="-146304">
              <a:buClr>
                <a:srgbClr val="A51C30"/>
              </a:buClr>
              <a:buSzPct val="100000"/>
              <a:buFont typeface="Arial"/>
              <a:buChar char="▪"/>
            </a:pPr>
            <a:r>
              <a:rPr sz="1150" b="0" i="0">
                <a:solidFill>
                  <a:srgbClr val="1A1A1A"/>
                </a:solidFill>
              </a:rPr>
              <a:t>A system may switch from one day to the next; each date loads from what it holds.</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no double counting</a:t>
            </a:r>
          </a:p>
          <a:p>
            <a:pPr algn="l" marL="146304" indent="-146304">
              <a:spcAft>
                <a:spcPts val="200"/>
              </a:spcAft>
              <a:buClr>
                <a:srgbClr val="A51C30"/>
              </a:buClr>
              <a:buSzPct val="100000"/>
              <a:buFont typeface="Arial"/>
              <a:buChar char="▪"/>
            </a:pPr>
            <a:r>
              <a:rPr sz="1150" b="0" i="0">
                <a:solidFill>
                  <a:srgbClr val="1A1A1A"/>
                </a:solidFill>
              </a:rPr>
              <a:t>A record that disagrees with its pin, or fails a check, is refused with a DRS code</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each trade's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 as decided</a:t>
            </a:r>
          </a:p>
          <a:p>
            <a:pPr algn="l" marL="146304" indent="-146304">
              <a:spcAft>
                <a:spcPts val="300"/>
              </a:spcAft>
              <a:buClr>
                <a:srgbClr val="A51C30"/>
              </a:buClr>
              <a:buSzPct val="100000"/>
              <a:buFont typeface="Arial"/>
              <a:buChar char="▪"/>
            </a:pPr>
            <a:r>
              <a:rPr sz="1200" b="0" i="0">
                <a:solidFill>
                  <a:srgbClr val="1A1A1A"/>
                </a:solidFill>
              </a:rPr>
              <a:t>Pricing systems send each trade's 509 scenario PVs and base PV in the trade's own currency (</a:t>
            </a:r>
            <a:r>
              <a:rPr sz="1100" b="0" i="0">
                <a:solidFill>
                  <a:srgbClr val="1A1A1A"/>
                </a:solidFill>
                <a:latin typeface="Courier New"/>
              </a:rPr>
              <a:t>scenario-pv</a:t>
            </a:r>
            <a:r>
              <a:rPr sz="1200" b="0" i="0">
                <a:solidFill>
                  <a:srgbClr val="1A1A1A"/>
                </a:solidFill>
              </a:rPr>
              <a:t>). The USD P&amp;L-vector form stays supported; a date may mix both, a trade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trade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the changed trades,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the date loads, hot file built;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trades</a:t>
            </a:r>
          </a:p>
          <a:p>
            <a:pPr algn="l"/>
            <a:r>
              <a:rPr sz="1100" b="0" i="0">
                <a:solidFill>
                  <a:srgbClr val="4A5058"/>
                </a:solidFill>
              </a:rPr>
              <a:t>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(MGMT and LEGAL),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87325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BEING BUILT</a:t>
            </a:r>
          </a:p>
        </p:txBody>
      </p:sp>
      <p:sp>
        <p:nvSpPr>
          <p:cNvPr id="43" name="TextBox 42"/>
          <p:cNvSpPr txBox="1"/>
          <p:nvPr/>
        </p:nvSpPr>
        <p:spPr>
          <a:xfrm>
            <a:off x="6259068" y="2816352"/>
            <a:ext cx="1097280" cy="237744"/>
          </a:xfrm>
          <a:prstGeom prst="rect">
            <a:avLst/>
          </a:prstGeom>
          <a:noFill/>
        </p:spPr>
        <p:txBody>
          <a:bodyPr wrap="square" lIns="0" rIns="0" tIns="0" bIns="0" anchor="ctr">
            <a:spAutoFit/>
          </a:bodyPr>
          <a:lstStyle/>
          <a:p>
            <a:pPr algn="l"/>
            <a:r>
              <a:rPr sz="1100" b="1" i="0">
                <a:solidFill>
                  <a:srgbClr val="293352"/>
                </a:solidFill>
              </a:rPr>
              <a:t>Kafka</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in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trade 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decided for 2.9.4</a:t>
            </a:r>
          </a:p>
          <a:p>
            <a:pPr algn="l" marL="146304" indent="-146304">
              <a:spcAft>
                <a:spcPts val="200"/>
              </a:spcAft>
              <a:buClr>
                <a:srgbClr val="293352"/>
              </a:buClr>
              <a:buSzPct val="100000"/>
              <a:buFont typeface="Arial"/>
              <a:buChar char="▪"/>
            </a:pPr>
            <a:r>
              <a:rPr sz="1150" b="0" i="0">
                <a:solidFill>
                  <a:srgbClr val="1A1A1A"/>
                </a:solidFill>
              </a:rPr>
              <a:t>JSONL payloads: one or more records per message, TRADE_ID on every line, a cancel as a marked line</a:t>
            </a:r>
          </a:p>
          <a:p>
            <a:pPr algn="l" marL="146304" indent="-146304">
              <a:spcAft>
                <a:spcPts val="200"/>
              </a:spcAft>
              <a:buClr>
                <a:srgbClr val="293352"/>
              </a:buClr>
              <a:buSzPct val="100000"/>
              <a:buFont typeface="Arial"/>
              <a:buChar char="▪"/>
            </a:pPr>
            <a:r>
              <a:rPr sz="1150" b="0" i="0">
                <a:solidFill>
                  <a:srgbClr val="1A1A1A"/>
                </a:solidFill>
              </a:rPr>
              <a:t>Micro-batch window 5 min (configurable); early flush at max-trades;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trades changed × nodes above × currencies built, never the size of the 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trade; its LE, desk,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PV-&lt;trade&gt;-HS-509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MGMT/LEGAL; bank…book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87325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BEING BUILT</a:t>
            </a:r>
          </a:p>
        </p:txBody>
      </p:sp>
      <p:sp>
        <p:nvSpPr>
          <p:cNvPr id="47" name="TextBox 46"/>
          <p:cNvSpPr txBox="1"/>
          <p:nvPr/>
        </p:nvSpPr>
        <p:spPr>
          <a:xfrm>
            <a:off x="1879092" y="5102352"/>
            <a:ext cx="9441180" cy="548640"/>
          </a:xfrm>
          <a:prstGeom prst="rect">
            <a:avLst/>
          </a:prstGeom>
          <a:noFill/>
        </p:spPr>
        <p:txBody>
          <a:bodyPr wrap="square" lIns="0" rIns="0" tIns="0" bIns="0" anchor="ctr">
            <a:spAutoFit/>
          </a:bodyPr>
          <a:lstStyle/>
          <a:p>
            <a:pPr algn="l"/>
            <a:r>
              <a:rPr sz="1150" b="1" i="0">
                <a:solidFill>
                  <a:srgbClr val="293352"/>
                </a:solidFill>
              </a:rPr>
              <a:t>On every record from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00" b="0" i="0">
                <a:solidFill>
                  <a:srgbClr val="4A5058"/>
                </a:solidFill>
              </a:rPr>
              <a:t>  (the endorsed record says PVS and BOOK for SCENARIO_PV and TT_BOOK).</a:t>
            </a:r>
          </a:p>
        </p:txBody>
      </p:sp>
      <p:sp>
        <p:nvSpPr>
          <p:cNvPr id="48" name="Rectangle 47"/>
          <p:cNvSpPr/>
          <p:nvPr/>
        </p:nvSpPr>
        <p:spPr>
          <a:xfrm>
            <a:off x="777240" y="5760720"/>
            <a:ext cx="171145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60172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row out: length, NaN</a:t>
            </a:r>
          </a:p>
        </p:txBody>
      </p:sp>
      <p:sp>
        <p:nvSpPr>
          <p:cNvPr id="50" name="Rectangle 49"/>
          <p:cNvSpPr/>
          <p:nvPr/>
        </p:nvSpPr>
        <p:spPr>
          <a:xfrm>
            <a:off x="2561844" y="5760720"/>
            <a:ext cx="171145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634996" y="5779007"/>
            <a:ext cx="160172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trade out: PV failed</a:t>
            </a:r>
          </a:p>
        </p:txBody>
      </p:sp>
      <p:sp>
        <p:nvSpPr>
          <p:cNvPr id="52" name="Rectangle 51"/>
          <p:cNvSpPr/>
          <p:nvPr/>
        </p:nvSpPr>
        <p:spPr>
          <a:xfrm>
            <a:off x="4346448" y="5760720"/>
            <a:ext cx="171145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419600" y="5779007"/>
            <a:ext cx="160172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trade out: no FX</a:t>
            </a:r>
          </a:p>
        </p:txBody>
      </p:sp>
      <p:sp>
        <p:nvSpPr>
          <p:cNvPr id="54" name="Rectangle 53"/>
          <p:cNvSpPr/>
          <p:nvPr/>
        </p:nvSpPr>
        <p:spPr>
          <a:xfrm>
            <a:off x="6131052" y="5760720"/>
            <a:ext cx="171145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6204204" y="5779007"/>
            <a:ext cx="160172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 date out</a:t>
            </a:r>
          </a:p>
        </p:txBody>
      </p:sp>
      <p:sp>
        <p:nvSpPr>
          <p:cNvPr id="56" name="Rectangle 55"/>
          <p:cNvSpPr/>
          <p:nvPr/>
        </p:nvSpPr>
        <p:spPr>
          <a:xfrm>
            <a:off x="7915656" y="5760720"/>
            <a:ext cx="171145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7988808" y="5779007"/>
            <a:ext cx="160172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 date out</a:t>
            </a:r>
          </a:p>
        </p:txBody>
      </p:sp>
      <p:sp>
        <p:nvSpPr>
          <p:cNvPr id="58" name="Rectangle 57"/>
          <p:cNvSpPr/>
          <p:nvPr/>
        </p:nvSpPr>
        <p:spPr>
          <a:xfrm>
            <a:off x="9700260" y="5760720"/>
            <a:ext cx="171145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773412" y="5779007"/>
            <a:ext cx="1601724" cy="457200"/>
          </a:xfrm>
          <a:prstGeom prst="rect">
            <a:avLst/>
          </a:prstGeom>
          <a:noFill/>
        </p:spPr>
        <p:txBody>
          <a:bodyPr wrap="square" lIns="0" rIns="0" tIns="0" bIns="0" anchor="ctr">
            <a:spAutoFit/>
          </a:bodyPr>
          <a:lstStyle/>
          <a:p>
            <a:pPr algn="l"/>
            <a:r>
              <a:rPr sz="1000" b="1" i="0">
                <a:solidFill>
                  <a:srgbClr val="A51C30"/>
                </a:solidFill>
                <a:latin typeface="Courier New"/>
              </a:rPr>
              <a:t>DRS-5204</a:t>
            </a:r>
          </a:p>
          <a:p>
            <a:pPr algn="l"/>
            <a:r>
              <a:rPr sz="1000" b="0" i="0">
                <a:solidFill>
                  <a:srgbClr val="1A1A1A"/>
                </a:solidFill>
              </a:rPr>
              <a:t>over memory budget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or LEGAL tree with VaR, ES and limit bars; VaR, ES, sum of standalone, diversification, limit use, backtest light.</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trades,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 or Iceberg</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hot rows float32 (2,036 B); every sum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trades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Iceberg, S3</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1.3 MILLION POSITIONS, 100,000 PORTFOLIOS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377440"/>
                <a:gridCol w="2194560"/>
                <a:gridCol w="141732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3.1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10–16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0.3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2.65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45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2.65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13 GB × 5; 4.3 s per 100k ×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65 GB; ≈ 56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3.1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185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5.29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 TB; ≈ 7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100,000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At 130 positions each (assumed): 13M rows, 26.5 GB of float32 → ≈ 0.45 s at 60 GB/s, ≈ 5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100k × 509 × 8 B = 407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nodes × 10 ≈ 204 MB (assumed shape).</a:t>
            </a:r>
          </a:p>
          <a:p>
            <a:pPr algn="l" marL="146304" indent="-146304">
              <a:spcAft>
                <a:spcPts val="300"/>
              </a:spcAft>
              <a:buClr>
                <a:srgbClr val="A51C30"/>
              </a:buClr>
              <a:buSzPct val="100000"/>
              <a:buFont typeface="Arial"/>
              <a:buChar char="▪"/>
            </a:pPr>
            <a:r>
              <a:rPr sz="1150" b="0" i="0">
                <a:solidFill>
                  <a:srgbClr val="1A1A1A"/>
                </a:solidFill>
              </a:rPr>
              <a:t>Per changed trade: ≈ 9 node vectors × 5 currency books ≈ 45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(being built) keeps rows = positions: no trade matrix in the hot file. </a:t>
            </a:r>
            <a:r>
              <a:rPr sz="1100" b="0" i="1">
                <a:solidFill>
                  <a:srgbClr val="4A5058"/>
                </a:solidFill>
              </a:rPr>
              <a:t>Estimated = scaled linearly from the measured 100,000-trade figures (VAR_GUIDE 27.3, 15.11); not measured at 1.3M.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794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79476"/>
          </a:xfrm>
          <a:prstGeom prst="rect">
            <a:avLst/>
          </a:prstGeom>
          <a:noFill/>
        </p:spPr>
        <p:txBody>
          <a:bodyPr wrap="square" lIns="0" rIns="0" tIns="0" bIns="0" anchor="ctr">
            <a:spAutoFit/>
          </a:bodyPr>
          <a:lstStyle/>
          <a:p>
            <a:pPr algn="l"/>
            <a:r>
              <a:rPr sz="1150" b="1" i="0">
                <a:solidFill>
                  <a:srgbClr val="8A1626"/>
                </a:solidFill>
              </a:rPr>
              <a:t>Partition by business_date</a:t>
            </a:r>
          </a:p>
          <a:p>
            <a:pPr algn="l"/>
            <a:r>
              <a:rPr sz="1050" b="0" i="0">
                <a:solidFill>
                  <a:srgbClr val="4A5058"/>
                </a:solidFill>
              </a:rPr>
              <a:t>a full run replaces its date; intraday batches append</a:t>
            </a:r>
          </a:p>
        </p:txBody>
      </p:sp>
      <p:sp>
        <p:nvSpPr>
          <p:cNvPr id="28" name="Rounded Rectangle 27"/>
          <p:cNvSpPr/>
          <p:nvPr/>
        </p:nvSpPr>
        <p:spPr>
          <a:xfrm>
            <a:off x="6213348" y="150647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828800"/>
            <a:ext cx="5989320" cy="3794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828800"/>
            <a:ext cx="4800600" cy="379476"/>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91795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240280"/>
            <a:ext cx="5989320" cy="3794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240280"/>
            <a:ext cx="4800600" cy="379476"/>
          </a:xfrm>
          <a:prstGeom prst="rect">
            <a:avLst/>
          </a:prstGeom>
          <a:noFill/>
        </p:spPr>
        <p:txBody>
          <a:bodyPr wrap="square" lIns="0" rIns="0" tIns="0" bIns="0" anchor="ctr">
            <a:spAutoFit/>
          </a:bodyPr>
          <a:lstStyle/>
          <a:p>
            <a:pPr algn="l"/>
            <a:r>
              <a:rPr sz="1150" b="1" i="0">
                <a:solidFill>
                  <a:srgbClr val="8A1626"/>
                </a:solidFill>
              </a:rPr>
              <a:t>Time travel 7 years; restatement = new commit</a:t>
            </a:r>
          </a:p>
          <a:p>
            <a:pPr algn="l"/>
            <a:r>
              <a:rPr sz="1050" b="0" i="0">
                <a:solidFill>
                  <a:srgbClr val="4A5058"/>
                </a:solidFill>
              </a:rPr>
              <a:t>reproduce any official number</a:t>
            </a:r>
          </a:p>
        </p:txBody>
      </p:sp>
      <p:sp>
        <p:nvSpPr>
          <p:cNvPr id="34" name="Rounded Rectangle 33"/>
          <p:cNvSpPr/>
          <p:nvPr/>
        </p:nvSpPr>
        <p:spPr>
          <a:xfrm>
            <a:off x="6213348" y="232943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651760"/>
            <a:ext cx="5989320" cy="3794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651760"/>
            <a:ext cx="4800600" cy="379476"/>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7" name="Rounded Rectangle 36"/>
          <p:cNvSpPr/>
          <p:nvPr/>
        </p:nvSpPr>
        <p:spPr>
          <a:xfrm>
            <a:off x="6213348" y="274091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8" name="Rectangle 37"/>
          <p:cNvSpPr/>
          <p:nvPr/>
        </p:nvSpPr>
        <p:spPr>
          <a:xfrm>
            <a:off x="777240" y="3063239"/>
            <a:ext cx="5989320" cy="3794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3063239"/>
            <a:ext cx="4800600" cy="379476"/>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40" name="Rounded Rectangle 39"/>
          <p:cNvSpPr/>
          <p:nvPr/>
        </p:nvSpPr>
        <p:spPr>
          <a:xfrm>
            <a:off x="6007608" y="3152394"/>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41" name="Rectangle 40"/>
          <p:cNvSpPr/>
          <p:nvPr/>
        </p:nvSpPr>
        <p:spPr>
          <a:xfrm>
            <a:off x="777240" y="3474720"/>
            <a:ext cx="5989320" cy="3794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474720"/>
            <a:ext cx="4800600" cy="379476"/>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3" name="Rounded Rectangle 42"/>
          <p:cNvSpPr/>
          <p:nvPr/>
        </p:nvSpPr>
        <p:spPr>
          <a:xfrm>
            <a:off x="6007608" y="356387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886200"/>
            <a:ext cx="5989320" cy="3794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886200"/>
            <a:ext cx="4800600" cy="379476"/>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1.3M rows</a:t>
            </a:r>
          </a:p>
        </p:txBody>
      </p:sp>
      <p:sp>
        <p:nvSpPr>
          <p:cNvPr id="46" name="Rounded Rectangle 45"/>
          <p:cNvSpPr/>
          <p:nvPr/>
        </p:nvSpPr>
        <p:spPr>
          <a:xfrm>
            <a:off x="6007608" y="397535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297679"/>
            <a:ext cx="5989320" cy="3794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297679"/>
            <a:ext cx="4800600" cy="379476"/>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9" name="Rounded Rectangle 48"/>
          <p:cNvSpPr/>
          <p:nvPr/>
        </p:nvSpPr>
        <p:spPr>
          <a:xfrm>
            <a:off x="6007608" y="4386833"/>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0" name="Rectangle 49"/>
          <p:cNvSpPr/>
          <p:nvPr/>
        </p:nvSpPr>
        <p:spPr>
          <a:xfrm>
            <a:off x="777240" y="4709159"/>
            <a:ext cx="5989320" cy="3794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709159"/>
            <a:ext cx="4800600" cy="379476"/>
          </a:xfrm>
          <a:prstGeom prst="rect">
            <a:avLst/>
          </a:prstGeom>
          <a:noFill/>
        </p:spPr>
        <p:txBody>
          <a:bodyPr wrap="square" lIns="0" rIns="0" tIns="0" bIns="0" anchor="ctr">
            <a:spAutoFit/>
          </a:bodyPr>
          <a:lstStyle/>
          <a:p>
            <a:pPr algn="l"/>
            <a:r>
              <a:rPr sz="1150" b="1" i="0">
                <a:solidFill>
                  <a:srgbClr val="8A1626"/>
                </a:solidFill>
              </a:rPr>
              <a:t>Delta on S3; Iceberg with the same column</a:t>
            </a:r>
          </a:p>
          <a:p>
            <a:pPr algn="l"/>
            <a:r>
              <a:rPr sz="1050" b="0" i="0">
                <a:solidFill>
                  <a:srgbClr val="4A5058"/>
                </a:solidFill>
              </a:rPr>
              <a:t>S3 reading built; VaR publish to s3:// not yet</a:t>
            </a:r>
          </a:p>
        </p:txBody>
      </p:sp>
      <p:sp>
        <p:nvSpPr>
          <p:cNvPr id="52" name="Rounded Rectangle 51"/>
          <p:cNvSpPr/>
          <p:nvPr/>
        </p:nvSpPr>
        <p:spPr>
          <a:xfrm>
            <a:off x="6213348" y="479831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3" name="Rectangle 52"/>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4" name="Connector 53"/>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57" name="Rounded Rectangle 56"/>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58" name="Connector 57"/>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1" name="Rectangle 60"/>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TextBox 61"/>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3" name="Rectangle 62"/>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4" name="Connector 63"/>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6" name="Connector 65"/>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68" name="Connector 67"/>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Rounded Rectangle 68"/>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0" name="TextBox 69"/>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1" name="Rectangle 70"/>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3" name="Rounded Rectangle 72"/>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4" name="Rectangle 73"/>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6" name="Rounded Rectangle 75"/>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77" name="Connector 76"/>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Rectangle 77"/>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(local, EFS or S3) · 7 years</a:t>
            </a:r>
          </a:p>
        </p:txBody>
      </p:sp>
      <p:sp>
        <p:nvSpPr>
          <p:cNvPr id="79" name="Rectangle 78"/>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Rectangle 79"/>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1" name="TextBox 80"/>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1.3M positions and 100,000 portfolios, still to build</a:t>
            </a:r>
          </a:p>
        </p:txBody>
      </p:sp>
      <p:sp>
        <p:nvSpPr>
          <p:cNvPr id="82" name="TextBox 81"/>
          <p:cNvSpPr txBox="1"/>
          <p:nvPr/>
        </p:nvSpPr>
        <p:spPr>
          <a:xfrm>
            <a:off x="978408" y="5522976"/>
            <a:ext cx="5120640" cy="731520"/>
          </a:xfrm>
          <a:prstGeom prst="rect">
            <a:avLst/>
          </a:prstGeom>
          <a:noFill/>
        </p:spPr>
        <p:txBody>
          <a:bodyPr wrap="square" lIns="0" rIns="0" tIns="0" bIns="0" anchor="t">
            <a:spAutoFit/>
          </a:bodyPr>
          <a:lstStyle/>
          <a:p>
            <a:pPr algn="l">
              <a:spcAft>
                <a:spcPts val="100"/>
              </a:spcAft>
            </a:pPr>
            <a:r>
              <a:rPr sz="1150" b="0" i="0">
                <a:solidFill>
                  <a:srgbClr val="1A1A1A"/>
                </a:solidFill>
              </a:rPr>
              <a:t>1  The 1M × 50 benchmark (and 1.3M) on a real server</a:t>
            </a:r>
          </a:p>
          <a:p>
            <a:pPr algn="l">
              <a:spcAft>
                <a:spcPts val="100"/>
              </a:spcAft>
            </a:pPr>
            <a:r>
              <a:rPr sz="1150" b="0" i="0">
                <a:solidFill>
                  <a:srgbClr val="1A1A1A"/>
                </a:solidFill>
              </a:rPr>
              <a:t>2  VaR sharding across Drishti*net (scatter-gather)</a:t>
            </a:r>
          </a:p>
          <a:p>
            <a:pPr algn="l">
              <a:spcAft>
                <a:spcPts val="100"/>
              </a:spcAft>
            </a:pPr>
            <a:r>
              <a:rPr sz="1150" b="0" i="0">
                <a:solidFill>
                  <a:srgbClr val="1A1A1A"/>
                </a:solidFill>
              </a:rPr>
              <a:t>3  The lake layout at scale: sort, ZSTD, file sizes</a:t>
            </a:r>
          </a:p>
        </p:txBody>
      </p:sp>
      <p:sp>
        <p:nvSpPr>
          <p:cNvPr id="83" name="TextBox 82"/>
          <p:cNvSpPr txBox="1"/>
          <p:nvPr/>
        </p:nvSpPr>
        <p:spPr>
          <a:xfrm>
            <a:off x="6236208" y="5522976"/>
            <a:ext cx="5120640" cy="731520"/>
          </a:xfrm>
          <a:prstGeom prst="rect">
            <a:avLst/>
          </a:prstGeom>
          <a:noFill/>
        </p:spPr>
        <p:txBody>
          <a:bodyPr wrap="square" lIns="0" rIns="0" tIns="0" bIns="0" anchor="t">
            <a:spAutoFit/>
          </a:bodyPr>
          <a:lstStyle/>
          <a:p>
            <a:pPr algn="l">
              <a:spcAft>
                <a:spcPts val="100"/>
              </a:spcAft>
            </a:pPr>
            <a:r>
              <a:rPr sz="1150" b="0" i="0">
                <a:solidFill>
                  <a:srgbClr val="1A1A1A"/>
                </a:solidFill>
              </a:rPr>
              <a:t>4  Portfolio vectors in a batch; &gt; 100,000 portfolio rows read</a:t>
            </a:r>
          </a:p>
          <a:p>
            <a:pPr algn="l">
              <a:spcAft>
                <a:spcPts val="100"/>
              </a:spcAft>
            </a:pPr>
            <a:r>
              <a:rPr sz="1150" b="0" i="0">
                <a:solidFill>
                  <a:srgbClr val="1A1A1A"/>
                </a:solidFill>
              </a:rPr>
              <a:t>5  Position grain and Kafka (being built in 2.9.4)</a:t>
            </a:r>
          </a:p>
          <a:p>
            <a:pPr algn="l">
              <a:spcAft>
                <a:spcPts val="100"/>
              </a:spcAft>
            </a:pPr>
            <a:r>
              <a:rPr sz="1150" b="0" i="0">
                <a:solidFill>
                  <a:srgbClr val="1A1A1A"/>
                </a:solidFill>
              </a:rPr>
              <a:t>6  Official publish to s3://; consoles without sticky sessions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MGMT and LEGAL node, every date, from the morning run; a restatement adds a result version. Published to risk-results/var-official (Delta, appendOnly)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TextBox 37"/>
          <p:cNvSpPr txBox="1"/>
          <p:nvPr/>
        </p:nvSpPr>
        <p:spPr>
          <a:xfrm>
            <a:off x="7132319" y="1417320"/>
            <a:ext cx="4279392" cy="274320"/>
          </a:xfrm>
          <a:prstGeom prst="rect">
            <a:avLst/>
          </a:prstGeom>
          <a:noFill/>
        </p:spPr>
        <p:txBody>
          <a:bodyPr wrap="square" lIns="0" rIns="0" tIns="0" bIns="0" anchor="t">
            <a:spAutoFit/>
          </a:bodyPr>
          <a:lstStyle/>
          <a:p>
            <a:pPr algn="l"/>
            <a:r>
              <a:rPr sz="1300" b="1" i="0">
                <a:solidFill>
                  <a:srgbClr val="293352"/>
                </a:solidFill>
              </a:rPr>
              <a:t>Being finished in 2.9.4</a:t>
            </a:r>
          </a:p>
        </p:txBody>
      </p:sp>
      <p:sp>
        <p:nvSpPr>
          <p:cNvPr id="39" name="TextBox 38"/>
          <p:cNvSpPr txBox="1"/>
          <p:nvPr/>
        </p:nvSpPr>
        <p:spPr>
          <a:xfrm>
            <a:off x="7132319" y="1719072"/>
            <a:ext cx="4279392" cy="960120"/>
          </a:xfrm>
          <a:prstGeom prst="rect">
            <a:avLst/>
          </a:prstGeom>
          <a:noFill/>
        </p:spPr>
        <p:txBody>
          <a:bodyPr wrap="square" lIns="0" rIns="0" tIns="0" bIns="0" anchor="t">
            <a:spAutoFit/>
          </a:bodyPr>
          <a:lstStyle/>
          <a:p>
            <a:pPr algn="l" marL="146304" indent="-146304">
              <a:spcAft>
                <a:spcPts val="200"/>
              </a:spcAft>
              <a:buClr>
                <a:srgbClr val="293352"/>
              </a:buClr>
              <a:buSzPct val="100000"/>
              <a:buFont typeface="Arial"/>
              <a:buChar char="▪"/>
            </a:pPr>
            <a:r>
              <a:rPr sz="1200" b="0" i="0">
                <a:solidFill>
                  <a:srgbClr val="1A1A1A"/>
                </a:solidFill>
              </a:rPr>
              <a:t>Kafka PV stream, micro-batched</a:t>
            </a:r>
          </a:p>
          <a:p>
            <a:pPr algn="l" marL="146304" indent="-146304">
              <a:spcAft>
                <a:spcPts val="200"/>
              </a:spcAft>
              <a:buClr>
                <a:srgbClr val="293352"/>
              </a:buClr>
              <a:buSzPct val="100000"/>
              <a:buFont typeface="Arial"/>
              <a:buChar char="▪"/>
            </a:pPr>
            <a:r>
              <a:rPr sz="1200" b="0" i="0">
                <a:solidFill>
                  <a:srgbClr val="1A1A1A"/>
                </a:solidFill>
              </a:rPr>
              <a:t>Self-describing records; the per-system pin</a:t>
            </a:r>
          </a:p>
          <a:p>
            <a:pPr algn="l" marL="146304" indent="-146304">
              <a:buClr>
                <a:srgbClr val="293352"/>
              </a:buClr>
              <a:buSzPct val="100000"/>
              <a:buFont typeface="Arial"/>
              <a:buChar char="▪"/>
            </a:pPr>
            <a:r>
              <a:rPr sz="1200" b="0" i="0">
                <a:solidFill>
                  <a:srgbClr val="1A1A1A"/>
                </a:solidFill>
              </a:rPr>
              <a:t>Then: the product owner's review, merge, release</a:t>
            </a:r>
          </a:p>
        </p:txBody>
      </p:sp>
      <p:sp>
        <p:nvSpPr>
          <p:cNvPr id="40" name="TextBox 39"/>
          <p:cNvSpPr txBox="1"/>
          <p:nvPr/>
        </p:nvSpPr>
        <p:spPr>
          <a:xfrm>
            <a:off x="7132319" y="2724912"/>
            <a:ext cx="4279392" cy="274320"/>
          </a:xfrm>
          <a:prstGeom prst="rect">
            <a:avLst/>
          </a:prstGeom>
          <a:noFill/>
        </p:spPr>
        <p:txBody>
          <a:bodyPr wrap="square" lIns="0" rIns="0" tIns="0" bIns="0" anchor="t">
            <a:spAutoFit/>
          </a:bodyPr>
          <a:lstStyle/>
          <a:p>
            <a:pPr algn="l"/>
            <a:r>
              <a:rPr sz="1300" b="1" i="0">
                <a:solidFill>
                  <a:srgbClr val="A51C30"/>
                </a:solidFill>
              </a:rPr>
              <a:t>Planned in the VaR guide</a:t>
            </a:r>
          </a:p>
        </p:txBody>
      </p:sp>
      <p:sp>
        <p:nvSpPr>
          <p:cNvPr id="41" name="TextBox 40"/>
          <p:cNvSpPr txBox="1"/>
          <p:nvPr/>
        </p:nvSpPr>
        <p:spPr>
          <a:xfrm>
            <a:off x="7132319" y="3026664"/>
            <a:ext cx="4279392" cy="2743200"/>
          </a:xfrm>
          <a:prstGeom prst="rect">
            <a:avLst/>
          </a:prstGeom>
          <a:noFill/>
        </p:spPr>
        <p:txBody>
          <a:bodyPr wrap="square" lIns="0" rIns="0" tIns="0" bIns="0" anchor="t">
            <a:spAutoFit/>
          </a:bodyPr>
          <a:lstStyle/>
          <a:p>
            <a:pPr algn="l" marL="146304" indent="-146304">
              <a:spcAft>
                <a:spcPts val="300"/>
              </a:spcAft>
              <a:buClr>
                <a:srgbClr val="A51C30"/>
              </a:buClr>
              <a:buSzPct val="100000"/>
              <a:buFont typeface="Arial"/>
              <a:buChar char="▪"/>
            </a:pPr>
            <a:r>
              <a:rPr sz="1200" b="0" i="0">
                <a:solidFill>
                  <a:srgbClr val="1A1A1A"/>
                </a:solidFill>
              </a:rPr>
              <a:t>Sharding across Drishti*net; the 1M × 50 run on a server</a:t>
            </a:r>
          </a:p>
          <a:p>
            <a:pPr algn="l" marL="146304" indent="-146304">
              <a:spcAft>
                <a:spcPts val="300"/>
              </a:spcAft>
              <a:buClr>
                <a:srgbClr val="A51C30"/>
              </a:buClr>
              <a:buSzPct val="100000"/>
              <a:buFont typeface="Arial"/>
              <a:buChar char="▪"/>
            </a:pPr>
            <a:r>
              <a:rPr sz="1200" b="0" i="0">
                <a:solidFill>
                  <a:srgbClr val="1A1A1A"/>
                </a:solidFill>
              </a:rPr>
              <a:t>The lake layout at bank scale</a:t>
            </a:r>
          </a:p>
          <a:p>
            <a:pPr algn="l" marL="146304" indent="-146304">
              <a:spcAft>
                <a:spcPts val="300"/>
              </a:spcAft>
              <a:buClr>
                <a:srgbClr val="A51C30"/>
              </a:buClr>
              <a:buSzPct val="100000"/>
              <a:buFont typeface="Arial"/>
              <a:buChar char="▪"/>
            </a:pPr>
            <a:r>
              <a:rPr sz="1200" b="0" i="0">
                <a:solidFill>
                  <a:srgbClr val="1A1A1A"/>
                </a:solidFill>
              </a:rPr>
              <a:t>What-if pricing through QLRisk, once its API is stable</a:t>
            </a:r>
          </a:p>
          <a:p>
            <a:pPr algn="l" marL="146304" indent="-146304">
              <a:spcAft>
                <a:spcPts val="300"/>
              </a:spcAft>
              <a:buClr>
                <a:srgbClr val="A51C30"/>
              </a:buClr>
              <a:buSzPct val="100000"/>
              <a:buFont typeface="Arial"/>
              <a:buChar char="▪"/>
            </a:pPr>
            <a:r>
              <a:rPr sz="1200" b="0" i="0">
                <a:solidFill>
                  <a:srgbClr val="1A1A1A"/>
                </a:solidFill>
              </a:rPr>
              <a:t>Stressed set SVAR-250, several sets a date; age-weighted and filtered methods; 10-day VaR; ES backtests</a:t>
            </a:r>
          </a:p>
          <a:p>
            <a:pPr algn="l" marL="146304" indent="-146304">
              <a:spcAft>
                <a:spcPts val="300"/>
              </a:spcAft>
              <a:buClr>
                <a:srgbClr val="A51C30"/>
              </a:buClr>
              <a:buSzPct val="100000"/>
              <a:buFont typeface="Arial"/>
              <a:buChar char="▪"/>
            </a:pPr>
            <a:r>
              <a:rPr sz="1200" b="0" i="0">
                <a:solidFill>
                  <a:srgbClr val="1A1A1A"/>
                </a:solidFill>
              </a:rPr>
              <a:t>A bank's own hypothetical P&amp;L; batch due time and completeness checks</a:t>
            </a:r>
          </a:p>
          <a:p>
            <a:pPr algn="l" marL="146304" indent="-146304">
              <a:spcAft>
                <a:spcPts val="300"/>
              </a:spcAft>
              <a:buClr>
                <a:srgbClr val="A51C30"/>
              </a:buClr>
              <a:buSzPct val="100000"/>
              <a:buFont typeface="Arial"/>
              <a:buChar char="▪"/>
            </a:pPr>
            <a:r>
              <a:rPr sz="1200" b="0" i="0">
                <a:solidFill>
                  <a:srgbClr val="1A1A1A"/>
                </a:solidFill>
              </a:rPr>
              <a:t>Cubes, overnight precomputation, risk-position grouping; the common risk lake</a:t>
            </a:r>
          </a:p>
        </p:txBody>
      </p:sp>
      <p:sp>
        <p:nvSpPr>
          <p:cNvPr id="42" name="Rectangle 41"/>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Rectangle 42"/>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2.9.4</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2.9.4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
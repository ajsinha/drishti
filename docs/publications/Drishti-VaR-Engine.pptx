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(2.9.4, branch worktree-agent-a090d127ed73d193a), docs/knowledge/market-risk.md, docs/tutorials/25-var-from-the-bank-to-a-trade.md, docs/architecture/IMPLEMENTATION_PLAN.md (2.9.4 section).</a:t>
            </a:r>
          </a:p>
          <a:p/>
          <a:p>
            <a:r>
              <a:t>Talk track: this deck explains the VaR engine that sits inside the Drishti server: what it computes, how the data reaches it, what the 2.9.4 release adds (scenario PVs in each trade's own currency, any reporting currency, intraday updates, JSONL as the delivery standard), what the console shows, and how it scales to a bank of 1.3 million positions and 100,000 portfolios.</a:t>
            </a:r>
          </a:p>
          <a:p/>
          <a:p>
            <a:r>
              <a:t>Status words used throughout: BUILT means in the code and tested; everything new in 2.9.4 ships in the 2.9.4 release; DESIGNED means documented in the VaR guide but not built; PROPOSED means a recommendation of this deck, not yet in the docs.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ships in the 2.9.4 release. Only scaling one date out across a cluster of servers (VaR sharding) is designed and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10-day VaR, stressed VaR, ES backtests.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both hierarchies, and published to risk-results/var-official (Delta, append-only) with a JSONL copy beside it.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Vectors: 1,300,000 × 509 × 8 bytes = 5,293,600,000 B = 5.29 GB per date per currency in float64; float32 halves it to 2.65 GB. Hot file: VarTierBenchmark measured 237.7 MB per date for 100,000 trades (203.6 MB of float32 rows plus aggregates of 2,100 books and nodes, columns and ids), scaled × 13. Heap: about 80 MB per open date per 100,000 trades measured, × 13 ≈ 1.0 GB; with hot-dates 2 about 2.1 GB. First load: 0.8–1.2 s per 100,000 measured (the sort is n log n, so slightly more than linear), plus the lake read: the guide estimates 10 to 40 s for a cold whole-bank read of about 4 GB of Parquet on one server. Reopening: 23 ms per 100,000. Whole bank resident: 3.4 ms for 203.6 MB measured (≈ 60 GB/s), so 2.65 GB ≈ 45 ms; cold from NVMe at about 3 GB/s ≈ 0.9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Scaled × 13: ≈ 3.25 GB a currency, ≈ 13 GB a date for four, ≈ 65 GB for five dates, ≈ 56 s background build. (A figure of 1.6 GB per 100,000 trades for four currencies was mentioned in the brief; the guide says 1.0 GB per date, 5.0 GB over the 5 retained dates, so the guide's numbers are used.) USD hot files: disk-dates 60 × ≈ 3.1 GB ≈ 185 GB of local disk (lower disk-dates to need less). Lake: Parquet ≈ 0.75 × raw (the design's estimate), × 252 business dates ≈ 1.0 TB a year, ≈ 7 TB for the 7 years kept.</a:t>
            </a:r>
          </a:p>
          <a:p/>
          <a:p>
            <a:r>
              <a:t>100,000 portfolios: the cost of computing every portfolio's vector is the sum over portfolios of their position counts × 509. The average size is not known, so 130 positions is an assumption for illustration (13 million row reads, 26.5 GB of float32 rows). Sequential reads at the measured 60 GB/s give ≈ 0.45 s; scattered reads at the design's 5 GB/s effective give ≈ 5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100,000 × 509 × 8 B = 407 MB a date a currency, ≈ 2.0 GB for five currencies, half in float32 (proposed; today only captures keep a vector).</a:t>
            </a:r>
          </a:p>
          <a:p/>
          <a:p>
            <a:r>
              <a:t>Per-trade-currency totals: each node keeps, per trade currency, the 509 scenario PV sums and today's sum (510 float64 = 4 KB). With an assumed 5,000 nodes × 10 currencies on average: ≈ 204 MB. A headline in any currency is then a sum over the node's trade currencies of 509 multiply-adds: microseconds.</a:t>
            </a:r>
          </a:p>
          <a:p/>
          <a:p>
            <a:r>
              <a:t>Intraday per changed trade, in a four-level tree: its book aggregate and the nodes above it in MGMT and LEGAL (about 9 vectors), in USD and the 4 built currencies (≈ 45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1.3M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designed, not built; open question 7), section 29 (the vector grain, the four layouts compared: list&lt;double&gt; chosen; a fixed-length binary blob rejected for interoperability; deletion vectors avoided; the append-only daily snapshot), section 29.3 (the lake tools can write the list&lt;double&gt; column to Iceberg, but only the Delta plugin implements SourcePlugin.vectors(), so VaR and exposure cannot read their inputs from Iceberg today: not built, per the Iceberg review of the code), section 30 (cubes and rule-portfolio vectors designed, kept in memory; the overnight precomputation not built), section 19 ('No vectors and no trade or position rows are published'; a publish to an s3:// root fails and is recorded as publishError),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1.3M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1.3M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raise the 100,000-row read limit for portfolios and nodes, and size max-parts (5,000) for contribution tables; (5) Iceberg for VaR and exposure inputs (SourcePlugin.vectors() in the Iceberg plugin); (6) official results published to an s3:// root (today a local or EFS Delta root only; an s3:// root fails and is recorded as publishError); (7) several consoles without sticky sessions. Position grain and Kafka micro-batching are built in 2.9.4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VaR; ES backtests; a bank's own hypothetical P&amp;L; the batch's due time and completeness; risk-position grouping; cubes and the overnight precomputation; the common risk lake); DATA_FORMATS.md (official results also as JSONL); the 2.9.4 release (everything new in it built).</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How VaR works in Drishti</a:t>
            </a:r>
            <a:endParaRPr lang="en-US" sz="1200" dirty="0"/>
          </a:p>
          <a:p>
            <a:pPr indent="0" marL="0">
              <a:spcAft>
                <a:spcPts val="600"/>
              </a:spcAft>
              <a:buNone/>
            </a:pPr>
            <a:r>
              <a:rPr lang="en-US" sz="1200" b="1" dirty="0">
                <a:solidFill>
                  <a:srgbClr val="A51C30"/>
                </a:solidFill>
              </a:rPr>
              <a:t>2  Architecture and data flow</a:t>
            </a:r>
            <a:endParaRPr lang="en-US" sz="1200" dirty="0"/>
          </a:p>
          <a:p>
            <a:pPr indent="0" marL="0">
              <a:spcAft>
                <a:spcPts val="600"/>
              </a:spcAft>
              <a:buNone/>
            </a:pPr>
            <a:r>
              <a:rPr lang="en-US" sz="1200" b="1" dirty="0">
                <a:solidFill>
                  <a:srgbClr val="A51C30"/>
                </a:solidFill>
              </a:rPr>
              <a:t>3  Any input: PVs, P&amp;L, intraday, contracts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The VaR UI and capabilities</a:t>
            </a:r>
            <a:endParaRPr lang="en-US" sz="1200" dirty="0"/>
          </a:p>
          <a:p>
            <a:pPr indent="0" marL="0">
              <a:spcAft>
                <a:spcPts val="600"/>
              </a:spcAft>
              <a:buNone/>
            </a:pPr>
            <a:r>
              <a:rPr lang="en-US" sz="1200" b="1" dirty="0">
                <a:solidFill>
                  <a:srgbClr val="A51C30"/>
                </a:solidFill>
              </a:rPr>
              <a:t>5  Scale, Delta Lake, scale-out</a:t>
            </a:r>
            <a:endParaRPr lang="en-US" sz="1200" dirty="0"/>
          </a:p>
          <a:p>
            <a:pPr indent="0" marL="0">
              <a:spcAft>
                <a:spcPts val="600"/>
              </a:spcAft>
              <a:buNone/>
            </a:pPr>
            <a:r>
              <a:rPr lang="en-US" sz="1200" b="1" dirty="0">
                <a:solidFill>
                  <a:srgbClr val="A51C30"/>
                </a:solidFill>
              </a:rPr>
              <a:t>6  Governance and roadmap</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2.9.4</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 (heap tier); 100,000 × 5 dates on the tiered store, a node in 0.48 ms. Sized for 1.3M positions and 100,000 portfolios on slides 12-13; sharding is designed, not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 (DELTA)</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200" b="1" i="0">
                <a:solidFill>
                  <a:srgbClr val="8A1626"/>
                </a:solidFill>
              </a:rPr>
              <a:t>Delta · domain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Delta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(MGMT and LEGAL),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trade; its LE, desk,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PV-&lt;trade&gt;-HS-509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MGMT/LEGAL; bank…book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or LEGAL tree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1.3 MILLION POSITIONS, 100,000 PORTFOLIOS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377440"/>
                <a:gridCol w="2194560"/>
                <a:gridCol w="141732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3.1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10–16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2.65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45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 GB × 5; 4.3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65 GB; ≈ 56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3.1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185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 TB; ≈ 7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100,000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At 130 positions each (assumed): 13M rows, 26.5 GB of float32 → ≈ 0.45 s at 60 GB/s, ≈ 5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100k × 509 × 8 B = 407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nodes × 10 ≈ 204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9 node vectors × 5 currency books ≈ 45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from the measured 100,000-trade figures (VAR_GUIDE 27.3, 15.11); not measured at 1.3M.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ounded Rectangle 27"/>
          <p:cNvSpPr/>
          <p:nvPr/>
        </p:nvSpPr>
        <p:spPr>
          <a:xfrm>
            <a:off x="6213348" y="148818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85851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4" name="Rounded Rectangle 33"/>
          <p:cNvSpPr/>
          <p:nvPr/>
        </p:nvSpPr>
        <p:spPr>
          <a:xfrm>
            <a:off x="6213348" y="222885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37" name="Rounded Rectangle 36"/>
          <p:cNvSpPr/>
          <p:nvPr/>
        </p:nvSpPr>
        <p:spPr>
          <a:xfrm>
            <a:off x="6007608" y="259918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38" name="Rectangle 37"/>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0" name="Rounded Rectangle 39"/>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1" name="Rectangle 40"/>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1.3M rows</a:t>
            </a:r>
          </a:p>
        </p:txBody>
      </p:sp>
      <p:sp>
        <p:nvSpPr>
          <p:cNvPr id="43" name="Rounded Rectangle 42"/>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6" name="Rounded Rectangle 45"/>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9" name="Rounded Rectangle 48"/>
          <p:cNvSpPr/>
          <p:nvPr/>
        </p:nvSpPr>
        <p:spPr>
          <a:xfrm>
            <a:off x="6213348" y="4080509"/>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Rectangle 49"/>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inputs</a:t>
            </a:r>
          </a:p>
          <a:p>
            <a:pPr algn="l"/>
            <a:r>
              <a:rPr sz="1050" b="0" i="0">
                <a:solidFill>
                  <a:srgbClr val="4A5058"/>
                </a:solidFill>
              </a:rPr>
              <a:t>only the Delta plugin streams vectors</a:t>
            </a:r>
          </a:p>
        </p:txBody>
      </p:sp>
      <p:sp>
        <p:nvSpPr>
          <p:cNvPr id="52" name="Rounded Rectangle 51"/>
          <p:cNvSpPr/>
          <p:nvPr/>
        </p:nvSpPr>
        <p:spPr>
          <a:xfrm>
            <a:off x="5939028" y="44508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3" name="Rectangle 52"/>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publish to S3</a:t>
            </a:r>
          </a:p>
          <a:p>
            <a:pPr algn="l"/>
            <a:r>
              <a:rPr sz="1050" b="0" i="0">
                <a:solidFill>
                  <a:srgbClr val="4A5058"/>
                </a:solidFill>
              </a:rPr>
              <a:t>local or EFS Delta root only; s3:// fails</a:t>
            </a:r>
          </a:p>
        </p:txBody>
      </p:sp>
      <p:sp>
        <p:nvSpPr>
          <p:cNvPr id="55" name="Rounded Rectangle 54"/>
          <p:cNvSpPr/>
          <p:nvPr/>
        </p:nvSpPr>
        <p:spPr>
          <a:xfrm>
            <a:off x="5939028" y="482117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6" name="Rectangle 55"/>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7" name="Connector 56"/>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60" name="Rounded Rectangle 59"/>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61" name="Connector 60"/>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4" name="Rectangle 63"/>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6" name="Rectangle 65"/>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7" name="Connector 66"/>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9" name="Connector 68"/>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71" name="Connector 70"/>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3" name="TextBox 72"/>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4" name="Rectangle 73"/>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6" name="Rounded Rectangle 75"/>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7" name="Rectangle 7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9" name="Rounded Rectangle 7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80" name="Connector 7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(local, EFS or S3) · 7 years</a:t>
            </a:r>
          </a:p>
        </p:txBody>
      </p:sp>
      <p:sp>
        <p:nvSpPr>
          <p:cNvPr id="82" name="Rectangle 8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Rectangle 8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1.3M positions and 100,000 portfolios, still to build</a:t>
            </a:r>
          </a:p>
        </p:txBody>
      </p:sp>
      <p:sp>
        <p:nvSpPr>
          <p:cNvPr id="85" name="TextBox 8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1M × 50 benchmark (and 1.3M) on a real server</a:t>
            </a:r>
          </a:p>
          <a:p>
            <a:pPr algn="l">
              <a:spcAft>
                <a:spcPts val="0"/>
              </a:spcAft>
            </a:pPr>
            <a:r>
              <a:rPr sz="1100" b="0" i="0">
                <a:solidFill>
                  <a:srgbClr val="1A1A1A"/>
                </a:solidFill>
              </a:rPr>
              <a:t>2  VaR sharding across Drishti*net (scatter-gather)</a:t>
            </a:r>
          </a:p>
          <a:p>
            <a:pPr algn="l">
              <a:spcAft>
                <a:spcPts val="0"/>
              </a:spcAft>
            </a:pPr>
            <a:r>
              <a:rPr sz="1100" b="0" i="0">
                <a:solidFill>
                  <a:srgbClr val="1A1A1A"/>
                </a:solidFill>
              </a:rPr>
              <a:t>3  The lake layout at scale: sort, ZSTD, file sizes</a:t>
            </a:r>
          </a:p>
          <a:p>
            <a:pPr algn="l">
              <a:spcAft>
                <a:spcPts val="0"/>
              </a:spcAft>
            </a:pPr>
            <a:r>
              <a:rPr sz="1100" b="0" i="0">
                <a:solidFill>
                  <a:srgbClr val="1A1A1A"/>
                </a:solidFill>
              </a:rPr>
              <a:t>4  Portfolio vectors in a batch; &gt; 100,000 rows read</a:t>
            </a:r>
          </a:p>
        </p:txBody>
      </p:sp>
      <p:sp>
        <p:nvSpPr>
          <p:cNvPr id="86" name="TextBox 8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5  Iceberg for VaR inputs (vectors from the Iceberg plugin)</a:t>
            </a:r>
          </a:p>
          <a:p>
            <a:pPr algn="l">
              <a:spcAft>
                <a:spcPts val="0"/>
              </a:spcAft>
            </a:pPr>
            <a:r>
              <a:rPr sz="1100" b="0" i="0">
                <a:solidFill>
                  <a:srgbClr val="1A1A1A"/>
                </a:solidFill>
              </a:rPr>
              <a:t>6  Official results published to s3:// (local/EFS today)</a:t>
            </a:r>
          </a:p>
          <a:p>
            <a:pPr algn="l">
              <a:spcAft>
                <a:spcPts val="0"/>
              </a:spcAft>
            </a:pPr>
            <a:r>
              <a:rPr sz="1100" b="0" i="0">
                <a:solidFill>
                  <a:srgbClr val="1A1A1A"/>
                </a:solidFill>
              </a:rPr>
              <a:t>7  Several consoles without sticky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MGMT and LEGAL node, every date, from the morning run; a restatement adds a result version. Published to risk-results/var-official (Delta, appendOnly)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74320"/>
          </a:xfrm>
          <a:prstGeom prst="rect">
            <a:avLst/>
          </a:prstGeom>
          <a:noFill/>
        </p:spPr>
        <p:txBody>
          <a:bodyPr wrap="square" lIns="0" rIns="0" tIns="0" bIns="0" anchor="t">
            <a:spAutoFit/>
          </a:bodyPr>
          <a:lstStyle/>
          <a:p>
            <a:pPr algn="l"/>
            <a:r>
              <a:rPr sz="1300" b="1" i="0">
                <a:solidFill>
                  <a:srgbClr val="293352"/>
                </a:solidFill>
              </a:rPr>
              <a:t>New in 2.9.4, built</a:t>
            </a:r>
          </a:p>
        </p:txBody>
      </p:sp>
      <p:sp>
        <p:nvSpPr>
          <p:cNvPr id="39" name="TextBox 38"/>
          <p:cNvSpPr txBox="1"/>
          <p:nvPr/>
        </p:nvSpPr>
        <p:spPr>
          <a:xfrm>
            <a:off x="7132319" y="1700784"/>
            <a:ext cx="4279392" cy="1463040"/>
          </a:xfrm>
          <a:prstGeom prst="rect">
            <a:avLst/>
          </a:prstGeom>
          <a:noFill/>
        </p:spPr>
        <p:txBody>
          <a:bodyPr wrap="square" lIns="0" rIns="0" tIns="0" bIns="0" anchor="t">
            <a:spAutoFit/>
          </a:bodyPr>
          <a:lstStyle/>
          <a:p>
            <a:pPr algn="l" marL="146304" indent="-146304">
              <a:spcAft>
                <a:spcPts val="150"/>
              </a:spcAft>
              <a:buClr>
                <a:srgbClr val="293352"/>
              </a:buClr>
              <a:buSzPct val="100000"/>
              <a:buFont typeface="Arial"/>
              <a:buChar char="▪"/>
            </a:pPr>
            <a:r>
              <a:rPr sz="1200" b="0" i="0">
                <a:solidFill>
                  <a:srgbClr val="1A1A1A"/>
                </a:solidFill>
              </a:rPr>
              <a:t>Any input contract: PVs or P&amp;L, by trade or position</a:t>
            </a:r>
          </a:p>
          <a:p>
            <a:pPr algn="l" marL="146304" indent="-146304">
              <a:spcAft>
                <a:spcPts val="150"/>
              </a:spcAft>
              <a:buClr>
                <a:srgbClr val="293352"/>
              </a:buClr>
              <a:buSzPct val="100000"/>
              <a:buFont typeface="Arial"/>
              <a:buChar char="▪"/>
            </a:pPr>
            <a:r>
              <a:rPr sz="1200" b="0" i="0">
                <a:solidFill>
                  <a:srgbClr val="1A1A1A"/>
                </a:solidFill>
              </a:rPr>
              <a:t>Any reporting currency; five built ahead</a:t>
            </a:r>
          </a:p>
          <a:p>
            <a:pPr algn="l" marL="146304" indent="-146304">
              <a:spcAft>
                <a:spcPts val="150"/>
              </a:spcAft>
              <a:buClr>
                <a:srgbClr val="293352"/>
              </a:buClr>
              <a:buSzPct val="100000"/>
              <a:buFont typeface="Arial"/>
              <a:buChar char="▪"/>
            </a:pPr>
            <a:r>
              <a:rPr sz="1200" b="0" i="0">
                <a:solidFill>
                  <a:srgbClr val="1A1A1A"/>
                </a:solidFill>
              </a:rPr>
              <a:t>Intraday from files and Kafka micro-batches</a:t>
            </a:r>
          </a:p>
          <a:p>
            <a:pPr algn="l" marL="146304" indent="-146304">
              <a:spcAft>
                <a:spcPts val="150"/>
              </a:spcAft>
              <a:buClr>
                <a:srgbClr val="293352"/>
              </a:buClr>
              <a:buSzPct val="100000"/>
              <a:buFont typeface="Arial"/>
              <a:buChar char="▪"/>
            </a:pPr>
            <a:r>
              <a:rPr sz="1200" b="0" i="0">
                <a:solidFill>
                  <a:srgbClr val="1A1A1A"/>
                </a:solidFill>
              </a:rPr>
              <a:t>Window, confidence and root name as settings</a:t>
            </a:r>
          </a:p>
          <a:p>
            <a:pPr algn="l" marL="146304" indent="-146304">
              <a:spcAft>
                <a:spcPts val="150"/>
              </a:spcAft>
              <a:buClr>
                <a:srgbClr val="293352"/>
              </a:buClr>
              <a:buSzPct val="100000"/>
              <a:buFont typeface="Arial"/>
              <a:buChar char="▪"/>
            </a:pPr>
            <a:r>
              <a:rPr sz="1200" b="0" i="0">
                <a:solidFill>
                  <a:srgbClr val="1A1A1A"/>
                </a:solidFill>
              </a:rPr>
              <a:t>JSONL everywhere; the PV scripts (tools/pvgen)</a:t>
            </a:r>
          </a:p>
        </p:txBody>
      </p:sp>
      <p:sp>
        <p:nvSpPr>
          <p:cNvPr id="40" name="TextBox 39"/>
          <p:cNvSpPr txBox="1"/>
          <p:nvPr/>
        </p:nvSpPr>
        <p:spPr>
          <a:xfrm>
            <a:off x="7132319" y="3200400"/>
            <a:ext cx="4279392" cy="274320"/>
          </a:xfrm>
          <a:prstGeom prst="rect">
            <a:avLst/>
          </a:prstGeom>
          <a:noFill/>
        </p:spPr>
        <p:txBody>
          <a:bodyPr wrap="square" lIns="0" rIns="0" tIns="0" bIns="0" anchor="t">
            <a:spAutoFit/>
          </a:bodyPr>
          <a:lstStyle/>
          <a:p>
            <a:pPr algn="l"/>
            <a:r>
              <a:rPr sz="1300" b="1" i="0">
                <a:solidFill>
                  <a:srgbClr val="A51C30"/>
                </a:solidFill>
              </a:rPr>
              <a:t>Planned in the VaR guide</a:t>
            </a:r>
          </a:p>
        </p:txBody>
      </p:sp>
      <p:sp>
        <p:nvSpPr>
          <p:cNvPr id="41" name="TextBox 40"/>
          <p:cNvSpPr txBox="1"/>
          <p:nvPr/>
        </p:nvSpPr>
        <p:spPr>
          <a:xfrm>
            <a:off x="7132319" y="3502152"/>
            <a:ext cx="4279392" cy="219456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200" b="0" i="0">
                <a:solidFill>
                  <a:srgbClr val="1A1A1A"/>
                </a:solidFill>
              </a:rPr>
              <a:t>Sharding across Drishti*net; the 1M × 50 run on a server</a:t>
            </a:r>
          </a:p>
          <a:p>
            <a:pPr algn="l" marL="146304" indent="-146304">
              <a:spcAft>
                <a:spcPts val="200"/>
              </a:spcAft>
              <a:buClr>
                <a:srgbClr val="A51C30"/>
              </a:buClr>
              <a:buSzPct val="100000"/>
              <a:buFont typeface="Arial"/>
              <a:buChar char="▪"/>
            </a:pPr>
            <a:r>
              <a:rPr sz="1200" b="0" i="0">
                <a:solidFill>
                  <a:srgbClr val="1A1A1A"/>
                </a:solidFill>
              </a:rPr>
              <a:t>The lake layout at bank scale</a:t>
            </a:r>
          </a:p>
          <a:p>
            <a:pPr algn="l" marL="146304" indent="-146304">
              <a:spcAft>
                <a:spcPts val="200"/>
              </a:spcAft>
              <a:buClr>
                <a:srgbClr val="A51C30"/>
              </a:buClr>
              <a:buSzPct val="100000"/>
              <a:buFont typeface="Arial"/>
              <a:buChar char="▪"/>
            </a:pPr>
            <a:r>
              <a:rPr sz="1200" b="0" i="0">
                <a:solidFill>
                  <a:srgbClr val="1A1A1A"/>
                </a:solidFill>
              </a:rPr>
              <a:t>What-if pricing through QLRisk, once its API is stable</a:t>
            </a:r>
          </a:p>
          <a:p>
            <a:pPr algn="l" marL="146304" indent="-146304">
              <a:spcAft>
                <a:spcPts val="200"/>
              </a:spcAft>
              <a:buClr>
                <a:srgbClr val="A51C30"/>
              </a:buClr>
              <a:buSzPct val="100000"/>
              <a:buFont typeface="Arial"/>
              <a:buChar char="▪"/>
            </a:pPr>
            <a:r>
              <a:rPr sz="1200" b="0" i="0">
                <a:solidFill>
                  <a:srgbClr val="1A1A1A"/>
                </a:solidFill>
              </a:rPr>
              <a:t>Stressed set SVAR-250; age-weighted and filtered methods; 10-day VaR; ES backtests</a:t>
            </a:r>
          </a:p>
          <a:p>
            <a:pPr algn="l" marL="146304" indent="-146304">
              <a:spcAft>
                <a:spcPts val="200"/>
              </a:spcAft>
              <a:buClr>
                <a:srgbClr val="A51C30"/>
              </a:buClr>
              <a:buSzPct val="100000"/>
              <a:buFont typeface="Arial"/>
              <a:buChar char="▪"/>
            </a:pPr>
            <a:r>
              <a:rPr sz="1200" b="0" i="0">
                <a:solidFill>
                  <a:srgbClr val="1A1A1A"/>
                </a:solidFill>
              </a:rPr>
              <a:t>Cubes, overnight precomputation; the common risk lake</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2.9.4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
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 id="333" r:id="rId43"/>
    <p:sldId id="334" r:id="rId8"/>
    <p:sldId id="335" r:id="rId7"/>
    <p:sldId id="336" r:id="rId6"/>
    <p:sldId id="337" r:id="rId5"/>
    <p:sldId id="338" r:id="rId4"/>
    <p:sldId id="339" r:id="rId3"/>
    <p:sldId id="340" r:id="rId50"/>
    <p:sldId id="341" r:id="rId51"/>
    <p:sldId id="342" r:id="rId52"/>
    <p:sldId id="343" r:id="rId53"/>
    <p:sldId id="344" r:id="rId54"/>
    <p:sldId id="345" r:id="rId55"/>
    <p:sldId id="346" r:id="rId56"/>
    <p:sldId id="347" r:id="rId57"/>
    <p:sldId id="348" r:id="rId58"/>
    <p:sldId id="349" r:id="rId59"/>
    <p:sldId id="350" r:id="rId60"/>
    <p:sldId id="351" r:id="rId61"/>
    <p:sldId id="352" r:id="rId62"/>
    <p:sldId id="353" r:id="rId63"/>
    <p:sldId id="354" r:id="rId64"/>
    <p:sldId id="355" r:id="rId65"/>
    <p:sldId id="356" r:id="rId66"/>
    <p:sldId id="357" r:id="rId67"/>
    <p:sldId id="358" r:id="rId68"/>
    <p:sldId id="359" r:id="rId69"/>
    <p:sldId id="360" r:id="rId70"/>
    <p:sldId id="361" r:id="rId71"/>
    <p:sldId id="362" r:id="rId72"/>
    <p:sldId id="363" r:id="rId73"/>
    <p:sldId id="364" r:id="rId7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00.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901.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(estimated)³,⁴</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need a server, GB (estimated)³</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Sheet1!$A$2:$A$3</c:f>
              <c:strCache>
                <c:ptCount val="2"/>
                <c:pt idx="0">
                  <c:v>One server · 151</c:v>
                </c:pt>
                <c:pt idx="1">
                  <c:v>A shard owner · 69</c:v>
                </c:pt>
              </c:strCache>
            </c:strRef>
          </c:cat>
          <c:val>
            <c:numRef>
              <c:f>Sheet1!$B$2:$B$3</c:f>
              <c:numCache>
                <c:formatCode>General</c:formatCode>
                <c:ptCount val="2"/>
                <c:pt idx="0">
                  <c:v>21.2</c:v>
                </c:pt>
                <c:pt idx="1">
                  <c:v>21.2</c:v>
                </c:pt>
              </c:numCache>
            </c:numRef>
          </c:val>
        </c:ser>
        <c:ser>
          <c:idx val="1"/>
          <c:order val="1"/>
          <c:tx>
            <c:strRef>
              <c:f>Sheet1!$C$1</c:f>
              <c:strCache>
                <c:ptCount val="1"/>
                <c:pt idx="0">
                  <c:v>Page cache</c:v>
                </c:pt>
              </c:strCache>
            </c:strRef>
          </c:tx>
          <c:spPr>
            <a:solidFill>
              <a:srgbClr val="C4384B"/>
            </a:solidFill>
          </c:spPr>
          <c:cat>
            <c:strRef>
              <c:f>Sheet1!$A$2:$A$3</c:f>
              <c:strCache>
                <c:ptCount val="2"/>
                <c:pt idx="0">
                  <c:v>One server · 151</c:v>
                </c:pt>
                <c:pt idx="1">
                  <c:v>A shard owner · 69</c:v>
                </c:pt>
              </c:strCache>
            </c:strRef>
          </c:cat>
          <c:val>
            <c:numRef>
              <c:f>Sheet1!$C$2:$C$3</c:f>
              <c:numCache>
                <c:formatCode>General</c:formatCode>
                <c:ptCount val="2"/>
                <c:pt idx="0">
                  <c:v>78.4</c:v>
                </c:pt>
                <c:pt idx="1">
                  <c:v>26.1</c:v>
                </c:pt>
              </c:numCache>
            </c:numRef>
          </c:val>
        </c:ser>
        <c:ser>
          <c:idx val="2"/>
          <c:order val="2"/>
          <c:tx>
            <c:strRef>
              <c:f>Sheet1!$D$1</c:f>
              <c:strCache>
                <c:ptCount val="1"/>
                <c:pt idx="0">
                  <c:v>Load</c:v>
                </c:pt>
              </c:strCache>
            </c:strRef>
          </c:tx>
          <c:spPr>
            <a:solidFill>
              <a:srgbClr val="B9AFA5"/>
            </a:solidFill>
          </c:spPr>
          <c:cat>
            <c:strRef>
              <c:f>Sheet1!$A$2:$A$3</c:f>
              <c:strCache>
                <c:ptCount val="2"/>
                <c:pt idx="0">
                  <c:v>One server · 151</c:v>
                </c:pt>
                <c:pt idx="1">
                  <c:v>A shard owner · 69</c:v>
                </c:pt>
              </c:strCache>
            </c:strRef>
          </c:cat>
          <c:val>
            <c:numRef>
              <c:f>Sheet1!$D$2:$D$3</c:f>
              <c:numCache>
                <c:formatCode>General</c:formatCode>
                <c:ptCount val="2"/>
                <c:pt idx="0">
                  <c:v>44.2</c:v>
                </c:pt>
                <c:pt idx="1">
                  <c:v>14.7</c:v>
                </c:pt>
              </c:numCache>
            </c:numRef>
          </c:val>
        </c:ser>
        <c:ser>
          <c:idx val="3"/>
          <c:order val="3"/>
          <c:tx>
            <c:strRef>
              <c:f>Sheet1!$E$1</c:f>
              <c:strCache>
                <c:ptCount val="1"/>
                <c:pt idx="0">
                  <c:v>OS</c:v>
                </c:pt>
              </c:strCache>
            </c:strRef>
          </c:tx>
          <c:spPr>
            <a:solidFill>
              <a:srgbClr val="4A5058"/>
            </a:solidFill>
          </c:spPr>
          <c:cat>
            <c:strRef>
              <c:f>Sheet1!$A$2:$A$3</c:f>
              <c:strCache>
                <c:ptCount val="2"/>
                <c:pt idx="0">
                  <c:v>One server · 151</c:v>
                </c:pt>
                <c:pt idx="1">
                  <c:v>A shard owner · 69</c:v>
                </c:pt>
              </c:strCache>
            </c:strRef>
          </c:cat>
          <c:val>
            <c:numRef>
              <c:f>Sheet1!$E$2:$E$3</c:f>
              <c:numCache>
                <c:formatCode>General</c:formatCode>
                <c:ptCount val="2"/>
                <c:pt idx="0">
                  <c:v>7</c:v>
                </c:pt>
                <c:pt idx="1">
                  <c:v>7</c:v>
                </c:pt>
              </c:numCache>
            </c:numRef>
          </c:val>
        </c:ser>
        <c:gapWidth val="45"/>
        <c:overlap val="100"/>
        <c:axId val="-2068027336"/>
        <c:axId val="-2113994440"/>
      </c:barChart>
      <c:catAx>
        <c:axId val="-2068027336"/>
        <c:scaling>
          <c:orientation val="maxMin"/>
        </c:scaling>
        <c:delete val="0"/>
        <c:axPos val="l"/>
        <c:majorTickMark val="out"/>
        <c:minorTickMark val="none"/>
        <c:tickLblPos val="nextTo"/>
        <c:txPr>
          <a:bodyPr/>
          <a:lstStyle/>
          <a:p>
            <a:pPr>
              <a:defRPr sz="1050"/>
            </a:pPr>
          </a:p>
        </c:txPr>
        <c:crossAx val="-2113994440"/>
        <c:crosses val="autoZero"/>
        <c:auto val="1"/>
        <c:lblAlgn val="ctr"/>
        <c:lblOffset val="100"/>
        <c:noMultiLvlLbl val="0"/>
      </c:catAx>
      <c:valAx>
        <c:axId val="-2113994440"/>
        <c:scaling>
          <c:max val="160.0"/>
          <c:min val="0.0"/>
        </c:scaling>
        <c:delete val="0"/>
        <c:axPos val="b"/>
        <c:majorTickMark val="out"/>
        <c:minorTickMark val="none"/>
        <c:tickLblPos val="nextTo"/>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The work on scenario PVs (with reporting currencies, the currency picker, intraday from files and Kafka, any input contract, the configurable window, confidence and root name, JSONL) is built and released. The work on hierarchies (configured by columns with the limit letters and the var-limit feed, PNL-&lt;trade&gt;-&lt;set&gt; ids, Iceberg as a full alternative to Delta for VaR, intraday and exposure, official results to Delta or Iceberg on a folder or S3, airtight connector upgrades) is built. Scaling one date out across a cluster of servers (VaR sharding) and the parallel Java lake loader are built, and so are the editions and the computed attributes; 10-day and stressed VaR and the 200K benchmark are not built yet.</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(VAR_GUIDE.md section 15.14).</a:t>
            </a:r>
          </a:p>
          <a:p/>
          <a:p>
            <a:r>
              <a:t>The legend explains the labels used on every later slide. Nothing built is labelled: VaR sharding, the cluster, Iceberg, the parallel Java lake loader, the editions and the computed attributes are built. Only what is not built carries a status: PLANNED (stressed VaR, 10-day VaR, ES backtests, the 200K benchmark), NOT RUN (written but not yet run on AWS: Glue and S3 Tables), PROPOSED for this deck's recommendations. MEASURED, ESTIMATED and ASSUMPTION say how a figure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ES backtests, 10-day and stressed VaR (the capacity slides size the last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a:t>
            </a:r>
          </a:p>
          <a:p/>
          <a:p>
            <a:r>
              <a:t>Scenario window: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built; scenario PVs at trade grain and position grain for either form are built.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(commit 295cba961).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intraday was built,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DATA_FORMATS.md section 6 (the contribution tables by trade and by position travel as Arrow on request, read in the browser with Apache Arrow JS, vendored: 631,873 to 244,304 bytes by trade and 692,324 to 243,392 by position, 61 and 65% fewer; fetched through the console in 59 to 61 ms against 81 to 91 ms; the P&amp;L path stays JSON, measured no smaller as Arrow); config/demo/names.yaml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(drishti.var.official.format and .storage), with a JSONL copy beside it. The lake of inputs is Delta by default or Iceberg; VaR, intraday and exposure read either, equal to the cent. No engine reads risk-results back (a guard test).</a:t>
            </a:r>
          </a:p>
          <a:p/>
          <a:p>
            <a:r>
              <a:t>Status: everything on this slide is built.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(VAR_GUIDE.md sections 15.14 and 15.15; CHANGELOG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built; so is everything else on this slide: scenario PVs (VAR_GUIDE.md section 15.9), position grain for both forms, the canonical record, the per-system pin, intraday files (section 8.4) and Kafka micro-batches ('Intraday updates from Kafka, as built'),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(JSON Lines is Drishti's data standard).</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RUN_KIND and COMPUTED_AT. The self-describing fields of the endorsed record (VALUE_TYPE, GRAIN with TRADE_ID or POSITION_ID, CURRENCY, SOURCE_SYSTEM, all required) are built; GRAIN is always present and must match TRADE_ID or POSITION_ID; old files are brought to the format with drishti.py convert --set …. The canonical record names the scenario PVs PVS and the book BOOK where the earlier contract columns say SCENARIO_PV and TT_BOOK. The four canonical lines are on the Any input contract slide.</a:t>
            </a:r>
          </a:p>
          <a:p/>
          <a:p>
            <a:r>
              <a:t>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docs/architecture/COMPUTED_ATTRIBUTES.md section 13 'As built'. Q1 nset-mtm (NSMTM): one page per netting set from the trade valuations of a live status: NET_MTM, TRADE_COUNT, GROSS_POSITIVE_MTM, GROSS_NEGATIVE_MTM, CE_UNCOLLATERALISED, NETTING_BENEFIT, NET_TO_GROSS, BY_PRODUCT_GROUP, the members, past-maturity count and MtM, SUM_CURRENCY. Q2 cpty-mtm (CPMTM): one page per counterparty, with its netting sets and CE uncollateralised = Σ max(set net, 0). Q3: Checks panels on the collateral balance (held, posted and net after haircut, from the positions), the credit limit (headroom; utilisation = used ÷ limit and its difference from the stored one), SA-CCR (EAD = α(RC + multiplier × add-on) and its difference) and the stress result (limit use, OK or BREACH). Q4 stress-scenario-pnl (SSPNL): the bank's P&amp;L under a scenario and every desk's (Drishti Risk leaves stress out). E0: the exposure engine reads a netting set's members and MtM from trade-valuation, the collateral after haircut and the counterparty's credit-limit.</a:t>
            </a:r>
          </a:p>
          <a:p/>
          <a:p>
            <a:r>
              <a:t>Visible to everyone (decision 6): derived pages are built once per business date and data version and shared; every user who may open the kind sees them. Sum currency: every derived total is in USD and says so; a set whose members are not all USD says not converted. Pictures: docs/guides/img/computed (tools/docs/shots/computed.py over the packs' samples).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COMPUTED_ATTRIBUTES.md 13.4 (reconciliation): on the test data's 2026-09-30, the derived net MtM against the stored netting-set.NET_MTM: 55 of 76 sets equal; the 21 others hold 827 trades of a live status past their maturity date (MtM 16.7m in total), which Live leaves out and the stored total counts; with them added back all 76 of 76 agree to the dollar. CP-ALDERSHOT: stored 520,405,666, derived 518,314,005 (18 trades past maturity in NS-ALDERSHOT-NY), uncollateralised CE 680,037,675.</a:t>
            </a:r>
          </a:p>
          <a:p/>
          <a:p>
            <a:r>
              <a:t>13.3 (the exposure engine re-pointed, E0): the members and their MtM are the same on the test data, so every change comes from the collateral after haircut: BANK (the demo run, 74 sets) peak PFE 95% 2,858,060,180 → 2,897,620,439, EPE 945,577,981 → 947,202,991, CE 1,532,007,701 → 1,586,811,699; CPTY:CP-ALDERSHOT CE 217,565,006 → 220,250,163; NS-ALDERSHOT-NY CE 212,580,686 → 214,706,654. 13.2: across the 76 balances the holdings' market value is 6,304.4m and their value after haircut 6,229.6m. Trades, valuations, P&amp;L vectors, scenario PVs, FX scenarios and scenario sets are byte for byte as before, so VAR BANK on 2026-09-30 stays USD 112,041,646.</a:t>
            </a:r>
          </a:p>
          <a:p/>
          <a:p>
            <a:r>
              <a:t>The retirement guard (tools/contracts.policy.yaml removed:) fails the build if netting-set.UTILISATION, risk-hierarchy.LIMIT_VAR or portfolio.LIMIT_VAR return. 13.5 still open: retire the stored figures with the NSET engine; convert: on derived fields and the sums: configuration; BI's Open MTM filtered to Live; SA-CCR's stored RC before haircut.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Pictures from docs/guides/img/computed (EXPOSURE_GUIDE.md section 22 and VAR_GUIDE.md section 21.4), made by tools/docs/shots/computed.py over the packs' samples. The counterparty: Computed from the trade valuations (net MtM, trades, gross parts, netting sets, CE uncollateralised, past maturity). The stress scenario (COVID 2020 on the samples): Bank P&amp;L under this scenario (the desks' results added) and Desks under this scenario (P&amp;L, the positive limit, limit use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built; VAR_SHARDING.md).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are not built yet.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to settle when they are built;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(not built yet)), as the platform stands: one server holds each date's whole VaR. Labels: MEASURED (a Drishti measurement), ESTIMATED (arithmetic on measured figures), ASSUMPTION (for the bank to confirm). Every process shown is built, so none carries a status label; clustering several servers as one and VaR sharding are built.</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13,966 MB → 14,000 MB (corrected 2026-10-30 from 14,300, which took 13.97 as GiB);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sharded cluster (VAR_SHARDING.md; VAR_GUIDE.md section 28; CONFIGURATION.md, drishti.var.sharding.*). The model and constants are the single-server capacity slides' (aws_calc: 2.3M positions, 1,518 values a position, × 23 from the measured 100,000-trade figures of VAR_GUIDE.md 27.3 and 15.11).</a:t>
            </a:r>
          </a:p>
          <a:p/>
          <a:p>
            <a:r>
              <a:t>Owners: 6, replicas 2, so each holds 2/6 = 1/3 of the divided parts: page cache 78.4 × 1/3 = 26.1 GB; a load's spill and new hot file 44.2 × 1/3 = 14.7 GB; NVMe 1,183 × 1/3 = 394 GB (÷ 0.61 = about 650 GB provisioned). The heap is not divided: every member keeps the date's skeleton (ids, columns, book and node aggregates) for all 2.3M positions, so it can answer any scope: 21.2 GB (two dates open with all four sets, two other-currency books, a load's sort, the server, × 1.5 for the collector); ÷ 0.61 = 34.8, so -Xmx36g like the single server. RAM need 21.2 + 26.1 + 14.7 + 7 = 69 GB; ÷ 0.61 = 113: a 128 GB server with the deck's 39% headroom (96 GB for 1-day only).</a:t>
            </a:r>
          </a:p>
          <a:p/>
          <a:p>
            <a:r>
              <a:t>Coordinators: drishti.var.sharding.coordinator-only true; they put dates together from the owners' skeletons and add the partials: the skeleton heap without the rows (16-20 GB), 32 GB RAM, 8 vCPU (ASSUMPTION). Consoles: 2 hosts, 4 workers each (ASSUMPTION).</a:t>
            </a:r>
          </a:p>
          <a:p/>
          <a:p>
            <a:r>
              <a:t>Smaller options. 1-day only: 4 owners, each 2/4 of the 1-day cache and load (17.0 + 7.4 GB), heap (2 × 1.84 + 2 + 4) × 1.5 = 14.5 → 16 GB, OS 7: 47.4 GB; ÷ 0.61 → 96 GB, -Xmx24g. Minimum start: 3 owners with 2 replicas each hold 2/3: 21.2 + (78.4 + 44.2) × 2/3 + 7 = 110 GB; ÷ 0.61 → 192 GB; with replicas 1 each holds a third (69 GB, 128 GB machines), and a lost owner's scopes answer 503 until another owner builds its shards from the lake.</a:t>
            </a:r>
          </a:p>
          <a:p/>
          <a:p>
            <a:r>
              <a:t>Status: VaR sharding is built (off by default); 10-day and stressed VaR are not built yet (PLANNED). Every figure is ESTIMATED from the measured 100K benchmark, not measured at 2.3M; the next steps are the 200K benchmark and a 2.3M load on one real server.</a:t>
            </a:r>
          </a:p>
          <a:p/>
          <a:p>
            <a:r>
              <a:t>Corrected 2026-10-30: the owners' RAM, heap and NVMe now take the deck's 39% headroom (need ÷ 0.61), as the single server and the Fargate shards do; before, they were sized at need. Derivations: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all from the single-server model (aws_calc). One server: heap 21.2 + page cache 78.4 + a load 44.2 + OS 7 = 150.9 GB, 32 vCPU, NVMe 1,183 GB (the processes-and-memory and hardware slides). Six owners with two replicas each hold 1/3 of what can be divided: page cache 26.1 GB, load 14.7 GB, NVMe 394 GB. The heap is not divided (VAR_SHARDING.md section 13: every member holds the date's skeleton, ids, columns, positions, books and nodes with their aggregates, 0.8 KB a trade against 2 KB of rows), so each owner keeps 21.2 GB. An owner: 69.1 GB.</a:t>
            </a:r>
          </a:p>
          <a:p/>
          <a:p>
            <a:r>
              <a:t>Portfolios: 15,000 × 130 positions (assumed) = 1.95M position ids, about 31 MB; a portfolio's VaR is the sum of its rows, summed shard by shard by one ready owner each and added in shard order on the coordinator; the nightly official run over 15,000 portfolios spreads over six owners: expect minutes (ESTIMATED; the benchmark will tell).</a:t>
            </a:r>
          </a:p>
          <a:p/>
          <a:p>
            <a:r>
              <a:t>Failure: replicas 2 put each shard on two members (zones when configured); with one stopped its replica answers; with both stopped a scope that needs the shard answers 503 DRS-5215 and the bank's node still answers its aggregate (VAR_SHARDING.md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(MEASURED): SCALE_STRATEGY.md section 4.4, round 3 on the extreme lake (1.16M trades a day, -Xmx8g, 24 cores; each user loops 60 s over 80% single trades, 10% counterparty-trades pages, 5% netting sets, 5% searches): 133 / 141 / 122 req/s at 10 / 50 / 100 users, 0 failures; single trade p50/p95 0.03/0.08 s at 10 users, 0.18/1.0 s at 50; beyond about 140 req/s latency grows by queueing, no failures. Section 12, the phase 1 integration test: 50 users, server 146 req/s, console 69 req/s, 0 failures; console search under load about 4 s at 50 users (open item). VAR_GUIDE.md 27.2 (one user at a time): a node under 1 ms from its aggregate; the bank minus a desk 2.6 ms; an ad-hoc 50,000-position scope 52 ms; the whole bank summed from 1M trades 58 ms (about 70 GB/s on 24 threads).</a:t>
            </a:r>
          </a:p>
          <a:p/>
          <a:p>
            <a:r>
              <a:t>Estimated (ESTIMATED) for 6 owners + 2 coordinators + 2 consoles: servers 140 req/s scaled by cores, about 93 for a 16-vCPU and 47 for an 8-vCPU member (× 16/24, × 8/24), 6 × 93 + 2 × 47 ≈ 653, about 650 peak; half kept free, about 330 sustained. VaR: node and hierarchy answers come from totals (thousands a second); a whole-bank ad-hoc filter is bound by memory bandwidth: about 4.7 GB of float32 rows for a 1-day query, split over the owners, so about 10-25 a second across the cluster; the last 512 answers are cached. Consoles: 69 measured a console, so 2 give about 100-140 page loads a second. Users: the consoles bind first: 138 req/s ÷ 0.3-0.5 req/s a busy person (a page every 10 s, 3-5 API calls) = 280-460, so about 300-500 active people; 10-20% active at once gives 1,500-5,000 named users (300 ÷ 0.2 to 500 ÷ 0.1). Corrected 2026-10-30: peak 600 → 650 and sustained 300 → 330 req/s (the arithmetic gives 653), named users 2,000-4,000 → 1,500-5,000 (the range the ratios give).</a:t>
            </a:r>
          </a:p>
          <a:p/>
          <a:p>
            <a:r>
              <a:t>What limits it first: the consoles (add more; live tabs need sticky sessions at the load balancer, LIVE.md; 4 handle about double), many whole-bank filters at once (the morning risk meeting), and live tabs and streams (each open live view holds a connection; part of the soak-proofing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(unlabelled) and proposed. Sources: VAR_GUIDE.md section 15.1 (partitioned by business_date only; 7-year log and file retention, time travel; 'Design differs': the partition by scenario set and 512 MB files are a design; the sort by legal entity and desk with BYTE_STREAM_SPLIT and ZSTD is built in the parallel Java loader, PARALLEL_LOADER.md; open question 7), section 29 (the vector grain, the four layouts compared: list&lt;double&gt; chosen; a fixed-length binary blob rejected for interoperability; deletion vectors avoided; the append-only daily snapshot), section 29.3 (the Iceberg plugin implements SourcePlugin.vectors() as the Delta one does,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the official tables go to Delta or Iceberg under a folder or an s3:// root, each Delta commit on S3 an exclusive create, OfficialS3Test), section 28 (sharding, built: a shard map by legal entity and desk ranges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Built: VaR sharding. Each member maps only its ranges of position rows (a desk never split, two owners each), and a sum over the bank is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the 200K-position benchmark (single server against a three-node sharded cluster), then a 2.3M load on a real server, including a cold first touch of a history date; (2) clustering the lake by book and portfolio (Z-order or liquid clustering; the parallel loader already sorts by legal entity and desk with BYTE_STREAM_SPLIT + ZSTD); (3) a batch that builds every portfolio vector (the designed overnight precomputation), 15,000 portfolios are within the 100,000-row read limit; size max-parts (5,000) for contribution tables; (4) several consoles without sticky sessions; (5) the Glue and S3 Tables runs on a real AWS account (the code is built; not yet run: no AWS account). Position grain and Kafka micro-batching, Iceberg for VaR and exposure inputs, official results to Iceberg and S3, VaR sharding and the sorted parallel loader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(CHANGELOG,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Not built yet: the 200K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equality tests to the cent.</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200K benchmark will run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'Iceberg as a full production alternative to Delta': above the storage plugins Drishti is identical for both (packs, data contracts, connector names, engines, BI, UI, Drishti*net); Iceberg parity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a:t>
            </a:r>
          </a:p>
          <a:p/>
          <a:p>
            <a:r>
              <a:t>As built (CHANGELOG,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a:t>
            </a:r>
          </a:p>
          <a:p/>
          <a:p>
            <a:r>
              <a:t>The companion deck Drishti on AWS (the lake, Delta or Iceberg; docs/publications) covers the AWS architecture in detail; this deck's appendix has the AWS deployment and cost estimate.</a:t>
            </a:r>
          </a:p>
          <a:p/>
          <a:p>
            <a:r>
              <a:t>Talk track: VaR runs on Delta or Iceberg, on premises or on AWS;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(the design as built: sections 1-8, 12, 13) and docs/admin/EDITIONS_GUIDE.md (how to run one).</a:t>
            </a:r>
          </a:p>
          <a:p/>
          <a:p>
            <a:r>
              <a:t>An edition is a named bundle of settings in config/editions/&lt;name&gt;.yaml: the packs (allow-only refuses others, DRS-1017), the commands and console words people may use (hidden ones answer 404 DRS-4023; the engines still read every kind), the menus and footer, the features, BI reduced to the edition's datasets and models, Home's sections and landings, help and Knowledge, the Admin pages and the branding. Set drishti.edition (DRISHTI_EDITION) on every server and restart; the console learns it from the server's about answer. The site's configuration wins key by key, so a bank adjusts one item without forking the file.</a:t>
            </a:r>
          </a:p>
          <a:p/>
          <a:p>
            <a:r>
              <a:t>A lens is the same file opened by one person on a full instance: drishti.lenses (DRISHTI_LENSES: risk,world,market) offers Open Drishti Risk in Views and on Home; the person's lens is kept in their settings and sent to the server on each call (X-Drishti-Lens), so the command line, FUNC, the type-ahead and BI follow it. Leave … clears it; Switch to … opens another in one step. A lens hides; it does not secure: data access stays with roles, entitlements and masks.</a:t>
            </a:r>
          </a:p>
          <a:p/>
          <a:p>
            <a:r>
              <a:t>Landings: Risk desk (default), command and map; Market desk, explorer and quality; World desk, explorer and map. This chapter takes them in that order: Drishti Risk, then Drishti Market (the market data that feeds VaR), then Drishti World (the macro context for risk). home.landing-by-role {role: landing} is read and wins over a person's choice when configured: the hook for role-based access later; lens.roles is documented, not wired (PLANNED).</a:t>
            </a:r>
          </a:p>
          <a:p/>
          <a:p>
            <a:r>
              <a:t>Drishti Risk's commands: VaR (VAR, VRES, VWIF, VOFF, VLIM, HIER, PORT, POS, PNLV, SPV, FXS, SSET), exposure (EXP, XRUN, XPATH, XWIF, XOFC, AGR, CSA, NSET, LIM, COLL, MC), the derived totals NSMTM and CPMTM, reference data and trades; stress (STR, SCN, SSPNL) is left out by the product owner's decision.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Risk's Home (EDITIONS.md section 7). The product owner chose all three mock-ups: A desk (headline tiles: VaR and ES of BANK, the backtest, exposure EPE and peak PFE, limits in breach, counterparties and netting sets; VaR by desk with limit use; exposure by counterparty against its credit limit; quick cards), the default; B command (a big command line, the edition's command chips, a status strip, the person's VaR baskets, their monitors, links to learn); C map (the hierarchy with VaR and limit use per node and a switch between the hierarchies the engine holds, a limit-use heat map, a Today feed of intraday batches, official records and breaches). One template, home/risk_landing.html; every figure is the engines' own answer.</a:t>
            </a:r>
          </a:p>
          <a:p/>
          <a:p>
            <a:r>
              <a:t>The pictures were taken from the console of the browser tests (test_edition_browser.py) with its stand-in server: the bank's VaR 112,041,646 and ES 160,143,809 (VAR_GUIDE.md 2.2) and EPE 947.20m (COMPUTED_ATTRIBUTES.md 13.3) are the demo's; the desk and counterparty rows, the backtest and the counts are the test's stand-ins.</a:t>
            </a:r>
          </a:p>
          <a:p/>
          <a:p>
            <a:r>
              <a:t>Not served yet (left out): exposure per node of a VaR hierarchy, credit-limit use per desk, recent commands, the time of an official capture.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and EDITIONS_GUIDE.md section 11. Drishti Market (edition market, config/editions/market.yaml) is the bank's own market data: the curves, surfaces and fixings that feed risk and valuations. Packs: market-data and core (market-data extends it: issuers and holiday calendars), allow-only; trading, counterparty-risk, market-risk, the public-data packs and the example packs are refused (DRS-1017). Commands: the pack's 22 (CRV, REPO, IRV, CPV, FIX, INF, INFC; FX, FXF, FXV; CDS, BND; EQ, EQX, DIV, EQV, CMD, CMDC, CMDV; CORR, CORRC, EQB) and the words BI, FORM, FUNC, WHAT, DATAMAP; VAR, EXP and every risk and trade command are hidden (404 DRS-4023). BI: the market-data datasets and model (the pack ships none yet, so BI offers its themes only). Nothing in the engines changed.</a:t>
            </a:r>
          </a:p>
          <a:p/>
          <a:p>
            <a:r>
              <a:t>Framing for VaR users: Drishti never reprices; the pricing systems send scenario PVs or P&amp;L, built from the bank's market data. Drishti Market shows that market data and its quality checks (next slide), so a risk manager can see whether the inputs behind a VaR move were sound. Lenses: drishti.lenses risk,world,market (EDITIONS_GUIDE.md section 5); a lens hides, it does not secure.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'C quality, Quality': the checks the data supports today, by severity, worst first, each item opening its command. 1 Stale (warning): a document's AS_OF (curves and repo curves), or the date its source holds it for, older than the business date by more than quality.stale-days business days (2; weekends and the server's holidays skipped); curves and surfaces one by one, every other kind by its latest load. 2 Gaps (warning): a curve missing a tenor every other curve of its type has (IR curves by CURVE_TYPE; repo, credit, FX forward and inflation curves by kind; a type of three or more). 3 Discount factors and forwards: a discount factor that does not fall with maturity or is outside (0, 1] (critical); a negative forward rate in FORWARDS (warning). 4 Vol surfaces (critical): a vol at or below zero (risk reversals and butterflies may be negative), and ATM total variance falling with expiry on the FX and equity surfaces (the commodity, cap and swaption grids have a different underlying per row, so calendar spreads are not checked there).</a:t>
            </a:r>
          </a:p>
          <a:p/>
          <a:p>
            <a:r>
              <a:t>Not built (PLANNED, IMPLEMENTATION_PLAN.md): the Impact card (who uses each flagged point, VaR at stake), jumps over n σ as a quality check, and two sources disagreeing. The mock-up's 'VaR at stake' tile is not built: the landing shows the note 'Impact on VaR and valuations comes in a later release' instead. On the committed demo data every check is clean.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'Its Home: three landings'. Drawn in the terminal look with a violet accent. The figures are worked out in the console by core/market_landing.py from the pack's own answers (search, raw documents, the business date and one field's history), with the person's identity, lens and date box, read-only and cached for two minutes per person, served by /api/home/market/desk, /moves and /quality (404 DRS-4023 unless the person's edition or lens shows CRV).</a:t>
            </a:r>
          </a:p>
          <a:p/>
          <a:p>
            <a:r>
              <a:t>A Market desk: tiles USD OIS 10Y (CRV-USD-OIS TEN_Y), USD 2s10s (CRV-USD-PROJ SLOPE_2S_10S), EUR/USD 1M ATM vol (FXV-EURUSD ATM_1M), CDS 5Y median (every credit curve's SPREAD_5Y) and Data exceptions (opening C). A change is shown only when the history holds real data for the latest day and the business day before it. USD curves: OIS today against five business days before (dashed) and projection. Biggest moves: each curve's TEN_Y, credit curve's SPREAD_5Y, FX spot's MID, commodity's FRONT and index's LEVEL over 21 business days, the latest move in standard deviations of the item's own daily moves when ten or more are held (a jump at 3σ or more). B Explorer: command line, chips, counts by asset class, the commands grouped by asset class, recently opened, Knowledge, Data map and Learn. C Quality: the previous slide.</a:t>
            </a:r>
          </a:p>
          <a:p/>
          <a:p>
            <a:r>
              <a:t>Pictures: the console of test_edition_market_browser.py with its stand-in server (seeded stale, gap, discount-factor, forward and surface problems). The Quality picture is the built landing: its Impact tile carries the 'later release' note, not the mock-up's VaR at stake.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and EDITIONS_GUIDE.md section 10. Drishti World (edition world, config/editions/world.yaml) is the public-data packs in one product: world-economy, news-and-markets, us-equities, gleif and funds, allow-only (none of their links leads into core or market-data); core, market-data, trading, counterparty-risk, market-risk and the example packs are refused (DRS-1017). Commands: the packs' own 32 (ECON, MACRO, FCST, LABR, FISC, ECG, REGE, JUR, PARTY, OFFC, ELEC, REGN, SOCI; TOPIC, NEWS, CO, QUOTE; USEQ, IDX, SIC, EDGAR, FILING, FACT, PXH; LEI, LEIG, LEIR, LEIC, LEIM; FUND, HELD, TRACK) and the words BI, FORM, FUNC, WHAT, DATAMAP; VAR, EXP and every risk command are hidden. BI: world-economics-economies and region-economics-regions with their models and reports. Nothing in the engines changed.</a:t>
            </a:r>
          </a:p>
          <a:p/>
          <a:p>
            <a:r>
              <a:t>Framing for risk users: context, not risk figures. The IMF figures and the Yahoo prices in these packs are shown inside the bank (product owner, 2026-10-29); showing the edition outside it still needs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'Its Home: three landings' (the product owner approved all three mock-ups, 2026-10-29). One template, home/world_landing.html. A World desk: tiles (World GDP growth from the World country group, GDP-weighted; quotes up and down in the market snapshot; the biggest mover; new SEC filings on the feed's latest day; funds and ETFs with the largest); economies that moved (the twelve largest, this year's growth against the year before); today's news by topic; quick cards for ECON, USEQ, LEIG and FUND. B Explorer: a big command line, chips, a counts strip, recently opened (the edition's commands only), Knowledge, Data map and Learn cards. C World map: by region, income group, G7 or G20, and by growth, inflation or debt to GDP, each group weighted by GDP from its economies' own figures; US sectors (revenue by SIC division), the largest funds, what changed (the IMF outlook's vintage, the latest filings, the annual report, the market snapshot, GLEIF on file).</a:t>
            </a:r>
          </a:p>
          <a:p/>
          <a:p>
            <a:r>
              <a:t>How it reads: one thin read-only route, /api/home/search, the server's own search grammar, refused with 404 DRS-4023 for a command the person's edition or lens does not show. Pictures: the console of test_edition_world_browser.py with its stand-in server.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2 to 4, each row with its link there.</a:t>
            </a:r>
          </a:p>
          <a:p/>
          <a:p>
            <a:r>
              <a:t>Canada: OSFI's November 2021 letter set market risk and CVA for Q1 of fiscal 2024 (1 November 2023 for October year-ends). CAR 2026 chapter 9 is current; CAR 2027 (final, 10 September 2026) takes effect November 2026 / January 2027. BCAR schedule 90.010 sections A to G: section A carries ES at 97.5% (reporting date and 60-day average, total and per risk class) and SES (12-week average) for approved desks only; no VaR. Pillar 3: MR1 and MR2 quarterly, MRA and MRB annual, effective Q4 2024; MR2 has the backtesting exception count against 99% VaR. The annual-report VaR table is IFRS 7 and bank practice, not an OSFI template; two D-SIBs' FY2025 tables show VaR by risk type and no stressed VaR. Risk.net reported at go-live that no Canadian bank used internal models (secondary, not confirmed).</a:t>
            </a:r>
          </a:p>
          <a:p/>
          <a:p>
            <a:r>
              <a:t>US: 12 CFR 217 subpart F (VaR 99% 10-day; stressed VaR at least weekly, 12-week average; backtest 250 days at 1-day 99%, multiplier 3.00 to 4.00). FFIEC 102: VaR and stressed VaR sections plus memoranda, public, extended without revision in 2025. FR Y-9C HC-R Part II item 27: standardized market-risk weighted assets. §217.212: high, low, mean and period-end VaR and stressed VaR, by risk category, and a comparison with actual gains and losses. Volcker appendix A: five metrics since the 2019 amendments (limits and usage, VaR, comprehensive P&amp;L attribution, positions, transaction volumes); stressed VaR and risk-factor sensitivities were removed. Re-proposal: Federal Register 2026-05959 (27 March 2026), comments closed 18 June 2026, no final rule found on 2026-10-30.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5 (the matrix) and 6 (coverage, with evidence).</a:t>
            </a:r>
          </a:p>
          <a:p/>
          <a:p>
            <a:r>
              <a:t>Built: VaR and ES at any scope (VAR_GUIDE sections 18.1, 18.2, 18.5); MGMT, LEGAL and limit-letter hierarchies with diversification (sections 15.14, 18.3, 19); var-limit and LIMIT_USE (15.15); official captures of every node, result versions, append-only Delta or Iceberg kept 7 years (19); backtesting in official mode against the derived hypothetical P&amp;L with the traffic light, Kupiec and Christoffersen (7, 18.4).</a:t>
            </a:r>
          </a:p>
          <a:p/>
          <a:p>
            <a:r>
              <a:t>Caution: Drishti's derived HYPO_PNL is the risk model's P&amp;L for the newest scenario day, closer to a risk-theoretical P&amp;L than to the front-office hypothetical P&amp;L a regulatory backtest needs; the bank's own feed replaces it.</a:t>
            </a:r>
          </a:p>
          <a:p/>
          <a:p>
            <a:r>
              <a:t>Not built: actual P&amp;L, the 97.5% desk backtest and the multiplier tables; period statistics and averages (the official history is there to compute them); VaR by risk class (PNL_BY_RISK_CLASS designed, VAR_GUIDE 15.2); Volcker's other limits, comprehensive P&amp;L attribution (PNL.md proposed), transaction volumes; the FRTB standardised approach (FRTB.md proposed); liquidity horizons, stressed ES calibration, PLA, RFET, SES, DRC. Planned: 10-day and stressed VaR (in the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6 (the report layer, retention and reproducibility) and 7 (G3, G5, G7); VAR_GUIDE.md section 19 (official end-of-day results: captures of every node, the date's record with inputs, versions and batch ids, the membership record, result versions on restatement, the append-only published table kept 7 years in Delta or Iceberg, read by BI). Exports: BI to PDF, PNG, Excel and CSV (DISTRIBUTION.md); paginated reports (REPORTS.md).</a:t>
            </a:r>
          </a:p>
          <a:p/>
          <a:p>
            <a:r>
              <a:t>Not built: the daily P&amp;L feed from product control (G3) and period statistics and averages (G5). Planned: 10-day and stressed VaR. Drishti computes and lays out the figures; the filing and its sign-off stay with the bank.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roadmap for the deck, merging the earlier governance roadmap, the build-status list and the regulatory phases (next slide). Built things carry no label (product owner's rule); only what is not built, or not yet run, carries a status.</a:t>
            </a:r>
          </a:p>
          <a:p/>
          <a:p>
            <a:r>
              <a:t>Built (IMPLEMENTATION_PLAN.md, CHANGELOG.md, VAR_GUIDE.md): any input contract (15.13); intraday from files and Kafka (8.4, equal to the same data loaded as one run, to the cent); reporting currencies built ahead (15.10, 15.11); official end-of-day records, append-only, 7 years, JSONL beside them (19); Iceberg as a full alternative to Delta (VarFormatEqualityTest, ExposureFormatEqualityTest); hierarchies configured by columns (15.14); VaR sharded across a cluster (VAR_SHARDING.md) and the parallel Java lake loader (PARALLEL_LOADER.md); the editions Drishti Risk, Market and World with lenses (EDITIONS.md); computed attributes (COMPUTED_ATTRIBUTES.md 13); Arrow where it pays (ARCHITECTURE.md 16.1, DATA_FORMATS.md section 6: the VaR contribution tables travel to the browser as Arrow on request, read with Arrow JS, measured 61 to 65% fewer bytes: 631,873 to 244,304 bytes by trade, 692,324 to 243,392 by position; BI grids and P&amp;L paths stay JSON, measured no better as Arrow; the hot files, the lake and shard partials keep their formats).</a:t>
            </a:r>
          </a:p>
          <a:p/>
          <a:p>
            <a:r>
              <a:t>PLANNED (IMPLEMENTATION_PLAN.md, the items carried forward and the next release's list): stressed and 10-day VaR with ES backtests; the scale benchmark at 200K positions and 1,500 portfolios (single server against a three-node sharded cluster, Python against Java loader), then 2.3M on a real server; a client-side renderer (a JS/CSS library that paints Drishti screens from the server's ViewModel JSON; search drawn in the browser belongs with it); Delta and Iceberg conversion; in-place Delta schema evolution; plain tables and Unity Catalog. NOT RUN: AWS Glue and S3 Tables (written; the live runs need an AWS account). PROPOSED by this deck: clustering by book and portfolio; a published node and portfolio vector table; every portfolio's vector in an overnight batch (VAR_GUIDE.md section 30). Later (the earlier roadmap): QLRisk what-if pricing, age-weighted methods, cubes. Known gap (IMPLEMENTATION_PLAN.md): several consoles behind a load balancer need sticky sessions for live tabs.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7 (gaps G1 to G15 with designs and sizes), 8 (roadmap) and 9 (data the bank supplies).</a:t>
            </a:r>
          </a:p>
          <a:p/>
          <a:p>
            <a:r>
              <a:t>Phase 1 (next): G1 10-day VaR (a second, 10-day scenario set or √10 scaling, which the US rule allows when justified), G2 stressed VaR (an SVAR scenario set over the bank's 12-month stress window, at least weekly), G3 a daily-pnl input kind (actual and hypothetical P&amp;L with fees, commissions, reserves, net interest and intraday separated), G4 the regulatory backtest (per node, 99% and 97.5%, actual and hypothetical counted separately, the US 3.00-4.00 and OSFI 1.50-2.00 tables as configuration), G5 period statistics computed from the official records, G15 CAD official records.</a:t>
            </a:r>
          </a:p>
          <a:p>
            <a:r>
              <a:t>Phase 2 (later): G6 PNL_BY_RISK_CLASS vectors and VaR by class with the diversification line; G7 report packs as BI datasets, paginated reports and extracts; G8 Volcker metrics.</a:t>
            </a:r>
          </a:p>
          <a:p>
            <a:r>
              <a:t>Phase 3a: G9 the FRTB standardised approach of FRTB.md. Phase 3b, only for a bank seeking model approval: G10 ES by liquidity horizon, G11 stressed calibration, G12 PLA (Spearman switchable off for the US re-proposal), G13 RFET and SES, G14 DRC.</a:t>
            </a:r>
          </a:p>
          <a:p/>
          <a:p>
            <a:r>
              <a:t>No release is assigned: listed in the implementation plan as a candidate, not started.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settings (window, confidence, currencies, root name; VAR_GUIDE.md section 12) and entitlements per role and node (section 9) agreed; the million-trade × 50-date benchmark has not been run on a server, so running it (and 2.3M) on the target hardware comes first (section 27; the 200K benchmark is planned, then a 2.3M load on a real server).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with the var-limit feed); currencies built ahead; BI's Market risk: VaR report reads var-official. If one server is not enough, VaR scale-out across a cluster is built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(Delta, not built yet: an in-place add of a nullable column, old files reading as empty, with an optional backfill from the documents); the connector upgrades (CHANGELOG,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an earlier release's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Delta's in-place nullable add is planned (not built yet);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(not built yet),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14,000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(built,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are built, so option A can be built on an Iceberg lake as fully as on Delta; the Glue and S3 Tables catalogs are written but not yet run on AWS, a planned run); VaR sharding (option C) is built but not yet run on Fargate, which is why the VaR servers start on EC2 capacity. Option B depends on √10 scaling for 10-day VaR, which comes with the 10-day measures (PLANNED: 10-day and stressed VaR are not built yet).</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the official results (Delta or Iceberg with JSONL beside, to s3:// roots, built;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(not built yet).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(sharding built):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to start; C once sharding runs on Fargate.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decks are in docs/publications. The guides and designs are in the Drishti repository; each slide's notes name the sections it draws on.</a:t>
            </a:r>
          </a:p>
        </p:txBody>
      </p:sp>
      <p:sp>
        <p:nvSpPr>
          <p:cNvPr id="4" name="Slide Number Placeholder 3"/>
          <p:cNvSpPr>
            <a:spLocks noGrp="1"/>
          </p:cNvSpPr>
          <p:nvPr>
            <p:ph type="sldNum" idx="5" sz="quarter"/>
          </p:nvPr>
        </p:nvSpPr>
        <p:spPr/>
      </p:sp>
    </p:spTree>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docs/architecture/VAR_SHARDING.md, docs/architecture/EDITIONS.md, docs/architecture/COMPUTED_ATTRIBUTES.md section 13, docs/knowledge/market-risk.md, docs/tutorials/25-var-from-the-bank-to-a-trade.md, docs/architecture/IMPLEMENTATION_PLAN.md. Release history: the release notes.</a:t>
            </a:r>
          </a:p>
          <a:p/>
          <a:p>
            <a:r>
              <a:t>Talk track: this deck explains the VaR engine that sits inside the Drishti server: what it computes, how the data reaches it (scenario PVs in each trade's own currency, any reporting currency, intraday updates, JSONL as the delivery standard, hierarchies configured by columns such as limit letters, Delta or Iceberg, official results to S3), what the console shows, and how it scales to a large bank (e.g. 2.3 million positions, 15,000 portfolios, about 700 limit letters).</a:t>
            </a:r>
          </a:p>
          <a:p/>
          <a:p>
            <a:r>
              <a:t>The order: an executive summary, then why, how it works (the method, data in, computed attributes), the evidence (scale, capacity, concurrency), operating it (storage, deployment, operations, model risk and controls), the editions for VaR users (Drishti Risk, Market and World), regulatory reporting, and the roadmap and rollout. The appendix holds the reference material: the record contract, onboarding, schema changes, the hardware plan, the AWS deployment and its cost, the failure runbook, the glossary and the related documents.</a:t>
            </a:r>
          </a:p>
          <a:p/>
          <a:p>
            <a:r>
              <a:t>Status labels: nothing built is labelled (VaR sharding across servers, the parallel Java lake loader, the editions and the computed attributes are built); only what is not built carries a status: PLANNED (stressed VaR, 10-day VaR, ES backtests, Delta's in-place column add), NOT BUILT (open items), NOT RUN (written but not yet run on AWS), PROPOSED (a recommendation of this deck). MEASURED, ESTIMATED and ASSUMPTION label how a figure was obtained.</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1132141"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mark" descr="Drishti logo: an eye between curly brackets"/>
          <p:cNvPicPr>
            <a:picLocks noChangeAspect="1"/>
          </p:cNvPicPr>
          <p:nvPr/>
        </p:nvPicPr>
        <p:blipFill>
          <a:blip r:embed="rId2"/>
          <a:stretch>
            <a:fillRect/>
          </a:stretch>
        </p:blipFill>
        <p:spPr>
          <a:xfrm>
            <a:off x="777240" y="6469380"/>
            <a:ext cx="281749" cy="1554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0.xml"/><Relationship Id="rId3" Type="http://schemas.openxmlformats.org/officeDocument/2006/relationships/image" Target="../media/image1.png"/></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1.xml"/><Relationship Id="rId3" Type="http://schemas.openxmlformats.org/officeDocument/2006/relationships/image" Target="../media/image1.png"/></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ms¹ (heap tier); 100,000 × 5 dates on the tiered store, a node in 0.48 ms²; 700 limit letters build in the same time³. Sized for a large bank (e.g. 2.3M positions, 15,000 portfolios)⁴ on the sizing and capacity slides; VaR sharded across a cluster is built.</a:t>
            </a:r>
          </a:p>
        </p:txBody>
      </p:sp>
      <p:sp>
        <p:nvSpPr>
          <p:cNvPr id="4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VarScaleBenchmark, 1M trades (VAR_GUIDE §27.2)   ² VarTierBenchmark, 100,000 × 5 dates (§27.3)   ³ 10,000 trades (§15.14)   ⁴ derivation A-1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Drishti VaR</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2.3M¹</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15,000¹</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5²</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700¹</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TextBox 56"/>
          <p:cNvSpPr txBox="1"/>
          <p:nvPr/>
        </p:nvSpPr>
        <p:spPr>
          <a:xfrm>
            <a:off x="2377440" y="5404103"/>
            <a:ext cx="8897112" cy="274320"/>
          </a:xfrm>
          <a:prstGeom prst="rect">
            <a:avLst/>
          </a:prstGeom>
          <a:noFill/>
        </p:spPr>
        <p:txBody>
          <a:bodyPr wrap="square" lIns="0" rIns="0" tIns="0" bIns="0" anchor="ctr">
            <a:spAutoFit/>
          </a:bodyPr>
          <a:lstStyle/>
          <a:p>
            <a:pPr algn="l"/>
            <a:r>
              <a:rPr sz="1050" b="0" i="1">
                <a:solidFill>
                  <a:srgbClr val="4A5058"/>
                </a:solidFill>
              </a:rPr>
              <a:t>Built things carry no label; only what is not built yet does.</a:t>
            </a:r>
          </a:p>
        </p:txBody>
      </p:sp>
      <p:sp>
        <p:nvSpPr>
          <p:cNvPr id="58" name="Rounded Rectangle 57"/>
          <p:cNvSpPr/>
          <p:nvPr/>
        </p:nvSpPr>
        <p:spPr>
          <a:xfrm>
            <a:off x="1354944" y="573328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59" name="TextBox 58"/>
          <p:cNvSpPr txBox="1"/>
          <p:nvPr/>
        </p:nvSpPr>
        <p:spPr>
          <a:xfrm>
            <a:off x="960119" y="5961888"/>
            <a:ext cx="1388581" cy="256032"/>
          </a:xfrm>
          <a:prstGeom prst="rect">
            <a:avLst/>
          </a:prstGeom>
          <a:noFill/>
        </p:spPr>
        <p:txBody>
          <a:bodyPr wrap="square" lIns="0" rIns="0" tIns="0" bIns="0" anchor="ctr">
            <a:spAutoFit/>
          </a:bodyPr>
          <a:lstStyle/>
          <a:p>
            <a:pPr algn="ctr"/>
            <a:r>
              <a:rPr sz="1050" b="0" i="0">
                <a:solidFill>
                  <a:srgbClr val="4A5058"/>
                </a:solidFill>
              </a:rPr>
              <a:t>not built yet</a:t>
            </a:r>
          </a:p>
        </p:txBody>
      </p:sp>
      <p:sp>
        <p:nvSpPr>
          <p:cNvPr id="60" name="Rounded Rectangle 59"/>
          <p:cNvSpPr/>
          <p:nvPr/>
        </p:nvSpPr>
        <p:spPr>
          <a:xfrm>
            <a:off x="2766386" y="57332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BUILT</a:t>
            </a:r>
          </a:p>
        </p:txBody>
      </p:sp>
      <p:sp>
        <p:nvSpPr>
          <p:cNvPr id="61" name="TextBox 60"/>
          <p:cNvSpPr txBox="1"/>
          <p:nvPr/>
        </p:nvSpPr>
        <p:spPr>
          <a:xfrm>
            <a:off x="2440141" y="5961888"/>
            <a:ext cx="1388581" cy="256032"/>
          </a:xfrm>
          <a:prstGeom prst="rect">
            <a:avLst/>
          </a:prstGeom>
          <a:noFill/>
        </p:spPr>
        <p:txBody>
          <a:bodyPr wrap="square" lIns="0" rIns="0" tIns="0" bIns="0" anchor="ctr">
            <a:spAutoFit/>
          </a:bodyPr>
          <a:lstStyle/>
          <a:p>
            <a:pPr algn="ctr"/>
            <a:r>
              <a:rPr sz="1050" b="0" i="0">
                <a:solidFill>
                  <a:srgbClr val="4A5058"/>
                </a:solidFill>
              </a:rPr>
              <a:t>open, not built</a:t>
            </a:r>
          </a:p>
        </p:txBody>
      </p:sp>
      <p:sp>
        <p:nvSpPr>
          <p:cNvPr id="62" name="Rounded Rectangle 61"/>
          <p:cNvSpPr/>
          <p:nvPr/>
        </p:nvSpPr>
        <p:spPr>
          <a:xfrm>
            <a:off x="4314988" y="5733288"/>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63" name="TextBox 62"/>
          <p:cNvSpPr txBox="1"/>
          <p:nvPr/>
        </p:nvSpPr>
        <p:spPr>
          <a:xfrm>
            <a:off x="3920163" y="5961888"/>
            <a:ext cx="1388581" cy="256032"/>
          </a:xfrm>
          <a:prstGeom prst="rect">
            <a:avLst/>
          </a:prstGeom>
          <a:noFill/>
        </p:spPr>
        <p:txBody>
          <a:bodyPr wrap="square" lIns="0" rIns="0" tIns="0" bIns="0" anchor="ctr">
            <a:spAutoFit/>
          </a:bodyPr>
          <a:lstStyle/>
          <a:p>
            <a:pPr algn="ctr"/>
            <a:r>
              <a:rPr sz="1050" b="0" i="0">
                <a:solidFill>
                  <a:srgbClr val="4A5058"/>
                </a:solidFill>
              </a:rPr>
              <a:t>not yet run on AWS</a:t>
            </a:r>
          </a:p>
        </p:txBody>
      </p:sp>
      <p:sp>
        <p:nvSpPr>
          <p:cNvPr id="64" name="Rounded Rectangle 63"/>
          <p:cNvSpPr/>
          <p:nvPr/>
        </p:nvSpPr>
        <p:spPr>
          <a:xfrm>
            <a:off x="5760720" y="573328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5" name="TextBox 64"/>
          <p:cNvSpPr txBox="1"/>
          <p:nvPr/>
        </p:nvSpPr>
        <p:spPr>
          <a:xfrm>
            <a:off x="5400185" y="5961888"/>
            <a:ext cx="1388581" cy="256032"/>
          </a:xfrm>
          <a:prstGeom prst="rect">
            <a:avLst/>
          </a:prstGeom>
          <a:noFill/>
        </p:spPr>
        <p:txBody>
          <a:bodyPr wrap="square" lIns="0" rIns="0" tIns="0" bIns="0" anchor="ctr">
            <a:spAutoFit/>
          </a:bodyPr>
          <a:lstStyle/>
          <a:p>
            <a:pPr algn="ctr"/>
            <a:r>
              <a:rPr sz="1050" b="0" i="0">
                <a:solidFill>
                  <a:srgbClr val="4A5058"/>
                </a:solidFill>
              </a:rPr>
              <a:t>this deck's proposal</a:t>
            </a:r>
          </a:p>
        </p:txBody>
      </p:sp>
      <p:sp>
        <p:nvSpPr>
          <p:cNvPr id="66" name="Rounded Rectangle 65"/>
          <p:cNvSpPr/>
          <p:nvPr/>
        </p:nvSpPr>
        <p:spPr>
          <a:xfrm>
            <a:off x="7240741" y="5733288"/>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7" name="TextBox 66"/>
          <p:cNvSpPr txBox="1"/>
          <p:nvPr/>
        </p:nvSpPr>
        <p:spPr>
          <a:xfrm>
            <a:off x="6880206" y="5961888"/>
            <a:ext cx="1388581" cy="256032"/>
          </a:xfrm>
          <a:prstGeom prst="rect">
            <a:avLst/>
          </a:prstGeom>
          <a:noFill/>
        </p:spPr>
        <p:txBody>
          <a:bodyPr wrap="square" lIns="0" rIns="0" tIns="0" bIns="0" anchor="ctr">
            <a:spAutoFit/>
          </a:bodyPr>
          <a:lstStyle/>
          <a:p>
            <a:pPr algn="ctr"/>
            <a:r>
              <a:rPr sz="1050" b="0" i="0">
                <a:solidFill>
                  <a:srgbClr val="4A5058"/>
                </a:solidFill>
              </a:rPr>
              <a:t>on a workstation</a:t>
            </a:r>
          </a:p>
        </p:txBody>
      </p:sp>
      <p:sp>
        <p:nvSpPr>
          <p:cNvPr id="68" name="Rounded Rectangle 67"/>
          <p:cNvSpPr/>
          <p:nvPr/>
        </p:nvSpPr>
        <p:spPr>
          <a:xfrm>
            <a:off x="8686473" y="573328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69" name="TextBox 68"/>
          <p:cNvSpPr txBox="1"/>
          <p:nvPr/>
        </p:nvSpPr>
        <p:spPr>
          <a:xfrm>
            <a:off x="8360228" y="5961888"/>
            <a:ext cx="1388581" cy="256032"/>
          </a:xfrm>
          <a:prstGeom prst="rect">
            <a:avLst/>
          </a:prstGeom>
          <a:noFill/>
        </p:spPr>
        <p:txBody>
          <a:bodyPr wrap="square" lIns="0" rIns="0" tIns="0" bIns="0" anchor="ctr">
            <a:spAutoFit/>
          </a:bodyPr>
          <a:lstStyle/>
          <a:p>
            <a:pPr algn="ctr"/>
            <a:r>
              <a:rPr sz="1050" b="0" i="0">
                <a:solidFill>
                  <a:srgbClr val="4A5058"/>
                </a:solidFill>
              </a:rPr>
              <a:t>scaled from measured</a:t>
            </a:r>
          </a:p>
        </p:txBody>
      </p:sp>
      <p:sp>
        <p:nvSpPr>
          <p:cNvPr id="70" name="Rounded Rectangle 69"/>
          <p:cNvSpPr/>
          <p:nvPr/>
        </p:nvSpPr>
        <p:spPr>
          <a:xfrm>
            <a:off x="10132205" y="573328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1" name="TextBox 70"/>
          <p:cNvSpPr txBox="1"/>
          <p:nvPr/>
        </p:nvSpPr>
        <p:spPr>
          <a:xfrm>
            <a:off x="9840250" y="5961888"/>
            <a:ext cx="1388581" cy="256032"/>
          </a:xfrm>
          <a:prstGeom prst="rect">
            <a:avLst/>
          </a:prstGeom>
          <a:noFill/>
        </p:spPr>
        <p:txBody>
          <a:bodyPr wrap="square" lIns="0" rIns="0" tIns="0" bIns="0" anchor="ctr">
            <a:spAutoFit/>
          </a:bodyPr>
          <a:lstStyle/>
          <a:p>
            <a:pPr algn="ctr"/>
            <a:r>
              <a:rPr sz="1050" b="0" i="0">
                <a:solidFill>
                  <a:srgbClr val="4A5058"/>
                </a:solidFill>
              </a:rPr>
              <a:t>bank to confirm</a:t>
            </a:r>
          </a:p>
        </p:txBody>
      </p:sp>
      <p:sp>
        <p:nvSpPr>
          <p:cNvPr id="7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Illustrative volumes of a large bank, the product owner's sizing case: ASSUMPTION, for the bank to confirm   ² drishti.var.currencies: the five built ahead by default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VaR works</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rate¹,²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Computed by the engine on the committed synthetic demo data, 2026-09-30 (VAR_GUIDE §15.9–15.11)   ² 95.4 = the USD VaR at today's EUR rate, as the guide quotes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TextBox 39"/>
          <p:cNvSpPr txBox="1"/>
          <p:nvPr/>
        </p:nvSpPr>
        <p:spPr>
          <a:xfrm>
            <a:off x="3040380"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1" name="TextBox 40"/>
          <p:cNvSpPr txBox="1"/>
          <p:nvPr/>
        </p:nvSpPr>
        <p:spPr>
          <a:xfrm>
            <a:off x="521665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2" name="Table 41"/>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5" name="Rectangle 44"/>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Measured¹: 200 batches of 3 trades on one date; a restart equal too; batch time does not grow. Official numbers come only from full runs.</a:t>
            </a:r>
          </a:p>
        </p:txBody>
      </p:sp>
      <p:sp>
        <p:nvSpPr>
          <p:cNvPr id="48" name="TextBox 47"/>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
        <p:nvSpPr>
          <p:cNvPr id="49"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VarIntradayApiTest: 200 batches of 3 trades, equal to the cent to the same data loaded as one run, on every node (VAR_GUIDE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ms¹</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Contributions as Arrow  </a:t>
            </a:r>
            <a:r>
              <a:rPr sz="1150" b="0" i="0">
                <a:solidFill>
                  <a:srgbClr val="1A1A1A"/>
                </a:solidFill>
              </a:rPr>
              <a:t>the by-trade and by-position tables travel as Apache Arrow, 61–65% fewer bytes² than JSON.</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9–14 ms fetched ahead, else 30–35 ms (VAR_GUIDE §27.2)   ² Measured: 631,873 → 244,304 B by trade; 692,324 → 243,392 B by position (DATA_FORMATS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TextBox 40"/>
          <p:cNvSpPr txBox="1"/>
          <p:nvPr/>
        </p:nvSpPr>
        <p:spPr>
          <a:xfrm>
            <a:off x="886968"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2" name="Rectangle 41"/>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4" name="Rectangle 43"/>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5" name="Rectangle 44"/>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6" name="Rectangle 45"/>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7" name="Rectangle 46"/>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8" name="Rectangle 47"/>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49" name="Rectangle 48"/>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0" name="TextBox 49"/>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1" name="Rectangle 50"/>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3" name="Rectangle 52"/>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5" name="Rectangle 54"/>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7" name="Rectangle 56"/>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59" name="Rectangle 58"/>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1" name="Rectangle 60"/>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3" name="Rectangle 62"/>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5" name="TextBox 64"/>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6" name="Rectangle 65"/>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8" name="Rectangle 67"/>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0" name="Rectangle 69"/>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TextBox 70"/>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2" name="Rectangle 71"/>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4" name="Rectangle 73"/>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6" name="Connector 75"/>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7" name="Connector 86"/>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ectangle 26"/>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8" name="Rounded Rectangle 27"/>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29" name="Rectangle 28"/>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0" name="Rounded Rectangle 29"/>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1" name="Connector 30"/>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4" name="Rounded Rectangle 33"/>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5" name="Connector 34"/>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8" name="Rounded Rectangle 37"/>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9" name="Connector 38"/>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2" name="Rectangle 41"/>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3" name="Rounded Rectangle 42"/>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4" name="Rectangle 43"/>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5" name="Rounded Rectangle 44"/>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6" name="Connector 45"/>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49" name="Rounded Rectangle 48"/>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0" name="Connector 49"/>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3" name="Rounded Rectangle 52"/>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4" name="Connector 53"/>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404104" y="1389888"/>
            <a:ext cx="146304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7" name="Rectangle 56"/>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58" name="Rounded Rectangle 57"/>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59" name="Rectangle 58"/>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0" name="Rounded Rectangle 59"/>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1" name="Connector 60"/>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4" name="Rounded Rectangle 63"/>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5" name="Connector 64"/>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Rectangle 67"/>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0" name="Rectangle 69"/>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var-limit: 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3" name="Rectangle 72"/>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5" name="Rounded Rectangle 74"/>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76" name="TextBox 75"/>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TextBox 31"/>
          <p:cNvSpPr txBox="1"/>
          <p:nvPr/>
        </p:nvSpPr>
        <p:spPr>
          <a:xfrm>
            <a:off x="2743200" y="1856231"/>
            <a:ext cx="1234440" cy="640080"/>
          </a:xfrm>
          <a:prstGeom prst="rect">
            <a:avLst/>
          </a:prstGeom>
          <a:noFill/>
        </p:spPr>
        <p:txBody>
          <a:bodyPr wrap="square" lIns="0" rIns="0" tIns="0" bIns="0" anchor="ctr">
            <a:spAutoFit/>
          </a:bodyPr>
          <a:lstStyle/>
          <a:p>
            <a:pPr algn="l"/>
            <a:r>
              <a:rPr sz="1200" b="0" i="0">
                <a:solidFill>
                  <a:srgbClr val="4A5058"/>
                </a:solidFill>
              </a:rPr>
              <a:t>in the trade's currency</a:t>
            </a:r>
          </a:p>
        </p:txBody>
      </p:sp>
      <p:sp>
        <p:nvSpPr>
          <p:cNvPr id="33" name="Rectangle 32"/>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5" name="TextBox 34"/>
          <p:cNvSpPr txBox="1"/>
          <p:nvPr/>
        </p:nvSpPr>
        <p:spPr>
          <a:xfrm>
            <a:off x="4809744" y="1856231"/>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36" name="Rectangle 35"/>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38" name="Rectangle 37"/>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0" name="TextBox 39"/>
          <p:cNvSpPr txBox="1"/>
          <p:nvPr/>
        </p:nvSpPr>
        <p:spPr>
          <a:xfrm>
            <a:off x="2743200" y="2551176"/>
            <a:ext cx="1234440" cy="640080"/>
          </a:xfrm>
          <a:prstGeom prst="rect">
            <a:avLst/>
          </a:prstGeom>
          <a:noFill/>
        </p:spPr>
        <p:txBody>
          <a:bodyPr wrap="square" lIns="0" rIns="0" tIns="0" bIns="0" anchor="ctr">
            <a:spAutoFit/>
          </a:bodyPr>
          <a:lstStyle/>
          <a:p>
            <a:pPr algn="l"/>
            <a:r>
              <a:rPr sz="1200" b="0" i="0">
                <a:solidFill>
                  <a:srgbClr val="4A5058"/>
                </a:solidFill>
              </a:rPr>
              <a:t>in the position's currency</a:t>
            </a:r>
          </a:p>
        </p:txBody>
      </p:sp>
      <p:sp>
        <p:nvSpPr>
          <p:cNvPr id="41" name="Rectangle 40"/>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3" name="TextBox 42"/>
          <p:cNvSpPr txBox="1"/>
          <p:nvPr/>
        </p:nvSpPr>
        <p:spPr>
          <a:xfrm>
            <a:off x="4809744" y="2551176"/>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44" name="TextBox 43"/>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5" name="Rectangle 44"/>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519672" y="1737360"/>
            <a:ext cx="477316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47" name="Rectangle 46"/>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519672" y="2267712"/>
            <a:ext cx="477316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49" name="Rectangle 48"/>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2798064"/>
            <a:ext cx="477316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1" name="Rectangle 50"/>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53" name="Rectangle 52"/>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55" name="Rectangle 54"/>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57" name="Rectangle 56"/>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59" name="TextBox 58"/>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in var-limit (VLIM),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905256" y="5102352"/>
            <a:ext cx="10415016" cy="548640"/>
          </a:xfrm>
          <a:prstGeom prst="rect">
            <a:avLst/>
          </a:prstGeom>
          <a:noFill/>
        </p:spPr>
        <p:txBody>
          <a:bodyPr wrap="square" lIns="0" rIns="0" tIns="0" bIns="0" anchor="ctr">
            <a:spAutoFit/>
          </a:bodyPr>
          <a:lstStyle/>
          <a:p>
            <a:pPr algn="l"/>
            <a:r>
              <a:rPr sz="1150" b="1" i="0">
                <a:solidFill>
                  <a:srgbClr val="8A1626"/>
                </a:solidFill>
              </a:rPr>
              <a:t>Required on every record: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7" name="Rectangle 46"/>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49" name="Rectangle 48"/>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1" name="Rectangle 50"/>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3" name="Rectangle 52"/>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5" name="Rectangle 54"/>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7" name="Rectangle 56"/>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59" name="Rectangle 58"/>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1" name="Rectangle 60"/>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Computed, never stored</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a:t>
            </a:r>
          </a:p>
        </p:txBody>
      </p:sp>
      <p:sp>
        <p:nvSpPr>
          <p:cNvPr id="3" name="Title 2"/>
          <p:cNvSpPr>
            <a:spLocks noGrp="1"/>
          </p:cNvSpPr>
          <p:nvPr>
            <p:ph type="title" idx="104"/>
          </p:nvPr>
        </p:nvSpPr>
        <p:spPr/>
        <p:txBody>
          <a:bodyPr/>
          <a:lstStyle/>
          <a:p>
            <a:r>
              <a:t>Computed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200" b="1" i="0">
                <a:solidFill>
                  <a:srgbClr val="A51C30"/>
                </a:solidFill>
              </a:rPr>
              <a:t>The principle.  </a:t>
            </a:r>
            <a:r>
              <a:rPr sz="1150" b="0" i="0">
                <a:solidFill>
                  <a:srgbClr val="1A1A1A"/>
                </a:solidFill>
              </a:rPr>
              <a:t>A total is computed from the trades it adds up, once per business date and data version, and shared by everyone who may open the page. A stored copy is shown beside it with the difference, until it is retired.</a:t>
            </a:r>
          </a:p>
        </p:txBody>
      </p:sp>
      <p:graphicFrame>
        <p:nvGraphicFramePr>
          <p:cNvPr id="29" name="Table 28"/>
          <p:cNvGraphicFramePr>
            <a:graphicFrameLocks noGrp="1"/>
          </p:cNvGraphicFramePr>
          <p:nvPr/>
        </p:nvGraphicFramePr>
        <p:xfrm>
          <a:off x="777240" y="2057400"/>
          <a:ext cx="5760719" cy="2359152"/>
        </p:xfrm>
        <a:graphic>
          <a:graphicData uri="http://schemas.openxmlformats.org/drawingml/2006/table">
            <a:tbl>
              <a:tblPr firstRow="0" bandRow="0">
                <a:tableStyleId>{5940675A-B579-460E-94D1-54222C63F5DA}</a:tableStyleId>
              </a:tblPr>
              <a:tblGrid>
                <a:gridCol w="1463040"/>
                <a:gridCol w="4297679"/>
              </a:tblGrid>
              <a:tr h="393192">
                <a:tc>
                  <a:txBody>
                    <a:bodyPr wrap="square"/>
                    <a:lstStyle/>
                    <a:p>
                      <a:r>
                        <a:rPr sz="1100" b="1" i="0">
                          <a:solidFill>
                            <a:srgbClr val="FFFFFF"/>
                          </a:solidFill>
                        </a:rPr>
                        <a:t>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93192">
                <a:tc>
                  <a:txBody>
                    <a:bodyPr wrap="square"/>
                    <a:lstStyle/>
                    <a:p>
                      <a:r>
                        <a:rPr sz="1050" b="1" i="0">
                          <a:solidFill>
                            <a:srgbClr val="A51C30"/>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netting set's MtM from its live trades: net, gross parts, netting benefit, CE, past maturity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counterparty's MtM and its netting sets, from the trade valuations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stress scenario's P&amp;L: every desk, its limit use, breaches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Checks panels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collateral after haircut, credit-limit headroom, the SA-CCR EAD identity, stress limit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Exposure 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members and MtM from trade valuations; collateral after haircut; limit from credit-limit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TextBox 29"/>
          <p:cNvSpPr txBox="1"/>
          <p:nvPr/>
        </p:nvSpPr>
        <p:spPr>
          <a:xfrm>
            <a:off x="777240" y="4526280"/>
            <a:ext cx="5760720" cy="548640"/>
          </a:xfrm>
          <a:prstGeom prst="rect">
            <a:avLst/>
          </a:prstGeom>
          <a:noFill/>
        </p:spPr>
        <p:txBody>
          <a:bodyPr wrap="square" lIns="0" rIns="0" tIns="0" bIns="0" anchor="ctr">
            <a:spAutoFit/>
          </a:bodyPr>
          <a:lstStyle/>
          <a:p>
            <a:pPr algn="l"/>
            <a:r>
              <a:rPr sz="1100" b="1" i="0">
                <a:solidFill>
                  <a:srgbClr val="8A1626"/>
                </a:solidFill>
              </a:rPr>
              <a:t>Live </a:t>
            </a:r>
            <a:r>
              <a:rPr sz="1100" b="0" i="0">
                <a:solidFill>
                  <a:srgbClr val="1A1A1A"/>
                </a:solidFill>
              </a:rPr>
              <a:t>is one rule everywhere: a live status and a maturity not before the valuation date. A live trade past maturity is in no total, and is listed as a data-quality warning.</a:t>
            </a:r>
          </a:p>
        </p:txBody>
      </p:sp>
      <p:pic>
        <p:nvPicPr>
          <p:cNvPr id="31" name="Picture 30" descr="01-netting-set-computed.jpg"/>
          <p:cNvPicPr>
            <a:picLocks noChangeAspect="1"/>
          </p:cNvPicPr>
          <p:nvPr/>
        </p:nvPicPr>
        <p:blipFill>
          <a:blip r:embed="rId2"/>
          <a:stretch>
            <a:fillRect/>
          </a:stretch>
        </p:blipFill>
        <p:spPr>
          <a:xfrm>
            <a:off x="6766559" y="2057400"/>
            <a:ext cx="4645152" cy="1550024"/>
          </a:xfrm>
          <a:prstGeom prst="rect">
            <a:avLst/>
          </a:prstGeom>
          <a:ln w="9525">
            <a:solidFill>
              <a:srgbClr val="E3DED7"/>
            </a:solidFill>
          </a:ln>
        </p:spPr>
      </p:pic>
      <p:sp>
        <p:nvSpPr>
          <p:cNvPr id="32" name="TextBox 31"/>
          <p:cNvSpPr txBox="1"/>
          <p:nvPr/>
        </p:nvSpPr>
        <p:spPr>
          <a:xfrm>
            <a:off x="6766559" y="3634856"/>
            <a:ext cx="4645152" cy="256032"/>
          </a:xfrm>
          <a:prstGeom prst="rect">
            <a:avLst/>
          </a:prstGeom>
          <a:noFill/>
        </p:spPr>
        <p:txBody>
          <a:bodyPr wrap="square" lIns="0" rIns="0" tIns="0" bIns="0" anchor="ctr">
            <a:spAutoFit/>
          </a:bodyPr>
          <a:lstStyle/>
          <a:p>
            <a:pPr algn="l"/>
            <a:r>
              <a:rPr sz="1100" b="0" i="1">
                <a:solidFill>
                  <a:srgbClr val="4A5058"/>
                </a:solidFill>
              </a:rPr>
              <a:t>A netting set: computed, stored and the difference</a:t>
            </a:r>
          </a:p>
        </p:txBody>
      </p:sp>
      <p:pic>
        <p:nvPicPr>
          <p:cNvPr id="33" name="Picture 32" descr="05-collateral-checks.jpg"/>
          <p:cNvPicPr>
            <a:picLocks noChangeAspect="1"/>
          </p:cNvPicPr>
          <p:nvPr/>
        </p:nvPicPr>
        <p:blipFill>
          <a:blip r:embed="rId3"/>
          <a:stretch>
            <a:fillRect/>
          </a:stretch>
        </p:blipFill>
        <p:spPr>
          <a:xfrm>
            <a:off x="6766559" y="4018904"/>
            <a:ext cx="2249424" cy="970706"/>
          </a:xfrm>
          <a:prstGeom prst="rect">
            <a:avLst/>
          </a:prstGeom>
          <a:ln w="9525">
            <a:solidFill>
              <a:srgbClr val="E3DED7"/>
            </a:solidFill>
          </a:ln>
        </p:spPr>
      </p:pic>
      <p:pic>
        <p:nvPicPr>
          <p:cNvPr id="34" name="Picture 33" descr="06-credit-limit-checks.jpg"/>
          <p:cNvPicPr>
            <a:picLocks noChangeAspect="1"/>
          </p:cNvPicPr>
          <p:nvPr/>
        </p:nvPicPr>
        <p:blipFill>
          <a:blip r:embed="rId4"/>
          <a:stretch>
            <a:fillRect/>
          </a:stretch>
        </p:blipFill>
        <p:spPr>
          <a:xfrm>
            <a:off x="9162288" y="4018904"/>
            <a:ext cx="2249424" cy="886702"/>
          </a:xfrm>
          <a:prstGeom prst="rect">
            <a:avLst/>
          </a:prstGeom>
          <a:ln w="9525">
            <a:solidFill>
              <a:srgbClr val="E3DED7"/>
            </a:solidFill>
          </a:ln>
        </p:spPr>
      </p:pic>
      <p:sp>
        <p:nvSpPr>
          <p:cNvPr id="35" name="TextBox 34"/>
          <p:cNvSpPr txBox="1"/>
          <p:nvPr/>
        </p:nvSpPr>
        <p:spPr>
          <a:xfrm>
            <a:off x="6766559" y="5017042"/>
            <a:ext cx="4645152" cy="256032"/>
          </a:xfrm>
          <a:prstGeom prst="rect">
            <a:avLst/>
          </a:prstGeom>
          <a:noFill/>
        </p:spPr>
        <p:txBody>
          <a:bodyPr wrap="square" lIns="0" rIns="0" tIns="0" bIns="0" anchor="ctr">
            <a:spAutoFit/>
          </a:bodyPr>
          <a:lstStyle/>
          <a:p>
            <a:pPr algn="l"/>
            <a:r>
              <a:rPr sz="1100" b="0" i="1">
                <a:solidFill>
                  <a:srgbClr val="4A5058"/>
                </a:solidFill>
              </a:rPr>
              <a:t>Checks: the collateral balance and the credit limit</a:t>
            </a:r>
          </a:p>
        </p:txBody>
      </p:sp>
      <p:sp>
        <p:nvSpPr>
          <p:cNvPr id="36" name="Rectangle 35"/>
          <p:cNvSpPr/>
          <p:nvPr/>
        </p:nvSpPr>
        <p:spPr>
          <a:xfrm>
            <a:off x="777240" y="5340096"/>
            <a:ext cx="10634472" cy="9235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77240" y="5340096"/>
            <a:ext cx="45720" cy="9235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32688" y="5404104"/>
            <a:ext cx="10396728" cy="832104"/>
          </a:xfrm>
          <a:prstGeom prst="rect">
            <a:avLst/>
          </a:prstGeom>
          <a:noFill/>
        </p:spPr>
        <p:txBody>
          <a:bodyPr wrap="square" lIns="0" rIns="0" tIns="0" bIns="0" anchor="t">
            <a:spAutoFit/>
          </a:bodyPr>
          <a:lstStyle/>
          <a:p>
            <a:pPr algn="l">
              <a:spcAft>
                <a:spcPts val="300"/>
              </a:spcAft>
            </a:pPr>
            <a:r>
              <a:rPr sz="1300" b="1" i="0">
                <a:solidFill>
                  <a:srgbClr val="8A1626"/>
                </a:solidFill>
              </a:rPr>
              <a:t>Why</a:t>
            </a:r>
          </a:p>
          <a:p>
            <a:pPr algn="l" marL="146304" indent="-146304">
              <a:spcAft>
                <a:spcPts val="200"/>
              </a:spcAft>
              <a:buClr>
                <a:srgbClr val="A51C30"/>
              </a:buClr>
              <a:buSzPct val="100000"/>
              <a:buFont typeface="Arial"/>
              <a:buChar char="▪"/>
            </a:pPr>
            <a:r>
              <a:rPr sz="1100" b="0" i="0">
                <a:solidFill>
                  <a:srgbClr val="1A1A1A"/>
                </a:solidFill>
              </a:rPr>
              <a:t>One definition per figure: no second copy to drift and no batch job to forget</a:t>
            </a:r>
          </a:p>
          <a:p>
            <a:pPr algn="l" marL="146304" indent="-146304">
              <a:spcAft>
                <a:spcPts val="200"/>
              </a:spcAft>
              <a:buClr>
                <a:srgbClr val="A51C30"/>
              </a:buClr>
              <a:buSzPct val="100000"/>
              <a:buFont typeface="Arial"/>
              <a:buChar char="▪"/>
            </a:pPr>
            <a:r>
              <a:rPr sz="1100" b="0" i="0">
                <a:solidFill>
                  <a:srgbClr val="1A1A1A"/>
                </a:solidFill>
              </a:rPr>
              <a:t>Every total traceable to the trades it adds up; a stored copy is checked, not trusted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RECONCILIATION</a:t>
            </a:r>
          </a:p>
        </p:txBody>
      </p:sp>
      <p:sp>
        <p:nvSpPr>
          <p:cNvPr id="3" name="Title 2"/>
          <p:cNvSpPr>
            <a:spLocks noGrp="1"/>
          </p:cNvSpPr>
          <p:nvPr>
            <p:ph type="title" idx="104"/>
          </p:nvPr>
        </p:nvSpPr>
        <p:spPr/>
        <p:txBody>
          <a:bodyPr/>
          <a:lstStyle/>
          <a:p>
            <a:r>
              <a:t>Reconciled to the stored figures, retired fields guarded, VaR unchanged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99032"/>
            <a:ext cx="3148584" cy="411480"/>
          </a:xfrm>
          <a:prstGeom prst="rect">
            <a:avLst/>
          </a:prstGeom>
          <a:noFill/>
        </p:spPr>
        <p:txBody>
          <a:bodyPr wrap="square" lIns="0" rIns="0" tIns="0" bIns="0" anchor="ctr">
            <a:spAutoFit/>
          </a:bodyPr>
          <a:lstStyle/>
          <a:p>
            <a:pPr algn="l"/>
            <a:r>
              <a:rPr sz="2100" b="1" i="0">
                <a:solidFill>
                  <a:srgbClr val="8A1626"/>
                </a:solidFill>
              </a:rPr>
              <a:t>55 of 76¹</a:t>
            </a:r>
          </a:p>
        </p:txBody>
      </p:sp>
      <p:sp>
        <p:nvSpPr>
          <p:cNvPr id="29" name="TextBox 28"/>
          <p:cNvSpPr txBox="1"/>
          <p:nvPr/>
        </p:nvSpPr>
        <p:spPr>
          <a:xfrm>
            <a:off x="941832" y="1810512"/>
            <a:ext cx="3148584" cy="502920"/>
          </a:xfrm>
          <a:prstGeom prst="rect">
            <a:avLst/>
          </a:prstGeom>
          <a:noFill/>
        </p:spPr>
        <p:txBody>
          <a:bodyPr wrap="square" lIns="0" rIns="0" tIns="0" bIns="0" anchor="t">
            <a:spAutoFit/>
          </a:bodyPr>
          <a:lstStyle/>
          <a:p>
            <a:pPr algn="l"/>
            <a:r>
              <a:rPr sz="1100" b="0" i="0">
                <a:solidFill>
                  <a:srgbClr val="4A5058"/>
                </a:solidFill>
              </a:rPr>
              <a:t>netting sets: derived net MtM equals the stored one</a:t>
            </a:r>
          </a:p>
        </p:txBody>
      </p:sp>
      <p:sp>
        <p:nvSpPr>
          <p:cNvPr id="30" name="Rectangle 29"/>
          <p:cNvSpPr/>
          <p:nvPr/>
        </p:nvSpPr>
        <p:spPr>
          <a:xfrm>
            <a:off x="4383024"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47616" y="1399032"/>
            <a:ext cx="3148584" cy="411480"/>
          </a:xfrm>
          <a:prstGeom prst="rect">
            <a:avLst/>
          </a:prstGeom>
          <a:noFill/>
        </p:spPr>
        <p:txBody>
          <a:bodyPr wrap="square" lIns="0" rIns="0" tIns="0" bIns="0" anchor="ctr">
            <a:spAutoFit/>
          </a:bodyPr>
          <a:lstStyle/>
          <a:p>
            <a:pPr algn="l"/>
            <a:r>
              <a:rPr sz="2100" b="1" i="0">
                <a:solidFill>
                  <a:srgbClr val="8A1626"/>
                </a:solidFill>
              </a:rPr>
              <a:t>21 explained¹</a:t>
            </a:r>
          </a:p>
        </p:txBody>
      </p:sp>
      <p:sp>
        <p:nvSpPr>
          <p:cNvPr id="33" name="TextBox 32"/>
          <p:cNvSpPr txBox="1"/>
          <p:nvPr/>
        </p:nvSpPr>
        <p:spPr>
          <a:xfrm>
            <a:off x="4547616" y="1810512"/>
            <a:ext cx="3148584" cy="502920"/>
          </a:xfrm>
          <a:prstGeom prst="rect">
            <a:avLst/>
          </a:prstGeom>
          <a:noFill/>
        </p:spPr>
        <p:txBody>
          <a:bodyPr wrap="square" lIns="0" rIns="0" tIns="0" bIns="0" anchor="t">
            <a:spAutoFit/>
          </a:bodyPr>
          <a:lstStyle/>
          <a:p>
            <a:pPr algn="l"/>
            <a:r>
              <a:rPr sz="1100" b="0" i="0">
                <a:solidFill>
                  <a:srgbClr val="4A5058"/>
                </a:solidFill>
              </a:rPr>
              <a:t>827 live trades past maturity (MtM 16.7m); added back, 76 of 76 agree to the dollar</a:t>
            </a:r>
          </a:p>
        </p:txBody>
      </p:sp>
      <p:sp>
        <p:nvSpPr>
          <p:cNvPr id="34" name="Rectangle 33"/>
          <p:cNvSpPr/>
          <p:nvPr/>
        </p:nvSpPr>
        <p:spPr>
          <a:xfrm>
            <a:off x="7988808"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53400" y="1399032"/>
            <a:ext cx="3148584" cy="411480"/>
          </a:xfrm>
          <a:prstGeom prst="rect">
            <a:avLst/>
          </a:prstGeom>
          <a:noFill/>
        </p:spPr>
        <p:txBody>
          <a:bodyPr wrap="square" lIns="0" rIns="0" tIns="0" bIns="0" anchor="ctr">
            <a:spAutoFit/>
          </a:bodyPr>
          <a:lstStyle/>
          <a:p>
            <a:pPr algn="l"/>
            <a:r>
              <a:rPr sz="2100" b="1" i="0">
                <a:solidFill>
                  <a:srgbClr val="8A1626"/>
                </a:solidFill>
              </a:rPr>
              <a:t>112,041,646¹</a:t>
            </a:r>
          </a:p>
        </p:txBody>
      </p:sp>
      <p:sp>
        <p:nvSpPr>
          <p:cNvPr id="37" name="TextBox 36"/>
          <p:cNvSpPr txBox="1"/>
          <p:nvPr/>
        </p:nvSpPr>
        <p:spPr>
          <a:xfrm>
            <a:off x="8153400" y="1810512"/>
            <a:ext cx="3148584" cy="502920"/>
          </a:xfrm>
          <a:prstGeom prst="rect">
            <a:avLst/>
          </a:prstGeom>
          <a:noFill/>
        </p:spPr>
        <p:txBody>
          <a:bodyPr wrap="square" lIns="0" rIns="0" tIns="0" bIns="0" anchor="t">
            <a:spAutoFit/>
          </a:bodyPr>
          <a:lstStyle/>
          <a:p>
            <a:pPr algn="l"/>
            <a:r>
              <a:rPr sz="1100" b="0" i="0">
                <a:solidFill>
                  <a:srgbClr val="4A5058"/>
                </a:solidFill>
              </a:rPr>
              <a:t>VAR BANK, USD, 2026-09-30: unchanged, no VaR input moved</a:t>
            </a:r>
          </a:p>
        </p:txBody>
      </p:sp>
      <p:sp>
        <p:nvSpPr>
          <p:cNvPr id="38" name="TextBox 37"/>
          <p:cNvSpPr txBox="1"/>
          <p:nvPr/>
        </p:nvSpPr>
        <p:spPr>
          <a:xfrm>
            <a:off x="777240" y="2450592"/>
            <a:ext cx="5989320" cy="274320"/>
          </a:xfrm>
          <a:prstGeom prst="rect">
            <a:avLst/>
          </a:prstGeom>
          <a:noFill/>
        </p:spPr>
        <p:txBody>
          <a:bodyPr wrap="square" lIns="0" rIns="0" tIns="0" bIns="0" anchor="ctr">
            <a:spAutoFit/>
          </a:bodyPr>
          <a:lstStyle/>
          <a:p>
            <a:pPr algn="l"/>
            <a:r>
              <a:rPr sz="1200" b="1" i="0">
                <a:solidFill>
                  <a:srgbClr val="A51C30"/>
                </a:solidFill>
              </a:rPr>
              <a:t>Exposure on its real inputs¹  </a:t>
            </a:r>
            <a:r>
              <a:rPr sz="1050" b="0" i="0">
                <a:solidFill>
                  <a:srgbClr val="4A5058"/>
                </a:solidFill>
              </a:rPr>
              <a:t>collateral after haircut, 2026-09-30, USD</a:t>
            </a:r>
          </a:p>
        </p:txBody>
      </p:sp>
      <p:graphicFrame>
        <p:nvGraphicFramePr>
          <p:cNvPr id="39" name="Table 38"/>
          <p:cNvGraphicFramePr>
            <a:graphicFrameLocks noGrp="1"/>
          </p:cNvGraphicFramePr>
          <p:nvPr/>
        </p:nvGraphicFramePr>
        <p:xfrm>
          <a:off x="777240" y="2743200"/>
          <a:ext cx="5989320" cy="1755648"/>
        </p:xfrm>
        <a:graphic>
          <a:graphicData uri="http://schemas.openxmlformats.org/drawingml/2006/table">
            <a:tbl>
              <a:tblPr firstRow="0" bandRow="0">
                <a:tableStyleId>{5940675A-B579-460E-94D1-54222C63F5DA}</a:tableStyleId>
              </a:tblPr>
              <a:tblGrid>
                <a:gridCol w="2331720"/>
                <a:gridCol w="1828800"/>
                <a:gridCol w="1828800"/>
              </a:tblGrid>
              <a:tr h="292608">
                <a:tc>
                  <a:txBody>
                    <a:bodyPr wrap="square"/>
                    <a:lstStyle/>
                    <a:p>
                      <a:r>
                        <a:rPr sz="1100" b="1" i="0">
                          <a:solidFill>
                            <a:srgbClr val="FFFFFF"/>
                          </a:solidFill>
                        </a:rPr>
                        <a:t>Scope · 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Stored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BANK · 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2,858,060,180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2,897,620,439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BANK · 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945,577,981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947,202,991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BANK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1,532,007,701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1,586,811,699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CP-ALDERSHOT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217,565,006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220,250,163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NS-ALDERSHOT-NY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212,580,686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214,706,654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0" name="TextBox 39"/>
          <p:cNvSpPr txBox="1"/>
          <p:nvPr/>
        </p:nvSpPr>
        <p:spPr>
          <a:xfrm>
            <a:off x="777240" y="4544568"/>
            <a:ext cx="5989320" cy="502920"/>
          </a:xfrm>
          <a:prstGeom prst="rect">
            <a:avLst/>
          </a:prstGeom>
          <a:noFill/>
        </p:spPr>
        <p:txBody>
          <a:bodyPr wrap="square" lIns="0" rIns="0" tIns="0" bIns="0" anchor="ctr">
            <a:spAutoFit/>
          </a:bodyPr>
          <a:lstStyle/>
          <a:p>
            <a:pPr algn="l"/>
            <a:r>
              <a:rPr sz="1100" b="0" i="0">
                <a:solidFill>
                  <a:srgbClr val="1A1A1A"/>
                </a:solidFill>
              </a:rPr>
              <a:t>Holdings 6,304.4m at market value, 6,229.6m after haircut: less held raises a collateralised set's exposure, less posted lowers it.</a:t>
            </a:r>
          </a:p>
        </p:txBody>
      </p:sp>
      <p:sp>
        <p:nvSpPr>
          <p:cNvPr id="41" name="Rectangle 40"/>
          <p:cNvSpPr/>
          <p:nvPr/>
        </p:nvSpPr>
        <p:spPr>
          <a:xfrm>
            <a:off x="6995159" y="2450592"/>
            <a:ext cx="4416552"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6995159" y="245059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50607" y="2514600"/>
            <a:ext cx="4178808" cy="1280160"/>
          </a:xfrm>
          <a:prstGeom prst="rect">
            <a:avLst/>
          </a:prstGeom>
          <a:noFill/>
        </p:spPr>
        <p:txBody>
          <a:bodyPr wrap="square" lIns="0" rIns="0" tIns="0" bIns="0" anchor="t">
            <a:spAutoFit/>
          </a:bodyPr>
          <a:lstStyle/>
          <a:p>
            <a:pPr algn="l">
              <a:spcAft>
                <a:spcPts val="300"/>
              </a:spcAft>
            </a:pPr>
            <a:r>
              <a:rPr sz="1300" b="1" i="0">
                <a:solidFill>
                  <a:srgbClr val="8A1626"/>
                </a:solidFill>
              </a:rPr>
              <a:t>Retired fields, guarded</a:t>
            </a:r>
          </a:p>
          <a:p>
            <a:pPr algn="l" marL="146304" indent="-146304">
              <a:spcAft>
                <a:spcPts val="200"/>
              </a:spcAft>
              <a:buClr>
                <a:srgbClr val="A51C30"/>
              </a:buClr>
              <a:buSzPct val="100000"/>
              <a:buFont typeface="Arial"/>
              <a:buChar char="▪"/>
            </a:pPr>
            <a:r>
              <a:rPr sz="1000" b="0" i="0">
                <a:solidFill>
                  <a:srgbClr val="1A1A1A"/>
                </a:solidFill>
                <a:latin typeface="Courier New"/>
              </a:rPr>
              <a:t>netting-set.UTILISATION</a:t>
            </a:r>
            <a:r>
              <a:rPr sz="1100" b="0" i="0">
                <a:solidFill>
                  <a:srgbClr val="1A1A1A"/>
                </a:solidFill>
              </a:rPr>
              <a:t>, </a:t>
            </a:r>
            <a:r>
              <a:rPr sz="1000" b="0" i="0">
                <a:solidFill>
                  <a:srgbClr val="1A1A1A"/>
                </a:solidFill>
                <a:latin typeface="Courier New"/>
              </a:rPr>
              <a:t>risk-hierarchy.LIMIT_VAR</a:t>
            </a:r>
            <a:r>
              <a:rPr sz="1100" b="0" i="0">
                <a:solidFill>
                  <a:srgbClr val="1A1A1A"/>
                </a:solidFill>
              </a:rPr>
              <a:t>, </a:t>
            </a:r>
            <a:r>
              <a:rPr sz="1000" b="0" i="0">
                <a:solidFill>
                  <a:srgbClr val="1A1A1A"/>
                </a:solidFill>
                <a:latin typeface="Courier New"/>
              </a:rPr>
              <a:t>portfolio.LIMIT_VAR</a:t>
            </a:r>
          </a:p>
          <a:p>
            <a:pPr algn="l" marL="146304" indent="-146304">
              <a:spcAft>
                <a:spcPts val="200"/>
              </a:spcAft>
              <a:buClr>
                <a:srgbClr val="A51C30"/>
              </a:buClr>
              <a:buSzPct val="100000"/>
              <a:buFont typeface="Arial"/>
              <a:buChar char="▪"/>
            </a:pPr>
            <a:r>
              <a:rPr sz="1100" b="0" i="0">
                <a:solidFill>
                  <a:srgbClr val="1A1A1A"/>
                </a:solidFill>
              </a:rPr>
              <a:t>The build fails if one returns (tools/contracts.policy.yaml, removed:); VaR limits live only in var-limit</a:t>
            </a:r>
          </a:p>
        </p:txBody>
      </p:sp>
      <p:sp>
        <p:nvSpPr>
          <p:cNvPr id="44" name="Rectangle 43"/>
          <p:cNvSpPr/>
          <p:nvPr/>
        </p:nvSpPr>
        <p:spPr>
          <a:xfrm>
            <a:off x="6995159" y="3913632"/>
            <a:ext cx="4416552" cy="1133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995159" y="3913632"/>
            <a:ext cx="45720" cy="11338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150607" y="3977640"/>
            <a:ext cx="4178808" cy="1042415"/>
          </a:xfrm>
          <a:prstGeom prst="rect">
            <a:avLst/>
          </a:prstGeom>
          <a:noFill/>
        </p:spPr>
        <p:txBody>
          <a:bodyPr wrap="square" lIns="0" rIns="0" tIns="0" bIns="0" anchor="t">
            <a:spAutoFit/>
          </a:bodyPr>
          <a:lstStyle/>
          <a:p>
            <a:pPr algn="l">
              <a:spcAft>
                <a:spcPts val="300"/>
              </a:spcAft>
            </a:pPr>
            <a:r>
              <a:rPr sz="1300" b="1" i="0">
                <a:solidFill>
                  <a:srgbClr val="8A1626"/>
                </a:solidFill>
              </a:rPr>
              <a:t>The difference is shown, not hidden</a:t>
            </a:r>
          </a:p>
          <a:p>
            <a:pPr algn="l" marL="146304" indent="-146304">
              <a:spcAft>
                <a:spcPts val="200"/>
              </a:spcAft>
              <a:buClr>
                <a:srgbClr val="A51C30"/>
              </a:buClr>
              <a:buSzPct val="100000"/>
              <a:buFont typeface="Arial"/>
              <a:buChar char="▪"/>
            </a:pPr>
            <a:r>
              <a:rPr sz="1100" b="0" i="0">
                <a:solidFill>
                  <a:srgbClr val="1A1A1A"/>
                </a:solidFill>
              </a:rPr>
              <a:t>The netting set's panel: computed, stored, difference</a:t>
            </a:r>
          </a:p>
          <a:p>
            <a:pPr algn="l" marL="146304" indent="-146304">
              <a:spcAft>
                <a:spcPts val="200"/>
              </a:spcAft>
              <a:buClr>
                <a:srgbClr val="A51C30"/>
              </a:buClr>
              <a:buSzPct val="100000"/>
              <a:buFont typeface="Arial"/>
              <a:buChar char="▪"/>
            </a:pPr>
            <a:r>
              <a:rPr sz="1100" b="0" i="0">
                <a:solidFill>
                  <a:srgbClr val="1A1A1A"/>
                </a:solidFill>
              </a:rPr>
              <a:t>CP-ALDERSHOT: stored 520,405,666, derived 518,314,005 (18 trades past maturity)</a:t>
            </a:r>
          </a:p>
        </p:txBody>
      </p:sp>
      <p:sp>
        <p:nvSpPr>
          <p:cNvPr id="47" name="Rectangle 46"/>
          <p:cNvSpPr/>
          <p:nvPr/>
        </p:nvSpPr>
        <p:spPr>
          <a:xfrm>
            <a:off x="777240" y="5166360"/>
            <a:ext cx="10634472" cy="10972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ounded Rectangle 47"/>
          <p:cNvSpPr/>
          <p:nvPr/>
        </p:nvSpPr>
        <p:spPr>
          <a:xfrm>
            <a:off x="914400" y="52760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9" name="TextBox 48"/>
          <p:cNvSpPr txBox="1"/>
          <p:nvPr/>
        </p:nvSpPr>
        <p:spPr>
          <a:xfrm>
            <a:off x="1787651" y="5212080"/>
            <a:ext cx="9486900" cy="329184"/>
          </a:xfrm>
          <a:prstGeom prst="rect">
            <a:avLst/>
          </a:prstGeom>
          <a:noFill/>
        </p:spPr>
        <p:txBody>
          <a:bodyPr wrap="square" lIns="0" rIns="0" tIns="0" bIns="0" anchor="ctr">
            <a:spAutoFit/>
          </a:bodyPr>
          <a:lstStyle/>
          <a:p>
            <a:pPr algn="l"/>
            <a:r>
              <a:rPr sz="1200" b="1" i="0">
                <a:solidFill>
                  <a:srgbClr val="8A1626"/>
                </a:solidFill>
              </a:rPr>
              <a:t>Still open</a:t>
            </a:r>
          </a:p>
        </p:txBody>
      </p:sp>
      <p:sp>
        <p:nvSpPr>
          <p:cNvPr id="50" name="TextBox 49"/>
          <p:cNvSpPr txBox="1"/>
          <p:nvPr/>
        </p:nvSpPr>
        <p:spPr>
          <a:xfrm>
            <a:off x="914400" y="5550408"/>
            <a:ext cx="10360152" cy="685800"/>
          </a:xfrm>
          <a:prstGeom prst="rect">
            <a:avLst/>
          </a:prstGeom>
          <a:noFill/>
        </p:spPr>
        <p:txBody>
          <a:bodyPr wrap="square" lIns="0" rIns="0" tIns="0" bIns="0" anchor="t">
            <a:spAutoFit/>
          </a:bodyPr>
          <a:lstStyle/>
          <a:p>
            <a:pPr algn="l"/>
            <a:r>
              <a:rPr sz="1100" b="0" i="0">
                <a:solidFill>
                  <a:srgbClr val="1A1A1A"/>
                </a:solidFill>
              </a:rPr>
              <a:t>retiring the stored netting-set and counterparty MtM with the netting-set engine; currency conversion on derived totals (all USD today); BI's MtM measures filtered to live trades; SA-CCR's stored RC still before haircut.</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on the committed test data, 2026-09-30 (COMPUTED_ATTRIBUTES.md §13.2–13.4)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ON THE PAGES</a:t>
            </a:r>
          </a:p>
        </p:txBody>
      </p:sp>
      <p:sp>
        <p:nvSpPr>
          <p:cNvPr id="3" name="Title 2"/>
          <p:cNvSpPr>
            <a:spLocks noGrp="1"/>
          </p:cNvSpPr>
          <p:nvPr>
            <p:ph type="title" idx="104"/>
          </p:nvPr>
        </p:nvSpPr>
        <p:spPr/>
        <p:txBody>
          <a:bodyPr/>
          <a:lstStyle/>
          <a:p>
            <a:r>
              <a:t>On the pages: the counterparty and a stress scenario, computed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03-counterparty-computed.jpg"/>
          <p:cNvPicPr>
            <a:picLocks noChangeAspect="1"/>
          </p:cNvPicPr>
          <p:nvPr/>
        </p:nvPicPr>
        <p:blipFill>
          <a:blip r:embed="rId2"/>
          <a:stretch>
            <a:fillRect/>
          </a:stretch>
        </p:blipFill>
        <p:spPr>
          <a:xfrm>
            <a:off x="777240" y="1417320"/>
            <a:ext cx="3566160" cy="3188828"/>
          </a:xfrm>
          <a:prstGeom prst="rect">
            <a:avLst/>
          </a:prstGeom>
          <a:ln w="9525">
            <a:solidFill>
              <a:srgbClr val="E3DED7"/>
            </a:solidFill>
          </a:ln>
        </p:spPr>
      </p:pic>
      <p:sp>
        <p:nvSpPr>
          <p:cNvPr id="27" name="TextBox 26"/>
          <p:cNvSpPr txBox="1"/>
          <p:nvPr/>
        </p:nvSpPr>
        <p:spPr>
          <a:xfrm>
            <a:off x="777240" y="4633579"/>
            <a:ext cx="3566160" cy="256032"/>
          </a:xfrm>
          <a:prstGeom prst="rect">
            <a:avLst/>
          </a:prstGeom>
          <a:noFill/>
        </p:spPr>
        <p:txBody>
          <a:bodyPr wrap="square" lIns="0" rIns="0" tIns="0" bIns="0" anchor="ctr">
            <a:spAutoFit/>
          </a:bodyPr>
          <a:lstStyle/>
          <a:p>
            <a:pPr algn="l"/>
            <a:r>
              <a:rPr sz="1100" b="0" i="1">
                <a:solidFill>
                  <a:srgbClr val="4A5058"/>
                </a:solidFill>
              </a:rPr>
              <a:t>A counterparty, computed from the trade valuations</a:t>
            </a:r>
          </a:p>
        </p:txBody>
      </p:sp>
      <p:pic>
        <p:nvPicPr>
          <p:cNvPr id="28" name="Picture 27" descr="04-stress-scenario.jpg"/>
          <p:cNvPicPr>
            <a:picLocks noChangeAspect="1"/>
          </p:cNvPicPr>
          <p:nvPr/>
        </p:nvPicPr>
        <p:blipFill>
          <a:blip r:embed="rId3"/>
          <a:stretch>
            <a:fillRect/>
          </a:stretch>
        </p:blipFill>
        <p:spPr>
          <a:xfrm>
            <a:off x="4617720" y="1417320"/>
            <a:ext cx="6793992" cy="4021813"/>
          </a:xfrm>
          <a:prstGeom prst="rect">
            <a:avLst/>
          </a:prstGeom>
          <a:ln w="9525">
            <a:solidFill>
              <a:srgbClr val="E3DED7"/>
            </a:solidFill>
          </a:ln>
        </p:spPr>
      </p:pic>
      <p:sp>
        <p:nvSpPr>
          <p:cNvPr id="29" name="TextBox 28"/>
          <p:cNvSpPr txBox="1"/>
          <p:nvPr/>
        </p:nvSpPr>
        <p:spPr>
          <a:xfrm>
            <a:off x="4617720" y="5466565"/>
            <a:ext cx="6793992" cy="256032"/>
          </a:xfrm>
          <a:prstGeom prst="rect">
            <a:avLst/>
          </a:prstGeom>
          <a:noFill/>
        </p:spPr>
        <p:txBody>
          <a:bodyPr wrap="square" lIns="0" rIns="0" tIns="0" bIns="0" anchor="ctr">
            <a:spAutoFit/>
          </a:bodyPr>
          <a:lstStyle/>
          <a:p>
            <a:pPr algn="l"/>
            <a:r>
              <a:rPr sz="1100" b="0" i="1">
                <a:solidFill>
                  <a:srgbClr val="4A5058"/>
                </a:solidFill>
              </a:rPr>
              <a:t>A stress scenario: the bank's P&amp;L and every desk under it (SSPNL)</a:t>
            </a:r>
          </a:p>
        </p:txBody>
      </p:sp>
      <p:sp>
        <p:nvSpPr>
          <p:cNvPr id="30" name="Rectangle 29"/>
          <p:cNvSpPr/>
          <p:nvPr/>
        </p:nvSpPr>
        <p:spPr>
          <a:xfrm>
            <a:off x="777240" y="5832325"/>
            <a:ext cx="10634472" cy="43131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832325"/>
            <a:ext cx="54864" cy="43131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05840" y="5832325"/>
            <a:ext cx="10314432" cy="431314"/>
          </a:xfrm>
          <a:prstGeom prst="rect">
            <a:avLst/>
          </a:prstGeom>
          <a:noFill/>
        </p:spPr>
        <p:txBody>
          <a:bodyPr wrap="square" lIns="0" rIns="0" tIns="0" bIns="0" anchor="ctr">
            <a:spAutoFit/>
          </a:bodyPr>
          <a:lstStyle/>
          <a:p>
            <a:pPr algn="l"/>
            <a:r>
              <a:rPr sz="1200" b="1" i="0">
                <a:solidFill>
                  <a:srgbClr val="A51C30"/>
                </a:solidFill>
              </a:rPr>
              <a:t>Read from the trades, not copied.  </a:t>
            </a:r>
            <a:r>
              <a:rPr sz="1150" b="0" i="0">
                <a:solidFill>
                  <a:srgbClr val="1A1A1A"/>
                </a:solidFill>
              </a:rPr>
              <a:t>A page shows the computed figure with its source, its sum currency and its checks; a stored copy, while it exists, sits beside it with the difference.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Scale and capacity</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math¹</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ahead²</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sharded across servers; lake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5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¹–³ How these figures were derived: A-1, in the appendix (How it scales)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portfolios⁷</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intraday⁸</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keeps rows = positions: no trade matrix in the hot file. </a:t>
            </a:r>
            <a:r>
              <a:rPr sz="1100" b="0" i="1">
                <a:solidFill>
                  <a:srgbClr val="4A5058"/>
                </a:solidFill>
              </a:rPr>
              <a:t>Estimated = scaled linearly (× 23) from the measured 100,000-trade figures (VAR_GUIDE 27.3, 15.11); not measured at 2.3M.</a:t>
            </a:r>
          </a:p>
        </p:txBody>
      </p:sp>
      <p:sp>
        <p:nvSpPr>
          <p:cNvPr id="3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A-1, in the appendix (Sizing)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12780" y="9418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instead⁸: × 1.49, vectors 18.5 TB over 7 years. Sums per measure are unchanged: a node 0.5 ms, the whole bank ≈ 80 ms for a 509-wide set, ≈ 40 ms for a stressed one (estimated).</a:t>
            </a:r>
          </a:p>
        </p:txBody>
      </p:sp>
      <p:sp>
        <p:nvSpPr>
          <p:cNvPr id="34"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(10-day and stressed VaR)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783080"/>
                <a:gridCol w="411480"/>
                <a:gridCol w="448056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by shard (next slides)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Table 27"/>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9" name="Chart 28"/>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0" name="Rectangle 29"/>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64⁶</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3" name="Rectangle 32"/>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Consoles⁷: </a:t>
            </a:r>
            <a:r>
              <a:rPr sz="1150" b="0" i="0">
                <a:solidFill>
                  <a:srgbClr val="1A1A1A"/>
                </a:solidFill>
              </a:rPr>
              <a:t>2 hosts × 4 workers; 40 pages/s a worker (MEASURED); 50 users at once (ASSUMPTION): peak 25 pages/s ÷ 0.61 = 41 against one host's 160.</a:t>
            </a:r>
          </a:p>
        </p:txBody>
      </p:sp>
      <p:sp>
        <p:nvSpPr>
          <p:cNvPr id="3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(Processes and memory)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server⁹</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window⁸</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¹–⁹ How these figures were derived: A-3, in the appendix (Storage over 7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A SHARDED CLUSTER</a:t>
            </a:r>
          </a:p>
        </p:txBody>
      </p:sp>
      <p:sp>
        <p:nvSpPr>
          <p:cNvPr id="3" name="Title 2"/>
          <p:cNvSpPr>
            <a:spLocks noGrp="1"/>
          </p:cNvSpPr>
          <p:nvPr>
            <p:ph type="title" idx="104"/>
          </p:nvPr>
        </p:nvSpPr>
        <p:spPr/>
        <p:txBody>
          <a:bodyPr/>
          <a:lstStyle/>
          <a:p>
            <a:r>
              <a:t>Capacity for a sharded cluster: 6 owners, 2 coordinators, 2 consoles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92608"/>
          </a:xfrm>
          <a:prstGeom prst="rect">
            <a:avLst/>
          </a:prstGeom>
          <a:noFill/>
        </p:spPr>
        <p:txBody>
          <a:bodyPr wrap="square" lIns="0" rIns="0" tIns="0" bIns="0" anchor="ctr">
            <a:spAutoFit/>
          </a:bodyPr>
          <a:lstStyle/>
          <a:p>
            <a:pPr algn="l"/>
            <a:r>
              <a:rPr sz="1200" b="1" i="0">
                <a:solidFill>
                  <a:srgbClr val="A51C30"/>
                </a:solidFill>
              </a:rPr>
              <a:t>The scenario  </a:t>
            </a:r>
            <a:r>
              <a:rPr sz="1150" b="0" i="0">
                <a:solidFill>
                  <a:srgbClr val="1A1A1A"/>
                </a:solidFill>
              </a:rPr>
              <a:t>a bank of 2.3 million positions and 15,000 portfolios, with 1-day, 10-day and stressed VaR: 1,518 values a position, the conservative case of the single-server slides.</a:t>
            </a:r>
          </a:p>
        </p:txBody>
      </p:sp>
      <p:graphicFrame>
        <p:nvGraphicFramePr>
          <p:cNvPr id="27" name="Table 26"/>
          <p:cNvGraphicFramePr>
            <a:graphicFrameLocks noGrp="1"/>
          </p:cNvGraphicFramePr>
          <p:nvPr/>
        </p:nvGraphicFramePr>
        <p:xfrm>
          <a:off x="777240" y="1755648"/>
          <a:ext cx="10634472" cy="1316736"/>
        </p:xfrm>
        <a:graphic>
          <a:graphicData uri="http://schemas.openxmlformats.org/drawingml/2006/table">
            <a:tbl>
              <a:tblPr firstRow="0" bandRow="0">
                <a:tableStyleId>{5940675A-B579-460E-94D1-54222C63F5DA}</a:tableStyleId>
              </a:tblPr>
              <a:tblGrid>
                <a:gridCol w="3017520"/>
                <a:gridCol w="1325880"/>
                <a:gridCol w="1097280"/>
                <a:gridCol w="1508760"/>
                <a:gridCol w="594360"/>
                <a:gridCol w="1783080"/>
                <a:gridCol w="1307592"/>
              </a:tblGrid>
              <a:tr h="329184">
                <a:tc>
                  <a:txBody>
                    <a:bodyPr wrap="square"/>
                    <a:lstStyle/>
                    <a:p>
                      <a:r>
                        <a:rPr sz="110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Local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VaR shard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36g²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128 GB (need 69)³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~650 GB (need 394)¹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Coordinators (coordinator-only, no shards)⁴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16–20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Consoles⁴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 load balancer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777240" y="3200400"/>
            <a:ext cx="3422904" cy="16002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14400" y="3273552"/>
            <a:ext cx="3194304" cy="1481328"/>
          </a:xfrm>
          <a:prstGeom prst="rect">
            <a:avLst/>
          </a:prstGeom>
          <a:noFill/>
        </p:spPr>
        <p:txBody>
          <a:bodyPr wrap="square" lIns="0" rIns="0" tIns="0" bIns="0" anchor="t">
            <a:spAutoFit/>
          </a:bodyPr>
          <a:lstStyle/>
          <a:p>
            <a:pPr algn="l">
              <a:spcAft>
                <a:spcPts val="100"/>
              </a:spcAft>
            </a:pPr>
            <a:r>
              <a:rPr sz="1000" b="0" i="0">
                <a:solidFill>
                  <a:srgbClr val="9AA0A8"/>
                </a:solidFill>
                <a:latin typeface="Courier New"/>
              </a:rPr>
              <a:t># the market-risk pack's sharding: block</a:t>
            </a:r>
          </a:p>
          <a:p>
            <a:pPr algn="l">
              <a:spcAft>
                <a:spcPts val="100"/>
              </a:spcAft>
            </a:pPr>
            <a:r>
              <a:rPr sz="1000" b="0" i="0">
                <a:solidFill>
                  <a:srgbClr val="F1EEE9"/>
                </a:solidFill>
                <a:latin typeface="Courier New"/>
              </a:rPr>
              <a:t>sharding:</a:t>
            </a:r>
          </a:p>
          <a:p>
            <a:pPr algn="l">
              <a:spcAft>
                <a:spcPts val="100"/>
              </a:spcAft>
            </a:pPr>
            <a:r>
              <a:rPr sz="1000" b="0" i="0">
                <a:solidFill>
                  <a:srgbClr val="E8A0AC"/>
                </a:solidFill>
                <a:latin typeface="Courier New"/>
              </a:rPr>
              <a:t>  enabled: true</a:t>
            </a:r>
          </a:p>
          <a:p>
            <a:pPr algn="l">
              <a:spcAft>
                <a:spcPts val="100"/>
              </a:spcAft>
            </a:pPr>
            <a:r>
              <a:rPr sz="1000" b="0" i="0">
                <a:solidFill>
                  <a:srgbClr val="E8A0AC"/>
                </a:solidFill>
                <a:latin typeface="Courier New"/>
              </a:rPr>
              <a:t>  key: [LEGAL_ENTITY, DESK]</a:t>
            </a:r>
          </a:p>
          <a:p>
            <a:pPr algn="l">
              <a:spcAft>
                <a:spcPts val="100"/>
              </a:spcAft>
            </a:pPr>
            <a:r>
              <a:rPr sz="1000" b="0" i="0">
                <a:solidFill>
                  <a:srgbClr val="E8A0AC"/>
                </a:solidFill>
                <a:latin typeface="Courier New"/>
              </a:rPr>
              <a:t>  replicas: 2       # two zones</a:t>
            </a:r>
          </a:p>
          <a:p>
            <a:pPr algn="l">
              <a:spcAft>
                <a:spcPts val="100"/>
              </a:spcAft>
            </a:pPr>
            <a:r>
              <a:rPr sz="1000" b="0" i="0">
                <a:solidFill>
                  <a:srgbClr val="E8A0AC"/>
                </a:solidFill>
                <a:latin typeface="Courier New"/>
              </a:rPr>
              <a:t>  target-shard-mb: 2048</a:t>
            </a:r>
          </a:p>
          <a:p>
            <a:pPr algn="l">
              <a:spcAft>
                <a:spcPts val="100"/>
              </a:spcAft>
            </a:pPr>
            <a:r>
              <a:rPr sz="1000" b="0" i="0">
                <a:solidFill>
                  <a:srgbClr val="9AA0A8"/>
                </a:solidFill>
                <a:latin typeface="Courier New"/>
              </a:rPr>
              <a:t># coordinators: coordinator-only: true</a:t>
            </a:r>
          </a:p>
          <a:p>
            <a:pPr algn="l">
              <a:spcAft>
                <a:spcPts val="100"/>
              </a:spcAft>
            </a:pPr>
            <a:r>
              <a:rPr sz="1000" b="0" i="0">
                <a:solidFill>
                  <a:srgbClr val="9AA0A8"/>
                </a:solidFill>
                <a:latin typeface="Courier New"/>
              </a:rPr>
              <a:t># Java 25 -XX:+UseCompactObjectHeaders</a:t>
            </a:r>
          </a:p>
        </p:txBody>
      </p:sp>
      <p:sp>
        <p:nvSpPr>
          <p:cNvPr id="30" name="Rectangle 29"/>
          <p:cNvSpPr/>
          <p:nvPr/>
        </p:nvSpPr>
        <p:spPr>
          <a:xfrm>
            <a:off x="4383024" y="320040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38472"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Each shard on two servers</a:t>
            </a:r>
          </a:p>
          <a:p>
            <a:pPr algn="l" marL="146304" indent="-146304">
              <a:spcAft>
                <a:spcPts val="200"/>
              </a:spcAft>
              <a:buClr>
                <a:srgbClr val="A51C30"/>
              </a:buClr>
              <a:buSzPct val="100000"/>
              <a:buFont typeface="Arial"/>
              <a:buChar char="▪"/>
            </a:pPr>
            <a:r>
              <a:rPr sz="1100" b="0" i="0">
                <a:solidFill>
                  <a:srgbClr val="1A1A1A"/>
                </a:solidFill>
              </a:rPr>
              <a:t>Shards are legal entity and desk ranges near 2 GB; a desk is never split</a:t>
            </a:r>
          </a:p>
          <a:p>
            <a:pPr algn="l" marL="146304" indent="-146304">
              <a:spcAft>
                <a:spcPts val="200"/>
              </a:spcAft>
              <a:buClr>
                <a:srgbClr val="A51C30"/>
              </a:buClr>
              <a:buSzPct val="100000"/>
              <a:buFont typeface="Arial"/>
              <a:buChar char="▪"/>
            </a:pPr>
            <a:r>
              <a:rPr sz="1100" b="0" i="0">
                <a:solidFill>
                  <a:srgbClr val="1A1A1A"/>
                </a:solidFill>
              </a:rPr>
              <a:t>Any one server can fail: the other replica answers</a:t>
            </a:r>
          </a:p>
          <a:p>
            <a:pPr algn="l" marL="146304" indent="-146304">
              <a:spcAft>
                <a:spcPts val="200"/>
              </a:spcAft>
              <a:buClr>
                <a:srgbClr val="A51C30"/>
              </a:buClr>
              <a:buSzPct val="100000"/>
              <a:buFont typeface="Arial"/>
              <a:buChar char="▪"/>
            </a:pPr>
            <a:r>
              <a:rPr sz="1100" b="0" i="0">
                <a:solidFill>
                  <a:srgbClr val="1A1A1A"/>
                </a:solidFill>
              </a:rPr>
              <a:t>Replacing a server moves about 1/6 of the rows</a:t>
            </a:r>
          </a:p>
        </p:txBody>
      </p:sp>
      <p:sp>
        <p:nvSpPr>
          <p:cNvPr id="33" name="Rectangle 32"/>
          <p:cNvSpPr/>
          <p:nvPr/>
        </p:nvSpPr>
        <p:spPr>
          <a:xfrm>
            <a:off x="7988808" y="3200400"/>
            <a:ext cx="3422904" cy="1600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988808"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144256"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Smaller options</a:t>
            </a:r>
          </a:p>
          <a:p>
            <a:pPr algn="l" marL="146304" indent="-146304">
              <a:spcAft>
                <a:spcPts val="200"/>
              </a:spcAft>
              <a:buClr>
                <a:srgbClr val="A51C30"/>
              </a:buClr>
              <a:buSzPct val="100000"/>
              <a:buFont typeface="Arial"/>
              <a:buChar char="▪"/>
            </a:pPr>
            <a:r>
              <a:rPr sz="1100" b="1" i="0">
                <a:solidFill>
                  <a:srgbClr val="8A1626"/>
                </a:solidFill>
              </a:rPr>
              <a:t>1-day VaR only⁵: </a:t>
            </a:r>
            <a:r>
              <a:rPr sz="1100" b="0" i="0">
                <a:solidFill>
                  <a:srgbClr val="1A1A1A"/>
                </a:solidFill>
              </a:rPr>
              <a:t>4 owners, 24g heap, 96 GB RAM (need 47), plus 2 coordinators</a:t>
            </a:r>
          </a:p>
          <a:p>
            <a:pPr algn="l" marL="146304" indent="-146304">
              <a:spcAft>
                <a:spcPts val="200"/>
              </a:spcAft>
              <a:buClr>
                <a:srgbClr val="A51C30"/>
              </a:buClr>
              <a:buSzPct val="100000"/>
              <a:buFont typeface="Arial"/>
              <a:buChar char="▪"/>
            </a:pPr>
            <a:r>
              <a:rPr sz="1100" b="1" i="0">
                <a:solidFill>
                  <a:srgbClr val="8A1626"/>
                </a:solidFill>
              </a:rPr>
              <a:t>Minimum start⁶: </a:t>
            </a:r>
            <a:r>
              <a:rPr sz="1100" b="0" i="0">
                <a:solidFill>
                  <a:srgbClr val="1A1A1A"/>
                </a:solidFill>
              </a:rPr>
              <a:t>3 owners and 1 coordinator, 36g heap; 192 GB RAM with 2 replicas (need 110), 128 GB with 1 (less failure headroom)</a:t>
            </a:r>
          </a:p>
        </p:txBody>
      </p:sp>
      <p:sp>
        <p:nvSpPr>
          <p:cNvPr id="36" name="Rectangle 35"/>
          <p:cNvSpPr/>
          <p:nvPr/>
        </p:nvSpPr>
        <p:spPr>
          <a:xfrm>
            <a:off x="777240" y="4919472"/>
            <a:ext cx="10634472" cy="60350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914400" y="512064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8" name="TextBox 37"/>
          <p:cNvSpPr txBox="1"/>
          <p:nvPr/>
        </p:nvSpPr>
        <p:spPr>
          <a:xfrm>
            <a:off x="1650492" y="4919472"/>
            <a:ext cx="9624060" cy="603504"/>
          </a:xfrm>
          <a:prstGeom prst="rect">
            <a:avLst/>
          </a:prstGeom>
          <a:noFill/>
        </p:spPr>
        <p:txBody>
          <a:bodyPr wrap="square" lIns="0" rIns="0" tIns="0" bIns="0" anchor="ctr">
            <a:spAutoFit/>
          </a:bodyPr>
          <a:lstStyle/>
          <a:p>
            <a:pPr algn="l"/>
            <a:r>
              <a:rPr sz="1100" b="1" i="0">
                <a:solidFill>
                  <a:srgbClr val="8A1626"/>
                </a:solidFill>
              </a:rPr>
              <a:t>10-day and stressed VaR are not built yet; </a:t>
            </a:r>
            <a:r>
              <a:rPr sz="1100" b="0" i="0">
                <a:solidFill>
                  <a:srgbClr val="1A1A1A"/>
                </a:solidFill>
              </a:rPr>
              <a:t>they are sized here because they triple the footprint. VaR sharding itself is built (off by default). 1-day only, six owners would need about 39 GB each.⁵</a:t>
            </a:r>
          </a:p>
        </p:txBody>
      </p:sp>
      <p:sp>
        <p:nvSpPr>
          <p:cNvPr id="39" name="Rectangle 38"/>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Estimated, not measured at 2.3M.  </a:t>
            </a:r>
            <a:r>
              <a:rPr sz="1100" b="0" i="0">
                <a:solidFill>
                  <a:srgbClr val="1A1A1A"/>
                </a:solidFill>
              </a:rPr>
              <a:t>Every figure is scaled × 23 from the measured 100,000-trade benchmark. Next: the 200K benchmark, then a 2.3M load on one real bank server before ordering hardware.</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A-3, in the appendix (A sharded cluster)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WHY THESE NUMBERS</a:t>
            </a:r>
          </a:p>
        </p:txBody>
      </p:sp>
      <p:sp>
        <p:nvSpPr>
          <p:cNvPr id="3" name="Title 2"/>
          <p:cNvSpPr>
            <a:spLocks noGrp="1"/>
          </p:cNvSpPr>
          <p:nvPr>
            <p:ph type="title" idx="104"/>
          </p:nvPr>
        </p:nvSpPr>
        <p:spPr/>
        <p:txBody>
          <a:bodyPr/>
          <a:lstStyle/>
          <a:p>
            <a:r>
              <a:t>Sharding divides the cache and the disk, not the heap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Chart 25"/>
          <p:cNvGraphicFramePr>
            <a:graphicFrameLocks noGrp="1"/>
          </p:cNvGraphicFramePr>
          <p:nvPr/>
        </p:nvGraphicFramePr>
        <p:xfrm>
          <a:off x="777240" y="1371600"/>
          <a:ext cx="4754880" cy="2148840"/>
        </p:xfrm>
        <a:graphic>
          <a:graphicData uri="http://schemas.openxmlformats.org/drawingml/2006/chart">
            <c:chart xmlns:c="http://schemas.openxmlformats.org/drawingml/2006/chart" r:id="rId2"/>
          </a:graphicData>
        </a:graphic>
      </p:graphicFrame>
      <p:graphicFrame>
        <p:nvGraphicFramePr>
          <p:cNvPr id="27" name="Table 26"/>
          <p:cNvGraphicFramePr>
            <a:graphicFrameLocks noGrp="1"/>
          </p:cNvGraphicFramePr>
          <p:nvPr/>
        </p:nvGraphicFramePr>
        <p:xfrm>
          <a:off x="777240" y="3657600"/>
          <a:ext cx="4754880" cy="1170432"/>
        </p:xfrm>
        <a:graphic>
          <a:graphicData uri="http://schemas.openxmlformats.org/drawingml/2006/table">
            <a:tbl>
              <a:tblPr firstRow="0" bandRow="0">
                <a:tableStyleId>{5940675A-B579-460E-94D1-54222C63F5DA}</a:tableStyleId>
              </a:tblPr>
              <a:tblGrid>
                <a:gridCol w="2286000"/>
                <a:gridCol w="1234440"/>
                <a:gridCol w="1234440"/>
              </a:tblGrid>
              <a:tr h="292608">
                <a:tc>
                  <a:txBody>
                    <a:bodyPr wrap="square"/>
                    <a:lstStyle/>
                    <a:p>
                      <a:r>
                        <a:rPr sz="1100" b="1" i="0">
                          <a:solidFill>
                            <a:srgbClr val="FFFFFF"/>
                          </a:solidFill>
                        </a:rPr>
                        <a:t>One server against six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An 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RAM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needed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 (96 in 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Local NVMe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394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5806440" y="1371600"/>
            <a:ext cx="5605272" cy="12618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5806440" y="137160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961888" y="1435608"/>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Divided by the shards</a:t>
            </a:r>
          </a:p>
          <a:p>
            <a:pPr algn="l" marL="146304" indent="-146304">
              <a:spcAft>
                <a:spcPts val="200"/>
              </a:spcAft>
              <a:buClr>
                <a:srgbClr val="A51C30"/>
              </a:buClr>
              <a:buSzPct val="100000"/>
              <a:buFont typeface="Arial"/>
              <a:buChar char="▪"/>
            </a:pPr>
            <a:r>
              <a:rPr sz="1100" b="0" i="0">
                <a:solidFill>
                  <a:srgbClr val="1A1A1A"/>
                </a:solidFill>
              </a:rPr>
              <a:t>Page cache for the hot files: 78.4 GB × 2 replicas ÷ 6 owners = 26.1 GB¹</a:t>
            </a:r>
          </a:p>
          <a:p>
            <a:pPr algn="l" marL="146304" indent="-146304">
              <a:spcAft>
                <a:spcPts val="200"/>
              </a:spcAft>
              <a:buClr>
                <a:srgbClr val="A51C30"/>
              </a:buClr>
              <a:buSzPct val="100000"/>
              <a:buFont typeface="Arial"/>
              <a:buChar char="▪"/>
            </a:pPr>
            <a:r>
              <a:rPr sz="1100" b="0" i="0">
                <a:solidFill>
                  <a:srgbClr val="1A1A1A"/>
                </a:solidFill>
              </a:rPr>
              <a:t>A load's spill files: 44.2 × 1/3 = 14.7 GB; NVMe 1,183 × 1/3 = 394 GB</a:t>
            </a:r>
          </a:p>
        </p:txBody>
      </p:sp>
      <p:sp>
        <p:nvSpPr>
          <p:cNvPr id="31" name="Rectangle 30"/>
          <p:cNvSpPr/>
          <p:nvPr/>
        </p:nvSpPr>
        <p:spPr>
          <a:xfrm>
            <a:off x="5806440" y="2724912"/>
            <a:ext cx="5605272"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5806440" y="2724912"/>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961888" y="2788920"/>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Not divided: the heap</a:t>
            </a:r>
          </a:p>
          <a:p>
            <a:pPr algn="l" marL="146304" indent="-146304">
              <a:spcAft>
                <a:spcPts val="200"/>
              </a:spcAft>
              <a:buClr>
                <a:srgbClr val="A51C30"/>
              </a:buClr>
              <a:buSzPct val="100000"/>
              <a:buFont typeface="Arial"/>
              <a:buChar char="▪"/>
            </a:pPr>
            <a:r>
              <a:rPr sz="1100" b="0" i="0">
                <a:solidFill>
                  <a:srgbClr val="1A1A1A"/>
                </a:solidFill>
              </a:rPr>
              <a:t>Every member keeps the date's skeleton for all 2.3M positions (ids, columns, book and node aggregates), so it can answer any scope: about 2 GB an open date</a:t>
            </a:r>
          </a:p>
          <a:p>
            <a:pPr algn="l" marL="146304" indent="-146304">
              <a:spcAft>
                <a:spcPts val="200"/>
              </a:spcAft>
              <a:buClr>
                <a:srgbClr val="A51C30"/>
              </a:buClr>
              <a:buSzPct val="100000"/>
              <a:buFont typeface="Arial"/>
              <a:buChar char="▪"/>
            </a:pPr>
            <a:r>
              <a:rPr sz="1100" b="0" i="0">
                <a:solidFill>
                  <a:srgbClr val="1A1A1A"/>
                </a:solidFill>
              </a:rPr>
              <a:t>Two dates, the answer cache, × 1.5: 21.2 GB need → -Xmx36g with the 39% headroom; 24g for 1-day only²,⁵</a:t>
            </a:r>
          </a:p>
        </p:txBody>
      </p:sp>
      <p:sp>
        <p:nvSpPr>
          <p:cNvPr id="34" name="Rectangle 33"/>
          <p:cNvSpPr/>
          <p:nvPr/>
        </p:nvSpPr>
        <p:spPr>
          <a:xfrm>
            <a:off x="5806440" y="4078224"/>
            <a:ext cx="56052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806440" y="4078224"/>
            <a:ext cx="45720"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961888" y="4142232"/>
            <a:ext cx="5367528" cy="941831"/>
          </a:xfrm>
          <a:prstGeom prst="rect">
            <a:avLst/>
          </a:prstGeom>
          <a:noFill/>
        </p:spPr>
        <p:txBody>
          <a:bodyPr wrap="square" lIns="0" rIns="0" tIns="0" bIns="0" anchor="t">
            <a:spAutoFit/>
          </a:bodyPr>
          <a:lstStyle/>
          <a:p>
            <a:pPr algn="l">
              <a:spcAft>
                <a:spcPts val="300"/>
              </a:spcAft>
            </a:pPr>
            <a:r>
              <a:rPr sz="1300" b="1" i="0">
                <a:solidFill>
                  <a:srgbClr val="8A1626"/>
                </a:solidFill>
              </a:rPr>
              <a:t>An owner: 21 + 26 + 15 + 7 = 69 GB³</a:t>
            </a:r>
          </a:p>
          <a:p>
            <a:pPr algn="l" marL="146304" indent="-146304">
              <a:spcAft>
                <a:spcPts val="200"/>
              </a:spcAft>
              <a:buClr>
                <a:srgbClr val="A51C30"/>
              </a:buClr>
              <a:buSzPct val="100000"/>
              <a:buFont typeface="Arial"/>
              <a:buChar char="▪"/>
            </a:pPr>
            <a:r>
              <a:rPr sz="1100" b="0" i="0">
                <a:solidFill>
                  <a:srgbClr val="1A1A1A"/>
                </a:solidFill>
              </a:rPr>
              <a:t>÷ 0.61 = 113 → 128 GB machines (96 GB for 1-day only)</a:t>
            </a:r>
          </a:p>
          <a:p>
            <a:pPr algn="l" marL="146304" indent="-146304">
              <a:spcAft>
                <a:spcPts val="200"/>
              </a:spcAft>
              <a:buClr>
                <a:srgbClr val="A51C30"/>
              </a:buClr>
              <a:buSzPct val="100000"/>
              <a:buFont typeface="Arial"/>
              <a:buChar char="▪"/>
            </a:pPr>
            <a:r>
              <a:rPr sz="1100" b="0" i="0">
                <a:solidFill>
                  <a:srgbClr val="1A1A1A"/>
                </a:solidFill>
              </a:rPr>
              <a:t>15,000 portfolios are light: memberships about 31 MB⁷; each portfolio a sum of its rows, in parallel across shards</a:t>
            </a:r>
          </a:p>
        </p:txBody>
      </p:sp>
      <p:sp>
        <p:nvSpPr>
          <p:cNvPr id="37" name="Rectangle 36"/>
          <p:cNvSpPr/>
          <p:nvPr/>
        </p:nvSpPr>
        <p:spPr>
          <a:xfrm>
            <a:off x="777240" y="5029200"/>
            <a:ext cx="4754880" cy="320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ounded Rectangle 37"/>
          <p:cNvSpPr/>
          <p:nvPr/>
        </p:nvSpPr>
        <p:spPr>
          <a:xfrm>
            <a:off x="777240" y="509320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9" name="TextBox 38"/>
          <p:cNvSpPr txBox="1"/>
          <p:nvPr/>
        </p:nvSpPr>
        <p:spPr>
          <a:xfrm>
            <a:off x="1604772" y="5029200"/>
            <a:ext cx="3927348" cy="320040"/>
          </a:xfrm>
          <a:prstGeom prst="rect">
            <a:avLst/>
          </a:prstGeom>
          <a:noFill/>
        </p:spPr>
        <p:txBody>
          <a:bodyPr wrap="square" lIns="0" rIns="0" tIns="0" bIns="0" anchor="ctr">
            <a:spAutoFit/>
          </a:bodyPr>
          <a:lstStyle/>
          <a:p>
            <a:pPr algn="l"/>
            <a:r>
              <a:rPr sz="1100" b="0" i="0">
                <a:solidFill>
                  <a:srgbClr val="1A1A1A"/>
                </a:solidFill>
              </a:rPr>
              <a:t>the nightly official run over 15,000 portfolios, spread over 6 owners: minutes⁷</a:t>
            </a:r>
          </a:p>
        </p:txBody>
      </p:sp>
      <p:sp>
        <p:nvSpPr>
          <p:cNvPr id="40" name="Rectangle 39"/>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Failure and growth.  </a:t>
            </a:r>
            <a:r>
              <a:rPr sz="1100" b="0" i="0">
                <a:solidFill>
                  <a:srgbClr val="1A1A1A"/>
                </a:solidFill>
              </a:rPr>
              <a:t>With 2 replicas any one server can fail and every scope still answers; replacing one moves about 1/6 of the rows. More positions add owners, not bigger machines. All figures ESTIMATED (× 23 from the measured 100K benchmark); next the 200K benchmark, then a 2.3M load on one real server.</a:t>
            </a:r>
          </a:p>
        </p:txBody>
      </p:sp>
      <p:sp>
        <p:nvSpPr>
          <p:cNvPr id="4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A-3, in the appendix (A sharded cluster)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CONCURRENCY AND THROUGHPUT</a:t>
            </a:r>
          </a:p>
        </p:txBody>
      </p:sp>
      <p:sp>
        <p:nvSpPr>
          <p:cNvPr id="3" name="Title 2"/>
          <p:cNvSpPr>
            <a:spLocks noGrp="1"/>
          </p:cNvSpPr>
          <p:nvPr>
            <p:ph type="title" idx="104"/>
          </p:nvPr>
        </p:nvSpPr>
        <p:spPr/>
        <p:txBody>
          <a:bodyPr/>
          <a:lstStyle/>
          <a:p>
            <a:r>
              <a:t>How many people at once: what risk users can expect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89888"/>
            <a:ext cx="2142744" cy="384048"/>
          </a:xfrm>
          <a:prstGeom prst="rect">
            <a:avLst/>
          </a:prstGeom>
          <a:noFill/>
        </p:spPr>
        <p:txBody>
          <a:bodyPr wrap="square" lIns="0" rIns="0" tIns="0" bIns="0" anchor="ctr">
            <a:spAutoFit/>
          </a:bodyPr>
          <a:lstStyle/>
          <a:p>
            <a:pPr algn="l"/>
            <a:r>
              <a:rPr sz="1900" b="1" i="0">
                <a:solidFill>
                  <a:srgbClr val="8A1626"/>
                </a:solidFill>
              </a:rPr>
              <a:t>300–500⁵</a:t>
            </a:r>
          </a:p>
        </p:txBody>
      </p:sp>
      <p:sp>
        <p:nvSpPr>
          <p:cNvPr id="29" name="Rounded Rectangle 28"/>
          <p:cNvSpPr/>
          <p:nvPr/>
        </p:nvSpPr>
        <p:spPr>
          <a:xfrm>
            <a:off x="3354324"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0" name="TextBox 29"/>
          <p:cNvSpPr txBox="1"/>
          <p:nvPr/>
        </p:nvSpPr>
        <p:spPr>
          <a:xfrm>
            <a:off x="941832" y="1773936"/>
            <a:ext cx="3148584" cy="292608"/>
          </a:xfrm>
          <a:prstGeom prst="rect">
            <a:avLst/>
          </a:prstGeom>
          <a:noFill/>
        </p:spPr>
        <p:txBody>
          <a:bodyPr wrap="square" lIns="0" rIns="0" tIns="0" bIns="0" anchor="ctr">
            <a:spAutoFit/>
          </a:bodyPr>
          <a:lstStyle/>
          <a:p>
            <a:pPr algn="l"/>
            <a:r>
              <a:rPr sz="1100" b="0" i="0">
                <a:solidFill>
                  <a:srgbClr val="4A5058"/>
                </a:solidFill>
              </a:rPr>
              <a:t>people active at once (1,500–5,000 named)</a:t>
            </a:r>
          </a:p>
        </p:txBody>
      </p:sp>
      <p:sp>
        <p:nvSpPr>
          <p:cNvPr id="31" name="Rectangle 30"/>
          <p:cNvSpPr/>
          <p:nvPr/>
        </p:nvSpPr>
        <p:spPr>
          <a:xfrm>
            <a:off x="4383024"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1389888"/>
            <a:ext cx="2142744" cy="384048"/>
          </a:xfrm>
          <a:prstGeom prst="rect">
            <a:avLst/>
          </a:prstGeom>
          <a:noFill/>
        </p:spPr>
        <p:txBody>
          <a:bodyPr wrap="square" lIns="0" rIns="0" tIns="0" bIns="0" anchor="ctr">
            <a:spAutoFit/>
          </a:bodyPr>
          <a:lstStyle/>
          <a:p>
            <a:pPr algn="l"/>
            <a:r>
              <a:rPr sz="1900" b="1" i="0">
                <a:solidFill>
                  <a:srgbClr val="8A1626"/>
                </a:solidFill>
              </a:rPr>
              <a:t>330–650 req/s²</a:t>
            </a:r>
          </a:p>
        </p:txBody>
      </p:sp>
      <p:sp>
        <p:nvSpPr>
          <p:cNvPr id="34" name="Rounded Rectangle 33"/>
          <p:cNvSpPr/>
          <p:nvPr/>
        </p:nvSpPr>
        <p:spPr>
          <a:xfrm>
            <a:off x="6960108"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5" name="TextBox 34"/>
          <p:cNvSpPr txBox="1"/>
          <p:nvPr/>
        </p:nvSpPr>
        <p:spPr>
          <a:xfrm>
            <a:off x="4547616" y="1773936"/>
            <a:ext cx="3148584" cy="292608"/>
          </a:xfrm>
          <a:prstGeom prst="rect">
            <a:avLst/>
          </a:prstGeom>
          <a:noFill/>
        </p:spPr>
        <p:txBody>
          <a:bodyPr wrap="square" lIns="0" rIns="0" tIns="0" bIns="0" anchor="ctr">
            <a:spAutoFit/>
          </a:bodyPr>
          <a:lstStyle/>
          <a:p>
            <a:pPr algn="l"/>
            <a:r>
              <a:rPr sz="1100" b="0" i="0">
                <a:solidFill>
                  <a:srgbClr val="4A5058"/>
                </a:solidFill>
              </a:rPr>
              <a:t>sustained to peak, the 6 + 2 + 2 cluster</a:t>
            </a:r>
          </a:p>
        </p:txBody>
      </p:sp>
      <p:sp>
        <p:nvSpPr>
          <p:cNvPr id="36" name="Rectangle 35"/>
          <p:cNvSpPr/>
          <p:nvPr/>
        </p:nvSpPr>
        <p:spPr>
          <a:xfrm>
            <a:off x="7988808"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988808"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3400" y="1389888"/>
            <a:ext cx="2142744" cy="384048"/>
          </a:xfrm>
          <a:prstGeom prst="rect">
            <a:avLst/>
          </a:prstGeom>
          <a:noFill/>
        </p:spPr>
        <p:txBody>
          <a:bodyPr wrap="square" lIns="0" rIns="0" tIns="0" bIns="0" anchor="ctr">
            <a:spAutoFit/>
          </a:bodyPr>
          <a:lstStyle/>
          <a:p>
            <a:pPr algn="l"/>
            <a:r>
              <a:rPr sz="1900" b="1" i="0">
                <a:solidFill>
                  <a:srgbClr val="8A1626"/>
                </a:solidFill>
              </a:rPr>
              <a:t>The console</a:t>
            </a:r>
          </a:p>
        </p:txBody>
      </p:sp>
      <p:sp>
        <p:nvSpPr>
          <p:cNvPr id="39" name="Rounded Rectangle 38"/>
          <p:cNvSpPr/>
          <p:nvPr/>
        </p:nvSpPr>
        <p:spPr>
          <a:xfrm>
            <a:off x="10565892"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40" name="TextBox 39"/>
          <p:cNvSpPr txBox="1"/>
          <p:nvPr/>
        </p:nvSpPr>
        <p:spPr>
          <a:xfrm>
            <a:off x="8153400" y="1773936"/>
            <a:ext cx="3148584" cy="292608"/>
          </a:xfrm>
          <a:prstGeom prst="rect">
            <a:avLst/>
          </a:prstGeom>
          <a:noFill/>
        </p:spPr>
        <p:txBody>
          <a:bodyPr wrap="square" lIns="0" rIns="0" tIns="0" bIns="0" anchor="ctr">
            <a:spAutoFit/>
          </a:bodyPr>
          <a:lstStyle/>
          <a:p>
            <a:pPr algn="l"/>
            <a:r>
              <a:rPr sz="1100" b="0" i="0">
                <a:solidFill>
                  <a:srgbClr val="4A5058"/>
                </a:solidFill>
              </a:rPr>
              <a:t>is the first limit, not the VaR servers</a:t>
            </a:r>
          </a:p>
        </p:txBody>
      </p:sp>
      <p:sp>
        <p:nvSpPr>
          <p:cNvPr id="41" name="TextBox 40"/>
          <p:cNvSpPr txBox="1"/>
          <p:nvPr/>
        </p:nvSpPr>
        <p:spPr>
          <a:xfrm>
            <a:off x="777240" y="2194560"/>
            <a:ext cx="4709160" cy="274320"/>
          </a:xfrm>
          <a:prstGeom prst="rect">
            <a:avLst/>
          </a:prstGeom>
          <a:noFill/>
        </p:spPr>
        <p:txBody>
          <a:bodyPr wrap="square" lIns="0" rIns="0" tIns="0" bIns="0" anchor="ctr">
            <a:spAutoFit/>
          </a:bodyPr>
          <a:lstStyle/>
          <a:p>
            <a:pPr algn="l"/>
            <a:r>
              <a:rPr sz="1200" b="1" i="0">
                <a:solidFill>
                  <a:srgbClr val="A51C30"/>
                </a:solidFill>
              </a:rPr>
              <a:t>Measured¹  </a:t>
            </a:r>
            <a:r>
              <a:rPr sz="1050" b="0" i="0">
                <a:solidFill>
                  <a:srgbClr val="4A5058"/>
                </a:solidFill>
              </a:rPr>
              <a:t>one 24-core server, 8 GB heap, a 1.16M-trade lake</a:t>
            </a:r>
          </a:p>
        </p:txBody>
      </p:sp>
      <p:graphicFrame>
        <p:nvGraphicFramePr>
          <p:cNvPr id="42" name="Table 41"/>
          <p:cNvGraphicFramePr>
            <a:graphicFrameLocks noGrp="1"/>
          </p:cNvGraphicFramePr>
          <p:nvPr/>
        </p:nvGraphicFramePr>
        <p:xfrm>
          <a:off x="777240" y="2487168"/>
          <a:ext cx="4709160" cy="1920240"/>
        </p:xfrm>
        <a:graphic>
          <a:graphicData uri="http://schemas.openxmlformats.org/drawingml/2006/table">
            <a:tbl>
              <a:tblPr firstRow="0" bandRow="0">
                <a:tableStyleId>{5940675A-B579-460E-94D1-54222C63F5DA}</a:tableStyleId>
              </a:tblPr>
              <a:tblGrid>
                <a:gridCol w="2606040"/>
                <a:gridCol w="2103120"/>
              </a:tblGrid>
              <a:tr h="274320">
                <a:tc>
                  <a:txBody>
                    <a:bodyPr wrap="square"/>
                    <a:lstStyle/>
                    <a:p>
                      <a:r>
                        <a:rPr sz="1050" b="1" i="0">
                          <a:solidFill>
                            <a:srgbClr val="FFFFFF"/>
                          </a:solidFill>
                        </a:rPr>
                        <a:t>What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Mixed reads, 100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140 req/s, 0 failures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Single trade p95, 10 /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0.08 s / ≈ 1 s; then queues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One console,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69 req/s; search ≈ 4 s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VaR of a node, one user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under 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Bank minus a desk · 50K-position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ms · 52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Whole-bank filter,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3" name="TextBox 42"/>
          <p:cNvSpPr txBox="1"/>
          <p:nvPr/>
        </p:nvSpPr>
        <p:spPr>
          <a:xfrm>
            <a:off x="777240" y="4443984"/>
            <a:ext cx="4709160" cy="256032"/>
          </a:xfrm>
          <a:prstGeom prst="rect">
            <a:avLst/>
          </a:prstGeom>
          <a:noFill/>
        </p:spPr>
        <p:txBody>
          <a:bodyPr wrap="square" lIns="0" rIns="0" tIns="0" bIns="0" anchor="ctr">
            <a:spAutoFit/>
          </a:bodyPr>
          <a:lstStyle/>
          <a:p>
            <a:pPr algn="l"/>
            <a:r>
              <a:rPr sz="1050" b="0" i="1">
                <a:solidFill>
                  <a:srgbClr val="4A5058"/>
                </a:solidFill>
              </a:rPr>
              <a:t>Mix: 80% trades, 10% counterparty-trade pages, 5% netting sets, 5% searches.</a:t>
            </a:r>
          </a:p>
        </p:txBody>
      </p:sp>
      <p:sp>
        <p:nvSpPr>
          <p:cNvPr id="44" name="TextBox 43"/>
          <p:cNvSpPr txBox="1"/>
          <p:nvPr/>
        </p:nvSpPr>
        <p:spPr>
          <a:xfrm>
            <a:off x="5715000" y="2194560"/>
            <a:ext cx="5696712" cy="274320"/>
          </a:xfrm>
          <a:prstGeom prst="rect">
            <a:avLst/>
          </a:prstGeom>
          <a:noFill/>
        </p:spPr>
        <p:txBody>
          <a:bodyPr wrap="square" lIns="0" rIns="0" tIns="0" bIns="0" anchor="ctr">
            <a:spAutoFit/>
          </a:bodyPr>
          <a:lstStyle/>
          <a:p>
            <a:pPr algn="l"/>
            <a:r>
              <a:rPr sz="1200" b="1" i="0">
                <a:solidFill>
                  <a:srgbClr val="A51C30"/>
                </a:solidFill>
              </a:rPr>
              <a:t>Estimated for the cluster  </a:t>
            </a:r>
            <a:r>
              <a:rPr sz="1050" b="0" i="0">
                <a:solidFill>
                  <a:srgbClr val="4A5058"/>
                </a:solidFill>
              </a:rPr>
              <a:t>8 servers, each answers any scope</a:t>
            </a:r>
          </a:p>
        </p:txBody>
      </p:sp>
      <p:graphicFrame>
        <p:nvGraphicFramePr>
          <p:cNvPr id="45" name="Table 44"/>
          <p:cNvGraphicFramePr>
            <a:graphicFrameLocks noGrp="1"/>
          </p:cNvGraphicFramePr>
          <p:nvPr/>
        </p:nvGraphicFramePr>
        <p:xfrm>
          <a:off x="5715000" y="2487168"/>
          <a:ext cx="5696711" cy="2304288"/>
        </p:xfrm>
        <a:graphic>
          <a:graphicData uri="http://schemas.openxmlformats.org/drawingml/2006/table">
            <a:tbl>
              <a:tblPr firstRow="0" bandRow="0">
                <a:tableStyleId>{5940675A-B579-460E-94D1-54222C63F5DA}</a:tableStyleId>
              </a:tblPr>
              <a:tblGrid>
                <a:gridCol w="1325880"/>
                <a:gridCol w="1874519"/>
                <a:gridCol w="2496312"/>
              </a:tblGrid>
              <a:tr h="384048">
                <a:tc>
                  <a:txBody>
                    <a:bodyPr wrap="square"/>
                    <a:lstStyle/>
                    <a:p>
                      <a:r>
                        <a:rPr sz="1050" b="1" i="0">
                          <a:solidFill>
                            <a:srgbClr val="FFFFFF"/>
                          </a:solidFill>
                        </a:rPr>
                        <a:t>Layer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Servers²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~650 req/s peak, ~330 sustained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 measured on 24 cores → ~93 a 16-vCPU, ~47 an 8-vCPU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VaR queries³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thousands/s for nodes; ~10–25/s whole-bank filters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nodes from totals; a filter reads ~4.7 GB over 6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Consoles (2 × 4 vCPU)⁴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~100–140 page loads/s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69 measured a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Active users⁵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~300–500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consoles first: a page every 10 s, 3–5 calls: 0.3–0.5 req/s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Named users⁶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~1,500–5,000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10–20% active at once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77240" y="4754880"/>
            <a:ext cx="10634472" cy="7863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14400" y="4791456"/>
            <a:ext cx="10360152" cy="731520"/>
          </a:xfrm>
          <a:prstGeom prst="rect">
            <a:avLst/>
          </a:prstGeom>
          <a:noFill/>
        </p:spPr>
        <p:txBody>
          <a:bodyPr wrap="square" lIns="0" rIns="0" tIns="0" bIns="0" anchor="ctr">
            <a:spAutoFit/>
          </a:bodyPr>
          <a:lstStyle/>
          <a:p>
            <a:pPr algn="l"/>
            <a:r>
              <a:rPr sz="1150" b="1" i="0">
                <a:solidFill>
                  <a:srgbClr val="A51C30"/>
                </a:solidFill>
              </a:rPr>
              <a:t>What limits it first  </a:t>
            </a:r>
            <a:r>
              <a:rPr sz="1100" b="0" i="0">
                <a:solidFill>
                  <a:srgbClr val="1A1A1A"/>
                </a:solidFill>
              </a:rPr>
              <a:t>1  the consoles: add more behind the load balancer (sticky sessions for live tabs); 4 handle about double.  2  many whole-bank ad-hoc filters at once, the morning risk meeting; node and hierarchy questions are cheap.  3  live tabs and streams: each open live view holds a connection.</a:t>
            </a:r>
          </a:p>
        </p:txBody>
      </p:sp>
      <p:sp>
        <p:nvSpPr>
          <p:cNvPr id="48" name="Rectangle 47"/>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Not measured yet: VaR under many users.  </a:t>
            </a:r>
            <a:r>
              <a:rPr sz="1100" b="0" i="0">
                <a:solidFill>
                  <a:srgbClr val="1A1A1A"/>
                </a:solidFill>
              </a:rPr>
              <a:t>Next: a concurrency test in the 200K benchmark (50, 100 and 200 users, a realistic VaR mix, against the sharded cluster), then again at 2.3M on a bank server.</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A-4, in the appendix (Concurrency and throughput)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Storage and deployment</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ectangle 27"/>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0" name="Rectangle 29"/>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2" name="Rectangle 31"/>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Sorted by LE and desk; ZSTD + byte-stream split</a:t>
            </a:r>
          </a:p>
          <a:p>
            <a:pPr algn="l"/>
            <a:r>
              <a:rPr sz="1050" b="0" i="0">
                <a:solidFill>
                  <a:srgbClr val="4A5058"/>
                </a:solidFill>
              </a:rPr>
              <a:t>the parallel loader: shard-aligned files, a node a run of rows</a:t>
            </a:r>
          </a:p>
        </p:txBody>
      </p:sp>
      <p:sp>
        <p:nvSpPr>
          <p:cNvPr id="34" name="Rectangle 33"/>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36" name="Rounded Rectangle 35"/>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7" name="Rectangle 36"/>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39" name="Rounded Rectangle 38"/>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Rectangle 39"/>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2" name="Rounded Rectangle 41"/>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3" name="Rectangle 42"/>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5" name="Rectangle 44"/>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a:t>
            </a:r>
          </a:p>
          <a:p>
            <a:pPr algn="l"/>
            <a:r>
              <a:rPr sz="1050" b="0" i="0">
                <a:solidFill>
                  <a:srgbClr val="4A5058"/>
                </a:solidFill>
              </a:rPr>
              <a:t>equal to Delta to the cent; Delta the default</a:t>
            </a:r>
          </a:p>
        </p:txBody>
      </p:sp>
      <p:sp>
        <p:nvSpPr>
          <p:cNvPr id="47" name="Rectangle 46"/>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a:t>
            </a:r>
          </a:p>
          <a:p>
            <a:pPr algn="l"/>
            <a:r>
              <a:rPr sz="1050" b="0" i="0">
                <a:solidFill>
                  <a:srgbClr val="4A5058"/>
                </a:solidFill>
              </a:rPr>
              <a:t>append-only; BI's readers follow the format</a:t>
            </a:r>
          </a:p>
        </p:txBody>
      </p:sp>
      <p:sp>
        <p:nvSpPr>
          <p:cNvPr id="49" name="Rectangle 48"/>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0" name="Connector 49"/>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7132319" y="1883664"/>
            <a:ext cx="418795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cxnSp>
        <p:nvCxnSpPr>
          <p:cNvPr id="53" name="Connector 52"/>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56" name="Rectangle 55"/>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each)¹ in a fixed order</a:t>
            </a:r>
          </a:p>
        </p:txBody>
      </p:sp>
      <p:sp>
        <p:nvSpPr>
          <p:cNvPr id="58" name="Rectangle 57"/>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59" name="Connector 58"/>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1" name="Connector 60"/>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3" name="Connector 62"/>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50607" y="3986784"/>
            <a:ext cx="3108960" cy="237744"/>
          </a:xfrm>
          <a:prstGeom prst="rect">
            <a:avLst/>
          </a:prstGeom>
          <a:noFill/>
        </p:spPr>
        <p:txBody>
          <a:bodyPr wrap="square" lIns="0" rIns="0" tIns="0" bIns="0" anchor="ctr">
            <a:spAutoFit/>
          </a:bodyPr>
          <a:lstStyle/>
          <a:p>
            <a:pPr algn="l"/>
            <a:r>
              <a:rPr sz="1000" b="0" i="1">
                <a:solidFill>
                  <a:srgbClr val="4A5058"/>
                </a:solidFill>
              </a:rPr>
              <a:t>map-reduce over vectors, 2 replicas a shard</a:t>
            </a:r>
          </a:p>
        </p:txBody>
      </p:sp>
      <p:sp>
        <p:nvSpPr>
          <p:cNvPr id="65" name="Rectangle 64"/>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67" name="Rectangle 6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69" name="Rounded Rectangle 6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0" name="Connector 6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72" name="Rectangle 7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Rectangle 7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do</a:t>
            </a:r>
          </a:p>
        </p:txBody>
      </p:sp>
      <p:sp>
        <p:nvSpPr>
          <p:cNvPr id="75" name="TextBox 7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200K benchmark, then a 2.3M load on a real server</a:t>
            </a:r>
          </a:p>
          <a:p>
            <a:pPr algn="l">
              <a:spcAft>
                <a:spcPts val="0"/>
              </a:spcAft>
            </a:pPr>
            <a:r>
              <a:rPr sz="1100" b="0" i="0">
                <a:solidFill>
                  <a:srgbClr val="1A1A1A"/>
                </a:solidFill>
              </a:rPr>
              <a:t>2  Clustering by book and portfolio (Z-order)</a:t>
            </a:r>
          </a:p>
          <a:p>
            <a:pPr algn="l">
              <a:spcAft>
                <a:spcPts val="0"/>
              </a:spcAft>
            </a:pPr>
            <a:r>
              <a:rPr sz="1100" b="0" i="0">
                <a:solidFill>
                  <a:srgbClr val="1A1A1A"/>
                </a:solidFill>
              </a:rPr>
              <a:t>3  The 15,000 portfolio vectors built in a batch</a:t>
            </a:r>
          </a:p>
        </p:txBody>
      </p:sp>
      <p:sp>
        <p:nvSpPr>
          <p:cNvPr id="76" name="TextBox 7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4  Several consoles without sticky sessions</a:t>
            </a:r>
          </a:p>
          <a:p>
            <a:pPr algn="l">
              <a:spcAft>
                <a:spcPts val="0"/>
              </a:spcAft>
            </a:pPr>
            <a:r>
              <a:rPr sz="1100" b="0" i="0">
                <a:solidFill>
                  <a:srgbClr val="1A1A1A"/>
                </a:solidFill>
              </a:rPr>
              <a:t>5  The Glue and S3 Tables runs on AWS</a:t>
            </a:r>
          </a:p>
          <a:p>
            <a:pPr algn="l">
              <a:spcAft>
                <a:spcPts val="0"/>
              </a:spcAft>
            </a:pPr>
            <a:r>
              <a:rPr sz="1100" b="0" i="0">
                <a:solidFill>
                  <a:srgbClr val="1A1A1A"/>
                </a:solidFill>
              </a:rPr>
              <a:t>Built: VaR sharding, the sorted parallel loader, Iceberg, results to S3</a:t>
            </a:r>
          </a:p>
        </p:txBody>
      </p:sp>
      <p:sp>
        <p:nvSpPr>
          <p:cNvPr id="7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A partial vector: 509 scenarios × 8 B = 4,072 B a node a shard (VAR_SHARDING)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ms¹</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ms²</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GB³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(demo)⁴  </a:t>
            </a:r>
            <a:r>
              <a:rPr sz="1050" b="0" i="0">
                <a:solidFill>
                  <a:srgbClr val="1A1A1A"/>
                </a:solidFill>
              </a:rPr>
              <a:t>14 risk tables, 955,124 rows moved to Iceberg in 579 s</a:t>
            </a:r>
          </a:p>
          <a:p>
            <a:pPr algn="l"/>
            <a:r>
              <a:rPr sz="1050" b="1" i="0">
                <a:solidFill>
                  <a:srgbClr val="293352"/>
                </a:solidFill>
              </a:rPr>
              <a:t>Not built yet  </a:t>
            </a:r>
            <a:r>
              <a:rPr sz="1050" b="0" i="0">
                <a:solidFill>
                  <a:srgbClr val="1A1A1A"/>
                </a:solidFill>
              </a:rPr>
              <a:t>the 200K and 2.3M benchmarks on both formats; Delta↔Iceberg conversion</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VarTierBenchmark (VAR_GUIDE §27.3)   ² 4.68 GB of float32 rows at 2.3M ÷ 60 GB/s = 78 ms   ³ 120 commits a day × 1,764 dates × ≈ 1 KB   ⁴ CHANGELOG, Iceberg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2560320" y="2011679"/>
            <a:ext cx="417423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1" name="TextBox 30"/>
          <p:cNvSpPr txBox="1"/>
          <p:nvPr/>
        </p:nvSpPr>
        <p:spPr>
          <a:xfrm>
            <a:off x="2560320"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2" name="TextBox 31"/>
          <p:cNvSpPr txBox="1"/>
          <p:nvPr/>
        </p:nvSpPr>
        <p:spPr>
          <a:xfrm>
            <a:off x="2560320" y="2926079"/>
            <a:ext cx="417423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3" name="Rectangle 32"/>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100316" y="2011679"/>
            <a:ext cx="4174236" cy="292608"/>
          </a:xfrm>
          <a:prstGeom prst="rect">
            <a:avLst/>
          </a:prstGeom>
          <a:noFill/>
        </p:spPr>
        <p:txBody>
          <a:bodyPr wrap="square" lIns="0" rIns="0" tIns="0" bIns="0" anchor="ctr">
            <a:spAutoFit/>
          </a:bodyPr>
          <a:lstStyle/>
          <a:p>
            <a:pPr algn="l"/>
            <a:r>
              <a:rPr sz="1200" b="0" i="0">
                <a:solidFill>
                  <a:srgbClr val="1A1A1A"/>
                </a:solidFill>
              </a:rPr>
              <a:t>VaR, intraday, exposure on Iceberg</a:t>
            </a:r>
          </a:p>
        </p:txBody>
      </p:sp>
      <p:sp>
        <p:nvSpPr>
          <p:cNvPr id="35" name="TextBox 34"/>
          <p:cNvSpPr txBox="1"/>
          <p:nvPr/>
        </p:nvSpPr>
        <p:spPr>
          <a:xfrm>
            <a:off x="7100316"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to Iceberg</a:t>
            </a:r>
          </a:p>
        </p:txBody>
      </p:sp>
      <p:sp>
        <p:nvSpPr>
          <p:cNvPr id="36" name="TextBox 35"/>
          <p:cNvSpPr txBox="1"/>
          <p:nvPr/>
        </p:nvSpPr>
        <p:spPr>
          <a:xfrm>
            <a:off x="7100316" y="2926079"/>
            <a:ext cx="4174236" cy="292608"/>
          </a:xfrm>
          <a:prstGeom prst="rect">
            <a:avLst/>
          </a:prstGeom>
          <a:noFill/>
        </p:spPr>
        <p:txBody>
          <a:bodyPr wrap="square" lIns="0" rIns="0" tIns="0" bIns="0" anchor="ctr">
            <a:spAutoFit/>
          </a:bodyPr>
          <a:lstStyle/>
          <a:p>
            <a:pPr algn="l"/>
            <a:r>
              <a:rPr sz="1200" b="0" i="0">
                <a:solidFill>
                  <a:srgbClr val="1A1A1A"/>
                </a:solidFill>
              </a:rPr>
              <a:t>Maintenance, orphans, 7-year floor</a:t>
            </a:r>
          </a:p>
        </p:txBody>
      </p:sp>
      <p:sp>
        <p:nvSpPr>
          <p:cNvPr id="37" name="Rectangle 36"/>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38" name="Rectangle 37"/>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2560320" y="3611879"/>
            <a:ext cx="417423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0" name="TextBox 39"/>
          <p:cNvSpPr txBox="1"/>
          <p:nvPr/>
        </p:nvSpPr>
        <p:spPr>
          <a:xfrm>
            <a:off x="2560320" y="4069079"/>
            <a:ext cx="417423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1" name="TextBox 40"/>
          <p:cNvSpPr txBox="1"/>
          <p:nvPr/>
        </p:nvSpPr>
        <p:spPr>
          <a:xfrm>
            <a:off x="2560320" y="4526279"/>
            <a:ext cx="4174236" cy="292608"/>
          </a:xfrm>
          <a:prstGeom prst="rect">
            <a:avLst/>
          </a:prstGeom>
          <a:noFill/>
        </p:spPr>
        <p:txBody>
          <a:bodyPr wrap="square" lIns="0" rIns="0" tIns="0" bIns="0" anchor="ctr">
            <a:spAutoFit/>
          </a:bodyPr>
          <a:lstStyle/>
          <a:p>
            <a:pPr algn="l"/>
            <a:r>
              <a:rPr sz="1200" b="0" i="0">
                <a:solidFill>
                  <a:srgbClr val="1A1A1A"/>
                </a:solidFill>
              </a:rPr>
              <a:t>Official results to s3://</a:t>
            </a:r>
          </a:p>
        </p:txBody>
      </p:sp>
      <p:sp>
        <p:nvSpPr>
          <p:cNvPr id="42" name="Rectangle 41"/>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00316" y="3611879"/>
            <a:ext cx="4174236" cy="292608"/>
          </a:xfrm>
          <a:prstGeom prst="rect">
            <a:avLst/>
          </a:prstGeom>
          <a:noFill/>
        </p:spPr>
        <p:txBody>
          <a:bodyPr wrap="square" lIns="0" rIns="0" tIns="0" bIns="0" anchor="ctr">
            <a:spAutoFit/>
          </a:bodyPr>
          <a:lstStyle/>
          <a:p>
            <a:pPr algn="l"/>
            <a:r>
              <a:rPr sz="1200" b="0" i="0">
                <a:solidFill>
                  <a:srgbClr val="1A1A1A"/>
                </a:solidFill>
              </a:rPr>
              <a:t>Iceberg on S3; AWS scripts</a:t>
            </a:r>
          </a:p>
        </p:txBody>
      </p:sp>
      <p:sp>
        <p:nvSpPr>
          <p:cNvPr id="44" name="TextBox 43"/>
          <p:cNvSpPr txBox="1"/>
          <p:nvPr/>
        </p:nvSpPr>
        <p:spPr>
          <a:xfrm>
            <a:off x="7100316" y="4069079"/>
            <a:ext cx="4174236" cy="292608"/>
          </a:xfrm>
          <a:prstGeom prst="rect">
            <a:avLst/>
          </a:prstGeom>
          <a:noFill/>
        </p:spPr>
        <p:txBody>
          <a:bodyPr wrap="square" lIns="0" rIns="0" tIns="0" bIns="0" anchor="ctr">
            <a:spAutoFit/>
          </a:bodyPr>
          <a:lstStyle/>
          <a:p>
            <a:pPr algn="l"/>
            <a:r>
              <a:rPr sz="1200" b="0" i="0">
                <a:solidFill>
                  <a:srgbClr val="1A1A1A"/>
                </a:solidFill>
              </a:rPr>
              <a:t>Admin → Lakes, disk caches</a:t>
            </a:r>
          </a:p>
        </p:txBody>
      </p:sp>
      <p:sp>
        <p:nvSpPr>
          <p:cNvPr id="45" name="Rounded Rectangle 44"/>
          <p:cNvSpPr/>
          <p:nvPr/>
        </p:nvSpPr>
        <p:spPr>
          <a:xfrm>
            <a:off x="10675620" y="4562855"/>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46" name="TextBox 45"/>
          <p:cNvSpPr txBox="1"/>
          <p:nvPr/>
        </p:nvSpPr>
        <p:spPr>
          <a:xfrm>
            <a:off x="7100316" y="4526279"/>
            <a:ext cx="3483864" cy="292608"/>
          </a:xfrm>
          <a:prstGeom prst="rect">
            <a:avLst/>
          </a:prstGeom>
          <a:noFill/>
        </p:spPr>
        <p:txBody>
          <a:bodyPr wrap="square" lIns="0" rIns="0" tIns="0" bIns="0" anchor="ctr">
            <a:spAutoFit/>
          </a:bodyPr>
          <a:lstStyle/>
          <a:p>
            <a:pPr algn="l"/>
            <a:r>
              <a:rPr sz="1200" b="0" i="0">
                <a:solidFill>
                  <a:srgbClr val="1A1A1A"/>
                </a:solidFill>
              </a:rPr>
              <a:t>Glue and S3 Tables: first AWS run</a:t>
            </a:r>
          </a:p>
        </p:txBody>
      </p:sp>
      <p:sp>
        <p:nvSpPr>
          <p:cNvPr id="47" name="Rectangle 46"/>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112,041,646¹ on the demo data). Delta is the default.</a:t>
            </a:r>
          </a:p>
          <a:p>
            <a:pPr algn="l"/>
            <a:r>
              <a:rPr sz="1150" b="0" i="1">
                <a:solidFill>
                  <a:srgbClr val="4A5058"/>
                </a:solidFill>
              </a:rPr>
              <a:t>The AWS deployment and its cost are in the appendix; the companion deck Drishti on AWS (the lake, Delta or Iceberg) has the detail.</a:t>
            </a:r>
          </a:p>
        </p:txBody>
      </p:sp>
      <p:sp>
        <p:nvSpPr>
          <p:cNvPr id="50"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VarFormatEqualityTest: the same lines written to Delta and to Iceberg give the same VaR, to the cent, on the demo 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Operations and model risk</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 a capture keeps the vector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replayed¹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5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Replayed on the demo's synthetic data, 249 days (VAR_GUIDE §7); zones by the Basel traffic light for 250 days at 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EDITIONS</a:t>
            </a:r>
          </a:p>
        </p:txBody>
      </p:sp>
      <p:sp>
        <p:nvSpPr>
          <p:cNvPr id="3" name="Title 2"/>
          <p:cNvSpPr>
            <a:spLocks noGrp="1"/>
          </p:cNvSpPr>
          <p:nvPr>
            <p:ph type="title" idx="104"/>
          </p:nvPr>
        </p:nvSpPr>
        <p:spPr/>
        <p:txBody>
          <a:bodyPr/>
          <a:lstStyle/>
          <a:p>
            <a:r>
              <a:t>One file makes a focused product: Drishti Risk, Market or World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212080"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32688" y="1435608"/>
            <a:ext cx="4974336" cy="1389888"/>
          </a:xfrm>
          <a:prstGeom prst="rect">
            <a:avLst/>
          </a:prstGeom>
          <a:noFill/>
        </p:spPr>
        <p:txBody>
          <a:bodyPr wrap="square" lIns="0" rIns="0" tIns="0" bIns="0" anchor="t">
            <a:spAutoFit/>
          </a:bodyPr>
          <a:lstStyle/>
          <a:p>
            <a:pPr algn="l">
              <a:spcAft>
                <a:spcPts val="300"/>
              </a:spcAft>
            </a:pPr>
            <a:r>
              <a:rPr sz="1300" b="1" i="0">
                <a:solidFill>
                  <a:srgbClr val="8A1626"/>
                </a:solidFill>
              </a:rPr>
              <a:t>An edition is one configuration file</a:t>
            </a:r>
          </a:p>
          <a:p>
            <a:pPr algn="l">
              <a:spcAft>
                <a:spcPts val="300"/>
              </a:spcAft>
            </a:pPr>
            <a:r>
              <a:rPr sz="1100" b="1" i="0">
                <a:solidFill>
                  <a:srgbClr val="A51C30"/>
                </a:solidFill>
                <a:latin typeface="Courier New"/>
              </a:rPr>
              <a:t>config/editions/&lt;name&gt;.yaml</a:t>
            </a:r>
          </a:p>
          <a:p>
            <a:pPr algn="l"/>
            <a:r>
              <a:rPr sz="1100" b="0" i="0">
                <a:solidFill>
                  <a:srgbClr val="1A1A1A"/>
                </a:solidFill>
              </a:rPr>
              <a:t>It sets the packs, the commands and words people may use, the menus and features, BI's datasets, Home and its landings, help, the Admin pages and the branding. The site's own settings still win, key by key.</a:t>
            </a:r>
          </a:p>
        </p:txBody>
      </p:sp>
      <p:sp>
        <p:nvSpPr>
          <p:cNvPr id="29" name="Rectangle 28"/>
          <p:cNvSpPr/>
          <p:nvPr/>
        </p:nvSpPr>
        <p:spPr>
          <a:xfrm>
            <a:off x="777240" y="2944368"/>
            <a:ext cx="5212080" cy="175564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2999232"/>
            <a:ext cx="4983480" cy="1664208"/>
          </a:xfrm>
          <a:prstGeom prst="rect">
            <a:avLst/>
          </a:prstGeom>
          <a:noFill/>
        </p:spPr>
        <p:txBody>
          <a:bodyPr wrap="square" lIns="0" rIns="0" tIns="0" bIns="0" anchor="t">
            <a:spAutoFit/>
          </a:bodyPr>
          <a:lstStyle/>
          <a:p>
            <a:pPr algn="l">
              <a:spcAft>
                <a:spcPts val="50"/>
              </a:spcAft>
            </a:pPr>
            <a:r>
              <a:rPr sz="1000" b="0" i="0">
                <a:solidFill>
                  <a:srgbClr val="9AA0A8"/>
                </a:solidFill>
                <a:latin typeface="Courier New"/>
              </a:rPr>
              <a:t># config/editions/risk.yaml, abridged</a:t>
            </a:r>
          </a:p>
          <a:p>
            <a:pPr algn="l">
              <a:spcAft>
                <a:spcPts val="50"/>
              </a:spcAft>
            </a:pPr>
            <a:r>
              <a:rPr sz="1000" b="0" i="0">
                <a:solidFill>
                  <a:srgbClr val="F1EEE9"/>
                </a:solidFill>
                <a:latin typeface="Courier New"/>
              </a:rPr>
              <a:t>edition: risk</a:t>
            </a:r>
          </a:p>
          <a:p>
            <a:pPr algn="l">
              <a:spcAft>
                <a:spcPts val="50"/>
              </a:spcAft>
            </a:pPr>
            <a:r>
              <a:rPr sz="1000" b="0" i="0">
                <a:solidFill>
                  <a:srgbClr val="F1EEE9"/>
                </a:solidFill>
                <a:latin typeface="Courier New"/>
              </a:rPr>
              <a:t>title: Drishti Risk</a:t>
            </a:r>
          </a:p>
          <a:p>
            <a:pPr algn="l">
              <a:spcAft>
                <a:spcPts val="50"/>
              </a:spcAft>
            </a:pPr>
            <a:r>
              <a:rPr sz="1000" b="0" i="0">
                <a:solidFill>
                  <a:srgbClr val="E8A0AC"/>
                </a:solidFill>
                <a:latin typeface="Courier New"/>
              </a:rPr>
              <a:t>packs: { enabled: [core, market-data, trading,</a:t>
            </a:r>
          </a:p>
          <a:p>
            <a:pPr algn="l">
              <a:spcAft>
                <a:spcPts val="50"/>
              </a:spcAft>
            </a:pPr>
            <a:r>
              <a:rPr sz="1000" b="0" i="0">
                <a:solidFill>
                  <a:srgbClr val="E8A0AC"/>
                </a:solidFill>
                <a:latin typeface="Courier New"/>
              </a:rPr>
              <a:t>        counterparty-risk, market-risk], allow-only: true }</a:t>
            </a:r>
          </a:p>
          <a:p>
            <a:pPr algn="l">
              <a:spcAft>
                <a:spcPts val="50"/>
              </a:spcAft>
            </a:pPr>
            <a:r>
              <a:rPr sz="1000" b="0" i="0">
                <a:solidFill>
                  <a:srgbClr val="E8A0AC"/>
                </a:solidFill>
                <a:latin typeface="Courier New"/>
              </a:rPr>
              <a:t>commands: { allow: [VAR, VRES, EXP, NSET, NSMTM, …] }</a:t>
            </a:r>
          </a:p>
          <a:p>
            <a:pPr algn="l">
              <a:spcAft>
                <a:spcPts val="50"/>
              </a:spcAft>
            </a:pPr>
            <a:r>
              <a:rPr sz="1000" b="0" i="0">
                <a:solidFill>
                  <a:srgbClr val="E8A0AC"/>
                </a:solidFill>
                <a:latin typeface="Courier New"/>
              </a:rPr>
              <a:t>home: { landing: desk, landings: [desk, command, map],</a:t>
            </a:r>
          </a:p>
          <a:p>
            <a:pPr algn="l">
              <a:spcAft>
                <a:spcPts val="50"/>
              </a:spcAft>
            </a:pPr>
            <a:r>
              <a:rPr sz="1000" b="0" i="0">
                <a:solidFill>
                  <a:srgbClr val="E8A0AC"/>
                </a:solidFill>
                <a:latin typeface="Courier New"/>
              </a:rPr>
              <a:t>        landing-by-role: {} }</a:t>
            </a:r>
          </a:p>
          <a:p>
            <a:pPr algn="l">
              <a:spcAft>
                <a:spcPts val="50"/>
              </a:spcAft>
            </a:pPr>
            <a:r>
              <a:rPr sz="1000" b="0" i="0">
                <a:solidFill>
                  <a:srgbClr val="E8A0AC"/>
                </a:solidFill>
                <a:latin typeface="Courier New"/>
              </a:rPr>
              <a:t>branding: { product: Drishti Risk }</a:t>
            </a:r>
          </a:p>
        </p:txBody>
      </p:sp>
      <p:graphicFrame>
        <p:nvGraphicFramePr>
          <p:cNvPr id="31" name="Table 30"/>
          <p:cNvGraphicFramePr>
            <a:graphicFrameLocks noGrp="1"/>
          </p:cNvGraphicFramePr>
          <p:nvPr/>
        </p:nvGraphicFramePr>
        <p:xfrm>
          <a:off x="6217920" y="1371600"/>
          <a:ext cx="5193792" cy="1975104"/>
        </p:xfrm>
        <a:graphic>
          <a:graphicData uri="http://schemas.openxmlformats.org/drawingml/2006/table">
            <a:tbl>
              <a:tblPr firstRow="0" bandRow="0">
                <a:tableStyleId>{5940675A-B579-460E-94D1-54222C63F5DA}</a:tableStyleId>
              </a:tblPr>
              <a:tblGrid>
                <a:gridCol w="1143000"/>
                <a:gridCol w="2025396"/>
                <a:gridCol w="2025396"/>
              </a:tblGrid>
              <a:tr h="329184">
                <a:tc>
                  <a:txBody>
                    <a:bodyPr wrap="square"/>
                    <a:lstStyle/>
                    <a:p>
                      <a:r>
                        <a:rPr sz="105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05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DRISHTI_EDITION, then a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person's link: Open Drishti Risk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administrator, every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DRISHTI_LENSES on a full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whole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one person's session, no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only the edition's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refuses packs, hides 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2" name="TextBox 31"/>
          <p:cNvSpPr txBox="1"/>
          <p:nvPr/>
        </p:nvSpPr>
        <p:spPr>
          <a:xfrm>
            <a:off x="6217920" y="3401568"/>
            <a:ext cx="5193792" cy="502920"/>
          </a:xfrm>
          <a:prstGeom prst="rect">
            <a:avLst/>
          </a:prstGeom>
          <a:noFill/>
        </p:spPr>
        <p:txBody>
          <a:bodyPr wrap="square" lIns="0" rIns="0" tIns="0" bIns="0" anchor="ctr">
            <a:spAutoFit/>
          </a:bodyPr>
          <a:lstStyle/>
          <a:p>
            <a:pPr algn="l"/>
            <a:r>
              <a:rPr sz="1100" b="1" i="0">
                <a:solidFill>
                  <a:srgbClr val="8A1626"/>
                </a:solidFill>
              </a:rPr>
              <a:t>In Views and on Home: </a:t>
            </a:r>
            <a:r>
              <a:rPr sz="1100" b="0" i="0">
                <a:solidFill>
                  <a:srgbClr val="1A1A1A"/>
                </a:solidFill>
              </a:rPr>
              <a:t>Open Drishti Risk; inside one, Leave … first, then Switch to … the others.</a:t>
            </a:r>
          </a:p>
        </p:txBody>
      </p:sp>
      <p:sp>
        <p:nvSpPr>
          <p:cNvPr id="33" name="Rectangle 32"/>
          <p:cNvSpPr/>
          <p:nvPr/>
        </p:nvSpPr>
        <p:spPr>
          <a:xfrm>
            <a:off x="6217920" y="3931920"/>
            <a:ext cx="5193792" cy="76809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6327648" y="40050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5" name="TextBox 34"/>
          <p:cNvSpPr txBox="1"/>
          <p:nvPr/>
        </p:nvSpPr>
        <p:spPr>
          <a:xfrm>
            <a:off x="6327648" y="4224528"/>
            <a:ext cx="4974336" cy="457200"/>
          </a:xfrm>
          <a:prstGeom prst="rect">
            <a:avLst/>
          </a:prstGeom>
          <a:noFill/>
        </p:spPr>
        <p:txBody>
          <a:bodyPr wrap="square" lIns="0" rIns="0" tIns="0" bIns="0" anchor="ctr">
            <a:spAutoFit/>
          </a:bodyPr>
          <a:lstStyle/>
          <a:p>
            <a:pPr algn="l"/>
            <a:r>
              <a:rPr sz="1100" b="1" i="0">
                <a:solidFill>
                  <a:srgbClr val="8A1626"/>
                </a:solidFill>
              </a:rPr>
              <a:t>Role-based access: </a:t>
            </a:r>
            <a:r>
              <a:rPr sz="1100" b="0" i="0">
                <a:solidFill>
                  <a:srgbClr val="1A1A1A"/>
                </a:solidFill>
              </a:rPr>
              <a:t>home.landing-by-role is read and wins when set; who sees a lens (lens.roles) is a hook, not wired.</a:t>
            </a:r>
          </a:p>
        </p:txBody>
      </p:sp>
      <p:sp>
        <p:nvSpPr>
          <p:cNvPr id="36" name="Rectangle 35"/>
          <p:cNvSpPr/>
          <p:nvPr/>
        </p:nvSpPr>
        <p:spPr>
          <a:xfrm>
            <a:off x="777240" y="4828032"/>
            <a:ext cx="3422904" cy="10241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14400" y="4864608"/>
            <a:ext cx="3194304" cy="960120"/>
          </a:xfrm>
          <a:prstGeom prst="rect">
            <a:avLst/>
          </a:prstGeom>
          <a:noFill/>
        </p:spPr>
        <p:txBody>
          <a:bodyPr wrap="square" lIns="0" rIns="0" tIns="0" bIns="0" anchor="ctr">
            <a:spAutoFit/>
          </a:bodyPr>
          <a:lstStyle/>
          <a:p>
            <a:pPr algn="l">
              <a:spcAft>
                <a:spcPts val="100"/>
              </a:spcAft>
            </a:pPr>
            <a:r>
              <a:rPr sz="1350" b="1" i="0">
                <a:solidFill>
                  <a:srgbClr val="FFFFFF"/>
                </a:solidFill>
              </a:rPr>
              <a:t>Drishti Risk</a:t>
            </a:r>
          </a:p>
          <a:p>
            <a:pPr algn="l">
              <a:spcAft>
                <a:spcPts val="200"/>
              </a:spcAft>
            </a:pPr>
            <a:r>
              <a:rPr sz="1100" b="0" i="0">
                <a:solidFill>
                  <a:srgbClr val="F6E6E9"/>
                </a:solidFill>
              </a:rPr>
              <a:t>VaR and exposure from the bank's own data; stress left out</a:t>
            </a:r>
          </a:p>
          <a:p>
            <a:pPr algn="l"/>
            <a:r>
              <a:rPr sz="1100" b="1" i="0">
                <a:solidFill>
                  <a:srgbClr val="FFFFFF"/>
                </a:solidFill>
              </a:rPr>
              <a:t>Landings: </a:t>
            </a:r>
            <a:r>
              <a:rPr sz="1100" b="0" i="0">
                <a:solidFill>
                  <a:srgbClr val="FFFFFF"/>
                </a:solidFill>
              </a:rPr>
              <a:t>desk · command · map</a:t>
            </a:r>
          </a:p>
        </p:txBody>
      </p:sp>
      <p:sp>
        <p:nvSpPr>
          <p:cNvPr id="38" name="Rectangle 37"/>
          <p:cNvSpPr/>
          <p:nvPr/>
        </p:nvSpPr>
        <p:spPr>
          <a:xfrm>
            <a:off x="4383024"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4520184"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Market</a:t>
            </a:r>
          </a:p>
          <a:p>
            <a:pPr algn="l">
              <a:spcAft>
                <a:spcPts val="200"/>
              </a:spcAft>
            </a:pPr>
            <a:r>
              <a:rPr sz="1100" b="0" i="0">
                <a:solidFill>
                  <a:srgbClr val="4A5058"/>
                </a:solidFill>
              </a:rPr>
              <a:t>curves, surfaces and fixings that feed risk and valuations</a:t>
            </a:r>
          </a:p>
          <a:p>
            <a:pPr algn="l"/>
            <a:r>
              <a:rPr sz="1100" b="1" i="0">
                <a:solidFill>
                  <a:srgbClr val="8A1626"/>
                </a:solidFill>
              </a:rPr>
              <a:t>Landings: </a:t>
            </a:r>
            <a:r>
              <a:rPr sz="1100" b="0" i="0">
                <a:solidFill>
                  <a:srgbClr val="8A1626"/>
                </a:solidFill>
              </a:rPr>
              <a:t>desk · explorer · quality</a:t>
            </a:r>
          </a:p>
        </p:txBody>
      </p:sp>
      <p:sp>
        <p:nvSpPr>
          <p:cNvPr id="40" name="Rectangle 39"/>
          <p:cNvSpPr/>
          <p:nvPr/>
        </p:nvSpPr>
        <p:spPr>
          <a:xfrm>
            <a:off x="7988808"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125968"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World</a:t>
            </a:r>
          </a:p>
          <a:p>
            <a:pPr algn="l">
              <a:spcAft>
                <a:spcPts val="200"/>
              </a:spcAft>
            </a:pPr>
            <a:r>
              <a:rPr sz="1100" b="0" i="0">
                <a:solidFill>
                  <a:srgbClr val="4A5058"/>
                </a:solidFill>
              </a:rPr>
              <a:t>economies, markets, companies and funds from public data</a:t>
            </a:r>
          </a:p>
          <a:p>
            <a:pPr algn="l"/>
            <a:r>
              <a:rPr sz="1100" b="1" i="0">
                <a:solidFill>
                  <a:srgbClr val="8A1626"/>
                </a:solidFill>
              </a:rPr>
              <a:t>Landings: </a:t>
            </a:r>
            <a:r>
              <a:rPr sz="1100" b="0" i="0">
                <a:solidFill>
                  <a:srgbClr val="8A1626"/>
                </a:solidFill>
              </a:rPr>
              <a:t>desk · explorer · map</a:t>
            </a:r>
          </a:p>
        </p:txBody>
      </p:sp>
      <p:sp>
        <p:nvSpPr>
          <p:cNvPr id="42" name="TextBox 41"/>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The engines are unchanged under an edition: VaR and exposure of any scope, sharded or not, equal to the cent (the risk suites run again with the edition 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RISK · HOME</a:t>
            </a:r>
          </a:p>
        </p:txBody>
      </p:sp>
      <p:sp>
        <p:nvSpPr>
          <p:cNvPr id="3" name="Title 2"/>
          <p:cNvSpPr>
            <a:spLocks noGrp="1"/>
          </p:cNvSpPr>
          <p:nvPr>
            <p:ph type="title" idx="104"/>
          </p:nvPr>
        </p:nvSpPr>
        <p:spPr/>
        <p:txBody>
          <a:bodyPr/>
          <a:lstStyle/>
          <a:p>
            <a:r>
              <a:t>Drishti Risk's three landings: desk, command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risk-desk.jpg"/>
          <p:cNvPicPr>
            <a:picLocks noChangeAspect="1"/>
          </p:cNvPicPr>
          <p:nvPr/>
        </p:nvPicPr>
        <p:blipFill>
          <a:blip r:embed="rId2"/>
          <a:stretch>
            <a:fillRect/>
          </a:stretch>
        </p:blipFill>
        <p:spPr>
          <a:xfrm>
            <a:off x="777240" y="1417320"/>
            <a:ext cx="6400800" cy="2744047"/>
          </a:xfrm>
          <a:prstGeom prst="rect">
            <a:avLst/>
          </a:prstGeom>
          <a:ln w="9525">
            <a:solidFill>
              <a:srgbClr val="E3DED7"/>
            </a:solidFill>
          </a:ln>
        </p:spPr>
      </p:pic>
      <p:sp>
        <p:nvSpPr>
          <p:cNvPr id="27" name="TextBox 26"/>
          <p:cNvSpPr txBox="1"/>
          <p:nvPr/>
        </p:nvSpPr>
        <p:spPr>
          <a:xfrm>
            <a:off x="777240" y="4188798"/>
            <a:ext cx="6400800" cy="256032"/>
          </a:xfrm>
          <a:prstGeom prst="rect">
            <a:avLst/>
          </a:prstGeom>
          <a:noFill/>
        </p:spPr>
        <p:txBody>
          <a:bodyPr wrap="square" lIns="0" rIns="0" tIns="0" bIns="0" anchor="ctr">
            <a:spAutoFit/>
          </a:bodyPr>
          <a:lstStyle/>
          <a:p>
            <a:pPr algn="l"/>
            <a:r>
              <a:rPr sz="1100" b="0" i="1">
                <a:solidFill>
                  <a:srgbClr val="4A5058"/>
                </a:solidFill>
              </a:rPr>
              <a:t>A · Risk desk (the default): VaR, backtest, exposure, limits in breach; desks and counterparties</a:t>
            </a:r>
          </a:p>
        </p:txBody>
      </p:sp>
      <p:pic>
        <p:nvPicPr>
          <p:cNvPr id="28" name="Picture 27" descr="risk-command.jpg"/>
          <p:cNvPicPr>
            <a:picLocks noChangeAspect="1"/>
          </p:cNvPicPr>
          <p:nvPr/>
        </p:nvPicPr>
        <p:blipFill>
          <a:blip r:embed="rId3"/>
          <a:stretch>
            <a:fillRect/>
          </a:stretch>
        </p:blipFill>
        <p:spPr>
          <a:xfrm>
            <a:off x="7406640" y="1417320"/>
            <a:ext cx="4005072" cy="1477797"/>
          </a:xfrm>
          <a:prstGeom prst="rect">
            <a:avLst/>
          </a:prstGeom>
          <a:ln w="9525">
            <a:solidFill>
              <a:srgbClr val="E3DED7"/>
            </a:solidFill>
          </a:ln>
        </p:spPr>
      </p:pic>
      <p:sp>
        <p:nvSpPr>
          <p:cNvPr id="29" name="TextBox 28"/>
          <p:cNvSpPr txBox="1"/>
          <p:nvPr/>
        </p:nvSpPr>
        <p:spPr>
          <a:xfrm>
            <a:off x="7406640" y="2922549"/>
            <a:ext cx="4005072" cy="256032"/>
          </a:xfrm>
          <a:prstGeom prst="rect">
            <a:avLst/>
          </a:prstGeom>
          <a:noFill/>
        </p:spPr>
        <p:txBody>
          <a:bodyPr wrap="square" lIns="0" rIns="0" tIns="0" bIns="0" anchor="ctr">
            <a:spAutoFit/>
          </a:bodyPr>
          <a:lstStyle/>
          <a:p>
            <a:pPr algn="l"/>
            <a:r>
              <a:rPr sz="1100" b="0" i="1">
                <a:solidFill>
                  <a:srgbClr val="4A5058"/>
                </a:solidFill>
              </a:rPr>
              <a:t>B · Command first: the command line, chips, baskets</a:t>
            </a:r>
          </a:p>
        </p:txBody>
      </p:sp>
      <p:pic>
        <p:nvPicPr>
          <p:cNvPr id="30" name="Picture 29" descr="risk-map.jpg"/>
          <p:cNvPicPr>
            <a:picLocks noChangeAspect="1"/>
          </p:cNvPicPr>
          <p:nvPr/>
        </p:nvPicPr>
        <p:blipFill>
          <a:blip r:embed="rId4"/>
          <a:stretch>
            <a:fillRect/>
          </a:stretch>
        </p:blipFill>
        <p:spPr>
          <a:xfrm>
            <a:off x="7406640" y="3260877"/>
            <a:ext cx="4005072" cy="1210793"/>
          </a:xfrm>
          <a:prstGeom prst="rect">
            <a:avLst/>
          </a:prstGeom>
          <a:ln w="9525">
            <a:solidFill>
              <a:srgbClr val="E3DED7"/>
            </a:solidFill>
          </a:ln>
        </p:spPr>
      </p:pic>
      <p:sp>
        <p:nvSpPr>
          <p:cNvPr id="31" name="TextBox 30"/>
          <p:cNvSpPr txBox="1"/>
          <p:nvPr/>
        </p:nvSpPr>
        <p:spPr>
          <a:xfrm>
            <a:off x="7406640" y="4499102"/>
            <a:ext cx="4005072" cy="256032"/>
          </a:xfrm>
          <a:prstGeom prst="rect">
            <a:avLst/>
          </a:prstGeom>
          <a:noFill/>
        </p:spPr>
        <p:txBody>
          <a:bodyPr wrap="square" lIns="0" rIns="0" tIns="0" bIns="0" anchor="ctr">
            <a:spAutoFit/>
          </a:bodyPr>
          <a:lstStyle/>
          <a:p>
            <a:pPr algn="l"/>
            <a:r>
              <a:rPr sz="1100" b="0" i="1">
                <a:solidFill>
                  <a:srgbClr val="4A5058"/>
                </a:solidFill>
              </a:rPr>
              <a:t>C · Risk map: a hierarchy with VaR and limit use, a heat map, Today</a:t>
            </a:r>
          </a:p>
        </p:txBody>
      </p:sp>
      <p:sp>
        <p:nvSpPr>
          <p:cNvPr id="32" name="Rectangle 31"/>
          <p:cNvSpPr/>
          <p:nvPr/>
        </p:nvSpPr>
        <p:spPr>
          <a:xfrm>
            <a:off x="777240" y="4837430"/>
            <a:ext cx="10634472" cy="142620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4837430"/>
            <a:ext cx="45720" cy="142620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2688" y="4901438"/>
            <a:ext cx="10396728" cy="1334769"/>
          </a:xfrm>
          <a:prstGeom prst="rect">
            <a:avLst/>
          </a:prstGeom>
          <a:noFill/>
        </p:spPr>
        <p:txBody>
          <a:bodyPr wrap="square" lIns="0" rIns="0" tIns="0" bIns="0" anchor="t">
            <a:spAutoFit/>
          </a:bodyPr>
          <a:lstStyle/>
          <a:p>
            <a:pPr algn="l">
              <a:spcAft>
                <a:spcPts val="300"/>
              </a:spcAft>
            </a:pPr>
            <a:r>
              <a:rPr sz="1300" b="1" i="0">
                <a:solidFill>
                  <a:srgbClr val="8A1626"/>
                </a:solidFill>
              </a:rPr>
              <a:t>Every figure is the engines' own answer</a:t>
            </a:r>
          </a:p>
          <a:p>
            <a:pPr algn="l" marL="146304" indent="-146304">
              <a:spcAft>
                <a:spcPts val="200"/>
              </a:spcAft>
              <a:buClr>
                <a:srgbClr val="A51C30"/>
              </a:buClr>
              <a:buSzPct val="100000"/>
              <a:buFont typeface="Arial"/>
              <a:buChar char="▪"/>
            </a:pPr>
            <a:r>
              <a:rPr sz="1100" b="0" i="0">
                <a:solidFill>
                  <a:srgbClr val="1A1A1A"/>
                </a:solidFill>
              </a:rPr>
              <a:t>The landings read the console's VaR and exposure routes (scope, tree, intraday streams, official records, baskets); no new store, no copy of a figure</a:t>
            </a:r>
          </a:p>
          <a:p>
            <a:pPr algn="l" marL="146304" indent="-146304">
              <a:spcAft>
                <a:spcPts val="200"/>
              </a:spcAft>
              <a:buClr>
                <a:srgbClr val="A51C30"/>
              </a:buClr>
              <a:buSzPct val="100000"/>
              <a:buFont typeface="Arial"/>
              <a:buChar char="▪"/>
            </a:pPr>
            <a:r>
              <a:rPr sz="1100" b="0" i="0">
                <a:solidFill>
                  <a:srgbClr val="1A1A1A"/>
                </a:solidFill>
              </a:rPr>
              <a:t>The choice of landing is kept per person; a role can be given its landing (home.landing-by-role)</a:t>
            </a:r>
          </a:p>
          <a:p>
            <a:pPr algn="l" marL="146304" indent="-146304">
              <a:spcAft>
                <a:spcPts val="200"/>
              </a:spcAft>
              <a:buClr>
                <a:srgbClr val="A51C30"/>
              </a:buClr>
              <a:buSzPct val="100000"/>
              <a:buFont typeface="Arial"/>
              <a:buChar char="▪"/>
            </a:pPr>
            <a:r>
              <a:rPr sz="1100" b="0" i="0">
                <a:solidFill>
                  <a:srgbClr val="1A1A1A"/>
                </a:solidFill>
              </a:rPr>
              <a:t>Pictures from the browser tests' stand-in server: VaR 112.04m and EPE 947.20m are the demo bank's 2026-09-30 figures; the desk and counterparty rows are stand-ins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FOR VAR USERS</a:t>
            </a:r>
          </a:p>
        </p:txBody>
      </p:sp>
      <p:sp>
        <p:nvSpPr>
          <p:cNvPr id="3" name="Title 2"/>
          <p:cNvSpPr>
            <a:spLocks noGrp="1"/>
          </p:cNvSpPr>
          <p:nvPr>
            <p:ph type="title" idx="104"/>
          </p:nvPr>
        </p:nvSpPr>
        <p:spPr/>
        <p:txBody>
          <a:bodyPr/>
          <a:lstStyle/>
          <a:p>
            <a:r>
              <a:t>Drishti Market: the market data that feeds VaR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VaR user cares.  </a:t>
            </a:r>
            <a:r>
              <a:rPr sz="1150" b="0" i="0">
                <a:solidFill>
                  <a:srgbClr val="1A1A1A"/>
                </a:solidFill>
              </a:rPr>
              <a:t>VaR is read from scenario P&amp;L that the pricing systems build from the bank's curves, vol surfaces and fixings. When that market data is stale or broken, so is the VaR built on it. Drishti Market shows that data, and checks it.</a:t>
            </a:r>
          </a:p>
        </p:txBody>
      </p:sp>
      <p:graphicFrame>
        <p:nvGraphicFramePr>
          <p:cNvPr id="29" name="Table 28"/>
          <p:cNvGraphicFramePr>
            <a:graphicFrameLocks noGrp="1"/>
          </p:cNvGraphicFramePr>
          <p:nvPr/>
        </p:nvGraphicFramePr>
        <p:xfrm>
          <a:off x="777240" y="2121408"/>
          <a:ext cx="6903720" cy="2743200"/>
        </p:xfrm>
        <a:graphic>
          <a:graphicData uri="http://schemas.openxmlformats.org/drawingml/2006/table">
            <a:tbl>
              <a:tblPr firstRow="0" bandRow="0">
                <a:tableStyleId>{5940675A-B579-460E-94D1-54222C63F5DA}</a:tableStyleId>
              </a:tblPr>
              <a:tblGrid>
                <a:gridCol w="1600200"/>
                <a:gridCol w="2377440"/>
                <a:gridCol w="2926080"/>
              </a:tblGrid>
              <a:tr h="457200">
                <a:tc>
                  <a:txBody>
                    <a:bodyPr wrap="square"/>
                    <a:lstStyle/>
                    <a:p>
                      <a:r>
                        <a:rPr sz="1100" b="1" i="0">
                          <a:solidFill>
                            <a:srgbClr val="FFFFFF"/>
                          </a:solidFill>
                        </a:rPr>
                        <a:t>Asset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Rates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CRV · REPO · IRV · CPV · FIX · INF · INFC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OIS and projection curves, repo curves, swaption and cap vols, fixings, inflation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FX · FXF · FXV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spot, forward curves, vol surfaces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Credit and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CDS · BND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credit curves and spreads,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Equity and commodities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EQ · EQX · DIV · EQV · CMD · CMDC · CMDV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equities, indices, dividends, equity vols; commodities, their curves and vols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Correlation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CORR · CORRC · 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correlations and baskets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7909560" y="2121408"/>
            <a:ext cx="3502152" cy="2743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909560" y="2121408"/>
            <a:ext cx="45720" cy="2743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065008" y="2185415"/>
            <a:ext cx="3264408" cy="265176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config/editions/market.yaml</a:t>
            </a:r>
          </a:p>
          <a:p>
            <a:pPr algn="l" marL="146304" indent="-146304">
              <a:spcAft>
                <a:spcPts val="200"/>
              </a:spcAft>
              <a:buClr>
                <a:srgbClr val="A51C30"/>
              </a:buClr>
              <a:buSzPct val="100000"/>
              <a:buFont typeface="Arial"/>
              <a:buChar char="▪"/>
            </a:pPr>
            <a:r>
              <a:rPr sz="1100" b="0" i="0">
                <a:solidFill>
                  <a:srgbClr val="1A1A1A"/>
                </a:solidFill>
              </a:rPr>
              <a:t>the market-data pack and core (issuers, holiday calendars), allow-only: its 22 commands, nothing else</a:t>
            </a:r>
          </a:p>
          <a:p>
            <a:pPr algn="l" marL="146304" indent="-146304">
              <a:spcAft>
                <a:spcPts val="200"/>
              </a:spcAft>
              <a:buClr>
                <a:srgbClr val="A51C30"/>
              </a:buClr>
              <a:buSzPct val="100000"/>
              <a:buFont typeface="Arial"/>
              <a:buChar char="▪"/>
            </a:pPr>
            <a:r>
              <a:rPr sz="1100" b="0" i="0">
                <a:solidFill>
                  <a:srgbClr val="1A1A1A"/>
                </a:solidFill>
              </a:rPr>
              <a:t>no trades and no VaR: VAR, EXP and the risk and trade commands are hidden</a:t>
            </a:r>
          </a:p>
          <a:p>
            <a:pPr algn="l" marL="146304" indent="-146304">
              <a:spcAft>
                <a:spcPts val="200"/>
              </a:spcAft>
              <a:buClr>
                <a:srgbClr val="A51C30"/>
              </a:buClr>
              <a:buSzPct val="100000"/>
              <a:buFont typeface="Arial"/>
              <a:buChar char="▪"/>
            </a:pPr>
            <a:r>
              <a:rPr sz="1100" b="0" i="0">
                <a:solidFill>
                  <a:srgbClr val="1A1A1A"/>
                </a:solidFill>
              </a:rPr>
              <a:t>Home: Market desk (the default), Explorer, Quality</a:t>
            </a:r>
          </a:p>
          <a:p>
            <a:pPr algn="l" marL="146304" indent="-146304">
              <a:spcAft>
                <a:spcPts val="200"/>
              </a:spcAft>
              <a:buClr>
                <a:srgbClr val="A51C30"/>
              </a:buClr>
              <a:buSzPct val="100000"/>
              <a:buFont typeface="Arial"/>
              <a:buChar char="▪"/>
            </a:pPr>
            <a:r>
              <a:rPr sz="1100" b="0" i="0">
                <a:solidFill>
                  <a:srgbClr val="1A1A1A"/>
                </a:solidFill>
              </a:rPr>
              <a:t>the engines are unchanged: nothing in them moved for the edition</a:t>
            </a:r>
          </a:p>
        </p:txBody>
      </p:sp>
      <p:sp>
        <p:nvSpPr>
          <p:cNvPr id="33" name="Rectangle 32"/>
          <p:cNvSpPr/>
          <p:nvPr/>
        </p:nvSpPr>
        <p:spPr>
          <a:xfrm>
            <a:off x="777240" y="5010912"/>
            <a:ext cx="10634472" cy="1252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010912"/>
            <a:ext cx="45720" cy="12527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074920"/>
            <a:ext cx="10396728" cy="1161288"/>
          </a:xfrm>
          <a:prstGeom prst="rect">
            <a:avLst/>
          </a:prstGeom>
          <a:noFill/>
        </p:spPr>
        <p:txBody>
          <a:bodyPr wrap="square" lIns="0" rIns="0" tIns="0" bIns="0" anchor="t">
            <a:spAutoFit/>
          </a:bodyPr>
          <a:lstStyle/>
          <a:p>
            <a:pPr algn="l">
              <a:spcAft>
                <a:spcPts val="300"/>
              </a:spcAft>
            </a:pPr>
            <a:r>
              <a:rPr sz="1300" b="1" i="0">
                <a:solidFill>
                  <a:srgbClr val="8A1626"/>
                </a:solidFill>
              </a:rPr>
              <a:t>For a VaR user: a lens beside Drishti Risk</a:t>
            </a:r>
          </a:p>
          <a:p>
            <a:pPr algn="l" marL="146304" indent="-146304">
              <a:spcAft>
                <a:spcPts val="200"/>
              </a:spcAft>
              <a:buClr>
                <a:srgbClr val="A51C30"/>
              </a:buClr>
              <a:buSzPct val="100000"/>
              <a:buFont typeface="Arial"/>
              <a:buChar char="▪"/>
            </a:pPr>
            <a:r>
              <a:rPr sz="1100" b="0" i="0">
                <a:solidFill>
                  <a:srgbClr val="1A1A1A"/>
                </a:solidFill>
              </a:rPr>
              <a:t>On a full instance, drishti.lenses: risk,world,market offers Open Drishti Market next to Open Drishti Risk; inside one, Switch to … opens the other in one step, no restart</a:t>
            </a:r>
          </a:p>
          <a:p>
            <a:pPr algn="l" marL="146304" indent="-146304">
              <a:spcAft>
                <a:spcPts val="200"/>
              </a:spcAft>
              <a:buClr>
                <a:srgbClr val="A51C30"/>
              </a:buClr>
              <a:buSzPct val="100000"/>
              <a:buFont typeface="Arial"/>
              <a:buChar char="▪"/>
            </a:pPr>
            <a:r>
              <a:rPr sz="1100" b="0" i="0">
                <a:solidFill>
                  <a:srgbClr val="1A1A1A"/>
                </a:solidFill>
              </a:rPr>
              <a:t>A lens hides; it does not secure: what a person may read stays with roles, entitlements and masks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QUALITY</a:t>
            </a:r>
          </a:p>
        </p:txBody>
      </p:sp>
      <p:sp>
        <p:nvSpPr>
          <p:cNvPr id="3" name="Title 2"/>
          <p:cNvSpPr>
            <a:spLocks noGrp="1"/>
          </p:cNvSpPr>
          <p:nvPr>
            <p:ph type="title" idx="104"/>
          </p:nvPr>
        </p:nvSpPr>
        <p:spPr/>
        <p:txBody>
          <a:bodyPr/>
          <a:lstStyle/>
          <a:p>
            <a:r>
              <a:t>Market data quality: the checks behind VaR's inputs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365760"/>
          </a:xfrm>
          <a:prstGeom prst="rect">
            <a:avLst/>
          </a:prstGeom>
          <a:noFill/>
        </p:spPr>
        <p:txBody>
          <a:bodyPr wrap="square" lIns="0" rIns="0" tIns="0" bIns="0" anchor="ctr">
            <a:spAutoFit/>
          </a:bodyPr>
          <a:lstStyle/>
          <a:p>
            <a:pPr algn="l"/>
            <a:r>
              <a:rPr sz="1200" b="1" i="0">
                <a:solidFill>
                  <a:srgbClr val="8A1626"/>
                </a:solidFill>
              </a:rPr>
              <a:t>Checked on the business date, worst first; each item opens its command.  </a:t>
            </a:r>
            <a:r>
              <a:rPr sz="1100" b="0" i="0">
                <a:solidFill>
                  <a:srgbClr val="1A1A1A"/>
                </a:solidFill>
              </a:rPr>
              <a:t>Tiles: Critical, Warnings, Clean (the share of items with no exception); a Checks run card gives each check's items and flags.</a:t>
            </a:r>
          </a:p>
        </p:txBody>
      </p:sp>
      <p:sp>
        <p:nvSpPr>
          <p:cNvPr id="27" name="Rectangle 26"/>
          <p:cNvSpPr/>
          <p:nvPr/>
        </p:nvSpPr>
        <p:spPr>
          <a:xfrm>
            <a:off x="777240"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32688" y="1892807"/>
            <a:ext cx="4956048" cy="1389888"/>
          </a:xfrm>
          <a:prstGeom prst="rect">
            <a:avLst/>
          </a:prstGeom>
          <a:noFill/>
        </p:spPr>
        <p:txBody>
          <a:bodyPr wrap="square" lIns="0" rIns="0" tIns="0" bIns="0" anchor="t">
            <a:spAutoFit/>
          </a:bodyPr>
          <a:lstStyle/>
          <a:p>
            <a:pPr algn="l"/>
            <a:r>
              <a:rPr sz="1250" b="1" i="0">
                <a:solidFill>
                  <a:srgbClr val="8A1626"/>
                </a:solidFill>
              </a:rPr>
              <a:t>1 · Stale</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curve's AS_OF, or the date its source holds it for, older than the business date by more than quality.stale-days (2 business days; weekends and holidays skipped)</a:t>
            </a:r>
          </a:p>
          <a:p>
            <a:pPr algn="l" marL="146304" indent="-146304">
              <a:spcAft>
                <a:spcPts val="200"/>
              </a:spcAft>
              <a:buClr>
                <a:srgbClr val="A51C30"/>
              </a:buClr>
              <a:buSzPct val="100000"/>
              <a:buFont typeface="Arial"/>
              <a:buChar char="▪"/>
            </a:pPr>
            <a:r>
              <a:rPr sz="1100" b="0" i="0">
                <a:solidFill>
                  <a:srgbClr val="1A1A1A"/>
                </a:solidFill>
              </a:rPr>
              <a:t>curves and surfaces one by one; every other kind by its latest load</a:t>
            </a:r>
          </a:p>
        </p:txBody>
      </p:sp>
      <p:sp>
        <p:nvSpPr>
          <p:cNvPr id="30" name="Rectangle 29"/>
          <p:cNvSpPr/>
          <p:nvPr/>
        </p:nvSpPr>
        <p:spPr>
          <a:xfrm>
            <a:off x="6208776"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64224" y="1892807"/>
            <a:ext cx="4956048" cy="1389888"/>
          </a:xfrm>
          <a:prstGeom prst="rect">
            <a:avLst/>
          </a:prstGeom>
          <a:noFill/>
        </p:spPr>
        <p:txBody>
          <a:bodyPr wrap="square" lIns="0" rIns="0" tIns="0" bIns="0" anchor="t">
            <a:spAutoFit/>
          </a:bodyPr>
          <a:lstStyle/>
          <a:p>
            <a:pPr algn="l"/>
            <a:r>
              <a:rPr sz="1250" b="1" i="0">
                <a:solidFill>
                  <a:srgbClr val="8A1626"/>
                </a:solidFill>
              </a:rPr>
              <a:t>2 · Gaps: missing tenors</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 missing a tenor that every other curve of its type has (a type of three or more)</a:t>
            </a:r>
          </a:p>
          <a:p>
            <a:pPr algn="l" marL="146304" indent="-146304">
              <a:spcAft>
                <a:spcPts val="200"/>
              </a:spcAft>
              <a:buClr>
                <a:srgbClr val="A51C30"/>
              </a:buClr>
              <a:buSzPct val="100000"/>
              <a:buFont typeface="Arial"/>
              <a:buChar char="▪"/>
            </a:pPr>
            <a:r>
              <a:rPr sz="1100" b="0" i="0">
                <a:solidFill>
                  <a:srgbClr val="1A1A1A"/>
                </a:solidFill>
              </a:rPr>
              <a:t>IR curves by CURVE_TYPE; repo, credit, FX forward and inflation curves by kind</a:t>
            </a:r>
          </a:p>
        </p:txBody>
      </p:sp>
      <p:sp>
        <p:nvSpPr>
          <p:cNvPr id="33" name="Rectangle 32"/>
          <p:cNvSpPr/>
          <p:nvPr/>
        </p:nvSpPr>
        <p:spPr>
          <a:xfrm>
            <a:off x="777240"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3502152"/>
            <a:ext cx="4956048" cy="1389888"/>
          </a:xfrm>
          <a:prstGeom prst="rect">
            <a:avLst/>
          </a:prstGeom>
          <a:noFill/>
        </p:spPr>
        <p:txBody>
          <a:bodyPr wrap="square" lIns="0" rIns="0" tIns="0" bIns="0" anchor="t">
            <a:spAutoFit/>
          </a:bodyPr>
          <a:lstStyle/>
          <a:p>
            <a:pPr algn="l"/>
            <a:r>
              <a:rPr sz="1250" b="1" i="0">
                <a:solidFill>
                  <a:srgbClr val="8A1626"/>
                </a:solidFill>
              </a:rPr>
              <a:t>3 · Discount factors and forwards</a:t>
            </a:r>
            <a:r>
              <a:rPr sz="1100" b="0" i="1">
                <a:solidFill>
                  <a:srgbClr val="4A5058"/>
                </a:solidFill>
              </a:rPr>
              <a:t>   critical · warning</a:t>
            </a:r>
          </a:p>
          <a:p>
            <a:pPr algn="l" marL="146304" indent="-146304">
              <a:spcAft>
                <a:spcPts val="200"/>
              </a:spcAft>
              <a:buClr>
                <a:srgbClr val="A51C30"/>
              </a:buClr>
              <a:buSzPct val="100000"/>
              <a:buFont typeface="Arial"/>
              <a:buChar char="▪"/>
            </a:pPr>
            <a:r>
              <a:rPr sz="1100" b="0" i="0">
                <a:solidFill>
                  <a:srgbClr val="1A1A1A"/>
                </a:solidFill>
              </a:rPr>
              <a:t>critical: a discount factor that does not fall with maturity, or is outside (0, 1]</a:t>
            </a:r>
          </a:p>
          <a:p>
            <a:pPr algn="l" marL="146304" indent="-146304">
              <a:spcAft>
                <a:spcPts val="200"/>
              </a:spcAft>
              <a:buClr>
                <a:srgbClr val="A51C30"/>
              </a:buClr>
              <a:buSzPct val="100000"/>
              <a:buFont typeface="Arial"/>
              <a:buChar char="▪"/>
            </a:pPr>
            <a:r>
              <a:rPr sz="1100" b="0" i="0">
                <a:solidFill>
                  <a:srgbClr val="1A1A1A"/>
                </a:solidFill>
              </a:rPr>
              <a:t>warning: a negative forward rate in FORWARDS</a:t>
            </a:r>
          </a:p>
        </p:txBody>
      </p:sp>
      <p:sp>
        <p:nvSpPr>
          <p:cNvPr id="36" name="Rectangle 35"/>
          <p:cNvSpPr/>
          <p:nvPr/>
        </p:nvSpPr>
        <p:spPr>
          <a:xfrm>
            <a:off x="6208776"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208776"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364224" y="3502152"/>
            <a:ext cx="4956048" cy="1389888"/>
          </a:xfrm>
          <a:prstGeom prst="rect">
            <a:avLst/>
          </a:prstGeom>
          <a:noFill/>
        </p:spPr>
        <p:txBody>
          <a:bodyPr wrap="square" lIns="0" rIns="0" tIns="0" bIns="0" anchor="t">
            <a:spAutoFit/>
          </a:bodyPr>
          <a:lstStyle/>
          <a:p>
            <a:pPr algn="l"/>
            <a:r>
              <a:rPr sz="1250" b="1" i="0">
                <a:solidFill>
                  <a:srgbClr val="8A1626"/>
                </a:solidFill>
              </a:rPr>
              <a:t>4 · Vol surfaces: sanity</a:t>
            </a:r>
            <a:r>
              <a:rPr sz="1100" b="0" i="1">
                <a:solidFill>
                  <a:srgbClr val="4A5058"/>
                </a:solidFill>
              </a:rPr>
              <a:t>   critical</a:t>
            </a:r>
          </a:p>
          <a:p>
            <a:pPr algn="l" marL="146304" indent="-146304">
              <a:spcAft>
                <a:spcPts val="200"/>
              </a:spcAft>
              <a:buClr>
                <a:srgbClr val="A51C30"/>
              </a:buClr>
              <a:buSzPct val="100000"/>
              <a:buFont typeface="Arial"/>
              <a:buChar char="▪"/>
            </a:pPr>
            <a:r>
              <a:rPr sz="1100" b="0" i="0">
                <a:solidFill>
                  <a:srgbClr val="1A1A1A"/>
                </a:solidFill>
              </a:rPr>
              <a:t>a vol at or below zero (risk reversals and butterflies may be negative)</a:t>
            </a:r>
          </a:p>
          <a:p>
            <a:pPr algn="l" marL="146304" indent="-146304">
              <a:spcAft>
                <a:spcPts val="200"/>
              </a:spcAft>
              <a:buClr>
                <a:srgbClr val="A51C30"/>
              </a:buClr>
              <a:buSzPct val="100000"/>
              <a:buFont typeface="Arial"/>
              <a:buChar char="▪"/>
            </a:pPr>
            <a:r>
              <a:rPr sz="1100" b="0" i="0">
                <a:solidFill>
                  <a:srgbClr val="1A1A1A"/>
                </a:solidFill>
              </a:rPr>
              <a:t>ATM total variance (vol² × T) falling with expiry, on the FX and equity surfaces</a:t>
            </a:r>
          </a:p>
        </p:txBody>
      </p:sp>
      <p:sp>
        <p:nvSpPr>
          <p:cNvPr id="39" name="Rectangle 38"/>
          <p:cNvSpPr/>
          <p:nvPr/>
        </p:nvSpPr>
        <p:spPr>
          <a:xfrm>
            <a:off x="777240" y="5047488"/>
            <a:ext cx="10634472" cy="1216151"/>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ounded Rectangle 39"/>
          <p:cNvSpPr/>
          <p:nvPr/>
        </p:nvSpPr>
        <p:spPr>
          <a:xfrm>
            <a:off x="914400" y="515721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1" name="TextBox 40"/>
          <p:cNvSpPr txBox="1"/>
          <p:nvPr/>
        </p:nvSpPr>
        <p:spPr>
          <a:xfrm>
            <a:off x="1650492" y="5093208"/>
            <a:ext cx="9624060" cy="329184"/>
          </a:xfrm>
          <a:prstGeom prst="rect">
            <a:avLst/>
          </a:prstGeom>
          <a:noFill/>
        </p:spPr>
        <p:txBody>
          <a:bodyPr wrap="square" lIns="0" rIns="0" tIns="0" bIns="0" anchor="ctr">
            <a:spAutoFit/>
          </a:bodyPr>
          <a:lstStyle/>
          <a:p>
            <a:pPr algn="l"/>
            <a:r>
              <a:rPr sz="1250" b="1" i="0">
                <a:solidFill>
                  <a:srgbClr val="8A1626"/>
                </a:solidFill>
              </a:rPr>
              <a:t>Impact on VaR</a:t>
            </a:r>
          </a:p>
        </p:txBody>
      </p:sp>
      <p:sp>
        <p:nvSpPr>
          <p:cNvPr id="42" name="TextBox 41"/>
          <p:cNvSpPr txBox="1"/>
          <p:nvPr/>
        </p:nvSpPr>
        <p:spPr>
          <a:xfrm>
            <a:off x="914400" y="5431536"/>
            <a:ext cx="10360152" cy="804671"/>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100" b="0" i="0">
                <a:solidFill>
                  <a:srgbClr val="1A1A1A"/>
                </a:solidFill>
              </a:rPr>
              <a:t>who uses each flagged point and the VaR at stake; jumps over n σ as a quality check; two sources disagreeing (the lake holds one source per kind today)</a:t>
            </a:r>
          </a:p>
          <a:p>
            <a:pPr algn="l" marL="146304" indent="-146304">
              <a:spcAft>
                <a:spcPts val="200"/>
              </a:spcAft>
              <a:buClr>
                <a:srgbClr val="A51C30"/>
              </a:buClr>
              <a:buSzPct val="100000"/>
              <a:buFont typeface="Arial"/>
              <a:buChar char="▪"/>
            </a:pPr>
            <a:r>
              <a:rPr sz="1100" b="0" i="0">
                <a:solidFill>
                  <a:srgbClr val="1A1A1A"/>
                </a:solidFill>
              </a:rPr>
              <a:t>Today the Quality landing says so in place of the figure: impact on VaR and valuations comes later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HOME</a:t>
            </a:r>
          </a:p>
        </p:txBody>
      </p:sp>
      <p:sp>
        <p:nvSpPr>
          <p:cNvPr id="3" name="Title 2"/>
          <p:cNvSpPr>
            <a:spLocks noGrp="1"/>
          </p:cNvSpPr>
          <p:nvPr>
            <p:ph type="title" idx="104"/>
          </p:nvPr>
        </p:nvSpPr>
        <p:spPr/>
        <p:txBody>
          <a:bodyPr/>
          <a:lstStyle/>
          <a:p>
            <a:r>
              <a:t>Drishti Market's three landings: desk, explorer and quality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market-desk.jpg"/>
          <p:cNvPicPr>
            <a:picLocks noChangeAspect="1"/>
          </p:cNvPicPr>
          <p:nvPr/>
        </p:nvPicPr>
        <p:blipFill>
          <a:blip r:embed="rId2"/>
          <a:stretch>
            <a:fillRect/>
          </a:stretch>
        </p:blipFill>
        <p:spPr>
          <a:xfrm>
            <a:off x="777240" y="1417320"/>
            <a:ext cx="3422904" cy="1819210"/>
          </a:xfrm>
          <a:prstGeom prst="rect">
            <a:avLst/>
          </a:prstGeom>
          <a:ln w="9525">
            <a:solidFill>
              <a:srgbClr val="E3DED7"/>
            </a:solidFill>
          </a:ln>
        </p:spPr>
      </p:pic>
      <p:pic>
        <p:nvPicPr>
          <p:cNvPr id="27" name="Picture 26" descr="market-explorer.jpg"/>
          <p:cNvPicPr>
            <a:picLocks noChangeAspect="1"/>
          </p:cNvPicPr>
          <p:nvPr/>
        </p:nvPicPr>
        <p:blipFill>
          <a:blip r:embed="rId3"/>
          <a:srcRect b="596"/>
          <a:stretch>
            <a:fillRect/>
          </a:stretch>
        </p:blipFill>
        <p:spPr>
          <a:xfrm>
            <a:off x="4383024" y="1417320"/>
            <a:ext cx="3422904" cy="1874519"/>
          </a:xfrm>
          <a:prstGeom prst="rect">
            <a:avLst/>
          </a:prstGeom>
          <a:ln w="9525">
            <a:solidFill>
              <a:srgbClr val="E3DED7"/>
            </a:solidFill>
          </a:ln>
        </p:spPr>
      </p:pic>
      <p:pic>
        <p:nvPicPr>
          <p:cNvPr id="28" name="Picture 27" descr="market-quality.jpg"/>
          <p:cNvPicPr>
            <a:picLocks noChangeAspect="1"/>
          </p:cNvPicPr>
          <p:nvPr/>
        </p:nvPicPr>
        <p:blipFill>
          <a:blip r:embed="rId4"/>
          <a:srcRect b="1425"/>
          <a:stretch>
            <a:fillRect/>
          </a:stretch>
        </p:blipFill>
        <p:spPr>
          <a:xfrm>
            <a:off x="7988808" y="1417320"/>
            <a:ext cx="3422904" cy="1874519"/>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Market desk (the default)</a:t>
            </a:r>
          </a:p>
          <a:p>
            <a:pPr algn="l" marL="146304" indent="-146304">
              <a:spcAft>
                <a:spcPts val="200"/>
              </a:spcAft>
              <a:buClr>
                <a:srgbClr val="A51C30"/>
              </a:buClr>
              <a:buSzPct val="100000"/>
              <a:buFont typeface="Arial"/>
              <a:buChar char="▪"/>
            </a:pPr>
            <a:r>
              <a:rPr sz="1100" b="0" i="0">
                <a:solidFill>
                  <a:srgbClr val="1A1A1A"/>
                </a:solidFill>
              </a:rPr>
              <a:t>tiles: USD OIS 10Y, USD 2s10s, EUR/USD 1M ATM vol, CDS 5Y median, data exceptions</a:t>
            </a:r>
          </a:p>
          <a:p>
            <a:pPr algn="l" marL="146304" indent="-146304">
              <a:spcAft>
                <a:spcPts val="200"/>
              </a:spcAft>
              <a:buClr>
                <a:srgbClr val="A51C30"/>
              </a:buClr>
              <a:buSzPct val="100000"/>
              <a:buFont typeface="Arial"/>
              <a:buChar char="▪"/>
            </a:pPr>
            <a:r>
              <a:rPr sz="1100" b="0" i="0">
                <a:solidFill>
                  <a:srgbClr val="1A1A1A"/>
                </a:solidFill>
              </a:rPr>
              <a:t>USD curves, today against a week before</a:t>
            </a:r>
          </a:p>
          <a:p>
            <a:pPr algn="l" marL="146304" indent="-146304">
              <a:spcAft>
                <a:spcPts val="200"/>
              </a:spcAft>
              <a:buClr>
                <a:srgbClr val="A51C30"/>
              </a:buClr>
              <a:buSzPct val="100000"/>
              <a:buFont typeface="Arial"/>
              <a:buChar char="▪"/>
            </a:pPr>
            <a:r>
              <a:rPr sz="1100" b="0" i="0">
                <a:solidFill>
                  <a:srgbClr val="1A1A1A"/>
                </a:solidFill>
              </a:rPr>
              <a:t>biggest moves over 21 business days, in σ of each item's own moves</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by asset class: rates, FX, credit and bonds, equity and commodities</a:t>
            </a:r>
          </a:p>
          <a:p>
            <a:pPr algn="l" marL="146304" indent="-146304">
              <a:spcAft>
                <a:spcPts val="200"/>
              </a:spcAft>
              <a:buClr>
                <a:srgbClr val="A51C30"/>
              </a:buClr>
              <a:buSzPct val="100000"/>
              <a:buFont typeface="Arial"/>
              <a:buChar char="▪"/>
            </a:pPr>
            <a:r>
              <a:rPr sz="1100" b="0" i="0">
                <a:solidFill>
                  <a:srgbClr val="1A1A1A"/>
                </a:solidFill>
              </a:rPr>
              <a:t>the commands by asset class; 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Quality</a:t>
            </a:r>
          </a:p>
          <a:p>
            <a:pPr algn="l" marL="146304" indent="-146304">
              <a:spcAft>
                <a:spcPts val="200"/>
              </a:spcAft>
              <a:buClr>
                <a:srgbClr val="A51C30"/>
              </a:buClr>
              <a:buSzPct val="100000"/>
              <a:buFont typeface="Arial"/>
              <a:buChar char="▪"/>
            </a:pPr>
            <a:r>
              <a:rPr sz="1100" b="0" i="0">
                <a:solidFill>
                  <a:srgbClr val="1A1A1A"/>
                </a:solidFill>
              </a:rPr>
              <a:t>the four checks, worst first: stale, gaps, discount factors and forwards, vol surfaces</a:t>
            </a:r>
          </a:p>
          <a:p>
            <a:pPr algn="l" marL="146304" indent="-146304">
              <a:spcAft>
                <a:spcPts val="200"/>
              </a:spcAft>
              <a:buClr>
                <a:srgbClr val="A51C30"/>
              </a:buClr>
              <a:buSzPct val="100000"/>
              <a:buFont typeface="Arial"/>
              <a:buChar char="▪"/>
            </a:pPr>
            <a:r>
              <a:rPr sz="1100" b="0" i="0">
                <a:solidFill>
                  <a:srgbClr val="1A1A1A"/>
                </a:solidFill>
              </a:rPr>
              <a:t>Critical, Warnings, Clean; the Checks run card</a:t>
            </a:r>
          </a:p>
          <a:p>
            <a:pPr algn="l" marL="146304" indent="-146304">
              <a:spcAft>
                <a:spcPts val="200"/>
              </a:spcAft>
              <a:buClr>
                <a:srgbClr val="A51C30"/>
              </a:buClr>
              <a:buSzPct val="100000"/>
              <a:buFont typeface="Arial"/>
              <a:buChar char="▪"/>
            </a:pPr>
            <a:r>
              <a:rPr sz="1100" b="0" i="0">
                <a:solidFill>
                  <a:srgbClr val="1A1A1A"/>
                </a:solidFill>
              </a:rPr>
              <a:t>the impact on VaR: a note, not a figure (planned)</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Every figure is the pack's own answer.  </a:t>
            </a:r>
            <a:r>
              <a:rPr sz="1100" b="0" i="0">
                <a:solidFill>
                  <a:srgbClr val="1A1A1A"/>
                </a:solidFill>
              </a:rPr>
              <a:t>Worked out in the console from the market data's search, documents and history; read-only, cached two minutes per person. A day-over-day change only from real data on both days; otherwise the tile says so.</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Pictures from the browser tests' stand-in server, with known problems seeded on purpose; the demo data's checks are all clean.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CONTEXT FOR RISK</a:t>
            </a:r>
          </a:p>
        </p:txBody>
      </p:sp>
      <p:sp>
        <p:nvSpPr>
          <p:cNvPr id="3" name="Title 2"/>
          <p:cNvSpPr>
            <a:spLocks noGrp="1"/>
          </p:cNvSpPr>
          <p:nvPr>
            <p:ph type="title" idx="104"/>
          </p:nvPr>
        </p:nvSpPr>
        <p:spPr/>
        <p:txBody>
          <a:bodyPr/>
          <a:lstStyle/>
          <a:p>
            <a:r>
              <a:t>Drishti World: the macro context for risk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risk user cares.  </a:t>
            </a:r>
            <a:r>
              <a:rPr sz="1150" b="0" i="0">
                <a:solidFill>
                  <a:srgbClr val="1A1A1A"/>
                </a:solidFill>
              </a:rPr>
              <a:t>A VaR or exposure move has a story outside the bank: an economy's growth, inflation or debt, the day's news, a company's filings, an entity's owners, a fund's holdings. Drishti World puts that public context one command away.</a:t>
            </a:r>
          </a:p>
        </p:txBody>
      </p:sp>
      <p:graphicFrame>
        <p:nvGraphicFramePr>
          <p:cNvPr id="29" name="Table 28"/>
          <p:cNvGraphicFramePr>
            <a:graphicFrameLocks noGrp="1"/>
          </p:cNvGraphicFramePr>
          <p:nvPr/>
        </p:nvGraphicFramePr>
        <p:xfrm>
          <a:off x="777240" y="2121408"/>
          <a:ext cx="7315200" cy="3072384"/>
        </p:xfrm>
        <a:graphic>
          <a:graphicData uri="http://schemas.openxmlformats.org/drawingml/2006/table">
            <a:tbl>
              <a:tblPr firstRow="0" bandRow="0">
                <a:tableStyleId>{5940675A-B579-460E-94D1-54222C63F5DA}</a:tableStyleId>
              </a:tblPr>
              <a:tblGrid>
                <a:gridCol w="1417320"/>
                <a:gridCol w="3017520"/>
                <a:gridCol w="2880360"/>
              </a:tblGrid>
              <a:tr h="512064">
                <a:tc>
                  <a:txBody>
                    <a:bodyPr wrap="square"/>
                    <a:lstStyle/>
                    <a:p>
                      <a:r>
                        <a:rPr sz="1100" b="1" i="0">
                          <a:solidFill>
                            <a:srgbClr val="FFFFFF"/>
                          </a:solidFill>
                        </a:rPr>
                        <a:t>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The context it gives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12064">
                <a:tc>
                  <a:txBody>
                    <a:bodyPr wrap="square"/>
                    <a:lstStyle/>
                    <a:p>
                      <a:r>
                        <a:rPr sz="1100" b="1" i="0">
                          <a:solidFill>
                            <a:srgbClr val="8A1626"/>
                          </a:solidFill>
                        </a:rPr>
                        <a:t>Economies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ECON · MACRO · FCST · LABR · FISC · ECG · REGE · JUR · PARTY · OFFC · ELEC · REGN · SOCI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economies and regions: growth, inflation, debt, labour, fiscal; jurisdictions, parties, elections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News and markets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TOPIC · NEWS · CO · QUOTE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news by topic; companies; a market snapshot of quotes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Companies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USEQ · IDX · SIC · EDGAR · FILING · FACT · PXH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companies, indices, sectors, SEC filings and facts, price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Legal entities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LEI · LEIG · LEIR · LEIC · LEIM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GLEIF: entities, groups, parents and children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Funds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FUND · HELD · TRACK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funds and ETFs, what they hold, the index each tracks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8321040" y="2121408"/>
            <a:ext cx="3090672" cy="2834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8321040" y="2121408"/>
            <a:ext cx="45720" cy="2834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476488" y="2185415"/>
            <a:ext cx="2852928" cy="274320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config/editions/world.yaml</a:t>
            </a:r>
          </a:p>
          <a:p>
            <a:pPr algn="l" marL="146304" indent="-146304">
              <a:spcAft>
                <a:spcPts val="200"/>
              </a:spcAft>
              <a:buClr>
                <a:srgbClr val="A51C30"/>
              </a:buClr>
              <a:buSzPct val="100000"/>
              <a:buFont typeface="Arial"/>
              <a:buChar char="▪"/>
            </a:pPr>
            <a:r>
              <a:rPr sz="1100" b="0" i="0">
                <a:solidFill>
                  <a:srgbClr val="1A1A1A"/>
                </a:solidFill>
              </a:rPr>
              <a:t>the public-data packs, allow-only: world-economy, news-and-markets, us-equities, gleif, funds</a:t>
            </a:r>
          </a:p>
          <a:p>
            <a:pPr algn="l" marL="146304" indent="-146304">
              <a:spcAft>
                <a:spcPts val="200"/>
              </a:spcAft>
              <a:buClr>
                <a:srgbClr val="A51C30"/>
              </a:buClr>
              <a:buSzPct val="100000"/>
              <a:buFont typeface="Arial"/>
              <a:buChar char="▪"/>
            </a:pPr>
            <a:r>
              <a:rPr sz="1100" b="0" i="0">
                <a:solidFill>
                  <a:srgbClr val="1A1A1A"/>
                </a:solidFill>
              </a:rPr>
              <a:t>their 32 commands; VAR, EXP and every risk command hidden</a:t>
            </a:r>
          </a:p>
          <a:p>
            <a:pPr algn="l" marL="146304" indent="-146304">
              <a:spcAft>
                <a:spcPts val="200"/>
              </a:spcAft>
              <a:buClr>
                <a:srgbClr val="A51C30"/>
              </a:buClr>
              <a:buSzPct val="100000"/>
              <a:buFont typeface="Arial"/>
              <a:buChar char="▪"/>
            </a:pPr>
            <a:r>
              <a:rPr sz="1100" b="0" i="0">
                <a:solidFill>
                  <a:srgbClr val="1A1A1A"/>
                </a:solidFill>
              </a:rPr>
              <a:t>Home: World desk (the default), Explorer, World map</a:t>
            </a:r>
          </a:p>
          <a:p>
            <a:pPr algn="l" marL="146304" indent="-146304">
              <a:spcAft>
                <a:spcPts val="200"/>
              </a:spcAft>
              <a:buClr>
                <a:srgbClr val="A51C30"/>
              </a:buClr>
              <a:buSzPct val="100000"/>
              <a:buFont typeface="Arial"/>
              <a:buChar char="▪"/>
            </a:pPr>
            <a:r>
              <a:rPr sz="1100" b="0" i="0">
                <a:solidFill>
                  <a:srgbClr val="1A1A1A"/>
                </a:solidFill>
              </a:rPr>
              <a:t>a lens beside Drishti Risk: Switch to … in one step</a:t>
            </a:r>
          </a:p>
        </p:txBody>
      </p:sp>
      <p:sp>
        <p:nvSpPr>
          <p:cNvPr id="33" name="Rectangle 32"/>
          <p:cNvSpPr/>
          <p:nvPr/>
        </p:nvSpPr>
        <p:spPr>
          <a:xfrm>
            <a:off x="777240" y="5257800"/>
            <a:ext cx="10634472"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257800"/>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321808"/>
            <a:ext cx="10396728" cy="914400"/>
          </a:xfrm>
          <a:prstGeom prst="rect">
            <a:avLst/>
          </a:prstGeom>
          <a:noFill/>
        </p:spPr>
        <p:txBody>
          <a:bodyPr wrap="square" lIns="0" rIns="0" tIns="0" bIns="0" anchor="t">
            <a:spAutoFit/>
          </a:bodyPr>
          <a:lstStyle/>
          <a:p>
            <a:pPr algn="l">
              <a:spcAft>
                <a:spcPts val="300"/>
              </a:spcAft>
            </a:pPr>
            <a:r>
              <a:rPr sz="1300" b="1" i="0">
                <a:solidFill>
                  <a:srgbClr val="8A1626"/>
                </a:solidFill>
              </a:rPr>
              <a:t>Public data, inside the bank</a:t>
            </a:r>
          </a:p>
          <a:p>
            <a:pPr algn="l" marL="146304" indent="-146304">
              <a:spcAft>
                <a:spcPts val="200"/>
              </a:spcAft>
              <a:buClr>
                <a:srgbClr val="A51C30"/>
              </a:buClr>
              <a:buSzPct val="100000"/>
              <a:buFont typeface="Arial"/>
              <a:buChar char="▪"/>
            </a:pPr>
            <a:r>
              <a:rPr sz="1100" b="0" i="0">
                <a:solidFill>
                  <a:srgbClr val="1A1A1A"/>
                </a:solidFill>
              </a:rPr>
              <a:t>The IMF figures and the market prices in these packs are shown inside the bank; showing Drishti World outside it needs the product owner's decision first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HOME</a:t>
            </a:r>
          </a:p>
        </p:txBody>
      </p:sp>
      <p:sp>
        <p:nvSpPr>
          <p:cNvPr id="3" name="Title 2"/>
          <p:cNvSpPr>
            <a:spLocks noGrp="1"/>
          </p:cNvSpPr>
          <p:nvPr>
            <p:ph type="title" idx="104"/>
          </p:nvPr>
        </p:nvSpPr>
        <p:spPr/>
        <p:txBody>
          <a:bodyPr/>
          <a:lstStyle/>
          <a:p>
            <a:r>
              <a:t>Drishti World's three landings: desk, explorer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world-desk.jpg"/>
          <p:cNvPicPr>
            <a:picLocks noChangeAspect="1"/>
          </p:cNvPicPr>
          <p:nvPr/>
        </p:nvPicPr>
        <p:blipFill>
          <a:blip r:embed="rId2"/>
          <a:stretch>
            <a:fillRect/>
          </a:stretch>
        </p:blipFill>
        <p:spPr>
          <a:xfrm>
            <a:off x="777240" y="1417320"/>
            <a:ext cx="3422904" cy="1701944"/>
          </a:xfrm>
          <a:prstGeom prst="rect">
            <a:avLst/>
          </a:prstGeom>
          <a:ln w="9525">
            <a:solidFill>
              <a:srgbClr val="E3DED7"/>
            </a:solidFill>
          </a:ln>
        </p:spPr>
      </p:pic>
      <p:pic>
        <p:nvPicPr>
          <p:cNvPr id="27" name="Picture 26" descr="world-explorer.jpg"/>
          <p:cNvPicPr>
            <a:picLocks noChangeAspect="1"/>
          </p:cNvPicPr>
          <p:nvPr/>
        </p:nvPicPr>
        <p:blipFill>
          <a:blip r:embed="rId3"/>
          <a:stretch>
            <a:fillRect/>
          </a:stretch>
        </p:blipFill>
        <p:spPr>
          <a:xfrm>
            <a:off x="4383024" y="1417320"/>
            <a:ext cx="3422904" cy="1226541"/>
          </a:xfrm>
          <a:prstGeom prst="rect">
            <a:avLst/>
          </a:prstGeom>
          <a:ln w="9525">
            <a:solidFill>
              <a:srgbClr val="E3DED7"/>
            </a:solidFill>
          </a:ln>
        </p:spPr>
      </p:pic>
      <p:pic>
        <p:nvPicPr>
          <p:cNvPr id="28" name="Picture 27" descr="world-map.jpg"/>
          <p:cNvPicPr>
            <a:picLocks noChangeAspect="1"/>
          </p:cNvPicPr>
          <p:nvPr/>
        </p:nvPicPr>
        <p:blipFill>
          <a:blip r:embed="rId4"/>
          <a:stretch>
            <a:fillRect/>
          </a:stretch>
        </p:blipFill>
        <p:spPr>
          <a:xfrm>
            <a:off x="7988808" y="1417320"/>
            <a:ext cx="3422904" cy="1619541"/>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World desk (the default)</a:t>
            </a:r>
          </a:p>
          <a:p>
            <a:pPr algn="l" marL="146304" indent="-146304">
              <a:spcAft>
                <a:spcPts val="200"/>
              </a:spcAft>
              <a:buClr>
                <a:srgbClr val="A51C30"/>
              </a:buClr>
              <a:buSzPct val="100000"/>
              <a:buFont typeface="Arial"/>
              <a:buChar char="▪"/>
            </a:pPr>
            <a:r>
              <a:rPr sz="1100" b="0" i="0">
                <a:solidFill>
                  <a:srgbClr val="1A1A1A"/>
                </a:solidFill>
              </a:rPr>
              <a:t>tiles: World GDP growth, quotes up and down, the biggest mover, new SEC filings, funds and ETFs</a:t>
            </a:r>
          </a:p>
          <a:p>
            <a:pPr algn="l" marL="146304" indent="-146304">
              <a:spcAft>
                <a:spcPts val="200"/>
              </a:spcAft>
              <a:buClr>
                <a:srgbClr val="A51C30"/>
              </a:buClr>
              <a:buSzPct val="100000"/>
              <a:buFont typeface="Arial"/>
              <a:buChar char="▪"/>
            </a:pPr>
            <a:r>
              <a:rPr sz="1100" b="0" i="0">
                <a:solidFill>
                  <a:srgbClr val="1A1A1A"/>
                </a:solidFill>
              </a:rPr>
              <a:t>economies that moved: the twelve largest</a:t>
            </a:r>
          </a:p>
          <a:p>
            <a:pPr algn="l" marL="146304" indent="-146304">
              <a:spcAft>
                <a:spcPts val="200"/>
              </a:spcAft>
              <a:buClr>
                <a:srgbClr val="A51C30"/>
              </a:buClr>
              <a:buSzPct val="100000"/>
              <a:buFont typeface="Arial"/>
              <a:buChar char="▪"/>
            </a:pPr>
            <a:r>
              <a:rPr sz="1100" b="0" i="0">
                <a:solidFill>
                  <a:srgbClr val="1A1A1A"/>
                </a:solidFill>
              </a:rPr>
              <a:t>today's news by topic</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economies, US companies, legal entities, funds and ETFs, filings, news topics</a:t>
            </a:r>
          </a:p>
          <a:p>
            <a:pPr algn="l" marL="146304" indent="-146304">
              <a:spcAft>
                <a:spcPts val="200"/>
              </a:spcAft>
              <a:buClr>
                <a:srgbClr val="A51C30"/>
              </a:buClr>
              <a:buSzPct val="100000"/>
              <a:buFont typeface="Arial"/>
              <a:buChar char="▪"/>
            </a:pPr>
            <a:r>
              <a:rPr sz="1100" b="0" i="0">
                <a:solidFill>
                  <a:srgbClr val="1A1A1A"/>
                </a:solidFill>
              </a:rPr>
              <a:t>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World map</a:t>
            </a:r>
          </a:p>
          <a:p>
            <a:pPr algn="l" marL="146304" indent="-146304">
              <a:spcAft>
                <a:spcPts val="200"/>
              </a:spcAft>
              <a:buClr>
                <a:srgbClr val="A51C30"/>
              </a:buClr>
              <a:buSzPct val="100000"/>
              <a:buFont typeface="Arial"/>
              <a:buChar char="▪"/>
            </a:pPr>
            <a:r>
              <a:rPr sz="1100" b="0" i="0">
                <a:solidFill>
                  <a:srgbClr val="1A1A1A"/>
                </a:solidFill>
              </a:rPr>
              <a:t>by region, income group, G7 or G20; by growth, inflation or debt to GDP, GDP-weighted</a:t>
            </a:r>
          </a:p>
          <a:p>
            <a:pPr algn="l" marL="146304" indent="-146304">
              <a:spcAft>
                <a:spcPts val="200"/>
              </a:spcAft>
              <a:buClr>
                <a:srgbClr val="A51C30"/>
              </a:buClr>
              <a:buSzPct val="100000"/>
              <a:buFont typeface="Arial"/>
              <a:buChar char="▪"/>
            </a:pPr>
            <a:r>
              <a:rPr sz="1100" b="0" i="0">
                <a:solidFill>
                  <a:srgbClr val="1A1A1A"/>
                </a:solidFill>
              </a:rPr>
              <a:t>US sectors; the largest funds</a:t>
            </a:r>
          </a:p>
          <a:p>
            <a:pPr algn="l" marL="146304" indent="-146304">
              <a:spcAft>
                <a:spcPts val="200"/>
              </a:spcAft>
              <a:buClr>
                <a:srgbClr val="A51C30"/>
              </a:buClr>
              <a:buSzPct val="100000"/>
              <a:buFont typeface="Arial"/>
              <a:buChar char="▪"/>
            </a:pPr>
            <a:r>
              <a:rPr sz="1100" b="0" i="0">
                <a:solidFill>
                  <a:srgbClr val="1A1A1A"/>
                </a:solidFill>
              </a:rPr>
              <a:t>what changed: each source's latest</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How it reads.  </a:t>
            </a:r>
            <a:r>
              <a:rPr sz="1100" b="0" i="0">
                <a:solidFill>
                  <a:srgbClr val="1A1A1A"/>
                </a:solidFill>
              </a:rPr>
              <a:t>One thin read-only route and the server's own search grammar (ECON where GDP_USD_BN &gt; 0 order by GDP_USD_BN desc limit 12); a command the person's edition or lens does not show is refused (DRS-4023). Each panel paints when its answer arrives.</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A teal accent, so World reads apart from Risk at a glance. Pictures from the browser tests' stand-in server.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Regulatory reporting</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THE LANDSCAPE</a:t>
            </a:r>
          </a:p>
        </p:txBody>
      </p:sp>
      <p:sp>
        <p:nvSpPr>
          <p:cNvPr id="3" name="Title 2"/>
          <p:cNvSpPr>
            <a:spLocks noGrp="1"/>
          </p:cNvSpPr>
          <p:nvPr>
            <p:ph type="title" idx="104"/>
          </p:nvPr>
        </p:nvSpPr>
        <p:spPr/>
        <p:txBody>
          <a:bodyPr/>
          <a:lstStyle/>
          <a:p>
            <a:r>
              <a:t>Canada and the US: the reports that need VaR or 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150" b="1" i="0">
                <a:solidFill>
                  <a:srgbClr val="A51C30"/>
                </a:solidFill>
              </a:rPr>
              <a:t>Today.  </a:t>
            </a:r>
            <a:r>
              <a:rPr sz="1100" b="0" i="0">
                <a:solidFill>
                  <a:srgbClr val="1A1A1A"/>
                </a:solidFill>
              </a:rPr>
              <a:t>Canada: FRTB since November 2023; every bank reports the standardised approach, internal models need OSFI's approval. US: VaR and stressed VaR (Basel 2.5) in force; an ES-based re-proposal of March 2026 is not final.</a:t>
            </a:r>
          </a:p>
        </p:txBody>
      </p:sp>
      <p:graphicFrame>
        <p:nvGraphicFramePr>
          <p:cNvPr id="29" name="Table 28"/>
          <p:cNvGraphicFramePr>
            <a:graphicFrameLocks noGrp="1"/>
          </p:cNvGraphicFramePr>
          <p:nvPr/>
        </p:nvGraphicFramePr>
        <p:xfrm>
          <a:off x="777240"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Canada (OSFI)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48640">
                <a:tc>
                  <a:txBody>
                    <a:bodyPr wrap="square"/>
                    <a:lstStyle/>
                    <a:p>
                      <a:r>
                        <a:rPr sz="1100" b="1" i="0">
                          <a:solidFill>
                            <a:srgbClr val="8A1626"/>
                          </a:solidFill>
                        </a:rPr>
                        <a:t>BCAR 90.010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standardised for all; ES 97.5% and SES, latest and 60-day,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Pillar 3 MR1, MR2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MR2: ES, SES, DRC, latest, average, high, low; exceptions against 99%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Internal-model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1-day VaR 99% and 97.5% against actual and hypothetical P&amp;L; the PLA 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Annual report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trading VaR, 1 day 99%, by risk type: year-end, average, high, low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ICAAP, stress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prescribed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0" name="Table 29"/>
          <p:cNvGraphicFramePr>
            <a:graphicFrameLocks noGrp="1"/>
          </p:cNvGraphicFramePr>
          <p:nvPr/>
        </p:nvGraphicFramePr>
        <p:xfrm>
          <a:off x="6208776"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US (Fed, OCC, FDIC)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r>
              <a:tr h="548640">
                <a:tc>
                  <a:txBody>
                    <a:bodyPr wrap="square"/>
                    <a:lstStyle/>
                    <a:p>
                      <a:r>
                        <a:rPr sz="1100" b="1" i="0">
                          <a:solidFill>
                            <a:srgbClr val="8A1626"/>
                          </a:solidFill>
                        </a:rPr>
                        <a:t>Market risk 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 99% 10-day and stressed VaR; 60-day and 12-week averages × 3 to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and stressed VaR, latest and averages; public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high, low, mean, period-end VaR and stressed VaR; by risk type;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Volcker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desk, daily: limits and use, VaR 1-day 99%, P&amp;L attribution, positions, volumes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FR Y-9C, FR Y-14Q</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market-risk RWA (HC-R item 27); the market shock: not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1" name="Rectangle 30"/>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A Canadian bank with a US holding company.  </a:t>
            </a:r>
            <a:r>
              <a:rPr sz="1100" b="0" i="0">
                <a:solidFill>
                  <a:srgbClr val="1A1A1A"/>
                </a:solidFill>
              </a:rPr>
              <a:t>It files both sides: the US holding company follows the US capital rule like a US bank holding company; FFIEC 102 applies at $1 billion of trading assets and liabilities, Volcker at $20 billion across the bank's US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WHAT EVERY REPORT NEEDS</a:t>
            </a:r>
          </a:p>
        </p:txBody>
      </p:sp>
      <p:sp>
        <p:nvSpPr>
          <p:cNvPr id="3" name="Title 2"/>
          <p:cNvSpPr>
            <a:spLocks noGrp="1"/>
          </p:cNvSpPr>
          <p:nvPr>
            <p:ph type="title" idx="104"/>
          </p:nvPr>
        </p:nvSpPr>
        <p:spPr/>
        <p:txBody>
          <a:bodyPr/>
          <a:lstStyle/>
          <a:p>
            <a:r>
              <a:t>The building blocks, and what Drishti has today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371600"/>
          <a:ext cx="10634472" cy="4219956"/>
        </p:xfrm>
        <a:graphic>
          <a:graphicData uri="http://schemas.openxmlformats.org/drawingml/2006/table">
            <a:tbl>
              <a:tblPr firstRow="0" bandRow="0">
                <a:tableStyleId>{5940675A-B579-460E-94D1-54222C63F5DA}</a:tableStyleId>
              </a:tblPr>
              <a:tblGrid>
                <a:gridCol w="2788920"/>
                <a:gridCol w="3063240"/>
                <a:gridCol w="1005840"/>
                <a:gridCol w="3776472"/>
              </a:tblGrid>
              <a:tr h="324612">
                <a:tc>
                  <a:txBody>
                    <a:bodyPr wrap="square"/>
                    <a:lstStyle/>
                    <a:p>
                      <a:r>
                        <a:rPr sz="1100" b="1" i="0">
                          <a:solidFill>
                            <a:srgbClr val="FFFFFF"/>
                          </a:solidFill>
                        </a:rPr>
                        <a:t>Building block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Needed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Drishti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4612">
                <a:tc>
                  <a:txBody>
                    <a:bodyPr wrap="square"/>
                    <a:lstStyle/>
                    <a:p>
                      <a:r>
                        <a:rPr sz="1100" b="1" i="0">
                          <a:solidFill>
                            <a:srgbClr val="8A1626"/>
                          </a:solidFill>
                        </a:rPr>
                        <a:t>VaR 99% and ES 97.5%, 1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Volcker, every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bank to a trade; any node or trade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By desk and legal entity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 diversification in most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every hierarchy node, with 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limits and their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limit per node; use in every 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Kept and reproducible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official runs of every node, 7 years, versions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Backtest: hypothetical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every node: exceptions, traffic light,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Backtest: actual P&amp;L,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 rule, OSFI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needs the bank's daily P&amp;L feed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10-day VaR, stressed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rule,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in the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High, low, average, 60-day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MD&amp;A,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from the official history Drishti keeps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by risk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§217.212, 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needs P&amp;L vectors by risk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Other limits, P&amp;L attribution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P&amp;L explain designed, not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Standardised approach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BCAR 90.010, Pillar 3 MR1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contract designed (FRTB SA)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ES by liquidity horizon, PLA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banks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with NMRF and DRC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ounded Rectangle 26"/>
          <p:cNvSpPr/>
          <p:nvPr/>
        </p:nvSpPr>
        <p:spPr>
          <a:xfrm>
            <a:off x="6702552" y="338099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28" name="Rounded Rectangle 27"/>
          <p:cNvSpPr/>
          <p:nvPr/>
        </p:nvSpPr>
        <p:spPr>
          <a:xfrm>
            <a:off x="6702552" y="370560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29" name="Rounded Rectangle 28"/>
          <p:cNvSpPr/>
          <p:nvPr/>
        </p:nvSpPr>
        <p:spPr>
          <a:xfrm>
            <a:off x="6702552" y="403021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Rounded Rectangle 29"/>
          <p:cNvSpPr/>
          <p:nvPr/>
        </p:nvSpPr>
        <p:spPr>
          <a:xfrm>
            <a:off x="6702552" y="435483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1" name="Rounded Rectangle 30"/>
          <p:cNvSpPr/>
          <p:nvPr/>
        </p:nvSpPr>
        <p:spPr>
          <a:xfrm>
            <a:off x="6702552" y="46794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2" name="Rounded Rectangle 31"/>
          <p:cNvSpPr/>
          <p:nvPr/>
        </p:nvSpPr>
        <p:spPr>
          <a:xfrm>
            <a:off x="6702552" y="5004053"/>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3" name="Rounded Rectangle 32"/>
          <p:cNvSpPr/>
          <p:nvPr/>
        </p:nvSpPr>
        <p:spPr>
          <a:xfrm>
            <a:off x="6702552" y="532866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4" name="Rectangle 33"/>
          <p:cNvSpPr/>
          <p:nvPr/>
        </p:nvSpPr>
        <p:spPr>
          <a:xfrm>
            <a:off x="777240" y="5728716"/>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728716"/>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5728716"/>
            <a:ext cx="10314432" cy="566928"/>
          </a:xfrm>
          <a:prstGeom prst="rect">
            <a:avLst/>
          </a:prstGeom>
          <a:noFill/>
        </p:spPr>
        <p:txBody>
          <a:bodyPr wrap="square" lIns="0" rIns="0" tIns="0" bIns="0" anchor="ctr">
            <a:spAutoFit/>
          </a:bodyPr>
          <a:lstStyle/>
          <a:p>
            <a:pPr algn="l"/>
            <a:r>
              <a:rPr sz="1150" b="1" i="0">
                <a:solidFill>
                  <a:srgbClr val="A51C30"/>
                </a:solidFill>
              </a:rPr>
              <a:t>Reading it.  </a:t>
            </a:r>
            <a:r>
              <a:rPr sz="1100" b="0" i="0">
                <a:solidFill>
                  <a:srgbClr val="1A1A1A"/>
                </a:solidFill>
              </a:rPr>
              <a:t>A Canadian bank on the standardised approach reports VaR in its annual report; its US holding company needs the full VaR and stressed VaR set. Built rows carry no pill.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HOW A REPORT IS MADE</a:t>
            </a:r>
          </a:p>
        </p:txBody>
      </p:sp>
      <p:sp>
        <p:nvSpPr>
          <p:cNvPr id="3" name="Title 2"/>
          <p:cNvSpPr>
            <a:spLocks noGrp="1"/>
          </p:cNvSpPr>
          <p:nvPr>
            <p:ph type="title" idx="104"/>
          </p:nvPr>
        </p:nvSpPr>
        <p:spPr/>
        <p:txBody>
          <a:bodyPr/>
          <a:lstStyle/>
          <a:p>
            <a:r>
              <a:t>From the official run to the filing, reproducible as of a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1417320"/>
            <a:ext cx="1907438" cy="457200"/>
          </a:xfrm>
          <a:prstGeom prst="rect">
            <a:avLst/>
          </a:prstGeom>
          <a:noFill/>
        </p:spPr>
        <p:txBody>
          <a:bodyPr wrap="square" lIns="0" rIns="0" tIns="0" bIns="0" anchor="ctr">
            <a:spAutoFit/>
          </a:bodyPr>
          <a:lstStyle/>
          <a:p>
            <a:pPr algn="ctr"/>
            <a:r>
              <a:rPr sz="1300" b="1" i="0">
                <a:solidFill>
                  <a:srgbClr val="FFFFFF"/>
                </a:solidFill>
              </a:rPr>
              <a:t>Inputs</a:t>
            </a:r>
          </a:p>
        </p:txBody>
      </p:sp>
      <p:sp>
        <p:nvSpPr>
          <p:cNvPr id="28" name="Rectangle 27"/>
          <p:cNvSpPr/>
          <p:nvPr/>
        </p:nvSpPr>
        <p:spPr>
          <a:xfrm>
            <a:off x="777240"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trades, P&amp;L vectors, scenario sets</a:t>
            </a:r>
          </a:p>
        </p:txBody>
      </p:sp>
      <p:sp>
        <p:nvSpPr>
          <p:cNvPr id="30" name="TextBox 29"/>
          <p:cNvSpPr txBox="1"/>
          <p:nvPr/>
        </p:nvSpPr>
        <p:spPr>
          <a:xfrm>
            <a:off x="868680"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hierarchies, limits</a:t>
            </a:r>
          </a:p>
        </p:txBody>
      </p:sp>
      <p:sp>
        <p:nvSpPr>
          <p:cNvPr id="31" name="TextBox 30"/>
          <p:cNvSpPr txBox="1"/>
          <p:nvPr/>
        </p:nvSpPr>
        <p:spPr>
          <a:xfrm>
            <a:off x="868680"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daily P&amp;L from product control</a:t>
            </a:r>
          </a:p>
        </p:txBody>
      </p:sp>
      <p:sp>
        <p:nvSpPr>
          <p:cNvPr id="32" name="Rounded Rectangle 31"/>
          <p:cNvSpPr/>
          <p:nvPr/>
        </p:nvSpPr>
        <p:spPr>
          <a:xfrm>
            <a:off x="1014983"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33" name="Connector 32"/>
          <p:cNvCxnSpPr/>
          <p:nvPr/>
        </p:nvCxnSpPr>
        <p:spPr>
          <a:xfrm>
            <a:off x="2712110"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2958998"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2958998" y="1417320"/>
            <a:ext cx="1907438" cy="457200"/>
          </a:xfrm>
          <a:prstGeom prst="rect">
            <a:avLst/>
          </a:prstGeom>
          <a:noFill/>
        </p:spPr>
        <p:txBody>
          <a:bodyPr wrap="square" lIns="0" rIns="0" tIns="0" bIns="0" anchor="ctr">
            <a:spAutoFit/>
          </a:bodyPr>
          <a:lstStyle/>
          <a:p>
            <a:pPr algn="ctr"/>
            <a:r>
              <a:rPr sz="1300" b="1" i="0">
                <a:solidFill>
                  <a:srgbClr val="FFFFFF"/>
                </a:solidFill>
              </a:rPr>
              <a:t>Official run</a:t>
            </a:r>
          </a:p>
        </p:txBody>
      </p:sp>
      <p:sp>
        <p:nvSpPr>
          <p:cNvPr id="36" name="Rectangle 35"/>
          <p:cNvSpPr/>
          <p:nvPr/>
        </p:nvSpPr>
        <p:spPr>
          <a:xfrm>
            <a:off x="2958998"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050438"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end of day, every node</a:t>
            </a:r>
          </a:p>
        </p:txBody>
      </p:sp>
      <p:sp>
        <p:nvSpPr>
          <p:cNvPr id="38" name="TextBox 37"/>
          <p:cNvSpPr txBox="1"/>
          <p:nvPr/>
        </p:nvSpPr>
        <p:spPr>
          <a:xfrm>
            <a:off x="3050438"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inputs' versions and batch ids</a:t>
            </a:r>
          </a:p>
        </p:txBody>
      </p:sp>
      <p:sp>
        <p:nvSpPr>
          <p:cNvPr id="39" name="TextBox 38"/>
          <p:cNvSpPr txBox="1"/>
          <p:nvPr/>
        </p:nvSpPr>
        <p:spPr>
          <a:xfrm>
            <a:off x="3050438"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a restatement is a new version</a:t>
            </a:r>
          </a:p>
        </p:txBody>
      </p:sp>
      <p:cxnSp>
        <p:nvCxnSpPr>
          <p:cNvPr id="40" name="Connector 39"/>
          <p:cNvCxnSpPr/>
          <p:nvPr/>
        </p:nvCxnSpPr>
        <p:spPr>
          <a:xfrm>
            <a:off x="4893868"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140756"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140756" y="1417320"/>
            <a:ext cx="1907438" cy="457200"/>
          </a:xfrm>
          <a:prstGeom prst="rect">
            <a:avLst/>
          </a:prstGeom>
          <a:noFill/>
        </p:spPr>
        <p:txBody>
          <a:bodyPr wrap="square" lIns="0" rIns="0" tIns="0" bIns="0" anchor="ctr">
            <a:spAutoFit/>
          </a:bodyPr>
          <a:lstStyle/>
          <a:p>
            <a:pPr algn="ctr"/>
            <a:r>
              <a:rPr sz="1300" b="1" i="0">
                <a:solidFill>
                  <a:srgbClr val="FFFFFF"/>
                </a:solidFill>
              </a:rPr>
              <a:t>Computed measures</a:t>
            </a:r>
          </a:p>
        </p:txBody>
      </p:sp>
      <p:sp>
        <p:nvSpPr>
          <p:cNvPr id="43" name="Rectangle 42"/>
          <p:cNvSpPr/>
          <p:nvPr/>
        </p:nvSpPr>
        <p:spPr>
          <a:xfrm>
            <a:off x="5140756"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5232196"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VaR, ES, backtest, diversification</a:t>
            </a:r>
          </a:p>
        </p:txBody>
      </p:sp>
      <p:sp>
        <p:nvSpPr>
          <p:cNvPr id="45" name="TextBox 44"/>
          <p:cNvSpPr txBox="1"/>
          <p:nvPr/>
        </p:nvSpPr>
        <p:spPr>
          <a:xfrm>
            <a:off x="5232196"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10-day and stressed VaR</a:t>
            </a:r>
          </a:p>
        </p:txBody>
      </p:sp>
      <p:sp>
        <p:nvSpPr>
          <p:cNvPr id="46" name="Rounded Rectangle 45"/>
          <p:cNvSpPr/>
          <p:nvPr/>
        </p:nvSpPr>
        <p:spPr>
          <a:xfrm>
            <a:off x="5378500" y="301752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7" name="TextBox 46"/>
          <p:cNvSpPr txBox="1"/>
          <p:nvPr/>
        </p:nvSpPr>
        <p:spPr>
          <a:xfrm>
            <a:off x="5232196"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period statistics, averages</a:t>
            </a:r>
          </a:p>
        </p:txBody>
      </p:sp>
      <p:sp>
        <p:nvSpPr>
          <p:cNvPr id="48" name="Rounded Rectangle 47"/>
          <p:cNvSpPr/>
          <p:nvPr/>
        </p:nvSpPr>
        <p:spPr>
          <a:xfrm>
            <a:off x="5378500"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49" name="Connector 48"/>
          <p:cNvCxnSpPr/>
          <p:nvPr/>
        </p:nvCxnSpPr>
        <p:spPr>
          <a:xfrm>
            <a:off x="7075627"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322515"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7322515" y="1417320"/>
            <a:ext cx="1907438" cy="457200"/>
          </a:xfrm>
          <a:prstGeom prst="rect">
            <a:avLst/>
          </a:prstGeom>
          <a:noFill/>
        </p:spPr>
        <p:txBody>
          <a:bodyPr wrap="square" lIns="0" rIns="0" tIns="0" bIns="0" anchor="ctr">
            <a:spAutoFit/>
          </a:bodyPr>
          <a:lstStyle/>
          <a:p>
            <a:pPr algn="ctr"/>
            <a:r>
              <a:rPr sz="1300" b="1" i="0">
                <a:solidFill>
                  <a:srgbClr val="FFFFFF"/>
                </a:solidFill>
              </a:rPr>
              <a:t>Report layer</a:t>
            </a:r>
          </a:p>
        </p:txBody>
      </p:sp>
      <p:sp>
        <p:nvSpPr>
          <p:cNvPr id="52" name="Rectangle 51"/>
          <p:cNvSpPr/>
          <p:nvPr/>
        </p:nvSpPr>
        <p:spPr>
          <a:xfrm>
            <a:off x="7322515"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7413955"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BI reports and paginated reports</a:t>
            </a:r>
          </a:p>
        </p:txBody>
      </p:sp>
      <p:sp>
        <p:nvSpPr>
          <p:cNvPr id="54" name="TextBox 53"/>
          <p:cNvSpPr txBox="1"/>
          <p:nvPr/>
        </p:nvSpPr>
        <p:spPr>
          <a:xfrm>
            <a:off x="7413955"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extracts: Excel, CSV, PDF</a:t>
            </a:r>
          </a:p>
        </p:txBody>
      </p:sp>
      <p:sp>
        <p:nvSpPr>
          <p:cNvPr id="55" name="TextBox 54"/>
          <p:cNvSpPr txBox="1"/>
          <p:nvPr/>
        </p:nvSpPr>
        <p:spPr>
          <a:xfrm>
            <a:off x="7413955"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published official table</a:t>
            </a:r>
          </a:p>
        </p:txBody>
      </p:sp>
      <p:cxnSp>
        <p:nvCxnSpPr>
          <p:cNvPr id="56" name="Connector 55"/>
          <p:cNvCxnSpPr/>
          <p:nvPr/>
        </p:nvCxnSpPr>
        <p:spPr>
          <a:xfrm>
            <a:off x="9257385"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9504273" y="1417320"/>
            <a:ext cx="1907438" cy="457200"/>
          </a:xfrm>
          <a:prstGeom prst="rect">
            <a:avLst/>
          </a:prstGeom>
          <a:solidFill>
            <a:srgbClr val="4A50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9504273" y="1417320"/>
            <a:ext cx="1907438" cy="457200"/>
          </a:xfrm>
          <a:prstGeom prst="rect">
            <a:avLst/>
          </a:prstGeom>
          <a:noFill/>
        </p:spPr>
        <p:txBody>
          <a:bodyPr wrap="square" lIns="0" rIns="0" tIns="0" bIns="0" anchor="ctr">
            <a:spAutoFit/>
          </a:bodyPr>
          <a:lstStyle/>
          <a:p>
            <a:pPr algn="ctr"/>
            <a:r>
              <a:rPr sz="1300" b="1" i="0">
                <a:solidFill>
                  <a:srgbClr val="FFFFFF"/>
                </a:solidFill>
              </a:rPr>
              <a:t>Filing</a:t>
            </a:r>
          </a:p>
        </p:txBody>
      </p:sp>
      <p:sp>
        <p:nvSpPr>
          <p:cNvPr id="59" name="Rectangle 58"/>
          <p:cNvSpPr/>
          <p:nvPr/>
        </p:nvSpPr>
        <p:spPr>
          <a:xfrm>
            <a:off x="9504273"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9595713"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own filing channels</a:t>
            </a:r>
          </a:p>
        </p:txBody>
      </p:sp>
      <p:sp>
        <p:nvSpPr>
          <p:cNvPr id="61" name="TextBox 60"/>
          <p:cNvSpPr txBox="1"/>
          <p:nvPr/>
        </p:nvSpPr>
        <p:spPr>
          <a:xfrm>
            <a:off x="9595713"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review and approval</a:t>
            </a:r>
          </a:p>
        </p:txBody>
      </p:sp>
      <p:sp>
        <p:nvSpPr>
          <p:cNvPr id="62" name="TextBox 61"/>
          <p:cNvSpPr txBox="1"/>
          <p:nvPr/>
        </p:nvSpPr>
        <p:spPr>
          <a:xfrm>
            <a:off x="9595713"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Drishti does not file</a:t>
            </a:r>
          </a:p>
        </p:txBody>
      </p:sp>
      <p:sp>
        <p:nvSpPr>
          <p:cNvPr id="63" name="Rectangle 62"/>
          <p:cNvSpPr/>
          <p:nvPr/>
        </p:nvSpPr>
        <p:spPr>
          <a:xfrm>
            <a:off x="777240" y="4133087"/>
            <a:ext cx="5955304" cy="169164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Rectangle 63"/>
          <p:cNvSpPr/>
          <p:nvPr/>
        </p:nvSpPr>
        <p:spPr>
          <a:xfrm>
            <a:off x="777240"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960120" y="4224527"/>
            <a:ext cx="5680984" cy="1554480"/>
          </a:xfrm>
          <a:prstGeom prst="rect">
            <a:avLst/>
          </a:prstGeom>
          <a:noFill/>
        </p:spPr>
        <p:txBody>
          <a:bodyPr wrap="square" lIns="0" rIns="0" tIns="0" bIns="0" anchor="t">
            <a:spAutoFit/>
          </a:bodyPr>
          <a:lstStyle/>
          <a:p>
            <a:pPr algn="l">
              <a:spcAft>
                <a:spcPts val="400"/>
              </a:spcAft>
            </a:pPr>
            <a:r>
              <a:rPr sz="1300" b="1" i="0">
                <a:solidFill>
                  <a:srgbClr val="8A1626"/>
                </a:solidFill>
              </a:rPr>
              <a:t>Example: a quarter's US VaR figures</a:t>
            </a:r>
          </a:p>
          <a:p>
            <a:pPr algn="l" marL="146304" indent="-146304">
              <a:spcAft>
                <a:spcPts val="400"/>
              </a:spcAft>
              <a:buClr>
                <a:srgbClr val="A51C30"/>
              </a:buClr>
              <a:buSzPct val="100000"/>
              <a:buFont typeface="Arial"/>
              <a:buChar char="▪"/>
            </a:pPr>
            <a:r>
              <a:rPr sz="1150" b="0" i="0">
                <a:solidFill>
                  <a:srgbClr val="1A1A1A"/>
                </a:solidFill>
              </a:rPr>
              <a:t>the official records of the quarter's business days, each node's VaR at its own result version</a:t>
            </a:r>
          </a:p>
          <a:p>
            <a:pPr algn="l" marL="146304" indent="-146304">
              <a:spcAft>
                <a:spcPts val="400"/>
              </a:spcAft>
              <a:buClr>
                <a:srgbClr val="A51C30"/>
              </a:buClr>
              <a:buSzPct val="100000"/>
              <a:buFont typeface="Arial"/>
              <a:buChar char="▪"/>
            </a:pPr>
            <a:r>
              <a:rPr sz="1150" b="0" i="0">
                <a:solidFill>
                  <a:srgbClr val="1A1A1A"/>
                </a:solidFill>
              </a:rPr>
              <a:t>10-day VaR: the latest and the 60-day average × the multiplier from 250 days of exceptions</a:t>
            </a:r>
          </a:p>
          <a:p>
            <a:pPr algn="l" marL="146304" indent="-146304">
              <a:spcAft>
                <a:spcPts val="400"/>
              </a:spcAft>
              <a:buClr>
                <a:srgbClr val="A51C30"/>
              </a:buClr>
              <a:buSzPct val="100000"/>
              <a:buFont typeface="Arial"/>
              <a:buChar char="▪"/>
            </a:pPr>
            <a:r>
              <a:rPr sz="1150" b="0" i="0">
                <a:solidFill>
                  <a:srgbClr val="1A1A1A"/>
                </a:solidFill>
              </a:rPr>
              <a:t>stressed VaR: the latest and the 12-week average; high, low, mean and period end by risk type</a:t>
            </a:r>
          </a:p>
          <a:p>
            <a:pPr algn="l" marL="146304" indent="-146304">
              <a:spcAft>
                <a:spcPts val="400"/>
              </a:spcAft>
              <a:buClr>
                <a:srgbClr val="A51C30"/>
              </a:buClr>
              <a:buSzPct val="100000"/>
              <a:buFont typeface="Arial"/>
              <a:buChar char="▪"/>
            </a:pPr>
            <a:r>
              <a:rPr sz="1150" b="0" i="0">
                <a:solidFill>
                  <a:srgbClr val="1A1A1A"/>
                </a:solidFill>
              </a:rPr>
              <a:t>laid out as the report's table; exported for the bank's filing</a:t>
            </a:r>
          </a:p>
        </p:txBody>
      </p:sp>
      <p:sp>
        <p:nvSpPr>
          <p:cNvPr id="66" name="Rectangle 65"/>
          <p:cNvSpPr/>
          <p:nvPr/>
        </p:nvSpPr>
        <p:spPr>
          <a:xfrm>
            <a:off x="6961144" y="4133087"/>
            <a:ext cx="4450567" cy="1691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Rectangle 66"/>
          <p:cNvSpPr/>
          <p:nvPr/>
        </p:nvSpPr>
        <p:spPr>
          <a:xfrm>
            <a:off x="6961144"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7144024" y="4224527"/>
            <a:ext cx="4176247" cy="1554480"/>
          </a:xfrm>
          <a:prstGeom prst="rect">
            <a:avLst/>
          </a:prstGeom>
          <a:noFill/>
        </p:spPr>
        <p:txBody>
          <a:bodyPr wrap="square" lIns="0" rIns="0" tIns="0" bIns="0" anchor="t">
            <a:spAutoFit/>
          </a:bodyPr>
          <a:lstStyle/>
          <a:p>
            <a:pPr algn="l">
              <a:spcAft>
                <a:spcPts val="400"/>
              </a:spcAft>
            </a:pPr>
            <a:r>
              <a:rPr sz="1300" b="1" i="0">
                <a:solidFill>
                  <a:srgbClr val="8A1626"/>
                </a:solidFill>
              </a:rPr>
              <a:t>Reproducible as of a date</a:t>
            </a:r>
          </a:p>
          <a:p>
            <a:pPr algn="l" marL="146304" indent="-146304">
              <a:spcAft>
                <a:spcPts val="400"/>
              </a:spcAft>
              <a:buClr>
                <a:srgbClr val="A51C30"/>
              </a:buClr>
              <a:buSzPct val="100000"/>
              <a:buFont typeface="Arial"/>
              <a:buChar char="▪"/>
            </a:pPr>
            <a:r>
              <a:rPr sz="1150" b="0" i="0">
                <a:solidFill>
                  <a:srgbClr val="1A1A1A"/>
                </a:solidFill>
              </a:rPr>
              <a:t>each record names its inputs' versions, batch ids and position rules</a:t>
            </a:r>
          </a:p>
          <a:p>
            <a:pPr algn="l" marL="146304" indent="-146304">
              <a:spcAft>
                <a:spcPts val="400"/>
              </a:spcAft>
              <a:buClr>
                <a:srgbClr val="A51C30"/>
              </a:buClr>
              <a:buSzPct val="100000"/>
              <a:buFont typeface="Arial"/>
              <a:buChar char="▪"/>
            </a:pPr>
            <a:r>
              <a:rPr sz="1150" b="0" i="0">
                <a:solidFill>
                  <a:srgbClr val="1A1A1A"/>
                </a:solidFill>
              </a:rPr>
              <a:t>the members of every node kept with the record</a:t>
            </a:r>
          </a:p>
          <a:p>
            <a:pPr algn="l" marL="146304" indent="-146304">
              <a:spcAft>
                <a:spcPts val="400"/>
              </a:spcAft>
              <a:buClr>
                <a:srgbClr val="A51C30"/>
              </a:buClr>
              <a:buSzPct val="100000"/>
              <a:buFont typeface="Arial"/>
              <a:buChar char="▪"/>
            </a:pPr>
            <a:r>
              <a:rPr sz="1150" b="0" i="0">
                <a:solidFill>
                  <a:srgbClr val="1A1A1A"/>
                </a:solidFill>
              </a:rPr>
              <a:t>append-only, 7 years, Delta or Iceberg</a:t>
            </a:r>
          </a:p>
          <a:p>
            <a:pPr algn="l" marL="146304" indent="-146304">
              <a:spcAft>
                <a:spcPts val="400"/>
              </a:spcAft>
              <a:buClr>
                <a:srgbClr val="A51C30"/>
              </a:buClr>
              <a:buSzPct val="100000"/>
              <a:buFont typeface="Arial"/>
              <a:buChar char="▪"/>
            </a:pPr>
            <a:r>
              <a:rPr sz="1150" b="0" i="0">
                <a:solidFill>
                  <a:srgbClr val="1A1A1A"/>
                </a:solidFill>
              </a:rPr>
              <a:t>recomputed from the same vectors and engine: the same number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Roadmap and rollout</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a:t>
            </a:r>
          </a:p>
        </p:txBody>
      </p:sp>
      <p:sp>
        <p:nvSpPr>
          <p:cNvPr id="3" name="Title 2"/>
          <p:cNvSpPr>
            <a:spLocks noGrp="1"/>
          </p:cNvSpPr>
          <p:nvPr>
            <p:ph type="title" idx="104"/>
          </p:nvPr>
        </p:nvSpPr>
        <p:spPr/>
        <p:txBody>
          <a:bodyPr/>
          <a:lstStyle/>
          <a:p>
            <a:r>
              <a:t>What is built,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180076" cy="2743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371600"/>
            <a:ext cx="4997196" cy="274320"/>
          </a:xfrm>
          <a:prstGeom prst="rect">
            <a:avLst/>
          </a:prstGeom>
          <a:noFill/>
        </p:spPr>
        <p:txBody>
          <a:bodyPr wrap="square" lIns="0" rIns="0" tIns="0" bIns="0" anchor="ctr">
            <a:spAutoFit/>
          </a:bodyPr>
          <a:lstStyle/>
          <a:p>
            <a:pPr algn="l"/>
            <a:r>
              <a:rPr sz="1200" b="1" i="0">
                <a:solidFill>
                  <a:srgbClr val="FFFFFF"/>
                </a:solidFill>
              </a:rPr>
              <a:t>Built  ·  unlabelled</a:t>
            </a:r>
          </a:p>
        </p:txBody>
      </p:sp>
      <p:sp>
        <p:nvSpPr>
          <p:cNvPr id="28" name="Rectangle 27"/>
          <p:cNvSpPr/>
          <p:nvPr/>
        </p:nvSpPr>
        <p:spPr>
          <a:xfrm>
            <a:off x="777240" y="1700784"/>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700784"/>
            <a:ext cx="4951476" cy="365760"/>
          </a:xfrm>
          <a:prstGeom prst="rect">
            <a:avLst/>
          </a:prstGeom>
          <a:noFill/>
        </p:spPr>
        <p:txBody>
          <a:bodyPr wrap="square" lIns="0" rIns="0" tIns="0" bIns="0" anchor="ctr">
            <a:spAutoFit/>
          </a:bodyPr>
          <a:lstStyle/>
          <a:p>
            <a:pPr algn="l"/>
            <a:r>
              <a:rPr sz="1200" b="1" i="0">
                <a:solidFill>
                  <a:srgbClr val="8A1626"/>
                </a:solidFill>
              </a:rPr>
              <a:t>Any input: PVs or P&amp;L, trade or position </a:t>
            </a:r>
          </a:p>
          <a:p>
            <a:pPr algn="l"/>
            <a:r>
              <a:rPr sz="1100" b="0" i="0">
                <a:solidFill>
                  <a:srgbClr val="4A5058"/>
                </a:solidFill>
              </a:rPr>
              <a:t>files and Kafka; mixed per system</a:t>
            </a:r>
          </a:p>
        </p:txBody>
      </p:sp>
      <p:sp>
        <p:nvSpPr>
          <p:cNvPr id="30" name="Rectangle 29"/>
          <p:cNvSpPr/>
          <p:nvPr/>
        </p:nvSpPr>
        <p:spPr>
          <a:xfrm>
            <a:off x="777240" y="2093976"/>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2093976"/>
            <a:ext cx="4951476" cy="365760"/>
          </a:xfrm>
          <a:prstGeom prst="rect">
            <a:avLst/>
          </a:prstGeom>
          <a:noFill/>
        </p:spPr>
        <p:txBody>
          <a:bodyPr wrap="square" lIns="0" rIns="0" tIns="0" bIns="0" anchor="ctr">
            <a:spAutoFit/>
          </a:bodyPr>
          <a:lstStyle/>
          <a:p>
            <a:pPr algn="l"/>
            <a:r>
              <a:rPr sz="1200" b="1" i="0">
                <a:solidFill>
                  <a:srgbClr val="8A1626"/>
                </a:solidFill>
              </a:rPr>
              <a:t>Intraday: files and Kafka micro-batches </a:t>
            </a:r>
          </a:p>
          <a:p>
            <a:pPr algn="l"/>
            <a:r>
              <a:rPr sz="1100" b="0" i="0">
                <a:solidFill>
                  <a:srgbClr val="4A5058"/>
                </a:solidFill>
              </a:rPr>
              <a:t>new − old; equal to one run to the cent</a:t>
            </a:r>
          </a:p>
        </p:txBody>
      </p:sp>
      <p:sp>
        <p:nvSpPr>
          <p:cNvPr id="32" name="Rectangle 31"/>
          <p:cNvSpPr/>
          <p:nvPr/>
        </p:nvSpPr>
        <p:spPr>
          <a:xfrm>
            <a:off x="777240" y="2487168"/>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86968" y="2487168"/>
            <a:ext cx="4951476" cy="365760"/>
          </a:xfrm>
          <a:prstGeom prst="rect">
            <a:avLst/>
          </a:prstGeom>
          <a:noFill/>
        </p:spPr>
        <p:txBody>
          <a:bodyPr wrap="square" lIns="0" rIns="0" tIns="0" bIns="0" anchor="ctr">
            <a:spAutoFit/>
          </a:bodyPr>
          <a:lstStyle/>
          <a:p>
            <a:pPr algn="l"/>
            <a:r>
              <a:rPr sz="1200" b="1" i="0">
                <a:solidFill>
                  <a:srgbClr val="8A1626"/>
                </a:solidFill>
              </a:rPr>
              <a:t>Any reporting currency; five built ahead </a:t>
            </a:r>
          </a:p>
          <a:p>
            <a:pPr algn="l"/>
            <a:r>
              <a:rPr sz="1100" b="0" i="0">
                <a:solidFill>
                  <a:srgbClr val="4A5058"/>
                </a:solidFill>
              </a:rPr>
              <a:t>scenario FX; exact per-currency totals</a:t>
            </a:r>
          </a:p>
        </p:txBody>
      </p:sp>
      <p:sp>
        <p:nvSpPr>
          <p:cNvPr id="34" name="Rectangle 33"/>
          <p:cNvSpPr/>
          <p:nvPr/>
        </p:nvSpPr>
        <p:spPr>
          <a:xfrm>
            <a:off x="777240" y="2880360"/>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2880360"/>
            <a:ext cx="4951476" cy="365760"/>
          </a:xfrm>
          <a:prstGeom prst="rect">
            <a:avLst/>
          </a:prstGeom>
          <a:noFill/>
        </p:spPr>
        <p:txBody>
          <a:bodyPr wrap="square" lIns="0" rIns="0" tIns="0" bIns="0" anchor="ctr">
            <a:spAutoFit/>
          </a:bodyPr>
          <a:lstStyle/>
          <a:p>
            <a:pPr algn="l"/>
            <a:r>
              <a:rPr sz="1200" b="1" i="0">
                <a:solidFill>
                  <a:srgbClr val="8A1626"/>
                </a:solidFill>
              </a:rPr>
              <a:t>Official records, append-only, 7 years </a:t>
            </a:r>
          </a:p>
          <a:p>
            <a:pPr algn="l"/>
            <a:r>
              <a:rPr sz="1100" b="0" i="0">
                <a:solidFill>
                  <a:srgbClr val="4A5058"/>
                </a:solidFill>
              </a:rPr>
              <a:t>every hierarchy; Delta or Iceberg, folder or S3</a:t>
            </a:r>
          </a:p>
        </p:txBody>
      </p:sp>
      <p:sp>
        <p:nvSpPr>
          <p:cNvPr id="36" name="Rectangle 35"/>
          <p:cNvSpPr/>
          <p:nvPr/>
        </p:nvSpPr>
        <p:spPr>
          <a:xfrm>
            <a:off x="777240" y="3273552"/>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3273552"/>
            <a:ext cx="4951476" cy="365760"/>
          </a:xfrm>
          <a:prstGeom prst="rect">
            <a:avLst/>
          </a:prstGeom>
          <a:noFill/>
        </p:spPr>
        <p:txBody>
          <a:bodyPr wrap="square" lIns="0" rIns="0" tIns="0" bIns="0" anchor="ctr">
            <a:spAutoFit/>
          </a:bodyPr>
          <a:lstStyle/>
          <a:p>
            <a:pPr algn="l"/>
            <a:r>
              <a:rPr sz="1200" b="1" i="0">
                <a:solidFill>
                  <a:srgbClr val="8A1626"/>
                </a:solidFill>
              </a:rPr>
              <a:t>Iceberg, a full alternative to Delta </a:t>
            </a:r>
          </a:p>
          <a:p>
            <a:pPr algn="l"/>
            <a:r>
              <a:rPr sz="1100" b="0" i="0">
                <a:solidFill>
                  <a:srgbClr val="4A5058"/>
                </a:solidFill>
              </a:rPr>
              <a:t>VaR, intraday and exposure equal to the cent</a:t>
            </a:r>
          </a:p>
        </p:txBody>
      </p:sp>
      <p:sp>
        <p:nvSpPr>
          <p:cNvPr id="38" name="Rectangle 37"/>
          <p:cNvSpPr/>
          <p:nvPr/>
        </p:nvSpPr>
        <p:spPr>
          <a:xfrm>
            <a:off x="777240" y="3666744"/>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3666744"/>
            <a:ext cx="4951476" cy="365760"/>
          </a:xfrm>
          <a:prstGeom prst="rect">
            <a:avLst/>
          </a:prstGeom>
          <a:noFill/>
        </p:spPr>
        <p:txBody>
          <a:bodyPr wrap="square" lIns="0" rIns="0" tIns="0" bIns="0" anchor="ctr">
            <a:spAutoFit/>
          </a:bodyPr>
          <a:lstStyle/>
          <a:p>
            <a:pPr algn="l"/>
            <a:r>
              <a:rPr sz="1200" b="1" i="0">
                <a:solidFill>
                  <a:srgbClr val="8A1626"/>
                </a:solidFill>
              </a:rPr>
              <a:t>Hierarchies configured by columns </a:t>
            </a:r>
          </a:p>
          <a:p>
            <a:pPr algn="l"/>
            <a:r>
              <a:rPr sz="1100" b="0" i="0">
                <a:solidFill>
                  <a:srgbClr val="4A5058"/>
                </a:solidFill>
              </a:rPr>
              <a:t>limit letters, var-limit, the picker</a:t>
            </a:r>
          </a:p>
        </p:txBody>
      </p:sp>
      <p:sp>
        <p:nvSpPr>
          <p:cNvPr id="40" name="Rectangle 39"/>
          <p:cNvSpPr/>
          <p:nvPr/>
        </p:nvSpPr>
        <p:spPr>
          <a:xfrm>
            <a:off x="777240" y="4059936"/>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86968" y="4059936"/>
            <a:ext cx="4951476" cy="365760"/>
          </a:xfrm>
          <a:prstGeom prst="rect">
            <a:avLst/>
          </a:prstGeom>
          <a:noFill/>
        </p:spPr>
        <p:txBody>
          <a:bodyPr wrap="square" lIns="0" rIns="0" tIns="0" bIns="0" anchor="ctr">
            <a:spAutoFit/>
          </a:bodyPr>
          <a:lstStyle/>
          <a:p>
            <a:pPr algn="l"/>
            <a:r>
              <a:rPr sz="1200" b="1" i="0">
                <a:solidFill>
                  <a:srgbClr val="8A1626"/>
                </a:solidFill>
              </a:rPr>
              <a:t>VaR sharded across a cluster; the Java loader </a:t>
            </a:r>
          </a:p>
          <a:p>
            <a:pPr algn="l"/>
            <a:r>
              <a:rPr sz="1100" b="0" i="0">
                <a:solidFill>
                  <a:srgbClr val="4A5058"/>
                </a:solidFill>
              </a:rPr>
              <a:t>two replicas a shard; JSONL to Delta or Iceberg, shard-aligned</a:t>
            </a:r>
          </a:p>
        </p:txBody>
      </p:sp>
      <p:sp>
        <p:nvSpPr>
          <p:cNvPr id="42" name="Rectangle 41"/>
          <p:cNvSpPr/>
          <p:nvPr/>
        </p:nvSpPr>
        <p:spPr>
          <a:xfrm>
            <a:off x="777240" y="4453128"/>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86968" y="4453128"/>
            <a:ext cx="4951476" cy="365760"/>
          </a:xfrm>
          <a:prstGeom prst="rect">
            <a:avLst/>
          </a:prstGeom>
          <a:noFill/>
        </p:spPr>
        <p:txBody>
          <a:bodyPr wrap="square" lIns="0" rIns="0" tIns="0" bIns="0" anchor="ctr">
            <a:spAutoFit/>
          </a:bodyPr>
          <a:lstStyle/>
          <a:p>
            <a:pPr algn="l"/>
            <a:r>
              <a:rPr sz="1200" b="1" i="0">
                <a:solidFill>
                  <a:srgbClr val="8A1626"/>
                </a:solidFill>
              </a:rPr>
              <a:t>Editions: Drishti Risk, Market and World </a:t>
            </a:r>
          </a:p>
          <a:p>
            <a:pPr algn="l"/>
            <a:r>
              <a:rPr sz="1100" b="0" i="0">
                <a:solidFill>
                  <a:srgbClr val="4A5058"/>
                </a:solidFill>
              </a:rPr>
              <a:t>one file each; lenses on a full instance</a:t>
            </a:r>
          </a:p>
        </p:txBody>
      </p:sp>
      <p:sp>
        <p:nvSpPr>
          <p:cNvPr id="44" name="Rectangle 43"/>
          <p:cNvSpPr/>
          <p:nvPr/>
        </p:nvSpPr>
        <p:spPr>
          <a:xfrm>
            <a:off x="777240" y="4846320"/>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86968" y="4846320"/>
            <a:ext cx="4951476" cy="365760"/>
          </a:xfrm>
          <a:prstGeom prst="rect">
            <a:avLst/>
          </a:prstGeom>
          <a:noFill/>
        </p:spPr>
        <p:txBody>
          <a:bodyPr wrap="square" lIns="0" rIns="0" tIns="0" bIns="0" anchor="ctr">
            <a:spAutoFit/>
          </a:bodyPr>
          <a:lstStyle/>
          <a:p>
            <a:pPr algn="l"/>
            <a:r>
              <a:rPr sz="1200" b="1" i="0">
                <a:solidFill>
                  <a:srgbClr val="8A1626"/>
                </a:solidFill>
              </a:rPr>
              <a:t>Computed attributes </a:t>
            </a:r>
          </a:p>
          <a:p>
            <a:pPr algn="l"/>
            <a:r>
              <a:rPr sz="1100" b="0" i="0">
                <a:solidFill>
                  <a:srgbClr val="4A5058"/>
                </a:solidFill>
              </a:rPr>
              <a:t>derived MtM and checks, never stored</a:t>
            </a:r>
          </a:p>
        </p:txBody>
      </p:sp>
      <p:sp>
        <p:nvSpPr>
          <p:cNvPr id="46" name="Rectangle 45"/>
          <p:cNvSpPr/>
          <p:nvPr/>
        </p:nvSpPr>
        <p:spPr>
          <a:xfrm>
            <a:off x="777240" y="5239512"/>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86968" y="5239512"/>
            <a:ext cx="4951476" cy="365760"/>
          </a:xfrm>
          <a:prstGeom prst="rect">
            <a:avLst/>
          </a:prstGeom>
          <a:noFill/>
        </p:spPr>
        <p:txBody>
          <a:bodyPr wrap="square" lIns="0" rIns="0" tIns="0" bIns="0" anchor="ctr">
            <a:spAutoFit/>
          </a:bodyPr>
          <a:lstStyle/>
          <a:p>
            <a:pPr algn="l"/>
            <a:r>
              <a:rPr sz="1200" b="1" i="0">
                <a:solidFill>
                  <a:srgbClr val="8A1626"/>
                </a:solidFill>
              </a:rPr>
              <a:t>Arrow for VaR contributions; JSON where measured faster </a:t>
            </a:r>
          </a:p>
          <a:p>
            <a:pPr algn="l"/>
            <a:r>
              <a:rPr sz="1100" b="0" i="0">
                <a:solidFill>
                  <a:srgbClr val="4A5058"/>
                </a:solidFill>
              </a:rPr>
              <a:t>contribution tables to the browser; BI grids and P&amp;L paths stay JSON</a:t>
            </a:r>
          </a:p>
        </p:txBody>
      </p:sp>
      <p:sp>
        <p:nvSpPr>
          <p:cNvPr id="48" name="Rectangle 47"/>
          <p:cNvSpPr/>
          <p:nvPr/>
        </p:nvSpPr>
        <p:spPr>
          <a:xfrm>
            <a:off x="6231636" y="1371600"/>
            <a:ext cx="5180076" cy="27432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41364" y="1371600"/>
            <a:ext cx="4997196" cy="274320"/>
          </a:xfrm>
          <a:prstGeom prst="rect">
            <a:avLst/>
          </a:prstGeom>
          <a:noFill/>
        </p:spPr>
        <p:txBody>
          <a:bodyPr wrap="square" lIns="0" rIns="0" tIns="0" bIns="0" anchor="ctr">
            <a:spAutoFit/>
          </a:bodyPr>
          <a:lstStyle/>
          <a:p>
            <a:pPr algn="l"/>
            <a:r>
              <a:rPr sz="1200" b="1" i="0">
                <a:solidFill>
                  <a:srgbClr val="FFFFFF"/>
                </a:solidFill>
              </a:rPr>
              <a:t>Not built yet</a:t>
            </a:r>
          </a:p>
        </p:txBody>
      </p:sp>
      <p:sp>
        <p:nvSpPr>
          <p:cNvPr id="50" name="Rectangle 49"/>
          <p:cNvSpPr/>
          <p:nvPr/>
        </p:nvSpPr>
        <p:spPr>
          <a:xfrm>
            <a:off x="6231636" y="1700784"/>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341364" y="1700784"/>
            <a:ext cx="4261104" cy="365760"/>
          </a:xfrm>
          <a:prstGeom prst="rect">
            <a:avLst/>
          </a:prstGeom>
          <a:noFill/>
        </p:spPr>
        <p:txBody>
          <a:bodyPr wrap="square" lIns="0" rIns="0" tIns="0" bIns="0" anchor="ctr">
            <a:spAutoFit/>
          </a:bodyPr>
          <a:lstStyle/>
          <a:p>
            <a:pPr algn="l"/>
            <a:r>
              <a:rPr sz="1200" b="1" i="0">
                <a:solidFill>
                  <a:srgbClr val="8A1626"/>
                </a:solidFill>
              </a:rPr>
              <a:t>10-day and stressed VaR </a:t>
            </a:r>
          </a:p>
          <a:p>
            <a:pPr algn="l"/>
            <a:r>
              <a:rPr sz="1100" b="0" i="0">
                <a:solidFill>
                  <a:srgbClr val="4A5058"/>
                </a:solidFill>
              </a:rPr>
              <a:t>sized in the capacity chapter; regulatory phase 1</a:t>
            </a:r>
          </a:p>
        </p:txBody>
      </p:sp>
      <p:sp>
        <p:nvSpPr>
          <p:cNvPr id="52" name="Rounded Rectangle 51"/>
          <p:cNvSpPr/>
          <p:nvPr/>
        </p:nvSpPr>
        <p:spPr>
          <a:xfrm>
            <a:off x="10703052" y="178308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3" name="Rectangle 52"/>
          <p:cNvSpPr/>
          <p:nvPr/>
        </p:nvSpPr>
        <p:spPr>
          <a:xfrm>
            <a:off x="6231636" y="2093976"/>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41364" y="2093976"/>
            <a:ext cx="4261104" cy="365760"/>
          </a:xfrm>
          <a:prstGeom prst="rect">
            <a:avLst/>
          </a:prstGeom>
          <a:noFill/>
        </p:spPr>
        <p:txBody>
          <a:bodyPr wrap="square" lIns="0" rIns="0" tIns="0" bIns="0" anchor="ctr">
            <a:spAutoFit/>
          </a:bodyPr>
          <a:lstStyle/>
          <a:p>
            <a:pPr algn="l"/>
            <a:r>
              <a:rPr sz="1200" b="1" i="0">
                <a:solidFill>
                  <a:srgbClr val="8A1626"/>
                </a:solidFill>
              </a:rPr>
              <a:t>ES backtests </a:t>
            </a:r>
          </a:p>
          <a:p>
            <a:pPr algn="l"/>
            <a:r>
              <a:rPr sz="1100" b="0" i="0">
                <a:solidFill>
                  <a:srgbClr val="4A5058"/>
                </a:solidFill>
              </a:rPr>
              <a:t>VaR backtests are built</a:t>
            </a:r>
          </a:p>
        </p:txBody>
      </p:sp>
      <p:sp>
        <p:nvSpPr>
          <p:cNvPr id="55" name="Rounded Rectangle 54"/>
          <p:cNvSpPr/>
          <p:nvPr/>
        </p:nvSpPr>
        <p:spPr>
          <a:xfrm>
            <a:off x="10703052" y="21762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6" name="Rectangle 55"/>
          <p:cNvSpPr/>
          <p:nvPr/>
        </p:nvSpPr>
        <p:spPr>
          <a:xfrm>
            <a:off x="6231636" y="2487168"/>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341364" y="2487168"/>
            <a:ext cx="4261104" cy="365760"/>
          </a:xfrm>
          <a:prstGeom prst="rect">
            <a:avLst/>
          </a:prstGeom>
          <a:noFill/>
        </p:spPr>
        <p:txBody>
          <a:bodyPr wrap="square" lIns="0" rIns="0" tIns="0" bIns="0" anchor="ctr">
            <a:spAutoFit/>
          </a:bodyPr>
          <a:lstStyle/>
          <a:p>
            <a:pPr algn="l"/>
            <a:r>
              <a:rPr sz="1200" b="1" i="0">
                <a:solidFill>
                  <a:srgbClr val="8A1626"/>
                </a:solidFill>
              </a:rPr>
              <a:t>The 200K benchmark, then 2.3M on a real server </a:t>
            </a:r>
          </a:p>
          <a:p>
            <a:pPr algn="l"/>
            <a:r>
              <a:rPr sz="1100" b="0" i="0">
                <a:solidFill>
                  <a:srgbClr val="4A5058"/>
                </a:solidFill>
              </a:rPr>
              <a:t>single server against a sharded cluster</a:t>
            </a:r>
          </a:p>
        </p:txBody>
      </p:sp>
      <p:sp>
        <p:nvSpPr>
          <p:cNvPr id="58" name="Rounded Rectangle 57"/>
          <p:cNvSpPr/>
          <p:nvPr/>
        </p:nvSpPr>
        <p:spPr>
          <a:xfrm>
            <a:off x="10703052" y="2569464"/>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9" name="Rectangle 58"/>
          <p:cNvSpPr/>
          <p:nvPr/>
        </p:nvSpPr>
        <p:spPr>
          <a:xfrm>
            <a:off x="6231636" y="2880360"/>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6341364" y="2880360"/>
            <a:ext cx="4261104" cy="365760"/>
          </a:xfrm>
          <a:prstGeom prst="rect">
            <a:avLst/>
          </a:prstGeom>
          <a:noFill/>
        </p:spPr>
        <p:txBody>
          <a:bodyPr wrap="square" lIns="0" rIns="0" tIns="0" bIns="0" anchor="ctr">
            <a:spAutoFit/>
          </a:bodyPr>
          <a:lstStyle/>
          <a:p>
            <a:pPr algn="l"/>
            <a:r>
              <a:rPr sz="1200" b="1" i="0">
                <a:solidFill>
                  <a:srgbClr val="8A1626"/>
                </a:solidFill>
              </a:rPr>
              <a:t>A client-side renderer </a:t>
            </a:r>
          </a:p>
          <a:p>
            <a:pPr algn="l"/>
            <a:r>
              <a:rPr sz="1100" b="0" i="0">
                <a:solidFill>
                  <a:srgbClr val="4A5058"/>
                </a:solidFill>
              </a:rPr>
              <a:t>other applications paint Drishti screens from its view JSON</a:t>
            </a:r>
          </a:p>
        </p:txBody>
      </p:sp>
      <p:sp>
        <p:nvSpPr>
          <p:cNvPr id="61" name="Rounded Rectangle 60"/>
          <p:cNvSpPr/>
          <p:nvPr/>
        </p:nvSpPr>
        <p:spPr>
          <a:xfrm>
            <a:off x="10703052" y="296265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2" name="Rectangle 61"/>
          <p:cNvSpPr/>
          <p:nvPr/>
        </p:nvSpPr>
        <p:spPr>
          <a:xfrm>
            <a:off x="6231636" y="3273552"/>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6341364" y="3273552"/>
            <a:ext cx="4261104" cy="365760"/>
          </a:xfrm>
          <a:prstGeom prst="rect">
            <a:avLst/>
          </a:prstGeom>
          <a:noFill/>
        </p:spPr>
        <p:txBody>
          <a:bodyPr wrap="square" lIns="0" rIns="0" tIns="0" bIns="0" anchor="ctr">
            <a:spAutoFit/>
          </a:bodyPr>
          <a:lstStyle/>
          <a:p>
            <a:pPr algn="l"/>
            <a:r>
              <a:rPr sz="1200" b="1" i="0">
                <a:solidFill>
                  <a:srgbClr val="8A1626"/>
                </a:solidFill>
              </a:rPr>
              <a:t>Delta ↔ Iceberg table conversion </a:t>
            </a:r>
          </a:p>
          <a:p>
            <a:pPr algn="l"/>
            <a:r>
              <a:rPr sz="1100" b="0" i="0">
                <a:solidFill>
                  <a:srgbClr val="4A5058"/>
                </a:solidFill>
              </a:rPr>
              <a:t>today a lake is built in either format</a:t>
            </a:r>
          </a:p>
        </p:txBody>
      </p:sp>
      <p:sp>
        <p:nvSpPr>
          <p:cNvPr id="64" name="Rounded Rectangle 63"/>
          <p:cNvSpPr/>
          <p:nvPr/>
        </p:nvSpPr>
        <p:spPr>
          <a:xfrm>
            <a:off x="10703052" y="335584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5" name="Rectangle 64"/>
          <p:cNvSpPr/>
          <p:nvPr/>
        </p:nvSpPr>
        <p:spPr>
          <a:xfrm>
            <a:off x="6231636" y="3666744"/>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6341364" y="3666744"/>
            <a:ext cx="4261104" cy="365760"/>
          </a:xfrm>
          <a:prstGeom prst="rect">
            <a:avLst/>
          </a:prstGeom>
          <a:noFill/>
        </p:spPr>
        <p:txBody>
          <a:bodyPr wrap="square" lIns="0" rIns="0" tIns="0" bIns="0" anchor="ctr">
            <a:spAutoFit/>
          </a:bodyPr>
          <a:lstStyle/>
          <a:p>
            <a:pPr algn="l"/>
            <a:r>
              <a:rPr sz="1200" b="1" i="0">
                <a:solidFill>
                  <a:srgbClr val="8A1626"/>
                </a:solidFill>
              </a:rPr>
              <a:t>Delta in-place schema evolution </a:t>
            </a:r>
          </a:p>
          <a:p>
            <a:pPr algn="l"/>
            <a:r>
              <a:rPr sz="1100" b="0" i="0">
                <a:solidFill>
                  <a:srgbClr val="4A5058"/>
                </a:solidFill>
              </a:rPr>
              <a:t>Iceberg evolves in place today</a:t>
            </a:r>
          </a:p>
        </p:txBody>
      </p:sp>
      <p:sp>
        <p:nvSpPr>
          <p:cNvPr id="67" name="Rounded Rectangle 66"/>
          <p:cNvSpPr/>
          <p:nvPr/>
        </p:nvSpPr>
        <p:spPr>
          <a:xfrm>
            <a:off x="10703052" y="374904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8" name="Rectangle 67"/>
          <p:cNvSpPr/>
          <p:nvPr/>
        </p:nvSpPr>
        <p:spPr>
          <a:xfrm>
            <a:off x="6231636" y="4059936"/>
            <a:ext cx="5180076" cy="365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6341364" y="4059936"/>
            <a:ext cx="4261104" cy="365760"/>
          </a:xfrm>
          <a:prstGeom prst="rect">
            <a:avLst/>
          </a:prstGeom>
          <a:noFill/>
        </p:spPr>
        <p:txBody>
          <a:bodyPr wrap="square" lIns="0" rIns="0" tIns="0" bIns="0" anchor="ctr">
            <a:spAutoFit/>
          </a:bodyPr>
          <a:lstStyle/>
          <a:p>
            <a:pPr algn="l"/>
            <a:r>
              <a:rPr sz="1200" b="1" i="0">
                <a:solidFill>
                  <a:srgbClr val="8A1626"/>
                </a:solidFill>
              </a:rPr>
              <a:t>Unity Catalog; plain tables </a:t>
            </a:r>
          </a:p>
          <a:p>
            <a:pPr algn="l"/>
            <a:r>
              <a:rPr sz="1100" b="0" i="0">
                <a:solidFill>
                  <a:srgbClr val="4A5058"/>
                </a:solidFill>
              </a:rPr>
              <a:t>Delta through Unity Catalog, opt-in per connector</a:t>
            </a:r>
          </a:p>
        </p:txBody>
      </p:sp>
      <p:sp>
        <p:nvSpPr>
          <p:cNvPr id="70" name="Rounded Rectangle 69"/>
          <p:cNvSpPr/>
          <p:nvPr/>
        </p:nvSpPr>
        <p:spPr>
          <a:xfrm>
            <a:off x="10703052" y="41422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71" name="Rectangle 70"/>
          <p:cNvSpPr/>
          <p:nvPr/>
        </p:nvSpPr>
        <p:spPr>
          <a:xfrm>
            <a:off x="6231636" y="4453128"/>
            <a:ext cx="5180076" cy="36576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6341364" y="4453128"/>
            <a:ext cx="4261104" cy="365760"/>
          </a:xfrm>
          <a:prstGeom prst="rect">
            <a:avLst/>
          </a:prstGeom>
          <a:noFill/>
        </p:spPr>
        <p:txBody>
          <a:bodyPr wrap="square" lIns="0" rIns="0" tIns="0" bIns="0" anchor="ctr">
            <a:spAutoFit/>
          </a:bodyPr>
          <a:lstStyle/>
          <a:p>
            <a:pPr algn="l"/>
            <a:r>
              <a:rPr sz="1200" b="1" i="0">
                <a:solidFill>
                  <a:srgbClr val="8A1626"/>
                </a:solidFill>
              </a:rPr>
              <a:t>Glue and S3 Tables on AWS </a:t>
            </a:r>
          </a:p>
          <a:p>
            <a:pPr algn="l"/>
            <a:r>
              <a:rPr sz="1100" b="0" i="0">
                <a:solidFill>
                  <a:srgbClr val="4A5058"/>
                </a:solidFill>
              </a:rPr>
              <a:t>code written; first live run on an account</a:t>
            </a:r>
          </a:p>
        </p:txBody>
      </p:sp>
      <p:sp>
        <p:nvSpPr>
          <p:cNvPr id="73" name="Rounded Rectangle 72"/>
          <p:cNvSpPr/>
          <p:nvPr/>
        </p:nvSpPr>
        <p:spPr>
          <a:xfrm>
            <a:off x="10703052" y="4535424"/>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74" name="Rectangle 73"/>
          <p:cNvSpPr/>
          <p:nvPr/>
        </p:nvSpPr>
        <p:spPr>
          <a:xfrm>
            <a:off x="777240" y="5687568"/>
            <a:ext cx="10634472" cy="576071"/>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Rounded Rectangle 74"/>
          <p:cNvSpPr/>
          <p:nvPr/>
        </p:nvSpPr>
        <p:spPr>
          <a:xfrm>
            <a:off x="886968" y="574243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76" name="TextBox 75"/>
          <p:cNvSpPr txBox="1"/>
          <p:nvPr/>
        </p:nvSpPr>
        <p:spPr>
          <a:xfrm>
            <a:off x="1664207" y="5696712"/>
            <a:ext cx="9637776" cy="292608"/>
          </a:xfrm>
          <a:prstGeom prst="rect">
            <a:avLst/>
          </a:prstGeom>
          <a:noFill/>
        </p:spPr>
        <p:txBody>
          <a:bodyPr wrap="square" lIns="0" rIns="0" tIns="0" bIns="0" anchor="ctr">
            <a:spAutoFit/>
          </a:bodyPr>
          <a:lstStyle/>
          <a:p>
            <a:pPr algn="l"/>
            <a:r>
              <a:rPr sz="1100" b="1" i="0">
                <a:solidFill>
                  <a:srgbClr val="8A1626"/>
                </a:solidFill>
              </a:rPr>
              <a:t>At scale: </a:t>
            </a:r>
            <a:r>
              <a:rPr sz="1100" b="0" i="0">
                <a:solidFill>
                  <a:srgbClr val="1A1A1A"/>
                </a:solidFill>
              </a:rPr>
              <a:t>lake clustering by book and portfolio (Z-order or liquid clustering); a published table of node and portfolio vectors, built in an overnight batch.</a:t>
            </a:r>
          </a:p>
        </p:txBody>
      </p:sp>
      <p:sp>
        <p:nvSpPr>
          <p:cNvPr id="77" name="TextBox 76"/>
          <p:cNvSpPr txBox="1"/>
          <p:nvPr/>
        </p:nvSpPr>
        <p:spPr>
          <a:xfrm>
            <a:off x="886968" y="5980176"/>
            <a:ext cx="10415016" cy="292608"/>
          </a:xfrm>
          <a:prstGeom prst="rect">
            <a:avLst/>
          </a:prstGeom>
          <a:noFill/>
        </p:spPr>
        <p:txBody>
          <a:bodyPr wrap="square" lIns="0" rIns="0" tIns="0" bIns="0" anchor="ctr">
            <a:spAutoFit/>
          </a:bodyPr>
          <a:lstStyle/>
          <a:p>
            <a:pPr algn="l"/>
            <a:r>
              <a:rPr sz="1100" b="1" i="0">
                <a:solidFill>
                  <a:srgbClr val="8A1626"/>
                </a:solidFill>
              </a:rPr>
              <a:t>Later: </a:t>
            </a:r>
            <a:r>
              <a:rPr sz="1100" b="0" i="0">
                <a:solidFill>
                  <a:srgbClr val="1A1A1A"/>
                </a:solidFill>
              </a:rPr>
              <a:t>QLRisk what-if pricing; age-weighted methods; cubes.  </a:t>
            </a:r>
            <a:r>
              <a:rPr sz="1100" b="1" i="0">
                <a:solidFill>
                  <a:srgbClr val="8A1626"/>
                </a:solidFill>
              </a:rPr>
              <a:t>Known gap: </a:t>
            </a:r>
            <a:r>
              <a:rPr sz="1100" b="0" i="0">
                <a:solidFill>
                  <a:srgbClr val="1A1A1A"/>
                </a:solidFill>
              </a:rPr>
              <a:t>live tabs across consoles need sticky sessions.  Regulatory phases: next slide.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 · REGULATORY REPORTING</a:t>
            </a:r>
          </a:p>
        </p:txBody>
      </p:sp>
      <p:sp>
        <p:nvSpPr>
          <p:cNvPr id="3" name="Title 2"/>
          <p:cNvSpPr>
            <a:spLocks noGrp="1"/>
          </p:cNvSpPr>
          <p:nvPr>
            <p:ph type="title" idx="104"/>
          </p:nvPr>
        </p:nvSpPr>
        <p:spPr/>
        <p:txBody>
          <a:bodyPr/>
          <a:lstStyle/>
          <a:p>
            <a:r>
              <a:t>Regulatory reporting in three phases: next, later, after that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371600"/>
            <a:ext cx="2324862" cy="566928"/>
          </a:xfrm>
          <a:prstGeom prst="rect">
            <a:avLst/>
          </a:prstGeom>
          <a:noFill/>
        </p:spPr>
        <p:txBody>
          <a:bodyPr wrap="square" lIns="0" rIns="0" tIns="0" bIns="0" anchor="ctr">
            <a:spAutoFit/>
          </a:bodyPr>
          <a:lstStyle/>
          <a:p>
            <a:pPr algn="l"/>
            <a:r>
              <a:rPr sz="1300" b="1" i="0">
                <a:solidFill>
                  <a:srgbClr val="FFFFFF"/>
                </a:solidFill>
              </a:rPr>
              <a:t>1 · The measures</a:t>
            </a:r>
          </a:p>
          <a:p>
            <a:pPr algn="l"/>
            <a:r>
              <a:rPr sz="1100" b="0" i="0">
                <a:solidFill>
                  <a:srgbClr val="FFFFFF"/>
                </a:solidFill>
              </a:rPr>
              <a:t>next</a:t>
            </a:r>
          </a:p>
        </p:txBody>
      </p:sp>
      <p:sp>
        <p:nvSpPr>
          <p:cNvPr id="28" name="Rectangle 27"/>
          <p:cNvSpPr/>
          <p:nvPr/>
        </p:nvSpPr>
        <p:spPr>
          <a:xfrm>
            <a:off x="77724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ounded Rectangle 28"/>
          <p:cNvSpPr/>
          <p:nvPr/>
        </p:nvSpPr>
        <p:spPr>
          <a:xfrm>
            <a:off x="90525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TextBox 29"/>
          <p:cNvSpPr txBox="1"/>
          <p:nvPr/>
        </p:nvSpPr>
        <p:spPr>
          <a:xfrm>
            <a:off x="90525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10-day and stressed VaR</a:t>
            </a:r>
          </a:p>
          <a:p>
            <a:pPr algn="l" marL="146304" indent="-146304">
              <a:spcAft>
                <a:spcPts val="200"/>
              </a:spcAft>
              <a:buClr>
                <a:srgbClr val="A51C30"/>
              </a:buClr>
              <a:buSzPct val="100000"/>
              <a:buFont typeface="Arial"/>
              <a:buChar char="▪"/>
            </a:pPr>
            <a:r>
              <a:rPr sz="1100" b="0" i="0">
                <a:solidFill>
                  <a:srgbClr val="1A1A1A"/>
                </a:solidFill>
              </a:rPr>
              <a:t>a daily actual and hypothetical P&amp;L feed</a:t>
            </a:r>
          </a:p>
          <a:p>
            <a:pPr algn="l" marL="146304" indent="-146304">
              <a:spcAft>
                <a:spcPts val="200"/>
              </a:spcAft>
              <a:buClr>
                <a:srgbClr val="A51C30"/>
              </a:buClr>
              <a:buSzPct val="100000"/>
              <a:buFont typeface="Arial"/>
              <a:buChar char="▪"/>
            </a:pPr>
            <a:r>
              <a:rPr sz="1100" b="0" i="0">
                <a:solidFill>
                  <a:srgbClr val="1A1A1A"/>
                </a:solidFill>
              </a:rPr>
              <a:t>backtests: 99% and 97.5%, both P&amp;Ls, multiplier</a:t>
            </a:r>
          </a:p>
          <a:p>
            <a:pPr algn="l" marL="146304" indent="-146304">
              <a:spcAft>
                <a:spcPts val="200"/>
              </a:spcAft>
              <a:buClr>
                <a:srgbClr val="A51C30"/>
              </a:buClr>
              <a:buSzPct val="100000"/>
              <a:buFont typeface="Arial"/>
              <a:buChar char="▪"/>
            </a:pPr>
            <a:r>
              <a:rPr sz="1100" b="0" i="0">
                <a:solidFill>
                  <a:srgbClr val="1A1A1A"/>
                </a:solidFill>
              </a:rPr>
              <a:t>high, low, average, 60-day; CAD records</a:t>
            </a:r>
          </a:p>
        </p:txBody>
      </p:sp>
      <p:sp>
        <p:nvSpPr>
          <p:cNvPr id="31" name="Rectangle 30"/>
          <p:cNvSpPr/>
          <p:nvPr/>
        </p:nvSpPr>
        <p:spPr>
          <a:xfrm>
            <a:off x="90525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90525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US rule figures; FFIEC 102 and §217.212 inputs; the annual report's statistics</a:t>
            </a:r>
          </a:p>
        </p:txBody>
      </p:sp>
      <p:cxnSp>
        <p:nvCxnSpPr>
          <p:cNvPr id="33" name="Connector 32"/>
          <p:cNvCxnSpPr/>
          <p:nvPr/>
        </p:nvCxnSpPr>
        <p:spPr>
          <a:xfrm>
            <a:off x="330327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48615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3614166" y="1371600"/>
            <a:ext cx="2324862" cy="566928"/>
          </a:xfrm>
          <a:prstGeom prst="rect">
            <a:avLst/>
          </a:prstGeom>
          <a:noFill/>
        </p:spPr>
        <p:txBody>
          <a:bodyPr wrap="square" lIns="0" rIns="0" tIns="0" bIns="0" anchor="ctr">
            <a:spAutoFit/>
          </a:bodyPr>
          <a:lstStyle/>
          <a:p>
            <a:pPr algn="l"/>
            <a:r>
              <a:rPr sz="1300" b="1" i="0">
                <a:solidFill>
                  <a:srgbClr val="FFFFFF"/>
                </a:solidFill>
              </a:rPr>
              <a:t>2 · The report packs</a:t>
            </a:r>
          </a:p>
          <a:p>
            <a:pPr algn="l"/>
            <a:r>
              <a:rPr sz="1100" b="0" i="0">
                <a:solidFill>
                  <a:srgbClr val="FFFFFF"/>
                </a:solidFill>
              </a:rPr>
              <a:t>later</a:t>
            </a:r>
          </a:p>
        </p:txBody>
      </p:sp>
      <p:sp>
        <p:nvSpPr>
          <p:cNvPr id="36" name="Rectangle 35"/>
          <p:cNvSpPr/>
          <p:nvPr/>
        </p:nvSpPr>
        <p:spPr>
          <a:xfrm>
            <a:off x="348615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361416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8" name="TextBox 37"/>
          <p:cNvSpPr txBox="1"/>
          <p:nvPr/>
        </p:nvSpPr>
        <p:spPr>
          <a:xfrm>
            <a:off x="361416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VaR by risk type</a:t>
            </a:r>
          </a:p>
          <a:p>
            <a:pPr algn="l" marL="146304" indent="-146304">
              <a:spcAft>
                <a:spcPts val="200"/>
              </a:spcAft>
              <a:buClr>
                <a:srgbClr val="A51C30"/>
              </a:buClr>
              <a:buSzPct val="100000"/>
              <a:buFont typeface="Arial"/>
              <a:buChar char="▪"/>
            </a:pPr>
            <a:r>
              <a:rPr sz="1100" b="0" i="0">
                <a:solidFill>
                  <a:srgbClr val="1A1A1A"/>
                </a:solidFill>
              </a:rPr>
              <a:t>BI reports and extracts in each report's layout</a:t>
            </a:r>
          </a:p>
          <a:p>
            <a:pPr algn="l" marL="146304" indent="-146304">
              <a:spcAft>
                <a:spcPts val="200"/>
              </a:spcAft>
              <a:buClr>
                <a:srgbClr val="A51C30"/>
              </a:buClr>
              <a:buSzPct val="100000"/>
              <a:buFont typeface="Arial"/>
              <a:buChar char="▪"/>
            </a:pPr>
            <a:r>
              <a:rPr sz="1100" b="0" i="0">
                <a:solidFill>
                  <a:srgbClr val="1A1A1A"/>
                </a:solidFill>
              </a:rPr>
              <a:t>Volcker metrics per desk</a:t>
            </a:r>
          </a:p>
        </p:txBody>
      </p:sp>
      <p:sp>
        <p:nvSpPr>
          <p:cNvPr id="39" name="Rectangle 38"/>
          <p:cNvSpPr/>
          <p:nvPr/>
        </p:nvSpPr>
        <p:spPr>
          <a:xfrm>
            <a:off x="361416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361416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annual report VaR table, Pillar 3 tables, FFIEC 102, §217.212, Volcker</a:t>
            </a:r>
          </a:p>
        </p:txBody>
      </p:sp>
      <p:cxnSp>
        <p:nvCxnSpPr>
          <p:cNvPr id="41" name="Connector 40"/>
          <p:cNvCxnSpPr/>
          <p:nvPr/>
        </p:nvCxnSpPr>
        <p:spPr>
          <a:xfrm>
            <a:off x="601218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19506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323076" y="1371600"/>
            <a:ext cx="2324862" cy="566928"/>
          </a:xfrm>
          <a:prstGeom prst="rect">
            <a:avLst/>
          </a:prstGeom>
          <a:noFill/>
        </p:spPr>
        <p:txBody>
          <a:bodyPr wrap="square" lIns="0" rIns="0" tIns="0" bIns="0" anchor="ctr">
            <a:spAutoFit/>
          </a:bodyPr>
          <a:lstStyle/>
          <a:p>
            <a:pPr algn="l"/>
            <a:r>
              <a:rPr sz="1300" b="1" i="0">
                <a:solidFill>
                  <a:srgbClr val="FFFFFF"/>
                </a:solidFill>
              </a:rPr>
              <a:t>3a · FRTB standardised</a:t>
            </a:r>
          </a:p>
          <a:p>
            <a:pPr algn="l"/>
            <a:r>
              <a:rPr sz="1100" b="0" i="0">
                <a:solidFill>
                  <a:srgbClr val="FFFFFF"/>
                </a:solidFill>
              </a:rPr>
              <a:t>after that</a:t>
            </a:r>
          </a:p>
        </p:txBody>
      </p:sp>
      <p:sp>
        <p:nvSpPr>
          <p:cNvPr id="44" name="Rectangle 43"/>
          <p:cNvSpPr/>
          <p:nvPr/>
        </p:nvSpPr>
        <p:spPr>
          <a:xfrm>
            <a:off x="619506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632307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6" name="TextBox 45"/>
          <p:cNvSpPr txBox="1"/>
          <p:nvPr/>
        </p:nvSpPr>
        <p:spPr>
          <a:xfrm>
            <a:off x="632307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sensitivities-based method</a:t>
            </a:r>
          </a:p>
          <a:p>
            <a:pPr algn="l" marL="146304" indent="-146304">
              <a:spcAft>
                <a:spcPts val="200"/>
              </a:spcAft>
              <a:buClr>
                <a:srgbClr val="A51C30"/>
              </a:buClr>
              <a:buSzPct val="100000"/>
              <a:buFont typeface="Arial"/>
              <a:buChar char="▪"/>
            </a:pPr>
            <a:r>
              <a:rPr sz="1100" b="0" i="0">
                <a:solidFill>
                  <a:srgbClr val="1A1A1A"/>
                </a:solidFill>
              </a:rPr>
              <a:t>default risk charge, residual risk add-on</a:t>
            </a:r>
          </a:p>
        </p:txBody>
      </p:sp>
      <p:sp>
        <p:nvSpPr>
          <p:cNvPr id="47" name="Rectangle 46"/>
          <p:cNvSpPr/>
          <p:nvPr/>
        </p:nvSpPr>
        <p:spPr>
          <a:xfrm>
            <a:off x="632307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2307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Pillar 3 MR1; the US standardised approach if adopted</a:t>
            </a:r>
          </a:p>
        </p:txBody>
      </p:sp>
      <p:cxnSp>
        <p:nvCxnSpPr>
          <p:cNvPr id="49" name="Connector 48"/>
          <p:cNvCxnSpPr/>
          <p:nvPr/>
        </p:nvCxnSpPr>
        <p:spPr>
          <a:xfrm>
            <a:off x="872109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90397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031986" y="1371600"/>
            <a:ext cx="2324862" cy="566928"/>
          </a:xfrm>
          <a:prstGeom prst="rect">
            <a:avLst/>
          </a:prstGeom>
          <a:noFill/>
        </p:spPr>
        <p:txBody>
          <a:bodyPr wrap="square" lIns="0" rIns="0" tIns="0" bIns="0" anchor="ctr">
            <a:spAutoFit/>
          </a:bodyPr>
          <a:lstStyle/>
          <a:p>
            <a:pPr algn="l"/>
            <a:r>
              <a:rPr sz="1300" b="1" i="0">
                <a:solidFill>
                  <a:srgbClr val="FFFFFF"/>
                </a:solidFill>
              </a:rPr>
              <a:t>3b · FRTB internal models</a:t>
            </a:r>
          </a:p>
          <a:p>
            <a:pPr algn="l"/>
            <a:r>
              <a:rPr sz="1100" b="0" i="0">
                <a:solidFill>
                  <a:srgbClr val="FFFFFF"/>
                </a:solidFill>
              </a:rPr>
              <a:t>after that, only on approval</a:t>
            </a:r>
          </a:p>
        </p:txBody>
      </p:sp>
      <p:sp>
        <p:nvSpPr>
          <p:cNvPr id="52" name="Rectangle 51"/>
          <p:cNvSpPr/>
          <p:nvPr/>
        </p:nvSpPr>
        <p:spPr>
          <a:xfrm>
            <a:off x="890397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ounded Rectangle 52"/>
          <p:cNvSpPr/>
          <p:nvPr/>
        </p:nvSpPr>
        <p:spPr>
          <a:xfrm>
            <a:off x="903198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4" name="TextBox 53"/>
          <p:cNvSpPr txBox="1"/>
          <p:nvPr/>
        </p:nvSpPr>
        <p:spPr>
          <a:xfrm>
            <a:off x="903198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ES by liquidity horizon, stressed calibration</a:t>
            </a:r>
          </a:p>
          <a:p>
            <a:pPr algn="l" marL="146304" indent="-146304">
              <a:spcAft>
                <a:spcPts val="200"/>
              </a:spcAft>
              <a:buClr>
                <a:srgbClr val="A51C30"/>
              </a:buClr>
              <a:buSzPct val="100000"/>
              <a:buFont typeface="Arial"/>
              <a:buChar char="▪"/>
            </a:pPr>
            <a:r>
              <a:rPr sz="1100" b="0" i="0">
                <a:solidFill>
                  <a:srgbClr val="1A1A1A"/>
                </a:solidFill>
              </a:rPr>
              <a:t>PLA test; NMRF and SES; DRC</a:t>
            </a:r>
          </a:p>
        </p:txBody>
      </p:sp>
      <p:sp>
        <p:nvSpPr>
          <p:cNvPr id="55" name="Rectangle 54"/>
          <p:cNvSpPr/>
          <p:nvPr/>
        </p:nvSpPr>
        <p:spPr>
          <a:xfrm>
            <a:off x="903198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03198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section A; Pillar 3 MR2; model approval</a:t>
            </a:r>
          </a:p>
        </p:txBody>
      </p:sp>
      <p:sp>
        <p:nvSpPr>
          <p:cNvPr id="57" name="Rectangle 56"/>
          <p:cNvSpPr/>
          <p:nvPr/>
        </p:nvSpPr>
        <p:spPr>
          <a:xfrm>
            <a:off x="777240" y="512064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777240" y="512064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1005840" y="5120640"/>
            <a:ext cx="10314432" cy="566928"/>
          </a:xfrm>
          <a:prstGeom prst="rect">
            <a:avLst/>
          </a:prstGeom>
          <a:noFill/>
        </p:spPr>
        <p:txBody>
          <a:bodyPr wrap="square" lIns="0" rIns="0" tIns="0" bIns="0" anchor="ctr">
            <a:spAutoFit/>
          </a:bodyPr>
          <a:lstStyle/>
          <a:p>
            <a:pPr algn="l"/>
            <a:r>
              <a:rPr sz="1150" b="1" i="0">
                <a:solidFill>
                  <a:srgbClr val="A51C30"/>
                </a:solidFill>
              </a:rPr>
              <a:t>Why 3a before 3b.  </a:t>
            </a:r>
            <a:r>
              <a:rPr sz="1100" b="0" i="0">
                <a:solidFill>
                  <a:srgbClr val="1A1A1A"/>
                </a:solidFill>
              </a:rPr>
              <a:t>Every Canadian bank reports the standardised approach, modelled or not; internal models serve only a bank that applies.</a:t>
            </a:r>
          </a:p>
        </p:txBody>
      </p:sp>
      <p:sp>
        <p:nvSpPr>
          <p:cNvPr id="60" name="TextBox 59"/>
          <p:cNvSpPr txBox="1"/>
          <p:nvPr/>
        </p:nvSpPr>
        <p:spPr>
          <a:xfrm>
            <a:off x="777240" y="5760720"/>
            <a:ext cx="10634472" cy="502920"/>
          </a:xfrm>
          <a:prstGeom prst="rect">
            <a:avLst/>
          </a:prstGeom>
          <a:noFill/>
        </p:spPr>
        <p:txBody>
          <a:bodyPr wrap="square" lIns="0" rIns="0" tIns="0" bIns="0" anchor="ctr">
            <a:spAutoFit/>
          </a:bodyPr>
          <a:lstStyle/>
          <a:p>
            <a:pPr algn="l"/>
            <a:r>
              <a:rPr sz="1100" b="1" i="0">
                <a:solidFill>
                  <a:srgbClr val="8A1626"/>
                </a:solidFill>
              </a:rPr>
              <a:t>The bank supplies: </a:t>
            </a:r>
            <a:r>
              <a:rPr sz="1100" b="0" i="0">
                <a:solidFill>
                  <a:srgbClr val="1A1A1A"/>
                </a:solidFill>
              </a:rPr>
              <a:t>daily actual and hypothetical P&amp;L; 10-day and stress-window P&amp;L vectors; P&amp;L by risk class; desk definitions and its limit catalogue; sensitivities; real-price observations for 3b.</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200K benchmark, then 2.3M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the 10-day and stressed measures are not built yet.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ectangle 29"/>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26680" y="2304288"/>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2" name="Rectangle 31"/>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5" name="Rectangle 34"/>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ectangle 28"/>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unedited connector files follow the pack; edited ones gain its new keys and columns, edits kept.</a:t>
            </a:r>
          </a:p>
        </p:txBody>
      </p:sp>
      <p:sp>
        <p:nvSpPr>
          <p:cNvPr id="32" name="Rounded Rectangle 31"/>
          <p:cNvSpPr/>
          <p:nvPr/>
        </p:nvSpPr>
        <p:spPr>
          <a:xfrm>
            <a:off x="4565904" y="427939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3" name="TextBox 32"/>
          <p:cNvSpPr txBox="1"/>
          <p:nvPr/>
        </p:nvSpPr>
        <p:spPr>
          <a:xfrm>
            <a:off x="5237988" y="4261104"/>
            <a:ext cx="1280160" cy="237744"/>
          </a:xfrm>
          <a:prstGeom prst="rect">
            <a:avLst/>
          </a:prstGeom>
          <a:noFill/>
        </p:spPr>
        <p:txBody>
          <a:bodyPr wrap="square" lIns="0" rIns="0" tIns="0" bIns="0" anchor="ctr">
            <a:spAutoFit/>
          </a:bodyPr>
          <a:lstStyle/>
          <a:p>
            <a:pPr algn="l"/>
            <a:r>
              <a:rPr sz="1050" b="0" i="0">
                <a:solidFill>
                  <a:srgbClr val="4A5058"/>
                </a:solidFill>
              </a:rPr>
              <a:t>Delta in-place add</a:t>
            </a:r>
          </a:p>
        </p:txBody>
      </p:sp>
      <p:sp>
        <p:nvSpPr>
          <p:cNvPr id="34" name="Rectangle 33"/>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37" name="Rectangle 36"/>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date?⁷</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
        <p:nvSpPr>
          <p:cNvPr id="38"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A-4, in the appendix (Hardware plan)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to start</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3246120" cy="594360"/>
          </a:xfrm>
          <a:prstGeom prst="rect">
            <a:avLst/>
          </a:prstGeom>
          <a:noFill/>
        </p:spPr>
        <p:txBody>
          <a:bodyPr wrap="square" lIns="0" rIns="0" tIns="0" bIns="0" anchor="ctr">
            <a:spAutoFit/>
          </a:bodyPr>
          <a:lstStyle/>
          <a:p>
            <a:pPr algn="l"/>
            <a:r>
              <a:rPr sz="950" b="1" i="0">
                <a:solidFill>
                  <a:srgbClr val="8A1626"/>
                </a:solidFill>
              </a:rPr>
              <a:t>C: 8 shards × 2 Fargate tasks, each with its own EBS; any task coordinates</a:t>
            </a:r>
          </a:p>
        </p:txBody>
      </p:sp>
      <p:sp>
        <p:nvSpPr>
          <p:cNvPr id="46" name="Rounded Rectangle 45"/>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8" name="Rounded Rectangle 47"/>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49" name="Rounded Rectangle 48"/>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0" name="Rounded Rectangle 49"/>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1" name="Rounded Rectangle 50"/>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2" name="Connector 51"/>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8" name="Table 57"/>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Fargate³,⁵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PLANNED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59" name="TextBox 58"/>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to start (buildable today on Delta or Iceberg); C, Fargate everywhere, with VaR sharding (built; to run on Fargate). Hot files on an EBS gp3 volume per task: disposable, rebuilt from the lake. EFS only for what must be shared.</a:t>
            </a:r>
          </a:p>
        </p:txBody>
      </p:sp>
      <p:sp>
        <p:nvSpPr>
          <p:cNvPr id="60" name="Rounded Rectangle 59"/>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
        <p:nvSpPr>
          <p:cNvPr id="6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¹–⁵ How these figures were derived: A-4, in the appendix (AWS: the VaR tier)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C⁷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sides⁸</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to start; C once sharding runs on Fargate: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A-5, in the appendix (AWS cost)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A-1</a:t>
            </a:r>
          </a:p>
        </p:txBody>
      </p:sp>
      <p:sp>
        <p:nvSpPr>
          <p:cNvPr id="3" name="Title 2"/>
          <p:cNvSpPr>
            <a:spLocks noGrp="1"/>
          </p:cNvSpPr>
          <p:nvPr>
            <p:ph type="title" idx="104"/>
          </p:nvPr>
        </p:nvSpPr>
        <p:spPr/>
        <p:txBody>
          <a:bodyPr/>
          <a:lstStyle/>
          <a:p>
            <a:r>
              <a:t>How the numbers were derived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146852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1468526"/>
          </a:xfrm>
          <a:prstGeom prst="rect">
            <a:avLst/>
          </a:prstGeom>
          <a:noFill/>
        </p:spPr>
        <p:txBody>
          <a:bodyPr wrap="square" lIns="0" rIns="0" tIns="0" bIns="0" anchor="t">
            <a:spAutoFit/>
          </a:bodyPr>
          <a:lstStyle/>
          <a:p>
            <a:pPr algn="l">
              <a:spcAft>
                <a:spcPts val="200"/>
              </a:spcAft>
            </a:pPr>
            <a:r>
              <a:rPr sz="1150" b="1" i="0">
                <a:solidFill>
                  <a:srgbClr val="8A1626"/>
                </a:solidFill>
              </a:rPr>
              <a:t>How it scales</a:t>
            </a:r>
          </a:p>
          <a:p>
            <a:pPr algn="l">
              <a:spcAft>
                <a:spcPts val="200"/>
              </a:spcAft>
            </a:pPr>
            <a:r>
              <a:rPr sz="1000" b="1" i="0">
                <a:solidFill>
                  <a:srgbClr val="A51C30"/>
                </a:solidFill>
              </a:rPr>
              <a:t>¹ </a:t>
            </a:r>
            <a:r>
              <a:rPr sz="1000" b="0" i="0">
                <a:solidFill>
                  <a:srgbClr val="1A1A1A"/>
                </a:solidFill>
              </a:rPr>
              <a:t>A row of 509 scenarios: 509 × 8 B = 4,072 B in float64 (the lake, the sums), 509 × 4 B = 2,036 B in float32 (the hot file's rows) (VAR_GUIDE §27.1).</a:t>
            </a:r>
          </a:p>
          <a:p>
            <a:pPr algn="l">
              <a:spcAft>
                <a:spcPts val="200"/>
              </a:spcAft>
            </a:pPr>
            <a:r>
              <a:rPr sz="1000" b="1" i="0">
                <a:solidFill>
                  <a:srgbClr val="A51C30"/>
                </a:solidFill>
              </a:rPr>
              <a:t>² </a:t>
            </a:r>
            <a:r>
              <a:rPr sz="1000" b="0" i="0">
                <a:solidFill>
                  <a:srgbClr val="1A1A1A"/>
                </a:solidFill>
              </a:rPr>
              <a:t>21.4 MB a reporting currency a date: measured on the demo lake, 8,566 trades (VAR_GUIDE §15.11).</a:t>
            </a:r>
          </a:p>
          <a:p>
            <a:pPr algn="l">
              <a:spcAft>
                <a:spcPts val="200"/>
              </a:spcAft>
            </a:pPr>
            <a:r>
              <a:rPr sz="1000" b="1" i="0">
                <a:solidFill>
                  <a:srgbClr val="A51C30"/>
                </a:solidFill>
              </a:rPr>
              <a:t>³ </a:t>
            </a:r>
            <a:r>
              <a:rPr sz="1000" b="0" i="0">
                <a:solidFill>
                  <a:srgbClr val="1A1A1A"/>
                </a:solidFill>
              </a:rPr>
              <a:t>Measured on one workstation (24 threads, 61 GB, NVMe): VarTierBenchmark, 100,000 trades × 5 dates (VAR_GUIDE §27.3); VarScaleBenchmark, 1,000,000 trades in memory (§27.2); the demo date's load, 9,572 trades, on the server (§26.7). 60 GB/s = 203.6 MB of float32 rows in 3.4 ms; 70 GB/s = 1M × 509 × 8 B in 58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Sizing</a:t>
            </a:r>
          </a:p>
          <a:p>
            <a:pPr algn="l">
              <a:spcAft>
                <a:spcPts val="200"/>
              </a:spcAft>
            </a:pPr>
            <a:r>
              <a:rPr sz="1000" b="1" i="0">
                <a:solidFill>
                  <a:srgbClr val="A51C30"/>
                </a:solidFill>
              </a:rPr>
              <a:t>¹ </a:t>
            </a:r>
            <a:r>
              <a:rPr sz="1000" b="0" i="0">
                <a:solidFill>
                  <a:srgbClr val="1A1A1A"/>
                </a:solidFill>
              </a:rPr>
              <a:t>Vectors: 2.3M positions (ASSUMPTION, the bank's volumes) × 509 scenarios × 8 B = 9.37 GB a date in float64; × 4 B = 4.68 GB in float32 (VAR_GUIDE §27.1).</a:t>
            </a:r>
          </a:p>
          <a:p>
            <a:pPr algn="l">
              <a:spcAft>
                <a:spcPts val="200"/>
              </a:spcAft>
            </a:pPr>
            <a:r>
              <a:rPr sz="1000" b="1" i="0">
                <a:solidFill>
                  <a:srgbClr val="A51C30"/>
                </a:solidFill>
              </a:rPr>
              <a:t>² </a:t>
            </a:r>
            <a:r>
              <a:rPr sz="1000" b="0" i="0">
                <a:solidFill>
                  <a:srgbClr val="1A1A1A"/>
                </a:solidFill>
              </a:rPr>
              <a:t>Measured per 100,000 trades by VarTierBenchmark (VAR_GUIDE §27.3) and scaled linearly × 23 (2.3M ÷ 100,000): hot file 237.7 MB → 5.47 GB; heap 80 MB an open date → 1.84 GB; first load 0.8–1.2 s → 18–28 s; reopen 23 ms → 0.5 s.</a:t>
            </a:r>
          </a:p>
          <a:p>
            <a:pPr algn="l">
              <a:spcAft>
                <a:spcPts val="200"/>
              </a:spcAft>
            </a:pPr>
            <a:r>
              <a:rPr sz="1000" b="1" i="0">
                <a:solidFill>
                  <a:srgbClr val="A51C30"/>
                </a:solidFill>
              </a:rPr>
              <a:t>³ </a:t>
            </a:r>
            <a:r>
              <a:rPr sz="1000" b="0" i="0">
                <a:solidFill>
                  <a:srgbClr val="1A1A1A"/>
                </a:solidFill>
              </a:rPr>
              <a:t>Whole bank: 4.68 GB of float32 rows ÷ 60 GB/s (measured, VAR_GUIDE §27.3) = 78 ms; cold ÷ 3 GB/s (NVMe, the guide's basis) = 1.6 s. A node: 0.48 ms, measured, from its aggregate, whatever its size.</a:t>
            </a:r>
          </a:p>
          <a:p>
            <a:pPr algn="l">
              <a:spcAft>
                <a:spcPts val="200"/>
              </a:spcAft>
            </a:pPr>
            <a:r>
              <a:rPr sz="1000" b="1" i="0">
                <a:solidFill>
                  <a:srgbClr val="A51C30"/>
                </a:solidFill>
              </a:rPr>
              <a:t>⁴ </a:t>
            </a:r>
            <a:r>
              <a:rPr sz="1000" b="0" i="0">
                <a:solidFill>
                  <a:srgbClr val="1A1A1A"/>
                </a:solidFill>
              </a:rPr>
              <a:t>Currencies: 250 MB a currency per 100,000 trades (the guide's extrapolation of 21.4 MB measured on 8,566, VAR_GUIDE §15.11) × 23 × 4 = 23 GB a date; × 5 retained dates = 115 GB; build 4.3 s × 23 = 99 s.</a:t>
            </a:r>
          </a:p>
          <a:p>
            <a:pPr algn="l">
              <a:spcAft>
                <a:spcPts val="200"/>
              </a:spcAft>
            </a:pPr>
            <a:r>
              <a:rPr sz="1000" b="1" i="0">
                <a:solidFill>
                  <a:srgbClr val="A51C30"/>
                </a:solidFill>
              </a:rPr>
              <a:t>⁵ </a:t>
            </a:r>
            <a:r>
              <a:rPr sz="1000" b="0" i="0">
                <a:solidFill>
                  <a:srgbClr val="1A1A1A"/>
                </a:solidFill>
              </a:rPr>
              <a:t>USD hot files: 5.47 GB × 60 dates kept (drishti.var.tier.disk-dates) = 328 GB of local disk.</a:t>
            </a:r>
          </a:p>
          <a:p>
            <a:pPr algn="l">
              <a:spcAft>
                <a:spcPts val="200"/>
              </a:spcAft>
            </a:pPr>
            <a:r>
              <a:rPr sz="1000" b="1" i="0">
                <a:solidFill>
                  <a:srgbClr val="A51C30"/>
                </a:solidFill>
              </a:rPr>
              <a:t>⁶ </a:t>
            </a:r>
            <a:r>
              <a:rPr sz="1000" b="0" i="0">
                <a:solidFill>
                  <a:srgbClr val="1A1A1A"/>
                </a:solidFill>
              </a:rPr>
              <a:t>Lake: 9.37 GB × 0.75 (Parquet, the design's estimate) × 252 business dates = 1.77 TB a year; × 7 years = 12.4 TB.</a:t>
            </a:r>
          </a:p>
          <a:p>
            <a:pPr algn="l">
              <a:spcAft>
                <a:spcPts val="200"/>
              </a:spcAft>
            </a:pPr>
            <a:r>
              <a:rPr sz="1000" b="1" i="0">
                <a:solidFill>
                  <a:srgbClr val="A51C30"/>
                </a:solidFill>
              </a:rPr>
              <a:t>⁷ </a:t>
            </a:r>
            <a:r>
              <a:rPr sz="1000" b="0" i="0">
                <a:solidFill>
                  <a:srgbClr val="1A1A1A"/>
                </a:solidFill>
              </a:rPr>
              <a:t>Portfolios: 15,000 × 130 positions each (ASSUMPTION) = 1.95M rows × 2,036 B = 3.97 GB; ÷ 60 GB/s = 0.07 s, ÷ 5 GB/s scattered (the design's figure) = 0.8 s; stored: 15,000 × 509 × 8 B = 61 MB.</a:t>
            </a:r>
          </a:p>
          <a:p>
            <a:pPr algn="l">
              <a:spcAft>
                <a:spcPts val="200"/>
              </a:spcAft>
            </a:pPr>
            <a:r>
              <a:rPr sz="1000" b="1" i="0">
                <a:solidFill>
                  <a:srgbClr val="A51C30"/>
                </a:solidFill>
              </a:rPr>
              <a:t>⁸ </a:t>
            </a:r>
            <a:r>
              <a:rPr sz="1000" b="0" i="0">
                <a:solidFill>
                  <a:srgbClr val="1A1A1A"/>
                </a:solidFill>
              </a:rPr>
              <a:t>Currency totals: 510 × 8 B × 5,700 nodes (5,000 MGMT and LEGAL, ASSUMPTION, + 700 limit letters) × 10 trade currencies (ASSUMPTION) = 233 MB; a changed position touches ≈ 11 nodes (three trees) × 5 books = 55 additions.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A-2</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78607"/>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78607"/>
          </a:xfrm>
          <a:prstGeom prst="rect">
            <a:avLst/>
          </a:prstGeom>
          <a:noFill/>
        </p:spPr>
        <p:txBody>
          <a:bodyPr wrap="square" lIns="0" rIns="0" tIns="0" bIns="0" anchor="t">
            <a:spAutoFit/>
          </a:bodyPr>
          <a:lstStyle/>
          <a:p>
            <a:pPr algn="l">
              <a:spcAft>
                <a:spcPts val="200"/>
              </a:spcAft>
            </a:pPr>
            <a:r>
              <a:rPr sz="1150" b="1" i="0">
                <a:solidFill>
                  <a:srgbClr val="8A1626"/>
                </a:solidFill>
              </a:rPr>
              <a:t>10-day and stressed VaR</a:t>
            </a:r>
          </a:p>
          <a:p>
            <a:pPr algn="l">
              <a:spcAft>
                <a:spcPts val="200"/>
              </a:spcAft>
            </a:pPr>
            <a:r>
              <a:rPr sz="1000" b="1" i="0">
                <a:solidFill>
                  <a:srgbClr val="A51C30"/>
                </a:solidFill>
              </a:rPr>
              <a:t>¹ </a:t>
            </a:r>
            <a:r>
              <a:rPr sz="1000" b="0" i="0">
                <a:solidFill>
                  <a:srgbClr val="1A1A1A"/>
                </a:solidFill>
              </a:rPr>
              <a:t>Width: 509 (1-day, 2 years) + 509 (10-day overlapping: 509 − 9 = 500, sized as 509) + 250 + 250 (stressed 1-day and 10-day over 12 months, ASSUMPTION) = 1,518 values a position; ÷ 509 = × 2.98. Method (b) is the bank's to confirm.</a:t>
            </a:r>
          </a:p>
          <a:p>
            <a:pPr algn="l">
              <a:spcAft>
                <a:spcPts val="200"/>
              </a:spcAft>
            </a:pPr>
            <a:r>
              <a:rPr sz="1000" b="1" i="0">
                <a:solidFill>
                  <a:srgbClr val="A51C30"/>
                </a:solidFill>
              </a:rPr>
              <a:t>² </a:t>
            </a:r>
            <a:r>
              <a:rPr sz="1000" b="0" i="0">
                <a:solidFill>
                  <a:srgbClr val="1A1A1A"/>
                </a:solidFill>
              </a:rPr>
              <a:t>Vectors: 2.3M × 1,518 × 8 B = 27.93 GB a date (1-day 9.37); float32 half: 13.97 GB (4.68).</a:t>
            </a:r>
          </a:p>
          <a:p>
            <a:pPr algn="l">
              <a:spcAft>
                <a:spcPts val="200"/>
              </a:spcAft>
            </a:pPr>
            <a:r>
              <a:rPr sz="1000" b="1" i="0">
                <a:solidFill>
                  <a:srgbClr val="A51C30"/>
                </a:solidFill>
              </a:rPr>
              <a:t>³ </a:t>
            </a:r>
            <a:r>
              <a:rPr sz="1000" b="0" i="0">
                <a:solidFill>
                  <a:srgbClr val="1A1A1A"/>
                </a:solidFill>
              </a:rPr>
              <a:t>USD hot file: 5.47 GB (237.7 MB per 100,000 measured × 23) × 2.98 = 16.30 GB.</a:t>
            </a:r>
          </a:p>
          <a:p>
            <a:pPr algn="l">
              <a:spcAft>
                <a:spcPts val="200"/>
              </a:spcAft>
            </a:pPr>
            <a:r>
              <a:rPr sz="1000" b="1" i="0">
                <a:solidFill>
                  <a:srgbClr val="A51C30"/>
                </a:solidFill>
              </a:rPr>
              <a:t>⁴ </a:t>
            </a:r>
            <a:r>
              <a:rPr sz="1000" b="0" i="0">
                <a:solidFill>
                  <a:srgbClr val="1A1A1A"/>
                </a:solidFill>
              </a:rPr>
              <a:t>Heap of an open date: 1.84 GB (80 MB per 100,000 × 23) + its aggregates 0.20 GB (8.6 MB per 100,000 × 23, VAR_GUIDE §27.3) × (2.98 − 1) = 2.23 GB.</a:t>
            </a:r>
          </a:p>
          <a:p>
            <a:pPr algn="l">
              <a:spcAft>
                <a:spcPts val="200"/>
              </a:spcAft>
            </a:pPr>
            <a:r>
              <a:rPr sz="1000" b="1" i="0">
                <a:solidFill>
                  <a:srgbClr val="A51C30"/>
                </a:solidFill>
              </a:rPr>
              <a:t>⁵ </a:t>
            </a:r>
            <a:r>
              <a:rPr sz="1000" b="0" i="0">
                <a:solidFill>
                  <a:srgbClr val="1A1A1A"/>
                </a:solidFill>
              </a:rPr>
              <a:t>First open: lake read 18–70 s (the guide's 10–40 s for ≈ 4 GB of Parquet, scaled to 7 GB) × 2.98 = 54–209 s; build 0.8–1.2 s per 100,000 × 23 = 18–28 s × 2.98 = 54–84 s.</a:t>
            </a:r>
          </a:p>
          <a:p>
            <a:pPr algn="l">
              <a:spcAft>
                <a:spcPts val="200"/>
              </a:spcAft>
            </a:pPr>
            <a:r>
              <a:rPr sz="1000" b="1" i="0">
                <a:solidFill>
                  <a:srgbClr val="A51C30"/>
                </a:solidFill>
              </a:rPr>
              <a:t>⁶ </a:t>
            </a:r>
            <a:r>
              <a:rPr sz="1000" b="0" i="0">
                <a:solidFill>
                  <a:srgbClr val="1A1A1A"/>
                </a:solidFill>
              </a:rPr>
              <a:t>Other currency: 1-day built ahead 5.75 GB (250 MB per 100,000 × 23); its 10-day and stressed books on first ask (ASSUMPTION): 5.75 × (2.98 − 1) = 11.4 GB.</a:t>
            </a:r>
          </a:p>
          <a:p>
            <a:pPr algn="l">
              <a:spcAft>
                <a:spcPts val="200"/>
              </a:spcAft>
            </a:pPr>
            <a:r>
              <a:rPr sz="1000" b="1" i="0">
                <a:solidFill>
                  <a:srgbClr val="A51C30"/>
                </a:solidFill>
              </a:rPr>
              <a:t>⁷ </a:t>
            </a:r>
            <a:r>
              <a:rPr sz="1000" b="0" i="0">
                <a:solidFill>
                  <a:srgbClr val="1A1A1A"/>
                </a:solidFill>
              </a:rPr>
              <a:t>Per server: NVMe and RAM as on the processes-and-memory derivations (458 and 1,183 GB; 76 and 151 GB); lake over 7 years as on the storage derivations (16.1 and 48.2 TB).</a:t>
            </a:r>
          </a:p>
          <a:p>
            <a:pPr algn="l">
              <a:spcAft>
                <a:spcPts val="200"/>
              </a:spcAft>
            </a:pPr>
            <a:r>
              <a:rPr sz="1000" b="1" i="0">
                <a:solidFill>
                  <a:srgbClr val="A51C30"/>
                </a:solidFill>
              </a:rPr>
              <a:t>⁸ </a:t>
            </a:r>
            <a:r>
              <a:rPr sz="1000" b="0" i="0">
                <a:solidFill>
                  <a:srgbClr val="1A1A1A"/>
                </a:solidFill>
              </a:rPr>
              <a:t>Option (a), √10 × 1-day: width 509 + 250 = 759 (× 1.49); vectors over 7 years 12.39 TB × 1.49 = 18.5 TB. Sums: a 509-wide set 4.68 GB ÷ 60 GB/s = 78 ms; a 250-wide set 2.3 GB → 38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Processes and memory</a:t>
            </a:r>
          </a:p>
          <a:p>
            <a:pPr algn="l">
              <a:spcAft>
                <a:spcPts val="200"/>
              </a:spcAft>
            </a:pPr>
            <a:r>
              <a:rPr sz="1000" b="1" i="0">
                <a:solidFill>
                  <a:srgbClr val="A51C30"/>
                </a:solidFill>
              </a:rPr>
              <a:t>¹ </a:t>
            </a:r>
            <a:r>
              <a:rPr sz="1000" b="0" i="0">
                <a:solidFill>
                  <a:srgbClr val="1A1A1A"/>
                </a:solidFill>
              </a:rPr>
              <a:t>Heap: two USD dates with all four sets 2 × 2.23 + two other-currency 1-day books 2 × 1.84 (ASSUMPTION) + a load's sort 2 + the rest of the server 4 (ASSUMPTION) = 14.14 GB × 1.5 (generational ZGC) = 21.2 GB need; ÷ 0.61 = 34.8 → -Xmx36g. 1-day: 13.36 × 1.5 = 20.0 GB.</a:t>
            </a:r>
          </a:p>
          <a:p>
            <a:pPr algn="l">
              <a:spcAft>
                <a:spcPts val="200"/>
              </a:spcAft>
            </a:pPr>
            <a:r>
              <a:rPr sz="1000" b="1" i="0">
                <a:solidFill>
                  <a:srgbClr val="A51C30"/>
                </a:solidFill>
              </a:rPr>
              <a:t>² </a:t>
            </a:r>
            <a:r>
              <a:rPr sz="1000" b="0" i="0">
                <a:solidFill>
                  <a:srgbClr val="1A1A1A"/>
                </a:solidFill>
              </a:rPr>
              <a:t>Memory budget (drishti.var.memory-budget-mb, the float32 copy of one date): 2.3M × 1,518 × 4 B = 13,966 MB → 14,000 need; ÷ 0.61 = 22,894 → 23,000 MB; large 2× → 46,000.</a:t>
            </a:r>
          </a:p>
          <a:p>
            <a:pPr algn="l">
              <a:spcAft>
                <a:spcPts val="200"/>
              </a:spcAft>
            </a:pPr>
            <a:r>
              <a:rPr sz="1000" b="1" i="0">
                <a:solidFill>
                  <a:srgbClr val="A51C30"/>
                </a:solidFill>
              </a:rPr>
              <a:t>³ </a:t>
            </a:r>
            <a:r>
              <a:rPr sz="1000" b="0" i="0">
                <a:solidFill>
                  <a:srgbClr val="1A1A1A"/>
                </a:solidFill>
              </a:rPr>
              <a:t>Page cache: two USD dates 2 × 16.30 + four 1-day currency books 23 + two currencies' 10-day and stressed books 2 × 11.4 (ASSUMPTION) = 78.4 GB (1-day 33.9). A load: spill 27.93 + new hot file 16.30 = 44.2 GB (1-day 14.8). OS and native 7 GB (ASSUMPTION).</a:t>
            </a:r>
          </a:p>
          <a:p>
            <a:pPr algn="l">
              <a:spcAft>
                <a:spcPts val="200"/>
              </a:spcAft>
            </a:pPr>
            <a:r>
              <a:rPr sz="1000" b="1" i="0">
                <a:solidFill>
                  <a:srgbClr val="A51C30"/>
                </a:solidFill>
              </a:rPr>
              <a:t>⁴ </a:t>
            </a:r>
            <a:r>
              <a:rPr sz="1000" b="0" i="0">
                <a:solidFill>
                  <a:srgbClr val="1A1A1A"/>
                </a:solidFill>
              </a:rPr>
              <a:t>RAM: 21.2 + 78.4 + 44.2 + 7 = 150.9 GB need (1-day 75.8); ÷ 0.61 = 247 → 256 GB. Headroom (39%) is the deck's rule: the projected peak uses at most 61% of what is provisioned.</a:t>
            </a:r>
          </a:p>
          <a:p>
            <a:pPr algn="l">
              <a:spcAft>
                <a:spcPts val="200"/>
              </a:spcAft>
            </a:pPr>
            <a:r>
              <a:rPr sz="1000" b="1" i="0">
                <a:solidFill>
                  <a:srgbClr val="A51C30"/>
                </a:solidFill>
              </a:rPr>
              <a:t>⁵ </a:t>
            </a:r>
            <a:r>
              <a:rPr sz="1000" b="0" i="0">
                <a:solidFill>
                  <a:srgbClr val="1A1A1A"/>
                </a:solidFill>
              </a:rPr>
              <a:t>Local NVMe: USD hot files 16.30 × 60 + 1-day currency books 23 × 5 dates + 4 × 11.4 + a load 44.2 = 1,183 GB; ÷ 0.61 = 1,940 → 2 × 1.9 TB; large 2× → 4 × 1.425 TB.</a:t>
            </a:r>
          </a:p>
          <a:p>
            <a:pPr algn="l">
              <a:spcAft>
                <a:spcPts val="200"/>
              </a:spcAft>
            </a:pPr>
            <a:r>
              <a:rPr sz="1000" b="1" i="0">
                <a:solidFill>
                  <a:srgbClr val="A51C30"/>
                </a:solidFill>
              </a:rPr>
              <a:t>⁶ </a:t>
            </a:r>
            <a:r>
              <a:rPr sz="1000" b="0" i="0">
                <a:solidFill>
                  <a:srgbClr val="1A1A1A"/>
                </a:solidFill>
              </a:rPr>
              <a:t>CPU: 24 threads reached ≈ 60 GB/s (measured, VAR_GUIDE §27.2) + 8 for a load, currency builds, intraday and requests (ASSUMPTION) = 32; ÷ 0.61 = 52 → 64. All four sets of the bank: 78 + 78 + 38 + 38 ≈ 233 ms.</a:t>
            </a:r>
          </a:p>
          <a:p>
            <a:pPr algn="l">
              <a:spcAft>
                <a:spcPts val="200"/>
              </a:spcAft>
            </a:pPr>
            <a:r>
              <a:rPr sz="1000" b="1" i="0">
                <a:solidFill>
                  <a:srgbClr val="A51C30"/>
                </a:solidFill>
              </a:rPr>
              <a:t>⁷ </a:t>
            </a:r>
            <a:r>
              <a:rPr sz="1000" b="0" i="0">
                <a:solidFill>
                  <a:srgbClr val="1A1A1A"/>
                </a:solidFill>
              </a:rPr>
              <a:t>Consoles: 40 pages/s a worker (measured, SCALE_BENCHMARK §8); 50 of 200 users at once, a page every 10 s, peaks 5× (ASSUMPTION) = 25 pages/s ÷ 0.61 = 41 against one host's 4 × 40 = 160.</a:t>
            </a:r>
          </a:p>
          <a:p>
            <a:pPr algn="l">
              <a:spcAft>
                <a:spcPts val="200"/>
              </a:spcAft>
            </a:pPr>
            <a:r>
              <a:rPr sz="1000" b="1" i="0">
                <a:solidFill>
                  <a:srgbClr val="A51C30"/>
                </a:solidFill>
              </a:rPr>
              <a:t>⁸ </a:t>
            </a:r>
            <a:r>
              <a:rPr sz="1000" b="0" i="0">
                <a:solidFill>
                  <a:srgbClr val="1A1A1A"/>
                </a:solidFill>
              </a:rPr>
              <a:t>Large (2× positions): heap 36.4 ÷ 0.61 → 60g; RAM 291 ÷ 0.61 = 477 → 512 GB; vCPU 48 ÷ 0.61 → 96.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A-3</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7896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78961"/>
          </a:xfrm>
          <a:prstGeom prst="rect">
            <a:avLst/>
          </a:prstGeom>
          <a:noFill/>
        </p:spPr>
        <p:txBody>
          <a:bodyPr wrap="square" lIns="0" rIns="0" tIns="0" bIns="0" anchor="t">
            <a:spAutoFit/>
          </a:bodyPr>
          <a:lstStyle/>
          <a:p>
            <a:pPr algn="l">
              <a:spcAft>
                <a:spcPts val="200"/>
              </a:spcAft>
            </a:pPr>
            <a:r>
              <a:rPr sz="1150" b="1" i="0">
                <a:solidFill>
                  <a:srgbClr val="8A1626"/>
                </a:solidFill>
              </a:rPr>
              <a:t>Storage over 7 years</a:t>
            </a:r>
          </a:p>
          <a:p>
            <a:pPr algn="l">
              <a:spcAft>
                <a:spcPts val="200"/>
              </a:spcAft>
            </a:pPr>
            <a:r>
              <a:rPr sz="1000" b="1" i="0">
                <a:solidFill>
                  <a:srgbClr val="A51C30"/>
                </a:solidFill>
              </a:rPr>
              <a:t>¹ </a:t>
            </a:r>
            <a:r>
              <a:rPr sz="1000" b="0" i="0">
                <a:solidFill>
                  <a:srgbClr val="1A1A1A"/>
                </a:solidFill>
              </a:rPr>
              <a:t>Vectors: 27.93 GB a date × 0.75 (Parquet, the design's estimate) × 1,764 dates (7 × 252) = 36.95 TB (1-day 12.39); all four = 1-day × 2.98.</a:t>
            </a:r>
          </a:p>
          <a:p>
            <a:pPr algn="l">
              <a:spcAft>
                <a:spcPts val="200"/>
              </a:spcAft>
            </a:pPr>
            <a:r>
              <a:rPr sz="1000" b="1" i="0">
                <a:solidFill>
                  <a:srgbClr val="A51C30"/>
                </a:solidFill>
              </a:rPr>
              <a:t>² </a:t>
            </a:r>
            <a:r>
              <a:rPr sz="1000" b="0" i="0">
                <a:solidFill>
                  <a:srgbClr val="1A1A1A"/>
                </a:solidFill>
              </a:rPr>
              <a:t>Row columns: ≈ 100 B a row (ASSUMPTION) × 2.3M × 1,764 = 0.41 TB a set × 4 = 1.62 TB. Scenario PVs kept as well (ASSUMPTION, upper case): the vectors again, + 37.0 TB.</a:t>
            </a:r>
          </a:p>
          <a:p>
            <a:pPr algn="l">
              <a:spcAft>
                <a:spcPts val="200"/>
              </a:spcAft>
            </a:pPr>
            <a:r>
              <a:rPr sz="1000" b="1" i="0">
                <a:solidFill>
                  <a:srgbClr val="A51C30"/>
                </a:solidFill>
              </a:rPr>
              <a:t>³ </a:t>
            </a:r>
            <a:r>
              <a:rPr sz="1000" b="0" i="0">
                <a:solidFill>
                  <a:srgbClr val="1A1A1A"/>
                </a:solidFill>
              </a:rPr>
              <a:t>Trades: 1.5 KB a trade a day (measured, SCALE_BENCHMARK §8) × 2.3M × 1,764 = 6.09 TB. Membership: 40.8 B a position (measured on the demo: 349,855 B ÷ 8,566) × 2.3M × 1,764 = 0.17 TB.</a:t>
            </a:r>
          </a:p>
          <a:p>
            <a:pPr algn="l">
              <a:spcAft>
                <a:spcPts val="200"/>
              </a:spcAft>
            </a:pPr>
            <a:r>
              <a:rPr sz="1000" b="1" i="0">
                <a:solidFill>
                  <a:srgbClr val="A51C30"/>
                </a:solidFill>
              </a:rPr>
              <a:t>⁴ </a:t>
            </a:r>
            <a:r>
              <a:rPr sz="1000" b="0" i="0">
                <a:solidFill>
                  <a:srgbClr val="1A1A1A"/>
                </a:solidFill>
              </a:rPr>
              <a:t>Official results: 27,527 B capture + 352 B record + 321 B published row (measured on the demo) + ≈ 1 KB JSONL (ASSUMPTION) = 29.2 KB × 5,700 nodes (ASSUMPTION) × 1,764 = 0.29 TB; × 2.98 = 0.88 TB.</a:t>
            </a:r>
          </a:p>
          <a:p>
            <a:pPr algn="l">
              <a:spcAft>
                <a:spcPts val="200"/>
              </a:spcAft>
            </a:pPr>
            <a:r>
              <a:rPr sz="1000" b="1" i="0">
                <a:solidFill>
                  <a:srgbClr val="A51C30"/>
                </a:solidFill>
              </a:rPr>
              <a:t>⁵ </a:t>
            </a:r>
            <a:r>
              <a:rPr sz="1000" b="0" i="0">
                <a:solidFill>
                  <a:srgbClr val="1A1A1A"/>
                </a:solidFill>
              </a:rPr>
              <a:t>Intraday: 230,000 positions changed a day (10%, ASSUMPTION) × 1,518 × 8 B × 0.75 = 9.1 KB → 2.09 GB a day × 1,764 × 2 (compaction keeps the old files) = 7.39 TB (1-day 2.48). Restatements: 2% of dates (ASSUMPTION) × 20.9 GB × 1,764 = 0.74 TB.</a:t>
            </a:r>
          </a:p>
          <a:p>
            <a:pPr algn="l">
              <a:spcAft>
                <a:spcPts val="200"/>
              </a:spcAft>
            </a:pPr>
            <a:r>
              <a:rPr sz="1000" b="1" i="0">
                <a:solidFill>
                  <a:srgbClr val="A51C30"/>
                </a:solidFill>
              </a:rPr>
              <a:t>⁶ </a:t>
            </a:r>
            <a:r>
              <a:rPr sz="1000" b="0" i="0">
                <a:solidFill>
                  <a:srgbClr val="1A1A1A"/>
                </a:solidFill>
              </a:rPr>
              <a:t>Delta checkpoints: one a day ≈ 0.14 TB over 7 years (the design's estimate) × 2.98 = 0.42 TB; one every 10 commits at 120 commits a day: 4.9 TB (upper case). Scenario FX under 1 GB; Iceberg metadata, if chosen, ≈ 12 GB (the product owner's estimate).</a:t>
            </a:r>
          </a:p>
          <a:p>
            <a:pPr algn="l">
              <a:spcAft>
                <a:spcPts val="200"/>
              </a:spcAft>
            </a:pPr>
            <a:r>
              <a:rPr sz="1000" b="1" i="0">
                <a:solidFill>
                  <a:srgbClr val="A51C30"/>
                </a:solidFill>
              </a:rPr>
              <a:t>⁷ </a:t>
            </a:r>
            <a:r>
              <a:rPr sz="1000" b="0" i="0">
                <a:solidFill>
                  <a:srgbClr val="1A1A1A"/>
                </a:solidFill>
              </a:rPr>
              <a:t>Need, base: the rows above = 48.2 TB (1-day 16.1); ÷ 0.61 = 79 TB; a DR copy doubles it: 158 TB. Upper: + PVs 37.0 + trades 6.1 + frequent checkpoints 4.5 = 95.7 TB; ÷ 0.61 = 157; DR 314.</a:t>
            </a:r>
          </a:p>
          <a:p>
            <a:pPr algn="l">
              <a:spcAft>
                <a:spcPts val="200"/>
              </a:spcAft>
            </a:pPr>
            <a:r>
              <a:rPr sz="1000" b="1" i="0">
                <a:solidFill>
                  <a:srgbClr val="A51C30"/>
                </a:solidFill>
              </a:rPr>
              <a:t>⁸ </a:t>
            </a:r>
            <a:r>
              <a:rPr sz="1000" b="0" i="0">
                <a:solidFill>
                  <a:srgbClr val="1A1A1A"/>
                </a:solidFill>
              </a:rPr>
              <a:t>250-day window: 0.66 × the 1,518 values (1,000 kept): float32 14.0 → 9.2 GB; vectors over 7 years 37.0 → 24.3 TB, only if the bank sends 250-day sets.</a:t>
            </a:r>
          </a:p>
          <a:p>
            <a:pPr algn="l">
              <a:spcAft>
                <a:spcPts val="200"/>
              </a:spcAft>
            </a:pPr>
            <a:r>
              <a:rPr sz="1000" b="1" i="0">
                <a:solidFill>
                  <a:srgbClr val="A51C30"/>
                </a:solidFill>
              </a:rPr>
              <a:t>⁹ </a:t>
            </a:r>
            <a:r>
              <a:rPr sz="1000" b="0" i="0">
                <a:solidFill>
                  <a:srgbClr val="1A1A1A"/>
                </a:solidFill>
              </a:rPr>
              <a:t>Local NVMe a server: USD hot files 16.3 × 60 = 978 + currency books 161 + a load 44 = 1,183 GB; ÷ 0.61 = 1,940 → 2 × 1.9 TB. Rebuilt from the lake.</a:t>
            </a:r>
          </a:p>
        </p:txBody>
      </p:sp>
      <p:sp>
        <p:nvSpPr>
          <p:cNvPr id="28" name="Rectangle 27"/>
          <p:cNvSpPr/>
          <p:nvPr/>
        </p:nvSpPr>
        <p:spPr>
          <a:xfrm>
            <a:off x="6254496" y="1371600"/>
            <a:ext cx="45720" cy="26901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690164"/>
          </a:xfrm>
          <a:prstGeom prst="rect">
            <a:avLst/>
          </a:prstGeom>
          <a:noFill/>
        </p:spPr>
        <p:txBody>
          <a:bodyPr wrap="square" lIns="0" rIns="0" tIns="0" bIns="0" anchor="t">
            <a:spAutoFit/>
          </a:bodyPr>
          <a:lstStyle/>
          <a:p>
            <a:pPr algn="l">
              <a:spcAft>
                <a:spcPts val="200"/>
              </a:spcAft>
            </a:pPr>
            <a:r>
              <a:rPr sz="1150" b="1" i="0">
                <a:solidFill>
                  <a:srgbClr val="8A1626"/>
                </a:solidFill>
              </a:rPr>
              <a:t>A sharded cluster</a:t>
            </a:r>
          </a:p>
          <a:p>
            <a:pPr algn="l">
              <a:spcAft>
                <a:spcPts val="200"/>
              </a:spcAft>
            </a:pPr>
            <a:r>
              <a:rPr sz="1000" b="1" i="0">
                <a:solidFill>
                  <a:srgbClr val="A51C30"/>
                </a:solidFill>
              </a:rPr>
              <a:t>¹ </a:t>
            </a:r>
            <a:r>
              <a:rPr sz="1000" b="0" i="0">
                <a:solidFill>
                  <a:srgbClr val="1A1A1A"/>
                </a:solidFill>
              </a:rPr>
              <a:t>Six owners, two replicas: each owner holds 2 ÷ 6 = 1/3 of what divides: page cache 78.4 × 1/3 = 26.1 GB; a load 44.2 × 1/3 = 14.7 GB; NVMe 1,183 × 1/3 = 394 GB, ÷ 0.61 = 647 → ~650 GB.</a:t>
            </a:r>
          </a:p>
          <a:p>
            <a:pPr algn="l">
              <a:spcAft>
                <a:spcPts val="200"/>
              </a:spcAft>
            </a:pPr>
            <a:r>
              <a:rPr sz="1000" b="1" i="0">
                <a:solidFill>
                  <a:srgbClr val="A51C30"/>
                </a:solidFill>
              </a:rPr>
              <a:t>² </a:t>
            </a:r>
            <a:r>
              <a:rPr sz="1000" b="0" i="0">
                <a:solidFill>
                  <a:srgbClr val="1A1A1A"/>
                </a:solidFill>
              </a:rPr>
              <a:t>The heap does not divide: every member keeps the date's skeleton for all 2.3M positions (VAR_SHARDING §13): 21.2 GB, the single server's; ÷ 0.61 = 34.8 → -Xmx36g.</a:t>
            </a:r>
          </a:p>
          <a:p>
            <a:pPr algn="l">
              <a:spcAft>
                <a:spcPts val="200"/>
              </a:spcAft>
            </a:pPr>
            <a:r>
              <a:rPr sz="1000" b="1" i="0">
                <a:solidFill>
                  <a:srgbClr val="A51C30"/>
                </a:solidFill>
              </a:rPr>
              <a:t>³ </a:t>
            </a:r>
            <a:r>
              <a:rPr sz="1000" b="0" i="0">
                <a:solidFill>
                  <a:srgbClr val="1A1A1A"/>
                </a:solidFill>
              </a:rPr>
              <a:t>An owner's RAM: 21.2 + 26.1 + 14.7 + 7 = 69.1 GB need; ÷ 0.61 = 113 → 128 GB. vCPU 16 an owner (ASSUMPTION; 96 in all).</a:t>
            </a:r>
          </a:p>
          <a:p>
            <a:pPr algn="l">
              <a:spcAft>
                <a:spcPts val="200"/>
              </a:spcAft>
            </a:pPr>
            <a:r>
              <a:rPr sz="1000" b="1" i="0">
                <a:solidFill>
                  <a:srgbClr val="A51C30"/>
                </a:solidFill>
              </a:rPr>
              <a:t>⁴ </a:t>
            </a:r>
            <a:r>
              <a:rPr sz="1000" b="0" i="0">
                <a:solidFill>
                  <a:srgbClr val="1A1A1A"/>
                </a:solidFill>
              </a:rPr>
              <a:t>Coordinators (coordinator-only) and consoles: ASSUMPTION; a coordinator keeps the skeleton without the rows (16–20 GB heap).</a:t>
            </a:r>
          </a:p>
          <a:p>
            <a:pPr algn="l">
              <a:spcAft>
                <a:spcPts val="200"/>
              </a:spcAft>
            </a:pPr>
            <a:r>
              <a:rPr sz="1000" b="1" i="0">
                <a:solidFill>
                  <a:srgbClr val="A51C30"/>
                </a:solidFill>
              </a:rPr>
              <a:t>⁵ </a:t>
            </a:r>
            <a:r>
              <a:rPr sz="1000" b="0" i="0">
                <a:solidFill>
                  <a:srgbClr val="1A1A1A"/>
                </a:solidFill>
              </a:rPr>
              <a:t>1-day only, 4 owners: heap (2 × 1.84 + 2 + 4) × 1.5 = 14.5 → 16 GB; cache 33.9 × 2/4 = 17.0; load 14.8 × 2/4 = 7.4; OS 7: 47.4 GB; ÷ 0.61 = 78 → 96 GB; heap ÷ 0.61 → 24g. Six owners, 1-day: 16 + 33.9/3 + 14.8/3 + 7 = 39 GB.</a:t>
            </a:r>
          </a:p>
          <a:p>
            <a:pPr algn="l">
              <a:spcAft>
                <a:spcPts val="200"/>
              </a:spcAft>
            </a:pPr>
            <a:r>
              <a:rPr sz="1000" b="1" i="0">
                <a:solidFill>
                  <a:srgbClr val="A51C30"/>
                </a:solidFill>
              </a:rPr>
              <a:t>⁶ </a:t>
            </a:r>
            <a:r>
              <a:rPr sz="1000" b="0" i="0">
                <a:solidFill>
                  <a:srgbClr val="1A1A1A"/>
                </a:solidFill>
              </a:rPr>
              <a:t>Minimum start, 3 owners × 2 replicas (2/3 each): 21.2 + (78.4 + 44.2) × 2/3 + 7 = 110 GB; ÷ 0.61 = 180 → 192 GB; with 1 replica a third each: 69 → 128 GB.</a:t>
            </a:r>
          </a:p>
          <a:p>
            <a:pPr algn="l">
              <a:spcAft>
                <a:spcPts val="200"/>
              </a:spcAft>
            </a:pPr>
            <a:r>
              <a:rPr sz="1000" b="1" i="0">
                <a:solidFill>
                  <a:srgbClr val="A51C30"/>
                </a:solidFill>
              </a:rPr>
              <a:t>⁷ </a:t>
            </a:r>
            <a:r>
              <a:rPr sz="1000" b="0" i="0">
                <a:solidFill>
                  <a:srgbClr val="1A1A1A"/>
                </a:solidFill>
              </a:rPr>
              <a:t>Portfolios: 15,000 × 130 positions (ASSUMPTION) = 1.95M ids × 16 B = 31 MB. The nightly official run over them, "minutes", is a judgement, not computed: the 200K benchmark will measure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A-4</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237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23744"/>
          </a:xfrm>
          <a:prstGeom prst="rect">
            <a:avLst/>
          </a:prstGeom>
          <a:noFill/>
        </p:spPr>
        <p:txBody>
          <a:bodyPr wrap="square" lIns="0" rIns="0" tIns="0" bIns="0" anchor="t">
            <a:spAutoFit/>
          </a:bodyPr>
          <a:lstStyle/>
          <a:p>
            <a:pPr algn="l">
              <a:spcAft>
                <a:spcPts val="200"/>
              </a:spcAft>
            </a:pPr>
            <a:r>
              <a:rPr sz="1150" b="1" i="0">
                <a:solidFill>
                  <a:srgbClr val="8A1626"/>
                </a:solidFill>
              </a:rPr>
              <a:t>Concurrency and throughput</a:t>
            </a:r>
          </a:p>
          <a:p>
            <a:pPr algn="l">
              <a:spcAft>
                <a:spcPts val="200"/>
              </a:spcAft>
            </a:pPr>
            <a:r>
              <a:rPr sz="1000" b="1" i="0">
                <a:solidFill>
                  <a:srgbClr val="A51C30"/>
                </a:solidFill>
              </a:rPr>
              <a:t>¹ </a:t>
            </a:r>
            <a:r>
              <a:rPr sz="1000" b="0" i="0">
                <a:solidFill>
                  <a:srgbClr val="1A1A1A"/>
                </a:solidFill>
              </a:rPr>
              <a:t>Measured: SCALE_STRATEGY §4.4, round 3 (24 cores, -Xmx8g, 1.16M trades a day): 133 / 141 / 122 req/s at 10 / 50 / 100 users, 0 failures, single trade p95 0.08 s at 10 users; §12: one console 69 req/s at 50 users; VAR_GUIDE §27.2: a node under 1 ms, 2.6 ms, 52 ms, 58 ms.</a:t>
            </a:r>
          </a:p>
          <a:p>
            <a:pPr algn="l">
              <a:spcAft>
                <a:spcPts val="200"/>
              </a:spcAft>
            </a:pPr>
            <a:r>
              <a:rPr sz="1000" b="1" i="0">
                <a:solidFill>
                  <a:srgbClr val="A51C30"/>
                </a:solidFill>
              </a:rPr>
              <a:t>² </a:t>
            </a:r>
            <a:r>
              <a:rPr sz="1000" b="0" i="0">
                <a:solidFill>
                  <a:srgbClr val="1A1A1A"/>
                </a:solidFill>
              </a:rPr>
              <a:t>Servers: 140 req/s on 24 cores, scaled by vCPU: × 16/24 = 93 an owner, × 8/24 = 47 a coordinator; 6 × 93 + 2 × 47 = 653 → ~650 peak; half kept free (ASSUMPTION) = 327 → ~330 sustained.</a:t>
            </a:r>
          </a:p>
          <a:p>
            <a:pPr algn="l">
              <a:spcAft>
                <a:spcPts val="200"/>
              </a:spcAft>
            </a:pPr>
            <a:r>
              <a:rPr sz="1000" b="1" i="0">
                <a:solidFill>
                  <a:srgbClr val="A51C30"/>
                </a:solidFill>
              </a:rPr>
              <a:t>³ </a:t>
            </a:r>
            <a:r>
              <a:rPr sz="1000" b="0" i="0">
                <a:solidFill>
                  <a:srgbClr val="1A1A1A"/>
                </a:solidFill>
              </a:rPr>
              <a:t>Whole-bank filters: 4.68 GB of float32 rows each (1-day); 6 owners × 60 × 16/24 = 40 GB/s = 240 GB/s → 51 a second at most; 10–25 quoted (20–50% of it, the rest of the load sharing memory bandwidth: ASSUMPTION). Nodes come from totals: thousands a second.</a:t>
            </a:r>
          </a:p>
          <a:p>
            <a:pPr algn="l">
              <a:spcAft>
                <a:spcPts val="200"/>
              </a:spcAft>
            </a:pPr>
            <a:r>
              <a:rPr sz="1000" b="1" i="0">
                <a:solidFill>
                  <a:srgbClr val="A51C30"/>
                </a:solidFill>
              </a:rPr>
              <a:t>⁴ </a:t>
            </a:r>
            <a:r>
              <a:rPr sz="1000" b="0" i="0">
                <a:solidFill>
                  <a:srgbClr val="1A1A1A"/>
                </a:solidFill>
              </a:rPr>
              <a:t>Consoles: 2 × 69 req/s (measured) = 138 → ~100–140 page loads a second.</a:t>
            </a:r>
          </a:p>
          <a:p>
            <a:pPr algn="l">
              <a:spcAft>
                <a:spcPts val="200"/>
              </a:spcAft>
            </a:pPr>
            <a:r>
              <a:rPr sz="1000" b="1" i="0">
                <a:solidFill>
                  <a:srgbClr val="A51C30"/>
                </a:solidFill>
              </a:rPr>
              <a:t>⁵ </a:t>
            </a:r>
            <a:r>
              <a:rPr sz="1000" b="0" i="0">
                <a:solidFill>
                  <a:srgbClr val="1A1A1A"/>
                </a:solidFill>
              </a:rPr>
              <a:t>Active people: the consoles bind first: 138 req/s ÷ 0.3–0.5 req/s a busy person (a page every 10 s, 3–5 calls, ASSUMPTION) = 276–460 → ~300–500. The servers' ~330 sustained would carry more.</a:t>
            </a:r>
          </a:p>
          <a:p>
            <a:pPr algn="l">
              <a:spcAft>
                <a:spcPts val="200"/>
              </a:spcAft>
            </a:pPr>
            <a:r>
              <a:rPr sz="1000" b="1" i="0">
                <a:solidFill>
                  <a:srgbClr val="A51C30"/>
                </a:solidFill>
              </a:rPr>
              <a:t>⁶ </a:t>
            </a:r>
            <a:r>
              <a:rPr sz="1000" b="0" i="0">
                <a:solidFill>
                  <a:srgbClr val="1A1A1A"/>
                </a:solidFill>
              </a:rPr>
              <a:t>Named users: active ÷ 10–20% active at once (ASSUMPTION): 300 ÷ 0.2 = 1,500 to 500 ÷ 0.1 = 5,000.</a:t>
            </a:r>
          </a:p>
        </p:txBody>
      </p:sp>
      <p:sp>
        <p:nvSpPr>
          <p:cNvPr id="28" name="Rectangle 27"/>
          <p:cNvSpPr/>
          <p:nvPr/>
        </p:nvSpPr>
        <p:spPr>
          <a:xfrm>
            <a:off x="6254496" y="1371600"/>
            <a:ext cx="45720" cy="255117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551175"/>
          </a:xfrm>
          <a:prstGeom prst="rect">
            <a:avLst/>
          </a:prstGeom>
          <a:noFill/>
        </p:spPr>
        <p:txBody>
          <a:bodyPr wrap="square" lIns="0" rIns="0" tIns="0" bIns="0" anchor="t">
            <a:spAutoFit/>
          </a:bodyPr>
          <a:lstStyle/>
          <a:p>
            <a:pPr algn="l">
              <a:spcAft>
                <a:spcPts val="200"/>
              </a:spcAft>
            </a:pPr>
            <a:r>
              <a:rPr sz="1150" b="1" i="0">
                <a:solidFill>
                  <a:srgbClr val="8A1626"/>
                </a:solidFill>
              </a:rPr>
              <a:t>Hardware plan</a:t>
            </a:r>
          </a:p>
          <a:p>
            <a:pPr algn="l">
              <a:spcAft>
                <a:spcPts val="200"/>
              </a:spcAft>
            </a:pPr>
            <a:r>
              <a:rPr sz="1000" b="1" i="0">
                <a:solidFill>
                  <a:srgbClr val="A51C30"/>
                </a:solidFill>
              </a:rPr>
              <a:t>¹ </a:t>
            </a:r>
            <a:r>
              <a:rPr sz="1000" b="0" i="0">
                <a:solidFill>
                  <a:srgbClr val="1A1A1A"/>
                </a:solidFill>
              </a:rPr>
              <a:t>VaR servers: 4, one machine type (official EOD, intraday writer, two UI/API replicas); vCPU, RAM, heap, memory budget and NVMe as on the processes-and-memory derivations: provisioned = need ÷ 0.61, up to the next size; large = 2× positions.</a:t>
            </a:r>
          </a:p>
          <a:p>
            <a:pPr algn="l">
              <a:spcAft>
                <a:spcPts val="200"/>
              </a:spcAft>
            </a:pPr>
            <a:r>
              <a:rPr sz="1000" b="1" i="0">
                <a:solidFill>
                  <a:srgbClr val="A51C30"/>
                </a:solidFill>
              </a:rPr>
              <a:t>² </a:t>
            </a:r>
            <a:r>
              <a:rPr sz="1000" b="0" i="0">
                <a:solidFill>
                  <a:srgbClr val="1A1A1A"/>
                </a:solidFill>
              </a:rPr>
              <a:t>Consoles: 25 pages/s at peak (ASSUMPTION: 50 of 200 users, a page every 10 s, peaks 5×) ÷ 0.61 = 41 against 160 a host.</a:t>
            </a:r>
          </a:p>
          <a:p>
            <a:pPr algn="l">
              <a:spcAft>
                <a:spcPts val="200"/>
              </a:spcAft>
            </a:pPr>
            <a:r>
              <a:rPr sz="1000" b="1" i="0">
                <a:solidFill>
                  <a:srgbClr val="A51C30"/>
                </a:solidFill>
              </a:rPr>
              <a:t>³ </a:t>
            </a:r>
            <a:r>
              <a:rPr sz="1000" b="0" i="0">
                <a:solidFill>
                  <a:srgbClr val="1A1A1A"/>
                </a:solidFill>
              </a:rPr>
              <a:t>Lake: 48.2 TB need ÷ 0.61 = 79 TB; × 2 with a DR copy; large × 2. Shared state: ≈ 300 GB as built (config, Sutras, each node's data folder; ASSUMPTION) ÷ 0.61 = 0.49 → 0.5 TB.</a:t>
            </a:r>
          </a:p>
          <a:p>
            <a:pPr algn="l">
              <a:spcAft>
                <a:spcPts val="200"/>
              </a:spcAft>
            </a:pPr>
            <a:r>
              <a:rPr sz="1000" b="1" i="0">
                <a:solidFill>
                  <a:srgbClr val="A51C30"/>
                </a:solidFill>
              </a:rPr>
              <a:t>⁴ </a:t>
            </a:r>
            <a:r>
              <a:rPr sz="1000" b="0" i="0">
                <a:solidFill>
                  <a:srgbClr val="1A1A1A"/>
                </a:solidFill>
              </a:rPr>
              <a:t>Network: a first open reads 27.93 × 0.75 = 20.9 GB of Parquet at ≤ 0.4 GB/s (decoding, the guide's 10–40 s for 4 GB) = 3.2 Gbit/s ÷ 0.61 = 5.2 → ≥ 10 Gbit/s.</a:t>
            </a:r>
          </a:p>
          <a:p>
            <a:pPr algn="l">
              <a:spcAft>
                <a:spcPts val="200"/>
              </a:spcAft>
            </a:pPr>
            <a:r>
              <a:rPr sz="1000" b="1" i="0">
                <a:solidFill>
                  <a:srgbClr val="A51C30"/>
                </a:solidFill>
              </a:rPr>
              <a:t>⁵ </a:t>
            </a:r>
            <a:r>
              <a:rPr sz="1000" b="0" i="0">
                <a:solidFill>
                  <a:srgbClr val="1A1A1A"/>
                </a:solidFill>
              </a:rPr>
              <a:t>Intraday: 2.09 GB a day (storage derivations) ÷ 120 five-minute windows = 17.5 MB a window, &lt; 1 MB/s a server.</a:t>
            </a:r>
          </a:p>
          <a:p>
            <a:pPr algn="l">
              <a:spcAft>
                <a:spcPts val="200"/>
              </a:spcAft>
            </a:pPr>
            <a:r>
              <a:rPr sz="1000" b="1" i="0">
                <a:solidFill>
                  <a:srgbClr val="A51C30"/>
                </a:solidFill>
              </a:rPr>
              <a:t>⁶ </a:t>
            </a:r>
            <a:r>
              <a:rPr sz="1000" b="0" i="0">
                <a:solidFill>
                  <a:srgbClr val="1A1A1A"/>
                </a:solidFill>
              </a:rPr>
              <a:t>Kafka: 230,000 records a day × 24 KB (1,518 numbers as JSON, ASSUMPTION; the guide: 4–8 KB for 509) = 5.5 GB a day × 7 days = 38.6 GB ÷ 0.61 = 63 → 64 GB a replica.</a:t>
            </a:r>
          </a:p>
          <a:p>
            <a:pPr algn="l">
              <a:spcAft>
                <a:spcPts val="200"/>
              </a:spcAft>
            </a:pPr>
            <a:r>
              <a:rPr sz="1000" b="1" i="0">
                <a:solidFill>
                  <a:srgbClr val="A51C30"/>
                </a:solidFill>
              </a:rPr>
              <a:t>⁷ </a:t>
            </a:r>
            <a:r>
              <a:rPr sz="1000" b="0" i="0">
                <a:solidFill>
                  <a:srgbClr val="1A1A1A"/>
                </a:solidFill>
              </a:rPr>
              <a:t>Sharding beyond ≈ 5M positions: (151 − 13 fixed) GB ÷ 2.3M ÷ 0.61 = 98 GB of RAM a million positions, so 512 GB holds ≈ 5.2M; a first open of 2–5 min at 2.3M takes 4–10 min at 5M.</a:t>
            </a:r>
          </a:p>
        </p:txBody>
      </p:sp>
      <p:sp>
        <p:nvSpPr>
          <p:cNvPr id="30" name="Rectangle 29"/>
          <p:cNvSpPr/>
          <p:nvPr/>
        </p:nvSpPr>
        <p:spPr>
          <a:xfrm>
            <a:off x="6254496" y="4032504"/>
            <a:ext cx="45720" cy="19403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409944" y="4032504"/>
            <a:ext cx="4974336" cy="1940356"/>
          </a:xfrm>
          <a:prstGeom prst="rect">
            <a:avLst/>
          </a:prstGeom>
          <a:noFill/>
        </p:spPr>
        <p:txBody>
          <a:bodyPr wrap="square" lIns="0" rIns="0" tIns="0" bIns="0" anchor="t">
            <a:spAutoFit/>
          </a:bodyPr>
          <a:lstStyle/>
          <a:p>
            <a:pPr algn="l">
              <a:spcAft>
                <a:spcPts val="200"/>
              </a:spcAft>
            </a:pPr>
            <a:r>
              <a:rPr sz="1150" b="1" i="0">
                <a:solidFill>
                  <a:srgbClr val="8A1626"/>
                </a:solidFill>
              </a:rPr>
              <a:t>AWS: the VaR tier</a:t>
            </a:r>
          </a:p>
          <a:p>
            <a:pPr algn="l">
              <a:spcAft>
                <a:spcPts val="200"/>
              </a:spcAft>
            </a:pPr>
            <a:r>
              <a:rPr sz="1000" b="1" i="0">
                <a:solidFill>
                  <a:srgbClr val="A51C30"/>
                </a:solidFill>
              </a:rPr>
              <a:t>¹ </a:t>
            </a:r>
            <a:r>
              <a:rPr sz="1000" b="0" i="0">
                <a:solidFill>
                  <a:srgbClr val="1A1A1A"/>
                </a:solidFill>
              </a:rPr>
              <a:t>A, ECS on EC2 capacity: 151 GB need ÷ 0.61 = 247 → m7i.16xlarge (64 vCPU, 256 GiB); EBS gp3 2 TB (1,183 ÷ 0.61 = 1,940 GB).</a:t>
            </a:r>
          </a:p>
          <a:p>
            <a:pPr algn="l">
              <a:spcAft>
                <a:spcPts val="200"/>
              </a:spcAft>
            </a:pPr>
            <a:r>
              <a:rPr sz="1000" b="1" i="0">
                <a:solidFill>
                  <a:srgbClr val="A51C30"/>
                </a:solidFill>
              </a:rPr>
              <a:t>² </a:t>
            </a:r>
            <a:r>
              <a:rPr sz="1000" b="0" i="0">
                <a:solidFill>
                  <a:srgbClr val="1A1A1A"/>
                </a:solidFill>
              </a:rPr>
              <a:t>1-day only on one Fargate task: 75.8 GB, 32 vCPU need; ÷ 0.61 = 124 GB, 52 vCPU: the 32 vCPU · 244 GB task holds the memory (31%) but keeps the CPU headroom only if the peak is ≤ 32 × 0.61 = 19.5 vCPU. Full case: 151 ÷ 244 = 62%, over 61%.</a:t>
            </a:r>
          </a:p>
          <a:p>
            <a:pPr algn="l">
              <a:spcAft>
                <a:spcPts val="200"/>
              </a:spcAft>
            </a:pPr>
            <a:r>
              <a:rPr sz="1000" b="1" i="0">
                <a:solidFill>
                  <a:srgbClr val="A51C30"/>
                </a:solidFill>
              </a:rPr>
              <a:t>³ </a:t>
            </a:r>
            <a:r>
              <a:rPr sz="1000" b="0" i="0">
                <a:solidFill>
                  <a:srgbClr val="1A1A1A"/>
                </a:solidFill>
              </a:rPr>
              <a:t>B, √10 for 10-day: width 759 (× 1.49): heap, page cache, load and OS = 94 GB; ÷ 0.61 = 155 GB ≤ 244 GB; 1.1 TB gp3.</a:t>
            </a:r>
          </a:p>
          <a:p>
            <a:pPr algn="l">
              <a:spcAft>
                <a:spcPts val="200"/>
              </a:spcAft>
            </a:pPr>
            <a:r>
              <a:rPr sz="1000" b="1" i="0">
                <a:solidFill>
                  <a:srgbClr val="A51C30"/>
                </a:solidFill>
              </a:rPr>
              <a:t>⁴ </a:t>
            </a:r>
            <a:r>
              <a:rPr sz="1000" b="0" i="0">
                <a:solidFill>
                  <a:srgbClr val="1A1A1A"/>
                </a:solidFill>
              </a:rPr>
              <a:t>C, 8 shards: (151 − 6 heap base − 7 OS) ÷ 8 + 6 + 3 = 26 GB ÷ 0.61 = 43 → an 8 vCPU, 44 GB task; CPU 32 ÷ 8 + 1 = 5 ÷ 0.61 = 8.2 → 8; gp3 1,183 ÷ 8 ÷ 0.61 = 242 → 250 GB.</a:t>
            </a:r>
          </a:p>
          <a:p>
            <a:pPr algn="l">
              <a:spcAft>
                <a:spcPts val="200"/>
              </a:spcAft>
            </a:pPr>
            <a:r>
              <a:rPr sz="1000" b="1" i="0">
                <a:solidFill>
                  <a:srgbClr val="A51C30"/>
                </a:solidFill>
              </a:rPr>
              <a:t>⁵ </a:t>
            </a:r>
            <a:r>
              <a:rPr sz="1000" b="0" i="0">
                <a:solidFill>
                  <a:srgbClr val="1A1A1A"/>
                </a:solidFill>
              </a:rPr>
              <a:t>Fargate and EBS limits: AWS documentation, read 2026-10-27 (32 vCPU with up to 244 GB; one EBS volume a task; gp3 up to 64 TiB, 80,000 IOPS, 2,000 MiB/s).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A-5</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5152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51529"/>
          </a:xfrm>
          <a:prstGeom prst="rect">
            <a:avLst/>
          </a:prstGeom>
          <a:noFill/>
        </p:spPr>
        <p:txBody>
          <a:bodyPr wrap="square" lIns="0" rIns="0" tIns="0" bIns="0" anchor="t">
            <a:spAutoFit/>
          </a:bodyPr>
          <a:lstStyle/>
          <a:p>
            <a:pPr algn="l">
              <a:spcAft>
                <a:spcPts val="200"/>
              </a:spcAft>
            </a:pPr>
            <a:r>
              <a:rPr sz="1150" b="1" i="0">
                <a:solidFill>
                  <a:srgbClr val="8A1626"/>
                </a:solidFill>
              </a:rPr>
              <a:t>AWS cost</a:t>
            </a:r>
          </a:p>
          <a:p>
            <a:pPr algn="l">
              <a:spcAft>
                <a:spcPts val="200"/>
              </a:spcAft>
            </a:pPr>
            <a:r>
              <a:rPr sz="1000" b="1" i="0">
                <a:solidFill>
                  <a:srgbClr val="A51C30"/>
                </a:solidFill>
              </a:rPr>
              <a:t>¹ </a:t>
            </a:r>
            <a:r>
              <a:rPr sz="1000" b="0" i="0">
                <a:solidFill>
                  <a:srgbClr val="1A1A1A"/>
                </a:solidFill>
              </a:rPr>
              <a:t>Prices: AWS public on-demand list prices, example Region ca-central-1, read 2026-10-27 from the Price List files (ASSUMPTION: verify before quoting); 730 hours a month; quantities from the capacity derivations (ESTIMATED).</a:t>
            </a:r>
          </a:p>
          <a:p>
            <a:pPr algn="l">
              <a:spcAft>
                <a:spcPts val="200"/>
              </a:spcAft>
            </a:pPr>
            <a:r>
              <a:rPr sz="1000" b="1" i="0">
                <a:solidFill>
                  <a:srgbClr val="A51C30"/>
                </a:solidFill>
              </a:rPr>
              <a:t>² </a:t>
            </a:r>
            <a:r>
              <a:rPr sz="1000" b="0" i="0">
                <a:solidFill>
                  <a:srgbClr val="1A1A1A"/>
                </a:solidFill>
              </a:rPr>
              <a:t>VaR servers: 4 × m7i.16xlarge $3.5952 an hour × 730 = $10,498 (1-day: c7i.16xlarge $3.1248 → $9,124). EBS gp3 a server: 2,000 GB × $0.088 + 13,000 IOPS × $0.0055 + 1,875 MiB/s × $0.044 = $330 × 4 (1-day 800 GB: $224 × 4).</a:t>
            </a:r>
          </a:p>
          <a:p>
            <a:pPr algn="l">
              <a:spcAft>
                <a:spcPts val="200"/>
              </a:spcAft>
            </a:pPr>
            <a:r>
              <a:rPr sz="1000" b="1" i="0">
                <a:solidFill>
                  <a:srgbClr val="A51C30"/>
                </a:solidFill>
              </a:rPr>
              <a:t>³ </a:t>
            </a:r>
            <a:r>
              <a:rPr sz="1000" b="0" i="0">
                <a:solidFill>
                  <a:srgbClr val="1A1A1A"/>
                </a:solidFill>
              </a:rPr>
              <a:t>Consoles: 2 × (4 vCPU × $0.04456 + 8 GB × $0.004865) × 730 = $317; lake tasks 60 h × (8 × $0.04456 + 32 × $0.004865) = $31.</a:t>
            </a:r>
          </a:p>
          <a:p>
            <a:pPr algn="l">
              <a:spcAft>
                <a:spcPts val="200"/>
              </a:spcAft>
            </a:pPr>
            <a:r>
              <a:rPr sz="1000" b="1" i="0">
                <a:solidFill>
                  <a:srgbClr val="A51C30"/>
                </a:solidFill>
              </a:rPr>
              <a:t>⁴ </a:t>
            </a:r>
            <a:r>
              <a:rPr sz="1000" b="0" i="0">
                <a:solidFill>
                  <a:srgbClr val="1A1A1A"/>
                </a:solidFill>
              </a:rPr>
              <a:t>S3: the lake grows 6.9 TB a year (1-day 2.3); year 7: newest year Standard $0.025 + six older years Standard-IA $0.0138 per GB-month (a lifecycle rule, ASSUMPTION) = $752; DR: the same + $0.02/GB replication = $753.</a:t>
            </a:r>
          </a:p>
          <a:p>
            <a:pPr algn="l">
              <a:spcAft>
                <a:spcPts val="200"/>
              </a:spcAft>
            </a:pPr>
            <a:r>
              <a:rPr sz="1000" b="1" i="0">
                <a:solidFill>
                  <a:srgbClr val="A51C30"/>
                </a:solidFill>
              </a:rPr>
              <a:t>⁵ </a:t>
            </a:r>
            <a:r>
              <a:rPr sz="1000" b="0" i="0">
                <a:solidFill>
                  <a:srgbClr val="1A1A1A"/>
                </a:solidFill>
              </a:rPr>
              <a:t>EFS 500 GB × $0.33 + $25 backup = $190; MSK 3 × $0.2275 × 730 + 300 GB × $0.11 = $531; ALB, NAT and endpoints, transfer, CloudWatch as listed; Secrets Manager and KMS $4, in the total.</a:t>
            </a:r>
          </a:p>
          <a:p>
            <a:pPr algn="l">
              <a:spcAft>
                <a:spcPts val="200"/>
              </a:spcAft>
            </a:pPr>
            <a:r>
              <a:rPr sz="1000" b="1" i="0">
                <a:solidFill>
                  <a:srgbClr val="A51C30"/>
                </a:solidFill>
              </a:rPr>
              <a:t>⁶ </a:t>
            </a:r>
            <a:r>
              <a:rPr sz="1000" b="0" i="0">
                <a:solidFill>
                  <a:srgbClr val="1A1A1A"/>
                </a:solidFill>
              </a:rPr>
              <a:t>Savings Plans (Compute, no upfront, the same price files): 1 year −26.9% EC2, −20.0% Fargate; 3 years −49.5%, −45.0%; applied to EC2 and Fargate only.</a:t>
            </a:r>
          </a:p>
          <a:p>
            <a:pPr algn="l">
              <a:spcAft>
                <a:spcPts val="200"/>
              </a:spcAft>
            </a:pPr>
            <a:r>
              <a:rPr sz="1000" b="1" i="0">
                <a:solidFill>
                  <a:srgbClr val="A51C30"/>
                </a:solidFill>
              </a:rPr>
              <a:t>⁷ </a:t>
            </a:r>
            <a:r>
              <a:rPr sz="1000" b="0" i="0">
                <a:solidFill>
                  <a:srgbClr val="1A1A1A"/>
                </a:solidFill>
              </a:rPr>
              <a:t>VaR tier: A as above $11,818; B 4 × (32 × $0.04456 + 244 × $0.004865 = $2.613 an hour) × 730 + 4 × 1.1 TB gp3 = $8,633; C 16 tasks × $0.5705 × 730 + 16 × $38.50 gp3 + the intraday task $93 = $7,373.</a:t>
            </a:r>
          </a:p>
          <a:p>
            <a:pPr algn="l">
              <a:spcAft>
                <a:spcPts val="200"/>
              </a:spcAft>
            </a:pPr>
            <a:r>
              <a:rPr sz="1000" b="1" i="0">
                <a:solidFill>
                  <a:srgbClr val="A51C30"/>
                </a:solidFill>
              </a:rPr>
              <a:t>⁸ </a:t>
            </a:r>
            <a:r>
              <a:rPr sz="1000" b="0" i="0">
                <a:solidFill>
                  <a:srgbClr val="1A1A1A"/>
                </a:solidFill>
              </a:rPr>
              <a:t>C scale-in: second replicas 12 h × 22 days = 264 of 730 hours (ASSUMPTION) = $5,050; 3-year $2,966; second replicas on Spot at 60% off (ASSUMPTION) = $2,785. One full copy: Fargate 8 × ($416 + $38.50) = $3,640 against EC2 $2,954.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RELATED DOCUMENTS</a:t>
            </a:r>
          </a:p>
        </p:txBody>
      </p:sp>
      <p:sp>
        <p:nvSpPr>
          <p:cNvPr id="3" name="Title 2"/>
          <p:cNvSpPr>
            <a:spLocks noGrp="1"/>
          </p:cNvSpPr>
          <p:nvPr>
            <p:ph type="title" idx="104"/>
          </p:nvPr>
        </p:nvSpPr>
        <p:spPr/>
        <p:txBody>
          <a:bodyPr/>
          <a:lstStyle/>
          <a:p>
            <a:r>
              <a:t>Where to read more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206240" cy="48920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4892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81328"/>
            <a:ext cx="3886200" cy="4663440"/>
          </a:xfrm>
          <a:prstGeom prst="rect">
            <a:avLst/>
          </a:prstGeom>
          <a:noFill/>
        </p:spPr>
        <p:txBody>
          <a:bodyPr wrap="square" lIns="0" rIns="0" tIns="0" bIns="0" anchor="t">
            <a:spAutoFit/>
          </a:bodyPr>
          <a:lstStyle/>
          <a:p>
            <a:pPr algn="l">
              <a:spcAft>
                <a:spcPts val="600"/>
              </a:spcAft>
            </a:pPr>
            <a:r>
              <a:rPr sz="1400" b="1" i="0">
                <a:solidFill>
                  <a:srgbClr val="8A1626"/>
                </a:solidFill>
              </a:rPr>
              <a:t>Companion decks</a:t>
            </a:r>
          </a:p>
          <a:p>
            <a:pPr algn="l"/>
            <a:r>
              <a:rPr sz="1250" b="1" i="0">
                <a:solidFill>
                  <a:srgbClr val="A51C30"/>
                </a:solidFill>
              </a:rPr>
              <a:t>Drishti: Design and Evidence</a:t>
            </a:r>
          </a:p>
          <a:p>
            <a:pPr algn="l">
              <a:spcAft>
                <a:spcPts val="800"/>
              </a:spcAft>
            </a:pPr>
            <a:r>
              <a:rPr sz="1150" b="0" i="0">
                <a:solidFill>
                  <a:srgbClr val="1A1A1A"/>
                </a:solidFill>
              </a:rPr>
              <a:t>what Drishti is, its design, editions, BI, AI, security and the evidence</a:t>
            </a:r>
          </a:p>
          <a:p>
            <a:pPr algn="l"/>
            <a:r>
              <a:rPr sz="1250" b="1" i="0">
                <a:solidFill>
                  <a:srgbClr val="A51C30"/>
                </a:solidFill>
              </a:rPr>
              <a:t>Drishti on AWS: the lake, Delta or Iceberg</a:t>
            </a:r>
          </a:p>
          <a:p>
            <a:pPr algn="l">
              <a:spcAft>
                <a:spcPts val="800"/>
              </a:spcAft>
            </a:pPr>
            <a:r>
              <a:rPr sz="1150" b="0" i="0">
                <a:solidFill>
                  <a:srgbClr val="1A1A1A"/>
                </a:solidFill>
              </a:rPr>
              <a:t>the AWS architecture in detail: setup, storage, caching, maintenance, cost and runbooks, for either format</a:t>
            </a:r>
          </a:p>
          <a:p>
            <a:pPr algn="l"/>
            <a:r>
              <a:rPr sz="1250" b="1" i="0">
                <a:solidFill>
                  <a:srgbClr val="A51C30"/>
                </a:solidFill>
              </a:rPr>
              <a:t>Drishti VaR engine</a:t>
            </a:r>
          </a:p>
          <a:p>
            <a:pPr algn="l">
              <a:spcAft>
                <a:spcPts val="800"/>
              </a:spcAft>
            </a:pPr>
            <a:r>
              <a:rPr sz="1150" b="0" i="0">
                <a:solidFill>
                  <a:srgbClr val="1A1A1A"/>
                </a:solidFill>
              </a:rPr>
              <a:t>this deck: method, inputs, runs, capacity, editions, regulatory reporting, roadmap</a:t>
            </a:r>
          </a:p>
        </p:txBody>
      </p:sp>
      <p:graphicFrame>
        <p:nvGraphicFramePr>
          <p:cNvPr id="29" name="Table 28"/>
          <p:cNvGraphicFramePr>
            <a:graphicFrameLocks noGrp="1"/>
          </p:cNvGraphicFramePr>
          <p:nvPr/>
        </p:nvGraphicFramePr>
        <p:xfrm>
          <a:off x="5212079" y="1371600"/>
          <a:ext cx="6199632" cy="4754880"/>
        </p:xfrm>
        <a:graphic>
          <a:graphicData uri="http://schemas.openxmlformats.org/drawingml/2006/table">
            <a:tbl>
              <a:tblPr firstRow="0" bandRow="0">
                <a:tableStyleId>{5940675A-B579-460E-94D1-54222C63F5DA}</a:tableStyleId>
              </a:tblPr>
              <a:tblGrid>
                <a:gridCol w="3429000"/>
                <a:gridCol w="2770632"/>
              </a:tblGrid>
              <a:tr h="475488">
                <a:tc>
                  <a:txBody>
                    <a:bodyPr wrap="square"/>
                    <a:lstStyle/>
                    <a:p>
                      <a:r>
                        <a:rPr sz="110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docs/guides/VAR_GUIDE.md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complete guide: using VaR, the data contract, how the engine stores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docs/tutorials/25-var-from-the-bank-to-a-trade.md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from the bank to a trade, in twelve hands-on steps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docs/knowledge/market-risk.md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Market risk Knowledge page in the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docs/architecture/VAR_SHARDING.md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sharded across servers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docs/architecture/EDITIONS.md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editions and lenses; Risk, Market, World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running an edition or a 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computed on demand, never stored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docs/architecture/REGULATORY_VAR_REPORTING.md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Canadian and US reports that need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what is built, and what comes next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9" name="Text 7"/>
          <p:cNvSpPr txBox="1"/>
          <p:nvPr/>
        </p:nvSpPr>
        <p:spPr>
          <a:xfrm>
            <a:off x="1051560" y="1207008"/>
            <a:ext cx="8595360" cy="1133856"/>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889504"/>
            <a:ext cx="1554480" cy="36576"/>
          </a:xfrm>
          <a:prstGeom prst="rect">
            <a:avLst/>
          </a:prstGeom>
          <a:solidFill>
            <a:srgbClr val="C4384B"/>
          </a:solidFill>
          <a:ln/>
        </p:spPr>
        <p:txBody>
          <a:bodyPr/>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1–4  Why, how it works, data in, computed</a:t>
            </a:r>
            <a:endParaRPr lang="en-US" sz="1200" dirty="0"/>
          </a:p>
          <a:p>
            <a:pPr indent="0" marL="0">
              <a:spcAft>
                <a:spcPts val="600"/>
              </a:spcAft>
              <a:buNone/>
            </a:pPr>
            <a:r>
              <a:rPr lang="en-US" sz="1200" b="1" dirty="0">
                <a:solidFill>
                  <a:srgbClr val="A51C30"/>
                </a:solidFill>
              </a:rPr>
              <a:t>5  Scale, capacity, concurrency</a:t>
            </a:r>
            <a:endParaRPr lang="en-US" sz="1200" dirty="0"/>
          </a:p>
          <a:p>
            <a:pPr indent="0" marL="0">
              <a:spcAft>
                <a:spcPts val="600"/>
              </a:spcAft>
              <a:buNone/>
            </a:pPr>
            <a:r>
              <a:rPr lang="en-US" sz="1200" b="1" dirty="0">
                <a:solidFill>
                  <a:srgbClr val="A51C30"/>
                </a:solidFill>
              </a:rPr>
              <a:t>6–7  Storage, operations, model risk</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Editions: Risk, Market, World</a:t>
            </a:r>
            <a:endParaRPr lang="en-US" sz="1200" dirty="0"/>
          </a:p>
          <a:p>
            <a:pPr indent="0" marL="0">
              <a:spcAft>
                <a:spcPts val="600"/>
              </a:spcAft>
              <a:buNone/>
            </a:pPr>
            <a:r>
              <a:rPr lang="en-US" sz="1200" b="1" dirty="0">
                <a:solidFill>
                  <a:srgbClr val="A51C30"/>
                </a:solidFill>
              </a:rPr>
              <a:t>9–10  Regulatory reporting, roadmap</a:t>
            </a:r>
            <a:endParaRPr lang="en-US" sz="1200" dirty="0"/>
          </a:p>
          <a:p>
            <a:pPr indent="0" marL="0">
              <a:spcAft>
                <a:spcPts val="600"/>
              </a:spcAft>
              <a:buNone/>
            </a:pPr>
            <a:r>
              <a:rPr lang="en-US" sz="1200" b="1" dirty="0">
                <a:solidFill>
                  <a:srgbClr val="A51C30"/>
                </a:solidFill>
              </a:rPr>
              <a:t>A  Appendix: reference</a:t>
            </a:r>
            <a:endParaRPr lang="en-US" sz="1200" dirty="0"/>
          </a:p>
        </p:txBody>
      </p:sp>
      <p:pic>
        <p:nvPicPr>
          <p:cNvPr id="16" name="Drishti logo" descr="Drishti logo: an eye between curly brackets"/>
          <p:cNvPicPr>
            <a:picLocks noChangeAspect="1"/>
          </p:cNvPicPr>
          <p:nvPr/>
        </p:nvPicPr>
        <p:blipFill>
          <a:blip r:embed="rId3"/>
          <a:stretch>
            <a:fillRect/>
          </a:stretch>
        </p:blipFill>
        <p:spPr>
          <a:xfrm>
            <a:off x="8503920" y="603504"/>
            <a:ext cx="2633472" cy="457200"/>
          </a:xfrm>
          <a:prstGeom prst="rect">
            <a:avLst/>
          </a:prstGeom>
        </p:spPr>
      </p:pic>
      <p:sp>
        <p:nvSpPr>
          <p:cNvPr id="17" name="Subtitle"/>
          <p:cNvSpPr txBox="1"/>
          <p:nvPr/>
        </p:nvSpPr>
        <p:spPr>
          <a:xfrm>
            <a:off x="1051560" y="2350008"/>
            <a:ext cx="9692640" cy="365760"/>
          </a:xfrm>
          <a:prstGeom prst="rect">
            <a:avLst/>
          </a:prstGeom>
          <a:noFill/>
        </p:spPr>
        <p:txBody>
          <a:bodyPr wrap="square" lIns="0" rIns="0" tIns="0" bIns="0" anchor="ctr">
            <a:spAutoFit/>
          </a:bodyPr>
          <a:lstStyle/>
          <a:p>
            <a:pPr algn="l"/>
            <a:r>
              <a:rPr sz="1900" b="0" i="0">
                <a:solidFill>
                  <a:srgbClr val="F2C9D0"/>
                </a:solidFill>
              </a:rPr>
              <a:t>Any set of trades or positions, in any reporting currency</a:t>
            </a:r>
          </a:p>
        </p:txBody>
      </p:sp>
      <p:sp>
        <p:nvSpPr>
          <p:cNvPr id="18" name="Slogan"/>
          <p:cNvSpPr txBox="1"/>
          <p:nvPr/>
        </p:nvSpPr>
        <p:spPr>
          <a:xfrm>
            <a:off x="1051560" y="2999232"/>
            <a:ext cx="9692640" cy="457200"/>
          </a:xfrm>
          <a:prstGeom prst="rect">
            <a:avLst/>
          </a:prstGeom>
          <a:noFill/>
        </p:spPr>
        <p:txBody>
          <a:bodyPr wrap="square" lIns="0" rIns="0" tIns="0" bIns="0" anchor="ctr">
            <a:spAutoFit/>
          </a:bodyPr>
          <a:lstStyle/>
          <a:p>
            <a:pPr algn="l"/>
            <a:r>
              <a:rPr sz="2400" b="0" i="1">
                <a:solidFill>
                  <a:srgbClr val="FFFFFF"/>
                </a:solidFill>
              </a:rPr>
              <a:t>See what your data </a:t>
            </a:r>
            <a:r>
              <a:rPr sz="2400" b="0" i="1">
                <a:solidFill>
                  <a:srgbClr val="E39B2D"/>
                </a:solidFill>
              </a:rPr>
              <a:t>hasn't told you yet.</a:t>
            </a:r>
          </a:p>
        </p:txBody>
      </p:sp>
      <p:sp>
        <p:nvSpPr>
          <p:cNvPr id="19" name="Tagline"/>
          <p:cNvSpPr txBox="1"/>
          <p:nvPr/>
        </p:nvSpPr>
        <p:spPr>
          <a:xfrm>
            <a:off x="1051560" y="3502152"/>
            <a:ext cx="9692640" cy="274320"/>
          </a:xfrm>
          <a:prstGeom prst="rect">
            <a:avLst/>
          </a:prstGeom>
          <a:noFill/>
        </p:spPr>
        <p:txBody>
          <a:bodyPr wrap="square" lIns="0" rIns="0" tIns="0" bIns="0" anchor="ctr">
            <a:spAutoFit/>
          </a:bodyPr>
          <a:lstStyle/>
          <a:p>
            <a:pPr algn="l"/>
            <a:r>
              <a:rPr sz="1100" b="1" i="0" spc="300">
                <a:solidFill>
                  <a:srgbClr val="E39B2D"/>
                </a:solidFill>
              </a:rPr>
              <a:t>ANY DATA. ANY DOMAIN. ONE GRAMMAR.</a:t>
            </a:r>
          </a:p>
        </p:txBody>
      </p:sp>
    </p:spTree>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8" name="Text 6"/>
          <p:cNvSpPr txBox="1"/>
          <p:nvPr/>
        </p:nvSpPr>
        <p:spPr>
          <a:xfrm>
            <a:off x="1234440" y="539496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Ashutosh Sinha • October 2026 • VaR engine</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pic>
        <p:nvPicPr>
          <p:cNvPr id="26" name="Drishti logo" descr="Drishti logo: an eye between curly brackets"/>
          <p:cNvPicPr>
            <a:picLocks noChangeAspect="1"/>
          </p:cNvPicPr>
          <p:nvPr/>
        </p:nvPicPr>
        <p:blipFill>
          <a:blip r:embed="rId3"/>
          <a:stretch>
            <a:fillRect/>
          </a:stretch>
        </p:blipFill>
        <p:spPr>
          <a:xfrm>
            <a:off x="4647575" y="1325880"/>
            <a:ext cx="2896819" cy="502920"/>
          </a:xfrm>
          <a:prstGeom prst="rect">
            <a:avLst/>
          </a:prstGeom>
        </p:spPr>
      </p:pic>
      <p:sp>
        <p:nvSpPr>
          <p:cNvPr id="27" name="Slogan"/>
          <p:cNvSpPr txBox="1"/>
          <p:nvPr/>
        </p:nvSpPr>
        <p:spPr>
          <a:xfrm>
            <a:off x="1234440" y="3822191"/>
            <a:ext cx="9720072" cy="502920"/>
          </a:xfrm>
          <a:prstGeom prst="rect">
            <a:avLst/>
          </a:prstGeom>
          <a:noFill/>
        </p:spPr>
        <p:txBody>
          <a:bodyPr wrap="square" lIns="0" rIns="0" tIns="0" bIns="0" anchor="ctr">
            <a:spAutoFit/>
          </a:bodyPr>
          <a:lstStyle/>
          <a:p>
            <a:pPr algn="ctr"/>
            <a:r>
              <a:rPr sz="2400" b="0" i="1">
                <a:solidFill>
                  <a:srgbClr val="F6E6E9"/>
                </a:solidFill>
              </a:rPr>
              <a:t>See what your data </a:t>
            </a:r>
            <a:r>
              <a:rPr sz="2400" b="0" i="1">
                <a:solidFill>
                  <a:srgbClr val="E39B2D"/>
                </a:solidFill>
              </a:rPr>
              <a:t>hasn't told you yet.</a:t>
            </a:r>
          </a:p>
        </p:txBody>
      </p:sp>
      <p:sp>
        <p:nvSpPr>
          <p:cNvPr id="28" name="Tagline"/>
          <p:cNvSpPr txBox="1"/>
          <p:nvPr/>
        </p:nvSpPr>
        <p:spPr>
          <a:xfrm>
            <a:off x="1234440" y="4389120"/>
            <a:ext cx="9720072" cy="274320"/>
          </a:xfrm>
          <a:prstGeom prst="rect">
            <a:avLst/>
          </a:prstGeom>
          <a:noFill/>
        </p:spPr>
        <p:txBody>
          <a:bodyPr wrap="square" lIns="0" rIns="0" tIns="0" bIns="0" anchor="ctr">
            <a:spAutoFit/>
          </a:bodyPr>
          <a:lstStyle/>
          <a:p>
            <a:pPr algn="ctr"/>
            <a:r>
              <a:rPr sz="1100" b="1" i="0" spc="300">
                <a:solidFill>
                  <a:srgbClr val="E39B2D"/>
                </a:solidFill>
              </a:rPr>
              <a:t>ANY DATA. ANY DOMAIN. ONE GRAMMAR.</a:t>
            </a:r>
          </a:p>
        </p:txBody>
      </p:sp>
      <p:sp>
        <p:nvSpPr>
          <p:cNvPr id="29" name="Closing line"/>
          <p:cNvSpPr txBox="1"/>
          <p:nvPr/>
        </p:nvSpPr>
        <p:spPr>
          <a:xfrm>
            <a:off x="1234440" y="4937760"/>
            <a:ext cx="9720072" cy="329184"/>
          </a:xfrm>
          <a:prstGeom prst="rect">
            <a:avLst/>
          </a:prstGeom>
          <a:noFill/>
        </p:spPr>
        <p:txBody>
          <a:bodyPr wrap="square" lIns="0" rIns="0" tIns="0" bIns="0" anchor="ctr">
            <a:spAutoFit/>
          </a:bodyPr>
          <a:lstStyle/>
          <a:p>
            <a:pPr algn="ctr"/>
            <a:r>
              <a:rPr sz="1400" b="0" i="0">
                <a:solidFill>
                  <a:srgbClr val="F6E6E9"/>
                </a:solidFill>
              </a:rPr>
              <a:t>One engine, every input: PVs or P&amp;L, by trade or by position, any currency, files or Kafka.</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
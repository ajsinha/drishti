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900.xml" ContentType="application/vnd.openxmlformats-officedocument.presentationml.notesSlide+xml"/>
  <Override PartName="/ppt/notesSlides/notesSlide90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312" r:id="rId22"/>
    <p:sldId id="313" r:id="rId23"/>
    <p:sldId id="314" r:id="rId24"/>
    <p:sldId id="315" r:id="rId25"/>
    <p:sldId id="316" r:id="rId26"/>
    <p:sldId id="317" r:id="rId27"/>
    <p:sldId id="318" r:id="rId28"/>
    <p:sldId id="319" r:id="rId29"/>
    <p:sldId id="320" r:id="rId30"/>
    <p:sldId id="321" r:id="rId31"/>
    <p:sldId id="322" r:id="rId32"/>
    <p:sldId id="323" r:id="rId33"/>
    <p:sldId id="324" r:id="rId34"/>
    <p:sldId id="325" r:id="rId35"/>
    <p:sldId id="326" r:id="rId36"/>
    <p:sldId id="327" r:id="rId37"/>
    <p:sldId id="328" r:id="rId38"/>
    <p:sldId id="329" r:id="rId39"/>
    <p:sldId id="330" r:id="rId40"/>
    <p:sldId id="331" r:id="rId41"/>
    <p:sldId id="332" r:id="rId42"/>
    <p:sldId id="333" r:id="rId43"/>
    <p:sldId id="334" r:id="rId8"/>
    <p:sldId id="335" r:id="rId7"/>
    <p:sldId id="336" r:id="rId6"/>
    <p:sldId id="337" r:id="rId5"/>
    <p:sldId id="338" r:id="rId4"/>
    <p:sldId id="339" r:id="rId3"/>
    <p:sldId id="340" r:id="rId50"/>
    <p:sldId id="341" r:id="rId51"/>
    <p:sldId id="342" r:id="rId52"/>
    <p:sldId id="343" r:id="rId53"/>
    <p:sldId id="344" r:id="rId54"/>
    <p:sldId id="345" r:id="rId55"/>
    <p:sldId id="346" r:id="rId56"/>
    <p:sldId id="347" r:id="rId57"/>
    <p:sldId id="348" r:id="rId58"/>
    <p:sldId id="349" r:id="rId59"/>
    <p:sldId id="350" r:id="rId60"/>
    <p:sldId id="351" r:id="rId61"/>
    <p:sldId id="352" r:id="rId62"/>
    <p:sldId id="353" r:id="rId63"/>
    <p:sldId id="354" r:id="rId64"/>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00.xml"/><Relationship Id="rId3" Type="http://schemas.openxmlformats.org/officeDocument/2006/relationships/slide" Target="slides/slide43.xml"/><Relationship Id="rId4" Type="http://schemas.openxmlformats.org/officeDocument/2006/relationships/slide" Target="slides/slide42.xml"/><Relationship Id="rId5" Type="http://schemas.openxmlformats.org/officeDocument/2006/relationships/slide" Target="slides/slide41.xml"/><Relationship Id="rId6" Type="http://schemas.openxmlformats.org/officeDocument/2006/relationships/slide" Target="slides/slide40.xml"/><Relationship Id="rId7" Type="http://schemas.openxmlformats.org/officeDocument/2006/relationships/slide" Target="slides/slide39.xml"/><Relationship Id="rId8" Type="http://schemas.openxmlformats.org/officeDocument/2006/relationships/slide" Target="slides/slide38.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901.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Values a position (sized)</a:t>
            </a:r>
          </a:p>
        </c:rich>
      </c:tx>
      <c:layout/>
      <c:overlay val="0"/>
    </c:title>
    <c:autoTitleDeleted val="0"/>
    <c:plotArea>
      <c:barChart>
        <c:barDir val="col"/>
        <c:grouping val="clustered"/>
        <c:ser>
          <c:idx val="0"/>
          <c:order val="0"/>
          <c:tx>
            <c:strRef>
              <c:f>Sheet1!$B$1</c:f>
              <c:strCache>
                <c:ptCount val="1"/>
                <c:pt idx="0">
                  <c:v>Values a position</c:v>
                </c:pt>
              </c:strCache>
            </c:strRef>
          </c:tx>
          <c:spPr>
            <a:solidFill>
              <a:srgbClr val="8A1626"/>
            </a:solidFill>
          </c:spPr>
          <c:cat>
            <c:strRef>
              <c:f>Sheet1!$A$2:$A$5</c:f>
              <c:strCache>
                <c:ptCount val="4"/>
                <c:pt idx="0">
                  <c:v>1-day</c:v>
                </c:pt>
                <c:pt idx="1">
                  <c:v>10-day</c:v>
                </c:pt>
                <c:pt idx="2">
                  <c:v>Stressed 1-day</c:v>
                </c:pt>
                <c:pt idx="3">
                  <c:v>Stressed 10-day</c:v>
                </c:pt>
              </c:strCache>
            </c:strRef>
          </c:cat>
          <c:val>
            <c:numRef>
              <c:f>Sheet1!$B$2:$B$5</c:f>
              <c:numCache>
                <c:formatCode>General</c:formatCode>
                <c:ptCount val="4"/>
                <c:pt idx="0">
                  <c:v>509</c:v>
                </c:pt>
                <c:pt idx="1">
                  <c:v>509</c:v>
                </c:pt>
                <c:pt idx="2">
                  <c:v>250</c:v>
                </c:pt>
                <c:pt idx="3">
                  <c:v>250</c:v>
                </c:pt>
              </c:numCache>
            </c:numRef>
          </c:val>
        </c:ser>
        <c:dLbls>
          <c:txPr>
            <a:bodyPr/>
            <a:lstStyle/>
            <a:p>
              <a:pPr>
                <a:defRPr sz="105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62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RAM per VaR server, GB (estimated)</a:t>
            </a:r>
          </a:p>
        </c:rich>
      </c:tx>
      <c:layout/>
      <c:overlay val="0"/>
    </c:title>
    <c:autoTitleDeleted val="0"/>
    <c:plotArea>
      <c:barChart>
        <c:barDir val="bar"/>
        <c:grouping val="stacked"/>
        <c:ser>
          <c:idx val="0"/>
          <c:order val="0"/>
          <c:tx>
            <c:strRef>
              <c:f>Sheet1!$B$1</c:f>
              <c:strCache>
                <c:ptCount val="1"/>
                <c:pt idx="0">
                  <c:v>Heap</c:v>
                </c:pt>
              </c:strCache>
            </c:strRef>
          </c:tx>
          <c:spPr>
            <a:solidFill>
              <a:srgbClr val="8A1626"/>
            </a:solidFill>
          </c:spPr>
          <c:cat>
            <c:strRef>
              <c:f>Sheet1!$A$2:$A$4</c:f>
              <c:strCache>
                <c:ptCount val="3"/>
                <c:pt idx="0">
                  <c:v>1-day need · 76</c:v>
                </c:pt>
                <c:pt idx="1">
                  <c:v>All four need · 151</c:v>
                </c:pt>
                <c:pt idx="2">
                  <c:v>Provisioned · 256</c:v>
                </c:pt>
              </c:strCache>
            </c:strRef>
          </c:cat>
          <c:val>
            <c:numRef>
              <c:f>Sheet1!$B$2:$B$4</c:f>
              <c:numCache>
                <c:formatCode>General</c:formatCode>
                <c:ptCount val="3"/>
                <c:pt idx="0">
                  <c:v>20</c:v>
                </c:pt>
                <c:pt idx="1">
                  <c:v>21</c:v>
                </c:pt>
                <c:pt idx="2">
                  <c:v>36</c:v>
                </c:pt>
              </c:numCache>
            </c:numRef>
          </c:val>
        </c:ser>
        <c:ser>
          <c:idx val="1"/>
          <c:order val="1"/>
          <c:tx>
            <c:strRef>
              <c:f>Sheet1!$C$1</c:f>
              <c:strCache>
                <c:ptCount val="1"/>
                <c:pt idx="0">
                  <c:v>Page cache</c:v>
                </c:pt>
              </c:strCache>
            </c:strRef>
          </c:tx>
          <c:spPr>
            <a:solidFill>
              <a:srgbClr val="C4384B"/>
            </a:solidFill>
          </c:spPr>
          <c:cat>
            <c:strRef>
              <c:f>Sheet1!$A$2:$A$4</c:f>
              <c:strCache>
                <c:ptCount val="3"/>
                <c:pt idx="0">
                  <c:v>1-day need · 76</c:v>
                </c:pt>
                <c:pt idx="1">
                  <c:v>All four need · 151</c:v>
                </c:pt>
                <c:pt idx="2">
                  <c:v>Provisioned · 256</c:v>
                </c:pt>
              </c:strCache>
            </c:strRef>
          </c:cat>
          <c:val>
            <c:numRef>
              <c:f>Sheet1!$C$2:$C$4</c:f>
              <c:numCache>
                <c:formatCode>General</c:formatCode>
                <c:ptCount val="3"/>
                <c:pt idx="0">
                  <c:v>34</c:v>
                </c:pt>
                <c:pt idx="1">
                  <c:v>78</c:v>
                </c:pt>
                <c:pt idx="2">
                  <c:v>78</c:v>
                </c:pt>
              </c:numCache>
            </c:numRef>
          </c:val>
        </c:ser>
        <c:ser>
          <c:idx val="2"/>
          <c:order val="2"/>
          <c:tx>
            <c:strRef>
              <c:f>Sheet1!$D$1</c:f>
              <c:strCache>
                <c:ptCount val="1"/>
                <c:pt idx="0">
                  <c:v>Load</c:v>
                </c:pt>
              </c:strCache>
            </c:strRef>
          </c:tx>
          <c:spPr>
            <a:solidFill>
              <a:srgbClr val="B9AFA5"/>
            </a:solidFill>
          </c:spPr>
          <c:cat>
            <c:strRef>
              <c:f>Sheet1!$A$2:$A$4</c:f>
              <c:strCache>
                <c:ptCount val="3"/>
                <c:pt idx="0">
                  <c:v>1-day need · 76</c:v>
                </c:pt>
                <c:pt idx="1">
                  <c:v>All four need · 151</c:v>
                </c:pt>
                <c:pt idx="2">
                  <c:v>Provisioned · 256</c:v>
                </c:pt>
              </c:strCache>
            </c:strRef>
          </c:cat>
          <c:val>
            <c:numRef>
              <c:f>Sheet1!$D$2:$D$4</c:f>
              <c:numCache>
                <c:formatCode>General</c:formatCode>
                <c:ptCount val="3"/>
                <c:pt idx="0">
                  <c:v>15</c:v>
                </c:pt>
                <c:pt idx="1">
                  <c:v>44</c:v>
                </c:pt>
                <c:pt idx="2">
                  <c:v>44</c:v>
                </c:pt>
              </c:numCache>
            </c:numRef>
          </c:val>
        </c:ser>
        <c:ser>
          <c:idx val="3"/>
          <c:order val="3"/>
          <c:tx>
            <c:strRef>
              <c:f>Sheet1!$E$1</c:f>
              <c:strCache>
                <c:ptCount val="1"/>
                <c:pt idx="0">
                  <c:v>OS</c:v>
                </c:pt>
              </c:strCache>
            </c:strRef>
          </c:tx>
          <c:spPr>
            <a:solidFill>
              <a:srgbClr val="4A5058"/>
            </a:solidFill>
          </c:spPr>
          <c:cat>
            <c:strRef>
              <c:f>Sheet1!$A$2:$A$4</c:f>
              <c:strCache>
                <c:ptCount val="3"/>
                <c:pt idx="0">
                  <c:v>1-day need · 76</c:v>
                </c:pt>
                <c:pt idx="1">
                  <c:v>All four need · 151</c:v>
                </c:pt>
                <c:pt idx="2">
                  <c:v>Provisioned · 256</c:v>
                </c:pt>
              </c:strCache>
            </c:strRef>
          </c:cat>
          <c:val>
            <c:numRef>
              <c:f>Sheet1!$E$2:$E$4</c:f>
              <c:numCache>
                <c:formatCode>General</c:formatCode>
                <c:ptCount val="3"/>
                <c:pt idx="0">
                  <c:v>7</c:v>
                </c:pt>
                <c:pt idx="1">
                  <c:v>7</c:v>
                </c:pt>
                <c:pt idx="2">
                  <c:v>7</c:v>
                </c:pt>
              </c:numCache>
            </c:numRef>
          </c:val>
        </c:ser>
        <c:ser>
          <c:idx val="4"/>
          <c:order val="4"/>
          <c:tx>
            <c:strRef>
              <c:f>Sheet1!$F$1</c:f>
              <c:strCache>
                <c:ptCount val="1"/>
                <c:pt idx="0">
                  <c:v>Headroom</c:v>
                </c:pt>
              </c:strCache>
            </c:strRef>
          </c:tx>
          <c:spPr>
            <a:solidFill>
              <a:srgbClr val="E3DED7"/>
            </a:solidFill>
          </c:spPr>
          <c:cat>
            <c:strRef>
              <c:f>Sheet1!$A$2:$A$4</c:f>
              <c:strCache>
                <c:ptCount val="3"/>
                <c:pt idx="0">
                  <c:v>1-day need · 76</c:v>
                </c:pt>
                <c:pt idx="1">
                  <c:v>All four need · 151</c:v>
                </c:pt>
                <c:pt idx="2">
                  <c:v>Provisioned · 256</c:v>
                </c:pt>
              </c:strCache>
            </c:strRef>
          </c:cat>
          <c:val>
            <c:numRef>
              <c:f>Sheet1!$F$2:$F$4</c:f>
              <c:numCache>
                <c:formatCode>General</c:formatCode>
                <c:ptCount val="3"/>
                <c:pt idx="0">
                  <c:v>0</c:v>
                </c:pt>
                <c:pt idx="1">
                  <c:v>0</c:v>
                </c:pt>
                <c:pt idx="2">
                  <c:v>91</c:v>
                </c:pt>
              </c:numCache>
            </c:numRef>
          </c:val>
        </c:ser>
        <c:gapWidth val="50"/>
        <c:overlap val="100"/>
        <c:axId val="-2068027336"/>
        <c:axId val="-2113994440"/>
      </c:barChart>
      <c:catAx>
        <c:axId val="-2068027336"/>
        <c:scaling>
          <c:orientation val="maxMin"/>
        </c:scaling>
        <c:delete val="0"/>
        <c:axPos val="l"/>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260.0"/>
          <c:min val="0.0"/>
        </c:scaling>
        <c:delete val="0"/>
        <c:axPos val="b"/>
        <c:majorTickMark val="out"/>
        <c:minorTickMark val="none"/>
        <c:tickLblPos val="nextTo"/>
        <c:txPr>
          <a:bodyPr/>
          <a:lstStyle/>
          <a:p>
            <a:pPr>
              <a:defRPr sz="900"/>
            </a:pPr>
          </a:p>
        </c:txPr>
        <c:crossAx val="-2068027336"/>
        <c:crosses val="autoZero"/>
      </c:valAx>
    </c:plotArea>
    <c:legend>
      <c:legendPos val="b"/>
      <c:overlay val="0"/>
      <c:txPr>
        <a:bodyPr/>
        <a:lstStyle/>
        <a:p>
          <a:pPr>
            <a:defRPr sz="950"/>
          </a:pPr>
        </a:p>
      </c:txPr>
    </c:legend>
    <c:dispBlanksAs val="gap"/>
  </c:chart>
  <c:txPr>
    <a:bodyPr/>
    <a:lstStyle/>
    <a:p>
      <a:pPr>
        <a:defRPr sz="1000">
          <a:solidFill>
            <a:srgbClr val="4A5058"/>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Lake over 7 years, TB (base)</a:t>
            </a:r>
          </a:p>
        </c:rich>
      </c:tx>
      <c:layout/>
      <c:overlay val="0"/>
    </c:title>
    <c:autoTitleDeleted val="0"/>
    <c:plotArea>
      <c:barChart>
        <c:barDir val="col"/>
        <c:grouping val="clustered"/>
        <c:ser>
          <c:idx val="0"/>
          <c:order val="0"/>
          <c:tx>
            <c:strRef>
              <c:f>Sheet1!$B$1</c:f>
              <c:strCache>
                <c:ptCount val="1"/>
                <c:pt idx="0">
                  <c:v>TB</c:v>
                </c:pt>
              </c:strCache>
            </c:strRef>
          </c:tx>
          <c:dPt>
            <c:idx val="0"/>
            <c:spPr>
              <a:solidFill>
                <a:srgbClr val="4A5058"/>
              </a:solidFill>
            </c:spPr>
          </c:dPt>
          <c:dPt>
            <c:idx val="1"/>
            <c:spPr>
              <a:solidFill>
                <a:srgbClr val="8A1626"/>
              </a:solidFill>
            </c:spPr>
          </c:dPt>
          <c:dPt>
            <c:idx val="2"/>
            <c:spPr>
              <a:solidFill>
                <a:srgbClr val="C4384B"/>
              </a:solidFill>
            </c:spPr>
          </c:dPt>
          <c:dPt>
            <c:idx val="3"/>
            <c:spPr>
              <a:solidFill>
                <a:srgbClr val="B9AFA5"/>
              </a:solidFill>
            </c:spPr>
          </c:dPt>
          <c:cat>
            <c:strRef>
              <c:f>Sheet1!$A$2:$A$5</c:f>
              <c:strCache>
                <c:ptCount val="4"/>
                <c:pt idx="0">
                  <c:v>1-day</c:v>
                </c:pt>
                <c:pt idx="1">
                  <c:v>All four</c:v>
                </c:pt>
                <c:pt idx="2">
                  <c:v>÷ 0.61</c:v>
                </c:pt>
                <c:pt idx="3">
                  <c:v>+ DR</c:v>
                </c:pt>
              </c:strCache>
            </c:strRef>
          </c:cat>
          <c:val>
            <c:numRef>
              <c:f>Sheet1!$B$2:$B$5</c:f>
              <c:numCache>
                <c:formatCode>General</c:formatCode>
                <c:ptCount val="4"/>
                <c:pt idx="0">
                  <c:v>16.1</c:v>
                </c:pt>
                <c:pt idx="1">
                  <c:v>48.2</c:v>
                </c:pt>
                <c:pt idx="2">
                  <c:v>79</c:v>
                </c:pt>
                <c:pt idx="3">
                  <c:v>158</c:v>
                </c:pt>
              </c:numCache>
            </c:numRef>
          </c:val>
        </c:ser>
        <c:dLbls>
          <c:numFmt formatCode="0.#" sourceLinked="0"/>
          <c:txPr>
            <a:bodyPr/>
            <a:lstStyle/>
            <a:p>
              <a:pPr>
                <a:defRPr sz="10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19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RAM need a server, GB (estimated)</a:t>
            </a:r>
          </a:p>
        </c:rich>
      </c:tx>
      <c:layout/>
      <c:overlay val="0"/>
    </c:title>
    <c:autoTitleDeleted val="0"/>
    <c:plotArea>
      <c:barChart>
        <c:barDir val="bar"/>
        <c:grouping val="stacked"/>
        <c:ser>
          <c:idx val="0"/>
          <c:order val="0"/>
          <c:tx>
            <c:strRef>
              <c:f>Sheet1!$B$1</c:f>
              <c:strCache>
                <c:ptCount val="1"/>
                <c:pt idx="0">
                  <c:v>Heap</c:v>
                </c:pt>
              </c:strCache>
            </c:strRef>
          </c:tx>
          <c:spPr>
            <a:solidFill>
              <a:srgbClr val="8A1626"/>
            </a:solidFill>
          </c:spPr>
          <c:cat>
            <c:strRef>
              <c:f>Sheet1!$A$2:$A$3</c:f>
              <c:strCache>
                <c:ptCount val="2"/>
                <c:pt idx="0">
                  <c:v>One server · 151</c:v>
                </c:pt>
                <c:pt idx="1">
                  <c:v>A shard owner · 69</c:v>
                </c:pt>
              </c:strCache>
            </c:strRef>
          </c:cat>
          <c:val>
            <c:numRef>
              <c:f>Sheet1!$B$2:$B$3</c:f>
              <c:numCache>
                <c:formatCode>General</c:formatCode>
                <c:ptCount val="2"/>
                <c:pt idx="0">
                  <c:v>21.2</c:v>
                </c:pt>
                <c:pt idx="1">
                  <c:v>21.2</c:v>
                </c:pt>
              </c:numCache>
            </c:numRef>
          </c:val>
        </c:ser>
        <c:ser>
          <c:idx val="1"/>
          <c:order val="1"/>
          <c:tx>
            <c:strRef>
              <c:f>Sheet1!$C$1</c:f>
              <c:strCache>
                <c:ptCount val="1"/>
                <c:pt idx="0">
                  <c:v>Page cache</c:v>
                </c:pt>
              </c:strCache>
            </c:strRef>
          </c:tx>
          <c:spPr>
            <a:solidFill>
              <a:srgbClr val="C4384B"/>
            </a:solidFill>
          </c:spPr>
          <c:cat>
            <c:strRef>
              <c:f>Sheet1!$A$2:$A$3</c:f>
              <c:strCache>
                <c:ptCount val="2"/>
                <c:pt idx="0">
                  <c:v>One server · 151</c:v>
                </c:pt>
                <c:pt idx="1">
                  <c:v>A shard owner · 69</c:v>
                </c:pt>
              </c:strCache>
            </c:strRef>
          </c:cat>
          <c:val>
            <c:numRef>
              <c:f>Sheet1!$C$2:$C$3</c:f>
              <c:numCache>
                <c:formatCode>General</c:formatCode>
                <c:ptCount val="2"/>
                <c:pt idx="0">
                  <c:v>78.4</c:v>
                </c:pt>
                <c:pt idx="1">
                  <c:v>26.1</c:v>
                </c:pt>
              </c:numCache>
            </c:numRef>
          </c:val>
        </c:ser>
        <c:ser>
          <c:idx val="2"/>
          <c:order val="2"/>
          <c:tx>
            <c:strRef>
              <c:f>Sheet1!$D$1</c:f>
              <c:strCache>
                <c:ptCount val="1"/>
                <c:pt idx="0">
                  <c:v>Load</c:v>
                </c:pt>
              </c:strCache>
            </c:strRef>
          </c:tx>
          <c:spPr>
            <a:solidFill>
              <a:srgbClr val="B9AFA5"/>
            </a:solidFill>
          </c:spPr>
          <c:cat>
            <c:strRef>
              <c:f>Sheet1!$A$2:$A$3</c:f>
              <c:strCache>
                <c:ptCount val="2"/>
                <c:pt idx="0">
                  <c:v>One server · 151</c:v>
                </c:pt>
                <c:pt idx="1">
                  <c:v>A shard owner · 69</c:v>
                </c:pt>
              </c:strCache>
            </c:strRef>
          </c:cat>
          <c:val>
            <c:numRef>
              <c:f>Sheet1!$D$2:$D$3</c:f>
              <c:numCache>
                <c:formatCode>General</c:formatCode>
                <c:ptCount val="2"/>
                <c:pt idx="0">
                  <c:v>44.2</c:v>
                </c:pt>
                <c:pt idx="1">
                  <c:v>14.7</c:v>
                </c:pt>
              </c:numCache>
            </c:numRef>
          </c:val>
        </c:ser>
        <c:ser>
          <c:idx val="3"/>
          <c:order val="3"/>
          <c:tx>
            <c:strRef>
              <c:f>Sheet1!$E$1</c:f>
              <c:strCache>
                <c:ptCount val="1"/>
                <c:pt idx="0">
                  <c:v>OS</c:v>
                </c:pt>
              </c:strCache>
            </c:strRef>
          </c:tx>
          <c:spPr>
            <a:solidFill>
              <a:srgbClr val="4A5058"/>
            </a:solidFill>
          </c:spPr>
          <c:cat>
            <c:strRef>
              <c:f>Sheet1!$A$2:$A$3</c:f>
              <c:strCache>
                <c:ptCount val="2"/>
                <c:pt idx="0">
                  <c:v>One server · 151</c:v>
                </c:pt>
                <c:pt idx="1">
                  <c:v>A shard owner · 69</c:v>
                </c:pt>
              </c:strCache>
            </c:strRef>
          </c:cat>
          <c:val>
            <c:numRef>
              <c:f>Sheet1!$E$2:$E$3</c:f>
              <c:numCache>
                <c:formatCode>General</c:formatCode>
                <c:ptCount val="2"/>
                <c:pt idx="0">
                  <c:v>7</c:v>
                </c:pt>
                <c:pt idx="1">
                  <c:v>7</c:v>
                </c:pt>
              </c:numCache>
            </c:numRef>
          </c:val>
        </c:ser>
        <c:gapWidth val="45"/>
        <c:overlap val="100"/>
        <c:axId val="-2068027336"/>
        <c:axId val="-2113994440"/>
      </c:barChart>
      <c:catAx>
        <c:axId val="-2068027336"/>
        <c:scaling>
          <c:orientation val="maxMin"/>
        </c:scaling>
        <c:delete val="0"/>
        <c:axPos val="l"/>
        <c:majorTickMark val="out"/>
        <c:minorTickMark val="none"/>
        <c:tickLblPos val="nextTo"/>
        <c:txPr>
          <a:bodyPr/>
          <a:lstStyle/>
          <a:p>
            <a:pPr>
              <a:defRPr sz="1050"/>
            </a:pPr>
          </a:p>
        </c:txPr>
        <c:crossAx val="-2113994440"/>
        <c:crosses val="autoZero"/>
        <c:auto val="1"/>
        <c:lblAlgn val="ctr"/>
        <c:lblOffset val="100"/>
        <c:noMultiLvlLbl val="0"/>
      </c:catAx>
      <c:valAx>
        <c:axId val="-2113994440"/>
        <c:scaling>
          <c:max val="160.0"/>
          <c:min val="0.0"/>
        </c:scaling>
        <c:delete val="0"/>
        <c:axPos val="b"/>
        <c:majorTickMark val="out"/>
        <c:minorTickMark val="none"/>
        <c:tickLblPos val="nextTo"/>
        <c:txPr>
          <a:bodyPr/>
          <a:lstStyle/>
          <a:p>
            <a:pPr>
              <a:defRPr sz="950"/>
            </a:pPr>
          </a:p>
        </c:txPr>
        <c:crossAx val="-2068027336"/>
        <c:crosses val="autoZero"/>
      </c:valAx>
    </c:plotArea>
    <c:legend>
      <c:legendPos val="b"/>
      <c:overlay val="0"/>
      <c:txPr>
        <a:bodyPr/>
        <a:lstStyle/>
        <a:p>
          <a:pPr>
            <a:defRPr sz="1000"/>
          </a:pPr>
        </a:p>
      </c:txPr>
    </c:legend>
    <c:dispBlanksAs val="gap"/>
  </c:chart>
  <c:txPr>
    <a:bodyPr/>
    <a:lstStyle/>
    <a:p>
      <a:pPr>
        <a:defRPr sz="1050">
          <a:solidFill>
            <a:srgbClr val="4A5058"/>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9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0.xml"/></Relationships>
</file>

<file path=ppt/notesSlides/_rels/notesSlide9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The scale figures (about 2.3 million positions, about 15,000 portfolios, about 700 limit letters) are an illustrative large bank, the volumes the product owner asked this deck to be sized for; they are not any client's data. Everything else is Drishti's: figures from the committed synthetic test data or measured on one workstation.</a:t>
            </a:r>
          </a:p>
          <a:p/>
          <a:p>
            <a:r>
              <a:t>Talk track: four things make VaR hard at a large bank. Scale: millions of positions a day and thousands of portfolios and limit letters, any of which someone may ask about at any moment. Pricing systems: they cannot be made to change, so the engine adapts to what each sends (scenario PVs or path P&amp;L, by trade or by position, files or Kafka). Currencies: a EUR- or CAD-based owner carries currency risk that a USD view hides, so the engine converts with each scenario's FX, not today's rate. Intraday: positions change during the day, and the VaR should follow without a full rerun, while the official record stays the morning run's.</a:t>
            </a:r>
          </a:p>
          <a:p/>
          <a:p>
            <a:r>
              <a:t>Sources: VAR_GUIDE.md sections 26-27 (a node from its float64 aggregate: 0.48 ms measured), 15.13 (any form, any grain), 15.9-15.11 (scenario PVs, scenario FX, currencies built ahead), 8.4 (intraday as built, official records the morning run's). Limit letters are a hierarchy configured by columns, built (VAR_GUIDE.md section 15.14).</a:t>
            </a:r>
          </a:p>
          <a:p/>
          <a:p>
            <a:r>
              <a:t>The legend explains the labels used on every later slide. Nothing built is labelled: VaR sharding, the cluster, Iceberg, the parallel Java lake loader, the editions and the computed attributes are built. Only what is not built carries a status: PLANNED (stressed VaR, 10-day VaR, ES backtests, the 200K benchmark), NOT RUN (written but not yet run on AWS: Glue and S3 Tables), PROPOSED for this deck's recommendations. MEASURED, ESTIMATED and ASSUMPTION say how a figure was obtained.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figures of the demo bank, for reference (the figure tiles were removed from the slide): VaR 99% 1-day 112,041,646 USD and ES 97.5% 160,143,809 USD on 2026-09-30; 509 scenario days (2024-09-17 to 2026-09-29); 9,572 live trades in 7,984 derived positions, 88 hierarchy nodes, 28 portfolios; a node's VaR in under 1 ms from its float64 aggregate; the date loads in 572 ms.</a:t>
            </a:r>
          </a:p>
          <a:p/>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The work on scenario PVs (with reporting currencies, the currency picker, intraday from files and Kafka, any input contract, the configurable window, confidence and root name, JSONL) is built and released. The work on hierarchies (configured by columns with the limit letters and the var-limit feed, PNL-&lt;trade&gt;-&lt;set&gt; ids, Iceberg as a full alternative to Delta for VaR, intraday and exposure, official results to Delta or Iceberg on a folder or S3, airtight connector upgrades) is built. Scaling one date out across a cluster of servers (VaR sharding) and the parallel Java lake loader are built, and so are the editions and the computed attributes; 10-day and stressed VaR and the 200K benchmark are not built yet.</a:t>
            </a:r>
          </a:p>
          <a:p/>
          <a:p>
            <a:r>
              <a:t>Measured (ColumnHierarchyBenchmark, 10,000 trades, 700 letters): the hierarchies build in 65-99 ms against 53-197 ms without the letters, and the VaR of every node (1,412) takes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the Basel traffic light counts breaches, losses bigger than VaR, in 250 days at 99%: 0–4 green, 5–9 amber, 10+ red; the Kupiec test (Paul Kupiec, 1995) asks whether the number of breaches is consistent with 99%, about 2–3 in 250 days; the Christoffersen test (Peter Christoffersen, 1998) asks whether breaches cluster together, a sign the model reacts too slowly when markets turn. Both are standard statistical tests named after the researchers who published them. Drishti reports their p-values),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ES backtests, 10-day and stressed VaR (the capacity slides size the last two).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a:t>
            </a:r>
          </a:p>
          <a:p/>
          <a:p>
            <a:r>
              <a:t>Scenario window: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VaR 99% by default, 95% by configuration (DRISHTI_VAR_CONFIDENCE, the setting drishti.var.confidence); ES 97.5% by default (DRISHTI_VAR_ES_CONFIDENCE); both may also be set per request, and every label on the screens follows the answer. The backtest stays at 99%: the Basel traffic light (breaches in 250 days at 99%: 0–4 green, 5–9 amber, 10+ red), the Kupiec test (Paul Kupiec, 1995: is the number of breaches consistent with 99%, about 2–3 in 250 days?) and the Christoffersen test (Peter Christoffersen, 1998: do breaches cluster together, a sign the model reacts too slowly when markets turn?). Both are standard statistical tests named after the researchers who published them. Drishti reports their p-values.</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built; scenario PVs at trade grain and position grain for either form are built.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(commit 295cba961). Intraday works on an Iceberg risk lake too: a file batch appended to an Iceberg table is applied live after its data-load signal, and each Kafka window is one Iceberg append (LakeAppends; VarFormatEqualityTest applies intraday file batches live from Iceberg, equal to Delta).</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intraday was built,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every configured hierarchy (MGMT, LEGAL and the limit letters: 131 nodes on the test data), and published to risk-results/var-official, append-only, in Delta (the default) or Iceberg, under a folder or an s3:// root (drishti.var.official.format and .storage), with a JSONL copy beside it. The lake of inputs is Delta by default or Iceberg; VaR, intraday and exposure read either, equal to the cent. No engine reads risk-results back (a guard test).</a:t>
            </a:r>
          </a:p>
          <a:p/>
          <a:p>
            <a:r>
              <a:t>Status: everything on this slide is built.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trees, all built. MGMT (bank, division, desk, book) and LEGAL (bank, legal entity, desk, book) arrive as risk-hierarchy rows (VAR_GUIDE.md section 15.4: NODE_ID = &lt;HIERARCHY&gt;~&lt;node&gt;, LIMIT_VAR per node, BOOKS listing every book beneath a node). The limit letters (LL) are a hierarchy configured by columns, built (VAR_GUIDE.md sections 15.14 and 15.15; CHANGELOG 'Hierarchies').</a:t>
            </a:r>
          </a:p>
          <a:p/>
          <a:p>
            <a:r>
              <a:t>Configuration: the market-risk pack's hierarchies: block (the code on the slide, as built); drishti.var.hierarchies in the server's settings wins over it; neither: MGMT and LEGAL from the rows, as before. Keys: title, source (risk-hierarchy or columns), levels (top first), level-names, root, ids (path, the default, or leaf), word (the scope word: LL:LL-0003, LL:LL-0003/DESK-RATES), limits (the var-limit kind). A configuration error is DRS-5213.</a:t>
            </a:r>
          </a:p>
          <a:p/>
          <a:p>
            <a:r>
              <a:t>Members are rows, not books: a column node's members are the trades whose values start with its path, so a letter may hold part of a book (two of the demo's books are split between two letters). The engine sums every cell once when the date loads (a run of one book's trades with the same level values), so a letter's VaR costs what a desk's does. A position whose trades sit under two letters is split (&lt;position&gt;@&lt;letter&gt;) and the provenance says how many were split.</a:t>
            </a:r>
          </a:p>
          <a:p/>
          <a:p>
            <a:r>
              <a:t>Data without the column (product owner, 2026-10-28): a source that does not keep a level column (P&amp;L vectors or exposure paths written before the letters) skips that hierarchy alone: the date, MGMT, LEGAL, exposure and the official captures answer as before, and a DRS-5211 warning names the hierarchy, the column, the kind and the fix, in the provenance, Admin → Health (Hierarchy skipped) and the log; its tree answers DRS-5214 and the explorer lists it disabled. A row that leaves the column empty, in a table that keeps it, is refused and listed. Tests: HierarchyColumnMissingTest, HierarchyUpgradeWithoutLettersTest.</a:t>
            </a:r>
          </a:p>
          <a:p/>
          <a:p>
            <a:r>
              <a:t>Limits: the dated kind var-limit (VLIM, JSONL: HIERARCHY, NODE_ID, LIMIT_VAR in USD); a node without a row shows no limit, never zero; a row naming no node is said (DRS-5212). The tree shows each node's VaR, ES and limit bar (amber at 75%, red at 90%); the official records carry LIMIT and LIMIT_USE per node, date and result version (section 19). Official records are taken for every configured hierarchy (131 nodes on the test data: 88 MGMT and LEGAL + 43 LL); exposure builds the same hierarchies.</a:t>
            </a:r>
          </a:p>
          <a:p/>
          <a:p>
            <a:r>
              <a:t>Evidence: HierarchyEquivalenceTest rebuilds MGMT and LEGAL from columns and gets the rows' trees exactly (ids, parents, levels, members, aggregates to the bit; VaR, ES, components and worst scenarios to the cent in USD and EUR; limits); every letter is the sum of its rows. ColumnHierarchyBenchmark (MEASURED, one workstation): 10,000 trades, 100 books, 10 desks, 700 letters: the build 65-99 ms against 53-197 ms without the letters; the VaR of every node (1,412)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built; so is everything else on this slide: scenario PVs (VAR_GUIDE.md section 15.9), position grain for both forms, the canonical record, the per-system pin, intraday files (section 8.4) and Kafka micro-batches ('Intraday updates from Kafka, as built'),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one-page specification of what a pricing system sends. System names in the pin are placeholders (SYS_A, SYS_B).</a:t>
            </a:r>
          </a:p>
          <a:p/>
          <a:p>
            <a:r>
              <a:t>Sources: VAR_GUIDE.md section 15.13 (every record says what it is: VALUE_TYPE, GRAIN, its id TRADE_ID or POSITION_ID, CURRENCY and SOURCE_SYSTEM, in files and Kafka lines alike; refusals DRS-5208, 5209, 5210; the pin is optional and read at start), section 15.14 (a hierarchy's level columns, such as LIMIT_LETTER, on every row; a source whose table does not keep the column skips that hierarchy alone with a DRS-5211 warning, while a row that leaves it empty is refused), section 15.12 (JSONL, one row of the contract a line), sections 15.2 and 15.9 (the as-built contracts: LEGAL_ENTITY, DESK and TT_BOOK promoted, the load fails otherwise; TRADE_STATUS and MATURITY_DATE: only live trades count; STATUS; BATCH_ID; RUN_KIND and COMPUTED_AT), section 15.8 (one run per date; restatement rewrites the whole date), section 8.4 (intraday: RUN_KIND INTRADAY, own BATCH_ID, later COMPUTED_AT, the morning run's scenario set; a cancel is TRADE_STATUS CANCELLED with the vector null), section 20.3 (a null or NaN scenario PV is a scenario that failed to price: DRS-5206, never zero-filled), 'Intraday updates from Kafka, as built'.</a:t>
            </a:r>
          </a:p>
          <a:p/>
          <a:p>
            <a:r>
              <a:t>Details for the pricing-system teams: a P&amp;L vector is in USD (REPORTING_CCY) with CURRENCY the trade's own; the optional PV column makes conversion to other reporting currencies exact (else the trade is counted as tradesWithoutPv). A position record carries what places it without a trade master: LEGAL_ENTITY, DESK, TT_BOOK, COUNTERPARTY when it has one, CURRENCY, the identifiers the position rules use, and optionally TRADE_IDS. The endorsed canonical record names the scenario PVs PVS and the book BOOK; the as-built contracts say SCENARIO_PV and TT_BOOK, which this slide uses.</a:t>
            </a:r>
          </a:p>
          <a:p/>
          <a:p>
            <a:r>
              <a:t>Files: the full run replaces the date in the lake (lake build), an intraday batch is appended (lake build --mode append or drishti.py var intraday --load), then the data-load signal POST /api/v1/packs/market-risk/loads. Kafka: each message's value is JSONL text, one or more records (both forms and cancels may share a message); a window every 5 minutes, an early flush at 500 trades, an administrator's Apply now; each window is written to the lake as one intraday batch.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(JSON Lines is Drishti's data standard).</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RUN_KIND and COMPUTED_AT. The self-describing fields of the endorsed record (VALUE_TYPE, GRAIN with TRADE_ID or POSITION_ID, CURRENCY, SOURCE_SYSTEM, all required) are built; GRAIN is always present and must match TRADE_ID or POSITION_ID; old files are brought to the format with drishti.py convert --set …. The canonical record names the scenario PVs PVS and the book BOOK where the earlier contract columns say SCENARIO_PV and TT_BOOK. The four canonical lines are on the Any input contract slide.</a:t>
            </a:r>
          </a:p>
          <a:p/>
          <a:p>
            <a:r>
              <a:t>Built: P&amp;L-vector ids are PNL-&lt;trade or position&gt;-&lt;set&gt; (PNL-MX-20000274-HS-509; the earlier PV- ids are still read from lakes and captures written before); every P&amp;L-vector, scenario-PV and exposure-path row carries LIMIT_LETTER, the level column of the limit letters (a source without the column skips that hierarchy alone with a DRS-5211 warning); the new dated kind var-limit (VLIM: HIERARCHY, NODE_ID, LIMIT_VAR in USD) holds the nodes' limits (VAR_GUIDE.md sections 15.14 and 15.15).</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checklist for bringing one pricing system onto the engine. Steps 1 to 6 are the contract as built; step 7 uses the approach of the stand-in pricing system's checker; the 'ready when' line is this deck's recommendation.</a:t>
            </a:r>
          </a:p>
          <a:p/>
          <a:p>
            <a:r>
              <a:t>Sources: VAR_GUIDE.md section 15.13 (forms and grains; one system, one form and one grain on one date, DRS-5210; the pin, DRS-5209; the record fields, DRS-5208; provenance.inputsBySystem per system: form, grain, rows, decidedBy, tradesWithoutPv, shown in How this number was built), section 15.9 (fx-scenario supplied, or derived from the FX history as FX(s) = FX(base) × H(d_s) / H(d_s − 1); crosses through USD; DRS-5207 when a currency has no scenario FX), section 20.3 (what the load checks), section 15.12 (tools/pvgen/check.py recomputes from the files what the engine should show and compares the bank's and every desk's VaR and ES with GET /api/v1/var/scope; exit 1 on a difference).</a:t>
            </a:r>
          </a:p>
          <a:p/>
          <a:p>
            <a:r>
              <a:t>Talk track: onboarding is a data exercise, not a code change. The system team decides what it can send, maps its fields to the record, prices over the agreed scenario set, and chooses files or Kafka. The pin is a safety net: if the system suddenly sends something else, the records are refused and visible rather than silently mixed in. Before go-live, an independent recomputation from the very files sent should agree with the engine, and the refusal list should be empty. Older files are brought to the record with drishti.py convert --set …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built; VAR_SHARDING.md).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scale factor 2,300,000 / 100,000 = 23). Vectors: 2,300,000 × 509 × 8 bytes = 9,365,600,000 B = 9.37 GB per date per currency in float64; float32 halves it to 4.68 GB. Hot file: VarTierBenchmark measured 237.7 MB per date for 100,000 trades (203.6 MB of float32 rows plus aggregates of 2,100 books and nodes, columns and ids), × 23 ≈ 5,467 MB ≈ 5.5 GB. Heap: about 80 MB per open date per 100,000 trades measured, × 23 ≈ 1.8 GB; with hot-dates 2 about 3.7 GB. First load: 0.8–1.2 s per 100,000 measured, × 23 ≈ 18–28 s (the sort is n log n, so slightly more than linear), plus the lake read: the guide estimates 10 to 40 s for a cold whole-bank read of about 4 GB of Parquet on one server, so about 18 to 70 s for the 7 GB here. Reopening: 23 ms per 100,000, × 23 ≈ 0.5 s. Whole bank resident: 3.4 ms for 203.6 MB measured (≈ 60 GB/s), so 4.68 GB ≈ 78 ms; cold from NVMe at about 3 GB/s ≈ 1.6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 23: ≈ 5.75 GB a currency, ≈ 23 GB a date for four, ≈ 115 GB for the five retained dates, ≈ 99 s background build. USD hot files: disk-dates 60 × ≈ 5.5 GB ≈ 330 GB of local disk (lower disk-dates to need less). Lake: Parquet ≈ 0.75 × raw (the design's estimate): 9.37 GB × 0.75 ≈ 7.0 GB a date, × 252 business dates ≈ 1.8 TB a year, ≈ 12.4 TB for the 7 years kept.</a:t>
            </a:r>
          </a:p>
          <a:p/>
          <a:p>
            <a:r>
              <a:t>15,000 portfolios: the cost of computing every portfolio's vector is the sum over portfolios of their position counts × 509. The average size is not known: 130 positions per portfolio is an assumption (it roughly matches 2.3M positions each sitting in about one portfolio, and the same assumption as the companion deck): 15,000 × 130 = 1.95 million row reads, 1.95M × 2,036 B ≈ 3.97 GB of float32 rows. Sequential reads at the measured 60 GB/s give ≈ 0.07 s; scattered reads at the design's 5 GB/s effective give ≈ 0.8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15,000 × 509 × 8 B ≈ 61 MB a date a currency, ≈ 305 MB for five currencies, about 31 MB a currency in float32 (proposed; today only captures keep a vector). 15,000 portfolio rows are within the loader's 100,000-row read limit for a connector that cannot list a date whole.</a:t>
            </a:r>
          </a:p>
          <a:p/>
          <a:p>
            <a:r>
              <a:t>Per-trade-currency totals: each node keeps, per trade currency, the 509 scenario PV sums and today's sum (510 float64 = 4 KB). Nodes now span three trees: an assumed 5,000 MGMT and LEGAL nodes plus about 700 limit letters (≈ 5,700 nodes) × 10 trade currencies on average × 4,080 B ≈ 233 MB, independent of the position count. A headline in any currency is then a sum over the node's trade currencies of 509 multiply-adds: microseconds.</a:t>
            </a:r>
          </a:p>
          <a:p/>
          <a:p>
            <a:r>
              <a:t>Intraday per changed trade or position, in a four-level tree: its book aggregate and the nodes above it in MGMT and LEGAL (about 9 vectors, plus about 2 for its limit letter and that tree's root: ≈ 11), in USD and the 4 built currencies (≈ 55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2.3M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10-day VaR and stressed VaR are not built yet. This slide sizes what they add for a large bank: e.g. 2.3M positions, 15,000 portfolios, about 700 limit letters (509 scenarios, five reporting currencies, 7 years). The methods are ASSUMPTIONS for the bank to confirm.</a:t>
            </a:r>
          </a:p>
          <a:p/>
          <a:p>
            <a:r>
              <a:t>10-day VaR. (a) Square-root-of-time: 10-day VaR = √10 × 1-day VaR; no extra data or memory. (b) Overlapping 10-day historical returns: each position gets a second vector of 10-day P&amp;L over the window; 509 daily scenario dates give 509 − 9 = 500 overlapping 10-day windows; sized as 509 (+1.00× the 1-day), conservative. Whether the 10-day vector is built at load from the daily vectors (exact only for linear positions) or delivered (full revaluation over 10-day moves) is for the bank to settle when they are built; sized here as delivered and stored.</a:t>
            </a:r>
          </a:p>
          <a:p/>
          <a:p>
            <a:r>
              <a:t>Stressed VaR: a second scenario set over a 12-month stress period (≈250 scenarios, e.g. 2008–09), per position per date: 250 / 509 = 0.49× the 1-day vector, with stressed ES from the same vector. Stressed 10-day: another ≈250: +0.49×. Total width: 509 + 509 + 250 + 250 = 1,518 values a position = 2.98× the 1-day.</a:t>
            </a:r>
          </a:p>
          <a:p/>
          <a:p>
            <a:r>
              <a:t>Per date (decimal GB; scale factor 2,300,000 / 100,000 = 23 on the measured 100,000-trade figures of VAR_GUIDE.md 27.3 and 15.11; none measured at 2.3M): float64 vectors 2.3M × 1,518 × 8 B = 27.93 GB (9.37 GB 1-day only); float32 rows 13.97 GB (4.68 GB); USD hot file 237.7 MB per 100k × 23 = 5.47 GB × 2.98 = 16.30 GB; heap of an open date 1.84 GB (80 MB per 100k × 23), of which aggregates 8.6 MB per 100k × 23 = 0.20 GB grow with the width: 1.84 + 0.20 × 1.98 = 2.23 GB. First open: lake read 18–70 s for 7 GB of Parquet (the guide's 10–40 s for about 4 GB) × 2.98 = 54–209 s; build 0.8–1.2 s per 100k × 23 = 18–28 s × 2.98 = 55–82 s: 2 to 5 minutes in all. Other currencies: 1-day built ahead, 250 MB per 100k × 23 = 5.75 GB a currency a date; the 10-day and stressed sets on first ask, 5.75 × 1.98 = 11.4 GB per currency asked (ASSUMPTION).</a:t>
            </a:r>
          </a:p>
          <a:p/>
          <a:p>
            <a:r>
              <a:t>Per VaR server, need before headroom (next slide): NVMe 16.30 × 60 USD dates = 978 GB + 115 + 45.6 + a load's spill and new file 44.2 GB → 1,183 GB (458 GB 1-day only); RAM 151 GB (76 GB). Lake over 7 years, base: 48.2 TB (16.1 TB), of which vectors 12.39 × 2.98 = 36.95 TB. Option (a): width 509 + 250 = 759, × 1.49; vectors 18.5 TB over 7 years.</a:t>
            </a:r>
          </a:p>
          <a:p/>
          <a:p>
            <a:r>
              <a:t>Computation: a node is its float64 aggregate per measure (0.48 ms MEASURED); a whole-bank sum of a 509-wide set reads 4.68 GB at ≈60 GB/s ≈ 78 ms, a 250-wide stressed set ≈ 38 ms; the four together ≈ 233 ms (ESTIMATED).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Capacity for a large bank: e.g. 2.3M positions, 15,000 portfolios, about 700 limit letters, with 1-day, 10-day and stressed VaR (not built yet)), as the platform stands: one server holds each date's whole VaR. Labels: MEASURED (a Drishti measurement), ESTIMATED (arithmetic on measured figures), ASSUMPTION (for the bank to confirm). Every process shown is built, so none carries a status label; clustering several servers as one and VaR sharding are built.</a:t>
            </a:r>
          </a:p>
          <a:p/>
          <a:p>
            <a:r>
              <a:t>HEADROOM (39%): the projected peak may use at most 61% of the provisioned capacity, so provisioned = need ÷ 0.61 ≈ need × 1.64, applied to RAM, heap, NVMe, CPU and the lake. If a bank means need × 1.39 instead, every provisioned figure is about 15% less: RAM 210 GB (still a 256 GB machine), heap 30g, budget 19.4 GB, NVMe 1.64 TB (one 1.9 TB disk), 48 vCPU, lake 67 TB (134 TB with a DR copy).</a:t>
            </a:r>
          </a:p>
          <a:p/>
          <a:p>
            <a:r>
              <a:t>PROCESSES (built; VAR_GUIDE.md 19, 8.4, 28; NET.md 8; LIVE.md). Every VaR server holds whole dates and is sized for all 2.3M positions and all four sets; the four are the same machine so any can take any role. Official EOD: DRISHTI_VAR_OFFICIAL true on it only. Intraday writer: the pv-updates connector (DRISHTI_VAR_PV_STREAM=true) on one node only; every loaded server applies its batches from the lake. UI/API replicas: 2, so one can fail. Consoles: 2 hosts, 4 workers each, sticky sessions and one DRISHTI_SESSION_SECRET; several consoles without sticky sessions is part of the designed multi-instance work.</a:t>
            </a:r>
          </a:p>
          <a:p/>
          <a:p>
            <a:r>
              <a:t>CPU (ESTIMATED): need 32 vCPU (24 threads reached ≈60 GB/s in the measurement; plus 8 for a concurrent load, currency builds, intraday and requests, ASSUMPTION); 32 ÷ 0.61 = 52.5 → 64. Large (2× positions): 48 → 79 → 96.</a:t>
            </a:r>
          </a:p>
          <a:p/>
          <a:p>
            <a:r>
              <a:t>CONSOLES: one worker ≈ 40 pages/s (MEASURED, SCALE_BENCHMARK.md section 8). ASSUMPTION: 200 named users, 50 at once, a page every 10 s, peaks 5× the mean: 25 pages/s; ÷ 0.61 = 41 pages/s against one host's 160; the second host is for failover.</a:t>
            </a:r>
          </a:p>
          <a:p/>
          <a:p>
            <a:r>
              <a:t>MEMORY per VaR server (ESTIMATED). Heap, live: two USD dates with all four sets 2 × 2.23 = 4.46 GB + two other-currency 1-day books 2 × 1.84 = 3.68 (ASSUMPTION) + a load's sort and columns 2 + the rest of the server 4 (ASSUMPTION) = 14.14 GB; × 1.5 for generational ZGC = 21.2 GB need; ÷ 0.61 = 34.8 → -Xmx36g (1-day only: 20.0 GB). Memory budget (drishti.var.memory-budget-mb, the float32 copy of one date): need 13.97 GB → 14,300 MB; ÷ 0.61 → 23,000 MB; the default at -Xmx36g would be 9 GB and refuse the date (503 DRS-5204). Page cache: two USD dates 2 × 16.30 = 32.6 GB + four 1-day currency books 23 GB + two currencies' 10-day and stressed books 2 × 11.4 = 22.8 GB (ASSUMPTION) = 78.4 GB (1-day 33.9). A load: spill 27.93 + new hot file 16.30 = 44.2 GB transient (14.8). OS and native 7 GB. Need 21.2 + 78.4 + 44.2 + 7 = 150.9 GB (1-day 75.8); ÷ 0.61 = 247 → 256 GB; the provisioned bar shows the provisioned heap (36), the same cache and load, and 91 GB of headroom. Local NVMe: 1,183 GB ÷ 0.61 = 1,939 GB → 2 × 1.9 TB = 3.8 TB.</a:t>
            </a:r>
          </a:p>
          <a:p/>
          <a:p>
            <a:r>
              <a:t>LARGE (2× positions, 4.6M, all four sets): heap 36.4 → 60g; RAM 291 → 477 → 512 GB; budget 27.9 GB ÷ 0.61 → 46,000 MB; NVMe 2,366 GB → 3.88 TB → 5.7 TB. Exposure is not sized 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over 7 years for a large bank: e.g. 2.3M positions, 15,000 portfolios, about 700 limit letters, with 1-day, 10-day and stressed VaR (method (b), conservative), beside the 1-day-only figures (VAR_GUIDE.md 15.1 and LAKE_MAINTENANCE.md: the risk and risk-results domains keep 7 years of business dates and of time travel). 7 × 252 = 1,764 dates. Decimal units. The multiplier 2.98 = 1,518 / 509.</a:t>
            </a:r>
          </a:p>
          <a:p/>
          <a:p>
            <a:r>
              <a:t>P&amp;L vectors (ESTIMATED): 2.3M × 1,518 × 8 B = 27.93 GB a date; × 0.75 (Parquet, the design's estimate) = 20.95 GB; × 1,764 = 36.95 TB (1-day only 12.39 TB). Option (a), √10 scaling: 18.5 TB. Row columns (ASSUMPTION): about 100 B a row of dictionary-encoded terms, each set its own rows: 0.41 × 4 = 1.62 TB. Scenario PVs as well (ASSUMPTION, upper case): +37.0 TB. Trades (ESTIMATED, only if Drishti's trading pack holds them): 1.5 KB a trade a day (SCALE_BENCHMARK.md 8, MEASURED), trades ≈ positions: 6.09 TB. Positions: the official membership record MEASURED at 40.8 B a trade on the demo: 0.17 TB.</a:t>
            </a:r>
          </a:p>
          <a:p/>
          <a:p>
            <a:r>
              <a:t>Official results (ESTIMATED from MEASURED demo files): 27,527 B a node capture + 352 B record + 321 B published row + about 1 KB JSONL ≈ 29.2 KB a node; 5,700 nodes (ASSUMPTION: 5,000 MGMT and LEGAL + 700 limit letters) × 1,764 = 0.29 TB; × 2.98 for the new measures (ASSUMPTION) = 0.88 TB.</a:t>
            </a:r>
          </a:p>
          <a:p/>
          <a:p>
            <a:r>
              <a:t>Intraday (ASSUMPTION): 230,000 positions changed a day (10%), each re-sent with all four sets: 1,518 × 8 B × 0.75 = 9.1 KB a row, 2.09 GB a day; × 1,764 × 2 (compaction rewrites the small files; the removed ones are kept 7 years) = 7.39 TB (2.48 TB 1-day). Restatements (ASSUMPTION): 2% of dates rerun in full: 0.74 TB. Delta checkpoints (ESTIMATED): one a day 0.14 TB × 2.98 = 0.42 TB; one every 10 commits at 120 commits a day 4.9 TB (upper case). Iceberg metadata, if Iceberg is chosen: ≈ 12 GB; the metadata file reaches ≈ 0.2 GB by year 7. Scenario FX: under 1 GB.</a:t>
            </a:r>
          </a:p>
          <a:p/>
          <a:p>
            <a:r>
              <a:t>Totals. Need, base: 36.95 + 1.62 + 7.39 + 0.88 + 0.17 + 0.74 + 0.42 = 48.2 TB (1-day 16.1). Provisioned with 39% headroom: ÷ 0.61 = 79 TB (1-day 26.4); with a DR copy 158 TB. Need, upper: base + PVs 36.95 + trades 6.09 + frequent checkpoints 4.5 = 95.7 TB; ÷ 0.61 = 157 TB; with DR 314 TB.</a:t>
            </a:r>
          </a:p>
          <a:p/>
          <a:p>
            <a:r>
              <a:t>Local NVMe per VaR server (ESTIMATED): USD hot files 16.30 GB × tier.disk-dates 60 = 978 GB; four 1-day currency books 23 GB × 5 retained dates = 115 GB; the 10-day and stressed books of four currencies asked on today 45.6 GB (ASSUMPTION); a load 44.2 GB: 1,183 GB need; ÷ 0.61 = 1,939 GB → 2 × 1.9 TB. Rebuilt from the lake, so local NVMe, not EFS.</a:t>
            </a:r>
          </a:p>
          <a:p/>
          <a:p>
            <a:r>
              <a:t>250-day window (drishti.var.scenario-window 250, built): rows cut to the newest 250 at load: 1,000 / 1,518 = 0.66 of everything per date: float32 9.2 GB, NVMe ≈ 780 GB. The lake keeps what the bank sends: 24.3 TB of vectors only if it sends 250-day sets.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plan to hand to infrastructure, for 1-day, 10-day and stressed VaR (not built yet), the conservative case) for a large bank: e.g. 2.3M positions, 15,000 portfolios, about 700 limit letters, with 39% headroom. Every figure ESTIMATED (or ASSUMPTION where marked); the arithmetic is in the notes of the three previous slides. Headroom: the projected peak uses at most 61% of the provisioned capacity, provisioned = need ÷ 0.61 (× 1.64).</a:t>
            </a:r>
          </a:p>
          <a:p/>
          <a:p>
            <a:r>
              <a:t>VaR servers: 4, identical, so any can take any role (official EOD, intraday writer, two UI/API replicas); each holds whole dates and is sized for all 2.3M positions and all four sets. vCPU 32 need → 64; RAM 151 GB need → 247 → 256 GB; heap 21.2 GB need → 34.8 → -Xmx36g with generational ZGC and MALLOC_ARENA_MAX=2; drishti.var.memory-budget-mb (DRISHTI_VAR_MEMORY_MB) 14,300 → 23,000 MB; local NVMe for drishti.var.tier.dir 1,183 GB → 1,939 GB → 2 × 1.9 TB. Large (2× positions): 5 servers (adding a history and backtest node so the UI replicas keep today resident), 96 vCPU, 512 GB, -Xmx60g, 46,000 MB, 5.7 TB NVMe.</a:t>
            </a:r>
          </a:p>
          <a:p/>
          <a:p>
            <a:r>
              <a:t>Consoles: 2 hosts, 4 vCPU and 8 GB, 4 workers: the assumed peak of 25 pages/s ÷ 0.61 = 41 pages/s against 160 per host (40 a worker, MEASURED). Lake: need 48.2 TB base over 7 years → ÷ 0.61 = 79 TB → 158 TB with a DR copy; upper 95.7 → 157 → 314 TB. Shared state on EFS or NFS: ≈ 300 GB ÷ 0.61 ≈ 0.5 TB.</a:t>
            </a:r>
          </a:p>
          <a:p/>
          <a:p>
            <a:r>
              <a:t>Network (ESTIMATED): a date's first open reads 27.93 GB × 0.75 = 20.9 GB of Parquet; decoding, not the network, limits it (0.1–0.4 GB/s on one server: 54–209 s); 0.4 GB/s = 3.2 Gbit/s ÷ 0.61 = 5.2 Gbit/s, so 10 Gbit/s at least. Intraday: 2.09 GB a day in about 120 windows = 17.5 MB a window; about 35 MB per server per 5 minutes, under 1 MB/s.</a:t>
            </a:r>
          </a:p>
          <a:p/>
          <a:p>
            <a:r>
              <a:t>Kafka (ASSUMPTION): a record of 1,518 numbers as JSON ≈ 12–24 KB (the guide: 4–8 KB for 509); 230,000 × 24 KB = 5.5 GB a day; kept 7 days = 38.6 GB; ÷ 0.61 → 64 GB per replica.</a:t>
            </a:r>
          </a:p>
          <a:p/>
          <a:p>
            <a:r>
              <a:t>Example instances, to price and confirm: m6id.16xlarge (64 vCPU, 256 GiB, 2 × 1,900 GB NVMe instance store, up to 25 Gbit/s); r6id.24xlarge (96 vCPU, 768 GiB, 4 × 1,425 GB NVMe) for the large size. Instance store is lost when the instance stops: acceptable for hot files, which are rebuilt from the lake. Fargate suits the consoles, not a VaR server. On premises: two-socket servers, 2 × 16 cores, 256 GB with every memory channel populated (bandwidth decides the sums), 2 × 1.92 TB NVMe, 25 GbE; an S3-compatible object store for the lake.</a:t>
            </a:r>
          </a:p>
          <a:p/>
          <a:p>
            <a:r>
              <a:t>One server per date: per million positions the provisioned RAM is about (151 − 13 fixed) / 2.3 ÷ 0.61 ≈ 98 GB, so a 512 GB machine reaches its limit near 5M positions; the time to open a date also grows (2–5 minutes at 2.3M, 4–10 at 5M). Beyond about 5M positions VaR sharding (built, VAR_GUIDE.md 28) is needed.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Capacity for a sharded cluster (VAR_SHARDING.md; VAR_GUIDE.md section 28; CONFIGURATION.md, drishti.var.sharding.*). The model and constants are the single-server capacity slides' (aws_calc: 2.3M positions, 1,518 values a position, × 23 from the measured 100,000-trade figures of VAR_GUIDE.md 27.3 and 15.11).</a:t>
            </a:r>
          </a:p>
          <a:p/>
          <a:p>
            <a:r>
              <a:t>Owners: 6, replicas 2, so each holds 2/6 = 1/3 of the divided parts: page cache 78.4 × 1/3 = 26.1 GB; a load's spill and new hot file 44.2 × 1/3 = 14.7 GB; NVMe 1,183 × 1/3 = 394 GB (about 500 GB provisioned). The heap is not divided: every member keeps the date's skeleton (ids, columns, book and node aggregates) for all 2.3M positions, so it can answer any scope: 21.2 GB (two dates open with all four sets, two other-currency books, a load's sort, the server, × 1.5 for the collector), so -Xmx20g to 22g. RAM need 21.2 + 26.1 + 14.7 + 7 = 69 GB: a 96 GB server (a 64 GB one only for 1-day only).</a:t>
            </a:r>
          </a:p>
          <a:p/>
          <a:p>
            <a:r>
              <a:t>Coordinators: drishti.var.sharding.coordinator-only true; they put dates together from the owners' skeletons and add the partials: the skeleton heap without the rows (16-20 GB), 32 GB RAM, 8 vCPU (ASSUMPTION). Consoles: 2 hosts, 4 workers each (ASSUMPTION).</a:t>
            </a:r>
          </a:p>
          <a:p/>
          <a:p>
            <a:r>
              <a:t>Smaller options. 1-day only: 4 owners, each 2/4 of the 1-day cache and load (17.0 + 7.4 GB), heap (2 × 1.84 + 2 + 4) × 1.5 = 14.5 → 16 GB, OS 7: 47.4 → 48 GB. Minimum start: 3 owners with 2 replicas each hold 2/3: 21.2 + (78.4 + 44.2) × 2/3 + 7 = 110 GB → 128 GB; with replicas 1 each holds a third (69 GB, 96 GB machines), and a lost owner's scopes answer 503 until another owner builds its shards from the lake.</a:t>
            </a:r>
          </a:p>
          <a:p/>
          <a:p>
            <a:r>
              <a:t>Status: VaR sharding is built (off by default); 10-day and stressed VaR are not built yet (PLANNED). Every figure is ESTIMATED from the measured 100K benchmark, not measured at 2.3M; the next steps are the 200K benchmark and a 2.3M load on one real server.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arithmetic, all from the single-server model (aws_calc). One server: heap 21.2 + page cache 78.4 + a load 44.2 + OS 7 = 150.9 GB, 32 vCPU, NVMe 1,183 GB (the processes-and-memory and hardware slides). Six owners with two replicas each hold 1/3 of what can be divided: page cache 26.1 GB, load 14.7 GB, NVMe 394 GB. The heap is not divided (VAR_SHARDING.md section 13: every member holds the date's skeleton, ids, columns, positions, books and nodes with their aggregates, 0.8 KB a trade against 2 KB of rows), so each owner keeps 21.2 GB. An owner: 69.1 GB.</a:t>
            </a:r>
          </a:p>
          <a:p/>
          <a:p>
            <a:r>
              <a:t>Portfolios: 15,000 × 130 positions (assumed) = 1.95M position ids, about 31 MB; a portfolio's VaR is the sum of its rows, summed shard by shard by one ready owner each and added in shard order on the coordinator; the nightly official run over 15,000 portfolios spreads over six owners: expect minutes (ESTIMATED; the benchmark will tell).</a:t>
            </a:r>
          </a:p>
          <a:p/>
          <a:p>
            <a:r>
              <a:t>Failure: replicas 2 put each shard on two members (zones when configured); with one stopped its replica answers; with both stopped a scope that needs the shard answers 503 DRS-5215 and the bank's node still answers its aggregate (VAR_SHARDING.md 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(MEASURED): SCALE_STRATEGY.md section 4.4, round 3 on the extreme lake (1.16M trades a day, -Xmx8g, 24 cores; each user loops 60 s over 80% single trades, 10% counterparty-trades pages, 5% netting sets, 5% searches): 133 / 141 / 122 req/s at 10 / 50 / 100 users, 0 failures; single trade p50/p95 0.03/0.08 s at 10 users, 0.18/1.0 s at 50; beyond about 140 req/s latency grows by queueing, no failures. Section 12, the phase 1 integration test: 50 users, server 146 req/s, console 69 req/s, 0 failures; console search under load about 4 s at 50 users (open item). VAR_GUIDE.md 27.2 (one user at a time): a node under 1 ms from its aggregate; the bank minus a desk 2.6 ms; an ad-hoc 50,000-position scope 52 ms; the whole bank summed from 1M trades 58 ms (about 70 GB/s on 24 threads).</a:t>
            </a:r>
          </a:p>
          <a:p/>
          <a:p>
            <a:r>
              <a:t>Estimated (ESTIMATED) for 6 owners + 2 coordinators + 2 consoles: servers 140 req/s scaled by cores, about 95 for a 16-vCPU and 45 for an 8-vCPU member, 6 × 95 + 2 × 45 ≈ 660 peak, about 300 sustained at 50% headroom. VaR: node and hierarchy answers come from totals (thousands a second); a whole-bank ad-hoc filter is bound by memory bandwidth: about 4.7 GB of float32 rows for a 1-day query, split over the owners, so about 10-25 a second across the cluster; the last 512 answers are cached. Consoles: 69 measured a console, so 2 give about 100-140 page loads a second. Users: a page every 10-30 s with 3-5 API calls is 0.1-0.5 req/s a person; 300-600 req/s gives 300-500 active people, and 10-20% active at once gives 2,000-4,000 named users.</a:t>
            </a:r>
          </a:p>
          <a:p/>
          <a:p>
            <a:r>
              <a:t>What limits it first: the consoles (add more; live tabs need sticky sessions at the load balancer, LIVE.md; 4 handle about double), many whole-bank filters at once (the morning risk meeting), and live tabs and streams (each open live view holds a connection; part of the soak-proofing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(unlabelled) and proposed. Sources: VAR_GUIDE.md section 15.1 (partitioned by business_date only; 7-year log and file retention, time travel; 'Design differs': the partition by scenario set and 512 MB files are a design; the sort by legal entity and desk with BYTE_STREAM_SPLIT and ZSTD is built in the parallel Java loader, PARALLEL_LOADER.md; open question 7), section 29 (the vector grain, the four layouts compared: list&lt;double&gt; chosen; a fixed-length binary blob rejected for interoperability; deletion vectors avoided; the append-only daily snapshot), section 29.3 (the Iceberg plugin implements SourcePlugin.vectors() as the Delta one does, so VaR, intraday and exposure read an Iceberg risk lake, equal to Delta to the cent: VarFormatEqualityTest, ExposureFormatEqualityTest), section 30 (cubes and rule-portfolio vectors designed, kept in memory; the overnight precomputation not built), section 19 ('No vectors and no trade or position rows are published'; the official tables go to Delta or Iceberg under a folder or an s3:// root, each Delta commit on S3 an exclusive create, OfficialS3Test), section 28 (sharding, built: a shard map by legal entity and desk ranges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Built: VaR sharding. Each member maps only its ranges of position rows (a desk never split, two owners each), and a sum over the bank is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2.3M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the 200K-position benchmark (single server against a three-node sharded cluster), then a 2.3M load on a real server, including a cold first touch of a history date; (2) clustering the lake by book and portfolio (Z-order or liquid clustering; the parallel loader already sorts by legal entity and desk with BYTE_STREAM_SPLIT + ZSTD); (3) a batch that builds every portfolio vector (the designed overnight precomputation), 15,000 portfolios are within the 100,000-row read limit; size max-parts (5,000) for contribution tables; (4) several consoles without sticky sessions; (5) the Glue and S3 Tables runs on a real AWS account (the code is built; not yet run: no AWS account). Position grain and Kafka micro-batching, Iceberg for VaR and exposure inputs, official results to Iceberg and S3, VaR sharding and the sorted parallel loader are built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ICEBERG_CONNECTOR.md section 7 (how the connector reads: a snapshot's data files planned once from the manifests and grouped by business date, kept per snapshot), section 9 (retention and maintenance: snapshot expiry), section 17 (engines: native and library); DRISHTI_ICEBERG.md (the native engine: Parquet by field id, schema evolution, deletes, time travel); AWS_DELTA_LAKE.md and DELTA_CONNECTOR.md (the Delta log, checkpoints, lake maintain, statistics); VAR_GUIDE.md sections 26-27 (the hot file; a node's VaR in 0.48 ms measured; the whole bank from its float32 rows at about 60 GB/s, so about 80 ms for 4.68 GB at 2.3M positions, estimated). The comparison rows, the 0.2 GB metadata estimate and the release plan are the product owner's. Built (CHANGELOG, Iceberg; ICEBERG_CONNECTOR.md section 18): the Iceberg connector answers as the Delta one on the same rows (vector columns read in bulk, documents of a date in one pass, disk caches); VaR, intraday (files and Kafka, one Iceberg append a window) and exposure read an Iceberg risk lake; official results go to Delta or Iceberg under a folder or s3://, and BI's readers follow the format. VarFormatEqualityTest and ExposureFormatEqualityTest prove Delta = Iceberg to the cent (USD and EUR); on the demo data VAR BANK is USD 112,041,646 in both. A real run on the demo data moved 14 risk tables (955,124 rows) into Iceberg in 579 s (MEASURED, demo). Not built yet: the 200K benchmark on both formats, Delta↔Iceberg conversion, Delta in-place schema evolution, and the Glue and S3 Tables runs.</a:t>
            </a:r>
          </a:p>
          <a:p/>
          <a:p>
            <a:r>
              <a:t>Talk track: the format never touches an answer. VaR, ES, contributions and paths come from the date's memory-mapped hot file, built once when the date loads; after that Delta and Iceberg are equally fast because neither is read. The format matters in four places. First load: about the same; both are Parquet read by Drishti's own engines, Iceberg planning from its manifests, Delta replaying its log from the last checkpoint. Intraday: with Kafka micro-batches every 5 minutes a date sees about 120 commits; Delta appends a small JSON log entry per commit and checkpoints, while Iceberg writes a new metadata file per commit, and with 7 years of snapshots kept that file grows (about 0.2 GB by year 7, estimated), so Iceberg needs snapshot expiry and metadata management. History: Iceberg jumps to a snapshot, Delta rebuilds a version from its log and checkpoints, so Iceberg is slightly ahead for heavy time travel and restatements. Other engines: Iceberg has the broader multi-engine support (Athena, Trino, Snowflake, Spark); Delta is strongest with Spark and Databricks. Correctness is identical, proven by the equality tests to the cent.</a:t>
            </a:r>
          </a:p>
          <a:p/>
          <a:p>
            <a:r>
              <a:t>Recommendation: Delta is the default, especially with Kafka intraday; choose Iceberg where the bank's data platform standardises on it, or where heavy time travel and multi-engine access matter more. Switching is configuration. Nothing here has been measured at 2.3M positions yet: the 200K benchmark will run on both formats.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DELTA_CONNECTOR.md (the physical table: id, doc with the whole document as JSON, business_date and the promoted columns; a field not promoted lives only inside doc); VAR_GUIDE.md section 15.1 (the same table layout for the risk kinds); ICEBERG_CONNECTOR.md and DRISHTI_ICEBERG.md (schema evolution by field id: add, drop, rename, reorder, int to long, float to double, decimal widening; columns added after a file was written read as null); the product owner's plan (Delta, not built yet: an in-place add of a nullable column, old files reading as empty, with an optional backfill from the documents); the connector upgrades (CHANGELOG, Connector upgrades; CONNECTOR_FILES.md, Upgrades): a file Drishti wrote from a pack template carries the template's fingerprint; never edited, it is replaced in full by the new template (the old one kept beside it as .before-upgrade-....bak and in the history); edited, it gains every key the template has at any depth, its values never overwritten, lists keeping their order and gaining the missing items (an edited layout list gains LIMIT_LETTER after its own columns); conflicts are listed in Admin → Connectors → Template updates with Use the pack's value per key. ConnectorUpgradeTest starts a server on an earlier release's generated files and proves it.</a:t>
            </a:r>
          </a:p>
          <a:p/>
          <a:p>
            <a:r>
              <a:t>Talk track: three cases. A new field in the source data is the common one and costs nothing: every row keeps its full JSON document, so the field is readable the moment it arrives (by the pages, search and any kind that reads it), and older rows simply do not have it. A new promoted column (a field the engine reads as a column, for speed) is a schema change: Iceberg evolves in place by field id; Delta's in-place nullable add is planned (not built yet); until then adding a promoted column to an existing Delta table means rewriting the affected dates. Either way, history is not rewritten: time travel still shows each version as it was, the official records are append-only, and every figure of record can be recomputed from the inputs it was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IMPLEMENTATION_PLAN.md, section 'Iceberg as a full production alternative to Delta': above the storage plugins Drishti is identical for both (packs, data contracts, connector names, engines, BI, UI, Drishti*net); Iceberg parity adds SourcePlugin.vectors() and the other Delta-only methods to the Iceberg plugin (VaR and exposure load from Iceberg exactly as from Delta), official VaR and exposure results published to Iceberg as well as Delta and to s3:// roots in either format, Iceberg versions of the deploy/aws scripts, the AWS Glue catalog, Iceberg in Admin → Lakes, disk caches, and lake build --format iceberg. VAR_GUIDE.md section 19 (official results published append-only, JSONL beside them), section 15.1 and LAKE_MAINTENANCE.md (never vacuums the risk domains below 7 years), section 12 (tier.dir: hot files on fast local disk); the AWS deck (reading Delta in S3 built; the AWS scripts dry-run tested, first real run pending). The Iceberg connector for other data is drishti-iceberg (Iceberg without Hadoop).</a:t>
            </a:r>
          </a:p>
          <a:p/>
          <a:p>
            <a:r>
              <a:t>As built (CHANGELOG, Iceberg; ICEBERG_CONNECTOR.md sections 18-19; AWS_DEPLOYMENT.md section 22): every item above is built and tested except the live AWS runs. VarFormatEqualityTest and ExposureFormatEqualityTest write the same lines to Delta and to Iceberg and get VaR, ES, component and incremental VaR, limit letters, intraday, EE, PFE and EPE equal to the cent in USD and EUR; on the demo data VAR BANK is USD 112,041,646 on both. Official results: drishti.var.official.format and drishti.ccr.exposure.official.format (delta, the default, or iceberg) with .storage (s3.*); on S3 a Delta commit is an exclusive create (conditional PUT), so two servers publishing at once both land (OfficialSinkTest, OfficialS3Test); BI's readers follow the format by themselves (OfficialReadersTest). Glue (GlueLiveTest via check-glue.sh) and S3 Tables (check-glue.sh --s3-tables) are written but NOT YET RUN: no AWS account; the product owner's run is planned.</a:t>
            </a:r>
          </a:p>
          <a:p/>
          <a:p>
            <a:r>
              <a:t>Companion decks: Drishti-AWS-Delta-Lake and Drishti-AWS-Iceberg (docs/publications) cover the AWS architecture in detail.</a:t>
            </a:r>
          </a:p>
          <a:p/>
          <a:p>
            <a:r>
              <a:t>Talk track: VaR runs on Delta or Iceberg, on premises or on AWS; official results go to a local, EFS or s3:// root in either format. Above the storage plugins it is one product, so deployment option A can be built on Iceberg as fully as on Delta.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on AWS, generic: an example Region, ca-central-1, chosen only to price the example; the same shape works in any commercial Region. Preferences fitted: ECS container images rather than self-managed EC2, Fargate where possible, S3 for as much as possible, EFS only where essential. Status: everything shown is built (Iceberg and official results to S3 are built, so option A can be built on an Iceberg lake as fully as on Delta; the Glue and S3 Tables catalogs are written but not yet run on AWS, a planned run); VaR sharding (option C) is built but not yet run on Fargate, which is why the VaR servers start on EC2 capacity. Option B depends on √10 scaling for 10-day VaR, which comes with the 10-day measures (PLANNED: 10-day and stressed VaR are not built yet).</a:t>
            </a:r>
          </a:p>
          <a:p/>
          <a:p>
            <a:r>
              <a:t>Fargate limits (AWS documentation, read 2026-10-27): Linux tasks up to 16 vCPU with 32–120 GB, and 32 vCPU with 60, 120 or 244 GB (platform 1.4.0 or later); storage: EBS volumes, EFS volumes and bind mounts. EBS on ECS: one new EBS volume per task, on Fargate, EC2 and ECS Managed Instances; volumes of service tasks are deleted when the task ends, which suits hot files (rebuilt from the lake). gp3: up to 64 TiB, 80,000 IOPS and 2,000 MiB/s per volume.</a:t>
            </a:r>
          </a:p>
          <a:p/>
          <a:p>
            <a:r>
              <a:t>Does a VaR server fit one Fargate task? 1-day only: need 75.8 GB and 32 vCPU; with 39% headroom 124 GB and 52 vCPU: the 32 vCPU/244 GB task holds the memory (31%) but CPU keeps the headroom only if the peak is at most 19.5 vCPU busy. Full case (10-day by overlapping returns and stressed): need 151 GB → 62% of 244, over the 61% rule, and CPU short: it does not fit. Option B, √10 scaling for 10-day: width 759 (× 1.49): need 94 GB, ÷ 0.61 = 155 GB: fits on memory. Option C, sharded: 8 shards of ≈ 290,000 positions; per shard (151 − 6 − 7) ÷ 8 + 6 + 3 = 26 GB, ÷ 0.61 = 43 GB → an 8 vCPU, 44 GB task; 250 GB gp3 each.</a:t>
            </a:r>
          </a:p>
          <a:p/>
          <a:p>
            <a:r>
              <a:t>Where each thing lives. S3 (gateway endpoint, no NAT charges): the lake (Delta by default, or Iceberg, built), the official results (Delta or Iceberg with JSONL beside, to s3:// roots, built; each Delta commit an exclusive create), the content store (S3 backend, built), the JSONL landing, backups, and the DR copy by Cross-Region Replication. EBS gp3, one per VaR task: hot files and caches, 0.8–2 TB, 16,000 IOPS, 2,000 MiB/s. EFS, small (≈ 0.3–0.5 TB as built): config and connector files, Sutras, each node's data folder (users, governance, BI store, reports); it cannot be avoided entirely as built. Kafka: Amazon MSK (3 × m7g.large) or the bank's own. Edge: ALB (HTTPS, sticky sessions), NAT, Secrets Manager, KMS, CloudWatch, IAM task roles; Cloud Map for Drishti*net names.</a:t>
            </a:r>
          </a:p>
          <a:p/>
          <a:p>
            <a:r>
              <a:t>The VaR servers: four ECS tasks on EC2 capacity (an Auto Scaling group capacity provider, m7i.16xlarge for the full case, c7i.16xlarge for 1-day only) or ECS Managed Instances, over two Availability Zones: the official end-of-day writer, the intraday writer (reads Kafka, writes one lake batch per 5-minute window), and two UI/API replicas.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cost estimate for a large bank (e.g. 2.3M positions, 15,000 portfolios, about 700 limit letters) in an example Region, ca-central-1, 24 × 7, 730 hours a month, on the recommended architecture (Fargate for the consoles and lake tasks; the four VaR servers on ECS with EC2 capacity until sharding; S3 for the lake, results and content store; a small EFS). Two cases, both sized with the 39% headroom: 1-day VaR only, and the full case with 10-day (overlapping returns) and stressed VaR (not built yet). Every quantity ESTIMATED from the capacity slides; every unit price an ASSUMPTION: AWS's public on-demand prices for ca-central-1, read on 2026-10-27 from the AWS Price List bulk files, and the Compute Savings Plans file of the same date. Verify in the AWS Pricing Calculator before quoting; taxes and support plans excluded.</a:t>
            </a:r>
          </a:p>
          <a:p/>
          <a:p>
            <a:r>
              <a:t>Unit prices (ASSUMPTION, USD): Fargate Linux/x86 $0.04456 per vCPU-hour, $0.004865 per GB-hour; EC2 m7i.16xlarge (64 vCPU, 256 GiB) $3.5952 an hour, c7i.16xlarge (64 vCPU, 128 GiB) $3.1248; ECS Managed Instances fee m7i.16xlarge $0.431424, c7i.16xlarge $0.374976 an hour; EBS gp3 $0.088 per GB-month, $0.0055 per IOPS-month above 3,000, $0.044 per MiB/s-month above 125; S3 Standard $0.025 per GB-month, Standard-IA $0.0138; inter-Region transfer $0.02 per GB; EFS $0.33 per GB-month; MSK kafka.m7g.large $0.2275 per broker-hour, storage $0.11 per GB-month; ALB $0.02475 an hour, $0.0088 per LCU-hour; NAT $0.05 an hour and per GB; interface endpoint $0.011 an hour per AZ; inter-AZ $0.01 per GB each way; internet out $0.09 per GB; CloudWatch logs $0.55 per GB ingested, $0.033 per GB-month, $0.30 per metric-month; Secrets Manager $0.40 per secret-month. Compute Savings Plans, no upfront: 1 year −26.9% on EC2, −20.0% on Fargate; 3 years −49.5% and −45.0% (applied to EC2 and Fargate only).</a:t>
            </a:r>
          </a:p>
          <a:p/>
          <a:p>
            <a:r>
              <a:t>Quantities (ESTIMATED): VaR servers 4 × c7i.16xlarge (1-day) or m7i.16xlarge (full) × 730 h; EBS gp3 per task 800 GB (1-day) or 2,000 GB (full), 16,000 IOPS, 2,000 MiB/s; consoles 2 × (4 vCPU, 8 GB); lake loads and maintenance 2 hours a day of an 8 vCPU, 32 GB Fargate task (ASSUMPTION); S3: the lake grows by 2.3 TB (1-day) or 6.9 TB (full) a year, the newest year in Standard and older dates in Standard-IA (ASSUMPTION: a lifecycle rule); DR: the same storage in a second Region plus replication transfer; EFS 500 GB plus backup; MSK 3 brokers (the bank's own Kafka: $0); ALB; NAT and 6 interface endpoints in 2 AZs; 1 TB a month between AZs and 0.8 TB of pages out; CloudWatch 270 GB of logs a month.</a:t>
            </a:r>
          </a:p>
          <a:p/>
          <a:p>
            <a:r>
              <a:t>Totals, year 7 on-demand: 1-day $12,119 a month ($145,428 a year); full $14,910 a month ($178,914 a year). Year 1: $11,738 and $13,770 a month. With a 1-year Compute Savings Plan: $9,596 and $12,017; 3-year: $7,443 and $9,553.</a:t>
            </a:r>
          </a:p>
          <a:p/>
          <a:p>
            <a:r>
              <a:t>The VaR tier (servers and EBS only; the rest of the bill is the same): A, 4 × m7i.16xlarge with 2 TB gp3 each: $11,818 a month, 3-year $6,618. B, √10 scaling on 4 Fargate tasks of 32 vCPU · 244 GB ($2.61 an hour each) with 1.1 TB gp3: $8,633, 3-year $5,200; not like for like (it drops the stored 10-day vectors). C, sharded on Fargate (sharding built): 8 shards × 2 replicas of 8 vCPU · 44 GB plus a 2 vCPU intraday task, 250 GB gp3 each: 24 × 7 $7,373; with second replicas only in business hours (12 h × 22 days, ASSUMPTION) $5,050, 3-year $2,966, and with second replicas on Fargate Spot (ASSUMPTION: 60% off) $2,785. One full copy: C $3,640 against A $2,954 (Fargate is ≈ 14% dearer per resource and each task carries its own JVM); C saves by needing 2 copies rather than A's 4, scaling in off-hours, Spot, and right-sizing. Recommendation (PROPOSED): A to start; C once sharding runs on Fargate.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15.8 (cadence: once per business date after the close; the sequence: scenario set, vectors, hierarchy and portfolios, then POST /api/v1/packs/market-risk/loads; a ready load drops the date and captures it officially in the background; at start the server captures the newest date without a record; at most hot-dates (2) stay loaded), section 20.3 (what the load checks), section 15.11 (currencies built ahead in the background), section 19 (official end-of-day captures of every node; published append-only with JSONL beside; publishError recorded when a publish fails), section 8.4 (intraday: the official records are the morning run's), 'Intraday updates from Kafka, as built' (GET /api/v1/var/intraday/streams; POST …/apply and the connector's Apply now button), section 11.4 (GET /status fields), section 11.2 (provenance), section 9 (Admin → Audit), section 3.2 (limit bars), section 7 (the backtest light).</a:t>
            </a:r>
          </a:p>
          <a:p/>
          <a:p>
            <a:r>
              <a:t>Not built and open: the batch's due time is 'to be agreed' (open question 4); completeness of the batch against the trades booked is not checked (planned, section 20.3).</a:t>
            </a:r>
          </a:p>
          <a:p/>
          <a:p>
            <a:r>
              <a:t>Talk track: the day starts with the full run of the business date, priced after the close. The load signal makes the engine load the date and take the official record of every node, which is published for BI and other systems. During the day only changed trades arrive and are applied on top; the official record is never restated by intraday updates. A restatement is a new full run of the date, which produces the next result version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13 (troubleshooting: every row of this table, with the message the user sees), section 20.2 (errors the engine answers: DRS-5202 422, DRS-5203 the date before answered with a warning, DRS-5204 503 capacity), section 20.3 (rows refused and listed in provenance.rejections, never padded; DRS-5201 length, null, NaN, failed rows, currency, valuation dates; DRS-5206 a scenario PV that failed; DRS-5207 no scenario FX), section 15.13 (DRS-5208 record fields, DRS-5209 against the pin, DRS-5210 a second form or grain), section 15.8 (restatement: rewrite the whole date, RESTATEMENT + 1, a new BATCH_ID; the signal reloads the date; the official capture is taken again with the next result version, the earlier kept), section 19 (a publish that fails is recorded as publishError and logged; the capture stands; administrators can capture again with POST /official or drishti.py var official --capture), section 26 (a damaged or old-format hot file: the date is read from the lake and the file rebuilt), 'Intraday updates from Kafka' (replaying the topic after a restart writes nothing twice).</a:t>
            </a:r>
          </a:p>
          <a:p/>
          <a:p>
            <a:r>
              <a:t>Talk track: the fix is always at the source, followed by a restatement of the whole date and the load signal; the new official record gets the next result version, and the old one is kept. The runbook steps are this deck's summary of the guide's troubleshooting.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11.2 (provenance: inputs, batchIds, positionRules, membershipHash, engine), section 4 and 15.6 (each official capture records the membership and the rules' text and digest), section 19 (append-only official records, result versions, 7 years, 'each can be recomputed from its inputs (the same vectors, the same engine version) at any later date'), section 15.1 and LAKE_MAINTENANCE.md (7 years of time travel), section 26.6 (a node's figures are the lake's to the bit; any other scope within 2^-24 of the gross P&amp;L), section 18.3 (components add up to VaR exactly), sections 7 and 18.4 (backtesting: exception = a loss larger than the VaR tested against; official mode and replay mode; the FX desk replayed: 3 exceptions in 249 days, green, Kupiec p 0.753, Christoffersen p 0.786; the bank replayed: 5 exceptions, amber, Kupiec p 0.160, Christoffersen p 0.076; HYPO_PNL is the node's P&amp;L under the newest scenario day, and a bank delivering its own hypothetical P&amp;L table replaces it, planned; short histories scale the light's limits), section 12 (the backtest stays at 99% whatever the configured VaR confidence), section 18.4 (not built: ES backtests).</a:t>
            </a:r>
          </a:p>
          <a:p/>
          <a:p>
            <a:r>
              <a:t>What the backtesting lines mean: Basel traffic light: breaches in 250 days at 99%: 0–4 green, 5–9 amber, 10+ red. Kupiec test (Paul Kupiec, 1995): is the number of VaR breaches (losses bigger than VaR) consistent with 99%, about 2–3 in 250 days? Christoffersen test (Peter Christoffersen, 1998): do breaches cluster together, a sign the model reacts too slowly when markets turn? Both are standard statistical tests named after the researchers who published them. Drishti reports their p-values.</a:t>
            </a:r>
          </a:p>
          <a:p/>
          <a:p>
            <a:r>
              <a:t>The demo figures are from Drishti's synthetic test data.</a:t>
            </a:r>
          </a:p>
          <a:p/>
          <a:p>
            <a:r>
              <a:t>Talk track: model risk asks two questions: can you reproduce the number, and does the model work? For the first, every answer carries what it was built from, and the official records are append-only and kept seven years. For the second, every node with an official history is backtested each day against the Basel traffic light at 99%, with the Kupiec and Christoffersen tests.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15.12 (tools/pvgen/check.py: recomputes from the files what the engine should show and compares the bank's and every desk's VaR and ES with GET /api/v1/var/scope; exit 1 on a difference); section 18.3 (component VaR and component ES add up exactly); section 9 (entitlements: drishti.var.access per role and node, positions or aggregate; a scope is computed over the trades the viewer may see and the rest counted as hidden; masks; answers cached per date, data version, view and scope; tokens need risk:write for baskets and captures; reloads and official captures for administrators only; every headline, capture, basket change, reload and official run is an audit entry; official numbers kept 7 years; the per-node levels are kept in Drishti, not read from the bank's entitlement system, decided), section 12 (settings in application.yaml; GET /api/v1/var/status shows the effective values), section 15.13 (the pins are read at start: a change applies after a restart, from the next date loaded).</a:t>
            </a:r>
          </a:p>
          <a:p/>
          <a:p>
            <a:r>
              <a:t>The checker is part of the stand-in pricing system (tools/pvgen); at a bank an equivalent independent job would recompute from the files its systems send. That use, and the change-control practice, are this deck's recommendations (PROPOSED).</a:t>
            </a:r>
          </a:p>
          <a:p/>
          <a:p>
            <a:r>
              <a:t>Talk track: four controls a model risk function will ask for: an independent recomputation from the very files delivered; entitlements that never leak a position to someone entitled to aggregates only; a complete audit trail; and change control, where every method setting is configuration, visible in the status, and every answer is labelled with the settings it was computed with.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docs/architecture/COMPUTED_ATTRIBUTES.md section 13 'As built'. Q1 nset-mtm (NSMTM): one page per netting set from the trade valuations of a live status: NET_MTM, TRADE_COUNT, GROSS_POSITIVE_MTM, GROSS_NEGATIVE_MTM, CE_UNCOLLATERALISED, NETTING_BENEFIT, NET_TO_GROSS, BY_PRODUCT_GROUP, the members, past-maturity count and MtM, SUM_CURRENCY. Q2 cpty-mtm (CPMTM): one page per counterparty, with its netting sets and CE uncollateralised = Σ max(set net, 0). Q3: Checks panels on the collateral balance (held, posted and net after haircut, from the positions), the credit limit (headroom; utilisation = used ÷ limit and its difference from the stored one), SA-CCR (EAD = α(RC + multiplier × add-on) and its difference) and the stress result (limit use, OK or BREACH). Q4 stress-scenario-pnl (SSPNL): the bank's P&amp;L under a scenario and every desk's (Drishti Risk leaves stress out). E0: the exposure engine reads a netting set's members and MtM from trade-valuation, the collateral after haircut and the counterparty's credit-limit.</a:t>
            </a:r>
          </a:p>
          <a:p/>
          <a:p>
            <a:r>
              <a:t>Visible to everyone (decision 6): derived pages are built once per business date and data version and shared; every user who may open the kind sees them. Sum currency: every derived total is in USD and says so; a set whose members are not all USD says not converted. Pictures: docs/guides/img/computed (tools/docs/shots/computed.py over the packs' samples).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COMPUTED_ATTRIBUTES.md 13.4 (reconciliation): on the test data's 2026-09-30, the derived net MtM against the stored netting-set.NET_MTM: 55 of 76 sets equal; the 21 others hold 827 trades of a live status past their maturity date (MtM 16.7m in total), which Live leaves out and the stored total counts; with them added back all 76 of 76 agree to the dollar. CP-ALDERSHOT: stored 520,405,666, derived 518,314,005 (18 trades past maturity in NS-ALDERSHOT-NY), uncollateralised CE 680,037,675.</a:t>
            </a:r>
          </a:p>
          <a:p/>
          <a:p>
            <a:r>
              <a:t>13.3 (the exposure engine re-pointed, E0): the members and their MtM are the same on the test data, so every change comes from the collateral after haircut: BANK (the demo run, 74 sets) peak PFE 95% 2,858,060,180 → 2,897,620,439, EPE 945,577,981 → 947,202,991, CE 1,532,007,701 → 1,586,811,699; CPTY:CP-ALDERSHOT CE 217,565,006 → 220,250,163; NS-ALDERSHOT-NY CE 212,580,686 → 214,706,654. 13.2: across the 76 balances the holdings' market value is 6,304.4m and their value after haircut 6,229.6m. Trades, valuations, P&amp;L vectors, scenario PVs, FX scenarios and scenario sets are byte for byte as before, so VAR BANK on 2026-09-30 stays USD 112,041,646.</a:t>
            </a:r>
          </a:p>
          <a:p/>
          <a:p>
            <a:r>
              <a:t>The retirement guard (tools/contracts.policy.yaml removed:) fails the build if netting-set.UTILISATION, risk-hierarchy.LIMIT_VAR or portfolio.LIMIT_VAR return. 13.5 still open: retire the stored figures with the NSET engine; convert: on derived fields and the sums: configuration; BI's Open MTM filtered to Live; SA-CCR's stored RC before haircut.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Pictures from docs/guides/img/computed (EXPOSURE_GUIDE.md section 22 and VAR_GUIDE.md section 21.4), made by tools/docs/shots/computed.py over the packs' samples. The counterparty: Computed from the trade valuations (net MtM, trades, gross parts, netting sets, CE uncollateralised, past maturity). The stress scenario (COVID 2020 on the samples): Bank P&amp;L under this scenario (the desks' results added) and Desks under this scenario (P&amp;L, the positive limit, limit use and status).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docs/architecture/EDITIONS.md (the design as built: sections 1-8, 12, 13) and docs/admin/EDITIONS_GUIDE.md (how to run one).</a:t>
            </a:r>
          </a:p>
          <a:p/>
          <a:p>
            <a:r>
              <a:t>An edition is a named bundle of settings in config/editions/&lt;name&gt;.yaml: the packs (allow-only refuses others, DRS-1017), the commands and console words people may use (hidden ones answer 404 DRS-4023; the engines still read every kind), the menus and footer, the features, BI reduced to the edition's datasets and models, Home's sections and landings, help and Knowledge, the Admin pages and the branding. Set drishti.edition (DRISHTI_EDITION) on every server and restart; the console learns it from the server's about answer. The site's configuration wins key by key, so a bank adjusts one item without forking the file.</a:t>
            </a:r>
          </a:p>
          <a:p/>
          <a:p>
            <a:r>
              <a:t>A lens is the same file opened by one person on a full instance: drishti.lenses (DRISHTI_LENSES: risk,world,market) offers Open Drishti Risk in Views and on Home; the person's lens is kept in their settings and sent to the server on each call (X-Drishti-Lens), so the command line, FUNC, the type-ahead and BI follow it. Leave … clears it; Switch to … opens another in one step. A lens hides; it does not secure: data access stays with roles, entitlements and masks.</a:t>
            </a:r>
          </a:p>
          <a:p/>
          <a:p>
            <a:r>
              <a:t>Landings: Risk desk (default), command and map; World desk, explorer and map; Market desk, explorer and quality. home.landing-by-role {role: landing} is read and wins over a person's choice when configured: the hook for role-based access later; lens.roles is documented, not wired (PLANNED).</a:t>
            </a:r>
          </a:p>
          <a:p/>
          <a:p>
            <a:r>
              <a:t>Drishti Risk's commands: VaR (VAR, VRES, VWIF, VOFF, VLIM, HIER, PORT, POS, PNLV, SPV, FXS, SSET), exposure (EXP, XRUN, XPATH, XWIF, XOFC, AGR, CSA, NSET, LIM, COLL, MC), the derived totals NSMTM and CPMTM, reference data and trades; stress (STR, SCN, SSPNL) is left out by the product owner's decision.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Risk's Home (EDITIONS.md section 7). The product owner chose all three mock-ups: A desk (headline tiles: VaR and ES of BANK, the backtest, exposure EPE and peak PFE, limits in breach, counterparties and netting sets; VaR by desk with limit use; exposure by counterparty against its credit limit; quick cards), the default; B command (a big command line, the edition's command chips, a status strip, the person's VaR baskets, their monitors, links to learn); C map (the hierarchy with VaR and limit use per node and a switch between the hierarchies the engine holds, a limit-use heat map, a Today feed of intraday batches, official records and breaches). One template, home/risk_landing.html; every figure is the engines' own answer.</a:t>
            </a:r>
          </a:p>
          <a:p/>
          <a:p>
            <a:r>
              <a:t>The pictures were taken from the console of the browser tests (test_edition_browser.py) with its stand-in server: the bank's VaR 112,041,646 and ES 160,143,809 (VAR_GUIDE.md 2.2) and EPE 947.20m (COMPUTED_ATTRIBUTES.md 13.3) are the demo's; the desk and counterparty rows, the backtest and the counts are the test's stand-ins.</a:t>
            </a:r>
          </a:p>
          <a:p/>
          <a:p>
            <a:r>
              <a:t>Not served yet (left out): exposure per node of a VaR hierarchy, credit-limit use per desk, recent commands, the time of an official capture.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2 to 4, each row with its link there.</a:t>
            </a:r>
          </a:p>
          <a:p/>
          <a:p>
            <a:r>
              <a:t>Canada: OSFI's November 2021 letter set market risk and CVA for Q1 of fiscal 2024 (1 November 2023 for October year-ends). CAR 2026 chapter 9 is current; CAR 2027 (final, 10 September 2026) takes effect November 2026 / January 2027. BCAR schedule 90.010 sections A to G: section A carries ES at 97.5% (reporting date and 60-day average, total and per risk class) and SES (12-week average) for approved desks only; no VaR. Pillar 3: MR1 and MR2 quarterly, MRA and MRB annual, effective Q4 2024; MR2 has the backtesting exception count against 99% VaR. The annual-report VaR table is IFRS 7 and bank practice, not an OSFI template; two D-SIBs' FY2025 tables show VaR by risk type and no stressed VaR. Risk.net reported at go-live that no Canadian bank used internal models (secondary, not confirmed).</a:t>
            </a:r>
          </a:p>
          <a:p/>
          <a:p>
            <a:r>
              <a:t>US: 12 CFR 217 subpart F (VaR 99% 10-day; stressed VaR at least weekly, 12-week average; backtest 250 days at 1-day 99%, multiplier 3.00 to 4.00). FFIEC 102: VaR and stressed VaR sections plus memoranda, public, extended without revision in 2025. FR Y-9C HC-R Part II item 27: standardized market-risk weighted assets. §217.212: high, low, mean and period-end VaR and stressed VaR, by risk category, and a comparison with actual gains and losses. Volcker appendix A: five metrics since the 2019 amendments (limits and usage, VaR, comprehensive P&amp;L attribution, positions, transaction volumes); stressed VaR and risk-factor sensitivities were removed. Re-proposal: Federal Register 2026-05959 (27 March 2026), comments closed 18 June 2026, no final rule found on 2026-10-30.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5 (the matrix) and 6 (coverage, with evidence).</a:t>
            </a:r>
          </a:p>
          <a:p/>
          <a:p>
            <a:r>
              <a:t>Built: VaR and ES at any scope (VAR_GUIDE sections 18.1, 18.2, 18.5); MGMT, LEGAL and limit-letter hierarchies with diversification (sections 15.14, 18.3, 19); var-limit and LIMIT_USE (15.15); official captures of every node, result versions, append-only Delta or Iceberg kept 7 years (19); backtesting in official mode against the derived hypothetical P&amp;L with the traffic light, Kupiec and Christoffersen (7, 18.4).</a:t>
            </a:r>
          </a:p>
          <a:p/>
          <a:p>
            <a:r>
              <a:t>Caution: Drishti's derived HYPO_PNL is the risk model's P&amp;L for the newest scenario day, closer to a risk-theoretical P&amp;L than to the front-office hypothetical P&amp;L a regulatory backtest needs; the bank's own feed replaces it.</a:t>
            </a:r>
          </a:p>
          <a:p/>
          <a:p>
            <a:r>
              <a:t>Not built: actual P&amp;L, the 97.5% desk backtest and the multiplier tables; period statistics and averages (the official history is there to compute them); VaR by risk class (PNL_BY_RISK_CLASS designed, VAR_GUIDE 15.2); Volcker's other limits, comprehensive P&amp;L attribution (PNL.md proposed), transaction volumes; the FRTB standardised approach (FRTB.md proposed); liquidity horizons, stressed ES calibration, PLA, RFET, SES, DRC. Planned: 10-day and stressed VaR (in the implementation plan).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7 (gaps G1 to G15 with designs and sizes), 8 (roadmap) and 9 (data the bank supplies).</a:t>
            </a:r>
          </a:p>
          <a:p/>
          <a:p>
            <a:r>
              <a:t>Phase 1 (next): G1 10-day VaR (a second, 10-day scenario set or √10 scaling, which the US rule allows when justified), G2 stressed VaR (an SVAR scenario set over the bank's 12-month stress window, at least weekly), G3 a daily-pnl input kind (actual and hypothetical P&amp;L with fees, commissions, reserves, net interest and intraday separated), G4 the regulatory backtest (per node, 99% and 97.5%, actual and hypothetical counted separately, the US 3.00-4.00 and OSFI 1.50-2.00 tables as configuration), G5 period statistics computed from the official records, G15 CAD official records.</a:t>
            </a:r>
          </a:p>
          <a:p>
            <a:r>
              <a:t>Phase 2 (later): G6 PNL_BY_RISK_CLASS vectors and VaR by class with the diversification line; G7 report packs as BI datasets, paginated reports and extracts; G8 Volcker metrics.</a:t>
            </a:r>
          </a:p>
          <a:p>
            <a:r>
              <a:t>Phase 3a: G9 the FRTB standardised approach of FRTB.md. Phase 3b, only for a bank seeking model approval: G10 ES by liquidity horizon, G11 stressed calibration, G12 PLA (Spearman switchable off for the US re-proposal), G13 RFET and SES, G14 DRC.</a:t>
            </a:r>
          </a:p>
          <a:p/>
          <a:p>
            <a:r>
              <a:t>No release is assigned: listed in the implementation plan as a candidate, not started.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6 (the report layer, retention and reproducibility) and 7 (G3, G5, G7); VAR_GUIDE.md section 19 (official end-of-day results: captures of every node, the date's record with inputs, versions and batch ids, the membership record, result versions on restatement, the append-only published table kept 7 years in Delta or Iceberg, read by BI). Exports: BI to PDF, PNG, Excel and CSV (DISTRIBUTION.md); paginated reports (REPORTS.md).</a:t>
            </a:r>
          </a:p>
          <a:p/>
          <a:p>
            <a:r>
              <a:t>Not built: the daily P&amp;L feed from product control (G3) and period statistics and averages (G5). Planned: 10-day and stressed VaR. Drishti computes and lays out the figures; the filing and its sign-off stay with the bank.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19 (official end-of-day captures of every node of every hierarchy, as the server; one capture at a time; unchanged inputs not captured again; restatements get the next result version, the earlier kept; published append-only with delta.appendOnly and 7 years of log and removed files; no vectors published), section 4 and 15.6 (each official capture records the membership and the rules' text and digest, so a figure can be recomputed later), section 11.2 (provenance: inputs, batchIds, positionRules, membershipHash, engine), section 6 (captures keep the vector), section 15.1 and open question 10 (7 years), section 9 (entitlements and audit), section 31 (open items: what-if pricing via QLRisk; intraday from write-backs; sharding and the full benchmark; the lake layout; several scenario sets and SVAR-250; age-weighted and filtered methods; 10-day and stressed VaR (not built yet); ES backtests; a bank's own hypothetical P&amp;L; the batch's due time and completeness; risk-position grouping; cubes and the overnight precomputation; the common risk lake); DATA_FORMATS.md (official results also as JSONL); CHANGELOG (built: the hierarchies configured by columns with the limit letters, the var-limit feed and the hierarchy picker, a missing level column skipping only that hierarchy with a DRS-5211 warning, split positions counted, official records for every hierarchy, exposure too; PNL- ids; Iceberg as a full alternative to Delta for VaR, intraday from files and Kafka, and exposure; official results to Delta or Iceberg, folder or S3, with BI's readers following the format; lake build, maintenance and the deploy/aws/iceberg scripts; airtight connector upgrades; one download button per panel).</a:t>
            </a:r>
          </a:p>
          <a:p/>
          <a:p>
            <a:r>
              <a:t>Not built yet: 10-day and stressed VaR; the 200K benchmark; Delta in-place schema evolution; Delta↔Iceberg conversion; the Glue and S3 Tables runs (the code is built; not yet run, no AWS account). Cluster scale-out, sharding, the editions and the computed attributes are built, so they carry no label.</a:t>
            </a:r>
          </a:p>
          <a:p/>
          <a:p>
            <a:r>
              <a:t>Talk track: an official number is never a screen value someone remembered: it is a record in the content store and a row in an append-only Delta table, stamped with the versions of every input and the position rules it was built with. Intraday updates never restate it. A restated batch produces a new result version and keeps the old one, so 'what did we report on that day' and 'what is the corrected number' are both answerable for seven years.</a:t>
            </a:r>
          </a:p>
          <a:p/>
          <a:p>
            <a:r>
              <a:t>Roadmap: only items stated in the docs are listed. Scope words GROUP: and NSET: are parked by the product owner (fundamentals and VaR only). No dates are given for the planned items in the docs.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plan (PROPOSED): generic, with no dates and nothing assumed about a bank's organisation beyond the illustrative volumes. Phase 0, prepare: Delta or Iceberg (Iceberg a full alternative, built); settings (window, confidence, currencies, root name; VAR_GUIDE.md section 12) and entitlements per role and node (section 9) agreed; the million-trade × 50-date benchmark has not been run on a server, so running it (and 2.3M) on the target hardware comes first (section 27; the 200K benchmark is planned, then a 2.3M load on a real server). Phase 1, pilot desk: onboarding by the checklist; daily full runs; official records every day (section 19). Phase 2, a legal entity: the LEGAL hierarchy and its limits (section 15.4), intraday from files or Kafka (section 8.4); the official history starts the official-mode backtest (section 7). Phase 3, the bank: every system; ≈15,000 portfolios and ≈700 limit letters (a hierarchy configured by columns, built, with the var-limit feed); currencies built ahead; BI's Market risk: VaR report reads var-official. If one server is not enough, VaR scale-out across a cluster is built (section 28). Cutover: sign-off, after which Drishti's official records are the numbers of record.</a:t>
            </a:r>
          </a:p>
          <a:p/>
          <a:p>
            <a:r>
              <a:t>Reconciliation: risk-results/var-official has one row per node per date and result version with VAR, ES, CONFIDENCE, ES_CONFIDENCE, SCENARIO_SET_ID, TRADE_COUNT and POSITION_COUNT (section 19), which a reconciliation job can read beside the existing figures. Causes of difference: refused, excluded and unknown ids in the provenance (sections 20.3, 11.2); the window, confidence and rank rule (section 18.1); scenario FX against today's rate (section 15.10: the demo bank's EUR VaR is 111.8 million against 95.4 million at today's rate); membership (section 5.3); and the model itself. The guide's own reconciliation of a retired stored figure (section 21.2) found a different model, different trades and a different date: explain each difference by its cause rather than fit a factor.</a:t>
            </a:r>
          </a:p>
          <a:p/>
          <a:p>
            <a:r>
              <a:t>The sign-off criteria are this deck's proposal, for the bank's model risk and risk management functions to set.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from VAR_GUIDE.md: sections 1 and 2 (VaR, ES, the measures), 17 and 18 (conventions, ranks: k = ceil(N(1 − α)): 6th worst of 509 at 99%, 13 worst at 97.5%; component, incremental and marginal VaR per million of market value or PV; diversification), 15.3 (the scenario set HS-509), 15.9 (scenario PVs and scenario FX), 15.13 (form and grain), 5 (scopes, portfolios: HIERARCHY, RULE and BASKET), 4 and 15.6 (positions derived by the pack's rules, or supplied whole at position grain), 15.10 and 15.11 (reporting currency; five built ahead), 26 (the hot file), 19 (official records and result versions), 11.2 (provenance), 7 (exceptions). Limit letters: a hierarchy configured by columns (built, section 15.14). Headroom: this deck's capacity convention (39%: the peak uses at most 61% of what is provisioned).</a:t>
            </a:r>
          </a:p>
        </p:txBody>
      </p:sp>
      <p:sp>
        <p:nvSpPr>
          <p:cNvPr id="4" name="Slide Number Placeholder 3"/>
          <p:cNvSpPr>
            <a:spLocks noGrp="1"/>
          </p:cNvSpPr>
          <p:nvPr>
            <p:ph type="sldNum" idx="5" sz="quarter"/>
          </p:nvPr>
        </p:nvSpPr>
        <p:spPr/>
      </p:sp>
    </p:spTree>
  </p:cSld>
  <p:clrMapOvr>
    <a:masterClrMapping/>
  </p:clrMapOvr>
</p:notes>
</file>

<file path=ppt/notesSlides/notesSlide9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docs/architecture/VAR_SHARDING.md, docs/architecture/EDITIONS.md, docs/architecture/COMPUTED_ATTRIBUTES.md section 13, docs/knowledge/market-risk.md, docs/tutorials/25-var-from-the-bank-to-a-trade.md, docs/architecture/IMPLEMENTATION_PLAN.md. Release history: the release notes.</a:t>
            </a:r>
          </a:p>
          <a:p/>
          <a:p>
            <a:r>
              <a:t>Talk track: this deck explains the VaR engine that sits inside the Drishti server: what it computes, how the data reaches it (scenario PVs in each trade's own currency, any reporting currency, intraday updates, JSONL as the delivery standard, hierarchies configured by columns such as limit letters, Delta or Iceberg, official results to S3), what the console shows, and how it scales to a large bank (e.g. 2.3 million positions, 15,000 portfolios, about 700 limit letters); then capacity and hardware, storage formats, deployment, operations, model risk and controls, a rollout plan and a glossary.</a:t>
            </a:r>
          </a:p>
          <a:p/>
          <a:p>
            <a:r>
              <a:t>Status labels: nothing built is labelled (VaR sharding across servers, the parallel Java lake loader, the editions and the computed attributes are built); only what is not built carries a status: PLANNED (stressed VaR, 10-day VaR, ES backtests, Delta's in-place column add), NOT RUN (written but not yet run on AWS), PROPOSED (a recommendation of this deck). MEASURED, ESTIMATED and ASSUMPTION label how a figure was obtained.</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0.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1.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01</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Why Drishti VaR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WHY IT MATTERS</a:t>
            </a:r>
          </a:p>
        </p:txBody>
      </p:sp>
      <p:sp>
        <p:nvSpPr>
          <p:cNvPr id="3" name="Title 2"/>
          <p:cNvSpPr>
            <a:spLocks noGrp="1"/>
          </p:cNvSpPr>
          <p:nvPr>
            <p:ph type="title" idx="104"/>
          </p:nvPr>
        </p:nvSpPr>
        <p:spPr/>
        <p:txBody>
          <a:bodyPr/>
          <a:lstStyle/>
          <a:p>
            <a:r>
              <a:t>VaR at a large bank: scale, sources, currencies, intraday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08760"/>
            <a:ext cx="2247138" cy="457200"/>
          </a:xfrm>
          <a:prstGeom prst="rect">
            <a:avLst/>
          </a:prstGeom>
          <a:noFill/>
        </p:spPr>
        <p:txBody>
          <a:bodyPr wrap="square" lIns="0" rIns="0" tIns="0" bIns="0" anchor="ctr">
            <a:spAutoFit/>
          </a:bodyPr>
          <a:lstStyle/>
          <a:p>
            <a:pPr algn="l"/>
            <a:r>
              <a:rPr sz="2400" b="1" i="0">
                <a:solidFill>
                  <a:srgbClr val="8A1626"/>
                </a:solidFill>
              </a:rPr>
              <a:t>≈ 2.3M</a:t>
            </a:r>
          </a:p>
        </p:txBody>
      </p:sp>
      <p:sp>
        <p:nvSpPr>
          <p:cNvPr id="29" name="TextBox 28"/>
          <p:cNvSpPr txBox="1"/>
          <p:nvPr/>
        </p:nvSpPr>
        <p:spPr>
          <a:xfrm>
            <a:off x="960120" y="1984248"/>
            <a:ext cx="2247138" cy="475487"/>
          </a:xfrm>
          <a:prstGeom prst="rect">
            <a:avLst/>
          </a:prstGeom>
          <a:noFill/>
        </p:spPr>
        <p:txBody>
          <a:bodyPr wrap="square" lIns="0" rIns="0" tIns="0" bIns="0" anchor="t">
            <a:spAutoFit/>
          </a:bodyPr>
          <a:lstStyle/>
          <a:p>
            <a:pPr algn="l"/>
            <a:r>
              <a:rPr sz="1150" b="0" i="0">
                <a:solidFill>
                  <a:srgbClr val="4A5058"/>
                </a:solidFill>
              </a:rPr>
              <a:t>positions valued every business date</a:t>
            </a:r>
          </a:p>
        </p:txBody>
      </p:sp>
      <p:sp>
        <p:nvSpPr>
          <p:cNvPr id="30" name="Rectangle 29"/>
          <p:cNvSpPr/>
          <p:nvPr/>
        </p:nvSpPr>
        <p:spPr>
          <a:xfrm>
            <a:off x="3481578"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81578"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64458" y="1508760"/>
            <a:ext cx="2247138" cy="457200"/>
          </a:xfrm>
          <a:prstGeom prst="rect">
            <a:avLst/>
          </a:prstGeom>
          <a:noFill/>
        </p:spPr>
        <p:txBody>
          <a:bodyPr wrap="square" lIns="0" rIns="0" tIns="0" bIns="0" anchor="ctr">
            <a:spAutoFit/>
          </a:bodyPr>
          <a:lstStyle/>
          <a:p>
            <a:pPr algn="l"/>
            <a:r>
              <a:rPr sz="2400" b="1" i="0">
                <a:solidFill>
                  <a:srgbClr val="8A1626"/>
                </a:solidFill>
              </a:rPr>
              <a:t>≈ 15,000</a:t>
            </a:r>
          </a:p>
        </p:txBody>
      </p:sp>
      <p:sp>
        <p:nvSpPr>
          <p:cNvPr id="33" name="TextBox 32"/>
          <p:cNvSpPr txBox="1"/>
          <p:nvPr/>
        </p:nvSpPr>
        <p:spPr>
          <a:xfrm>
            <a:off x="3664458" y="1984248"/>
            <a:ext cx="2247138" cy="475487"/>
          </a:xfrm>
          <a:prstGeom prst="rect">
            <a:avLst/>
          </a:prstGeom>
          <a:noFill/>
        </p:spPr>
        <p:txBody>
          <a:bodyPr wrap="square" lIns="0" rIns="0" tIns="0" bIns="0" anchor="t">
            <a:spAutoFit/>
          </a:bodyPr>
          <a:lstStyle/>
          <a:p>
            <a:pPr algn="l"/>
            <a:r>
              <a:rPr sz="1150" b="0" i="0">
                <a:solidFill>
                  <a:srgbClr val="4A5058"/>
                </a:solidFill>
              </a:rPr>
              <a:t>portfolios, each a VaR on demand</a:t>
            </a:r>
          </a:p>
        </p:txBody>
      </p:sp>
      <p:sp>
        <p:nvSpPr>
          <p:cNvPr id="34" name="Rectangle 33"/>
          <p:cNvSpPr/>
          <p:nvPr/>
        </p:nvSpPr>
        <p:spPr>
          <a:xfrm>
            <a:off x="6185916"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85916"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68796" y="1508760"/>
            <a:ext cx="2247138" cy="457200"/>
          </a:xfrm>
          <a:prstGeom prst="rect">
            <a:avLst/>
          </a:prstGeom>
          <a:noFill/>
        </p:spPr>
        <p:txBody>
          <a:bodyPr wrap="square" lIns="0" rIns="0" tIns="0" bIns="0" anchor="ctr">
            <a:spAutoFit/>
          </a:bodyPr>
          <a:lstStyle/>
          <a:p>
            <a:pPr algn="l"/>
            <a:r>
              <a:rPr sz="2400" b="1" i="0">
                <a:solidFill>
                  <a:srgbClr val="8A1626"/>
                </a:solidFill>
              </a:rPr>
              <a:t>5</a:t>
            </a:r>
          </a:p>
        </p:txBody>
      </p:sp>
      <p:sp>
        <p:nvSpPr>
          <p:cNvPr id="37" name="TextBox 36"/>
          <p:cNvSpPr txBox="1"/>
          <p:nvPr/>
        </p:nvSpPr>
        <p:spPr>
          <a:xfrm>
            <a:off x="6368796" y="1984248"/>
            <a:ext cx="2247138" cy="475487"/>
          </a:xfrm>
          <a:prstGeom prst="rect">
            <a:avLst/>
          </a:prstGeom>
          <a:noFill/>
        </p:spPr>
        <p:txBody>
          <a:bodyPr wrap="square" lIns="0" rIns="0" tIns="0" bIns="0" anchor="t">
            <a:spAutoFit/>
          </a:bodyPr>
          <a:lstStyle/>
          <a:p>
            <a:pPr algn="l"/>
            <a:r>
              <a:rPr sz="1150" b="0" i="0">
                <a:solidFill>
                  <a:srgbClr val="4A5058"/>
                </a:solidFill>
              </a:rPr>
              <a:t>reporting currencies built ahead: USD, EUR, CAD, JPY, GBP</a:t>
            </a:r>
          </a:p>
        </p:txBody>
      </p:sp>
      <p:sp>
        <p:nvSpPr>
          <p:cNvPr id="38" name="Rectangle 37"/>
          <p:cNvSpPr/>
          <p:nvPr/>
        </p:nvSpPr>
        <p:spPr>
          <a:xfrm>
            <a:off x="8890254"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90254"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73134" y="1508760"/>
            <a:ext cx="2247138" cy="457200"/>
          </a:xfrm>
          <a:prstGeom prst="rect">
            <a:avLst/>
          </a:prstGeom>
          <a:noFill/>
        </p:spPr>
        <p:txBody>
          <a:bodyPr wrap="square" lIns="0" rIns="0" tIns="0" bIns="0" anchor="ctr">
            <a:spAutoFit/>
          </a:bodyPr>
          <a:lstStyle/>
          <a:p>
            <a:pPr algn="l"/>
            <a:r>
              <a:rPr sz="2400" b="1" i="0">
                <a:solidFill>
                  <a:srgbClr val="8A1626"/>
                </a:solidFill>
              </a:rPr>
              <a:t>≈ 700</a:t>
            </a:r>
          </a:p>
        </p:txBody>
      </p:sp>
      <p:sp>
        <p:nvSpPr>
          <p:cNvPr id="41" name="TextBox 40"/>
          <p:cNvSpPr txBox="1"/>
          <p:nvPr/>
        </p:nvSpPr>
        <p:spPr>
          <a:xfrm>
            <a:off x="9073134" y="1984248"/>
            <a:ext cx="2247138" cy="475487"/>
          </a:xfrm>
          <a:prstGeom prst="rect">
            <a:avLst/>
          </a:prstGeom>
          <a:noFill/>
        </p:spPr>
        <p:txBody>
          <a:bodyPr wrap="square" lIns="0" rIns="0" tIns="0" bIns="0" anchor="t">
            <a:spAutoFit/>
          </a:bodyPr>
          <a:lstStyle/>
          <a:p>
            <a:pPr algn="l"/>
            <a:r>
              <a:rPr sz="1150" b="0" i="0">
                <a:solidFill>
                  <a:srgbClr val="4A5058"/>
                </a:solidFill>
              </a:rPr>
              <a:t>limit letters: a hierarchy configured by columns</a:t>
            </a:r>
          </a:p>
        </p:txBody>
      </p:sp>
      <p:sp>
        <p:nvSpPr>
          <p:cNvPr id="42" name="TextBox 41"/>
          <p:cNvSpPr txBox="1"/>
          <p:nvPr/>
        </p:nvSpPr>
        <p:spPr>
          <a:xfrm>
            <a:off x="777240" y="2578608"/>
            <a:ext cx="10634472" cy="256032"/>
          </a:xfrm>
          <a:prstGeom prst="rect">
            <a:avLst/>
          </a:prstGeom>
          <a:noFill/>
        </p:spPr>
        <p:txBody>
          <a:bodyPr wrap="square" lIns="0" rIns="0" tIns="0" bIns="0" anchor="t">
            <a:spAutoFit/>
          </a:bodyPr>
          <a:lstStyle/>
          <a:p>
            <a:pPr algn="l"/>
            <a:r>
              <a:rPr sz="1050" b="0" i="1">
                <a:solidFill>
                  <a:srgbClr val="4A5058"/>
                </a:solidFill>
              </a:rPr>
              <a:t>Illustrative volumes of a large bank (an example, not a client's figures); every other figure in this deck is Drishti's.</a:t>
            </a:r>
          </a:p>
        </p:txBody>
      </p:sp>
      <p:sp>
        <p:nvSpPr>
          <p:cNvPr id="43" name="Rectangle 42"/>
          <p:cNvSpPr/>
          <p:nvPr/>
        </p:nvSpPr>
        <p:spPr>
          <a:xfrm>
            <a:off x="777240"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941832"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Scale</a:t>
            </a:r>
          </a:p>
          <a:p>
            <a:pPr algn="l" marL="146304" indent="-146304">
              <a:spcAft>
                <a:spcPts val="300"/>
              </a:spcAft>
              <a:buClr>
                <a:srgbClr val="A51C30"/>
              </a:buClr>
              <a:buSzPct val="100000"/>
              <a:buFont typeface="Arial"/>
              <a:buChar char="▪"/>
            </a:pPr>
            <a:r>
              <a:rPr sz="1150" b="0" i="0">
                <a:solidFill>
                  <a:srgbClr val="1A1A1A"/>
                </a:solidFill>
              </a:rPr>
              <a:t>A node's VaR from its float64 aggregate in under a millisecond, whatever its size</a:t>
            </a:r>
          </a:p>
          <a:p>
            <a:pPr algn="l" marL="146304" indent="-146304">
              <a:spcAft>
                <a:spcPts val="300"/>
              </a:spcAft>
              <a:buClr>
                <a:srgbClr val="A51C30"/>
              </a:buClr>
              <a:buSzPct val="100000"/>
              <a:buFont typeface="Arial"/>
              <a:buChar char="▪"/>
            </a:pPr>
            <a:r>
              <a:rPr sz="1150" b="0" i="0">
                <a:solidFill>
                  <a:srgbClr val="1A1A1A"/>
                </a:solidFill>
              </a:rPr>
              <a:t>Position grain keeps rows = positions; portfolios are sums of positions</a:t>
            </a:r>
          </a:p>
        </p:txBody>
      </p:sp>
      <p:sp>
        <p:nvSpPr>
          <p:cNvPr id="46" name="Rectangle 45"/>
          <p:cNvSpPr/>
          <p:nvPr/>
        </p:nvSpPr>
        <p:spPr>
          <a:xfrm>
            <a:off x="6185916"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6185916"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350508"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Pricing systems keep their formats</a:t>
            </a:r>
          </a:p>
          <a:p>
            <a:pPr algn="l" marL="146304" indent="-146304">
              <a:spcAft>
                <a:spcPts val="300"/>
              </a:spcAft>
              <a:buClr>
                <a:srgbClr val="A51C30"/>
              </a:buClr>
              <a:buSzPct val="100000"/>
              <a:buFont typeface="Arial"/>
              <a:buChar char="▪"/>
            </a:pPr>
            <a:r>
              <a:rPr sz="1150" b="0" i="0">
                <a:solidFill>
                  <a:srgbClr val="1A1A1A"/>
                </a:solidFill>
              </a:rPr>
              <a:t>Scenario PVs or P&amp;L, by trade or by position, files or Kafka</a:t>
            </a:r>
          </a:p>
          <a:p>
            <a:pPr algn="l" marL="146304" indent="-146304">
              <a:spcAft>
                <a:spcPts val="300"/>
              </a:spcAft>
              <a:buClr>
                <a:srgbClr val="A51C30"/>
              </a:buClr>
              <a:buSzPct val="100000"/>
              <a:buFont typeface="Arial"/>
              <a:buChar char="▪"/>
            </a:pPr>
            <a:r>
              <a:rPr sz="1150" b="0" i="0">
                <a:solidFill>
                  <a:srgbClr val="1A1A1A"/>
                </a:solidFill>
              </a:rPr>
              <a:t>Each system its own form; systems mix on one date and may switch day to day</a:t>
            </a:r>
          </a:p>
        </p:txBody>
      </p:sp>
      <p:sp>
        <p:nvSpPr>
          <p:cNvPr id="49" name="Rectangle 48"/>
          <p:cNvSpPr/>
          <p:nvPr/>
        </p:nvSpPr>
        <p:spPr>
          <a:xfrm>
            <a:off x="777240"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41832"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Multi-currency reporting</a:t>
            </a:r>
          </a:p>
          <a:p>
            <a:pPr algn="l" marL="146304" indent="-146304">
              <a:spcAft>
                <a:spcPts val="300"/>
              </a:spcAft>
              <a:buClr>
                <a:srgbClr val="A51C30"/>
              </a:buClr>
              <a:buSzPct val="100000"/>
              <a:buFont typeface="Arial"/>
              <a:buChar char="▪"/>
            </a:pPr>
            <a:r>
              <a:rPr sz="1150" b="0" i="0">
                <a:solidFill>
                  <a:srgbClr val="1A1A1A"/>
                </a:solidFill>
              </a:rPr>
              <a:t>PVs in each trade's or position's own currency, converted with each scenario's FX</a:t>
            </a:r>
          </a:p>
          <a:p>
            <a:pPr algn="l" marL="146304" indent="-146304">
              <a:spcAft>
                <a:spcPts val="300"/>
              </a:spcAft>
              <a:buClr>
                <a:srgbClr val="A51C30"/>
              </a:buClr>
              <a:buSzPct val="100000"/>
              <a:buFont typeface="Arial"/>
              <a:buChar char="▪"/>
            </a:pPr>
            <a:r>
              <a:rPr sz="1150" b="0" i="0">
                <a:solidFill>
                  <a:srgbClr val="1A1A1A"/>
                </a:solidFill>
              </a:rPr>
              <a:t>A EUR or CAD VaR is not the USD VaR × today's rate: it carries the currency risk</a:t>
            </a:r>
          </a:p>
        </p:txBody>
      </p:sp>
      <p:sp>
        <p:nvSpPr>
          <p:cNvPr id="52" name="Rectangle 51"/>
          <p:cNvSpPr/>
          <p:nvPr/>
        </p:nvSpPr>
        <p:spPr>
          <a:xfrm>
            <a:off x="6185916"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Rectangle 52"/>
          <p:cNvSpPr/>
          <p:nvPr/>
        </p:nvSpPr>
        <p:spPr>
          <a:xfrm>
            <a:off x="6185916"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350508"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Intraday</a:t>
            </a:r>
          </a:p>
          <a:p>
            <a:pPr algn="l" marL="146304" indent="-146304">
              <a:spcAft>
                <a:spcPts val="300"/>
              </a:spcAft>
              <a:buClr>
                <a:srgbClr val="A51C30"/>
              </a:buClr>
              <a:buSzPct val="100000"/>
              <a:buFont typeface="Arial"/>
              <a:buChar char="▪"/>
            </a:pPr>
            <a:r>
              <a:rPr sz="1150" b="0" i="0">
                <a:solidFill>
                  <a:srgbClr val="1A1A1A"/>
                </a:solidFill>
              </a:rPr>
              <a:t>Only the changed trades or positions, applied as new − old up every tree</a:t>
            </a:r>
          </a:p>
          <a:p>
            <a:pPr algn="l" marL="146304" indent="-146304">
              <a:spcAft>
                <a:spcPts val="300"/>
              </a:spcAft>
              <a:buClr>
                <a:srgbClr val="A51C30"/>
              </a:buClr>
              <a:buSzPct val="100000"/>
              <a:buFont typeface="Arial"/>
              <a:buChar char="▪"/>
            </a:pPr>
            <a:r>
              <a:rPr sz="1150" b="0" i="0">
                <a:solidFill>
                  <a:srgbClr val="1A1A1A"/>
                </a:solidFill>
              </a:rPr>
              <a:t>The official end-of-day record stays the full run's; intraday never restates it</a:t>
            </a:r>
          </a:p>
        </p:txBody>
      </p:sp>
      <p:sp>
        <p:nvSpPr>
          <p:cNvPr id="55" name="Rectangle 54"/>
          <p:cNvSpPr/>
          <p:nvPr/>
        </p:nvSpPr>
        <p:spPr>
          <a:xfrm>
            <a:off x="777240" y="5349240"/>
            <a:ext cx="10634472" cy="9144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914400" y="5404103"/>
            <a:ext cx="1463040" cy="274320"/>
          </a:xfrm>
          <a:prstGeom prst="rect">
            <a:avLst/>
          </a:prstGeom>
          <a:noFill/>
        </p:spPr>
        <p:txBody>
          <a:bodyPr wrap="square" lIns="0" rIns="0" tIns="0" bIns="0" anchor="ctr">
            <a:spAutoFit/>
          </a:bodyPr>
          <a:lstStyle/>
          <a:p>
            <a:pPr algn="l"/>
            <a:r>
              <a:rPr sz="1100" b="1" i="0">
                <a:solidFill>
                  <a:srgbClr val="8A1626"/>
                </a:solidFill>
              </a:rPr>
              <a:t>Status words</a:t>
            </a:r>
          </a:p>
        </p:txBody>
      </p:sp>
      <p:sp>
        <p:nvSpPr>
          <p:cNvPr id="57" name="TextBox 56"/>
          <p:cNvSpPr txBox="1"/>
          <p:nvPr/>
        </p:nvSpPr>
        <p:spPr>
          <a:xfrm>
            <a:off x="2377440" y="5404103"/>
            <a:ext cx="8897112" cy="274320"/>
          </a:xfrm>
          <a:prstGeom prst="rect">
            <a:avLst/>
          </a:prstGeom>
          <a:noFill/>
        </p:spPr>
        <p:txBody>
          <a:bodyPr wrap="square" lIns="0" rIns="0" tIns="0" bIns="0" anchor="ctr">
            <a:spAutoFit/>
          </a:bodyPr>
          <a:lstStyle/>
          <a:p>
            <a:pPr algn="l"/>
            <a:r>
              <a:rPr sz="1000" b="0" i="1">
                <a:solidFill>
                  <a:srgbClr val="4A5058"/>
                </a:solidFill>
              </a:rPr>
              <a:t>Built things carry no label; only what is not built yet does.</a:t>
            </a:r>
          </a:p>
        </p:txBody>
      </p:sp>
      <p:sp>
        <p:nvSpPr>
          <p:cNvPr id="58" name="Rounded Rectangle 57"/>
          <p:cNvSpPr/>
          <p:nvPr/>
        </p:nvSpPr>
        <p:spPr>
          <a:xfrm>
            <a:off x="1478280" y="5733288"/>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59" name="TextBox 58"/>
          <p:cNvSpPr txBox="1"/>
          <p:nvPr/>
        </p:nvSpPr>
        <p:spPr>
          <a:xfrm>
            <a:off x="960120" y="5961888"/>
            <a:ext cx="1635252" cy="256032"/>
          </a:xfrm>
          <a:prstGeom prst="rect">
            <a:avLst/>
          </a:prstGeom>
          <a:noFill/>
        </p:spPr>
        <p:txBody>
          <a:bodyPr wrap="square" lIns="0" rIns="0" tIns="0" bIns="0" anchor="ctr">
            <a:spAutoFit/>
          </a:bodyPr>
          <a:lstStyle/>
          <a:p>
            <a:pPr algn="ctr"/>
            <a:r>
              <a:rPr sz="950" b="0" i="0">
                <a:solidFill>
                  <a:srgbClr val="4A5058"/>
                </a:solidFill>
              </a:rPr>
              <a:t>not built yet</a:t>
            </a:r>
          </a:p>
        </p:txBody>
      </p:sp>
      <p:sp>
        <p:nvSpPr>
          <p:cNvPr id="60" name="Rounded Rectangle 59"/>
          <p:cNvSpPr/>
          <p:nvPr/>
        </p:nvSpPr>
        <p:spPr>
          <a:xfrm>
            <a:off x="3204972" y="5733288"/>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NOT RUN</a:t>
            </a:r>
          </a:p>
        </p:txBody>
      </p:sp>
      <p:sp>
        <p:nvSpPr>
          <p:cNvPr id="61" name="TextBox 60"/>
          <p:cNvSpPr txBox="1"/>
          <p:nvPr/>
        </p:nvSpPr>
        <p:spPr>
          <a:xfrm>
            <a:off x="2686811" y="5961888"/>
            <a:ext cx="1635252" cy="256032"/>
          </a:xfrm>
          <a:prstGeom prst="rect">
            <a:avLst/>
          </a:prstGeom>
          <a:noFill/>
        </p:spPr>
        <p:txBody>
          <a:bodyPr wrap="square" lIns="0" rIns="0" tIns="0" bIns="0" anchor="ctr">
            <a:spAutoFit/>
          </a:bodyPr>
          <a:lstStyle/>
          <a:p>
            <a:pPr algn="ctr"/>
            <a:r>
              <a:rPr sz="950" b="0" i="0">
                <a:solidFill>
                  <a:srgbClr val="4A5058"/>
                </a:solidFill>
              </a:rPr>
              <a:t>written, not yet run on AWS</a:t>
            </a:r>
          </a:p>
        </p:txBody>
      </p:sp>
      <p:sp>
        <p:nvSpPr>
          <p:cNvPr id="62" name="Rounded Rectangle 61"/>
          <p:cNvSpPr/>
          <p:nvPr/>
        </p:nvSpPr>
        <p:spPr>
          <a:xfrm>
            <a:off x="4897374" y="573328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PROPOSED</a:t>
            </a:r>
          </a:p>
        </p:txBody>
      </p:sp>
      <p:sp>
        <p:nvSpPr>
          <p:cNvPr id="63" name="TextBox 62"/>
          <p:cNvSpPr txBox="1"/>
          <p:nvPr/>
        </p:nvSpPr>
        <p:spPr>
          <a:xfrm>
            <a:off x="4413504" y="5961888"/>
            <a:ext cx="1635252" cy="256032"/>
          </a:xfrm>
          <a:prstGeom prst="rect">
            <a:avLst/>
          </a:prstGeom>
          <a:noFill/>
        </p:spPr>
        <p:txBody>
          <a:bodyPr wrap="square" lIns="0" rIns="0" tIns="0" bIns="0" anchor="ctr">
            <a:spAutoFit/>
          </a:bodyPr>
          <a:lstStyle/>
          <a:p>
            <a:pPr algn="ctr"/>
            <a:r>
              <a:rPr sz="950" b="0" i="0">
                <a:solidFill>
                  <a:srgbClr val="4A5058"/>
                </a:solidFill>
              </a:rPr>
              <a:t>this deck's recommendation</a:t>
            </a:r>
          </a:p>
        </p:txBody>
      </p:sp>
      <p:sp>
        <p:nvSpPr>
          <p:cNvPr id="64" name="Rounded Rectangle 63"/>
          <p:cNvSpPr/>
          <p:nvPr/>
        </p:nvSpPr>
        <p:spPr>
          <a:xfrm>
            <a:off x="6624066" y="5733288"/>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MEASURED</a:t>
            </a:r>
          </a:p>
        </p:txBody>
      </p:sp>
      <p:sp>
        <p:nvSpPr>
          <p:cNvPr id="65" name="TextBox 64"/>
          <p:cNvSpPr txBox="1"/>
          <p:nvPr/>
        </p:nvSpPr>
        <p:spPr>
          <a:xfrm>
            <a:off x="6140196" y="5961888"/>
            <a:ext cx="1635252" cy="256032"/>
          </a:xfrm>
          <a:prstGeom prst="rect">
            <a:avLst/>
          </a:prstGeom>
          <a:noFill/>
        </p:spPr>
        <p:txBody>
          <a:bodyPr wrap="square" lIns="0" rIns="0" tIns="0" bIns="0" anchor="ctr">
            <a:spAutoFit/>
          </a:bodyPr>
          <a:lstStyle/>
          <a:p>
            <a:pPr algn="ctr"/>
            <a:r>
              <a:rPr sz="950" b="0" i="0">
                <a:solidFill>
                  <a:srgbClr val="4A5058"/>
                </a:solidFill>
              </a:rPr>
              <a:t>on a workstation</a:t>
            </a:r>
          </a:p>
        </p:txBody>
      </p:sp>
      <p:sp>
        <p:nvSpPr>
          <p:cNvPr id="66" name="Rounded Rectangle 65"/>
          <p:cNvSpPr/>
          <p:nvPr/>
        </p:nvSpPr>
        <p:spPr>
          <a:xfrm>
            <a:off x="8316468" y="5733288"/>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ESTIMATED</a:t>
            </a:r>
          </a:p>
        </p:txBody>
      </p:sp>
      <p:sp>
        <p:nvSpPr>
          <p:cNvPr id="67" name="TextBox 66"/>
          <p:cNvSpPr txBox="1"/>
          <p:nvPr/>
        </p:nvSpPr>
        <p:spPr>
          <a:xfrm>
            <a:off x="7866888" y="5961888"/>
            <a:ext cx="1635252" cy="256032"/>
          </a:xfrm>
          <a:prstGeom prst="rect">
            <a:avLst/>
          </a:prstGeom>
          <a:noFill/>
        </p:spPr>
        <p:txBody>
          <a:bodyPr wrap="square" lIns="0" rIns="0" tIns="0" bIns="0" anchor="ctr">
            <a:spAutoFit/>
          </a:bodyPr>
          <a:lstStyle/>
          <a:p>
            <a:pPr algn="ctr"/>
            <a:r>
              <a:rPr sz="950" b="0" i="0">
                <a:solidFill>
                  <a:srgbClr val="4A5058"/>
                </a:solidFill>
              </a:rPr>
              <a:t>scaled from measured</a:t>
            </a:r>
          </a:p>
        </p:txBody>
      </p:sp>
      <p:sp>
        <p:nvSpPr>
          <p:cNvPr id="68" name="Rounded Rectangle 67"/>
          <p:cNvSpPr/>
          <p:nvPr/>
        </p:nvSpPr>
        <p:spPr>
          <a:xfrm>
            <a:off x="10008870" y="5733288"/>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7A5A12"/>
                </a:solidFill>
              </a:rPr>
              <a:t>ASSUMPTION</a:t>
            </a:r>
          </a:p>
        </p:txBody>
      </p:sp>
      <p:sp>
        <p:nvSpPr>
          <p:cNvPr id="69" name="TextBox 68"/>
          <p:cNvSpPr txBox="1"/>
          <p:nvPr/>
        </p:nvSpPr>
        <p:spPr>
          <a:xfrm>
            <a:off x="9593580" y="5961888"/>
            <a:ext cx="1635252" cy="256032"/>
          </a:xfrm>
          <a:prstGeom prst="rect">
            <a:avLst/>
          </a:prstGeom>
          <a:noFill/>
        </p:spPr>
        <p:txBody>
          <a:bodyPr wrap="square" lIns="0" rIns="0" tIns="0" bIns="0" anchor="ctr">
            <a:spAutoFit/>
          </a:bodyPr>
          <a:lstStyle/>
          <a:p>
            <a:pPr algn="ctr"/>
            <a:r>
              <a:rPr sz="950" b="0" i="0">
                <a:solidFill>
                  <a:srgbClr val="4A5058"/>
                </a:solidFill>
              </a:rPr>
              <a:t>for the bank to confirm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481328"/>
            <a:ext cx="2103120" cy="786384"/>
          </a:xfrm>
          <a:prstGeom prst="rect">
            <a:avLst/>
          </a:prstGeom>
          <a:noFill/>
        </p:spPr>
        <p:txBody>
          <a:bodyPr wrap="square" lIns="0" rIns="0" tIns="0" bIns="0" anchor="ctr">
            <a:spAutoFit/>
          </a:bodyPr>
          <a:lstStyle/>
          <a:p>
            <a:pPr algn="l"/>
            <a:r>
              <a:rPr sz="1400" b="1" i="0">
                <a:solidFill>
                  <a:srgbClr val="8A1626"/>
                </a:solidFill>
              </a:rPr>
              <a:t>What is it?</a:t>
            </a:r>
          </a:p>
        </p:txBody>
      </p:sp>
      <p:sp>
        <p:nvSpPr>
          <p:cNvPr id="28" name="Rectangle 27"/>
          <p:cNvSpPr/>
          <p:nvPr/>
        </p:nvSpPr>
        <p:spPr>
          <a:xfrm>
            <a:off x="3154680" y="148132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3337560" y="1481328"/>
            <a:ext cx="7936992" cy="786384"/>
          </a:xfrm>
          <a:prstGeom prst="rect">
            <a:avLst/>
          </a:prstGeom>
          <a:noFill/>
        </p:spPr>
        <p:txBody>
          <a:bodyPr wrap="square" lIns="0" rIns="0" tIns="0" bIns="0" anchor="ctr">
            <a:spAutoFit/>
          </a:bodyPr>
          <a:lstStyle/>
          <a:p>
            <a:pPr algn="l"/>
            <a:r>
              <a:rPr sz="1300" b="0" i="0">
                <a:solidFill>
                  <a:srgbClr val="1A1A1A"/>
                </a:solidFill>
              </a:rPr>
              <a:t>A VaR engine in the Drishti server: historical simulation over 509 scenario days (or a set window), VaR 99% (95% by setting) and ES 97.5%, 1 day, on demand for any set of trades or positions: the bank, a legal entity, desk, book, a portfolio, a rule or a basket.</a:t>
            </a:r>
          </a:p>
        </p:txBody>
      </p:sp>
      <p:sp>
        <p:nvSpPr>
          <p:cNvPr id="30" name="Rectangle 29"/>
          <p:cNvSpPr/>
          <p:nvPr/>
        </p:nvSpPr>
        <p:spPr>
          <a:xfrm>
            <a:off x="777240" y="2359152"/>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41832" y="2359152"/>
            <a:ext cx="2103120" cy="676656"/>
          </a:xfrm>
          <a:prstGeom prst="rect">
            <a:avLst/>
          </a:prstGeom>
          <a:noFill/>
        </p:spPr>
        <p:txBody>
          <a:bodyPr wrap="square" lIns="0" rIns="0" tIns="0" bIns="0" anchor="ctr">
            <a:spAutoFit/>
          </a:bodyPr>
          <a:lstStyle/>
          <a:p>
            <a:pPr algn="l"/>
            <a:r>
              <a:rPr sz="1400" b="1" i="0">
                <a:solidFill>
                  <a:srgbClr val="FFFFFF"/>
                </a:solidFill>
              </a:rPr>
              <a:t>Every input</a:t>
            </a:r>
          </a:p>
        </p:txBody>
      </p:sp>
      <p:sp>
        <p:nvSpPr>
          <p:cNvPr id="32" name="Rectangle 31"/>
          <p:cNvSpPr/>
          <p:nvPr/>
        </p:nvSpPr>
        <p:spPr>
          <a:xfrm>
            <a:off x="3154680" y="2359152"/>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3337560" y="2359152"/>
            <a:ext cx="7936992" cy="676656"/>
          </a:xfrm>
          <a:prstGeom prst="rect">
            <a:avLst/>
          </a:prstGeom>
          <a:noFill/>
        </p:spPr>
        <p:txBody>
          <a:bodyPr wrap="square" lIns="0" rIns="0" tIns="0" bIns="0" anchor="ctr">
            <a:spAutoFit/>
          </a:bodyPr>
          <a:lstStyle/>
          <a:p>
            <a:pPr algn="l"/>
            <a:r>
              <a:rPr sz="1350" b="1" i="0">
                <a:solidFill>
                  <a:srgbClr val="8A1626"/>
                </a:solidFill>
              </a:rPr>
              <a:t>One engine, every input: scenario PVs or path P&amp;L, by trade or by position, any currency, files or Kafka. Source systems keep their own formats.</a:t>
            </a:r>
          </a:p>
        </p:txBody>
      </p:sp>
      <p:sp>
        <p:nvSpPr>
          <p:cNvPr id="34" name="Rectangle 33"/>
          <p:cNvSpPr/>
          <p:nvPr/>
        </p:nvSpPr>
        <p:spPr>
          <a:xfrm>
            <a:off x="777240" y="3127248"/>
            <a:ext cx="2331720" cy="11887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1832" y="3127248"/>
            <a:ext cx="2103120" cy="1188720"/>
          </a:xfrm>
          <a:prstGeom prst="rect">
            <a:avLst/>
          </a:prstGeom>
          <a:noFill/>
        </p:spPr>
        <p:txBody>
          <a:bodyPr wrap="square" lIns="0" rIns="0" tIns="0" bIns="0" anchor="ctr">
            <a:spAutoFit/>
          </a:bodyPr>
          <a:lstStyle/>
          <a:p>
            <a:pPr algn="l"/>
            <a:r>
              <a:rPr sz="1400" b="1" i="0">
                <a:solidFill>
                  <a:srgbClr val="8A1626"/>
                </a:solidFill>
              </a:rPr>
              <a:t>How does it work?</a:t>
            </a:r>
          </a:p>
        </p:txBody>
      </p:sp>
      <p:sp>
        <p:nvSpPr>
          <p:cNvPr id="36" name="Rectangle 35"/>
          <p:cNvSpPr/>
          <p:nvPr/>
        </p:nvSpPr>
        <p:spPr>
          <a:xfrm>
            <a:off x="3154680" y="3127248"/>
            <a:ext cx="8257032" cy="1188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337560" y="3127248"/>
            <a:ext cx="7936992" cy="1188720"/>
          </a:xfrm>
          <a:prstGeom prst="rect">
            <a:avLst/>
          </a:prstGeom>
          <a:noFill/>
        </p:spPr>
        <p:txBody>
          <a:bodyPr wrap="square" lIns="0" rIns="0" tIns="0" bIns="0" anchor="ctr">
            <a:spAutoFit/>
          </a:bodyPr>
          <a:lstStyle/>
          <a:p>
            <a:pPr algn="l"/>
            <a:r>
              <a:rPr sz="1300" b="0" i="0">
                <a:solidFill>
                  <a:srgbClr val="1A1A1A"/>
                </a:solidFill>
              </a:rPr>
              <a:t>It never reprices. The pricing systems send scenario PVs (in each trade's or position's own currency) or path P&amp;L, at trade or position level, through files or Kafka. Drishti turns each into one internal form, a P&amp;L vector per trade or position, converting PVs with scenario FX into any reporting currency. A scope's vector is the sum of its trades' or positions' vectors, and VaR, ES and every contribution are read from that one vector.</a:t>
            </a:r>
          </a:p>
        </p:txBody>
      </p:sp>
      <p:sp>
        <p:nvSpPr>
          <p:cNvPr id="38" name="Rectangle 37"/>
          <p:cNvSpPr/>
          <p:nvPr/>
        </p:nvSpPr>
        <p:spPr>
          <a:xfrm>
            <a:off x="777240" y="440740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41832" y="4407408"/>
            <a:ext cx="2103120" cy="786384"/>
          </a:xfrm>
          <a:prstGeom prst="rect">
            <a:avLst/>
          </a:prstGeom>
          <a:noFill/>
        </p:spPr>
        <p:txBody>
          <a:bodyPr wrap="square" lIns="0" rIns="0" tIns="0" bIns="0" anchor="ctr">
            <a:spAutoFit/>
          </a:bodyPr>
          <a:lstStyle/>
          <a:p>
            <a:pPr algn="l"/>
            <a:r>
              <a:rPr sz="1400" b="1" i="0">
                <a:solidFill>
                  <a:srgbClr val="8A1626"/>
                </a:solidFill>
              </a:rPr>
              <a:t>Can I trust it?</a:t>
            </a:r>
          </a:p>
        </p:txBody>
      </p:sp>
      <p:sp>
        <p:nvSpPr>
          <p:cNvPr id="40" name="Rectangle 39"/>
          <p:cNvSpPr/>
          <p:nvPr/>
        </p:nvSpPr>
        <p:spPr>
          <a:xfrm>
            <a:off x="3154680" y="440740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3337560" y="4407408"/>
            <a:ext cx="7936992" cy="786384"/>
          </a:xfrm>
          <a:prstGeom prst="rect">
            <a:avLst/>
          </a:prstGeom>
          <a:noFill/>
        </p:spPr>
        <p:txBody>
          <a:bodyPr wrap="square" lIns="0" rIns="0" tIns="0" bIns="0" anchor="ctr">
            <a:spAutoFit/>
          </a:bodyPr>
          <a:lstStyle/>
          <a:p>
            <a:pPr algn="l"/>
            <a:r>
              <a:rPr sz="13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42" name="Rectangle 41"/>
          <p:cNvSpPr/>
          <p:nvPr/>
        </p:nvSpPr>
        <p:spPr>
          <a:xfrm>
            <a:off x="777240" y="5285232"/>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941832" y="5285232"/>
            <a:ext cx="2103120" cy="786384"/>
          </a:xfrm>
          <a:prstGeom prst="rect">
            <a:avLst/>
          </a:prstGeom>
          <a:noFill/>
        </p:spPr>
        <p:txBody>
          <a:bodyPr wrap="square" lIns="0" rIns="0" tIns="0" bIns="0" anchor="ctr">
            <a:spAutoFit/>
          </a:bodyPr>
          <a:lstStyle/>
          <a:p>
            <a:pPr algn="l"/>
            <a:r>
              <a:rPr sz="1400" b="1" i="0">
                <a:solidFill>
                  <a:srgbClr val="8A1626"/>
                </a:solidFill>
              </a:rPr>
              <a:t>Does it scale?</a:t>
            </a:r>
          </a:p>
        </p:txBody>
      </p:sp>
      <p:sp>
        <p:nvSpPr>
          <p:cNvPr id="44" name="Rectangle 43"/>
          <p:cNvSpPr/>
          <p:nvPr/>
        </p:nvSpPr>
        <p:spPr>
          <a:xfrm>
            <a:off x="3154680" y="5285232"/>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3337560" y="5285232"/>
            <a:ext cx="7936992" cy="786384"/>
          </a:xfrm>
          <a:prstGeom prst="rect">
            <a:avLst/>
          </a:prstGeom>
          <a:noFill/>
        </p:spPr>
        <p:txBody>
          <a:bodyPr wrap="square" lIns="0" rIns="0" tIns="0" bIns="0" anchor="ctr">
            <a:spAutoFit/>
          </a:bodyPr>
          <a:lstStyle/>
          <a:p>
            <a:pPr algn="l"/>
            <a:r>
              <a:rPr sz="1300" b="0" i="0">
                <a:solidFill>
                  <a:srgbClr val="1A1A1A"/>
                </a:solidFill>
              </a:rPr>
              <a:t>Measured: 1 million rows summed in 58 ms (heap tier); 100,000 × 5 dates on the tiered store, a node in 0.48 ms; 700 limit letters build in the same time. Sized for a large bank (e.g. 2.3M positions, 15,000 portfolios) on the sizing and capacity slides; VaR sharded across a cluster is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02</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How VaR works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499616"/>
            <a:ext cx="1828800" cy="438912"/>
          </a:xfrm>
          <a:prstGeom prst="rect">
            <a:avLst/>
          </a:prstGeom>
          <a:noFill/>
        </p:spPr>
        <p:txBody>
          <a:bodyPr wrap="square" lIns="0" rIns="0" tIns="0" bIns="0" anchor="ctr">
            <a:spAutoFit/>
          </a:bodyPr>
          <a:lstStyle/>
          <a:p>
            <a:pPr algn="l"/>
            <a:r>
              <a:rPr sz="1250" b="1" i="0">
                <a:solidFill>
                  <a:srgbClr val="8A1626"/>
                </a:solidFill>
              </a:rPr>
              <a:t>A P&amp;L vector per trade or position</a:t>
            </a:r>
          </a:p>
        </p:txBody>
      </p:sp>
      <p:sp>
        <p:nvSpPr>
          <p:cNvPr id="29" name="TextBox 28"/>
          <p:cNvSpPr txBox="1"/>
          <p:nvPr/>
        </p:nvSpPr>
        <p:spPr>
          <a:xfrm>
            <a:off x="905256" y="1975104"/>
            <a:ext cx="2231136" cy="475488"/>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499616"/>
            <a:ext cx="1828800" cy="438912"/>
          </a:xfrm>
          <a:prstGeom prst="rect">
            <a:avLst/>
          </a:prstGeom>
          <a:noFill/>
        </p:spPr>
        <p:txBody>
          <a:bodyPr wrap="square" lIns="0" rIns="0" tIns="0" bIns="0" anchor="ctr">
            <a:spAutoFit/>
          </a:bodyPr>
          <a:lstStyle/>
          <a:p>
            <a:pPr algn="l"/>
            <a:r>
              <a:rPr sz="1250" b="1" i="0">
                <a:solidFill>
                  <a:srgbClr val="8A1626"/>
                </a:solidFill>
              </a:rPr>
              <a:t>Add the scope's vectors</a:t>
            </a:r>
          </a:p>
        </p:txBody>
      </p:sp>
      <p:sp>
        <p:nvSpPr>
          <p:cNvPr id="34" name="TextBox 33"/>
          <p:cNvSpPr txBox="1"/>
          <p:nvPr/>
        </p:nvSpPr>
        <p:spPr>
          <a:xfrm>
            <a:off x="3639312" y="1975104"/>
            <a:ext cx="2231136" cy="475488"/>
          </a:xfrm>
          <a:prstGeom prst="rect">
            <a:avLst/>
          </a:prstGeom>
          <a:noFill/>
        </p:spPr>
        <p:txBody>
          <a:bodyPr wrap="square" lIns="0" rIns="0" tIns="0" bIns="0" anchor="t">
            <a:spAutoFit/>
          </a:bodyPr>
          <a:lstStyle/>
          <a:p>
            <a:pPr algn="l"/>
            <a:r>
              <a:rPr sz="1100" b="0" i="0">
                <a:solidFill>
                  <a:srgbClr val="4A5058"/>
                </a:solidFill>
              </a:rPr>
              <a:t>a set of trades or positions; overlaps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499616"/>
            <a:ext cx="1828800" cy="438912"/>
          </a:xfrm>
          <a:prstGeom prst="rect">
            <a:avLst/>
          </a:prstGeom>
          <a:noFill/>
        </p:spPr>
        <p:txBody>
          <a:bodyPr wrap="square" lIns="0" rIns="0" tIns="0" bIns="0" anchor="ctr">
            <a:spAutoFit/>
          </a:bodyPr>
          <a:lstStyle/>
          <a:p>
            <a:pPr algn="l"/>
            <a:r>
              <a:rPr sz="1250" b="1" i="0">
                <a:solidFill>
                  <a:srgbClr val="8A1626"/>
                </a:solidFill>
              </a:rPr>
              <a:t>Sort the 509 P&amp;Ls</a:t>
            </a:r>
          </a:p>
        </p:txBody>
      </p:sp>
      <p:sp>
        <p:nvSpPr>
          <p:cNvPr id="39" name="TextBox 38"/>
          <p:cNvSpPr txBox="1"/>
          <p:nvPr/>
        </p:nvSpPr>
        <p:spPr>
          <a:xfrm>
            <a:off x="6373368" y="1975104"/>
            <a:ext cx="2231136" cy="475488"/>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499616"/>
            <a:ext cx="1828800" cy="438912"/>
          </a:xfrm>
          <a:prstGeom prst="rect">
            <a:avLst/>
          </a:prstGeom>
          <a:noFill/>
        </p:spPr>
        <p:txBody>
          <a:bodyPr wrap="square" lIns="0" rIns="0" tIns="0" bIns="0" anchor="ctr">
            <a:spAutoFit/>
          </a:bodyPr>
          <a:lstStyle/>
          <a:p>
            <a:pPr algn="l"/>
            <a:r>
              <a:rPr sz="1250" b="1" i="0">
                <a:solidFill>
                  <a:srgbClr val="8A1626"/>
                </a:solidFill>
              </a:rPr>
              <a:t>Read the tail</a:t>
            </a:r>
          </a:p>
        </p:txBody>
      </p:sp>
      <p:sp>
        <p:nvSpPr>
          <p:cNvPr id="44" name="TextBox 43"/>
          <p:cNvSpPr txBox="1"/>
          <p:nvPr/>
        </p:nvSpPr>
        <p:spPr>
          <a:xfrm>
            <a:off x="9107424" y="1975104"/>
            <a:ext cx="2231136" cy="475488"/>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02352"/>
            <a:ext cx="1069848" cy="41148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02352"/>
            <a:ext cx="1069848" cy="41148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02352"/>
            <a:ext cx="1069848" cy="41148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02352"/>
            <a:ext cx="1069848" cy="41148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02352"/>
            <a:ext cx="1069848" cy="41148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815584"/>
            <a:ext cx="10634472" cy="493776"/>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2551176"/>
        </p:xfrm>
        <a:graphic>
          <a:graphicData uri="http://schemas.openxmlformats.org/drawingml/2006/table">
            <a:tbl>
              <a:tblPr firstRow="0" bandRow="0">
                <a:tableStyleId>{5940675A-B579-460E-94D1-54222C63F5DA}</a:tableStyleId>
              </a:tblPr>
              <a:tblGrid>
                <a:gridCol w="1298448"/>
                <a:gridCol w="2660904"/>
              </a:tblGrid>
              <a:tr h="283464">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83464">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a:t>
            </a:r>
          </a:p>
        </p:txBody>
      </p:sp>
      <p:sp>
        <p:nvSpPr>
          <p:cNvPr id="3" name="Title 2"/>
          <p:cNvSpPr>
            <a:spLocks noGrp="1"/>
          </p:cNvSpPr>
          <p:nvPr>
            <p:ph type="title" idx="104"/>
          </p:nvPr>
        </p:nvSpPr>
        <p:spPr/>
        <p:txBody>
          <a:bodyPr/>
          <a:lstStyle/>
          <a:p>
            <a:r>
              <a:t>From scenario PVs in their own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or position's 509 scenario PVs and base PV in its own currency (</a:t>
            </a:r>
            <a:r>
              <a:rPr sz="1100" b="0" i="0">
                <a:solidFill>
                  <a:srgbClr val="1A1A1A"/>
                </a:solidFill>
                <a:latin typeface="Courier New"/>
              </a:rPr>
              <a:t>scenario-pv</a:t>
            </a:r>
            <a:r>
              <a:rPr sz="1200" b="0" i="0">
                <a:solidFill>
                  <a:srgbClr val="1A1A1A"/>
                </a:solidFill>
              </a:rPr>
              <a:t>). The USD P&amp;L-vector form stays supported; a date may mix both, each row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row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a:t>
            </a:r>
          </a:p>
        </p:txBody>
      </p:sp>
      <p:sp>
        <p:nvSpPr>
          <p:cNvPr id="3" name="Title 2"/>
          <p:cNvSpPr>
            <a:spLocks noGrp="1"/>
          </p:cNvSpPr>
          <p:nvPr>
            <p:ph type="title" idx="104"/>
          </p:nvPr>
        </p:nvSpPr>
        <p:spPr/>
        <p:txBody>
          <a:bodyPr/>
          <a:lstStyle/>
          <a:p>
            <a:r>
              <a:t>Intraday: only what changed,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or position; the date loads;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rows</a:t>
            </a:r>
          </a:p>
          <a:p>
            <a:pPr algn="l"/>
            <a:r>
              <a:rPr sz="1100" b="0" i="0">
                <a:solidFill>
                  <a:srgbClr val="4A5058"/>
                </a:solidFill>
              </a:rPr>
              <a:t>Trades or positions 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(every hierarchy),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TextBox 39"/>
          <p:cNvSpPr txBox="1"/>
          <p:nvPr/>
        </p:nvSpPr>
        <p:spPr>
          <a:xfrm>
            <a:off x="3040380"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1" name="TextBox 40"/>
          <p:cNvSpPr txBox="1"/>
          <p:nvPr/>
        </p:nvSpPr>
        <p:spPr>
          <a:xfrm>
            <a:off x="521665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2" name="Table 41"/>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or position,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(on Iceberg, one append),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5" name="Rectangle 44"/>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ectangle 45"/>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 200 batches of 3 trades on one date; a restart equal too; batch time does not grow. Official numbers come only from full runs.</a:t>
            </a:r>
          </a:p>
        </p:txBody>
      </p:sp>
      <p:sp>
        <p:nvSpPr>
          <p:cNvPr id="48" name="TextBox 47"/>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rows changed × nodes above × currencies built, never the size of the book.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LEGAL or the limit letters (a tree by columns) with VaR, ES and limit bars; VaR, ES, sum of standalone, diversification, limit use, backtest exceptions.</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its trades and positions,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positions,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03</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Data 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or positions only (RUN_KIND INTRADAY): small JSONL files, or a Kafka PV topic, 5-min micro-batches</a:t>
            </a:r>
          </a:p>
        </p:txBody>
      </p:sp>
      <p:sp>
        <p:nvSpPr>
          <p:cNvPr id="41" name="TextBox 40"/>
          <p:cNvSpPr txBox="1"/>
          <p:nvPr/>
        </p:nvSpPr>
        <p:spPr>
          <a:xfrm>
            <a:off x="886968"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2" name="Rectangle 41"/>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3081528" y="1755648"/>
            <a:ext cx="1783080" cy="274320"/>
          </a:xfrm>
          <a:prstGeom prst="rect">
            <a:avLst/>
          </a:prstGeom>
          <a:noFill/>
        </p:spPr>
        <p:txBody>
          <a:bodyPr wrap="square" lIns="0" rIns="0" tIns="0" bIns="0" anchor="t">
            <a:spAutoFit/>
          </a:bodyPr>
          <a:lstStyle/>
          <a:p>
            <a:pPr algn="l"/>
            <a:r>
              <a:rPr sz="1150" b="1" i="0">
                <a:solidFill>
                  <a:srgbClr val="8A1626"/>
                </a:solidFill>
              </a:rPr>
              <a:t>Delta or Iceberg · risk</a:t>
            </a:r>
          </a:p>
        </p:txBody>
      </p:sp>
      <p:sp>
        <p:nvSpPr>
          <p:cNvPr id="44" name="Rectangle 43"/>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5" name="Rectangle 44"/>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6" name="Rectangle 45"/>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7" name="Rectangle 46"/>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8" name="Rectangle 47"/>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49" name="Rectangle 48"/>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0" name="TextBox 49"/>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1" name="Rectangle 50"/>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or Iceberg, a folder or S3, JSONL beside it; BI reads it (VOFF)</a:t>
            </a:r>
          </a:p>
        </p:txBody>
      </p:sp>
      <p:sp>
        <p:nvSpPr>
          <p:cNvPr id="53" name="Rectangle 52"/>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5" name="Rectangle 54"/>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or position wins; no reload</a:t>
            </a:r>
          </a:p>
        </p:txBody>
      </p:sp>
      <p:sp>
        <p:nvSpPr>
          <p:cNvPr id="57" name="Rectangle 56"/>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59" name="Rectangle 58"/>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1" name="Rectangle 60"/>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xtBox 61"/>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3" name="Rectangle 62"/>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5" name="TextBox 64"/>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6" name="Rectangle 65"/>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TextBox 66"/>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8" name="Rectangle 67"/>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TextBox 68"/>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0" name="Rectangle 69"/>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TextBox 70"/>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2" name="Rectangle 71"/>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TextBox 72"/>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4" name="Rectangle 73"/>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6" name="Connector 75"/>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lake + JSONL</a:t>
            </a:r>
          </a:p>
        </p:txBody>
      </p:sp>
      <p:cxnSp>
        <p:nvCxnSpPr>
          <p:cNvPr id="87" name="Connector 86"/>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HIERARCHIES AND LIMITS</a:t>
            </a:r>
          </a:p>
        </p:txBody>
      </p:sp>
      <p:sp>
        <p:nvSpPr>
          <p:cNvPr id="3" name="Title 2"/>
          <p:cNvSpPr>
            <a:spLocks noGrp="1"/>
          </p:cNvSpPr>
          <p:nvPr>
            <p:ph type="title" idx="104"/>
          </p:nvPr>
        </p:nvSpPr>
        <p:spPr/>
        <p:txBody>
          <a:bodyPr/>
          <a:lstStyle/>
          <a:p>
            <a:r>
              <a:t>Three trees: management, legal entity and the limit letters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463040" cy="274320"/>
          </a:xfrm>
          <a:prstGeom prst="rect">
            <a:avLst/>
          </a:prstGeom>
          <a:noFill/>
        </p:spPr>
        <p:txBody>
          <a:bodyPr wrap="square" lIns="0" rIns="0" tIns="0" bIns="0" anchor="ctr">
            <a:spAutoFit/>
          </a:bodyPr>
          <a:lstStyle/>
          <a:p>
            <a:pPr algn="l"/>
            <a:r>
              <a:rPr sz="1200" b="1" i="0">
                <a:solidFill>
                  <a:srgbClr val="8A1626"/>
                </a:solidFill>
              </a:rPr>
              <a:t>MGMT · management</a:t>
            </a:r>
          </a:p>
        </p:txBody>
      </p:sp>
      <p:sp>
        <p:nvSpPr>
          <p:cNvPr id="27" name="Rectangle 26"/>
          <p:cNvSpPr/>
          <p:nvPr/>
        </p:nvSpPr>
        <p:spPr>
          <a:xfrm>
            <a:off x="777240"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28" name="Rounded Rectangle 27"/>
          <p:cNvSpPr/>
          <p:nvPr/>
        </p:nvSpPr>
        <p:spPr>
          <a:xfrm>
            <a:off x="2377440"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29" name="Rectangle 28"/>
          <p:cNvSpPr/>
          <p:nvPr/>
        </p:nvSpPr>
        <p:spPr>
          <a:xfrm>
            <a:off x="886968"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Division</a:t>
            </a:r>
          </a:p>
        </p:txBody>
      </p:sp>
      <p:sp>
        <p:nvSpPr>
          <p:cNvPr id="30" name="Rounded Rectangle 29"/>
          <p:cNvSpPr/>
          <p:nvPr/>
        </p:nvSpPr>
        <p:spPr>
          <a:xfrm>
            <a:off x="2377440"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1" name="Connector 30"/>
          <p:cNvCxnSpPr/>
          <p:nvPr/>
        </p:nvCxnSpPr>
        <p:spPr>
          <a:xfrm>
            <a:off x="832103"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32103" y="2542032"/>
            <a:ext cx="54865"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996695"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34" name="Rounded Rectangle 33"/>
          <p:cNvSpPr/>
          <p:nvPr/>
        </p:nvSpPr>
        <p:spPr>
          <a:xfrm>
            <a:off x="2377440"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5" name="Connector 34"/>
          <p:cNvCxnSpPr/>
          <p:nvPr/>
        </p:nvCxnSpPr>
        <p:spPr>
          <a:xfrm>
            <a:off x="941831"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41831"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1106424"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38" name="Rounded Rectangle 37"/>
          <p:cNvSpPr/>
          <p:nvPr/>
        </p:nvSpPr>
        <p:spPr>
          <a:xfrm>
            <a:off x="2377440"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9" name="Connector 38"/>
          <p:cNvCxnSpPr/>
          <p:nvPr/>
        </p:nvCxnSpPr>
        <p:spPr>
          <a:xfrm>
            <a:off x="1051560"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1560"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090672" y="1389888"/>
            <a:ext cx="1463040" cy="274320"/>
          </a:xfrm>
          <a:prstGeom prst="rect">
            <a:avLst/>
          </a:prstGeom>
          <a:noFill/>
        </p:spPr>
        <p:txBody>
          <a:bodyPr wrap="square" lIns="0" rIns="0" tIns="0" bIns="0" anchor="ctr">
            <a:spAutoFit/>
          </a:bodyPr>
          <a:lstStyle/>
          <a:p>
            <a:pPr algn="l"/>
            <a:r>
              <a:rPr sz="1200" b="1" i="0">
                <a:solidFill>
                  <a:srgbClr val="8A1626"/>
                </a:solidFill>
              </a:rPr>
              <a:t>LEGAL · legal entity</a:t>
            </a:r>
          </a:p>
        </p:txBody>
      </p:sp>
      <p:sp>
        <p:nvSpPr>
          <p:cNvPr id="42" name="Rectangle 41"/>
          <p:cNvSpPr/>
          <p:nvPr/>
        </p:nvSpPr>
        <p:spPr>
          <a:xfrm>
            <a:off x="3090672"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43" name="Rounded Rectangle 42"/>
          <p:cNvSpPr/>
          <p:nvPr/>
        </p:nvSpPr>
        <p:spPr>
          <a:xfrm>
            <a:off x="4690872"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44" name="Rectangle 43"/>
          <p:cNvSpPr/>
          <p:nvPr/>
        </p:nvSpPr>
        <p:spPr>
          <a:xfrm>
            <a:off x="3200400"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Legal entity</a:t>
            </a:r>
          </a:p>
        </p:txBody>
      </p:sp>
      <p:sp>
        <p:nvSpPr>
          <p:cNvPr id="45" name="Rounded Rectangle 44"/>
          <p:cNvSpPr/>
          <p:nvPr/>
        </p:nvSpPr>
        <p:spPr>
          <a:xfrm>
            <a:off x="4690872"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46" name="Connector 45"/>
          <p:cNvCxnSpPr/>
          <p:nvPr/>
        </p:nvCxnSpPr>
        <p:spPr>
          <a:xfrm>
            <a:off x="3145536"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145536"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3310128"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49" name="Rounded Rectangle 48"/>
          <p:cNvSpPr/>
          <p:nvPr/>
        </p:nvSpPr>
        <p:spPr>
          <a:xfrm>
            <a:off x="4690872"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0" name="Connector 49"/>
          <p:cNvCxnSpPr/>
          <p:nvPr/>
        </p:nvCxnSpPr>
        <p:spPr>
          <a:xfrm>
            <a:off x="3255264"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255264"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3419856"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53" name="Rounded Rectangle 52"/>
          <p:cNvSpPr/>
          <p:nvPr/>
        </p:nvSpPr>
        <p:spPr>
          <a:xfrm>
            <a:off x="4690872"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4" name="Connector 53"/>
          <p:cNvCxnSpPr/>
          <p:nvPr/>
        </p:nvCxnSpPr>
        <p:spPr>
          <a:xfrm>
            <a:off x="3364992"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364992"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404104" y="1389888"/>
            <a:ext cx="1143000" cy="274320"/>
          </a:xfrm>
          <a:prstGeom prst="rect">
            <a:avLst/>
          </a:prstGeom>
          <a:noFill/>
        </p:spPr>
        <p:txBody>
          <a:bodyPr wrap="square" lIns="0" rIns="0" tIns="0" bIns="0" anchor="ctr">
            <a:spAutoFit/>
          </a:bodyPr>
          <a:lstStyle/>
          <a:p>
            <a:pPr algn="l"/>
            <a:r>
              <a:rPr sz="1200" b="1" i="0">
                <a:solidFill>
                  <a:srgbClr val="8A1626"/>
                </a:solidFill>
              </a:rPr>
              <a:t>LL · limit letters</a:t>
            </a:r>
          </a:p>
        </p:txBody>
      </p:sp>
      <p:sp>
        <p:nvSpPr>
          <p:cNvPr id="57" name="Rectangle 56"/>
          <p:cNvSpPr/>
          <p:nvPr/>
        </p:nvSpPr>
        <p:spPr>
          <a:xfrm>
            <a:off x="5404104"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58" name="Rounded Rectangle 57"/>
          <p:cNvSpPr/>
          <p:nvPr/>
        </p:nvSpPr>
        <p:spPr>
          <a:xfrm>
            <a:off x="7004304"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59" name="Rectangle 58"/>
          <p:cNvSpPr/>
          <p:nvPr/>
        </p:nvSpPr>
        <p:spPr>
          <a:xfrm>
            <a:off x="5513832"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LIMIT_LETTER  (≈ 700)</a:t>
            </a:r>
          </a:p>
        </p:txBody>
      </p:sp>
      <p:sp>
        <p:nvSpPr>
          <p:cNvPr id="60" name="Rounded Rectangle 59"/>
          <p:cNvSpPr/>
          <p:nvPr/>
        </p:nvSpPr>
        <p:spPr>
          <a:xfrm>
            <a:off x="7004304"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1" name="Connector 60"/>
          <p:cNvCxnSpPr/>
          <p:nvPr/>
        </p:nvCxnSpPr>
        <p:spPr>
          <a:xfrm>
            <a:off x="5458968"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458968"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5623560"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64" name="Rounded Rectangle 63"/>
          <p:cNvSpPr/>
          <p:nvPr/>
        </p:nvSpPr>
        <p:spPr>
          <a:xfrm>
            <a:off x="7004304"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5" name="Connector 64"/>
          <p:cNvCxnSpPr/>
          <p:nvPr/>
        </p:nvCxnSpPr>
        <p:spPr>
          <a:xfrm>
            <a:off x="5568696"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568696"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7808976" y="1417320"/>
            <a:ext cx="3602735"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Rectangle 67"/>
          <p:cNvSpPr/>
          <p:nvPr/>
        </p:nvSpPr>
        <p:spPr>
          <a:xfrm>
            <a:off x="7808976" y="141732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TextBox 68"/>
          <p:cNvSpPr txBox="1"/>
          <p:nvPr/>
        </p:nvSpPr>
        <p:spPr>
          <a:xfrm>
            <a:off x="7973568" y="1490472"/>
            <a:ext cx="3346703" cy="2221991"/>
          </a:xfrm>
          <a:prstGeom prst="rect">
            <a:avLst/>
          </a:prstGeom>
          <a:noFill/>
        </p:spPr>
        <p:txBody>
          <a:bodyPr wrap="square" lIns="0" rIns="0" tIns="0" bIns="0" anchor="t">
            <a:spAutoFit/>
          </a:bodyPr>
          <a:lstStyle/>
          <a:p>
            <a:pPr algn="l">
              <a:spcAft>
                <a:spcPts val="400"/>
              </a:spcAft>
            </a:pPr>
            <a:r>
              <a:rPr sz="1300" b="1" i="0">
                <a:solidFill>
                  <a:srgbClr val="8A1626"/>
                </a:solidFill>
              </a:rPr>
              <a:t>Configured by columns</a:t>
            </a:r>
          </a:p>
          <a:p>
            <a:pPr algn="l" marL="146304" indent="-146304">
              <a:spcAft>
                <a:spcPts val="300"/>
              </a:spcAft>
              <a:buClr>
                <a:srgbClr val="A51C30"/>
              </a:buClr>
              <a:buSzPct val="100000"/>
              <a:buFont typeface="Arial"/>
              <a:buChar char="▪"/>
            </a:pPr>
            <a:r>
              <a:rPr sz="1050" b="0" i="0">
                <a:solidFill>
                  <a:srgbClr val="1A1A1A"/>
                </a:solidFill>
              </a:rPr>
              <a:t>Levels are columns every row carries (LIMIT_LETTER &gt; DESK); nodes are the distinct paths of the values</a:t>
            </a:r>
          </a:p>
          <a:p>
            <a:pPr algn="l" marL="146304" indent="-146304">
              <a:spcAft>
                <a:spcPts val="300"/>
              </a:spcAft>
              <a:buClr>
                <a:srgbClr val="A51C30"/>
              </a:buClr>
              <a:buSzPct val="100000"/>
              <a:buFont typeface="Arial"/>
              <a:buChar char="▪"/>
            </a:pPr>
            <a:r>
              <a:rPr sz="1050" b="0" i="0">
                <a:solidFill>
                  <a:srgbClr val="1A1A1A"/>
                </a:solidFill>
              </a:rPr>
              <a:t>A letter may hold part of a book; a position under two letters is split (&lt;position&gt;@&lt;letter&gt;) and counted</a:t>
            </a:r>
          </a:p>
          <a:p>
            <a:pPr algn="l" marL="146304" indent="-146304">
              <a:spcAft>
                <a:spcPts val="300"/>
              </a:spcAft>
              <a:buClr>
                <a:srgbClr val="A51C30"/>
              </a:buClr>
              <a:buSzPct val="100000"/>
              <a:buFont typeface="Arial"/>
              <a:buChar char="▪"/>
            </a:pPr>
            <a:r>
              <a:rPr sz="1050" b="0" i="0">
                <a:solidFill>
                  <a:srgbClr val="1A1A1A"/>
                </a:solidFill>
              </a:rPr>
              <a:t>A source without the column skips that hierarchy alone, with a DRS-5211 warning; the date, MGMT, LEGAL and exposure answer as before</a:t>
            </a:r>
          </a:p>
          <a:p>
            <a:pPr algn="l" marL="146304" indent="-146304">
              <a:spcAft>
                <a:spcPts val="300"/>
              </a:spcAft>
              <a:buClr>
                <a:srgbClr val="A51C30"/>
              </a:buClr>
              <a:buSzPct val="100000"/>
              <a:buFont typeface="Arial"/>
              <a:buChar char="▪"/>
            </a:pPr>
            <a:r>
              <a:rPr sz="1050" b="0" i="0">
                <a:solidFill>
                  <a:srgbClr val="1A1A1A"/>
                </a:solidFill>
              </a:rPr>
              <a:t>Official records for every hierarchy; exposure builds the same trees</a:t>
            </a:r>
          </a:p>
        </p:txBody>
      </p:sp>
      <p:sp>
        <p:nvSpPr>
          <p:cNvPr id="70" name="Rectangle 69"/>
          <p:cNvSpPr/>
          <p:nvPr/>
        </p:nvSpPr>
        <p:spPr>
          <a:xfrm>
            <a:off x="7808976" y="3858768"/>
            <a:ext cx="3602735" cy="1673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Rectangle 70"/>
          <p:cNvSpPr/>
          <p:nvPr/>
        </p:nvSpPr>
        <p:spPr>
          <a:xfrm>
            <a:off x="7808976" y="3858768"/>
            <a:ext cx="45720" cy="167335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7973568" y="3931920"/>
            <a:ext cx="3346703" cy="1563624"/>
          </a:xfrm>
          <a:prstGeom prst="rect">
            <a:avLst/>
          </a:prstGeom>
          <a:noFill/>
        </p:spPr>
        <p:txBody>
          <a:bodyPr wrap="square" lIns="0" rIns="0" tIns="0" bIns="0" anchor="t">
            <a:spAutoFit/>
          </a:bodyPr>
          <a:lstStyle/>
          <a:p>
            <a:pPr algn="l">
              <a:spcAft>
                <a:spcPts val="400"/>
              </a:spcAft>
            </a:pPr>
            <a:r>
              <a:rPr sz="1300" b="1" i="0">
                <a:solidFill>
                  <a:srgbClr val="8A1626"/>
                </a:solidFill>
              </a:rPr>
              <a:t>Limits and the picker</a:t>
            </a:r>
          </a:p>
          <a:p>
            <a:pPr algn="l" marL="146304" indent="-146304">
              <a:spcAft>
                <a:spcPts val="300"/>
              </a:spcAft>
              <a:buClr>
                <a:srgbClr val="A51C30"/>
              </a:buClr>
              <a:buSzPct val="100000"/>
              <a:buFont typeface="Arial"/>
              <a:buChar char="▪"/>
            </a:pPr>
            <a:r>
              <a:rPr sz="1050" b="0" i="0">
                <a:solidFill>
                  <a:srgbClr val="1A1A1A"/>
                </a:solidFill>
              </a:rPr>
              <a:t>var-limit: HIERARCHY, NODE_ID, LIMIT_VAR (USD); no row: no limit, never zero</a:t>
            </a:r>
          </a:p>
          <a:p>
            <a:pPr algn="l" marL="146304" indent="-146304">
              <a:spcAft>
                <a:spcPts val="300"/>
              </a:spcAft>
              <a:buClr>
                <a:srgbClr val="A51C30"/>
              </a:buClr>
              <a:buSzPct val="100000"/>
              <a:buFont typeface="Arial"/>
              <a:buChar char="▪"/>
            </a:pPr>
            <a:r>
              <a:rPr sz="1050" b="0" i="0">
                <a:solidFill>
                  <a:srgbClr val="1A1A1A"/>
                </a:solidFill>
              </a:rPr>
              <a:t>Limit bar amber 75%, red 90%; LIMIT and LIMIT_USE in official records</a:t>
            </a:r>
          </a:p>
          <a:p>
            <a:pPr algn="l" marL="146304" indent="-146304">
              <a:spcAft>
                <a:spcPts val="300"/>
              </a:spcAft>
              <a:buClr>
                <a:srgbClr val="A51C30"/>
              </a:buClr>
              <a:buSzPct val="100000"/>
              <a:buFont typeface="Arial"/>
              <a:buChar char="▪"/>
            </a:pPr>
            <a:r>
              <a:rPr sz="1050" b="0" i="0">
                <a:solidFill>
                  <a:srgbClr val="1A1A1A"/>
                </a:solidFill>
              </a:rPr>
              <a:t>The explorer's hierarchy picker lists the date's trees (hierarchy=LL kept in the link)</a:t>
            </a:r>
          </a:p>
        </p:txBody>
      </p:sp>
      <p:sp>
        <p:nvSpPr>
          <p:cNvPr id="73" name="Rectangle 72"/>
          <p:cNvSpPr/>
          <p:nvPr/>
        </p:nvSpPr>
        <p:spPr>
          <a:xfrm>
            <a:off x="777240" y="4206240"/>
            <a:ext cx="6867144" cy="13258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14400" y="4261104"/>
            <a:ext cx="6592824" cy="1234440"/>
          </a:xfrm>
          <a:prstGeom prst="rect">
            <a:avLst/>
          </a:prstGeom>
          <a:noFill/>
        </p:spPr>
        <p:txBody>
          <a:bodyPr wrap="square" lIns="0" rIns="0" tIns="0" bIns="0" anchor="ctr">
            <a:spAutoFit/>
          </a:bodyPr>
          <a:lstStyle/>
          <a:p>
            <a:pPr algn="l"/>
            <a:r>
              <a:rPr sz="900" b="0" i="0">
                <a:solidFill>
                  <a:srgbClr val="9AA0A8"/>
                </a:solidFill>
                <a:latin typeface="Courier New"/>
              </a:rPr>
              <a:t># the market-risk pack's hierarchies: block, as built</a:t>
            </a:r>
          </a:p>
          <a:p>
            <a:pPr algn="l"/>
            <a:r>
              <a:rPr sz="900" b="0" i="0">
                <a:solidFill>
                  <a:srgbClr val="F1EEE9"/>
                </a:solidFill>
                <a:latin typeface="Courier New"/>
              </a:rPr>
              <a:t>hierarchies:</a:t>
            </a:r>
          </a:p>
          <a:p>
            <a:pPr algn="l"/>
            <a:r>
              <a:rPr sz="900" b="0" i="0">
                <a:solidFill>
                  <a:srgbClr val="E8A0AC"/>
                </a:solidFill>
                <a:latin typeface="Courier New"/>
              </a:rPr>
              <a:t>  MGMT:  { title: Management, source: risk-hierarchy }</a:t>
            </a:r>
          </a:p>
          <a:p>
            <a:pPr algn="l"/>
            <a:r>
              <a:rPr sz="900" b="0" i="0">
                <a:solidFill>
                  <a:srgbClr val="E8A0AC"/>
                </a:solidFill>
                <a:latin typeface="Courier New"/>
              </a:rPr>
              <a:t>  LEGAL: { title: Legal entities, source: risk-hierarchy }</a:t>
            </a:r>
          </a:p>
          <a:p>
            <a:pPr algn="l"/>
            <a:r>
              <a:rPr sz="900" b="0" i="0">
                <a:solidFill>
                  <a:srgbClr val="E8A0AC"/>
                </a:solidFill>
                <a:latin typeface="Courier New"/>
              </a:rPr>
              <a:t>  LL:    { title: Limit letters, levels: "LIMIT_LETTER &gt; DESK", word: LL, limits: var-limit }</a:t>
            </a:r>
          </a:p>
        </p:txBody>
      </p:sp>
      <p:sp>
        <p:nvSpPr>
          <p:cNvPr id="75" name="Rounded Rectangle 74"/>
          <p:cNvSpPr/>
          <p:nvPr/>
        </p:nvSpPr>
        <p:spPr>
          <a:xfrm>
            <a:off x="777240" y="5751576"/>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MEASURED</a:t>
            </a:r>
          </a:p>
        </p:txBody>
      </p:sp>
      <p:sp>
        <p:nvSpPr>
          <p:cNvPr id="76" name="TextBox 75"/>
          <p:cNvSpPr txBox="1"/>
          <p:nvPr/>
        </p:nvSpPr>
        <p:spPr>
          <a:xfrm>
            <a:off x="1536192" y="5641848"/>
            <a:ext cx="9875520" cy="457200"/>
          </a:xfrm>
          <a:prstGeom prst="rect">
            <a:avLst/>
          </a:prstGeom>
          <a:noFill/>
        </p:spPr>
        <p:txBody>
          <a:bodyPr wrap="square" lIns="0" rIns="0" tIns="0" bIns="0" anchor="ctr">
            <a:spAutoFit/>
          </a:bodyPr>
          <a:lstStyle/>
          <a:p>
            <a:pPr algn="l"/>
            <a:r>
              <a:rPr sz="1100" b="1" i="0">
                <a:solidFill>
                  <a:srgbClr val="8A1626"/>
                </a:solidFill>
              </a:rPr>
              <a:t>700 letters build in the same time as none, and the VaR of all 1,412 nodes takes about 30 ms </a:t>
            </a:r>
            <a:r>
              <a:rPr sz="1100" b="0" i="0">
                <a:solidFill>
                  <a:srgbClr val="4A5058"/>
                </a:solidFill>
              </a:rPr>
              <a:t>(10,000 trades; build 65–99 ms against 53–197 ms without). Scope word LL:LL-0003; node ids are paths, LL~LL-0003/DESK-RATES.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TextBox 31"/>
          <p:cNvSpPr txBox="1"/>
          <p:nvPr/>
        </p:nvSpPr>
        <p:spPr>
          <a:xfrm>
            <a:off x="2743200" y="1856231"/>
            <a:ext cx="1234440" cy="640080"/>
          </a:xfrm>
          <a:prstGeom prst="rect">
            <a:avLst/>
          </a:prstGeom>
          <a:noFill/>
        </p:spPr>
        <p:txBody>
          <a:bodyPr wrap="square" lIns="0" rIns="0" tIns="0" bIns="0" anchor="ctr">
            <a:spAutoFit/>
          </a:bodyPr>
          <a:lstStyle/>
          <a:p>
            <a:pPr algn="l"/>
            <a:r>
              <a:rPr sz="1200" b="0" i="0">
                <a:solidFill>
                  <a:srgbClr val="4A5058"/>
                </a:solidFill>
              </a:rPr>
              <a:t>in the trade's currency</a:t>
            </a:r>
          </a:p>
        </p:txBody>
      </p:sp>
      <p:sp>
        <p:nvSpPr>
          <p:cNvPr id="33" name="Rectangle 32"/>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5" name="TextBox 34"/>
          <p:cNvSpPr txBox="1"/>
          <p:nvPr/>
        </p:nvSpPr>
        <p:spPr>
          <a:xfrm>
            <a:off x="4809744" y="1856231"/>
            <a:ext cx="1234440" cy="640080"/>
          </a:xfrm>
          <a:prstGeom prst="rect">
            <a:avLst/>
          </a:prstGeom>
          <a:noFill/>
        </p:spPr>
        <p:txBody>
          <a:bodyPr wrap="square" lIns="0" rIns="0" tIns="0" bIns="0" anchor="ctr">
            <a:spAutoFit/>
          </a:bodyPr>
          <a:lstStyle/>
          <a:p>
            <a:pPr algn="l"/>
            <a:r>
              <a:rPr sz="1200" b="0" i="0">
                <a:solidFill>
                  <a:srgbClr val="4A5058"/>
                </a:solidFill>
              </a:rPr>
              <a:t>a currency a row</a:t>
            </a:r>
          </a:p>
        </p:txBody>
      </p:sp>
      <p:sp>
        <p:nvSpPr>
          <p:cNvPr id="36" name="Rectangle 35"/>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38" name="Rectangle 37"/>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0" name="TextBox 39"/>
          <p:cNvSpPr txBox="1"/>
          <p:nvPr/>
        </p:nvSpPr>
        <p:spPr>
          <a:xfrm>
            <a:off x="2743200" y="2551176"/>
            <a:ext cx="1234440" cy="640080"/>
          </a:xfrm>
          <a:prstGeom prst="rect">
            <a:avLst/>
          </a:prstGeom>
          <a:noFill/>
        </p:spPr>
        <p:txBody>
          <a:bodyPr wrap="square" lIns="0" rIns="0" tIns="0" bIns="0" anchor="ctr">
            <a:spAutoFit/>
          </a:bodyPr>
          <a:lstStyle/>
          <a:p>
            <a:pPr algn="l"/>
            <a:r>
              <a:rPr sz="1200" b="0" i="0">
                <a:solidFill>
                  <a:srgbClr val="4A5058"/>
                </a:solidFill>
              </a:rPr>
              <a:t>in the position's currency</a:t>
            </a:r>
          </a:p>
        </p:txBody>
      </p:sp>
      <p:sp>
        <p:nvSpPr>
          <p:cNvPr id="41" name="Rectangle 40"/>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3" name="TextBox 42"/>
          <p:cNvSpPr txBox="1"/>
          <p:nvPr/>
        </p:nvSpPr>
        <p:spPr>
          <a:xfrm>
            <a:off x="4809744" y="2551176"/>
            <a:ext cx="1234440" cy="640080"/>
          </a:xfrm>
          <a:prstGeom prst="rect">
            <a:avLst/>
          </a:prstGeom>
          <a:noFill/>
        </p:spPr>
        <p:txBody>
          <a:bodyPr wrap="square" lIns="0" rIns="0" tIns="0" bIns="0" anchor="ctr">
            <a:spAutoFit/>
          </a:bodyPr>
          <a:lstStyle/>
          <a:p>
            <a:pPr algn="l"/>
            <a:r>
              <a:rPr sz="1200" b="0" i="0">
                <a:solidFill>
                  <a:srgbClr val="4A5058"/>
                </a:solidFill>
              </a:rPr>
              <a:t>a currency a row</a:t>
            </a:r>
          </a:p>
        </p:txBody>
      </p:sp>
      <p:sp>
        <p:nvSpPr>
          <p:cNvPr id="44" name="TextBox 43"/>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5" name="Rectangle 44"/>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6519672" y="1737360"/>
            <a:ext cx="477316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47" name="Rectangle 46"/>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519672" y="2267712"/>
            <a:ext cx="477316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49" name="Rectangle 48"/>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2798064"/>
            <a:ext cx="477316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or positions, as new − old; latest wins</a:t>
            </a:r>
          </a:p>
        </p:txBody>
      </p:sp>
      <p:sp>
        <p:nvSpPr>
          <p:cNvPr id="51" name="Rectangle 50"/>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53" name="Rectangle 52"/>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55" name="Rectangle 54"/>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57" name="Rectangle 56"/>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59" name="TextBox 58"/>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RECORD CONTRACT ON ONE PAGE</a:t>
            </a:r>
          </a:p>
        </p:txBody>
      </p:sp>
      <p:sp>
        <p:nvSpPr>
          <p:cNvPr id="3" name="Title 2"/>
          <p:cNvSpPr>
            <a:spLocks noGrp="1"/>
          </p:cNvSpPr>
          <p:nvPr>
            <p:ph type="title" idx="104"/>
          </p:nvPr>
        </p:nvSpPr>
        <p:spPr/>
        <p:txBody>
          <a:bodyPr/>
          <a:lstStyle/>
          <a:p>
            <a:r>
              <a:t>What a pricing system sends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583680" cy="274320"/>
          </a:xfrm>
          <a:prstGeom prst="rect">
            <a:avLst/>
          </a:prstGeom>
          <a:noFill/>
        </p:spPr>
        <p:txBody>
          <a:bodyPr wrap="square" lIns="0" rIns="0" tIns="0" bIns="0" anchor="ctr">
            <a:spAutoFit/>
          </a:bodyPr>
          <a:lstStyle/>
          <a:p>
            <a:pPr algn="l"/>
            <a:r>
              <a:rPr sz="1250" b="1" i="0">
                <a:solidFill>
                  <a:srgbClr val="A51C30"/>
                </a:solidFill>
              </a:rPr>
              <a:t>Every record  </a:t>
            </a:r>
            <a:r>
              <a:rPr sz="1150" b="0" i="0">
                <a:solidFill>
                  <a:srgbClr val="4A5058"/>
                </a:solidFill>
              </a:rPr>
              <a:t>JSONL: one JSON object a line, UTF-8, .jsonl or .jsonl.gz; files or Kafka</a:t>
            </a:r>
          </a:p>
        </p:txBody>
      </p:sp>
      <p:graphicFrame>
        <p:nvGraphicFramePr>
          <p:cNvPr id="27" name="Table 26"/>
          <p:cNvGraphicFramePr>
            <a:graphicFrameLocks noGrp="1"/>
          </p:cNvGraphicFramePr>
          <p:nvPr/>
        </p:nvGraphicFramePr>
        <p:xfrm>
          <a:off x="777240" y="1691640"/>
          <a:ext cx="6583680" cy="3803904"/>
        </p:xfrm>
        <a:graphic>
          <a:graphicData uri="http://schemas.openxmlformats.org/drawingml/2006/table">
            <a:tbl>
              <a:tblPr firstRow="0" bandRow="0">
                <a:tableStyleId>{5940675A-B579-460E-94D1-54222C63F5DA}</a:tableStyleId>
              </a:tblPr>
              <a:tblGrid>
                <a:gridCol w="2514600"/>
                <a:gridCol w="2514600"/>
                <a:gridCol w="1554480"/>
              </a:tblGrid>
              <a:tr h="292608">
                <a:tc>
                  <a:txBody>
                    <a:bodyPr wrap="square"/>
                    <a:lstStyle/>
                    <a:p>
                      <a:r>
                        <a:rPr sz="1100" b="1" i="0">
                          <a:solidFill>
                            <a:srgbClr val="FFFFFF"/>
                          </a:solidFill>
                        </a:rPr>
                        <a:t>Field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Rule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950" b="1" i="0">
                          <a:solidFill>
                            <a:srgbClr val="8A1626"/>
                          </a:solidFill>
                          <a:latin typeface="Courier New"/>
                        </a:rPr>
                        <a:t>VALUE_TYPE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TRADE or POSITION, with its 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ISO code; PVs in their own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SOURCE_SYSTEM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pricing system that sent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date's set (demo: 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in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BATCH_ID · 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one full run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COMPUTED_AT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UTC instant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latest wins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LEGAL_ENTITY · DESK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where it sits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needed to load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LIMIT_LETTER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level column of a hierarchy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absent: tree skipped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BASE_PV · SCENARIO_PV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PV 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failed: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PNL (+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P&amp;L form,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makes FX exact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TRADE_STATUS · MATURITY_DATE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live trades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CANCELLED: cancel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Rectangle 27"/>
          <p:cNvSpPr/>
          <p:nvPr/>
        </p:nvSpPr>
        <p:spPr>
          <a:xfrm>
            <a:off x="7589520" y="1417320"/>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726680" y="1463040"/>
            <a:ext cx="3547872" cy="685800"/>
          </a:xfrm>
          <a:prstGeom prst="rect">
            <a:avLst/>
          </a:prstGeom>
          <a:noFill/>
        </p:spPr>
        <p:txBody>
          <a:bodyPr wrap="square" lIns="0" rIns="0" tIns="0" bIns="0" anchor="ctr">
            <a:spAutoFit/>
          </a:bodyPr>
          <a:lstStyle/>
          <a:p>
            <a:pPr algn="l">
              <a:spcAft>
                <a:spcPts val="200"/>
              </a:spcAft>
            </a:pPr>
            <a:r>
              <a:rPr sz="1250" b="1" i="0">
                <a:solidFill>
                  <a:srgbClr val="8A1626"/>
                </a:solidFill>
              </a:rPr>
              <a:t>Files</a:t>
            </a:r>
          </a:p>
          <a:p>
            <a:pPr algn="l"/>
            <a:r>
              <a:rPr sz="1100" b="0" i="0">
                <a:solidFill>
                  <a:srgbClr val="4A5058"/>
                </a:solidFill>
              </a:rPr>
              <a:t>the full run, and small intraday batches; lake build, then the load signal</a:t>
            </a:r>
          </a:p>
        </p:txBody>
      </p:sp>
      <p:sp>
        <p:nvSpPr>
          <p:cNvPr id="30" name="Rectangle 29"/>
          <p:cNvSpPr/>
          <p:nvPr/>
        </p:nvSpPr>
        <p:spPr>
          <a:xfrm>
            <a:off x="7589520" y="2258568"/>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726680" y="2304288"/>
            <a:ext cx="3547872" cy="685800"/>
          </a:xfrm>
          <a:prstGeom prst="rect">
            <a:avLst/>
          </a:prstGeom>
          <a:noFill/>
        </p:spPr>
        <p:txBody>
          <a:bodyPr wrap="square" lIns="0" rIns="0" tIns="0" bIns="0" anchor="ctr">
            <a:spAutoFit/>
          </a:bodyPr>
          <a:lstStyle/>
          <a:p>
            <a:pPr algn="l">
              <a:spcAft>
                <a:spcPts val="200"/>
              </a:spcAft>
            </a:pPr>
            <a:r>
              <a:rPr sz="1250" b="1" i="0">
                <a:solidFill>
                  <a:srgbClr val="8A1626"/>
                </a:solidFill>
              </a:rPr>
              <a:t>Kafka</a:t>
            </a:r>
          </a:p>
          <a:p>
            <a:pPr algn="l"/>
            <a:r>
              <a:rPr sz="1100" b="0" i="0">
                <a:solidFill>
                  <a:srgbClr val="4A5058"/>
                </a:solidFill>
              </a:rPr>
              <a:t>JSONL text per message, one or more records; one lake batch per 5-minute window</a:t>
            </a:r>
          </a:p>
        </p:txBody>
      </p:sp>
      <p:sp>
        <p:nvSpPr>
          <p:cNvPr id="32" name="Rectangle 31"/>
          <p:cNvSpPr/>
          <p:nvPr/>
        </p:nvSpPr>
        <p:spPr>
          <a:xfrm>
            <a:off x="7589520" y="3136392"/>
            <a:ext cx="3822191" cy="13258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589520" y="3136392"/>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7754112" y="3209544"/>
            <a:ext cx="3566159" cy="1216152"/>
          </a:xfrm>
          <a:prstGeom prst="rect">
            <a:avLst/>
          </a:prstGeom>
          <a:noFill/>
        </p:spPr>
        <p:txBody>
          <a:bodyPr wrap="square" lIns="0" rIns="0" tIns="0" bIns="0" anchor="t">
            <a:spAutoFit/>
          </a:bodyPr>
          <a:lstStyle/>
          <a:p>
            <a:pPr algn="l">
              <a:spcAft>
                <a:spcPts val="400"/>
              </a:spcAft>
            </a:pPr>
            <a:r>
              <a:rPr sz="1300" b="1" i="0">
                <a:solidFill>
                  <a:srgbClr val="8A1626"/>
                </a:solidFill>
              </a:rPr>
              <a:t>Intraday and cancels</a:t>
            </a:r>
          </a:p>
          <a:p>
            <a:pPr algn="l" marL="146304" indent="-146304">
              <a:spcAft>
                <a:spcPts val="300"/>
              </a:spcAft>
              <a:buClr>
                <a:srgbClr val="A51C30"/>
              </a:buClr>
              <a:buSzPct val="100000"/>
              <a:buFont typeface="Arial"/>
              <a:buChar char="▪"/>
            </a:pPr>
            <a:r>
              <a:rPr sz="1100" b="0" i="0">
                <a:solidFill>
                  <a:srgbClr val="1A1A1A"/>
                </a:solidFill>
              </a:rPr>
              <a:t>RUN_KIND INTRADAY, its own BATCH_ID, a later COMPUTED_AT, the morning's scenario set</a:t>
            </a:r>
          </a:p>
          <a:p>
            <a:pPr algn="l" marL="146304" indent="-146304">
              <a:spcAft>
                <a:spcPts val="300"/>
              </a:spcAft>
              <a:buClr>
                <a:srgbClr val="A51C30"/>
              </a:buClr>
              <a:buSzPct val="100000"/>
              <a:buFont typeface="Arial"/>
              <a:buChar char="▪"/>
            </a:pPr>
            <a:r>
              <a:rPr sz="1100" b="0" i="0">
                <a:solidFill>
                  <a:srgbClr val="1A1A1A"/>
                </a:solidFill>
              </a:rPr>
              <a:t>A cancel: TRADE_STATUS CANCELLED, the vector null</a:t>
            </a:r>
          </a:p>
          <a:p>
            <a:pPr algn="l" marL="146304" indent="-146304">
              <a:spcAft>
                <a:spcPts val="300"/>
              </a:spcAft>
              <a:buClr>
                <a:srgbClr val="A51C30"/>
              </a:buClr>
              <a:buSzPct val="100000"/>
              <a:buFont typeface="Arial"/>
              <a:buChar char="▪"/>
            </a:pPr>
            <a:r>
              <a:rPr sz="1100" b="0" i="0">
                <a:solidFill>
                  <a:srgbClr val="1A1A1A"/>
                </a:solidFill>
              </a:rPr>
              <a:t>Same form and grain as the system's full run</a:t>
            </a:r>
          </a:p>
        </p:txBody>
      </p:sp>
      <p:sp>
        <p:nvSpPr>
          <p:cNvPr id="35" name="Rectangle 34"/>
          <p:cNvSpPr/>
          <p:nvPr/>
        </p:nvSpPr>
        <p:spPr>
          <a:xfrm>
            <a:off x="7589520" y="4572000"/>
            <a:ext cx="3822191" cy="10972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699248" y="4617720"/>
            <a:ext cx="3657599" cy="1005840"/>
          </a:xfrm>
          <a:prstGeom prst="rect">
            <a:avLst/>
          </a:prstGeom>
          <a:noFill/>
        </p:spPr>
        <p:txBody>
          <a:bodyPr wrap="square" lIns="0" rIns="0" tIns="0" bIns="0" anchor="ctr">
            <a:spAutoFit/>
          </a:bodyPr>
          <a:lstStyle/>
          <a:p>
            <a:pPr algn="l">
              <a:spcAft>
                <a:spcPts val="100"/>
              </a:spcAft>
            </a:pPr>
            <a:r>
              <a:rPr sz="1000" b="0" i="0">
                <a:solidFill>
                  <a:srgbClr val="9AA0A8"/>
                </a:solidFill>
                <a:latin typeface="Courier New"/>
              </a:rPr>
              <a:t># optional per-system pin (read at start)</a:t>
            </a:r>
          </a:p>
          <a:p>
            <a:pPr algn="l">
              <a:spcAft>
                <a:spcPts val="100"/>
              </a:spcAft>
            </a:pPr>
            <a:r>
              <a:rPr sz="1000" b="0" i="0">
                <a:solidFill>
                  <a:srgbClr val="F1EEE9"/>
                </a:solidFill>
                <a:latin typeface="Courier New"/>
              </a:rPr>
              <a:t>drishti.var.inputs:</a:t>
            </a:r>
          </a:p>
          <a:p>
            <a:pPr algn="l">
              <a:spcAft>
                <a:spcPts val="100"/>
              </a:spcAft>
            </a:pPr>
            <a:r>
              <a:rPr sz="1000" b="0" i="0">
                <a:solidFill>
                  <a:srgbClr val="E8A0AC"/>
                </a:solidFill>
                <a:latin typeface="Courier New"/>
              </a:rPr>
              <a:t>  SYS_A:   {form: pv,  grain: position}</a:t>
            </a:r>
          </a:p>
          <a:p>
            <a:pPr algn="l">
              <a:spcAft>
                <a:spcPts val="100"/>
              </a:spcAft>
            </a:pPr>
            <a:r>
              <a:rPr sz="1000" b="0" i="0">
                <a:solidFill>
                  <a:srgbClr val="E8A0AC"/>
                </a:solidFill>
                <a:latin typeface="Courier New"/>
              </a:rPr>
              <a:t>  SYS_B:   {form: pnl, grain: trade}</a:t>
            </a:r>
          </a:p>
          <a:p>
            <a:pPr algn="l">
              <a:spcAft>
                <a:spcPts val="100"/>
              </a:spcAft>
            </a:pPr>
            <a:r>
              <a:rPr sz="1000" b="0" i="0">
                <a:solidFill>
                  <a:srgbClr val="F1EEE9"/>
                </a:solidFill>
                <a:latin typeface="Courier New"/>
              </a:rPr>
              <a:t>  default: {form: any, grain: any}</a:t>
            </a:r>
          </a:p>
        </p:txBody>
      </p:sp>
      <p:sp>
        <p:nvSpPr>
          <p:cNvPr id="37" name="TextBox 36"/>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null scenario PV refuses the whole trade (DRS-5206), never zero-filled. Field names are the as-built contracts'; older files are brought to the record with drishti.py convert --set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trade; LE, desk, book, 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PNL-&lt;trade&gt;-HS-509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 LEGAL…; open 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in var-limit (VLIM),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var-limit, hierarchy 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905256" y="5102352"/>
            <a:ext cx="10415016" cy="548640"/>
          </a:xfrm>
          <a:prstGeom prst="rect">
            <a:avLst/>
          </a:prstGeom>
          <a:noFill/>
        </p:spPr>
        <p:txBody>
          <a:bodyPr wrap="square" lIns="0" rIns="0" tIns="0" bIns="0" anchor="ctr">
            <a:spAutoFit/>
          </a:bodyPr>
          <a:lstStyle/>
          <a:p>
            <a:pPr algn="l"/>
            <a:r>
              <a:rPr sz="1150" b="1" i="0">
                <a:solidFill>
                  <a:srgbClr val="8A1626"/>
                </a:solidFill>
              </a:rPr>
              <a:t>Required on every record: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7" name="Rectangle 46"/>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49" name="Rectangle 48"/>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1" name="Rectangle 50"/>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3" name="Rectangle 52"/>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5" name="Rectangle 54"/>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7" name="Rectangle 56"/>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59" name="Rectangle 58"/>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1" name="Rectangle 60"/>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xtBox 61"/>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ONBOARDING A PRICING SYSTEM</a:t>
            </a:r>
          </a:p>
        </p:txBody>
      </p:sp>
      <p:sp>
        <p:nvSpPr>
          <p:cNvPr id="3" name="Title 2"/>
          <p:cNvSpPr>
            <a:spLocks noGrp="1"/>
          </p:cNvSpPr>
          <p:nvPr>
            <p:ph type="title" idx="104"/>
          </p:nvPr>
        </p:nvSpPr>
        <p:spPr/>
        <p:txBody>
          <a:bodyPr/>
          <a:lstStyle/>
          <a:p>
            <a:r>
              <a:t>A checklist for each pricing system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914400"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1</a:t>
            </a:r>
          </a:p>
        </p:txBody>
      </p:sp>
      <p:sp>
        <p:nvSpPr>
          <p:cNvPr id="28" name="TextBox 27"/>
          <p:cNvSpPr txBox="1"/>
          <p:nvPr/>
        </p:nvSpPr>
        <p:spPr>
          <a:xfrm>
            <a:off x="1490472"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Choose form and grain</a:t>
            </a:r>
          </a:p>
          <a:p>
            <a:pPr algn="l"/>
            <a:r>
              <a:rPr sz="1150" b="0" i="0">
                <a:solidFill>
                  <a:srgbClr val="4A5058"/>
                </a:solidFill>
              </a:rPr>
              <a:t>PVs or P&amp;L, by trade or by position: one form and one grain per system per date</a:t>
            </a:r>
          </a:p>
        </p:txBody>
      </p:sp>
      <p:sp>
        <p:nvSpPr>
          <p:cNvPr id="29" name="Rectangle 28"/>
          <p:cNvSpPr/>
          <p:nvPr/>
        </p:nvSpPr>
        <p:spPr>
          <a:xfrm>
            <a:off x="777240"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Oval 29"/>
          <p:cNvSpPr/>
          <p:nvPr/>
        </p:nvSpPr>
        <p:spPr>
          <a:xfrm>
            <a:off x="914400"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2</a:t>
            </a:r>
          </a:p>
        </p:txBody>
      </p:sp>
      <p:sp>
        <p:nvSpPr>
          <p:cNvPr id="31" name="TextBox 30"/>
          <p:cNvSpPr txBox="1"/>
          <p:nvPr/>
        </p:nvSpPr>
        <p:spPr>
          <a:xfrm>
            <a:off x="1490472"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Map the record's fields</a:t>
            </a:r>
          </a:p>
          <a:p>
            <a:pPr algn="l"/>
            <a:r>
              <a:rPr sz="1150" b="0" i="0">
                <a:solidFill>
                  <a:srgbClr val="4A5058"/>
                </a:solidFill>
              </a:rPr>
              <a:t>VALUE_TYPE, GRAIN + id, CURRENCY, SOURCE_SYSTEM; LEGAL_ENTITY, DESK, TT_BOOK; status, maturity</a:t>
            </a:r>
          </a:p>
        </p:txBody>
      </p:sp>
      <p:sp>
        <p:nvSpPr>
          <p:cNvPr id="32" name="Rectangle 31"/>
          <p:cNvSpPr/>
          <p:nvPr/>
        </p:nvSpPr>
        <p:spPr>
          <a:xfrm>
            <a:off x="777240"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Oval 32"/>
          <p:cNvSpPr/>
          <p:nvPr/>
        </p:nvSpPr>
        <p:spPr>
          <a:xfrm>
            <a:off x="914400"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3</a:t>
            </a:r>
          </a:p>
        </p:txBody>
      </p:sp>
      <p:sp>
        <p:nvSpPr>
          <p:cNvPr id="34" name="TextBox 33"/>
          <p:cNvSpPr txBox="1"/>
          <p:nvPr/>
        </p:nvSpPr>
        <p:spPr>
          <a:xfrm>
            <a:off x="1490472"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Price over the date's scenario set</a:t>
            </a:r>
          </a:p>
          <a:p>
            <a:pPr algn="l"/>
            <a:r>
              <a:rPr sz="1150" b="0" i="0">
                <a:solidFill>
                  <a:srgbClr val="4A5058"/>
                </a:solidFill>
              </a:rPr>
              <a:t>every scenario in the set's order; a failed one null, never zero</a:t>
            </a:r>
          </a:p>
        </p:txBody>
      </p:sp>
      <p:sp>
        <p:nvSpPr>
          <p:cNvPr id="35" name="Rectangle 34"/>
          <p:cNvSpPr/>
          <p:nvPr/>
        </p:nvSpPr>
        <p:spPr>
          <a:xfrm>
            <a:off x="777240"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Oval 35"/>
          <p:cNvSpPr/>
          <p:nvPr/>
        </p:nvSpPr>
        <p:spPr>
          <a:xfrm>
            <a:off x="914400"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4</a:t>
            </a:r>
          </a:p>
        </p:txBody>
      </p:sp>
      <p:sp>
        <p:nvSpPr>
          <p:cNvPr id="37" name="TextBox 36"/>
          <p:cNvSpPr txBox="1"/>
          <p:nvPr/>
        </p:nvSpPr>
        <p:spPr>
          <a:xfrm>
            <a:off x="1490472"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Scenario FX for its currencies</a:t>
            </a:r>
          </a:p>
          <a:p>
            <a:pPr algn="l"/>
            <a:r>
              <a:rPr sz="1150" b="0" i="0">
                <a:solidFill>
                  <a:srgbClr val="4A5058"/>
                </a:solidFill>
              </a:rPr>
              <a:t>send fx-scenario, or let Drishti derive it from the FX history</a:t>
            </a:r>
          </a:p>
        </p:txBody>
      </p:sp>
      <p:sp>
        <p:nvSpPr>
          <p:cNvPr id="38" name="Rectangle 37"/>
          <p:cNvSpPr/>
          <p:nvPr/>
        </p:nvSpPr>
        <p:spPr>
          <a:xfrm>
            <a:off x="6231636"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6368796"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5</a:t>
            </a:r>
          </a:p>
        </p:txBody>
      </p:sp>
      <p:sp>
        <p:nvSpPr>
          <p:cNvPr id="40" name="TextBox 39"/>
          <p:cNvSpPr txBox="1"/>
          <p:nvPr/>
        </p:nvSpPr>
        <p:spPr>
          <a:xfrm>
            <a:off x="6944868"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Pick the route</a:t>
            </a:r>
          </a:p>
          <a:p>
            <a:pPr algn="l"/>
            <a:r>
              <a:rPr sz="1150" b="0" i="0">
                <a:solidFill>
                  <a:srgbClr val="4A5058"/>
                </a:solidFill>
              </a:rPr>
              <a:t>JSONL files for the full run; files or a Kafka topic for intraday</a:t>
            </a:r>
          </a:p>
        </p:txBody>
      </p:sp>
      <p:sp>
        <p:nvSpPr>
          <p:cNvPr id="41" name="Rectangle 40"/>
          <p:cNvSpPr/>
          <p:nvPr/>
        </p:nvSpPr>
        <p:spPr>
          <a:xfrm>
            <a:off x="6231636"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6368796"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6</a:t>
            </a:r>
          </a:p>
        </p:txBody>
      </p:sp>
      <p:sp>
        <p:nvSpPr>
          <p:cNvPr id="43" name="TextBox 42"/>
          <p:cNvSpPr txBox="1"/>
          <p:nvPr/>
        </p:nvSpPr>
        <p:spPr>
          <a:xfrm>
            <a:off x="6944868"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Set the optional pin</a:t>
            </a:r>
          </a:p>
          <a:p>
            <a:pPr algn="l"/>
            <a:r>
              <a:rPr sz="1150" b="0" i="0">
                <a:solidFill>
                  <a:srgbClr val="4A5058"/>
                </a:solidFill>
              </a:rPr>
              <a:t>drishti.var.inputs: a record that disagrees is refused (DRS-5209)</a:t>
            </a:r>
          </a:p>
        </p:txBody>
      </p:sp>
      <p:sp>
        <p:nvSpPr>
          <p:cNvPr id="44" name="Rectangle 43"/>
          <p:cNvSpPr/>
          <p:nvPr/>
        </p:nvSpPr>
        <p:spPr>
          <a:xfrm>
            <a:off x="6231636"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6368796"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7</a:t>
            </a:r>
          </a:p>
        </p:txBody>
      </p:sp>
      <p:sp>
        <p:nvSpPr>
          <p:cNvPr id="46" name="TextBox 45"/>
          <p:cNvSpPr txBox="1"/>
          <p:nvPr/>
        </p:nvSpPr>
        <p:spPr>
          <a:xfrm>
            <a:off x="6944868"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Recompute independently</a:t>
            </a:r>
          </a:p>
          <a:p>
            <a:pPr algn="l"/>
            <a:r>
              <a:rPr sz="1150" b="0" i="0">
                <a:solidFill>
                  <a:srgbClr val="4A5058"/>
                </a:solidFill>
              </a:rPr>
              <a:t>from the sent files, compare bank and desk VaR and ES with the engine</a:t>
            </a:r>
          </a:p>
        </p:txBody>
      </p:sp>
      <p:sp>
        <p:nvSpPr>
          <p:cNvPr id="47" name="Rectangle 46"/>
          <p:cNvSpPr/>
          <p:nvPr/>
        </p:nvSpPr>
        <p:spPr>
          <a:xfrm>
            <a:off x="6231636"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Oval 47"/>
          <p:cNvSpPr/>
          <p:nvPr/>
        </p:nvSpPr>
        <p:spPr>
          <a:xfrm>
            <a:off x="6368796"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8</a:t>
            </a:r>
          </a:p>
        </p:txBody>
      </p:sp>
      <p:sp>
        <p:nvSpPr>
          <p:cNvPr id="49" name="TextBox 48"/>
          <p:cNvSpPr txBox="1"/>
          <p:nvPr/>
        </p:nvSpPr>
        <p:spPr>
          <a:xfrm>
            <a:off x="6944868"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Clear the refusals</a:t>
            </a:r>
          </a:p>
          <a:p>
            <a:pPr algn="l"/>
            <a:r>
              <a:rPr sz="1150" b="0" i="0">
                <a:solidFill>
                  <a:srgbClr val="4A5058"/>
                </a:solidFill>
              </a:rPr>
              <a:t>provenance lists every refused row by code; aim for none before go-live</a:t>
            </a:r>
          </a:p>
        </p:txBody>
      </p:sp>
      <p:sp>
        <p:nvSpPr>
          <p:cNvPr id="50" name="Rectangle 49"/>
          <p:cNvSpPr/>
          <p:nvPr/>
        </p:nvSpPr>
        <p:spPr>
          <a:xfrm>
            <a:off x="777240" y="5486400"/>
            <a:ext cx="10634472" cy="7315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Rectangle 50"/>
          <p:cNvSpPr/>
          <p:nvPr/>
        </p:nvSpPr>
        <p:spPr>
          <a:xfrm>
            <a:off x="777240" y="5486400"/>
            <a:ext cx="54864"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Rounded Rectangle 51"/>
          <p:cNvSpPr/>
          <p:nvPr/>
        </p:nvSpPr>
        <p:spPr>
          <a:xfrm>
            <a:off x="1005840" y="57515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1810512" y="5486400"/>
            <a:ext cx="9464040" cy="731520"/>
          </a:xfrm>
          <a:prstGeom prst="rect">
            <a:avLst/>
          </a:prstGeom>
          <a:noFill/>
        </p:spPr>
        <p:txBody>
          <a:bodyPr wrap="square" lIns="0" rIns="0" tIns="0" bIns="0" anchor="ctr">
            <a:spAutoFit/>
          </a:bodyPr>
          <a:lstStyle/>
          <a:p>
            <a:pPr algn="l"/>
            <a:r>
              <a:rPr sz="1250" b="1" i="0">
                <a:solidFill>
                  <a:srgbClr val="A51C30"/>
                </a:solidFill>
              </a:rPr>
              <a:t>Ready when  </a:t>
            </a:r>
            <a:r>
              <a:rPr sz="1200" b="0" i="0">
                <a:solidFill>
                  <a:srgbClr val="8A1626"/>
                </a:solidFill>
              </a:rPr>
              <a:t>the system's records load with no refusals, the independent recomputation agrees to the cent, and How this number was built shows the system with its form and grain.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04</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Scale and capacity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a:t>
            </a:r>
          </a:p>
          <a:p>
            <a:pPr algn="l"/>
            <a:r>
              <a:rPr sz="1100" b="0" i="0">
                <a:solidFill>
                  <a:srgbClr val="4A5058"/>
                </a:solidFill>
              </a:rPr>
              <a:t>509 doubles = 4,072 B a trade or position; hot rows float32 (2,036 B); sums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rows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sharded across servers; lake history</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A LARGE BANK: E.G. 2.3M POSITIONS, 15,000 PORTFOLIOS, ≈ 700 LIMIT LETTERS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286000"/>
                <a:gridCol w="2194560"/>
                <a:gridCol w="150876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5.5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0.5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4.68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80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 GB × 5; 4.3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115 GB; ≈ 99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5.5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330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 TB; ≈ 12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15,000 portfolios</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Assumed 130 positions each: 1.95M rows, 3.97 GB of float32 → ≈ 0.07 s at 60 GB/s, ≈ 0.8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15k × 509 × 8 B ≈ 61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MGMT and LEGAL + ≈ 700 limit-letter nodes) × 10 ≈ 233 MB (assumed shape).</a:t>
            </a:r>
          </a:p>
          <a:p>
            <a:pPr algn="l" marL="146304" indent="-146304">
              <a:spcAft>
                <a:spcPts val="300"/>
              </a:spcAft>
              <a:buClr>
                <a:srgbClr val="A51C30"/>
              </a:buClr>
              <a:buSzPct val="100000"/>
              <a:buFont typeface="Arial"/>
              <a:buChar char="▪"/>
            </a:pPr>
            <a:r>
              <a:rPr sz="1150" b="0" i="0">
                <a:solidFill>
                  <a:srgbClr val="1A1A1A"/>
                </a:solidFill>
              </a:rPr>
              <a:t>Per changed trade or position: ≈ 11 node vectors (three trees) × 5 currency books ≈ 55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keeps rows = positions: no trade matrix in the hot file. </a:t>
            </a:r>
            <a:r>
              <a:rPr sz="1100" b="0" i="1">
                <a:solidFill>
                  <a:srgbClr val="4A5058"/>
                </a:solidFill>
              </a:rPr>
              <a:t>Estimated = scaled linearly (× 23) from the measured 100,000-trade figures (VAR_GUIDE 27.3, 15.11); not measured at 2.3M.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10-DAY AND STRESSED VAR</a:t>
            </a:r>
          </a:p>
        </p:txBody>
      </p:sp>
      <p:sp>
        <p:nvSpPr>
          <p:cNvPr id="3" name="Title 2"/>
          <p:cNvSpPr>
            <a:spLocks noGrp="1"/>
          </p:cNvSpPr>
          <p:nvPr>
            <p:ph type="title" idx="104"/>
          </p:nvPr>
        </p:nvSpPr>
        <p:spPr/>
        <p:txBody>
          <a:bodyPr/>
          <a:lstStyle/>
          <a:p>
            <a:r>
              <a:t>10-day and stressed VaR: the added workload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812780" y="94183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graphicFrame>
        <p:nvGraphicFramePr>
          <p:cNvPr id="27" name="Table 26"/>
          <p:cNvGraphicFramePr>
            <a:graphicFrameLocks noGrp="1"/>
          </p:cNvGraphicFramePr>
          <p:nvPr/>
        </p:nvGraphicFramePr>
        <p:xfrm>
          <a:off x="777240" y="1417320"/>
          <a:ext cx="4937759" cy="1865376"/>
        </p:xfrm>
        <a:graphic>
          <a:graphicData uri="http://schemas.openxmlformats.org/drawingml/2006/table">
            <a:tbl>
              <a:tblPr firstRow="0" bandRow="0">
                <a:tableStyleId>{5940675A-B579-460E-94D1-54222C63F5DA}</a:tableStyleId>
              </a:tblPr>
              <a:tblGrid>
                <a:gridCol w="1874519"/>
                <a:gridCol w="2331720"/>
                <a:gridCol w="731520"/>
              </a:tblGrid>
              <a:tr h="310896">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Vector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 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10896">
                <a:tc>
                  <a:txBody>
                    <a:bodyPr wrap="square"/>
                    <a:lstStyle/>
                    <a:p>
                      <a:r>
                        <a:rPr sz="1100" b="1" i="0">
                          <a:solidFill>
                            <a:srgbClr val="8A1626"/>
                          </a:solidFill>
                        </a:rPr>
                        <a:t>1-day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509 scenarios (2 years)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10-day (b),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500 (509 − 9), sized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Stressed 1-day VaR,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250 (12 months, e.g. 2008–09)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Stressed 10-day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250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Total, sized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1,518 values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8" name="Chart 27"/>
          <p:cNvGraphicFramePr>
            <a:graphicFrameLocks noGrp="1"/>
          </p:cNvGraphicFramePr>
          <p:nvPr/>
        </p:nvGraphicFramePr>
        <p:xfrm>
          <a:off x="777240" y="3429000"/>
          <a:ext cx="4937760" cy="1828800"/>
        </p:xfrm>
        <a:graphic>
          <a:graphicData uri="http://schemas.openxmlformats.org/drawingml/2006/chart">
            <c:chart xmlns:c="http://schemas.openxmlformats.org/drawingml/2006/chart" r:id="rId2"/>
          </a:graphicData>
        </a:graphic>
      </p:graphicFrame>
      <p:graphicFrame>
        <p:nvGraphicFramePr>
          <p:cNvPr id="29" name="Table 28"/>
          <p:cNvGraphicFramePr>
            <a:graphicFrameLocks noGrp="1"/>
          </p:cNvGraphicFramePr>
          <p:nvPr/>
        </p:nvGraphicFramePr>
        <p:xfrm>
          <a:off x="5943600" y="1417320"/>
          <a:ext cx="5468112" cy="3017520"/>
        </p:xfrm>
        <a:graphic>
          <a:graphicData uri="http://schemas.openxmlformats.org/drawingml/2006/table">
            <a:tbl>
              <a:tblPr firstRow="0" bandRow="0">
                <a:tableStyleId>{5940675A-B579-460E-94D1-54222C63F5DA}</a:tableStyleId>
              </a:tblPr>
              <a:tblGrid>
                <a:gridCol w="1965960"/>
                <a:gridCol w="1051560"/>
                <a:gridCol w="1051560"/>
                <a:gridCol w="1399032"/>
              </a:tblGrid>
              <a:tr h="274320">
                <a:tc>
                  <a:txBody>
                    <a:bodyPr wrap="square"/>
                    <a:lstStyle/>
                    <a:p>
                      <a:r>
                        <a:rPr sz="1050" b="1" i="0">
                          <a:solidFill>
                            <a:srgbClr val="FFFFFF"/>
                          </a:solidFill>
                        </a:rPr>
                        <a:t>Per date and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Vectors, float64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Rows, float32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USD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16.3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Heap, an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2.23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First open: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18–70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54–209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First open: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55–82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Other currency, asked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+ 11.4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Local NVMe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458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1,183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RAM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Lake, 7 years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TextBox 29"/>
          <p:cNvSpPr txBox="1"/>
          <p:nvPr/>
        </p:nvSpPr>
        <p:spPr>
          <a:xfrm>
            <a:off x="5943600" y="4572000"/>
            <a:ext cx="5468112" cy="777240"/>
          </a:xfrm>
          <a:prstGeom prst="rect">
            <a:avLst/>
          </a:prstGeom>
          <a:noFill/>
        </p:spPr>
        <p:txBody>
          <a:bodyPr wrap="square" lIns="0" rIns="0" tIns="0" bIns="0" anchor="t">
            <a:spAutoFit/>
          </a:bodyPr>
          <a:lstStyle/>
          <a:p>
            <a:pPr algn="l">
              <a:spcAft>
                <a:spcPts val="200"/>
              </a:spcAft>
            </a:pPr>
            <a:r>
              <a:rPr sz="1100" b="1" i="0">
                <a:solidFill>
                  <a:srgbClr val="8A1626"/>
                </a:solidFill>
              </a:rPr>
              <a:t>Method (ASSUMPTION): </a:t>
            </a:r>
            <a:r>
              <a:rPr sz="1100" b="0" i="0">
                <a:solidFill>
                  <a:srgbClr val="1A1A1A"/>
                </a:solidFill>
              </a:rPr>
              <a:t>10-day by (b), overlapping returns, the conservative case; (a) √10 × 1-day adds no data, × 1.49 only.</a:t>
            </a:r>
          </a:p>
          <a:p>
            <a:pPr algn="l"/>
            <a:r>
              <a:rPr sz="1100" b="1" i="0">
                <a:solidFill>
                  <a:srgbClr val="8A1626"/>
                </a:solidFill>
              </a:rPr>
              <a:t>Currencies (ASSUMPTION): </a:t>
            </a:r>
            <a:r>
              <a:rPr sz="1100" b="0" i="0">
                <a:solidFill>
                  <a:srgbClr val="1A1A1A"/>
                </a:solidFill>
              </a:rPr>
              <a:t>USD builds all four sets with the date; the others build 1-day ahead and the rest on first ask.</a:t>
            </a:r>
          </a:p>
        </p:txBody>
      </p:sp>
      <p:sp>
        <p:nvSpPr>
          <p:cNvPr id="31" name="Rectangle 30"/>
          <p:cNvSpPr/>
          <p:nvPr/>
        </p:nvSpPr>
        <p:spPr>
          <a:xfrm>
            <a:off x="777240" y="544068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44068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5440680"/>
            <a:ext cx="10314432" cy="777240"/>
          </a:xfrm>
          <a:prstGeom prst="rect">
            <a:avLst/>
          </a:prstGeom>
          <a:noFill/>
        </p:spPr>
        <p:txBody>
          <a:bodyPr wrap="square" lIns="0" rIns="0" tIns="0" bIns="0" anchor="ctr">
            <a:spAutoFit/>
          </a:bodyPr>
          <a:lstStyle/>
          <a:p>
            <a:pPr algn="l"/>
            <a:r>
              <a:rPr sz="1250" b="1" i="0">
                <a:solidFill>
                  <a:srgbClr val="A51C30"/>
                </a:solidFill>
              </a:rPr>
              <a:t>About 3× the 1-day footprint per date.  </a:t>
            </a:r>
            <a:r>
              <a:rPr sz="1150" b="0" i="0">
                <a:solidFill>
                  <a:srgbClr val="1A1A1A"/>
                </a:solidFill>
              </a:rPr>
              <a:t>With (a) √10 instead: × 1.49, vectors 18.5 TB over 7 years. Sums per measure are unchanged: a node 0.5 ms, the whole bank ≈ 80 ms for a 509-wide set, ≈ 40 ms for a stressed one (estimated).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39% HEADROOM</a:t>
            </a:r>
          </a:p>
        </p:txBody>
      </p:sp>
      <p:sp>
        <p:nvSpPr>
          <p:cNvPr id="3" name="Title 2"/>
          <p:cNvSpPr>
            <a:spLocks noGrp="1"/>
          </p:cNvSpPr>
          <p:nvPr>
            <p:ph type="title" idx="104"/>
          </p:nvPr>
        </p:nvSpPr>
        <p:spPr/>
        <p:txBody>
          <a:bodyPr/>
          <a:lstStyle/>
          <a:p>
            <a:r>
              <a:t>Capacity: processes and memory, 1-day, 10-day and stressed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675120" cy="274320"/>
          </a:xfrm>
          <a:prstGeom prst="rect">
            <a:avLst/>
          </a:prstGeom>
          <a:noFill/>
        </p:spPr>
        <p:txBody>
          <a:bodyPr wrap="square" lIns="0" rIns="0" tIns="0" bIns="0" anchor="ctr">
            <a:spAutoFit/>
          </a:bodyPr>
          <a:lstStyle/>
          <a:p>
            <a:pPr algn="l"/>
            <a:r>
              <a:rPr sz="1250" b="1" i="0">
                <a:solidFill>
                  <a:srgbClr val="A51C30"/>
                </a:solidFill>
              </a:rPr>
              <a:t>Processes, recommended  </a:t>
            </a:r>
            <a:r>
              <a:rPr sz="1100" b="0" i="0">
                <a:solidFill>
                  <a:srgbClr val="4A5058"/>
                </a:solidFill>
              </a:rPr>
              <a:t>one server holds each date's whole VaR</a:t>
            </a:r>
          </a:p>
        </p:txBody>
      </p:sp>
      <p:graphicFrame>
        <p:nvGraphicFramePr>
          <p:cNvPr id="27" name="Table 26"/>
          <p:cNvGraphicFramePr>
            <a:graphicFrameLocks noGrp="1"/>
          </p:cNvGraphicFramePr>
          <p:nvPr/>
        </p:nvGraphicFramePr>
        <p:xfrm>
          <a:off x="777240" y="1691640"/>
          <a:ext cx="6675120" cy="2194560"/>
        </p:xfrm>
        <a:graphic>
          <a:graphicData uri="http://schemas.openxmlformats.org/drawingml/2006/table">
            <a:tbl>
              <a:tblPr firstRow="0" bandRow="0">
                <a:tableStyleId>{5940675A-B579-460E-94D1-54222C63F5DA}</a:tableStyleId>
              </a:tblPr>
              <a:tblGrid>
                <a:gridCol w="1783080"/>
                <a:gridCol w="411480"/>
                <a:gridCol w="4480560"/>
              </a:tblGrid>
              <a:tr h="365760">
                <a:tc>
                  <a:txBody>
                    <a:bodyPr wrap="square"/>
                    <a:lstStyle/>
                    <a:p>
                      <a:r>
                        <a:rPr sz="1050" b="1" i="0">
                          <a:solidFill>
                            <a:srgbClr val="FFFFFF"/>
                          </a:solidFill>
                        </a:rPr>
                        <a:t>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Holds and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050" b="1" i="0">
                          <a:solidFill>
                            <a:srgbClr val="8A1626"/>
                          </a:solidFill>
                        </a:rPr>
                        <a:t>Official EOD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captures every node of every tree and measure; publishes (DRISHTI_VAR_OFFICIAL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Intraday writer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Kafka PV topic, one lake batch a 5-minute window, and files (DRISHTI_VAR_PV_STREAM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UI/API VaR replicas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each maps today and yesterday whole, applies intraday; Drishti*net failover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Console hosts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workers each; load balancer, sticky sessions; one session secret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Cluster, sharding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servers as one; a date's VaR split by shard (next slides)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8" name="Table 27"/>
          <p:cNvGraphicFramePr>
            <a:graphicFrameLocks noGrp="1"/>
          </p:cNvGraphicFramePr>
          <p:nvPr/>
        </p:nvGraphicFramePr>
        <p:xfrm>
          <a:off x="777240" y="3950208"/>
          <a:ext cx="6675120" cy="1536192"/>
        </p:xfrm>
        <a:graphic>
          <a:graphicData uri="http://schemas.openxmlformats.org/drawingml/2006/table">
            <a:tbl>
              <a:tblPr firstRow="0" bandRow="0">
                <a:tableStyleId>{5940675A-B579-460E-94D1-54222C63F5DA}</a:tableStyleId>
              </a:tblPr>
              <a:tblGrid>
                <a:gridCol w="2286000"/>
                <a:gridCol w="1371600"/>
                <a:gridCol w="1508760"/>
                <a:gridCol w="1508760"/>
              </a:tblGrid>
              <a:tr h="256032">
                <a:tc>
                  <a:txBody>
                    <a:bodyPr wrap="square"/>
                    <a:lstStyle/>
                    <a:p>
                      <a:r>
                        <a:rPr sz="1050" b="1" i="0">
                          <a:solidFill>
                            <a:srgbClr val="FFFFFF"/>
                          </a:solidFill>
                        </a:rPr>
                        <a:t>Per VaR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Provisioned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Large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56032">
                <a:tc>
                  <a:txBody>
                    <a:bodyPr wrap="square"/>
                    <a:lstStyle/>
                    <a:p>
                      <a:r>
                        <a:rPr sz="105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Memory budget,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14,300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46,000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RAM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Local NVMe (tier.dir)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9" name="Chart 28"/>
          <p:cNvGraphicFramePr>
            <a:graphicFrameLocks noGrp="1"/>
          </p:cNvGraphicFramePr>
          <p:nvPr/>
        </p:nvGraphicFramePr>
        <p:xfrm>
          <a:off x="7680960" y="1417320"/>
          <a:ext cx="3730752" cy="2514600"/>
        </p:xfrm>
        <a:graphic>
          <a:graphicData uri="http://schemas.openxmlformats.org/drawingml/2006/chart">
            <c:chart xmlns:c="http://schemas.openxmlformats.org/drawingml/2006/chart" r:id="rId2"/>
          </a:graphicData>
        </a:graphic>
      </p:graphicFrame>
      <p:sp>
        <p:nvSpPr>
          <p:cNvPr id="30" name="Rectangle 29"/>
          <p:cNvSpPr/>
          <p:nvPr/>
        </p:nvSpPr>
        <p:spPr>
          <a:xfrm>
            <a:off x="7680960" y="4023360"/>
            <a:ext cx="3730752" cy="13258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680960" y="4023360"/>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845552" y="4096512"/>
            <a:ext cx="3474720" cy="1216152"/>
          </a:xfrm>
          <a:prstGeom prst="rect">
            <a:avLst/>
          </a:prstGeom>
          <a:noFill/>
        </p:spPr>
        <p:txBody>
          <a:bodyPr wrap="square" lIns="0" rIns="0" tIns="0" bIns="0" anchor="t">
            <a:spAutoFit/>
          </a:bodyPr>
          <a:lstStyle/>
          <a:p>
            <a:pPr algn="l">
              <a:spcAft>
                <a:spcPts val="400"/>
              </a:spcAft>
            </a:pPr>
            <a:r>
              <a:rPr sz="1300" b="1" i="0">
                <a:solidFill>
                  <a:srgbClr val="8A1626"/>
                </a:solidFill>
              </a:rPr>
              <a:t>CPU: 32 vCPU needed → 64</a:t>
            </a:r>
          </a:p>
          <a:p>
            <a:pPr algn="l" marL="146304" indent="-146304">
              <a:spcAft>
                <a:spcPts val="300"/>
              </a:spcAft>
              <a:buClr>
                <a:srgbClr val="A51C30"/>
              </a:buClr>
              <a:buSzPct val="100000"/>
              <a:buFont typeface="Arial"/>
              <a:buChar char="▪"/>
            </a:pPr>
            <a:r>
              <a:rPr sz="1050" b="0" i="0">
                <a:solidFill>
                  <a:srgbClr val="1A1A1A"/>
                </a:solidFill>
              </a:rPr>
              <a:t>Sums are bandwidth-bound: 24 threads gave ≈ 60 GB/s (MEASURED); all four sets of the bank ≈ 233 ms</a:t>
            </a:r>
          </a:p>
          <a:p>
            <a:pPr algn="l" marL="146304" indent="-146304">
              <a:spcAft>
                <a:spcPts val="300"/>
              </a:spcAft>
              <a:buClr>
                <a:srgbClr val="A51C30"/>
              </a:buClr>
              <a:buSzPct val="100000"/>
              <a:buFont typeface="Arial"/>
              <a:buChar char="▪"/>
            </a:pPr>
            <a:r>
              <a:rPr sz="1050" b="0" i="0">
                <a:solidFill>
                  <a:srgbClr val="1A1A1A"/>
                </a:solidFill>
              </a:rPr>
              <a:t>+ 8 vCPU for a load, currency builds, intraday, requests; 32 ÷ 0.61 = 52 → 64</a:t>
            </a:r>
          </a:p>
        </p:txBody>
      </p:sp>
      <p:sp>
        <p:nvSpPr>
          <p:cNvPr id="33" name="Rectangle 32"/>
          <p:cNvSpPr/>
          <p:nvPr/>
        </p:nvSpPr>
        <p:spPr>
          <a:xfrm>
            <a:off x="777240" y="5577840"/>
            <a:ext cx="10634472" cy="6858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577840"/>
            <a:ext cx="54864" cy="685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1005840" y="5577840"/>
            <a:ext cx="10314432" cy="685800"/>
          </a:xfrm>
          <a:prstGeom prst="rect">
            <a:avLst/>
          </a:prstGeom>
          <a:noFill/>
        </p:spPr>
        <p:txBody>
          <a:bodyPr wrap="square" lIns="0" rIns="0" tIns="0" bIns="0" anchor="ctr">
            <a:spAutoFit/>
          </a:bodyPr>
          <a:lstStyle/>
          <a:p>
            <a:pPr algn="l">
              <a:spcAft>
                <a:spcPts val="200"/>
              </a:spcAft>
            </a:pPr>
            <a:r>
              <a:rPr sz="1200" b="1" i="0">
                <a:solidFill>
                  <a:srgbClr val="A51C30"/>
                </a:solidFill>
              </a:rPr>
              <a:t>39% headroom: </a:t>
            </a:r>
            <a:r>
              <a:rPr sz="1150" b="0" i="0">
                <a:solidFill>
                  <a:srgbClr val="1A1A1A"/>
                </a:solidFill>
              </a:rPr>
              <a:t>the projected peak uses at most 61% of what is provisioned: need ÷ 0.61 (× 1.64). Set DRISHTI_VAR_MEMORY_MB: the default ¼ of the heap (9 GB at 36g) refuses a 14 GB date.</a:t>
            </a:r>
          </a:p>
          <a:p>
            <a:pPr algn="l"/>
            <a:r>
              <a:rPr sz="1200" b="1" i="0">
                <a:solidFill>
                  <a:srgbClr val="A51C30"/>
                </a:solidFill>
              </a:rPr>
              <a:t>Consoles: </a:t>
            </a:r>
            <a:r>
              <a:rPr sz="1150" b="0" i="0">
                <a:solidFill>
                  <a:srgbClr val="1A1A1A"/>
                </a:solidFill>
              </a:rPr>
              <a:t>2 hosts × 4 workers; 40 pages/s a worker (MEASURED); 50 users at once (ASSUMPTION): peak 25 pages/s ÷ 0.61 = 41 against one host's 160.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7 YEARS = 1,764 BUSINESS DATES</a:t>
            </a:r>
          </a:p>
        </p:txBody>
      </p:sp>
      <p:sp>
        <p:nvSpPr>
          <p:cNvPr id="3" name="Title 2"/>
          <p:cNvSpPr>
            <a:spLocks noGrp="1"/>
          </p:cNvSpPr>
          <p:nvPr>
            <p:ph type="title" idx="104"/>
          </p:nvPr>
        </p:nvSpPr>
        <p:spPr/>
        <p:txBody>
          <a:bodyPr/>
          <a:lstStyle/>
          <a:p>
            <a:r>
              <a:t>Capacity: storage over 7 years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7315200" cy="3922776"/>
        </p:xfrm>
        <a:graphic>
          <a:graphicData uri="http://schemas.openxmlformats.org/drawingml/2006/table">
            <a:tbl>
              <a:tblPr firstRow="0" bandRow="0">
                <a:tableStyleId>{5940675A-B579-460E-94D1-54222C63F5DA}</a:tableStyleId>
              </a:tblPr>
              <a:tblGrid>
                <a:gridCol w="1920240"/>
                <a:gridCol w="2743200"/>
                <a:gridCol w="822960"/>
                <a:gridCol w="822960"/>
                <a:gridCol w="1005840"/>
              </a:tblGrid>
              <a:tr h="301752">
                <a:tc>
                  <a:txBody>
                    <a:bodyPr wrap="square"/>
                    <a:lstStyle/>
                    <a:p>
                      <a:r>
                        <a:rPr sz="105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Arithmetic (all four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01752">
                <a:tc>
                  <a:txBody>
                    <a:bodyPr wrap="square"/>
                    <a:lstStyle/>
                    <a:p>
                      <a:r>
                        <a:rPr sz="1050" b="1" i="0">
                          <a:solidFill>
                            <a:srgbClr val="8A1626"/>
                          </a:solidFill>
                        </a:rPr>
                        <a:t>P&amp;L vectors, float64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 × 0.75 × 1,764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37.0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Row columns (terms)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2.3M × ≈ 100 B × 1,764 × 4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Scenario PVs as well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vectors again, if both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+ 37.0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Trades, if held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 KB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Positions (membership)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41 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Official results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29 KB × 5,700 nodes × 1,764 × 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0.88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Intraday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230k × 9.1 KB × 1,764 ×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Restatements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 of dates × 20.9 GB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Delta log,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daily 0.14 × 2.98 (often: 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0.42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base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37.0 + 1.6 + 7.4 + 0.9 + 0.2 + 0.7 + 0.4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Provisioned (÷ 0.61)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39% headroom; DR doubles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upper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PVs, trades, frequent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Chart 26"/>
          <p:cNvGraphicFramePr>
            <a:graphicFrameLocks noGrp="1"/>
          </p:cNvGraphicFramePr>
          <p:nvPr/>
        </p:nvGraphicFramePr>
        <p:xfrm>
          <a:off x="8321040" y="1417320"/>
          <a:ext cx="3090672" cy="2331720"/>
        </p:xfrm>
        <a:graphic>
          <a:graphicData uri="http://schemas.openxmlformats.org/drawingml/2006/chart">
            <c:chart xmlns:c="http://schemas.openxmlformats.org/drawingml/2006/chart" r:id="rId2"/>
          </a:graphicData>
        </a:graphic>
      </p:graphicFrame>
      <p:sp>
        <p:nvSpPr>
          <p:cNvPr id="28" name="Rectangle 27"/>
          <p:cNvSpPr/>
          <p:nvPr/>
        </p:nvSpPr>
        <p:spPr>
          <a:xfrm>
            <a:off x="8321040" y="3858768"/>
            <a:ext cx="3090672"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321040" y="3858768"/>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485632" y="3931920"/>
            <a:ext cx="2834640" cy="987552"/>
          </a:xfrm>
          <a:prstGeom prst="rect">
            <a:avLst/>
          </a:prstGeom>
          <a:noFill/>
        </p:spPr>
        <p:txBody>
          <a:bodyPr wrap="square" lIns="0" rIns="0" tIns="0" bIns="0" anchor="t">
            <a:spAutoFit/>
          </a:bodyPr>
          <a:lstStyle/>
          <a:p>
            <a:pPr algn="l">
              <a:spcAft>
                <a:spcPts val="400"/>
              </a:spcAft>
            </a:pPr>
            <a:r>
              <a:rPr sz="1300" b="1" i="0">
                <a:solidFill>
                  <a:srgbClr val="8A1626"/>
                </a:solidFill>
              </a:rPr>
              <a:t>Local NVMe, per server</a:t>
            </a:r>
          </a:p>
          <a:p>
            <a:pPr algn="l" marL="146304" indent="-146304">
              <a:spcAft>
                <a:spcPts val="300"/>
              </a:spcAft>
              <a:buClr>
                <a:srgbClr val="A51C30"/>
              </a:buClr>
              <a:buSzPct val="100000"/>
              <a:buFont typeface="Arial"/>
              <a:buChar char="▪"/>
            </a:pPr>
            <a:r>
              <a:rPr sz="1050" b="0" i="0">
                <a:solidFill>
                  <a:srgbClr val="1A1A1A"/>
                </a:solidFill>
              </a:rPr>
              <a:t>USD 16.3 GB × 60 dates 978 + currencies 161 + a load 44 = 1,183 GB ÷ 0.61 → 3.8 TB; rebuilt from the lake, never on EFS</a:t>
            </a:r>
          </a:p>
        </p:txBody>
      </p:sp>
      <p:sp>
        <p:nvSpPr>
          <p:cNvPr id="31" name="Rectangle 30"/>
          <p:cNvSpPr/>
          <p:nvPr/>
        </p:nvSpPr>
        <p:spPr>
          <a:xfrm>
            <a:off x="8321040" y="5047488"/>
            <a:ext cx="3090672"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321040" y="5047488"/>
            <a:ext cx="45720"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485632" y="5120640"/>
            <a:ext cx="2834640" cy="1078992"/>
          </a:xfrm>
          <a:prstGeom prst="rect">
            <a:avLst/>
          </a:prstGeom>
          <a:noFill/>
        </p:spPr>
        <p:txBody>
          <a:bodyPr wrap="square" lIns="0" rIns="0" tIns="0" bIns="0" anchor="t">
            <a:spAutoFit/>
          </a:bodyPr>
          <a:lstStyle/>
          <a:p>
            <a:pPr algn="l">
              <a:spcAft>
                <a:spcPts val="400"/>
              </a:spcAft>
            </a:pPr>
            <a:r>
              <a:rPr sz="1300" b="1" i="0">
                <a:solidFill>
                  <a:srgbClr val="8A1626"/>
                </a:solidFill>
              </a:rPr>
              <a:t>The 250-day window</a:t>
            </a:r>
          </a:p>
          <a:p>
            <a:pPr algn="l" marL="146304" indent="-146304">
              <a:spcAft>
                <a:spcPts val="300"/>
              </a:spcAft>
              <a:buClr>
                <a:srgbClr val="A51C30"/>
              </a:buClr>
              <a:buSzPct val="100000"/>
              <a:buFont typeface="Arial"/>
              <a:buChar char="▪"/>
            </a:pPr>
            <a:r>
              <a:rPr sz="1050" b="0" i="0">
                <a:solidFill>
                  <a:srgbClr val="1A1A1A"/>
                </a:solidFill>
              </a:rPr>
              <a:t>1-day and 10-day cut to 250: 1,518 → 1,000 values (× 0.66); float32 14.0 → 9.2 GB; NVMe ≈ 780 GB</a:t>
            </a:r>
          </a:p>
          <a:p>
            <a:pPr algn="l" marL="146304" indent="-146304">
              <a:spcAft>
                <a:spcPts val="300"/>
              </a:spcAft>
              <a:buClr>
                <a:srgbClr val="A51C30"/>
              </a:buClr>
              <a:buSzPct val="100000"/>
              <a:buFont typeface="Arial"/>
              <a:buChar char="▪"/>
            </a:pPr>
            <a:r>
              <a:rPr sz="1050" b="0" i="0">
                <a:solidFill>
                  <a:srgbClr val="1A1A1A"/>
                </a:solidFill>
              </a:rPr>
              <a:t>The lake shrinks (37.0 → 24.3 TB) only if the bank sends 250-day sets</a:t>
            </a:r>
          </a:p>
        </p:txBody>
      </p:sp>
      <p:sp>
        <p:nvSpPr>
          <p:cNvPr id="34" name="TextBox 33"/>
          <p:cNvSpPr txBox="1"/>
          <p:nvPr/>
        </p:nvSpPr>
        <p:spPr>
          <a:xfrm>
            <a:off x="777240" y="5486400"/>
            <a:ext cx="7315200" cy="731520"/>
          </a:xfrm>
          <a:prstGeom prst="rect">
            <a:avLst/>
          </a:prstGeom>
          <a:noFill/>
        </p:spPr>
        <p:txBody>
          <a:bodyPr wrap="square" lIns="0" rIns="0" tIns="0" bIns="0" anchor="ctr">
            <a:spAutoFit/>
          </a:bodyPr>
          <a:lstStyle/>
          <a:p>
            <a:pPr algn="l"/>
            <a:r>
              <a:rPr sz="1100" b="0" i="1">
                <a:solidFill>
                  <a:srgbClr val="4A5058"/>
                </a:solidFill>
              </a:rPr>
              <a:t>With a DR copy: 158 TB provisioned (base), 314 TB (upper). Delta or Iceberg, not both. 7 × 252 = 1,764 dates; Parquet ≈ 0.75 × raw; × 2.98 = all four sets.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TO HAND TO INFRASTRUCTURE</a:t>
            </a:r>
          </a:p>
        </p:txBody>
      </p:sp>
      <p:sp>
        <p:nvSpPr>
          <p:cNvPr id="3" name="Title 2"/>
          <p:cNvSpPr>
            <a:spLocks noGrp="1"/>
          </p:cNvSpPr>
          <p:nvPr>
            <p:ph type="title" idx="104"/>
          </p:nvPr>
        </p:nvSpPr>
        <p:spPr/>
        <p:txBody>
          <a:bodyPr/>
          <a:lstStyle/>
          <a:p>
            <a:r>
              <a:t>Hardware plan with 39% headroom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7498079" cy="274320"/>
          </a:xfrm>
          <a:prstGeom prst="rect">
            <a:avLst/>
          </a:prstGeom>
          <a:noFill/>
        </p:spPr>
        <p:txBody>
          <a:bodyPr wrap="square" lIns="0" rIns="0" tIns="0" bIns="0" anchor="ctr">
            <a:spAutoFit/>
          </a:bodyPr>
          <a:lstStyle/>
          <a:p>
            <a:pPr algn="l"/>
            <a:r>
              <a:rPr sz="1200" b="1" i="0">
                <a:solidFill>
                  <a:srgbClr val="A51C30"/>
                </a:solidFill>
              </a:rPr>
              <a:t>1-day, 10-day and stressed VaR at 2.3M positions  </a:t>
            </a:r>
            <a:r>
              <a:rPr sz="1100" b="0" i="0">
                <a:solidFill>
                  <a:srgbClr val="4A5058"/>
                </a:solidFill>
              </a:rPr>
              <a:t>provisioned = need ÷ 0.61</a:t>
            </a:r>
          </a:p>
        </p:txBody>
      </p:sp>
      <p:graphicFrame>
        <p:nvGraphicFramePr>
          <p:cNvPr id="27" name="Table 26"/>
          <p:cNvGraphicFramePr>
            <a:graphicFrameLocks noGrp="1"/>
          </p:cNvGraphicFramePr>
          <p:nvPr/>
        </p:nvGraphicFramePr>
        <p:xfrm>
          <a:off x="777240" y="1691640"/>
          <a:ext cx="7498080" cy="3447288"/>
        </p:xfrm>
        <a:graphic>
          <a:graphicData uri="http://schemas.openxmlformats.org/drawingml/2006/table">
            <a:tbl>
              <a:tblPr firstRow="0" bandRow="0">
                <a:tableStyleId>{5940675A-B579-460E-94D1-54222C63F5DA}</a:tableStyleId>
              </a:tblPr>
              <a:tblGrid>
                <a:gridCol w="2331720"/>
                <a:gridCol w="457200"/>
                <a:gridCol w="1508760"/>
                <a:gridCol w="1783080"/>
                <a:gridCol w="1417320"/>
              </a:tblGrid>
              <a:tr h="265176">
                <a:tc>
                  <a:txBody>
                    <a:bodyPr wrap="square"/>
                    <a:lstStyle/>
                    <a:p>
                      <a:r>
                        <a:rPr sz="100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Need,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Provisioned,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Large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000" b="1" i="0">
                          <a:solidFill>
                            <a:srgbClr val="8A1626"/>
                          </a:solidFill>
                        </a:rPr>
                        <a:t>VaR servers (EOD, intraday, 2 UI)</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one machine 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identical, any 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 (+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RAM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Heap (-Xmx)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VaR memory budget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14,300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23,000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46,000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Local NVMe (tier.dir)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 × 1.9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 × 1.425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Console hosts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 pages/s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 vCPU, 8 GB, 4 workers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the 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Lake, 7 years (object 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79 TB; 158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158; 316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Shared state (EFS or NFS)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0.3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Network, a date's first open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20.9 GB, ≤ 0.4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 10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25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Intraday traffic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17.5 MB a 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1 MB/s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2 MB/s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Kafka PV topic, 7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5.5 GB a day; 39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 GB a replica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128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Rectangle 27"/>
          <p:cNvSpPr/>
          <p:nvPr/>
        </p:nvSpPr>
        <p:spPr>
          <a:xfrm>
            <a:off x="8503919" y="1417320"/>
            <a:ext cx="2907792" cy="18288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503919" y="141732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68511" y="149047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Does one server hold a date?</a:t>
            </a:r>
          </a:p>
          <a:p>
            <a:pPr algn="l">
              <a:spcAft>
                <a:spcPts val="400"/>
              </a:spcAft>
            </a:pPr>
            <a:r>
              <a:rPr sz="1100" b="0" i="0">
                <a:solidFill>
                  <a:srgbClr val="1A1A1A"/>
                </a:solidFill>
              </a:rPr>
              <a:t>Yes. All four sets need 151 GB: one 256 GB server per role, 512 GB at 2×.</a:t>
            </a:r>
          </a:p>
          <a:p>
            <a:pPr algn="l"/>
            <a:r>
              <a:rPr sz="1100" b="0" i="0">
                <a:solidFill>
                  <a:srgbClr val="1A1A1A"/>
                </a:solidFill>
              </a:rPr>
              <a:t>Sharding is needed beyond ≈ 5M positions (a date takes 4–10 min to open) or ≈ 10M (over 1 TB of RAM).</a:t>
            </a:r>
          </a:p>
        </p:txBody>
      </p:sp>
      <p:sp>
        <p:nvSpPr>
          <p:cNvPr id="31" name="Rectangle 30"/>
          <p:cNvSpPr/>
          <p:nvPr/>
        </p:nvSpPr>
        <p:spPr>
          <a:xfrm>
            <a:off x="8503919" y="3337560"/>
            <a:ext cx="2907792"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503919" y="333756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68511" y="341071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Assumptions to confirm</a:t>
            </a:r>
          </a:p>
          <a:p>
            <a:pPr algn="l" marL="146304" indent="-146304">
              <a:spcAft>
                <a:spcPts val="100"/>
              </a:spcAft>
              <a:buClr>
                <a:srgbClr val="A51C30"/>
              </a:buClr>
              <a:buSzPct val="100000"/>
              <a:buFont typeface="Arial"/>
              <a:buChar char="▪"/>
            </a:pPr>
            <a:r>
              <a:rPr sz="1050" b="0" i="0">
                <a:solidFill>
                  <a:srgbClr val="1A1A1A"/>
                </a:solidFill>
              </a:rPr>
              <a:t>50 of 200 users at once; peaks 5×</a:t>
            </a:r>
          </a:p>
          <a:p>
            <a:pPr algn="l" marL="146304" indent="-146304">
              <a:spcAft>
                <a:spcPts val="100"/>
              </a:spcAft>
              <a:buClr>
                <a:srgbClr val="A51C30"/>
              </a:buClr>
              <a:buSzPct val="100000"/>
              <a:buFont typeface="Arial"/>
              <a:buChar char="▪"/>
            </a:pPr>
            <a:r>
              <a:rPr sz="1050" b="0" i="0">
                <a:solidFill>
                  <a:srgbClr val="1A1A1A"/>
                </a:solidFill>
              </a:rPr>
              <a:t>10-day by overlapping returns; stressed 1- and 10-day</a:t>
            </a:r>
          </a:p>
          <a:p>
            <a:pPr algn="l" marL="146304" indent="-146304">
              <a:spcAft>
                <a:spcPts val="100"/>
              </a:spcAft>
              <a:buClr>
                <a:srgbClr val="A51C30"/>
              </a:buClr>
              <a:buSzPct val="100000"/>
              <a:buFont typeface="Arial"/>
              <a:buChar char="▪"/>
            </a:pPr>
            <a:r>
              <a:rPr sz="1050" b="0" i="0">
                <a:solidFill>
                  <a:srgbClr val="1A1A1A"/>
                </a:solidFill>
              </a:rPr>
              <a:t>Intraday 230k rows a day, 120 windows</a:t>
            </a:r>
          </a:p>
          <a:p>
            <a:pPr algn="l" marL="146304" indent="-146304">
              <a:spcAft>
                <a:spcPts val="100"/>
              </a:spcAft>
              <a:buClr>
                <a:srgbClr val="A51C30"/>
              </a:buClr>
              <a:buSzPct val="100000"/>
              <a:buFont typeface="Arial"/>
              <a:buChar char="▪"/>
            </a:pPr>
            <a:r>
              <a:rPr sz="1050" b="0" i="0">
                <a:solidFill>
                  <a:srgbClr val="1A1A1A"/>
                </a:solidFill>
              </a:rPr>
              <a:t>5,700 nodes; 2% restated; a DR copy</a:t>
            </a:r>
          </a:p>
          <a:p>
            <a:pPr algn="l" marL="146304" indent="-146304">
              <a:spcAft>
                <a:spcPts val="100"/>
              </a:spcAft>
              <a:buClr>
                <a:srgbClr val="A51C30"/>
              </a:buClr>
              <a:buSzPct val="100000"/>
              <a:buFont typeface="Arial"/>
              <a:buChar char="▪"/>
            </a:pPr>
            <a:r>
              <a:rPr sz="1050" b="0" i="0">
                <a:solidFill>
                  <a:srgbClr val="1A1A1A"/>
                </a:solidFill>
              </a:rPr>
              <a:t>Kafka 24 KB a record, kept 7 days</a:t>
            </a:r>
          </a:p>
        </p:txBody>
      </p:sp>
      <p:sp>
        <p:nvSpPr>
          <p:cNvPr id="34" name="Rounded Rectangle 33"/>
          <p:cNvSpPr/>
          <p:nvPr/>
        </p:nvSpPr>
        <p:spPr>
          <a:xfrm>
            <a:off x="10451592" y="3401568"/>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7A5A12"/>
                </a:solidFill>
              </a:rPr>
              <a:t>ASSUMPTION</a:t>
            </a:r>
          </a:p>
        </p:txBody>
      </p:sp>
      <p:sp>
        <p:nvSpPr>
          <p:cNvPr id="35" name="Rectangle 34"/>
          <p:cNvSpPr/>
          <p:nvPr/>
        </p:nvSpPr>
        <p:spPr>
          <a:xfrm>
            <a:off x="777240" y="55321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77240" y="55321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1005840" y="5532120"/>
            <a:ext cx="10314432" cy="713232"/>
          </a:xfrm>
          <a:prstGeom prst="rect">
            <a:avLst/>
          </a:prstGeom>
          <a:noFill/>
        </p:spPr>
        <p:txBody>
          <a:bodyPr wrap="square" lIns="0" rIns="0" tIns="0" bIns="0" anchor="ctr">
            <a:spAutoFit/>
          </a:bodyPr>
          <a:lstStyle/>
          <a:p>
            <a:pPr algn="l">
              <a:spcAft>
                <a:spcPts val="200"/>
              </a:spcAft>
            </a:pPr>
            <a:r>
              <a:rPr sz="1150" b="1" i="0">
                <a:solidFill>
                  <a:srgbClr val="A51C30"/>
                </a:solidFill>
              </a:rPr>
              <a:t>AWS example: </a:t>
            </a:r>
            <a:r>
              <a:rPr sz="1150" b="0" i="0">
                <a:solidFill>
                  <a:srgbClr val="1A1A1A"/>
                </a:solidFill>
              </a:rPr>
              <a:t>m6id.16xlarge (64 vCPU, 256 GiB, 2 × 1.9 TB NVMe, 25 Gbit/s); large r6id.24xlarge; Fargate consoles; S3.</a:t>
            </a:r>
          </a:p>
          <a:p>
            <a:pPr algn="l"/>
            <a:r>
              <a:rPr sz="1150" b="1" i="0">
                <a:solidFill>
                  <a:srgbClr val="A51C30"/>
                </a:solidFill>
              </a:rPr>
              <a:t>On premises: </a:t>
            </a:r>
            <a:r>
              <a:rPr sz="1150" b="0" i="0">
                <a:solidFill>
                  <a:srgbClr val="1A1A1A"/>
                </a:solidFill>
              </a:rPr>
              <a:t>2 × 16 cores (64 threads), 256 GB on every memory channel, 2 × 1.92 TB NVMe, 25 GbE; an S3-compatible object store.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A SHARDED CLUSTER</a:t>
            </a:r>
          </a:p>
        </p:txBody>
      </p:sp>
      <p:sp>
        <p:nvSpPr>
          <p:cNvPr id="3" name="Title 2"/>
          <p:cNvSpPr>
            <a:spLocks noGrp="1"/>
          </p:cNvSpPr>
          <p:nvPr>
            <p:ph type="title" idx="104"/>
          </p:nvPr>
        </p:nvSpPr>
        <p:spPr/>
        <p:txBody>
          <a:bodyPr/>
          <a:lstStyle/>
          <a:p>
            <a:r>
              <a:t>Capacity for a sharded cluster: 6 owners, 2 coordinators, 2 consoles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92608"/>
          </a:xfrm>
          <a:prstGeom prst="rect">
            <a:avLst/>
          </a:prstGeom>
          <a:noFill/>
        </p:spPr>
        <p:txBody>
          <a:bodyPr wrap="square" lIns="0" rIns="0" tIns="0" bIns="0" anchor="ctr">
            <a:spAutoFit/>
          </a:bodyPr>
          <a:lstStyle/>
          <a:p>
            <a:pPr algn="l"/>
            <a:r>
              <a:rPr sz="1200" b="1" i="0">
                <a:solidFill>
                  <a:srgbClr val="A51C30"/>
                </a:solidFill>
              </a:rPr>
              <a:t>The scenario  </a:t>
            </a:r>
            <a:r>
              <a:rPr sz="1150" b="0" i="0">
                <a:solidFill>
                  <a:srgbClr val="1A1A1A"/>
                </a:solidFill>
              </a:rPr>
              <a:t>a bank of 2.3 million positions and 15,000 portfolios, with 1-day, 10-day and stressed VaR: 1,518 values a position, the conservative case of the single-server slides.</a:t>
            </a:r>
          </a:p>
        </p:txBody>
      </p:sp>
      <p:graphicFrame>
        <p:nvGraphicFramePr>
          <p:cNvPr id="27" name="Table 26"/>
          <p:cNvGraphicFramePr>
            <a:graphicFrameLocks noGrp="1"/>
          </p:cNvGraphicFramePr>
          <p:nvPr/>
        </p:nvGraphicFramePr>
        <p:xfrm>
          <a:off x="777240" y="1755648"/>
          <a:ext cx="10634472" cy="1316736"/>
        </p:xfrm>
        <a:graphic>
          <a:graphicData uri="http://schemas.openxmlformats.org/drawingml/2006/table">
            <a:tbl>
              <a:tblPr firstRow="0" bandRow="0">
                <a:tableStyleId>{5940675A-B579-460E-94D1-54222C63F5DA}</a:tableStyleId>
              </a:tblPr>
              <a:tblGrid>
                <a:gridCol w="3017520"/>
                <a:gridCol w="1325880"/>
                <a:gridCol w="1097280"/>
                <a:gridCol w="1508760"/>
                <a:gridCol w="594360"/>
                <a:gridCol w="1783080"/>
                <a:gridCol w="1307592"/>
              </a:tblGrid>
              <a:tr h="329184">
                <a:tc>
                  <a:txBody>
                    <a:bodyPr wrap="square"/>
                    <a:lstStyle/>
                    <a:p>
                      <a:r>
                        <a:rPr sz="1100" b="1" i="0">
                          <a:solidFill>
                            <a:srgbClr val="FFFFFF"/>
                          </a:solidFill>
                        </a:rPr>
                        <a:t>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Heap (-Xmx)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RAM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Local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00" b="1" i="0">
                          <a:solidFill>
                            <a:srgbClr val="8A1626"/>
                          </a:solidFill>
                        </a:rPr>
                        <a:t>VaR shard owners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96 GB (need 69)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~500 GB (need 394)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Coordinators (coordinator-only, no shards)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 failover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16–20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7A5A12"/>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Consoles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 load balancer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7A5A12"/>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Rectangle 27"/>
          <p:cNvSpPr/>
          <p:nvPr/>
        </p:nvSpPr>
        <p:spPr>
          <a:xfrm>
            <a:off x="777240" y="3200400"/>
            <a:ext cx="3422904" cy="16002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14400" y="3273552"/>
            <a:ext cx="3194304" cy="1481328"/>
          </a:xfrm>
          <a:prstGeom prst="rect">
            <a:avLst/>
          </a:prstGeom>
          <a:noFill/>
        </p:spPr>
        <p:txBody>
          <a:bodyPr wrap="square" lIns="0" rIns="0" tIns="0" bIns="0" anchor="t">
            <a:spAutoFit/>
          </a:bodyPr>
          <a:lstStyle/>
          <a:p>
            <a:pPr algn="l">
              <a:spcAft>
                <a:spcPts val="100"/>
              </a:spcAft>
            </a:pPr>
            <a:r>
              <a:rPr sz="1000" b="0" i="0">
                <a:solidFill>
                  <a:srgbClr val="9AA0A8"/>
                </a:solidFill>
                <a:latin typeface="Courier New"/>
              </a:rPr>
              <a:t># the market-risk pack's sharding: block</a:t>
            </a:r>
          </a:p>
          <a:p>
            <a:pPr algn="l">
              <a:spcAft>
                <a:spcPts val="100"/>
              </a:spcAft>
            </a:pPr>
            <a:r>
              <a:rPr sz="1000" b="0" i="0">
                <a:solidFill>
                  <a:srgbClr val="F1EEE9"/>
                </a:solidFill>
                <a:latin typeface="Courier New"/>
              </a:rPr>
              <a:t>sharding:</a:t>
            </a:r>
          </a:p>
          <a:p>
            <a:pPr algn="l">
              <a:spcAft>
                <a:spcPts val="100"/>
              </a:spcAft>
            </a:pPr>
            <a:r>
              <a:rPr sz="1000" b="0" i="0">
                <a:solidFill>
                  <a:srgbClr val="E8A0AC"/>
                </a:solidFill>
                <a:latin typeface="Courier New"/>
              </a:rPr>
              <a:t>  enabled: true</a:t>
            </a:r>
          </a:p>
          <a:p>
            <a:pPr algn="l">
              <a:spcAft>
                <a:spcPts val="100"/>
              </a:spcAft>
            </a:pPr>
            <a:r>
              <a:rPr sz="1000" b="0" i="0">
                <a:solidFill>
                  <a:srgbClr val="E8A0AC"/>
                </a:solidFill>
                <a:latin typeface="Courier New"/>
              </a:rPr>
              <a:t>  key: [LEGAL_ENTITY, DESK]</a:t>
            </a:r>
          </a:p>
          <a:p>
            <a:pPr algn="l">
              <a:spcAft>
                <a:spcPts val="100"/>
              </a:spcAft>
            </a:pPr>
            <a:r>
              <a:rPr sz="1000" b="0" i="0">
                <a:solidFill>
                  <a:srgbClr val="E8A0AC"/>
                </a:solidFill>
                <a:latin typeface="Courier New"/>
              </a:rPr>
              <a:t>  replicas: 2       # two zones</a:t>
            </a:r>
          </a:p>
          <a:p>
            <a:pPr algn="l">
              <a:spcAft>
                <a:spcPts val="100"/>
              </a:spcAft>
            </a:pPr>
            <a:r>
              <a:rPr sz="1000" b="0" i="0">
                <a:solidFill>
                  <a:srgbClr val="E8A0AC"/>
                </a:solidFill>
                <a:latin typeface="Courier New"/>
              </a:rPr>
              <a:t>  target-shard-mb: 2048</a:t>
            </a:r>
          </a:p>
          <a:p>
            <a:pPr algn="l">
              <a:spcAft>
                <a:spcPts val="100"/>
              </a:spcAft>
            </a:pPr>
            <a:r>
              <a:rPr sz="1000" b="0" i="0">
                <a:solidFill>
                  <a:srgbClr val="9AA0A8"/>
                </a:solidFill>
                <a:latin typeface="Courier New"/>
              </a:rPr>
              <a:t># coordinators: coordinator-only: true</a:t>
            </a:r>
          </a:p>
          <a:p>
            <a:pPr algn="l">
              <a:spcAft>
                <a:spcPts val="100"/>
              </a:spcAft>
            </a:pPr>
            <a:r>
              <a:rPr sz="1000" b="0" i="0">
                <a:solidFill>
                  <a:srgbClr val="9AA0A8"/>
                </a:solidFill>
                <a:latin typeface="Courier New"/>
              </a:rPr>
              <a:t># Java 25 -XX:+UseCompactObjectHeaders</a:t>
            </a:r>
          </a:p>
        </p:txBody>
      </p:sp>
      <p:sp>
        <p:nvSpPr>
          <p:cNvPr id="30" name="Rectangle 29"/>
          <p:cNvSpPr/>
          <p:nvPr/>
        </p:nvSpPr>
        <p:spPr>
          <a:xfrm>
            <a:off x="4383024" y="320040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320040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38472" y="3264408"/>
            <a:ext cx="3185160" cy="1508760"/>
          </a:xfrm>
          <a:prstGeom prst="rect">
            <a:avLst/>
          </a:prstGeom>
          <a:noFill/>
        </p:spPr>
        <p:txBody>
          <a:bodyPr wrap="square" lIns="0" rIns="0" tIns="0" bIns="0" anchor="t">
            <a:spAutoFit/>
          </a:bodyPr>
          <a:lstStyle/>
          <a:p>
            <a:pPr algn="l">
              <a:spcAft>
                <a:spcPts val="300"/>
              </a:spcAft>
            </a:pPr>
            <a:r>
              <a:rPr sz="1300" b="1" i="0">
                <a:solidFill>
                  <a:srgbClr val="8A1626"/>
                </a:solidFill>
              </a:rPr>
              <a:t>Each shard on two servers</a:t>
            </a:r>
          </a:p>
          <a:p>
            <a:pPr algn="l" marL="146304" indent="-146304">
              <a:spcAft>
                <a:spcPts val="200"/>
              </a:spcAft>
              <a:buClr>
                <a:srgbClr val="A51C30"/>
              </a:buClr>
              <a:buSzPct val="100000"/>
              <a:buFont typeface="Arial"/>
              <a:buChar char="▪"/>
            </a:pPr>
            <a:r>
              <a:rPr sz="1100" b="0" i="0">
                <a:solidFill>
                  <a:srgbClr val="1A1A1A"/>
                </a:solidFill>
              </a:rPr>
              <a:t>Shards are legal entity and desk ranges near 2 GB; a desk is never split</a:t>
            </a:r>
          </a:p>
          <a:p>
            <a:pPr algn="l" marL="146304" indent="-146304">
              <a:spcAft>
                <a:spcPts val="200"/>
              </a:spcAft>
              <a:buClr>
                <a:srgbClr val="A51C30"/>
              </a:buClr>
              <a:buSzPct val="100000"/>
              <a:buFont typeface="Arial"/>
              <a:buChar char="▪"/>
            </a:pPr>
            <a:r>
              <a:rPr sz="1100" b="0" i="0">
                <a:solidFill>
                  <a:srgbClr val="1A1A1A"/>
                </a:solidFill>
              </a:rPr>
              <a:t>Any one server can fail: the other replica answers</a:t>
            </a:r>
          </a:p>
          <a:p>
            <a:pPr algn="l" marL="146304" indent="-146304">
              <a:spcAft>
                <a:spcPts val="200"/>
              </a:spcAft>
              <a:buClr>
                <a:srgbClr val="A51C30"/>
              </a:buClr>
              <a:buSzPct val="100000"/>
              <a:buFont typeface="Arial"/>
              <a:buChar char="▪"/>
            </a:pPr>
            <a:r>
              <a:rPr sz="1100" b="0" i="0">
                <a:solidFill>
                  <a:srgbClr val="1A1A1A"/>
                </a:solidFill>
              </a:rPr>
              <a:t>Replacing a server moves about 1/6 of the rows</a:t>
            </a:r>
          </a:p>
        </p:txBody>
      </p:sp>
      <p:sp>
        <p:nvSpPr>
          <p:cNvPr id="33" name="Rectangle 32"/>
          <p:cNvSpPr/>
          <p:nvPr/>
        </p:nvSpPr>
        <p:spPr>
          <a:xfrm>
            <a:off x="7988808" y="3200400"/>
            <a:ext cx="3422904" cy="1600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988808" y="320040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144256" y="3264408"/>
            <a:ext cx="3185160" cy="1508760"/>
          </a:xfrm>
          <a:prstGeom prst="rect">
            <a:avLst/>
          </a:prstGeom>
          <a:noFill/>
        </p:spPr>
        <p:txBody>
          <a:bodyPr wrap="square" lIns="0" rIns="0" tIns="0" bIns="0" anchor="t">
            <a:spAutoFit/>
          </a:bodyPr>
          <a:lstStyle/>
          <a:p>
            <a:pPr algn="l">
              <a:spcAft>
                <a:spcPts val="300"/>
              </a:spcAft>
            </a:pPr>
            <a:r>
              <a:rPr sz="1300" b="1" i="0">
                <a:solidFill>
                  <a:srgbClr val="8A1626"/>
                </a:solidFill>
              </a:rPr>
              <a:t>Smaller options</a:t>
            </a:r>
          </a:p>
          <a:p>
            <a:pPr algn="l" marL="146304" indent="-146304">
              <a:spcAft>
                <a:spcPts val="200"/>
              </a:spcAft>
              <a:buClr>
                <a:srgbClr val="A51C30"/>
              </a:buClr>
              <a:buSzPct val="100000"/>
              <a:buFont typeface="Arial"/>
              <a:buChar char="▪"/>
            </a:pPr>
            <a:r>
              <a:rPr sz="1100" b="1" i="0">
                <a:solidFill>
                  <a:srgbClr val="8A1626"/>
                </a:solidFill>
              </a:rPr>
              <a:t>1-day VaR only: </a:t>
            </a:r>
            <a:r>
              <a:rPr sz="1100" b="0" i="0">
                <a:solidFill>
                  <a:srgbClr val="1A1A1A"/>
                </a:solidFill>
              </a:rPr>
              <a:t>4 owners, 16 GB heap, 48 GB RAM (need 47), plus 2 coordinators</a:t>
            </a:r>
          </a:p>
          <a:p>
            <a:pPr algn="l" marL="146304" indent="-146304">
              <a:spcAft>
                <a:spcPts val="200"/>
              </a:spcAft>
              <a:buClr>
                <a:srgbClr val="A51C30"/>
              </a:buClr>
              <a:buSzPct val="100000"/>
              <a:buFont typeface="Arial"/>
              <a:buChar char="▪"/>
            </a:pPr>
            <a:r>
              <a:rPr sz="1100" b="1" i="0">
                <a:solidFill>
                  <a:srgbClr val="8A1626"/>
                </a:solidFill>
              </a:rPr>
              <a:t>Minimum start: </a:t>
            </a:r>
            <a:r>
              <a:rPr sz="1100" b="0" i="0">
                <a:solidFill>
                  <a:srgbClr val="1A1A1A"/>
                </a:solidFill>
              </a:rPr>
              <a:t>3 owners and 1 coordinator, 20 GB heap; 128 GB RAM with 2 replicas (need 110), 96 GB with 1 (less failure headroom)</a:t>
            </a:r>
          </a:p>
        </p:txBody>
      </p:sp>
      <p:sp>
        <p:nvSpPr>
          <p:cNvPr id="36" name="Rectangle 35"/>
          <p:cNvSpPr/>
          <p:nvPr/>
        </p:nvSpPr>
        <p:spPr>
          <a:xfrm>
            <a:off x="777240" y="4919472"/>
            <a:ext cx="10634472" cy="60350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ounded Rectangle 36"/>
          <p:cNvSpPr/>
          <p:nvPr/>
        </p:nvSpPr>
        <p:spPr>
          <a:xfrm>
            <a:off x="914400" y="512064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38" name="TextBox 37"/>
          <p:cNvSpPr txBox="1"/>
          <p:nvPr/>
        </p:nvSpPr>
        <p:spPr>
          <a:xfrm>
            <a:off x="1650492" y="4919472"/>
            <a:ext cx="9624060" cy="603504"/>
          </a:xfrm>
          <a:prstGeom prst="rect">
            <a:avLst/>
          </a:prstGeom>
          <a:noFill/>
        </p:spPr>
        <p:txBody>
          <a:bodyPr wrap="square" lIns="0" rIns="0" tIns="0" bIns="0" anchor="ctr">
            <a:spAutoFit/>
          </a:bodyPr>
          <a:lstStyle/>
          <a:p>
            <a:pPr algn="l"/>
            <a:r>
              <a:rPr sz="1100" b="1" i="0">
                <a:solidFill>
                  <a:srgbClr val="8A1626"/>
                </a:solidFill>
              </a:rPr>
              <a:t>10-day and stressed VaR are not built yet; </a:t>
            </a:r>
            <a:r>
              <a:rPr sz="1100" b="0" i="0">
                <a:solidFill>
                  <a:srgbClr val="1A1A1A"/>
                </a:solidFill>
              </a:rPr>
              <a:t>they are sized here because they triple the footprint. VaR sharding itself is built (off by default). 1-day only, six owners would need about 37 GB each.</a:t>
            </a:r>
          </a:p>
        </p:txBody>
      </p:sp>
      <p:sp>
        <p:nvSpPr>
          <p:cNvPr id="39" name="Rectangle 38"/>
          <p:cNvSpPr/>
          <p:nvPr/>
        </p:nvSpPr>
        <p:spPr>
          <a:xfrm>
            <a:off x="777240" y="5614416"/>
            <a:ext cx="10634472"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Rectangle 39"/>
          <p:cNvSpPr/>
          <p:nvPr/>
        </p:nvSpPr>
        <p:spPr>
          <a:xfrm>
            <a:off x="777240" y="5614416"/>
            <a:ext cx="54864"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1005840" y="5614416"/>
            <a:ext cx="10314432" cy="640080"/>
          </a:xfrm>
          <a:prstGeom prst="rect">
            <a:avLst/>
          </a:prstGeom>
          <a:noFill/>
        </p:spPr>
        <p:txBody>
          <a:bodyPr wrap="square" lIns="0" rIns="0" tIns="0" bIns="0" anchor="ctr">
            <a:spAutoFit/>
          </a:bodyPr>
          <a:lstStyle/>
          <a:p>
            <a:pPr algn="l"/>
            <a:r>
              <a:rPr sz="1150" b="1" i="0">
                <a:solidFill>
                  <a:srgbClr val="A51C30"/>
                </a:solidFill>
              </a:rPr>
              <a:t>Estimated, not measured at 2.3M.  </a:t>
            </a:r>
            <a:r>
              <a:rPr sz="1100" b="0" i="0">
                <a:solidFill>
                  <a:srgbClr val="1A1A1A"/>
                </a:solidFill>
              </a:rPr>
              <a:t>Every figure is scaled × 23 from the measured 100,000-trade benchmark. Next: the 200K benchmark, then a 2.3M load on one real bank server before ordering hardware.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WHY THESE NUMBERS</a:t>
            </a:r>
          </a:p>
        </p:txBody>
      </p:sp>
      <p:sp>
        <p:nvSpPr>
          <p:cNvPr id="3" name="Title 2"/>
          <p:cNvSpPr>
            <a:spLocks noGrp="1"/>
          </p:cNvSpPr>
          <p:nvPr>
            <p:ph type="title" idx="104"/>
          </p:nvPr>
        </p:nvSpPr>
        <p:spPr/>
        <p:txBody>
          <a:bodyPr/>
          <a:lstStyle/>
          <a:p>
            <a:r>
              <a:t>Sharding divides the cache and the disk, not the heap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Chart 25"/>
          <p:cNvGraphicFramePr>
            <a:graphicFrameLocks noGrp="1"/>
          </p:cNvGraphicFramePr>
          <p:nvPr/>
        </p:nvGraphicFramePr>
        <p:xfrm>
          <a:off x="777240" y="1371600"/>
          <a:ext cx="4754880" cy="2148840"/>
        </p:xfrm>
        <a:graphic>
          <a:graphicData uri="http://schemas.openxmlformats.org/drawingml/2006/chart">
            <c:chart xmlns:c="http://schemas.openxmlformats.org/drawingml/2006/chart" r:id="rId2"/>
          </a:graphicData>
        </a:graphic>
      </p:graphicFrame>
      <p:graphicFrame>
        <p:nvGraphicFramePr>
          <p:cNvPr id="27" name="Table 26"/>
          <p:cNvGraphicFramePr>
            <a:graphicFrameLocks noGrp="1"/>
          </p:cNvGraphicFramePr>
          <p:nvPr/>
        </p:nvGraphicFramePr>
        <p:xfrm>
          <a:off x="777240" y="3657600"/>
          <a:ext cx="4754880" cy="1170432"/>
        </p:xfrm>
        <a:graphic>
          <a:graphicData uri="http://schemas.openxmlformats.org/drawingml/2006/table">
            <a:tbl>
              <a:tblPr firstRow="0" bandRow="0">
                <a:tableStyleId>{5940675A-B579-460E-94D1-54222C63F5DA}</a:tableStyleId>
              </a:tblPr>
              <a:tblGrid>
                <a:gridCol w="2286000"/>
                <a:gridCol w="1234440"/>
                <a:gridCol w="1234440"/>
              </a:tblGrid>
              <a:tr h="292608">
                <a:tc>
                  <a:txBody>
                    <a:bodyPr wrap="square"/>
                    <a:lstStyle/>
                    <a:p>
                      <a:r>
                        <a:rPr sz="1100" b="1" i="0">
                          <a:solidFill>
                            <a:srgbClr val="FFFFFF"/>
                          </a:solidFill>
                        </a:rPr>
                        <a:t>One server against six owners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An 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RAM 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32 needed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16 (96 in all)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Local NVMe 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394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Rectangle 27"/>
          <p:cNvSpPr/>
          <p:nvPr/>
        </p:nvSpPr>
        <p:spPr>
          <a:xfrm>
            <a:off x="5806440" y="1371600"/>
            <a:ext cx="5605272" cy="12618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5806440" y="1371600"/>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5961888" y="1435608"/>
            <a:ext cx="5367528" cy="1170431"/>
          </a:xfrm>
          <a:prstGeom prst="rect">
            <a:avLst/>
          </a:prstGeom>
          <a:noFill/>
        </p:spPr>
        <p:txBody>
          <a:bodyPr wrap="square" lIns="0" rIns="0" tIns="0" bIns="0" anchor="t">
            <a:spAutoFit/>
          </a:bodyPr>
          <a:lstStyle/>
          <a:p>
            <a:pPr algn="l">
              <a:spcAft>
                <a:spcPts val="300"/>
              </a:spcAft>
            </a:pPr>
            <a:r>
              <a:rPr sz="1300" b="1" i="0">
                <a:solidFill>
                  <a:srgbClr val="8A1626"/>
                </a:solidFill>
              </a:rPr>
              <a:t>Divided by the shards</a:t>
            </a:r>
          </a:p>
          <a:p>
            <a:pPr algn="l" marL="146304" indent="-146304">
              <a:spcAft>
                <a:spcPts val="200"/>
              </a:spcAft>
              <a:buClr>
                <a:srgbClr val="A51C30"/>
              </a:buClr>
              <a:buSzPct val="100000"/>
              <a:buFont typeface="Arial"/>
              <a:buChar char="▪"/>
            </a:pPr>
            <a:r>
              <a:rPr sz="1100" b="0" i="0">
                <a:solidFill>
                  <a:srgbClr val="1A1A1A"/>
                </a:solidFill>
              </a:rPr>
              <a:t>Page cache for the hot files: 78.4 GB × 2 replicas ÷ 6 owners = 26.1 GB</a:t>
            </a:r>
          </a:p>
          <a:p>
            <a:pPr algn="l" marL="146304" indent="-146304">
              <a:spcAft>
                <a:spcPts val="200"/>
              </a:spcAft>
              <a:buClr>
                <a:srgbClr val="A51C30"/>
              </a:buClr>
              <a:buSzPct val="100000"/>
              <a:buFont typeface="Arial"/>
              <a:buChar char="▪"/>
            </a:pPr>
            <a:r>
              <a:rPr sz="1100" b="0" i="0">
                <a:solidFill>
                  <a:srgbClr val="1A1A1A"/>
                </a:solidFill>
              </a:rPr>
              <a:t>A load's spill files: 44.2 × 1/3 = 14.7 GB; NVMe 1,183 × 1/3 = 394 GB</a:t>
            </a:r>
          </a:p>
        </p:txBody>
      </p:sp>
      <p:sp>
        <p:nvSpPr>
          <p:cNvPr id="31" name="Rectangle 30"/>
          <p:cNvSpPr/>
          <p:nvPr/>
        </p:nvSpPr>
        <p:spPr>
          <a:xfrm>
            <a:off x="5806440" y="2724912"/>
            <a:ext cx="5605272"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5806440" y="2724912"/>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961888" y="2788920"/>
            <a:ext cx="5367528" cy="1170431"/>
          </a:xfrm>
          <a:prstGeom prst="rect">
            <a:avLst/>
          </a:prstGeom>
          <a:noFill/>
        </p:spPr>
        <p:txBody>
          <a:bodyPr wrap="square" lIns="0" rIns="0" tIns="0" bIns="0" anchor="t">
            <a:spAutoFit/>
          </a:bodyPr>
          <a:lstStyle/>
          <a:p>
            <a:pPr algn="l">
              <a:spcAft>
                <a:spcPts val="300"/>
              </a:spcAft>
            </a:pPr>
            <a:r>
              <a:rPr sz="1300" b="1" i="0">
                <a:solidFill>
                  <a:srgbClr val="8A1626"/>
                </a:solidFill>
              </a:rPr>
              <a:t>Not divided: the heap</a:t>
            </a:r>
          </a:p>
          <a:p>
            <a:pPr algn="l" marL="146304" indent="-146304">
              <a:spcAft>
                <a:spcPts val="200"/>
              </a:spcAft>
              <a:buClr>
                <a:srgbClr val="A51C30"/>
              </a:buClr>
              <a:buSzPct val="100000"/>
              <a:buFont typeface="Arial"/>
              <a:buChar char="▪"/>
            </a:pPr>
            <a:r>
              <a:rPr sz="1100" b="0" i="0">
                <a:solidFill>
                  <a:srgbClr val="1A1A1A"/>
                </a:solidFill>
              </a:rPr>
              <a:t>Every member keeps the date's skeleton for all 2.3M positions (ids, columns, book and node aggregates), so it can answer any scope: about 2 GB an open date</a:t>
            </a:r>
          </a:p>
          <a:p>
            <a:pPr algn="l" marL="146304" indent="-146304">
              <a:spcAft>
                <a:spcPts val="200"/>
              </a:spcAft>
              <a:buClr>
                <a:srgbClr val="A51C30"/>
              </a:buClr>
              <a:buSzPct val="100000"/>
              <a:buFont typeface="Arial"/>
              <a:buChar char="▪"/>
            </a:pPr>
            <a:r>
              <a:rPr sz="1100" b="0" i="0">
                <a:solidFill>
                  <a:srgbClr val="1A1A1A"/>
                </a:solidFill>
              </a:rPr>
              <a:t>Two dates, the answer cache, × 1.5: 21.2 GB → 20 GB; about 16 GB for 1-day only</a:t>
            </a:r>
          </a:p>
        </p:txBody>
      </p:sp>
      <p:sp>
        <p:nvSpPr>
          <p:cNvPr id="34" name="Rectangle 33"/>
          <p:cNvSpPr/>
          <p:nvPr/>
        </p:nvSpPr>
        <p:spPr>
          <a:xfrm>
            <a:off x="5806440" y="4078224"/>
            <a:ext cx="56052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5806440" y="4078224"/>
            <a:ext cx="45720"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961888" y="4142232"/>
            <a:ext cx="5367528" cy="941831"/>
          </a:xfrm>
          <a:prstGeom prst="rect">
            <a:avLst/>
          </a:prstGeom>
          <a:noFill/>
        </p:spPr>
        <p:txBody>
          <a:bodyPr wrap="square" lIns="0" rIns="0" tIns="0" bIns="0" anchor="t">
            <a:spAutoFit/>
          </a:bodyPr>
          <a:lstStyle/>
          <a:p>
            <a:pPr algn="l">
              <a:spcAft>
                <a:spcPts val="300"/>
              </a:spcAft>
            </a:pPr>
            <a:r>
              <a:rPr sz="1300" b="1" i="0">
                <a:solidFill>
                  <a:srgbClr val="8A1626"/>
                </a:solidFill>
              </a:rPr>
              <a:t>An owner: 21 + 26 + 15 + 7 = 69 GB</a:t>
            </a:r>
          </a:p>
          <a:p>
            <a:pPr algn="l" marL="146304" indent="-146304">
              <a:spcAft>
                <a:spcPts val="200"/>
              </a:spcAft>
              <a:buClr>
                <a:srgbClr val="A51C30"/>
              </a:buClr>
              <a:buSzPct val="100000"/>
              <a:buFont typeface="Arial"/>
              <a:buChar char="▪"/>
            </a:pPr>
            <a:r>
              <a:rPr sz="1100" b="0" i="0">
                <a:solidFill>
                  <a:srgbClr val="1A1A1A"/>
                </a:solidFill>
              </a:rPr>
              <a:t>96 GB machines (64 GB for 1-day only)</a:t>
            </a:r>
          </a:p>
          <a:p>
            <a:pPr algn="l" marL="146304" indent="-146304">
              <a:spcAft>
                <a:spcPts val="200"/>
              </a:spcAft>
              <a:buClr>
                <a:srgbClr val="A51C30"/>
              </a:buClr>
              <a:buSzPct val="100000"/>
              <a:buFont typeface="Arial"/>
              <a:buChar char="▪"/>
            </a:pPr>
            <a:r>
              <a:rPr sz="1100" b="0" i="0">
                <a:solidFill>
                  <a:srgbClr val="1A1A1A"/>
                </a:solidFill>
              </a:rPr>
              <a:t>15,000 portfolios are light: memberships about 31 MB; each portfolio a sum of its rows, in parallel across shards</a:t>
            </a:r>
          </a:p>
        </p:txBody>
      </p:sp>
      <p:sp>
        <p:nvSpPr>
          <p:cNvPr id="37" name="Rectangle 36"/>
          <p:cNvSpPr/>
          <p:nvPr/>
        </p:nvSpPr>
        <p:spPr>
          <a:xfrm>
            <a:off x="777240" y="5029200"/>
            <a:ext cx="4754880" cy="320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Rounded Rectangle 37"/>
          <p:cNvSpPr/>
          <p:nvPr/>
        </p:nvSpPr>
        <p:spPr>
          <a:xfrm>
            <a:off x="777240" y="5093208"/>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39" name="TextBox 38"/>
          <p:cNvSpPr txBox="1"/>
          <p:nvPr/>
        </p:nvSpPr>
        <p:spPr>
          <a:xfrm>
            <a:off x="1604772" y="5029200"/>
            <a:ext cx="3927348" cy="320040"/>
          </a:xfrm>
          <a:prstGeom prst="rect">
            <a:avLst/>
          </a:prstGeom>
          <a:noFill/>
        </p:spPr>
        <p:txBody>
          <a:bodyPr wrap="square" lIns="0" rIns="0" tIns="0" bIns="0" anchor="ctr">
            <a:spAutoFit/>
          </a:bodyPr>
          <a:lstStyle/>
          <a:p>
            <a:pPr algn="l"/>
            <a:r>
              <a:rPr sz="1100" b="0" i="0">
                <a:solidFill>
                  <a:srgbClr val="1A1A1A"/>
                </a:solidFill>
              </a:rPr>
              <a:t>the nightly official run over 15,000 portfolios, spread over 6 owners: minutes</a:t>
            </a:r>
          </a:p>
        </p:txBody>
      </p:sp>
      <p:sp>
        <p:nvSpPr>
          <p:cNvPr id="40" name="Rectangle 39"/>
          <p:cNvSpPr/>
          <p:nvPr/>
        </p:nvSpPr>
        <p:spPr>
          <a:xfrm>
            <a:off x="777240" y="548640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48640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05840" y="5486400"/>
            <a:ext cx="10314432" cy="777240"/>
          </a:xfrm>
          <a:prstGeom prst="rect">
            <a:avLst/>
          </a:prstGeom>
          <a:noFill/>
        </p:spPr>
        <p:txBody>
          <a:bodyPr wrap="square" lIns="0" rIns="0" tIns="0" bIns="0" anchor="ctr">
            <a:spAutoFit/>
          </a:bodyPr>
          <a:lstStyle/>
          <a:p>
            <a:pPr algn="l"/>
            <a:r>
              <a:rPr sz="1150" b="1" i="0">
                <a:solidFill>
                  <a:srgbClr val="A51C30"/>
                </a:solidFill>
              </a:rPr>
              <a:t>Failure and growth.  </a:t>
            </a:r>
            <a:r>
              <a:rPr sz="1100" b="0" i="0">
                <a:solidFill>
                  <a:srgbClr val="1A1A1A"/>
                </a:solidFill>
              </a:rPr>
              <a:t>With 2 replicas any one server can fail and every scope still answers; replacing one moves about 1/6 of the rows. More positions add owners, not bigger machines. All figures ESTIMATED (× 23 from the measured 100K benchmark); next the 200K benchmark, then a 2.3M load on one real server.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CONCURRENCY AND THROUGHPUT</a:t>
            </a:r>
          </a:p>
        </p:txBody>
      </p:sp>
      <p:sp>
        <p:nvSpPr>
          <p:cNvPr id="3" name="Title 2"/>
          <p:cNvSpPr>
            <a:spLocks noGrp="1"/>
          </p:cNvSpPr>
          <p:nvPr>
            <p:ph type="title" idx="104"/>
          </p:nvPr>
        </p:nvSpPr>
        <p:spPr/>
        <p:txBody>
          <a:bodyPr/>
          <a:lstStyle/>
          <a:p>
            <a:r>
              <a:t>How many people at once: what risk users can expect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3422904" cy="7315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389888"/>
            <a:ext cx="2142744" cy="384048"/>
          </a:xfrm>
          <a:prstGeom prst="rect">
            <a:avLst/>
          </a:prstGeom>
          <a:noFill/>
        </p:spPr>
        <p:txBody>
          <a:bodyPr wrap="square" lIns="0" rIns="0" tIns="0" bIns="0" anchor="ctr">
            <a:spAutoFit/>
          </a:bodyPr>
          <a:lstStyle/>
          <a:p>
            <a:pPr algn="l"/>
            <a:r>
              <a:rPr sz="1900" b="1" i="0">
                <a:solidFill>
                  <a:srgbClr val="8A1626"/>
                </a:solidFill>
              </a:rPr>
              <a:t>300–500</a:t>
            </a:r>
          </a:p>
        </p:txBody>
      </p:sp>
      <p:sp>
        <p:nvSpPr>
          <p:cNvPr id="29" name="Rounded Rectangle 28"/>
          <p:cNvSpPr/>
          <p:nvPr/>
        </p:nvSpPr>
        <p:spPr>
          <a:xfrm>
            <a:off x="3354324" y="146304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30" name="TextBox 29"/>
          <p:cNvSpPr txBox="1"/>
          <p:nvPr/>
        </p:nvSpPr>
        <p:spPr>
          <a:xfrm>
            <a:off x="941832" y="1773936"/>
            <a:ext cx="3148584" cy="292608"/>
          </a:xfrm>
          <a:prstGeom prst="rect">
            <a:avLst/>
          </a:prstGeom>
          <a:noFill/>
        </p:spPr>
        <p:txBody>
          <a:bodyPr wrap="square" lIns="0" rIns="0" tIns="0" bIns="0" anchor="ctr">
            <a:spAutoFit/>
          </a:bodyPr>
          <a:lstStyle/>
          <a:p>
            <a:pPr algn="l"/>
            <a:r>
              <a:rPr sz="1100" b="0" i="0">
                <a:solidFill>
                  <a:srgbClr val="4A5058"/>
                </a:solidFill>
              </a:rPr>
              <a:t>people active at once (2,000–4,000 named)</a:t>
            </a:r>
          </a:p>
        </p:txBody>
      </p:sp>
      <p:sp>
        <p:nvSpPr>
          <p:cNvPr id="31" name="Rectangle 30"/>
          <p:cNvSpPr/>
          <p:nvPr/>
        </p:nvSpPr>
        <p:spPr>
          <a:xfrm>
            <a:off x="4383024" y="1371600"/>
            <a:ext cx="3422904" cy="7315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4383024" y="13716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4547616" y="1389888"/>
            <a:ext cx="2142744" cy="384048"/>
          </a:xfrm>
          <a:prstGeom prst="rect">
            <a:avLst/>
          </a:prstGeom>
          <a:noFill/>
        </p:spPr>
        <p:txBody>
          <a:bodyPr wrap="square" lIns="0" rIns="0" tIns="0" bIns="0" anchor="ctr">
            <a:spAutoFit/>
          </a:bodyPr>
          <a:lstStyle/>
          <a:p>
            <a:pPr algn="l"/>
            <a:r>
              <a:rPr sz="1900" b="1" i="0">
                <a:solidFill>
                  <a:srgbClr val="8A1626"/>
                </a:solidFill>
              </a:rPr>
              <a:t>300–600 req/s</a:t>
            </a:r>
          </a:p>
        </p:txBody>
      </p:sp>
      <p:sp>
        <p:nvSpPr>
          <p:cNvPr id="34" name="Rounded Rectangle 33"/>
          <p:cNvSpPr/>
          <p:nvPr/>
        </p:nvSpPr>
        <p:spPr>
          <a:xfrm>
            <a:off x="6960108" y="146304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35" name="TextBox 34"/>
          <p:cNvSpPr txBox="1"/>
          <p:nvPr/>
        </p:nvSpPr>
        <p:spPr>
          <a:xfrm>
            <a:off x="4547616" y="1773936"/>
            <a:ext cx="3148584" cy="292608"/>
          </a:xfrm>
          <a:prstGeom prst="rect">
            <a:avLst/>
          </a:prstGeom>
          <a:noFill/>
        </p:spPr>
        <p:txBody>
          <a:bodyPr wrap="square" lIns="0" rIns="0" tIns="0" bIns="0" anchor="ctr">
            <a:spAutoFit/>
          </a:bodyPr>
          <a:lstStyle/>
          <a:p>
            <a:pPr algn="l"/>
            <a:r>
              <a:rPr sz="1100" b="0" i="0">
                <a:solidFill>
                  <a:srgbClr val="4A5058"/>
                </a:solidFill>
              </a:rPr>
              <a:t>sustained to peak, the 6 + 2 + 2 cluster</a:t>
            </a:r>
          </a:p>
        </p:txBody>
      </p:sp>
      <p:sp>
        <p:nvSpPr>
          <p:cNvPr id="36" name="Rectangle 35"/>
          <p:cNvSpPr/>
          <p:nvPr/>
        </p:nvSpPr>
        <p:spPr>
          <a:xfrm>
            <a:off x="7988808" y="1371600"/>
            <a:ext cx="3422904" cy="7315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7988808" y="13716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153400" y="1389888"/>
            <a:ext cx="2142744" cy="384048"/>
          </a:xfrm>
          <a:prstGeom prst="rect">
            <a:avLst/>
          </a:prstGeom>
          <a:noFill/>
        </p:spPr>
        <p:txBody>
          <a:bodyPr wrap="square" lIns="0" rIns="0" tIns="0" bIns="0" anchor="ctr">
            <a:spAutoFit/>
          </a:bodyPr>
          <a:lstStyle/>
          <a:p>
            <a:pPr algn="l"/>
            <a:r>
              <a:rPr sz="1900" b="1" i="0">
                <a:solidFill>
                  <a:srgbClr val="8A1626"/>
                </a:solidFill>
              </a:rPr>
              <a:t>The console</a:t>
            </a:r>
          </a:p>
        </p:txBody>
      </p:sp>
      <p:sp>
        <p:nvSpPr>
          <p:cNvPr id="39" name="Rounded Rectangle 38"/>
          <p:cNvSpPr/>
          <p:nvPr/>
        </p:nvSpPr>
        <p:spPr>
          <a:xfrm>
            <a:off x="10565892" y="146304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40" name="TextBox 39"/>
          <p:cNvSpPr txBox="1"/>
          <p:nvPr/>
        </p:nvSpPr>
        <p:spPr>
          <a:xfrm>
            <a:off x="8153400" y="1773936"/>
            <a:ext cx="3148584" cy="292608"/>
          </a:xfrm>
          <a:prstGeom prst="rect">
            <a:avLst/>
          </a:prstGeom>
          <a:noFill/>
        </p:spPr>
        <p:txBody>
          <a:bodyPr wrap="square" lIns="0" rIns="0" tIns="0" bIns="0" anchor="ctr">
            <a:spAutoFit/>
          </a:bodyPr>
          <a:lstStyle/>
          <a:p>
            <a:pPr algn="l"/>
            <a:r>
              <a:rPr sz="1100" b="0" i="0">
                <a:solidFill>
                  <a:srgbClr val="4A5058"/>
                </a:solidFill>
              </a:rPr>
              <a:t>is the first limit, not the VaR servers</a:t>
            </a:r>
          </a:p>
        </p:txBody>
      </p:sp>
      <p:sp>
        <p:nvSpPr>
          <p:cNvPr id="41" name="TextBox 40"/>
          <p:cNvSpPr txBox="1"/>
          <p:nvPr/>
        </p:nvSpPr>
        <p:spPr>
          <a:xfrm>
            <a:off x="777240" y="2194560"/>
            <a:ext cx="4709160" cy="274320"/>
          </a:xfrm>
          <a:prstGeom prst="rect">
            <a:avLst/>
          </a:prstGeom>
          <a:noFill/>
        </p:spPr>
        <p:txBody>
          <a:bodyPr wrap="square" lIns="0" rIns="0" tIns="0" bIns="0" anchor="ctr">
            <a:spAutoFit/>
          </a:bodyPr>
          <a:lstStyle/>
          <a:p>
            <a:pPr algn="l"/>
            <a:r>
              <a:rPr sz="1200" b="1" i="0">
                <a:solidFill>
                  <a:srgbClr val="A51C30"/>
                </a:solidFill>
              </a:rPr>
              <a:t>Measured  </a:t>
            </a:r>
            <a:r>
              <a:rPr sz="1050" b="0" i="0">
                <a:solidFill>
                  <a:srgbClr val="4A5058"/>
                </a:solidFill>
              </a:rPr>
              <a:t>one 24-core server, 8 GB heap, a 1.16M-trade lake</a:t>
            </a:r>
          </a:p>
        </p:txBody>
      </p:sp>
      <p:graphicFrame>
        <p:nvGraphicFramePr>
          <p:cNvPr id="42" name="Table 41"/>
          <p:cNvGraphicFramePr>
            <a:graphicFrameLocks noGrp="1"/>
          </p:cNvGraphicFramePr>
          <p:nvPr/>
        </p:nvGraphicFramePr>
        <p:xfrm>
          <a:off x="777240" y="2487168"/>
          <a:ext cx="4709160" cy="1920240"/>
        </p:xfrm>
        <a:graphic>
          <a:graphicData uri="http://schemas.openxmlformats.org/drawingml/2006/table">
            <a:tbl>
              <a:tblPr firstRow="0" bandRow="0">
                <a:tableStyleId>{5940675A-B579-460E-94D1-54222C63F5DA}</a:tableStyleId>
              </a:tblPr>
              <a:tblGrid>
                <a:gridCol w="2606040"/>
                <a:gridCol w="2103120"/>
              </a:tblGrid>
              <a:tr h="274320">
                <a:tc>
                  <a:txBody>
                    <a:bodyPr wrap="square"/>
                    <a:lstStyle/>
                    <a:p>
                      <a:r>
                        <a:rPr sz="1050" b="1" i="0">
                          <a:solidFill>
                            <a:srgbClr val="FFFFFF"/>
                          </a:solidFill>
                        </a:rPr>
                        <a:t>What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Mixed reads, 100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140 req/s, 0 failures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Single trade p95, 10 / 50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0.08 s / ≈ 1 s; then queues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One console, 50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69 req/s; search ≈ 4 s (open)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VaR of a node, one user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under 1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Bank minus a desk · 50K-position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 ms · 52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Whole-bank filter, 1M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3" name="TextBox 42"/>
          <p:cNvSpPr txBox="1"/>
          <p:nvPr/>
        </p:nvSpPr>
        <p:spPr>
          <a:xfrm>
            <a:off x="777240" y="4443984"/>
            <a:ext cx="4709160" cy="256032"/>
          </a:xfrm>
          <a:prstGeom prst="rect">
            <a:avLst/>
          </a:prstGeom>
          <a:noFill/>
        </p:spPr>
        <p:txBody>
          <a:bodyPr wrap="square" lIns="0" rIns="0" tIns="0" bIns="0" anchor="ctr">
            <a:spAutoFit/>
          </a:bodyPr>
          <a:lstStyle/>
          <a:p>
            <a:pPr algn="l"/>
            <a:r>
              <a:rPr sz="1050" b="0" i="1">
                <a:solidFill>
                  <a:srgbClr val="4A5058"/>
                </a:solidFill>
              </a:rPr>
              <a:t>Mix: 80% trades, 10% counterparty-trade pages, 5% netting sets, 5% searches.</a:t>
            </a:r>
          </a:p>
        </p:txBody>
      </p:sp>
      <p:sp>
        <p:nvSpPr>
          <p:cNvPr id="44" name="TextBox 43"/>
          <p:cNvSpPr txBox="1"/>
          <p:nvPr/>
        </p:nvSpPr>
        <p:spPr>
          <a:xfrm>
            <a:off x="5715000" y="2194560"/>
            <a:ext cx="5696712" cy="274320"/>
          </a:xfrm>
          <a:prstGeom prst="rect">
            <a:avLst/>
          </a:prstGeom>
          <a:noFill/>
        </p:spPr>
        <p:txBody>
          <a:bodyPr wrap="square" lIns="0" rIns="0" tIns="0" bIns="0" anchor="ctr">
            <a:spAutoFit/>
          </a:bodyPr>
          <a:lstStyle/>
          <a:p>
            <a:pPr algn="l"/>
            <a:r>
              <a:rPr sz="1200" b="1" i="0">
                <a:solidFill>
                  <a:srgbClr val="A51C30"/>
                </a:solidFill>
              </a:rPr>
              <a:t>Estimated for the cluster  </a:t>
            </a:r>
            <a:r>
              <a:rPr sz="1050" b="0" i="0">
                <a:solidFill>
                  <a:srgbClr val="4A5058"/>
                </a:solidFill>
              </a:rPr>
              <a:t>8 servers, each answers any scope</a:t>
            </a:r>
          </a:p>
        </p:txBody>
      </p:sp>
      <p:graphicFrame>
        <p:nvGraphicFramePr>
          <p:cNvPr id="45" name="Table 44"/>
          <p:cNvGraphicFramePr>
            <a:graphicFrameLocks noGrp="1"/>
          </p:cNvGraphicFramePr>
          <p:nvPr/>
        </p:nvGraphicFramePr>
        <p:xfrm>
          <a:off x="5715000" y="2487168"/>
          <a:ext cx="5696711" cy="2304288"/>
        </p:xfrm>
        <a:graphic>
          <a:graphicData uri="http://schemas.openxmlformats.org/drawingml/2006/table">
            <a:tbl>
              <a:tblPr firstRow="0" bandRow="0">
                <a:tableStyleId>{5940675A-B579-460E-94D1-54222C63F5DA}</a:tableStyleId>
              </a:tblPr>
              <a:tblGrid>
                <a:gridCol w="1325880"/>
                <a:gridCol w="1874519"/>
                <a:gridCol w="2496312"/>
              </a:tblGrid>
              <a:tr h="384048">
                <a:tc>
                  <a:txBody>
                    <a:bodyPr wrap="square"/>
                    <a:lstStyle/>
                    <a:p>
                      <a:r>
                        <a:rPr sz="1050" b="1" i="0">
                          <a:solidFill>
                            <a:srgbClr val="FFFFFF"/>
                          </a:solidFill>
                        </a:rPr>
                        <a:t>Layer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Servers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~600 req/s peak, ~300 sustained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140 measured on 24 cores → ~95 a 16-vCPU, ~45 an 8-vCPU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VaR queries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thousands/s for nodes; ~10–25/s whole-bank filters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nodes from totals; a filter reads ~4.7 GB over 6 owners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Consoles (2 × 4 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~100–140 page loads/s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69 measured a console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Active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~300–500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 page every 10–30 s, 3–5 calls: 0.2–0.5 req/s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Named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~2,000–4,000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10–20% active at once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6" name="Rectangle 45"/>
          <p:cNvSpPr/>
          <p:nvPr/>
        </p:nvSpPr>
        <p:spPr>
          <a:xfrm>
            <a:off x="777240" y="4754880"/>
            <a:ext cx="10634472" cy="7863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914400" y="4791456"/>
            <a:ext cx="10360152" cy="731520"/>
          </a:xfrm>
          <a:prstGeom prst="rect">
            <a:avLst/>
          </a:prstGeom>
          <a:noFill/>
        </p:spPr>
        <p:txBody>
          <a:bodyPr wrap="square" lIns="0" rIns="0" tIns="0" bIns="0" anchor="ctr">
            <a:spAutoFit/>
          </a:bodyPr>
          <a:lstStyle/>
          <a:p>
            <a:pPr algn="l"/>
            <a:r>
              <a:rPr sz="1150" b="1" i="0">
                <a:solidFill>
                  <a:srgbClr val="A51C30"/>
                </a:solidFill>
              </a:rPr>
              <a:t>What limits it first  </a:t>
            </a:r>
            <a:r>
              <a:rPr sz="1100" b="0" i="0">
                <a:solidFill>
                  <a:srgbClr val="1A1A1A"/>
                </a:solidFill>
              </a:rPr>
              <a:t>1  the consoles: add more behind the load balancer (sticky sessions for live tabs); 4 handle about double.  2  many whole-bank ad-hoc filters at once, the morning risk meeting; node and hierarchy questions are cheap.  3  live tabs and streams: each open live view holds a connection.</a:t>
            </a:r>
          </a:p>
        </p:txBody>
      </p:sp>
      <p:sp>
        <p:nvSpPr>
          <p:cNvPr id="48" name="Rectangle 47"/>
          <p:cNvSpPr/>
          <p:nvPr/>
        </p:nvSpPr>
        <p:spPr>
          <a:xfrm>
            <a:off x="777240" y="5614416"/>
            <a:ext cx="10634472"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Rectangle 48"/>
          <p:cNvSpPr/>
          <p:nvPr/>
        </p:nvSpPr>
        <p:spPr>
          <a:xfrm>
            <a:off x="777240" y="5614416"/>
            <a:ext cx="54864"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1005840" y="5614416"/>
            <a:ext cx="10314432" cy="640080"/>
          </a:xfrm>
          <a:prstGeom prst="rect">
            <a:avLst/>
          </a:prstGeom>
          <a:noFill/>
        </p:spPr>
        <p:txBody>
          <a:bodyPr wrap="square" lIns="0" rIns="0" tIns="0" bIns="0" anchor="ctr">
            <a:spAutoFit/>
          </a:bodyPr>
          <a:lstStyle/>
          <a:p>
            <a:pPr algn="l"/>
            <a:r>
              <a:rPr sz="1150" b="1" i="0">
                <a:solidFill>
                  <a:srgbClr val="A51C30"/>
                </a:solidFill>
              </a:rPr>
              <a:t>Not measured yet: VaR under many users.  </a:t>
            </a:r>
            <a:r>
              <a:rPr sz="1100" b="0" i="0">
                <a:solidFill>
                  <a:srgbClr val="1A1A1A"/>
                </a:solidFill>
              </a:rPr>
              <a:t>Next: a concurrency test in the 200K benchmark (50, 100 and 200 users, a realistic VaR mix, against the sharded cluster), then again at 2.3M on a bank server.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05</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Storage: Delta Lake or Iceberg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42900"/>
          </a:xfrm>
          <a:prstGeom prst="rect">
            <a:avLst/>
          </a:prstGeom>
          <a:noFill/>
        </p:spPr>
        <p:txBody>
          <a:bodyPr wrap="square" lIns="0" rIns="0" tIns="0" bIns="0" anchor="ctr">
            <a:spAutoFit/>
          </a:bodyPr>
          <a:lstStyle/>
          <a:p>
            <a:pPr algn="l"/>
            <a:r>
              <a:rPr sz="1150" b="1" i="0">
                <a:solidFill>
                  <a:srgbClr val="8A1626"/>
                </a:solidFill>
              </a:rPr>
              <a:t>Partition by business_date; 7 years of time travel</a:t>
            </a:r>
          </a:p>
          <a:p>
            <a:pPr algn="l"/>
            <a:r>
              <a:rPr sz="1050" b="0" i="0">
                <a:solidFill>
                  <a:srgbClr val="4A5058"/>
                </a:solidFill>
              </a:rPr>
              <a:t>full run replaces a date; restatement = new commit</a:t>
            </a:r>
          </a:p>
        </p:txBody>
      </p:sp>
      <p:sp>
        <p:nvSpPr>
          <p:cNvPr id="28" name="Rectangle 27"/>
          <p:cNvSpPr/>
          <p:nvPr/>
        </p:nvSpPr>
        <p:spPr>
          <a:xfrm>
            <a:off x="777240" y="1787652"/>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68680" y="1787652"/>
            <a:ext cx="4800600" cy="342900"/>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0" name="Rectangle 29"/>
          <p:cNvSpPr/>
          <p:nvPr/>
        </p:nvSpPr>
        <p:spPr>
          <a:xfrm>
            <a:off x="777240" y="2157984"/>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68680" y="2157984"/>
            <a:ext cx="4800600" cy="342900"/>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2" name="Rectangle 31"/>
          <p:cNvSpPr/>
          <p:nvPr/>
        </p:nvSpPr>
        <p:spPr>
          <a:xfrm>
            <a:off x="777240" y="2528316"/>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528316"/>
            <a:ext cx="4800600" cy="342900"/>
          </a:xfrm>
          <a:prstGeom prst="rect">
            <a:avLst/>
          </a:prstGeom>
          <a:noFill/>
        </p:spPr>
        <p:txBody>
          <a:bodyPr wrap="square" lIns="0" rIns="0" tIns="0" bIns="0" anchor="ctr">
            <a:spAutoFit/>
          </a:bodyPr>
          <a:lstStyle/>
          <a:p>
            <a:pPr algn="l"/>
            <a:r>
              <a:rPr sz="1150" b="1" i="0">
                <a:solidFill>
                  <a:srgbClr val="8A1626"/>
                </a:solidFill>
              </a:rPr>
              <a:t>Sorted by LE and desk; ZSTD + byte-stream split</a:t>
            </a:r>
          </a:p>
          <a:p>
            <a:pPr algn="l"/>
            <a:r>
              <a:rPr sz="1050" b="0" i="0">
                <a:solidFill>
                  <a:srgbClr val="4A5058"/>
                </a:solidFill>
              </a:rPr>
              <a:t>the parallel loader: shard-aligned files, a node a run of rows</a:t>
            </a:r>
          </a:p>
        </p:txBody>
      </p:sp>
      <p:sp>
        <p:nvSpPr>
          <p:cNvPr id="34" name="Rectangle 33"/>
          <p:cNvSpPr/>
          <p:nvPr/>
        </p:nvSpPr>
        <p:spPr>
          <a:xfrm>
            <a:off x="777240" y="2898648"/>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68680" y="2898648"/>
            <a:ext cx="4800600" cy="342900"/>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36" name="Rounded Rectangle 35"/>
          <p:cNvSpPr/>
          <p:nvPr/>
        </p:nvSpPr>
        <p:spPr>
          <a:xfrm>
            <a:off x="6007608" y="296951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37" name="Rectangle 36"/>
          <p:cNvSpPr/>
          <p:nvPr/>
        </p:nvSpPr>
        <p:spPr>
          <a:xfrm>
            <a:off x="777240" y="3268980"/>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268980"/>
            <a:ext cx="4800600" cy="342900"/>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2.3M rows</a:t>
            </a:r>
          </a:p>
        </p:txBody>
      </p:sp>
      <p:sp>
        <p:nvSpPr>
          <p:cNvPr id="39" name="Rounded Rectangle 38"/>
          <p:cNvSpPr/>
          <p:nvPr/>
        </p:nvSpPr>
        <p:spPr>
          <a:xfrm>
            <a:off x="6007608" y="333984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0" name="Rectangle 39"/>
          <p:cNvSpPr/>
          <p:nvPr/>
        </p:nvSpPr>
        <p:spPr>
          <a:xfrm>
            <a:off x="777240" y="3639312"/>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868680" y="3639312"/>
            <a:ext cx="4800600" cy="342900"/>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2" name="Rounded Rectangle 41"/>
          <p:cNvSpPr/>
          <p:nvPr/>
        </p:nvSpPr>
        <p:spPr>
          <a:xfrm>
            <a:off x="6007608" y="371017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3" name="Rectangle 42"/>
          <p:cNvSpPr/>
          <p:nvPr/>
        </p:nvSpPr>
        <p:spPr>
          <a:xfrm>
            <a:off x="777240" y="4009644"/>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868680" y="4009644"/>
            <a:ext cx="4800600" cy="342900"/>
          </a:xfrm>
          <a:prstGeom prst="rect">
            <a:avLst/>
          </a:prstGeom>
          <a:noFill/>
        </p:spPr>
        <p:txBody>
          <a:bodyPr wrap="square" lIns="0" rIns="0" tIns="0" bIns="0" anchor="ctr">
            <a:spAutoFit/>
          </a:bodyPr>
          <a:lstStyle/>
          <a:p>
            <a:pPr algn="l"/>
            <a:r>
              <a:rPr sz="1150" b="1" i="0">
                <a:solidFill>
                  <a:srgbClr val="8A1626"/>
                </a:solidFill>
              </a:rPr>
              <a:t>Delta inputs on S3 (reading)</a:t>
            </a:r>
          </a:p>
          <a:p>
            <a:pPr algn="l"/>
            <a:r>
              <a:rPr sz="1050" b="0" i="0">
                <a:solidFill>
                  <a:srgbClr val="4A5058"/>
                </a:solidFill>
              </a:rPr>
              <a:t>the Delta plugin reads s3:// tables</a:t>
            </a:r>
          </a:p>
        </p:txBody>
      </p:sp>
      <p:sp>
        <p:nvSpPr>
          <p:cNvPr id="45" name="Rectangle 44"/>
          <p:cNvSpPr/>
          <p:nvPr/>
        </p:nvSpPr>
        <p:spPr>
          <a:xfrm>
            <a:off x="777240" y="4379976"/>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868680" y="4379976"/>
            <a:ext cx="4800600" cy="342900"/>
          </a:xfrm>
          <a:prstGeom prst="rect">
            <a:avLst/>
          </a:prstGeom>
          <a:noFill/>
        </p:spPr>
        <p:txBody>
          <a:bodyPr wrap="square" lIns="0" rIns="0" tIns="0" bIns="0" anchor="ctr">
            <a:spAutoFit/>
          </a:bodyPr>
          <a:lstStyle/>
          <a:p>
            <a:pPr algn="l"/>
            <a:r>
              <a:rPr sz="1150" b="1" i="0">
                <a:solidFill>
                  <a:srgbClr val="8A1626"/>
                </a:solidFill>
              </a:rPr>
              <a:t>Iceberg for VaR, intraday and exposure</a:t>
            </a:r>
          </a:p>
          <a:p>
            <a:pPr algn="l"/>
            <a:r>
              <a:rPr sz="1050" b="0" i="0">
                <a:solidFill>
                  <a:srgbClr val="4A5058"/>
                </a:solidFill>
              </a:rPr>
              <a:t>equal to Delta to the cent; Delta the default</a:t>
            </a:r>
          </a:p>
        </p:txBody>
      </p:sp>
      <p:sp>
        <p:nvSpPr>
          <p:cNvPr id="47" name="Rectangle 46"/>
          <p:cNvSpPr/>
          <p:nvPr/>
        </p:nvSpPr>
        <p:spPr>
          <a:xfrm>
            <a:off x="777240" y="4750308"/>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750308"/>
            <a:ext cx="4800600" cy="342900"/>
          </a:xfrm>
          <a:prstGeom prst="rect">
            <a:avLst/>
          </a:prstGeom>
          <a:noFill/>
        </p:spPr>
        <p:txBody>
          <a:bodyPr wrap="square" lIns="0" rIns="0" tIns="0" bIns="0" anchor="ctr">
            <a:spAutoFit/>
          </a:bodyPr>
          <a:lstStyle/>
          <a:p>
            <a:pPr algn="l"/>
            <a:r>
              <a:rPr sz="1150" b="1" i="0">
                <a:solidFill>
                  <a:srgbClr val="8A1626"/>
                </a:solidFill>
              </a:rPr>
              <a:t>Official results to Delta or Iceberg, folder or S3</a:t>
            </a:r>
          </a:p>
          <a:p>
            <a:pPr algn="l"/>
            <a:r>
              <a:rPr sz="1050" b="0" i="0">
                <a:solidFill>
                  <a:srgbClr val="4A5058"/>
                </a:solidFill>
              </a:rPr>
              <a:t>append-only; BI's readers follow the format</a:t>
            </a:r>
          </a:p>
        </p:txBody>
      </p:sp>
      <p:sp>
        <p:nvSpPr>
          <p:cNvPr id="49" name="Rectangle 48"/>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0" name="Connector 49"/>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7132319" y="1883664"/>
            <a:ext cx="418795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cxnSp>
        <p:nvCxnSpPr>
          <p:cNvPr id="53" name="Connector 52"/>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56" name="Rectangle 55"/>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 in a fixed order</a:t>
            </a:r>
          </a:p>
        </p:txBody>
      </p:sp>
      <p:sp>
        <p:nvSpPr>
          <p:cNvPr id="58" name="Rectangle 57"/>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59" name="Connector 58"/>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1" name="Connector 60"/>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63" name="Connector 62"/>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150607" y="3986784"/>
            <a:ext cx="3108960" cy="237744"/>
          </a:xfrm>
          <a:prstGeom prst="rect">
            <a:avLst/>
          </a:prstGeom>
          <a:noFill/>
        </p:spPr>
        <p:txBody>
          <a:bodyPr wrap="square" lIns="0" rIns="0" tIns="0" bIns="0" anchor="ctr">
            <a:spAutoFit/>
          </a:bodyPr>
          <a:lstStyle/>
          <a:p>
            <a:pPr algn="l"/>
            <a:r>
              <a:rPr sz="1000" b="0" i="1">
                <a:solidFill>
                  <a:srgbClr val="4A5058"/>
                </a:solidFill>
              </a:rPr>
              <a:t>map-reduce over vectors, 2 replicas a shard</a:t>
            </a:r>
          </a:p>
        </p:txBody>
      </p:sp>
      <p:sp>
        <p:nvSpPr>
          <p:cNvPr id="65" name="Rectangle 64"/>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TextBox 65"/>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67" name="Rectangle 66"/>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69" name="Rounded Rectangle 68"/>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70" name="Connector 69"/>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Rectangle 70"/>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or Iceberg (local, EFS or S3) · 7 years</a:t>
            </a:r>
          </a:p>
        </p:txBody>
      </p:sp>
      <p:sp>
        <p:nvSpPr>
          <p:cNvPr id="72" name="Rectangle 71"/>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Rectangle 72"/>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2.3M positions and 15,000 portfolios, still to do</a:t>
            </a:r>
          </a:p>
        </p:txBody>
      </p:sp>
      <p:sp>
        <p:nvSpPr>
          <p:cNvPr id="75" name="TextBox 74"/>
          <p:cNvSpPr txBox="1"/>
          <p:nvPr/>
        </p:nvSpPr>
        <p:spPr>
          <a:xfrm>
            <a:off x="9784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1  The 200K benchmark, then a 2.3M load on a real server</a:t>
            </a:r>
          </a:p>
          <a:p>
            <a:pPr algn="l">
              <a:spcAft>
                <a:spcPts val="0"/>
              </a:spcAft>
            </a:pPr>
            <a:r>
              <a:rPr sz="1100" b="0" i="0">
                <a:solidFill>
                  <a:srgbClr val="1A1A1A"/>
                </a:solidFill>
              </a:rPr>
              <a:t>2  Clustering by book and portfolio (Z-order)</a:t>
            </a:r>
          </a:p>
          <a:p>
            <a:pPr algn="l">
              <a:spcAft>
                <a:spcPts val="0"/>
              </a:spcAft>
            </a:pPr>
            <a:r>
              <a:rPr sz="1100" b="0" i="0">
                <a:solidFill>
                  <a:srgbClr val="1A1A1A"/>
                </a:solidFill>
              </a:rPr>
              <a:t>3  The 15,000 portfolio vectors built in a batch</a:t>
            </a:r>
          </a:p>
        </p:txBody>
      </p:sp>
      <p:sp>
        <p:nvSpPr>
          <p:cNvPr id="76" name="TextBox 75"/>
          <p:cNvSpPr txBox="1"/>
          <p:nvPr/>
        </p:nvSpPr>
        <p:spPr>
          <a:xfrm>
            <a:off x="62362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4  Several consoles without sticky sessions</a:t>
            </a:r>
          </a:p>
          <a:p>
            <a:pPr algn="l">
              <a:spcAft>
                <a:spcPts val="0"/>
              </a:spcAft>
            </a:pPr>
            <a:r>
              <a:rPr sz="1100" b="0" i="0">
                <a:solidFill>
                  <a:srgbClr val="1A1A1A"/>
                </a:solidFill>
              </a:rPr>
              <a:t>5  The Glue and S3 Tables runs on AWS</a:t>
            </a:r>
          </a:p>
          <a:p>
            <a:pPr algn="l">
              <a:spcAft>
                <a:spcPts val="0"/>
              </a:spcAft>
            </a:pPr>
            <a:r>
              <a:rPr sz="1100" b="0" i="0">
                <a:solidFill>
                  <a:srgbClr val="1A1A1A"/>
                </a:solidFill>
              </a:rPr>
              <a:t>Built: VaR sharding, the sorted parallel loader, Iceberg, results to S3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OR ICEBERG</a:t>
            </a:r>
          </a:p>
        </p:txBody>
      </p:sp>
      <p:sp>
        <p:nvSpPr>
          <p:cNvPr id="3" name="Title 2"/>
          <p:cNvSpPr>
            <a:spLocks noGrp="1"/>
          </p:cNvSpPr>
          <p:nvPr>
            <p:ph type="title" idx="104"/>
          </p:nvPr>
        </p:nvSpPr>
        <p:spPr/>
        <p:txBody>
          <a:bodyPr/>
          <a:lstStyle/>
          <a:p>
            <a:r>
              <a:t>Delta Lake or Iceberg for VaR: performance and recommendation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6035040" cy="8046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54864"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78408" y="1417320"/>
            <a:ext cx="5760720" cy="804672"/>
          </a:xfrm>
          <a:prstGeom prst="rect">
            <a:avLst/>
          </a:prstGeom>
          <a:noFill/>
        </p:spPr>
        <p:txBody>
          <a:bodyPr wrap="square" lIns="0" rIns="0" tIns="0" bIns="0" anchor="ctr">
            <a:spAutoFit/>
          </a:bodyPr>
          <a:lstStyle/>
          <a:p>
            <a:pPr algn="l"/>
            <a:r>
              <a:rPr sz="1250" b="1" i="0">
                <a:solidFill>
                  <a:srgbClr val="A51C30"/>
                </a:solidFill>
              </a:rPr>
              <a:t>VaR answers are format-independent.  </a:t>
            </a:r>
            <a:r>
              <a:rPr sz="1150" b="0" i="0">
                <a:solidFill>
                  <a:srgbClr val="1A1A1A"/>
                </a:solidFill>
              </a:rPr>
              <a:t>Once a date is loaded, the engine computes from its memory-mapped hot files; the lake format matters only for loading, intraday commits, history and other engines.</a:t>
            </a:r>
          </a:p>
        </p:txBody>
      </p:sp>
      <p:sp>
        <p:nvSpPr>
          <p:cNvPr id="29" name="Rectangle 28"/>
          <p:cNvSpPr/>
          <p:nvPr/>
        </p:nvSpPr>
        <p:spPr>
          <a:xfrm>
            <a:off x="6995159"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995159"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159751" y="1444752"/>
            <a:ext cx="1888236" cy="384048"/>
          </a:xfrm>
          <a:prstGeom prst="rect">
            <a:avLst/>
          </a:prstGeom>
          <a:noFill/>
        </p:spPr>
        <p:txBody>
          <a:bodyPr wrap="square" lIns="0" rIns="0" tIns="0" bIns="0" anchor="ctr">
            <a:spAutoFit/>
          </a:bodyPr>
          <a:lstStyle/>
          <a:p>
            <a:pPr algn="l"/>
            <a:r>
              <a:rPr sz="2000" b="1" i="0">
                <a:solidFill>
                  <a:srgbClr val="8A1626"/>
                </a:solidFill>
              </a:rPr>
              <a:t>≈ 0.5 ms</a:t>
            </a:r>
          </a:p>
        </p:txBody>
      </p:sp>
      <p:sp>
        <p:nvSpPr>
          <p:cNvPr id="32" name="TextBox 31"/>
          <p:cNvSpPr txBox="1"/>
          <p:nvPr/>
        </p:nvSpPr>
        <p:spPr>
          <a:xfrm>
            <a:off x="7159751" y="1828800"/>
            <a:ext cx="1888236" cy="365760"/>
          </a:xfrm>
          <a:prstGeom prst="rect">
            <a:avLst/>
          </a:prstGeom>
          <a:noFill/>
        </p:spPr>
        <p:txBody>
          <a:bodyPr wrap="square" lIns="0" rIns="0" tIns="0" bIns="0" anchor="t">
            <a:spAutoFit/>
          </a:bodyPr>
          <a:lstStyle/>
          <a:p>
            <a:pPr algn="l"/>
            <a:r>
              <a:rPr sz="1050" b="0" i="0">
                <a:solidFill>
                  <a:srgbClr val="4A5058"/>
                </a:solidFill>
              </a:rPr>
              <a:t>a node's VaR and ES · measured</a:t>
            </a:r>
          </a:p>
        </p:txBody>
      </p:sp>
      <p:sp>
        <p:nvSpPr>
          <p:cNvPr id="33" name="Rectangle 32"/>
          <p:cNvSpPr/>
          <p:nvPr/>
        </p:nvSpPr>
        <p:spPr>
          <a:xfrm>
            <a:off x="9294876"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9294876"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59467" y="1444752"/>
            <a:ext cx="1888236" cy="384048"/>
          </a:xfrm>
          <a:prstGeom prst="rect">
            <a:avLst/>
          </a:prstGeom>
          <a:noFill/>
        </p:spPr>
        <p:txBody>
          <a:bodyPr wrap="square" lIns="0" rIns="0" tIns="0" bIns="0" anchor="ctr">
            <a:spAutoFit/>
          </a:bodyPr>
          <a:lstStyle/>
          <a:p>
            <a:pPr algn="l"/>
            <a:r>
              <a:rPr sz="2000" b="1" i="0">
                <a:solidFill>
                  <a:srgbClr val="8A1626"/>
                </a:solidFill>
              </a:rPr>
              <a:t>≈ 80 ms</a:t>
            </a:r>
          </a:p>
        </p:txBody>
      </p:sp>
      <p:sp>
        <p:nvSpPr>
          <p:cNvPr id="36" name="TextBox 35"/>
          <p:cNvSpPr txBox="1"/>
          <p:nvPr/>
        </p:nvSpPr>
        <p:spPr>
          <a:xfrm>
            <a:off x="9459467" y="1828800"/>
            <a:ext cx="1888236" cy="365760"/>
          </a:xfrm>
          <a:prstGeom prst="rect">
            <a:avLst/>
          </a:prstGeom>
          <a:noFill/>
        </p:spPr>
        <p:txBody>
          <a:bodyPr wrap="square" lIns="0" rIns="0" tIns="0" bIns="0" anchor="t">
            <a:spAutoFit/>
          </a:bodyPr>
          <a:lstStyle/>
          <a:p>
            <a:pPr algn="l"/>
            <a:r>
              <a:rPr sz="1050" b="0" i="0">
                <a:solidFill>
                  <a:srgbClr val="4A5058"/>
                </a:solidFill>
              </a:rPr>
              <a:t>the whole bank at 2.3M positions · estimated</a:t>
            </a:r>
          </a:p>
        </p:txBody>
      </p:sp>
      <p:graphicFrame>
        <p:nvGraphicFramePr>
          <p:cNvPr id="37" name="Table 36"/>
          <p:cNvGraphicFramePr>
            <a:graphicFrameLocks noGrp="1"/>
          </p:cNvGraphicFramePr>
          <p:nvPr/>
        </p:nvGraphicFramePr>
        <p:xfrm>
          <a:off x="777240" y="2331720"/>
          <a:ext cx="10634472" cy="2688336"/>
        </p:xfrm>
        <a:graphic>
          <a:graphicData uri="http://schemas.openxmlformats.org/drawingml/2006/table">
            <a:tbl>
              <a:tblPr firstRow="0" bandRow="0">
                <a:tableStyleId>{5940675A-B579-460E-94D1-54222C63F5DA}</a:tableStyleId>
              </a:tblPr>
              <a:tblGrid>
                <a:gridCol w="2788920"/>
                <a:gridCol w="2926080"/>
                <a:gridCol w="3291840"/>
                <a:gridCol w="1627632"/>
              </a:tblGrid>
              <a:tr h="384048">
                <a:tc>
                  <a:txBody>
                    <a:bodyPr wrap="square"/>
                    <a:lstStyle/>
                    <a:p>
                      <a:r>
                        <a:rPr sz="1050" b="1" i="0">
                          <a:solidFill>
                            <a:srgbClr val="FFFFFF"/>
                          </a:solidFill>
                        </a:rPr>
                        <a:t>Where they differ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Delta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Edge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First load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replays its log from the last checkpoint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plans from manifests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about the same: both Parquet, Drishti's own readers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Intraday micro-batches (Kafka every 5 min, ≈ 120 commits a 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 small log entry per commit, then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rewrites its metadata file each commit; ≈ 0.2 GB by year 7 (estimated): needs snapshot and metadata management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8A1626"/>
                          </a:solidFill>
                        </a:rPr>
                        <a:t>Delta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Time travel and restatements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rebuilds a version from its log and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jumps to a snapshot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293352"/>
                          </a:solidFill>
                        </a:rPr>
                        <a:t>Iceberg, slightly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Caches after another day's commit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equivalent proposed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Other engines (Spark, Athena, Trino, Snowflake,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strongest with Spark and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broader multi-engine support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depends on the platform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Correctness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identical: the equality tests prove Delta = Iceberg to the cent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4A5058"/>
                          </a:solidFill>
                        </a:rPr>
                        <a:t>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8" name="Rectangle 37"/>
          <p:cNvSpPr/>
          <p:nvPr/>
        </p:nvSpPr>
        <p:spPr>
          <a:xfrm>
            <a:off x="777240" y="5230368"/>
            <a:ext cx="5989320" cy="1033271"/>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14400" y="5266944"/>
            <a:ext cx="5760720" cy="969264"/>
          </a:xfrm>
          <a:prstGeom prst="rect">
            <a:avLst/>
          </a:prstGeom>
          <a:noFill/>
        </p:spPr>
        <p:txBody>
          <a:bodyPr wrap="square" lIns="0" rIns="0" tIns="0" bIns="0" anchor="ctr">
            <a:spAutoFit/>
          </a:bodyPr>
          <a:lstStyle/>
          <a:p>
            <a:pPr algn="l">
              <a:spcAft>
                <a:spcPts val="200"/>
              </a:spcAft>
            </a:pPr>
            <a:r>
              <a:rPr sz="1250" b="1" i="0">
                <a:solidFill>
                  <a:srgbClr val="A51C30"/>
                </a:solidFill>
              </a:rPr>
              <a:t>Recommendation</a:t>
            </a:r>
          </a:p>
          <a:p>
            <a:pPr algn="l"/>
            <a:r>
              <a:rPr sz="1150" b="1" i="0">
                <a:solidFill>
                  <a:srgbClr val="8A1626"/>
                </a:solidFill>
              </a:rPr>
              <a:t>Delta is the default (product decision), above all with Kafka intraday. </a:t>
            </a:r>
            <a:r>
              <a:rPr sz="1150" b="0" i="0">
                <a:solidFill>
                  <a:srgbClr val="1A1A1A"/>
                </a:solidFill>
              </a:rPr>
              <a:t>Choose Iceberg where the data platform standardises on it, or for heavy time travel and multi-engine access. Either is a configuration switch.</a:t>
            </a:r>
          </a:p>
        </p:txBody>
      </p:sp>
      <p:sp>
        <p:nvSpPr>
          <p:cNvPr id="40" name="Rectangle 39"/>
          <p:cNvSpPr/>
          <p:nvPr/>
        </p:nvSpPr>
        <p:spPr>
          <a:xfrm>
            <a:off x="6949440" y="5230368"/>
            <a:ext cx="4462272" cy="1033271"/>
          </a:xfrm>
          <a:prstGeom prst="rect">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7059168" y="5257800"/>
            <a:ext cx="4297680" cy="978408"/>
          </a:xfrm>
          <a:prstGeom prst="rect">
            <a:avLst/>
          </a:prstGeom>
          <a:noFill/>
        </p:spPr>
        <p:txBody>
          <a:bodyPr wrap="square" lIns="0" rIns="0" tIns="0" bIns="0" anchor="ctr">
            <a:spAutoFit/>
          </a:bodyPr>
          <a:lstStyle/>
          <a:p>
            <a:pPr algn="l">
              <a:spcAft>
                <a:spcPts val="200"/>
              </a:spcAft>
            </a:pPr>
            <a:r>
              <a:rPr sz="1050" b="1" i="0">
                <a:solidFill>
                  <a:srgbClr val="A51C30"/>
                </a:solidFill>
              </a:rPr>
              <a:t>Built  </a:t>
            </a:r>
            <a:r>
              <a:rPr sz="1050" b="0" i="0">
                <a:solidFill>
                  <a:srgbClr val="1A1A1A"/>
                </a:solidFill>
              </a:rPr>
              <a:t>VaR, intraday and exposure on Iceberg; official results to Iceberg and S3; equal to Delta to the cent</a:t>
            </a:r>
          </a:p>
          <a:p>
            <a:pPr algn="l">
              <a:spcAft>
                <a:spcPts val="200"/>
              </a:spcAft>
            </a:pPr>
            <a:r>
              <a:rPr sz="1050" b="1" i="0">
                <a:solidFill>
                  <a:srgbClr val="4A5058"/>
                </a:solidFill>
              </a:rPr>
              <a:t>Measured (demo)  </a:t>
            </a:r>
            <a:r>
              <a:rPr sz="1050" b="0" i="0">
                <a:solidFill>
                  <a:srgbClr val="1A1A1A"/>
                </a:solidFill>
              </a:rPr>
              <a:t>14 risk tables, 955,124 rows moved to Iceberg in 579 s</a:t>
            </a:r>
          </a:p>
          <a:p>
            <a:pPr algn="l"/>
            <a:r>
              <a:rPr sz="1050" b="1" i="0">
                <a:solidFill>
                  <a:srgbClr val="293352"/>
                </a:solidFill>
              </a:rPr>
              <a:t>Not built yet  </a:t>
            </a:r>
            <a:r>
              <a:rPr sz="1050" b="0" i="0">
                <a:solidFill>
                  <a:srgbClr val="1A1A1A"/>
                </a:solidFill>
              </a:rPr>
              <a:t>the 200K and 2.3M benchmarks on both formats; Delta↔Iceberg conversion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SCHEMA CHANGES</a:t>
            </a:r>
          </a:p>
        </p:txBody>
      </p:sp>
      <p:sp>
        <p:nvSpPr>
          <p:cNvPr id="3" name="Title 2"/>
          <p:cNvSpPr>
            <a:spLocks noGrp="1"/>
          </p:cNvSpPr>
          <p:nvPr>
            <p:ph type="title" idx="104"/>
          </p:nvPr>
        </p:nvSpPr>
        <p:spPr/>
        <p:txBody>
          <a:bodyPr/>
          <a:lstStyle/>
          <a:p>
            <a:r>
              <a:t>When the data's structure changes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field in the source data</a:t>
            </a:r>
          </a:p>
          <a:p>
            <a:pPr algn="l">
              <a:spcAft>
                <a:spcPts val="600"/>
              </a:spcAft>
            </a:pPr>
            <a:r>
              <a:rPr sz="1200" b="0" i="0">
                <a:solidFill>
                  <a:srgbClr val="1A1A1A"/>
                </a:solidFill>
              </a:rPr>
              <a:t>No schema change. Each record's full JSON document is kept in the </a:t>
            </a:r>
            <a:r>
              <a:rPr sz="1100" b="0" i="0">
                <a:solidFill>
                  <a:srgbClr val="1A1A1A"/>
                </a:solidFill>
                <a:latin typeface="Courier New"/>
              </a:rPr>
              <a:t>doc</a:t>
            </a:r>
            <a:r>
              <a:rPr sz="1200" b="0" i="0">
                <a:solidFill>
                  <a:srgbClr val="1A1A1A"/>
                </a:solidFill>
              </a:rPr>
              <a:t> column, so a new field is readable at once; older rows simply lack it.</a:t>
            </a:r>
          </a:p>
        </p:txBody>
      </p:sp>
      <p:sp>
        <p:nvSpPr>
          <p:cNvPr id="29" name="Rectangle 28"/>
          <p:cNvSpPr/>
          <p:nvPr/>
        </p:nvSpPr>
        <p:spPr>
          <a:xfrm>
            <a:off x="4383024"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4383024"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565904"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promoted column</a:t>
            </a:r>
          </a:p>
          <a:p>
            <a:pPr algn="l">
              <a:spcAft>
                <a:spcPts val="500"/>
              </a:spcAft>
            </a:pPr>
            <a:r>
              <a:rPr sz="1200" b="1" i="0">
                <a:solidFill>
                  <a:srgbClr val="293352"/>
                </a:solidFill>
              </a:rPr>
              <a:t>Iceberg: </a:t>
            </a:r>
            <a:r>
              <a:rPr sz="1200" b="0" i="0">
                <a:solidFill>
                  <a:srgbClr val="1A1A1A"/>
                </a:solidFill>
              </a:rPr>
              <a:t>in-place schema evolution by field id: add, rename, reorder, widen.</a:t>
            </a:r>
          </a:p>
          <a:p>
            <a:pPr algn="l">
              <a:spcAft>
                <a:spcPts val="500"/>
              </a:spcAft>
            </a:pPr>
            <a:r>
              <a:rPr sz="1200" b="1" i="0">
                <a:solidFill>
                  <a:srgbClr val="8A1626"/>
                </a:solidFill>
              </a:rPr>
              <a:t>Delta: </a:t>
            </a:r>
            <a:r>
              <a:rPr sz="1200" b="0" i="0">
                <a:solidFill>
                  <a:srgbClr val="1A1A1A"/>
                </a:solidFill>
              </a:rPr>
              <a:t>in-place add of a nullable column, old files read as empty, optional backfill from the documents. Until then, adding one to an existing table rewrites the affected dates.</a:t>
            </a:r>
          </a:p>
          <a:p>
            <a:pPr algn="l"/>
            <a:r>
              <a:rPr sz="1150" b="0" i="0">
                <a:solidFill>
                  <a:srgbClr val="4A5058"/>
                </a:solidFill>
              </a:rPr>
              <a:t>On upgrade: unedited connector files follow the pack; edited ones gain its new keys and columns, edits kept.</a:t>
            </a:r>
          </a:p>
        </p:txBody>
      </p:sp>
      <p:sp>
        <p:nvSpPr>
          <p:cNvPr id="32" name="Rounded Rectangle 31"/>
          <p:cNvSpPr/>
          <p:nvPr/>
        </p:nvSpPr>
        <p:spPr>
          <a:xfrm>
            <a:off x="4565904" y="427939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33" name="TextBox 32"/>
          <p:cNvSpPr txBox="1"/>
          <p:nvPr/>
        </p:nvSpPr>
        <p:spPr>
          <a:xfrm>
            <a:off x="5237988" y="4261104"/>
            <a:ext cx="1280160" cy="237744"/>
          </a:xfrm>
          <a:prstGeom prst="rect">
            <a:avLst/>
          </a:prstGeom>
          <a:noFill/>
        </p:spPr>
        <p:txBody>
          <a:bodyPr wrap="square" lIns="0" rIns="0" tIns="0" bIns="0" anchor="ctr">
            <a:spAutoFit/>
          </a:bodyPr>
          <a:lstStyle/>
          <a:p>
            <a:pPr algn="l"/>
            <a:r>
              <a:rPr sz="1050" b="0" i="0">
                <a:solidFill>
                  <a:srgbClr val="4A5058"/>
                </a:solidFill>
              </a:rPr>
              <a:t>Delta in-place add</a:t>
            </a:r>
          </a:p>
        </p:txBody>
      </p:sp>
      <p:sp>
        <p:nvSpPr>
          <p:cNvPr id="34" name="Rectangle 33"/>
          <p:cNvSpPr/>
          <p:nvPr/>
        </p:nvSpPr>
        <p:spPr>
          <a:xfrm>
            <a:off x="7988808"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71688"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History is never rewritten</a:t>
            </a:r>
          </a:p>
          <a:p>
            <a:pPr algn="l"/>
            <a:r>
              <a:rPr sz="1200" b="0" i="0">
                <a:solidFill>
                  <a:srgbClr val="1A1A1A"/>
                </a:solidFill>
              </a:rPr>
              <a:t>Time travel shows each version as it was; official records are append-only. Adding a field never invalidates the lake, and a figure of record can still be recomputed from its inputs.</a:t>
            </a:r>
          </a:p>
        </p:txBody>
      </p:sp>
      <p:sp>
        <p:nvSpPr>
          <p:cNvPr id="37" name="Rectangle 36"/>
          <p:cNvSpPr/>
          <p:nvPr/>
        </p:nvSpPr>
        <p:spPr>
          <a:xfrm>
            <a:off x="777240" y="4828032"/>
            <a:ext cx="10634472" cy="1435607"/>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41832" y="4901184"/>
            <a:ext cx="10360152" cy="1344167"/>
          </a:xfrm>
          <a:prstGeom prst="rect">
            <a:avLst/>
          </a:prstGeom>
          <a:noFill/>
        </p:spPr>
        <p:txBody>
          <a:bodyPr wrap="square" lIns="0" rIns="0" tIns="0" bIns="0" anchor="ctr">
            <a:spAutoFit/>
          </a:bodyPr>
          <a:lstStyle/>
          <a:p>
            <a:pPr algn="l">
              <a:spcAft>
                <a:spcPts val="100"/>
              </a:spcAft>
            </a:pPr>
            <a:r>
              <a:rPr sz="1100" b="0" i="0">
                <a:solidFill>
                  <a:srgbClr val="9AA0A8"/>
                </a:solidFill>
                <a:latin typeface="Courier New"/>
              </a:rPr>
              <a:t># before: the source sends A and B</a:t>
            </a:r>
          </a:p>
          <a:p>
            <a:pPr algn="l">
              <a:spcAft>
                <a:spcPts val="100"/>
              </a:spcAft>
            </a:pPr>
            <a:r>
              <a:rPr sz="1100" b="0" i="0">
                <a:solidFill>
                  <a:srgbClr val="F1EEE9"/>
                </a:solidFill>
                <a:latin typeface="Courier New"/>
              </a:rPr>
              <a:t>{"id":"T1", "doc":{"A":1,"B":2}, "A":1}</a:t>
            </a:r>
          </a:p>
          <a:p>
            <a:pPr algn="l">
              <a:spcAft>
                <a:spcPts val="100"/>
              </a:spcAft>
            </a:pPr>
            <a:r>
              <a:rPr sz="1100" b="0" i="0">
                <a:solidFill>
                  <a:srgbClr val="9AA0A8"/>
                </a:solidFill>
                <a:latin typeface="Courier New"/>
              </a:rPr>
              <a:t># after: the source adds C; nothing to migrate, C is in doc at once</a:t>
            </a:r>
          </a:p>
          <a:p>
            <a:pPr algn="l">
              <a:spcAft>
                <a:spcPts val="100"/>
              </a:spcAft>
            </a:pPr>
            <a:r>
              <a:rPr sz="1100" b="0" i="0">
                <a:solidFill>
                  <a:srgbClr val="F1EEE9"/>
                </a:solidFill>
                <a:latin typeface="Courier New"/>
              </a:rPr>
              <a:t>{"id":"T2", "doc":{"A":3,"B":4,"C":5}, "A":3}</a:t>
            </a:r>
          </a:p>
          <a:p>
            <a:pPr algn="l">
              <a:spcAft>
                <a:spcPts val="100"/>
              </a:spcAft>
            </a:pPr>
            <a:r>
              <a:rPr sz="1100" b="0" i="0">
                <a:solidFill>
                  <a:srgbClr val="9AA0A8"/>
                </a:solidFill>
                <a:latin typeface="Courier New"/>
              </a:rPr>
              <a:t># C promoted to a column: new rows carry it, old files read it as empty (null)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06</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Deployment and AWS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DEPLOYMENT OPTIONS</a:t>
            </a:r>
          </a:p>
        </p:txBody>
      </p:sp>
      <p:sp>
        <p:nvSpPr>
          <p:cNvPr id="3" name="Title 2"/>
          <p:cNvSpPr>
            <a:spLocks noGrp="1"/>
          </p:cNvSpPr>
          <p:nvPr>
            <p:ph type="title" idx="104"/>
          </p:nvPr>
        </p:nvSpPr>
        <p:spPr/>
        <p:txBody>
          <a:bodyPr/>
          <a:lstStyle/>
          <a:p>
            <a:r>
              <a:t>Delta or Iceberg, on premises or on AWS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423160"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Delta Lake</a:t>
            </a:r>
          </a:p>
        </p:txBody>
      </p:sp>
      <p:sp>
        <p:nvSpPr>
          <p:cNvPr id="27" name="Rectangle 26"/>
          <p:cNvSpPr/>
          <p:nvPr/>
        </p:nvSpPr>
        <p:spPr>
          <a:xfrm>
            <a:off x="6963156"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Iceberg</a:t>
            </a:r>
          </a:p>
        </p:txBody>
      </p:sp>
      <p:sp>
        <p:nvSpPr>
          <p:cNvPr id="28" name="Rectangle 27"/>
          <p:cNvSpPr/>
          <p:nvPr/>
        </p:nvSpPr>
        <p:spPr>
          <a:xfrm>
            <a:off x="777240" y="1874519"/>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On premises</a:t>
            </a:r>
          </a:p>
        </p:txBody>
      </p:sp>
      <p:sp>
        <p:nvSpPr>
          <p:cNvPr id="29" name="Rectangle 28"/>
          <p:cNvSpPr/>
          <p:nvPr/>
        </p:nvSpPr>
        <p:spPr>
          <a:xfrm>
            <a:off x="2423160"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2560320" y="2011679"/>
            <a:ext cx="4174236" cy="292608"/>
          </a:xfrm>
          <a:prstGeom prst="rect">
            <a:avLst/>
          </a:prstGeom>
          <a:noFill/>
        </p:spPr>
        <p:txBody>
          <a:bodyPr wrap="square" lIns="0" rIns="0" tIns="0" bIns="0" anchor="ctr">
            <a:spAutoFit/>
          </a:bodyPr>
          <a:lstStyle/>
          <a:p>
            <a:pPr algn="l"/>
            <a:r>
              <a:rPr sz="1200" b="0" i="0">
                <a:solidFill>
                  <a:srgbClr val="1A1A1A"/>
                </a:solidFill>
              </a:rPr>
              <a:t>VaR inputs from Delta tables</a:t>
            </a:r>
          </a:p>
        </p:txBody>
      </p:sp>
      <p:sp>
        <p:nvSpPr>
          <p:cNvPr id="31" name="TextBox 30"/>
          <p:cNvSpPr txBox="1"/>
          <p:nvPr/>
        </p:nvSpPr>
        <p:spPr>
          <a:xfrm>
            <a:off x="2560320" y="2468879"/>
            <a:ext cx="4174236" cy="292608"/>
          </a:xfrm>
          <a:prstGeom prst="rect">
            <a:avLst/>
          </a:prstGeom>
          <a:noFill/>
        </p:spPr>
        <p:txBody>
          <a:bodyPr wrap="square" lIns="0" rIns="0" tIns="0" bIns="0" anchor="ctr">
            <a:spAutoFit/>
          </a:bodyPr>
          <a:lstStyle/>
          <a:p>
            <a:pPr algn="l"/>
            <a:r>
              <a:rPr sz="1200" b="0" i="0">
                <a:solidFill>
                  <a:srgbClr val="1A1A1A"/>
                </a:solidFill>
              </a:rPr>
              <a:t>Official results: append-only Delta + JSONL</a:t>
            </a:r>
          </a:p>
        </p:txBody>
      </p:sp>
      <p:sp>
        <p:nvSpPr>
          <p:cNvPr id="32" name="TextBox 31"/>
          <p:cNvSpPr txBox="1"/>
          <p:nvPr/>
        </p:nvSpPr>
        <p:spPr>
          <a:xfrm>
            <a:off x="2560320" y="2926079"/>
            <a:ext cx="4174236" cy="292608"/>
          </a:xfrm>
          <a:prstGeom prst="rect">
            <a:avLst/>
          </a:prstGeom>
          <a:noFill/>
        </p:spPr>
        <p:txBody>
          <a:bodyPr wrap="square" lIns="0" rIns="0" tIns="0" bIns="0" anchor="ctr">
            <a:spAutoFit/>
          </a:bodyPr>
          <a:lstStyle/>
          <a:p>
            <a:pPr algn="l"/>
            <a:r>
              <a:rPr sz="1200" b="0" i="0">
                <a:solidFill>
                  <a:srgbClr val="1A1A1A"/>
                </a:solidFill>
              </a:rPr>
              <a:t>Lake maintenance; 7-year floor for risk</a:t>
            </a:r>
          </a:p>
        </p:txBody>
      </p:sp>
      <p:sp>
        <p:nvSpPr>
          <p:cNvPr id="33" name="Rectangle 32"/>
          <p:cNvSpPr/>
          <p:nvPr/>
        </p:nvSpPr>
        <p:spPr>
          <a:xfrm>
            <a:off x="6963156"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7100316" y="2011679"/>
            <a:ext cx="4174236" cy="292608"/>
          </a:xfrm>
          <a:prstGeom prst="rect">
            <a:avLst/>
          </a:prstGeom>
          <a:noFill/>
        </p:spPr>
        <p:txBody>
          <a:bodyPr wrap="square" lIns="0" rIns="0" tIns="0" bIns="0" anchor="ctr">
            <a:spAutoFit/>
          </a:bodyPr>
          <a:lstStyle/>
          <a:p>
            <a:pPr algn="l"/>
            <a:r>
              <a:rPr sz="1200" b="0" i="0">
                <a:solidFill>
                  <a:srgbClr val="1A1A1A"/>
                </a:solidFill>
              </a:rPr>
              <a:t>VaR, intraday, exposure on Iceberg</a:t>
            </a:r>
          </a:p>
        </p:txBody>
      </p:sp>
      <p:sp>
        <p:nvSpPr>
          <p:cNvPr id="35" name="TextBox 34"/>
          <p:cNvSpPr txBox="1"/>
          <p:nvPr/>
        </p:nvSpPr>
        <p:spPr>
          <a:xfrm>
            <a:off x="7100316" y="2468879"/>
            <a:ext cx="4174236" cy="292608"/>
          </a:xfrm>
          <a:prstGeom prst="rect">
            <a:avLst/>
          </a:prstGeom>
          <a:noFill/>
        </p:spPr>
        <p:txBody>
          <a:bodyPr wrap="square" lIns="0" rIns="0" tIns="0" bIns="0" anchor="ctr">
            <a:spAutoFit/>
          </a:bodyPr>
          <a:lstStyle/>
          <a:p>
            <a:pPr algn="l"/>
            <a:r>
              <a:rPr sz="1200" b="0" i="0">
                <a:solidFill>
                  <a:srgbClr val="1A1A1A"/>
                </a:solidFill>
              </a:rPr>
              <a:t>Official results to Iceberg</a:t>
            </a:r>
          </a:p>
        </p:txBody>
      </p:sp>
      <p:sp>
        <p:nvSpPr>
          <p:cNvPr id="36" name="TextBox 35"/>
          <p:cNvSpPr txBox="1"/>
          <p:nvPr/>
        </p:nvSpPr>
        <p:spPr>
          <a:xfrm>
            <a:off x="7100316" y="2926079"/>
            <a:ext cx="4174236" cy="292608"/>
          </a:xfrm>
          <a:prstGeom prst="rect">
            <a:avLst/>
          </a:prstGeom>
          <a:noFill/>
        </p:spPr>
        <p:txBody>
          <a:bodyPr wrap="square" lIns="0" rIns="0" tIns="0" bIns="0" anchor="ctr">
            <a:spAutoFit/>
          </a:bodyPr>
          <a:lstStyle/>
          <a:p>
            <a:pPr algn="l"/>
            <a:r>
              <a:rPr sz="1200" b="0" i="0">
                <a:solidFill>
                  <a:srgbClr val="1A1A1A"/>
                </a:solidFill>
              </a:rPr>
              <a:t>Maintenance, orphans, 7-year floor</a:t>
            </a:r>
          </a:p>
        </p:txBody>
      </p:sp>
      <p:sp>
        <p:nvSpPr>
          <p:cNvPr id="37" name="Rectangle 36"/>
          <p:cNvSpPr/>
          <p:nvPr/>
        </p:nvSpPr>
        <p:spPr>
          <a:xfrm>
            <a:off x="777240" y="3474720"/>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AWS</a:t>
            </a:r>
          </a:p>
        </p:txBody>
      </p:sp>
      <p:sp>
        <p:nvSpPr>
          <p:cNvPr id="38" name="Rectangle 37"/>
          <p:cNvSpPr/>
          <p:nvPr/>
        </p:nvSpPr>
        <p:spPr>
          <a:xfrm>
            <a:off x="2423160"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2560320" y="3611879"/>
            <a:ext cx="4174236" cy="292608"/>
          </a:xfrm>
          <a:prstGeom prst="rect">
            <a:avLst/>
          </a:prstGeom>
          <a:noFill/>
        </p:spPr>
        <p:txBody>
          <a:bodyPr wrap="square" lIns="0" rIns="0" tIns="0" bIns="0" anchor="ctr">
            <a:spAutoFit/>
          </a:bodyPr>
          <a:lstStyle/>
          <a:p>
            <a:pPr algn="l"/>
            <a:r>
              <a:rPr sz="1200" b="0" i="0">
                <a:solidFill>
                  <a:srgbClr val="1A1A1A"/>
                </a:solidFill>
              </a:rPr>
              <a:t>Reading Delta tables in S3</a:t>
            </a:r>
          </a:p>
        </p:txBody>
      </p:sp>
      <p:sp>
        <p:nvSpPr>
          <p:cNvPr id="40" name="TextBox 39"/>
          <p:cNvSpPr txBox="1"/>
          <p:nvPr/>
        </p:nvSpPr>
        <p:spPr>
          <a:xfrm>
            <a:off x="2560320" y="4069079"/>
            <a:ext cx="4174236" cy="292608"/>
          </a:xfrm>
          <a:prstGeom prst="rect">
            <a:avLst/>
          </a:prstGeom>
          <a:noFill/>
        </p:spPr>
        <p:txBody>
          <a:bodyPr wrap="square" lIns="0" rIns="0" tIns="0" bIns="0" anchor="ctr">
            <a:spAutoFit/>
          </a:bodyPr>
          <a:lstStyle/>
          <a:p>
            <a:pPr algn="l"/>
            <a:r>
              <a:rPr sz="1200" b="0" i="0">
                <a:solidFill>
                  <a:srgbClr val="1A1A1A"/>
                </a:solidFill>
              </a:rPr>
              <a:t>Official publish to an EFS Delta root</a:t>
            </a:r>
          </a:p>
        </p:txBody>
      </p:sp>
      <p:sp>
        <p:nvSpPr>
          <p:cNvPr id="41" name="TextBox 40"/>
          <p:cNvSpPr txBox="1"/>
          <p:nvPr/>
        </p:nvSpPr>
        <p:spPr>
          <a:xfrm>
            <a:off x="2560320" y="4526279"/>
            <a:ext cx="4174236" cy="292608"/>
          </a:xfrm>
          <a:prstGeom prst="rect">
            <a:avLst/>
          </a:prstGeom>
          <a:noFill/>
        </p:spPr>
        <p:txBody>
          <a:bodyPr wrap="square" lIns="0" rIns="0" tIns="0" bIns="0" anchor="ctr">
            <a:spAutoFit/>
          </a:bodyPr>
          <a:lstStyle/>
          <a:p>
            <a:pPr algn="l"/>
            <a:r>
              <a:rPr sz="1200" b="0" i="0">
                <a:solidFill>
                  <a:srgbClr val="1A1A1A"/>
                </a:solidFill>
              </a:rPr>
              <a:t>Official results to s3://</a:t>
            </a:r>
          </a:p>
        </p:txBody>
      </p:sp>
      <p:sp>
        <p:nvSpPr>
          <p:cNvPr id="42" name="Rectangle 41"/>
          <p:cNvSpPr/>
          <p:nvPr/>
        </p:nvSpPr>
        <p:spPr>
          <a:xfrm>
            <a:off x="6963156"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100316" y="3611879"/>
            <a:ext cx="4174236" cy="292608"/>
          </a:xfrm>
          <a:prstGeom prst="rect">
            <a:avLst/>
          </a:prstGeom>
          <a:noFill/>
        </p:spPr>
        <p:txBody>
          <a:bodyPr wrap="square" lIns="0" rIns="0" tIns="0" bIns="0" anchor="ctr">
            <a:spAutoFit/>
          </a:bodyPr>
          <a:lstStyle/>
          <a:p>
            <a:pPr algn="l"/>
            <a:r>
              <a:rPr sz="1200" b="0" i="0">
                <a:solidFill>
                  <a:srgbClr val="1A1A1A"/>
                </a:solidFill>
              </a:rPr>
              <a:t>Iceberg on S3; AWS scripts</a:t>
            </a:r>
          </a:p>
        </p:txBody>
      </p:sp>
      <p:sp>
        <p:nvSpPr>
          <p:cNvPr id="44" name="TextBox 43"/>
          <p:cNvSpPr txBox="1"/>
          <p:nvPr/>
        </p:nvSpPr>
        <p:spPr>
          <a:xfrm>
            <a:off x="7100316" y="4069079"/>
            <a:ext cx="4174236" cy="292608"/>
          </a:xfrm>
          <a:prstGeom prst="rect">
            <a:avLst/>
          </a:prstGeom>
          <a:noFill/>
        </p:spPr>
        <p:txBody>
          <a:bodyPr wrap="square" lIns="0" rIns="0" tIns="0" bIns="0" anchor="ctr">
            <a:spAutoFit/>
          </a:bodyPr>
          <a:lstStyle/>
          <a:p>
            <a:pPr algn="l"/>
            <a:r>
              <a:rPr sz="1200" b="0" i="0">
                <a:solidFill>
                  <a:srgbClr val="1A1A1A"/>
                </a:solidFill>
              </a:rPr>
              <a:t>Admin → Lakes, disk caches</a:t>
            </a:r>
          </a:p>
        </p:txBody>
      </p:sp>
      <p:sp>
        <p:nvSpPr>
          <p:cNvPr id="45" name="Rounded Rectangle 44"/>
          <p:cNvSpPr/>
          <p:nvPr/>
        </p:nvSpPr>
        <p:spPr>
          <a:xfrm>
            <a:off x="10675620" y="4562855"/>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RUN</a:t>
            </a:r>
          </a:p>
        </p:txBody>
      </p:sp>
      <p:sp>
        <p:nvSpPr>
          <p:cNvPr id="46" name="TextBox 45"/>
          <p:cNvSpPr txBox="1"/>
          <p:nvPr/>
        </p:nvSpPr>
        <p:spPr>
          <a:xfrm>
            <a:off x="7100316" y="4526279"/>
            <a:ext cx="3483864" cy="292608"/>
          </a:xfrm>
          <a:prstGeom prst="rect">
            <a:avLst/>
          </a:prstGeom>
          <a:noFill/>
        </p:spPr>
        <p:txBody>
          <a:bodyPr wrap="square" lIns="0" rIns="0" tIns="0" bIns="0" anchor="ctr">
            <a:spAutoFit/>
          </a:bodyPr>
          <a:lstStyle/>
          <a:p>
            <a:pPr algn="l"/>
            <a:r>
              <a:rPr sz="1200" b="0" i="0">
                <a:solidFill>
                  <a:srgbClr val="1A1A1A"/>
                </a:solidFill>
              </a:rPr>
              <a:t>Glue and S3 Tables: first AWS run</a:t>
            </a:r>
          </a:p>
        </p:txBody>
      </p:sp>
      <p:sp>
        <p:nvSpPr>
          <p:cNvPr id="47" name="Rectangle 46"/>
          <p:cNvSpPr/>
          <p:nvPr/>
        </p:nvSpPr>
        <p:spPr>
          <a:xfrm>
            <a:off x="777240" y="5166360"/>
            <a:ext cx="10634472" cy="1051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77240" y="5166360"/>
            <a:ext cx="54864"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1005840" y="5166360"/>
            <a:ext cx="10314432" cy="1051560"/>
          </a:xfrm>
          <a:prstGeom prst="rect">
            <a:avLst/>
          </a:prstGeom>
          <a:noFill/>
        </p:spPr>
        <p:txBody>
          <a:bodyPr wrap="square" lIns="0" rIns="0" tIns="0" bIns="0" anchor="ctr">
            <a:spAutoFit/>
          </a:bodyPr>
          <a:lstStyle/>
          <a:p>
            <a:pPr algn="l">
              <a:spcAft>
                <a:spcPts val="300"/>
              </a:spcAft>
            </a:pPr>
            <a:r>
              <a:rPr sz="1250" b="1" i="0">
                <a:solidFill>
                  <a:srgbClr val="A51C30"/>
                </a:solidFill>
              </a:rPr>
              <a:t>Above the storage plugins, one product  </a:t>
            </a:r>
            <a:r>
              <a:rPr sz="1200" b="0" i="0">
                <a:solidFill>
                  <a:srgbClr val="1A1A1A"/>
                </a:solidFill>
              </a:rPr>
              <a:t>packs, data contracts, connector names, engines, BI, UI and Drishti*net are the same on Delta and Iceberg; VaR and exposure are equal to the cent on both (VAR BANK USD 112,041,646 on the demo data). Delta is the default.</a:t>
            </a:r>
          </a:p>
          <a:p>
            <a:pPr algn="l"/>
            <a:r>
              <a:rPr sz="1150" b="0" i="1">
                <a:solidFill>
                  <a:srgbClr val="4A5058"/>
                </a:solidFill>
              </a:rPr>
              <a:t>See the companion decks: Drishti on AWS with Delta Lake, and Drishti on AWS with Iceberg.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a:t>
            </a:r>
          </a:p>
        </p:txBody>
      </p:sp>
      <p:sp>
        <p:nvSpPr>
          <p:cNvPr id="3" name="Title 2"/>
          <p:cNvSpPr>
            <a:spLocks noGrp="1"/>
          </p:cNvSpPr>
          <p:nvPr>
            <p:ph type="title" idx="104"/>
          </p:nvPr>
        </p:nvSpPr>
        <p:spPr/>
        <p:txBody>
          <a:bodyPr/>
          <a:lstStyle/>
          <a:p>
            <a:r>
              <a:t>Drishti on AWS: ECS, Fargate, S3 first, as little EFS as possible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777240" y="1600200"/>
            <a:ext cx="1188720" cy="566928"/>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Users</a:t>
            </a:r>
          </a:p>
          <a:p>
            <a:pPr algn="ctr"/>
            <a:r>
              <a:rPr sz="950" b="0" i="0">
                <a:solidFill>
                  <a:srgbClr val="FFFFFF"/>
                </a:solidFill>
              </a:rPr>
              <a:t>bank network</a:t>
            </a:r>
          </a:p>
        </p:txBody>
      </p:sp>
      <p:sp>
        <p:nvSpPr>
          <p:cNvPr id="27" name="Rounded Rectangle 26"/>
          <p:cNvSpPr/>
          <p:nvPr/>
        </p:nvSpPr>
        <p:spPr>
          <a:xfrm>
            <a:off x="777240" y="3154680"/>
            <a:ext cx="1188720" cy="640080"/>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Pricing systems</a:t>
            </a:r>
          </a:p>
          <a:p>
            <a:pPr algn="ctr"/>
            <a:r>
              <a:rPr sz="950" b="0" i="0">
                <a:solidFill>
                  <a:srgbClr val="FFFFFF"/>
                </a:solidFill>
              </a:rPr>
              <a:t>PVs, P&amp;L</a:t>
            </a:r>
          </a:p>
        </p:txBody>
      </p:sp>
      <p:sp>
        <p:nvSpPr>
          <p:cNvPr id="28" name="Rounded Rectangle 27"/>
          <p:cNvSpPr/>
          <p:nvPr/>
        </p:nvSpPr>
        <p:spPr>
          <a:xfrm>
            <a:off x="2148840" y="1389888"/>
            <a:ext cx="9262872" cy="2944368"/>
          </a:xfrm>
          <a:prstGeom prst="roundRect">
            <a:avLst>
              <a:gd name="adj" fmla="val 3000"/>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2258568" y="1399032"/>
            <a:ext cx="4572000" cy="219456"/>
          </a:xfrm>
          <a:prstGeom prst="rect">
            <a:avLst/>
          </a:prstGeom>
          <a:noFill/>
        </p:spPr>
        <p:txBody>
          <a:bodyPr wrap="square" lIns="0" rIns="0" tIns="0" bIns="0" anchor="ctr">
            <a:spAutoFit/>
          </a:bodyPr>
          <a:lstStyle/>
          <a:p>
            <a:pPr algn="l"/>
            <a:r>
              <a:rPr sz="1000" b="1" i="0">
                <a:solidFill>
                  <a:srgbClr val="A51C30"/>
                </a:solidFill>
              </a:rPr>
              <a:t>Region (example): ca-central-1 · VPC, private subnets in two AZs</a:t>
            </a:r>
          </a:p>
        </p:txBody>
      </p:sp>
      <p:sp>
        <p:nvSpPr>
          <p:cNvPr id="30" name="Rounded Rectangle 29"/>
          <p:cNvSpPr/>
          <p:nvPr/>
        </p:nvSpPr>
        <p:spPr>
          <a:xfrm>
            <a:off x="2286000" y="1691640"/>
            <a:ext cx="914400" cy="50292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ALB</a:t>
            </a:r>
          </a:p>
          <a:p>
            <a:pPr algn="ctr"/>
            <a:r>
              <a:rPr sz="950" b="0" i="0">
                <a:solidFill>
                  <a:srgbClr val="4A5058"/>
                </a:solidFill>
              </a:rPr>
              <a:t>HTTPS</a:t>
            </a:r>
          </a:p>
        </p:txBody>
      </p:sp>
      <p:sp>
        <p:nvSpPr>
          <p:cNvPr id="31" name="Rounded Rectangle 30"/>
          <p:cNvSpPr/>
          <p:nvPr/>
        </p:nvSpPr>
        <p:spPr>
          <a:xfrm>
            <a:off x="3383280" y="1664208"/>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Consoles · 2+</a:t>
            </a:r>
          </a:p>
          <a:p>
            <a:pPr algn="ctr"/>
            <a:r>
              <a:rPr sz="950" b="0" i="0">
                <a:solidFill>
                  <a:srgbClr val="4A5058"/>
                </a:solidFill>
              </a:rPr>
              <a:t>ECS Fargate</a:t>
            </a:r>
          </a:p>
        </p:txBody>
      </p:sp>
      <p:sp>
        <p:nvSpPr>
          <p:cNvPr id="32" name="Rounded Rectangle 31"/>
          <p:cNvSpPr/>
          <p:nvPr/>
        </p:nvSpPr>
        <p:spPr>
          <a:xfrm>
            <a:off x="3383280" y="2514600"/>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Kafka</a:t>
            </a:r>
          </a:p>
          <a:p>
            <a:pPr algn="ctr"/>
            <a:r>
              <a:rPr sz="950" b="0" i="0">
                <a:solidFill>
                  <a:srgbClr val="4A5058"/>
                </a:solidFill>
              </a:rPr>
              <a:t>MSK or the bank's own</a:t>
            </a:r>
          </a:p>
        </p:txBody>
      </p:sp>
      <p:sp>
        <p:nvSpPr>
          <p:cNvPr id="33" name="Rounded Rectangle 32"/>
          <p:cNvSpPr/>
          <p:nvPr/>
        </p:nvSpPr>
        <p:spPr>
          <a:xfrm>
            <a:off x="2286000" y="3383280"/>
            <a:ext cx="2560320" cy="749808"/>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EFS, small (≈ 0.5 TB)</a:t>
            </a:r>
          </a:p>
          <a:p>
            <a:pPr algn="ctr"/>
            <a:r>
              <a:rPr sz="950" b="0" i="0">
                <a:solidFill>
                  <a:srgbClr val="4A5058"/>
                </a:solidFill>
              </a:rPr>
              <a:t>config, Sutras, each node's data folder</a:t>
            </a:r>
          </a:p>
        </p:txBody>
      </p:sp>
      <p:sp>
        <p:nvSpPr>
          <p:cNvPr id="34" name="Rounded Rectangle 33"/>
          <p:cNvSpPr/>
          <p:nvPr/>
        </p:nvSpPr>
        <p:spPr>
          <a:xfrm>
            <a:off x="5029200" y="1664208"/>
            <a:ext cx="3520440"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5102352" y="1682496"/>
            <a:ext cx="3374136" cy="384048"/>
          </a:xfrm>
          <a:prstGeom prst="rect">
            <a:avLst/>
          </a:prstGeom>
          <a:noFill/>
        </p:spPr>
        <p:txBody>
          <a:bodyPr wrap="square" lIns="0" rIns="0" tIns="0" bIns="0" anchor="t">
            <a:spAutoFit/>
          </a:bodyPr>
          <a:lstStyle/>
          <a:p>
            <a:pPr algn="ctr"/>
            <a:r>
              <a:rPr sz="1050" b="1" i="0">
                <a:solidFill>
                  <a:srgbClr val="8A1626"/>
                </a:solidFill>
              </a:rPr>
              <a:t>A: VaR server tasks · ECS on EC2 capacity</a:t>
            </a:r>
          </a:p>
          <a:p>
            <a:pPr algn="ctr"/>
            <a:r>
              <a:rPr sz="950" b="0" i="0">
                <a:solidFill>
                  <a:srgbClr val="4A5058"/>
                </a:solidFill>
              </a:rPr>
              <a:t>(or ECS Managed Instances) to start</a:t>
            </a:r>
          </a:p>
        </p:txBody>
      </p:sp>
      <p:sp>
        <p:nvSpPr>
          <p:cNvPr id="36" name="Rounded Rectangle 35"/>
          <p:cNvSpPr/>
          <p:nvPr/>
        </p:nvSpPr>
        <p:spPr>
          <a:xfrm>
            <a:off x="5138928"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Intraday writer</a:t>
            </a:r>
          </a:p>
          <a:p>
            <a:pPr algn="ctr"/>
            <a:r>
              <a:rPr sz="950" b="0" i="0">
                <a:solidFill>
                  <a:srgbClr val="4A5058"/>
                </a:solidFill>
              </a:rPr>
              <a:t>AZ a</a:t>
            </a:r>
          </a:p>
        </p:txBody>
      </p:sp>
      <p:sp>
        <p:nvSpPr>
          <p:cNvPr id="37" name="Can 36"/>
          <p:cNvSpPr/>
          <p:nvPr/>
        </p:nvSpPr>
        <p:spPr>
          <a:xfrm>
            <a:off x="6327648"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38" name="Rounded Rectangle 37"/>
          <p:cNvSpPr/>
          <p:nvPr/>
        </p:nvSpPr>
        <p:spPr>
          <a:xfrm>
            <a:off x="6858000"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Official EOD</a:t>
            </a:r>
          </a:p>
          <a:p>
            <a:pPr algn="ctr"/>
            <a:r>
              <a:rPr sz="950" b="0" i="0">
                <a:solidFill>
                  <a:srgbClr val="4A5058"/>
                </a:solidFill>
              </a:rPr>
              <a:t>AZ b</a:t>
            </a:r>
          </a:p>
        </p:txBody>
      </p:sp>
      <p:sp>
        <p:nvSpPr>
          <p:cNvPr id="39" name="Can 38"/>
          <p:cNvSpPr/>
          <p:nvPr/>
        </p:nvSpPr>
        <p:spPr>
          <a:xfrm>
            <a:off x="8046720"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0" name="Rounded Rectangle 39"/>
          <p:cNvSpPr/>
          <p:nvPr/>
        </p:nvSpPr>
        <p:spPr>
          <a:xfrm>
            <a:off x="5138928"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a</a:t>
            </a:r>
          </a:p>
        </p:txBody>
      </p:sp>
      <p:sp>
        <p:nvSpPr>
          <p:cNvPr id="41" name="Can 40"/>
          <p:cNvSpPr/>
          <p:nvPr/>
        </p:nvSpPr>
        <p:spPr>
          <a:xfrm>
            <a:off x="6327648"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2" name="Rounded Rectangle 41"/>
          <p:cNvSpPr/>
          <p:nvPr/>
        </p:nvSpPr>
        <p:spPr>
          <a:xfrm>
            <a:off x="6858000"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b</a:t>
            </a:r>
          </a:p>
        </p:txBody>
      </p:sp>
      <p:sp>
        <p:nvSpPr>
          <p:cNvPr id="43" name="Can 42"/>
          <p:cNvSpPr/>
          <p:nvPr/>
        </p:nvSpPr>
        <p:spPr>
          <a:xfrm>
            <a:off x="8046720"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4" name="Rounded Rectangle 43"/>
          <p:cNvSpPr/>
          <p:nvPr/>
        </p:nvSpPr>
        <p:spPr>
          <a:xfrm>
            <a:off x="5120640" y="3493008"/>
            <a:ext cx="3337560" cy="594360"/>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5193792" y="3493008"/>
            <a:ext cx="3246120" cy="594360"/>
          </a:xfrm>
          <a:prstGeom prst="rect">
            <a:avLst/>
          </a:prstGeom>
          <a:noFill/>
        </p:spPr>
        <p:txBody>
          <a:bodyPr wrap="square" lIns="0" rIns="0" tIns="0" bIns="0" anchor="ctr">
            <a:spAutoFit/>
          </a:bodyPr>
          <a:lstStyle/>
          <a:p>
            <a:pPr algn="l"/>
            <a:r>
              <a:rPr sz="950" b="1" i="0">
                <a:solidFill>
                  <a:srgbClr val="8A1626"/>
                </a:solidFill>
              </a:rPr>
              <a:t>C: 8 shards × 2 Fargate tasks, each with its own EBS; any task coordinates</a:t>
            </a:r>
          </a:p>
        </p:txBody>
      </p:sp>
      <p:sp>
        <p:nvSpPr>
          <p:cNvPr id="46" name="Rounded Rectangle 45"/>
          <p:cNvSpPr/>
          <p:nvPr/>
        </p:nvSpPr>
        <p:spPr>
          <a:xfrm>
            <a:off x="8714232" y="1664208"/>
            <a:ext cx="2587752"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759952" y="1682496"/>
            <a:ext cx="2496312" cy="365760"/>
          </a:xfrm>
          <a:prstGeom prst="rect">
            <a:avLst/>
          </a:prstGeom>
          <a:noFill/>
        </p:spPr>
        <p:txBody>
          <a:bodyPr wrap="square" lIns="0" rIns="0" tIns="0" bIns="0" anchor="t">
            <a:spAutoFit/>
          </a:bodyPr>
          <a:lstStyle/>
          <a:p>
            <a:pPr algn="ctr"/>
            <a:r>
              <a:rPr sz="1050" b="1" i="0">
                <a:solidFill>
                  <a:srgbClr val="8A1626"/>
                </a:solidFill>
              </a:rPr>
              <a:t>Amazon S3</a:t>
            </a:r>
          </a:p>
          <a:p>
            <a:pPr algn="ctr"/>
            <a:r>
              <a:rPr sz="950" b="0" i="0">
                <a:solidFill>
                  <a:srgbClr val="4A5058"/>
                </a:solidFill>
              </a:rPr>
              <a:t>gateway endpoint</a:t>
            </a:r>
          </a:p>
        </p:txBody>
      </p:sp>
      <p:sp>
        <p:nvSpPr>
          <p:cNvPr id="48" name="Rounded Rectangle 47"/>
          <p:cNvSpPr/>
          <p:nvPr/>
        </p:nvSpPr>
        <p:spPr>
          <a:xfrm>
            <a:off x="8787384" y="2103120"/>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Lake</a:t>
            </a:r>
          </a:p>
          <a:p>
            <a:pPr algn="ctr"/>
            <a:r>
              <a:rPr sz="950" b="0" i="0">
                <a:solidFill>
                  <a:srgbClr val="4A5058"/>
                </a:solidFill>
              </a:rPr>
              <a:t>Delta or Iceberg; 7 years</a:t>
            </a:r>
          </a:p>
        </p:txBody>
      </p:sp>
      <p:sp>
        <p:nvSpPr>
          <p:cNvPr id="49" name="Rounded Rectangle 48"/>
          <p:cNvSpPr/>
          <p:nvPr/>
        </p:nvSpPr>
        <p:spPr>
          <a:xfrm>
            <a:off x="8787384" y="2615184"/>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Official results</a:t>
            </a:r>
          </a:p>
          <a:p>
            <a:pPr algn="ctr"/>
            <a:r>
              <a:rPr sz="950" b="0" i="0">
                <a:solidFill>
                  <a:srgbClr val="4A5058"/>
                </a:solidFill>
              </a:rPr>
              <a:t>Delta or Iceberg; JSONL</a:t>
            </a:r>
          </a:p>
        </p:txBody>
      </p:sp>
      <p:sp>
        <p:nvSpPr>
          <p:cNvPr id="50" name="Rounded Rectangle 49"/>
          <p:cNvSpPr/>
          <p:nvPr/>
        </p:nvSpPr>
        <p:spPr>
          <a:xfrm>
            <a:off x="8787384" y="3127248"/>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Content store</a:t>
            </a:r>
          </a:p>
          <a:p>
            <a:pPr algn="ctr"/>
            <a:r>
              <a:rPr sz="950" b="0" i="0">
                <a:solidFill>
                  <a:srgbClr val="4A5058"/>
                </a:solidFill>
              </a:rPr>
              <a:t>S3 backend</a:t>
            </a:r>
          </a:p>
        </p:txBody>
      </p:sp>
      <p:sp>
        <p:nvSpPr>
          <p:cNvPr id="51" name="Rounded Rectangle 50"/>
          <p:cNvSpPr/>
          <p:nvPr/>
        </p:nvSpPr>
        <p:spPr>
          <a:xfrm>
            <a:off x="8787384" y="3639312"/>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Landing, backups, DR</a:t>
            </a:r>
          </a:p>
          <a:p>
            <a:pPr algn="ctr"/>
            <a:r>
              <a:rPr sz="950" b="0" i="0">
                <a:solidFill>
                  <a:srgbClr val="4A5058"/>
                </a:solidFill>
              </a:rPr>
              <a:t>JSONL; replicated</a:t>
            </a:r>
          </a:p>
        </p:txBody>
      </p:sp>
      <p:cxnSp>
        <p:nvCxnSpPr>
          <p:cNvPr id="52" name="Connector 51"/>
          <p:cNvCxnSpPr/>
          <p:nvPr/>
        </p:nvCxnSpPr>
        <p:spPr>
          <a:xfrm>
            <a:off x="1965960" y="1883664"/>
            <a:ext cx="320040" cy="5486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20040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484632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1965960" y="2834640"/>
            <a:ext cx="1417320" cy="5943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4846320" y="2560320"/>
            <a:ext cx="292608" cy="23774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549640" y="2926080"/>
            <a:ext cx="164592" cy="0"/>
          </a:xfrm>
          <a:prstGeom prst="line">
            <a:avLst/>
          </a:prstGeom>
          <a:ln w="1587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58" name="Table 57"/>
          <p:cNvGraphicFramePr>
            <a:graphicFrameLocks noGrp="1"/>
          </p:cNvGraphicFramePr>
          <p:nvPr/>
        </p:nvGraphicFramePr>
        <p:xfrm>
          <a:off x="777240" y="4443984"/>
          <a:ext cx="10634472" cy="1097280"/>
        </p:xfrm>
        <a:graphic>
          <a:graphicData uri="http://schemas.openxmlformats.org/drawingml/2006/table">
            <a:tbl>
              <a:tblPr firstRow="0" bandRow="0">
                <a:tableStyleId>{5940675A-B579-460E-94D1-54222C63F5DA}</a:tableStyleId>
              </a:tblPr>
              <a:tblGrid>
                <a:gridCol w="2103120"/>
                <a:gridCol w="4434840"/>
                <a:gridCol w="2834640"/>
                <a:gridCol w="1261872"/>
              </a:tblGrid>
              <a:tr h="274320">
                <a:tc>
                  <a:txBody>
                    <a:bodyPr wrap="square"/>
                    <a:lstStyle/>
                    <a:p>
                      <a:r>
                        <a:rPr sz="1050" b="1" i="0">
                          <a:solidFill>
                            <a:srgbClr val="FFFFFF"/>
                          </a:solidFill>
                        </a:rPr>
                        <a:t>VaR tier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Shape (full case: 1-day, 10-day, stressed)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Fits, with 39% headroom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A · ECS on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 × m7i.16xlarge (64 vCPU, 256 GiB), 2 TB EBS gp3 each; the rest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 need → 256 GB machine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B · √10 10-day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Fargate tasks of 32 vCPU · 244 GB (the largest), 1.1 TB gp3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94 GB → 155 GB: memory yes; CPU to 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PLANNED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C · sharded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8 shards × 2 tasks of 8 vCPU · 44 GB, 250 GB gp3 each, one S3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 GB a task → 43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59" name="TextBox 58"/>
          <p:cNvSpPr txBox="1"/>
          <p:nvPr/>
        </p:nvSpPr>
        <p:spPr>
          <a:xfrm>
            <a:off x="777240" y="5715000"/>
            <a:ext cx="9582912" cy="548640"/>
          </a:xfrm>
          <a:prstGeom prst="rect">
            <a:avLst/>
          </a:prstGeom>
          <a:noFill/>
        </p:spPr>
        <p:txBody>
          <a:bodyPr wrap="square" lIns="0" rIns="0" tIns="0" bIns="0" anchor="ctr">
            <a:spAutoFit/>
          </a:bodyPr>
          <a:lstStyle/>
          <a:p>
            <a:pPr algn="l"/>
            <a:r>
              <a:rPr sz="1150" b="1" i="0">
                <a:solidFill>
                  <a:srgbClr val="A51C30"/>
                </a:solidFill>
              </a:rPr>
              <a:t>Recommendation: </a:t>
            </a:r>
            <a:r>
              <a:rPr sz="1150" b="0" i="0">
                <a:solidFill>
                  <a:srgbClr val="1A1A1A"/>
                </a:solidFill>
              </a:rPr>
              <a:t>Fargate for the consoles and lake tasks; A for the VaR servers to start (buildable today on Delta or Iceberg); C, Fargate everywhere, with VaR sharding (built; to run on Fargate). Hot files on an EBS gp3 volume per task: disposable, rebuilt from the lake. EFS only for what must be shared.</a:t>
            </a:r>
          </a:p>
        </p:txBody>
      </p:sp>
      <p:sp>
        <p:nvSpPr>
          <p:cNvPr id="60" name="Rounded Rectangle 59"/>
          <p:cNvSpPr/>
          <p:nvPr/>
        </p:nvSpPr>
        <p:spPr>
          <a:xfrm>
            <a:off x="10543032" y="587044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4A5058"/>
                </a:solidFill>
              </a:rPr>
              <a:t>PROPOSED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 · ON-DEMAND, USD</a:t>
            </a:r>
          </a:p>
        </p:txBody>
      </p:sp>
      <p:sp>
        <p:nvSpPr>
          <p:cNvPr id="3" name="Title 2"/>
          <p:cNvSpPr>
            <a:spLocks noGrp="1"/>
          </p:cNvSpPr>
          <p:nvPr>
            <p:ph type="title" idx="104"/>
          </p:nvPr>
        </p:nvSpPr>
        <p:spPr/>
        <p:txBody>
          <a:bodyPr/>
          <a:lstStyle/>
          <a:p>
            <a:r>
              <a:t>AWS cost estimate for a large bank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451592" y="941832"/>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7A5A12"/>
                </a:solidFill>
              </a:rPr>
              <a:t>ASSUMPTION</a:t>
            </a:r>
          </a:p>
        </p:txBody>
      </p:sp>
      <p:graphicFrame>
        <p:nvGraphicFramePr>
          <p:cNvPr id="27" name="Table 26"/>
          <p:cNvGraphicFramePr>
            <a:graphicFrameLocks noGrp="1"/>
          </p:cNvGraphicFramePr>
          <p:nvPr/>
        </p:nvGraphicFramePr>
        <p:xfrm>
          <a:off x="777240" y="1417320"/>
          <a:ext cx="6400800" cy="4462272"/>
        </p:xfrm>
        <a:graphic>
          <a:graphicData uri="http://schemas.openxmlformats.org/drawingml/2006/table">
            <a:tbl>
              <a:tblPr firstRow="0" bandRow="0">
                <a:tableStyleId>{5940675A-B579-460E-94D1-54222C63F5DA}</a:tableStyleId>
              </a:tblPr>
              <a:tblGrid>
                <a:gridCol w="2834640"/>
                <a:gridCol w="1097280"/>
                <a:gridCol w="1097280"/>
                <a:gridCol w="1371600"/>
              </a:tblGrid>
              <a:tr h="278892">
                <a:tc>
                  <a:txBody>
                    <a:bodyPr wrap="square"/>
                    <a:lstStyle/>
                    <a:p>
                      <a:r>
                        <a:rPr sz="1050" b="1" i="0">
                          <a:solidFill>
                            <a:srgbClr val="FFFFFF"/>
                          </a:solidFill>
                        </a:rPr>
                        <a:t>Monthly, year 7, 39% headroom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 a year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8892">
                <a:tc>
                  <a:txBody>
                    <a:bodyPr wrap="square"/>
                    <a:lstStyle/>
                    <a:p>
                      <a:r>
                        <a:rPr sz="1050" b="0" i="0">
                          <a:solidFill>
                            <a:srgbClr val="1A1A1A"/>
                          </a:solidFill>
                        </a:rPr>
                        <a:t>VaR servers (4,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$10,498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$125,976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EBS gp3 for hot files (4)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$1,320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$15,840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Consoles (2,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$3,805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Lake loads, maintenance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S3: lake, results, content 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$9,021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DR copy (S3 replication)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$753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$9,038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EFS and its backup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$2,280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Amazon MSK (3 brokers)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$6,375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Load balancer (ALB)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NAT and interface endpoints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$2,074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Data transfer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CloudWatch logs and metrics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$2,609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1" i="0">
                          <a:solidFill>
                            <a:srgbClr val="8A1626"/>
                          </a:solidFill>
                        </a:rPr>
                        <a:t>Total, 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$12,119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$14,910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$178,914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  with a 1-year Savings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$12,017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$144,201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  with a 3-year Savings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$7,443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$9,553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$114,637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TextBox 27"/>
          <p:cNvSpPr txBox="1"/>
          <p:nvPr/>
        </p:nvSpPr>
        <p:spPr>
          <a:xfrm>
            <a:off x="7406640" y="1371600"/>
            <a:ext cx="4005072" cy="274320"/>
          </a:xfrm>
          <a:prstGeom prst="rect">
            <a:avLst/>
          </a:prstGeom>
          <a:noFill/>
        </p:spPr>
        <p:txBody>
          <a:bodyPr wrap="square" lIns="0" rIns="0" tIns="0" bIns="0" anchor="ctr">
            <a:spAutoFit/>
          </a:bodyPr>
          <a:lstStyle/>
          <a:p>
            <a:pPr algn="l"/>
            <a:r>
              <a:rPr sz="1250" b="1" i="0">
                <a:solidFill>
                  <a:srgbClr val="A51C30"/>
                </a:solidFill>
              </a:rPr>
              <a:t>The VaR tier: A, B or C  </a:t>
            </a:r>
            <a:r>
              <a:rPr sz="1050" b="0" i="0">
                <a:solidFill>
                  <a:srgbClr val="4A5058"/>
                </a:solidFill>
              </a:rPr>
              <a:t>servers and EBS, $ a month</a:t>
            </a:r>
          </a:p>
        </p:txBody>
      </p:sp>
      <p:graphicFrame>
        <p:nvGraphicFramePr>
          <p:cNvPr id="29" name="Table 28"/>
          <p:cNvGraphicFramePr>
            <a:graphicFrameLocks noGrp="1"/>
          </p:cNvGraphicFramePr>
          <p:nvPr/>
        </p:nvGraphicFramePr>
        <p:xfrm>
          <a:off x="7406640" y="1691640"/>
          <a:ext cx="4005072" cy="1463040"/>
        </p:xfrm>
        <a:graphic>
          <a:graphicData uri="http://schemas.openxmlformats.org/drawingml/2006/table">
            <a:tbl>
              <a:tblPr firstRow="0" bandRow="0">
                <a:tableStyleId>{5940675A-B579-460E-94D1-54222C63F5DA}</a:tableStyleId>
              </a:tblPr>
              <a:tblGrid>
                <a:gridCol w="1691640"/>
                <a:gridCol w="868680"/>
                <a:gridCol w="777240"/>
                <a:gridCol w="667512"/>
              </a:tblGrid>
              <a:tr h="292608">
                <a:tc>
                  <a:txBody>
                    <a:bodyPr wrap="square"/>
                    <a:lstStyle/>
                    <a:p>
                      <a:r>
                        <a:rPr sz="1050" b="1" i="0">
                          <a:solidFill>
                            <a:srgbClr val="FFFFFF"/>
                          </a:solidFill>
                        </a:rPr>
                        <a:t>Option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3-yr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 Spot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050" b="0" i="0">
                          <a:solidFill>
                            <a:srgbClr val="1A1A1A"/>
                          </a:solidFill>
                        </a:rPr>
                        <a:t>A: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$6,618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0" i="0">
                          <a:solidFill>
                            <a:srgbClr val="1A1A1A"/>
                          </a:solidFill>
                        </a:rPr>
                        <a:t>B: √10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$8,633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$5,200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050" b="0" i="0">
                          <a:solidFill>
                            <a:srgbClr val="1A1A1A"/>
                          </a:solidFill>
                        </a:rPr>
                        <a:t>C: sharded, 24 ×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$7,373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1" i="0">
                          <a:solidFill>
                            <a:srgbClr val="8A1626"/>
                          </a:solidFill>
                        </a:rPr>
                        <a:t>C: scale-in off-hours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$5,050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$2,966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A51C30"/>
                          </a:solidFill>
                        </a:rPr>
                        <a:t>$2,785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7406640" y="3291840"/>
            <a:ext cx="4005072"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406640" y="32918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571231" y="3364992"/>
            <a:ext cx="3749040" cy="1490472"/>
          </a:xfrm>
          <a:prstGeom prst="rect">
            <a:avLst/>
          </a:prstGeom>
          <a:noFill/>
        </p:spPr>
        <p:txBody>
          <a:bodyPr wrap="square" lIns="0" rIns="0" tIns="0" bIns="0" anchor="t">
            <a:spAutoFit/>
          </a:bodyPr>
          <a:lstStyle/>
          <a:p>
            <a:pPr algn="l">
              <a:spcAft>
                <a:spcPts val="400"/>
              </a:spcAft>
            </a:pPr>
            <a:r>
              <a:rPr sz="1300" b="1" i="0">
                <a:solidFill>
                  <a:srgbClr val="8A1626"/>
                </a:solidFill>
              </a:rPr>
              <a:t>Honest on both sides</a:t>
            </a:r>
          </a:p>
          <a:p>
            <a:pPr algn="l" marL="146304" indent="-146304">
              <a:spcAft>
                <a:spcPts val="200"/>
              </a:spcAft>
              <a:buClr>
                <a:srgbClr val="A51C30"/>
              </a:buClr>
              <a:buSzPct val="100000"/>
              <a:buFont typeface="Arial"/>
              <a:buChar char="▪"/>
            </a:pPr>
            <a:r>
              <a:rPr sz="1050" b="0" i="0">
                <a:solidFill>
                  <a:srgbClr val="1A1A1A"/>
                </a:solidFill>
              </a:rPr>
              <a:t>One full copy costs more on Fargate: 8 tasks $3,640 against one EC2 server $2,954 a month</a:t>
            </a:r>
          </a:p>
          <a:p>
            <a:pPr algn="l" marL="146304" indent="-146304">
              <a:spcAft>
                <a:spcPts val="200"/>
              </a:spcAft>
              <a:buClr>
                <a:srgbClr val="A51C30"/>
              </a:buClr>
              <a:buSzPct val="100000"/>
              <a:buFont typeface="Arial"/>
              <a:buChar char="▪"/>
            </a:pPr>
            <a:r>
              <a:rPr sz="1050" b="0" i="0">
                <a:solidFill>
                  <a:srgbClr val="1A1A1A"/>
                </a:solidFill>
              </a:rPr>
              <a:t>C wins by needing 2 copies, not 4, scaling replicas in off-hours, Spot for second replicas, growing by adding tasks</a:t>
            </a:r>
          </a:p>
          <a:p>
            <a:pPr algn="l" marL="146304" indent="-146304">
              <a:spcAft>
                <a:spcPts val="200"/>
              </a:spcAft>
              <a:buClr>
                <a:srgbClr val="A51C30"/>
              </a:buClr>
              <a:buSzPct val="100000"/>
              <a:buFont typeface="Arial"/>
              <a:buChar char="▪"/>
            </a:pPr>
            <a:r>
              <a:rPr sz="1050" b="0" i="0">
                <a:solidFill>
                  <a:srgbClr val="1A1A1A"/>
                </a:solidFill>
              </a:rPr>
              <a:t>C beats A once A needs more than 2.5 full copies; A needs 4</a:t>
            </a:r>
          </a:p>
        </p:txBody>
      </p:sp>
      <p:sp>
        <p:nvSpPr>
          <p:cNvPr id="33" name="Rectangle 32"/>
          <p:cNvSpPr/>
          <p:nvPr/>
        </p:nvSpPr>
        <p:spPr>
          <a:xfrm>
            <a:off x="7406640" y="4983480"/>
            <a:ext cx="4005072" cy="12618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406640" y="4983480"/>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7571231" y="5056632"/>
            <a:ext cx="3749040" cy="1152143"/>
          </a:xfrm>
          <a:prstGeom prst="rect">
            <a:avLst/>
          </a:prstGeom>
          <a:noFill/>
        </p:spPr>
        <p:txBody>
          <a:bodyPr wrap="square" lIns="0" rIns="0" tIns="0" bIns="0" anchor="t">
            <a:spAutoFit/>
          </a:bodyPr>
          <a:lstStyle/>
          <a:p>
            <a:pPr algn="l">
              <a:spcAft>
                <a:spcPts val="400"/>
              </a:spcAft>
            </a:pPr>
            <a:r>
              <a:rPr sz="1300" b="1" i="0">
                <a:solidFill>
                  <a:srgbClr val="8A1626"/>
                </a:solidFill>
              </a:rPr>
              <a:t>Recommendation</a:t>
            </a:r>
          </a:p>
          <a:p>
            <a:pPr algn="l"/>
            <a:r>
              <a:rPr sz="1100" b="1" i="0">
                <a:solidFill>
                  <a:srgbClr val="8A1626"/>
                </a:solidFill>
              </a:rPr>
              <a:t>A to start; C once sharding runs on Fargate: </a:t>
            </a:r>
            <a:r>
              <a:rPr sz="1100" b="0" i="0">
                <a:solidFill>
                  <a:srgbClr val="1A1A1A"/>
                </a:solidFill>
              </a:rPr>
              <a:t>the cheapest ($2,785 against $6,618 a month with 3-year plans) and fully ECS-native.</a:t>
            </a:r>
          </a:p>
        </p:txBody>
      </p:sp>
      <p:sp>
        <p:nvSpPr>
          <p:cNvPr id="36" name="TextBox 35"/>
          <p:cNvSpPr txBox="1"/>
          <p:nvPr/>
        </p:nvSpPr>
        <p:spPr>
          <a:xfrm>
            <a:off x="777240" y="5897880"/>
            <a:ext cx="6400800" cy="365760"/>
          </a:xfrm>
          <a:prstGeom prst="rect">
            <a:avLst/>
          </a:prstGeom>
          <a:noFill/>
        </p:spPr>
        <p:txBody>
          <a:bodyPr wrap="square" lIns="0" rIns="0" tIns="0" bIns="0" anchor="ctr">
            <a:spAutoFit/>
          </a:bodyPr>
          <a:lstStyle/>
          <a:p>
            <a:pPr algn="l"/>
            <a:r>
              <a:rPr sz="1000" b="0" i="1">
                <a:solidFill>
                  <a:srgbClr val="4A5058"/>
                </a:solidFill>
              </a:rPr>
              <a:t>Prices: AWS public on-demand list prices for the example Region, read 2026-10-27 (ASSUMPTION); quantities from the capacity slides (ESTIMATED). Verify before quoting.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07</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Operations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THE DAILY CYCLE</a:t>
            </a:r>
          </a:p>
        </p:txBody>
      </p:sp>
      <p:sp>
        <p:nvSpPr>
          <p:cNvPr id="3" name="Title 2"/>
          <p:cNvSpPr>
            <a:spLocks noGrp="1"/>
          </p:cNvSpPr>
          <p:nvPr>
            <p:ph type="title" idx="104"/>
          </p:nvPr>
        </p:nvSpPr>
        <p:spPr/>
        <p:txBody>
          <a:bodyPr/>
          <a:lstStyle/>
          <a:p>
            <a:r>
              <a:t>From the full run to intraday, every business date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44168" y="1508760"/>
            <a:ext cx="1812798" cy="365760"/>
          </a:xfrm>
          <a:prstGeom prst="rect">
            <a:avLst/>
          </a:prstGeom>
          <a:noFill/>
        </p:spPr>
        <p:txBody>
          <a:bodyPr wrap="square" lIns="0" rIns="0" tIns="0" bIns="0" anchor="ctr">
            <a:spAutoFit/>
          </a:bodyPr>
          <a:lstStyle/>
          <a:p>
            <a:pPr algn="l"/>
            <a:r>
              <a:rPr sz="1300" b="1" i="0">
                <a:solidFill>
                  <a:srgbClr val="8A1626"/>
                </a:solidFill>
              </a:rPr>
              <a:t>Full run lands</a:t>
            </a:r>
          </a:p>
        </p:txBody>
      </p:sp>
      <p:sp>
        <p:nvSpPr>
          <p:cNvPr id="29" name="TextBox 28"/>
          <p:cNvSpPr txBox="1"/>
          <p:nvPr/>
        </p:nvSpPr>
        <p:spPr>
          <a:xfrm>
            <a:off x="905256" y="1920240"/>
            <a:ext cx="2233422" cy="804672"/>
          </a:xfrm>
          <a:prstGeom prst="rect">
            <a:avLst/>
          </a:prstGeom>
          <a:noFill/>
        </p:spPr>
        <p:txBody>
          <a:bodyPr wrap="square" lIns="0" rIns="0" tIns="0" bIns="0" anchor="t">
            <a:spAutoFit/>
          </a:bodyPr>
          <a:lstStyle/>
          <a:p>
            <a:pPr algn="l"/>
            <a:r>
              <a:rPr sz="1050" b="0" i="0">
                <a:solidFill>
                  <a:srgbClr val="4A5058"/>
                </a:solidFill>
              </a:rPr>
              <a:t>after the close: scenario set, every live trade, hierarchies, portfolios; JSONL into the lake, then the load signal</a:t>
            </a:r>
          </a:p>
        </p:txBody>
      </p:sp>
      <p:cxnSp>
        <p:nvCxnSpPr>
          <p:cNvPr id="30" name="Connector 29"/>
          <p:cNvCxnSpPr/>
          <p:nvPr/>
        </p:nvCxnSpPr>
        <p:spPr>
          <a:xfrm>
            <a:off x="3257550"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04438"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1416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71365" y="1508760"/>
            <a:ext cx="1812798" cy="365760"/>
          </a:xfrm>
          <a:prstGeom prst="rect">
            <a:avLst/>
          </a:prstGeom>
          <a:noFill/>
        </p:spPr>
        <p:txBody>
          <a:bodyPr wrap="square" lIns="0" rIns="0" tIns="0" bIns="0" anchor="ctr">
            <a:spAutoFit/>
          </a:bodyPr>
          <a:lstStyle/>
          <a:p>
            <a:pPr algn="l"/>
            <a:r>
              <a:rPr sz="1300" b="1" i="0">
                <a:solidFill>
                  <a:srgbClr val="8A1626"/>
                </a:solidFill>
              </a:rPr>
              <a:t>Date loads</a:t>
            </a:r>
          </a:p>
        </p:txBody>
      </p:sp>
      <p:sp>
        <p:nvSpPr>
          <p:cNvPr id="34" name="TextBox 33"/>
          <p:cNvSpPr txBox="1"/>
          <p:nvPr/>
        </p:nvSpPr>
        <p:spPr>
          <a:xfrm>
            <a:off x="3632454" y="1920240"/>
            <a:ext cx="2233422" cy="804672"/>
          </a:xfrm>
          <a:prstGeom prst="rect">
            <a:avLst/>
          </a:prstGeom>
          <a:noFill/>
        </p:spPr>
        <p:txBody>
          <a:bodyPr wrap="square" lIns="0" rIns="0" tIns="0" bIns="0" anchor="t">
            <a:spAutoFit/>
          </a:bodyPr>
          <a:lstStyle/>
          <a:p>
            <a:pPr algn="l"/>
            <a:r>
              <a:rPr sz="1050" b="0" i="0">
                <a:solidFill>
                  <a:srgbClr val="4A5058"/>
                </a:solidFill>
              </a:rPr>
              <a:t>every row checked; positions derived; nodes summed; the hot file built; currencies built ahead</a:t>
            </a:r>
          </a:p>
        </p:txBody>
      </p:sp>
      <p:cxnSp>
        <p:nvCxnSpPr>
          <p:cNvPr id="35" name="Connector 34"/>
          <p:cNvCxnSpPr/>
          <p:nvPr/>
        </p:nvCxnSpPr>
        <p:spPr>
          <a:xfrm>
            <a:off x="5984748"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31636"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41364"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98564" y="1508760"/>
            <a:ext cx="1812798" cy="365760"/>
          </a:xfrm>
          <a:prstGeom prst="rect">
            <a:avLst/>
          </a:prstGeom>
          <a:noFill/>
        </p:spPr>
        <p:txBody>
          <a:bodyPr wrap="square" lIns="0" rIns="0" tIns="0" bIns="0" anchor="ctr">
            <a:spAutoFit/>
          </a:bodyPr>
          <a:lstStyle/>
          <a:p>
            <a:pPr algn="l"/>
            <a:r>
              <a:rPr sz="1300" b="1" i="0">
                <a:solidFill>
                  <a:srgbClr val="8A1626"/>
                </a:solidFill>
              </a:rPr>
              <a:t>Official record</a:t>
            </a:r>
          </a:p>
        </p:txBody>
      </p:sp>
      <p:sp>
        <p:nvSpPr>
          <p:cNvPr id="39" name="TextBox 38"/>
          <p:cNvSpPr txBox="1"/>
          <p:nvPr/>
        </p:nvSpPr>
        <p:spPr>
          <a:xfrm>
            <a:off x="6359651" y="1920240"/>
            <a:ext cx="2233422" cy="804672"/>
          </a:xfrm>
          <a:prstGeom prst="rect">
            <a:avLst/>
          </a:prstGeom>
          <a:noFill/>
        </p:spPr>
        <p:txBody>
          <a:bodyPr wrap="square" lIns="0" rIns="0" tIns="0" bIns="0" anchor="t">
            <a:spAutoFit/>
          </a:bodyPr>
          <a:lstStyle/>
          <a:p>
            <a:pPr algn="l"/>
            <a:r>
              <a:rPr sz="1050" b="0" i="0">
                <a:solidFill>
                  <a:srgbClr val="4A5058"/>
                </a:solidFill>
              </a:rPr>
              <a:t>every node of every tree captured from the full run, published append-only, with JSONL</a:t>
            </a:r>
          </a:p>
        </p:txBody>
      </p:sp>
      <p:cxnSp>
        <p:nvCxnSpPr>
          <p:cNvPr id="40" name="Connector 39"/>
          <p:cNvCxnSpPr/>
          <p:nvPr/>
        </p:nvCxnSpPr>
        <p:spPr>
          <a:xfrm>
            <a:off x="8711945"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58834"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68561"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25761" y="1508760"/>
            <a:ext cx="1812798" cy="365760"/>
          </a:xfrm>
          <a:prstGeom prst="rect">
            <a:avLst/>
          </a:prstGeom>
          <a:noFill/>
        </p:spPr>
        <p:txBody>
          <a:bodyPr wrap="square" lIns="0" rIns="0" tIns="0" bIns="0" anchor="ctr">
            <a:spAutoFit/>
          </a:bodyPr>
          <a:lstStyle/>
          <a:p>
            <a:pPr algn="l"/>
            <a:r>
              <a:rPr sz="1300" b="1" i="0">
                <a:solidFill>
                  <a:srgbClr val="8A1626"/>
                </a:solidFill>
              </a:rPr>
              <a:t>Intraday</a:t>
            </a:r>
          </a:p>
        </p:txBody>
      </p:sp>
      <p:sp>
        <p:nvSpPr>
          <p:cNvPr id="44" name="TextBox 43"/>
          <p:cNvSpPr txBox="1"/>
          <p:nvPr/>
        </p:nvSpPr>
        <p:spPr>
          <a:xfrm>
            <a:off x="9086850" y="1920240"/>
            <a:ext cx="2233422" cy="804672"/>
          </a:xfrm>
          <a:prstGeom prst="rect">
            <a:avLst/>
          </a:prstGeom>
          <a:noFill/>
        </p:spPr>
        <p:txBody>
          <a:bodyPr wrap="square" lIns="0" rIns="0" tIns="0" bIns="0" anchor="t">
            <a:spAutoFit/>
          </a:bodyPr>
          <a:lstStyle/>
          <a:p>
            <a:pPr algn="l"/>
            <a:r>
              <a:rPr sz="1050" b="0" i="0">
                <a:solidFill>
                  <a:srgbClr val="4A5058"/>
                </a:solidFill>
              </a:rPr>
              <a:t>changed trades or positions only, files or 5-minute Kafka windows; answers say intraday; the record stays</a:t>
            </a:r>
          </a:p>
        </p:txBody>
      </p:sp>
      <p:graphicFrame>
        <p:nvGraphicFramePr>
          <p:cNvPr id="45" name="Table 44"/>
          <p:cNvGraphicFramePr>
            <a:graphicFrameLocks noGrp="1"/>
          </p:cNvGraphicFramePr>
          <p:nvPr/>
        </p:nvGraphicFramePr>
        <p:xfrm>
          <a:off x="777240" y="2880360"/>
          <a:ext cx="6309360" cy="2304288"/>
        </p:xfrm>
        <a:graphic>
          <a:graphicData uri="http://schemas.openxmlformats.org/drawingml/2006/table">
            <a:tbl>
              <a:tblPr firstRow="0" bandRow="0">
                <a:tableStyleId>{5940675A-B579-460E-94D1-54222C63F5DA}</a:tableStyleId>
              </a:tblPr>
              <a:tblGrid>
                <a:gridCol w="2103120"/>
                <a:gridCol w="4206240"/>
              </a:tblGrid>
              <a:tr h="384048">
                <a:tc>
                  <a:txBody>
                    <a:bodyPr wrap="square"/>
                    <a:lstStyle/>
                    <a:p>
                      <a:r>
                        <a:rPr sz="1050" b="1" i="0">
                          <a:solidFill>
                            <a:srgbClr val="FFFFFF"/>
                          </a:solidFill>
                        </a:rPr>
                        <a:t>Monitoring, as 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What it shows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GET /api/v1/var/status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loaded dates, trades, positions, nodes, load time, rejected, excluded, batch ids, refused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GET …/var/intraday/streams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topic, state, waiting trades, offsets, last ten windows, newest rejections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Provenance on every answer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inputs by system, rejections by code, intraday batches applied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Admin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Audit, Lakes (maintenance), the connector's Apply 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drishti.py var 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same status from the command line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6" name="Rectangle 45"/>
          <p:cNvSpPr/>
          <p:nvPr/>
        </p:nvSpPr>
        <p:spPr>
          <a:xfrm>
            <a:off x="7315200" y="2880360"/>
            <a:ext cx="4096512"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315200" y="288036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7479792" y="2953512"/>
            <a:ext cx="3840480" cy="2221991"/>
          </a:xfrm>
          <a:prstGeom prst="rect">
            <a:avLst/>
          </a:prstGeom>
          <a:noFill/>
        </p:spPr>
        <p:txBody>
          <a:bodyPr wrap="square" lIns="0" rIns="0" tIns="0" bIns="0" anchor="t">
            <a:spAutoFit/>
          </a:bodyPr>
          <a:lstStyle/>
          <a:p>
            <a:pPr algn="l">
              <a:spcAft>
                <a:spcPts val="400"/>
              </a:spcAft>
            </a:pPr>
            <a:r>
              <a:rPr sz="1300" b="1" i="0">
                <a:solidFill>
                  <a:srgbClr val="8A1626"/>
                </a:solidFill>
              </a:rPr>
              <a:t>What to check each morning</a:t>
            </a:r>
          </a:p>
          <a:p>
            <a:pPr algn="l" marL="146304" indent="-146304">
              <a:spcAft>
                <a:spcPts val="150"/>
              </a:spcAft>
              <a:buClr>
                <a:srgbClr val="A51C30"/>
              </a:buClr>
              <a:buSzPct val="100000"/>
              <a:buFont typeface="Arial"/>
              <a:buChar char="▪"/>
            </a:pPr>
            <a:r>
              <a:rPr sz="1050" b="0" i="0">
                <a:solidFill>
                  <a:srgbClr val="1A1A1A"/>
                </a:solidFill>
              </a:rPr>
              <a:t>The newest date is loaded, from one run (one BATCH_ID)</a:t>
            </a:r>
          </a:p>
          <a:p>
            <a:pPr algn="l" marL="146304" indent="-146304">
              <a:spcAft>
                <a:spcPts val="150"/>
              </a:spcAft>
              <a:buClr>
                <a:srgbClr val="A51C30"/>
              </a:buClr>
              <a:buSzPct val="100000"/>
              <a:buFont typeface="Arial"/>
              <a:buChar char="▪"/>
            </a:pPr>
            <a:r>
              <a:rPr sz="1050" b="0" i="0">
                <a:solidFill>
                  <a:srgbClr val="1A1A1A"/>
                </a:solidFill>
              </a:rPr>
              <a:t>Refused rows and refused dates are zero, or explained</a:t>
            </a:r>
          </a:p>
          <a:p>
            <a:pPr algn="l" marL="146304" indent="-146304">
              <a:spcAft>
                <a:spcPts val="150"/>
              </a:spcAft>
              <a:buClr>
                <a:srgbClr val="A51C30"/>
              </a:buClr>
              <a:buSzPct val="100000"/>
              <a:buFont typeface="Arial"/>
              <a:buChar char="▪"/>
            </a:pPr>
            <a:r>
              <a:rPr sz="1050" b="0" i="0">
                <a:solidFill>
                  <a:srgbClr val="1A1A1A"/>
                </a:solidFill>
              </a:rPr>
              <a:t>The official record exists; no publishError</a:t>
            </a:r>
          </a:p>
          <a:p>
            <a:pPr algn="l" marL="146304" indent="-146304">
              <a:spcAft>
                <a:spcPts val="150"/>
              </a:spcAft>
              <a:buClr>
                <a:srgbClr val="A51C30"/>
              </a:buClr>
              <a:buSzPct val="100000"/>
              <a:buFont typeface="Arial"/>
              <a:buChar char="▪"/>
            </a:pPr>
            <a:r>
              <a:rPr sz="1050" b="0" i="0">
                <a:solidFill>
                  <a:srgbClr val="1A1A1A"/>
                </a:solidFill>
              </a:rPr>
              <a:t>Each system arrived in its expected form and grain</a:t>
            </a:r>
          </a:p>
          <a:p>
            <a:pPr algn="l" marL="146304" indent="-146304">
              <a:spcAft>
                <a:spcPts val="150"/>
              </a:spcAft>
              <a:buClr>
                <a:srgbClr val="A51C30"/>
              </a:buClr>
              <a:buSzPct val="100000"/>
              <a:buFont typeface="Arial"/>
              <a:buChar char="▪"/>
            </a:pPr>
            <a:r>
              <a:rPr sz="1050" b="0" i="0">
                <a:solidFill>
                  <a:srgbClr val="1A1A1A"/>
                </a:solidFill>
              </a:rPr>
              <a:t>Limit use: amber 75%, red 90%; the backtest light</a:t>
            </a:r>
          </a:p>
          <a:p>
            <a:pPr algn="l" marL="146304" indent="-146304">
              <a:spcAft>
                <a:spcPts val="150"/>
              </a:spcAft>
              <a:buClr>
                <a:srgbClr val="A51C30"/>
              </a:buClr>
              <a:buSzPct val="100000"/>
              <a:buFont typeface="Arial"/>
              <a:buChar char="▪"/>
            </a:pPr>
            <a:r>
              <a:rPr sz="1050" b="0" i="0">
                <a:solidFill>
                  <a:srgbClr val="1A1A1A"/>
                </a:solidFill>
              </a:rPr>
              <a:t>Intraday streams: nothing waiting long; no rejections</a:t>
            </a:r>
          </a:p>
        </p:txBody>
      </p:sp>
      <p:sp>
        <p:nvSpPr>
          <p:cNvPr id="49" name="TextBox 48"/>
          <p:cNvSpPr txBox="1"/>
          <p:nvPr/>
        </p:nvSpPr>
        <p:spPr>
          <a:xfrm>
            <a:off x="777240" y="5440680"/>
            <a:ext cx="10634472" cy="777240"/>
          </a:xfrm>
          <a:prstGeom prst="rect">
            <a:avLst/>
          </a:prstGeom>
          <a:noFill/>
        </p:spPr>
        <p:txBody>
          <a:bodyPr wrap="square" lIns="0" rIns="0" tIns="0" bIns="0" anchor="ctr">
            <a:spAutoFit/>
          </a:bodyPr>
          <a:lstStyle/>
          <a:p>
            <a:pPr algn="l"/>
            <a:r>
              <a:rPr sz="1150" b="1" i="0">
                <a:solidFill>
                  <a:srgbClr val="8A1626"/>
                </a:solidFill>
              </a:rPr>
              <a:t>Not checked by the engine today: </a:t>
            </a:r>
            <a:r>
              <a:rPr sz="1150" b="0" i="0">
                <a:solidFill>
                  <a:srgbClr val="4A5058"/>
                </a:solidFill>
              </a:rPr>
              <a:t>the batch's due time and its completeness against the trades booked (planned in the VaR guide); agree them with the pricing-system teams.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FAILURE HANDLING</a:t>
            </a:r>
          </a:p>
        </p:txBody>
      </p:sp>
      <p:sp>
        <p:nvSpPr>
          <p:cNvPr id="3" name="Title 2"/>
          <p:cNvSpPr>
            <a:spLocks noGrp="1"/>
          </p:cNvSpPr>
          <p:nvPr>
            <p:ph type="title" idx="104"/>
          </p:nvPr>
        </p:nvSpPr>
        <p:spPr/>
        <p:txBody>
          <a:bodyPr/>
          <a:lstStyle/>
          <a:p>
            <a:r>
              <a:t>When something goes wrong, and the runbook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10634472" cy="3474720"/>
        </p:xfrm>
        <a:graphic>
          <a:graphicData uri="http://schemas.openxmlformats.org/drawingml/2006/table">
            <a:tbl>
              <a:tblPr firstRow="0" bandRow="0">
                <a:tableStyleId>{5940675A-B579-460E-94D1-54222C63F5DA}</a:tableStyleId>
              </a:tblPr>
              <a:tblGrid>
                <a:gridCol w="3657600"/>
                <a:gridCol w="3566160"/>
                <a:gridCol w="3410712"/>
              </a:tblGrid>
              <a:tr h="347472">
                <a:tc>
                  <a:txBody>
                    <a:bodyPr wrap="square"/>
                    <a:lstStyle/>
                    <a:p>
                      <a:r>
                        <a:rPr sz="1100" b="1" i="0">
                          <a:solidFill>
                            <a:srgbClr val="FFFFFF"/>
                          </a:solidFill>
                        </a:rPr>
                        <a:t>Situation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operator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47472">
                <a:tc>
                  <a:txBody>
                    <a:bodyPr wrap="square"/>
                    <a:lstStyle/>
                    <a:p>
                      <a:r>
                        <a:rPr sz="1100" b="1" i="0">
                          <a:solidFill>
                            <a:srgbClr val="8A1626"/>
                          </a:solidFill>
                        </a:rPr>
                        <a:t>Bad rows (DRS-5201, 5206, 5207, 5208, 5209)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refuses each row, names it; never zero-fills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rows, restate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A trade twice on a date (DRS-5202)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does not load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restate with one row per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Two runs or sets on a date (DRS-5203)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answers the date before, with a warning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restate as one run; signal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Second form or grain from a system (DRS-5210)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refuses: never a double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fix the system's output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A date over the memory budget (DRS-5204)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503; never loads part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raise memory-budget-mb or heap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Restatement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reloads; next result version; old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rewrite the whole date, new BATCH_ID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Publish fails (disk, root)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records publishError; capture stands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root; capture again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Damaged or old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reads the lake, rebuilds the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Restart, or a Kafka replay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rebuilds from the lake; writes nothing twice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TextBox 26"/>
          <p:cNvSpPr txBox="1"/>
          <p:nvPr/>
        </p:nvSpPr>
        <p:spPr>
          <a:xfrm>
            <a:off x="777240" y="5230368"/>
            <a:ext cx="1280160" cy="365760"/>
          </a:xfrm>
          <a:prstGeom prst="rect">
            <a:avLst/>
          </a:prstGeom>
          <a:noFill/>
        </p:spPr>
        <p:txBody>
          <a:bodyPr wrap="square" lIns="0" rIns="0" tIns="0" bIns="0" anchor="ctr">
            <a:spAutoFit/>
          </a:bodyPr>
          <a:lstStyle/>
          <a:p>
            <a:pPr algn="l"/>
            <a:r>
              <a:rPr sz="1300" b="1" i="0">
                <a:solidFill>
                  <a:srgbClr val="A51C30"/>
                </a:solidFill>
              </a:rPr>
              <a:t>Runbook</a:t>
            </a:r>
          </a:p>
        </p:txBody>
      </p:sp>
      <p:sp>
        <p:nvSpPr>
          <p:cNvPr id="28" name="Rectangle 27"/>
          <p:cNvSpPr/>
          <p:nvPr/>
        </p:nvSpPr>
        <p:spPr>
          <a:xfrm>
            <a:off x="2057400"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1  Check status and provenance</a:t>
            </a:r>
          </a:p>
        </p:txBody>
      </p:sp>
      <p:cxnSp>
        <p:nvCxnSpPr>
          <p:cNvPr id="29" name="Connector 28"/>
          <p:cNvCxnSpPr/>
          <p:nvPr/>
        </p:nvCxnSpPr>
        <p:spPr>
          <a:xfrm>
            <a:off x="3763670"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973982"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2  Name the code</a:t>
            </a:r>
          </a:p>
        </p:txBody>
      </p:sp>
      <p:cxnSp>
        <p:nvCxnSpPr>
          <p:cNvPr id="31" name="Connector 30"/>
          <p:cNvCxnSpPr/>
          <p:nvPr/>
        </p:nvCxnSpPr>
        <p:spPr>
          <a:xfrm>
            <a:off x="5680252"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890564"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3  Fix at source</a:t>
            </a:r>
          </a:p>
        </p:txBody>
      </p:sp>
      <p:cxnSp>
        <p:nvCxnSpPr>
          <p:cNvPr id="33" name="Connector 32"/>
          <p:cNvCxnSpPr/>
          <p:nvPr/>
        </p:nvCxnSpPr>
        <p:spPr>
          <a:xfrm>
            <a:off x="7596835"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807147"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4  Restate the whole date</a:t>
            </a:r>
          </a:p>
        </p:txBody>
      </p:sp>
      <p:cxnSp>
        <p:nvCxnSpPr>
          <p:cNvPr id="35" name="Connector 34"/>
          <p:cNvCxnSpPr/>
          <p:nvPr/>
        </p:nvCxnSpPr>
        <p:spPr>
          <a:xfrm>
            <a:off x="9513417"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723729"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5  Signal; verify the version</a:t>
            </a:r>
          </a:p>
        </p:txBody>
      </p:sp>
      <p:sp>
        <p:nvSpPr>
          <p:cNvPr id="37" name="TextBox 36"/>
          <p:cNvSpPr txBox="1"/>
          <p:nvPr/>
        </p:nvSpPr>
        <p:spPr>
          <a:xfrm>
            <a:off x="777240" y="5760720"/>
            <a:ext cx="10634472" cy="457200"/>
          </a:xfrm>
          <a:prstGeom prst="rect">
            <a:avLst/>
          </a:prstGeom>
          <a:noFill/>
        </p:spPr>
        <p:txBody>
          <a:bodyPr wrap="square" lIns="0" rIns="0" tIns="0" bIns="0" anchor="ctr">
            <a:spAutoFit/>
          </a:bodyPr>
          <a:lstStyle/>
          <a:p>
            <a:pPr algn="l"/>
            <a:r>
              <a:rPr sz="1150" b="0" i="1">
                <a:solidFill>
                  <a:srgbClr val="4A5058"/>
                </a:solidFill>
              </a:rPr>
              <a:t>The engine never guesses: a bad row is refused and named; a date that cannot load as one run is not loaded, and the day before is answered with a warning rather than a wrong number.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08</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Model risk and controls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REPRODUCIBILITY AND BACKTESTING</a:t>
            </a:r>
          </a:p>
        </p:txBody>
      </p:sp>
      <p:sp>
        <p:nvSpPr>
          <p:cNvPr id="3" name="Title 2"/>
          <p:cNvSpPr>
            <a:spLocks noGrp="1"/>
          </p:cNvSpPr>
          <p:nvPr>
            <p:ph type="title" idx="104"/>
          </p:nvPr>
        </p:nvSpPr>
        <p:spPr/>
        <p:txBody>
          <a:bodyPr/>
          <a:lstStyle/>
          <a:p>
            <a:r>
              <a:t>Every number reproducible, every day backtested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5120640" cy="274320"/>
          </a:xfrm>
          <a:prstGeom prst="rect">
            <a:avLst/>
          </a:prstGeom>
          <a:noFill/>
        </p:spPr>
        <p:txBody>
          <a:bodyPr wrap="square" lIns="0" rIns="0" tIns="0" bIns="0" anchor="ctr">
            <a:spAutoFit/>
          </a:bodyPr>
          <a:lstStyle/>
          <a:p>
            <a:pPr algn="l"/>
            <a:r>
              <a:rPr sz="1300" b="1" i="0">
                <a:solidFill>
                  <a:srgbClr val="A51C30"/>
                </a:solidFill>
              </a:rPr>
              <a:t>Reproducibility, as built</a:t>
            </a:r>
          </a:p>
        </p:txBody>
      </p:sp>
      <p:sp>
        <p:nvSpPr>
          <p:cNvPr id="27" name="Rectangle 26"/>
          <p:cNvSpPr/>
          <p:nvPr/>
        </p:nvSpPr>
        <p:spPr>
          <a:xfrm>
            <a:off x="777240" y="171907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86968" y="1719072"/>
            <a:ext cx="4937759" cy="493776"/>
          </a:xfrm>
          <a:prstGeom prst="rect">
            <a:avLst/>
          </a:prstGeom>
          <a:noFill/>
        </p:spPr>
        <p:txBody>
          <a:bodyPr wrap="square" lIns="0" rIns="0" tIns="0" bIns="0" anchor="ctr">
            <a:spAutoFit/>
          </a:bodyPr>
          <a:lstStyle/>
          <a:p>
            <a:pPr algn="l"/>
            <a:r>
              <a:rPr sz="1150" b="1" i="0">
                <a:solidFill>
                  <a:srgbClr val="8A1626"/>
                </a:solidFill>
              </a:rPr>
              <a:t>Versions on every answer</a:t>
            </a:r>
          </a:p>
          <a:p>
            <a:pPr algn="l"/>
            <a:r>
              <a:rPr sz="1050" b="0" i="0">
                <a:solidFill>
                  <a:srgbClr val="4A5058"/>
                </a:solidFill>
              </a:rPr>
              <a:t>inputs' data versions, batch ids, scenario set, method, engine version</a:t>
            </a:r>
          </a:p>
        </p:txBody>
      </p:sp>
      <p:sp>
        <p:nvSpPr>
          <p:cNvPr id="29" name="Rectangle 28"/>
          <p:cNvSpPr/>
          <p:nvPr/>
        </p:nvSpPr>
        <p:spPr>
          <a:xfrm>
            <a:off x="777240" y="226771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86968" y="2267712"/>
            <a:ext cx="4937759" cy="493776"/>
          </a:xfrm>
          <a:prstGeom prst="rect">
            <a:avLst/>
          </a:prstGeom>
          <a:noFill/>
        </p:spPr>
        <p:txBody>
          <a:bodyPr wrap="square" lIns="0" rIns="0" tIns="0" bIns="0" anchor="ctr">
            <a:spAutoFit/>
          </a:bodyPr>
          <a:lstStyle/>
          <a:p>
            <a:pPr algn="l"/>
            <a:r>
              <a:rPr sz="1150" b="1" i="0">
                <a:solidFill>
                  <a:srgbClr val="8A1626"/>
                </a:solidFill>
              </a:rPr>
              <a:t>Digests</a:t>
            </a:r>
          </a:p>
          <a:p>
            <a:pPr algn="l"/>
            <a:r>
              <a:rPr sz="1050" b="0" i="0">
                <a:solidFill>
                  <a:srgbClr val="4A5058"/>
                </a:solidFill>
              </a:rPr>
              <a:t>the position rules' text and digest, the membership hash</a:t>
            </a:r>
          </a:p>
        </p:txBody>
      </p:sp>
      <p:sp>
        <p:nvSpPr>
          <p:cNvPr id="31" name="Rectangle 30"/>
          <p:cNvSpPr/>
          <p:nvPr/>
        </p:nvSpPr>
        <p:spPr>
          <a:xfrm>
            <a:off x="777240" y="281635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86968" y="2816352"/>
            <a:ext cx="4937759" cy="493776"/>
          </a:xfrm>
          <a:prstGeom prst="rect">
            <a:avLst/>
          </a:prstGeom>
          <a:noFill/>
        </p:spPr>
        <p:txBody>
          <a:bodyPr wrap="square" lIns="0" rIns="0" tIns="0" bIns="0" anchor="ctr">
            <a:spAutoFit/>
          </a:bodyPr>
          <a:lstStyle/>
          <a:p>
            <a:pPr algn="l"/>
            <a:r>
              <a:rPr sz="1150" b="1" i="0">
                <a:solidFill>
                  <a:srgbClr val="8A1626"/>
                </a:solidFill>
              </a:rPr>
              <a:t>Append-only official records</a:t>
            </a:r>
          </a:p>
          <a:p>
            <a:pPr algn="l"/>
            <a:r>
              <a:rPr sz="1050" b="0" i="0">
                <a:solidFill>
                  <a:srgbClr val="4A5058"/>
                </a:solidFill>
              </a:rPr>
              <a:t>a restatement adds a result version; the earlier is kept</a:t>
            </a:r>
          </a:p>
        </p:txBody>
      </p:sp>
      <p:sp>
        <p:nvSpPr>
          <p:cNvPr id="33" name="Rectangle 32"/>
          <p:cNvSpPr/>
          <p:nvPr/>
        </p:nvSpPr>
        <p:spPr>
          <a:xfrm>
            <a:off x="777240" y="3364991"/>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86968" y="3364991"/>
            <a:ext cx="4937759" cy="493776"/>
          </a:xfrm>
          <a:prstGeom prst="rect">
            <a:avLst/>
          </a:prstGeom>
          <a:noFill/>
        </p:spPr>
        <p:txBody>
          <a:bodyPr wrap="square" lIns="0" rIns="0" tIns="0" bIns="0" anchor="ctr">
            <a:spAutoFit/>
          </a:bodyPr>
          <a:lstStyle/>
          <a:p>
            <a:pPr algn="l"/>
            <a:r>
              <a:rPr sz="1150" b="1" i="0">
                <a:solidFill>
                  <a:srgbClr val="8A1626"/>
                </a:solidFill>
              </a:rPr>
              <a:t>7-year retention</a:t>
            </a:r>
          </a:p>
          <a:p>
            <a:pPr algn="l"/>
            <a:r>
              <a:rPr sz="1050" b="0" i="0">
                <a:solidFill>
                  <a:srgbClr val="4A5058"/>
                </a:solidFill>
              </a:rPr>
              <a:t>vectors with time travel, captures and records; maintenance never goes below</a:t>
            </a:r>
          </a:p>
        </p:txBody>
      </p:sp>
      <p:sp>
        <p:nvSpPr>
          <p:cNvPr id="35" name="Rectangle 34"/>
          <p:cNvSpPr/>
          <p:nvPr/>
        </p:nvSpPr>
        <p:spPr>
          <a:xfrm>
            <a:off x="777240" y="3913631"/>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86968" y="3913631"/>
            <a:ext cx="4937759" cy="493776"/>
          </a:xfrm>
          <a:prstGeom prst="rect">
            <a:avLst/>
          </a:prstGeom>
          <a:noFill/>
        </p:spPr>
        <p:txBody>
          <a:bodyPr wrap="square" lIns="0" rIns="0" tIns="0" bIns="0" anchor="ctr">
            <a:spAutoFit/>
          </a:bodyPr>
          <a:lstStyle/>
          <a:p>
            <a:pPr algn="l"/>
            <a:r>
              <a:rPr sz="1150" b="1" i="0">
                <a:solidFill>
                  <a:srgbClr val="8A1626"/>
                </a:solidFill>
              </a:rPr>
              <a:t>Recomputable</a:t>
            </a:r>
          </a:p>
          <a:p>
            <a:pPr algn="l"/>
            <a:r>
              <a:rPr sz="1050" b="0" i="0">
                <a:solidFill>
                  <a:srgbClr val="4A5058"/>
                </a:solidFill>
              </a:rPr>
              <a:t>the same vectors and engine version give the same number years later</a:t>
            </a:r>
          </a:p>
        </p:txBody>
      </p:sp>
      <p:sp>
        <p:nvSpPr>
          <p:cNvPr id="37" name="Rectangle 36"/>
          <p:cNvSpPr/>
          <p:nvPr/>
        </p:nvSpPr>
        <p:spPr>
          <a:xfrm>
            <a:off x="777240" y="446227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462272"/>
            <a:ext cx="4937759" cy="493776"/>
          </a:xfrm>
          <a:prstGeom prst="rect">
            <a:avLst/>
          </a:prstGeom>
          <a:noFill/>
        </p:spPr>
        <p:txBody>
          <a:bodyPr wrap="square" lIns="0" rIns="0" tIns="0" bIns="0" anchor="ctr">
            <a:spAutoFit/>
          </a:bodyPr>
          <a:lstStyle/>
          <a:p>
            <a:pPr algn="l"/>
            <a:r>
              <a:rPr sz="1150" b="1" i="0">
                <a:solidFill>
                  <a:srgbClr val="8A1626"/>
                </a:solidFill>
              </a:rPr>
              <a:t>Exact arithmetic</a:t>
            </a:r>
          </a:p>
          <a:p>
            <a:pPr algn="l"/>
            <a:r>
              <a:rPr sz="1050" b="0" i="0">
                <a:solidFill>
                  <a:srgbClr val="4A5058"/>
                </a:solidFill>
              </a:rPr>
              <a:t>a node's figures equal the lake's to the bit; components add up to VaR</a:t>
            </a:r>
          </a:p>
        </p:txBody>
      </p:sp>
      <p:sp>
        <p:nvSpPr>
          <p:cNvPr id="39" name="TextBox 38"/>
          <p:cNvSpPr txBox="1"/>
          <p:nvPr/>
        </p:nvSpPr>
        <p:spPr>
          <a:xfrm>
            <a:off x="6172199" y="1371600"/>
            <a:ext cx="5239512" cy="274320"/>
          </a:xfrm>
          <a:prstGeom prst="rect">
            <a:avLst/>
          </a:prstGeom>
          <a:noFill/>
        </p:spPr>
        <p:txBody>
          <a:bodyPr wrap="square" lIns="0" rIns="0" tIns="0" bIns="0" anchor="ctr">
            <a:spAutoFit/>
          </a:bodyPr>
          <a:lstStyle/>
          <a:p>
            <a:pPr algn="l"/>
            <a:r>
              <a:rPr sz="1300" b="1" i="0">
                <a:solidFill>
                  <a:srgbClr val="A51C30"/>
                </a:solidFill>
              </a:rPr>
              <a:t>Backtesting at 99%  </a:t>
            </a:r>
            <a:r>
              <a:rPr sz="1100" b="0" i="0">
                <a:solidFill>
                  <a:srgbClr val="4A5058"/>
                </a:solidFill>
              </a:rPr>
              <a:t>losses bigger than VaR are breaches</a:t>
            </a:r>
          </a:p>
        </p:txBody>
      </p:sp>
      <p:sp>
        <p:nvSpPr>
          <p:cNvPr id="40" name="Rectangle 39"/>
          <p:cNvSpPr/>
          <p:nvPr/>
        </p:nvSpPr>
        <p:spPr>
          <a:xfrm>
            <a:off x="6172199" y="1719072"/>
            <a:ext cx="1685544" cy="566928"/>
          </a:xfrm>
          <a:prstGeom prst="rect">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Green  0–4</a:t>
            </a:r>
          </a:p>
        </p:txBody>
      </p:sp>
      <p:sp>
        <p:nvSpPr>
          <p:cNvPr id="41" name="Rectangle 40"/>
          <p:cNvSpPr/>
          <p:nvPr/>
        </p:nvSpPr>
        <p:spPr>
          <a:xfrm>
            <a:off x="7949184" y="1719072"/>
            <a:ext cx="1685544" cy="566928"/>
          </a:xfrm>
          <a:prstGeom prst="rect">
            <a:avLst/>
          </a:prstGeom>
          <a:solidFill>
            <a:srgbClr val="D49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Amber  5–9</a:t>
            </a:r>
          </a:p>
        </p:txBody>
      </p:sp>
      <p:sp>
        <p:nvSpPr>
          <p:cNvPr id="42" name="Rectangle 41"/>
          <p:cNvSpPr/>
          <p:nvPr/>
        </p:nvSpPr>
        <p:spPr>
          <a:xfrm>
            <a:off x="9726168" y="1719072"/>
            <a:ext cx="1685544" cy="566928"/>
          </a:xfrm>
          <a:prstGeom prst="rect">
            <a:avLst/>
          </a:prstGeom>
          <a:solidFill>
            <a:srgbClr val="B0302F"/>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Red  10+</a:t>
            </a:r>
          </a:p>
        </p:txBody>
      </p:sp>
      <p:sp>
        <p:nvSpPr>
          <p:cNvPr id="43" name="TextBox 42"/>
          <p:cNvSpPr txBox="1"/>
          <p:nvPr/>
        </p:nvSpPr>
        <p:spPr>
          <a:xfrm>
            <a:off x="6172199" y="2395728"/>
            <a:ext cx="5239512" cy="384048"/>
          </a:xfrm>
          <a:prstGeom prst="rect">
            <a:avLst/>
          </a:prstGeom>
          <a:noFill/>
        </p:spPr>
        <p:txBody>
          <a:bodyPr wrap="square" lIns="0" rIns="0" tIns="0" bIns="0" anchor="ctr">
            <a:spAutoFit/>
          </a:bodyPr>
          <a:lstStyle/>
          <a:p>
            <a:pPr algn="l"/>
            <a:r>
              <a:rPr sz="1150" b="1" i="0">
                <a:solidFill>
                  <a:srgbClr val="8A1626"/>
                </a:solidFill>
              </a:rPr>
              <a:t>Kupiec test  </a:t>
            </a:r>
            <a:r>
              <a:rPr sz="1100" b="0" i="0">
                <a:solidFill>
                  <a:srgbClr val="1A1A1A"/>
                </a:solidFill>
              </a:rPr>
              <a:t>too many or too few breaches?</a:t>
            </a:r>
          </a:p>
        </p:txBody>
      </p:sp>
      <p:sp>
        <p:nvSpPr>
          <p:cNvPr id="44" name="TextBox 43"/>
          <p:cNvSpPr txBox="1"/>
          <p:nvPr/>
        </p:nvSpPr>
        <p:spPr>
          <a:xfrm>
            <a:off x="6172199" y="2798064"/>
            <a:ext cx="5239512" cy="384048"/>
          </a:xfrm>
          <a:prstGeom prst="rect">
            <a:avLst/>
          </a:prstGeom>
          <a:noFill/>
        </p:spPr>
        <p:txBody>
          <a:bodyPr wrap="square" lIns="0" rIns="0" tIns="0" bIns="0" anchor="ctr">
            <a:spAutoFit/>
          </a:bodyPr>
          <a:lstStyle/>
          <a:p>
            <a:pPr algn="l"/>
            <a:r>
              <a:rPr sz="1150" b="1" i="0">
                <a:solidFill>
                  <a:srgbClr val="8A1626"/>
                </a:solidFill>
              </a:rPr>
              <a:t>Christoffersen test  </a:t>
            </a:r>
            <a:r>
              <a:rPr sz="1100" b="0" i="0">
                <a:solidFill>
                  <a:srgbClr val="1A1A1A"/>
                </a:solidFill>
              </a:rPr>
              <a:t>do breaches cluster?</a:t>
            </a:r>
          </a:p>
        </p:txBody>
      </p:sp>
      <p:sp>
        <p:nvSpPr>
          <p:cNvPr id="45" name="TextBox 44"/>
          <p:cNvSpPr txBox="1"/>
          <p:nvPr/>
        </p:nvSpPr>
        <p:spPr>
          <a:xfrm>
            <a:off x="6172199" y="3200400"/>
            <a:ext cx="5239512" cy="384048"/>
          </a:xfrm>
          <a:prstGeom prst="rect">
            <a:avLst/>
          </a:prstGeom>
          <a:noFill/>
        </p:spPr>
        <p:txBody>
          <a:bodyPr wrap="square" lIns="0" rIns="0" tIns="0" bIns="0" anchor="ctr">
            <a:spAutoFit/>
          </a:bodyPr>
          <a:lstStyle/>
          <a:p>
            <a:pPr algn="l"/>
            <a:r>
              <a:rPr sz="1150" b="1" i="0">
                <a:solidFill>
                  <a:srgbClr val="8A1626"/>
                </a:solidFill>
              </a:rPr>
              <a:t>Official mode  </a:t>
            </a:r>
            <a:r>
              <a:rPr sz="1100" b="0" i="0">
                <a:solidFill>
                  <a:srgbClr val="1A1A1A"/>
                </a:solidFill>
              </a:rPr>
              <a:t>a node's official history: each day's hypothetical P&amp;L against the day before's VaR</a:t>
            </a:r>
          </a:p>
        </p:txBody>
      </p:sp>
      <p:sp>
        <p:nvSpPr>
          <p:cNvPr id="46" name="TextBox 45"/>
          <p:cNvSpPr txBox="1"/>
          <p:nvPr/>
        </p:nvSpPr>
        <p:spPr>
          <a:xfrm>
            <a:off x="6172199" y="3602736"/>
            <a:ext cx="5239512" cy="384048"/>
          </a:xfrm>
          <a:prstGeom prst="rect">
            <a:avLst/>
          </a:prstGeom>
          <a:noFill/>
        </p:spPr>
        <p:txBody>
          <a:bodyPr wrap="square" lIns="0" rIns="0" tIns="0" bIns="0" anchor="ctr">
            <a:spAutoFit/>
          </a:bodyPr>
          <a:lstStyle/>
          <a:p>
            <a:pPr algn="l"/>
            <a:r>
              <a:rPr sz="1150" b="1" i="0">
                <a:solidFill>
                  <a:srgbClr val="8A1626"/>
                </a:solidFill>
              </a:rPr>
              <a:t>Replay  </a:t>
            </a:r>
            <a:r>
              <a:rPr sz="1100" b="0" i="0">
                <a:solidFill>
                  <a:srgbClr val="1A1A1A"/>
                </a:solidFill>
              </a:rPr>
              <a:t>today's members over past scenario days: in-sample, labelled not a regulatory backtest</a:t>
            </a:r>
          </a:p>
        </p:txBody>
      </p:sp>
      <p:sp>
        <p:nvSpPr>
          <p:cNvPr id="47" name="TextBox 46"/>
          <p:cNvSpPr txBox="1"/>
          <p:nvPr/>
        </p:nvSpPr>
        <p:spPr>
          <a:xfrm>
            <a:off x="6172199" y="4005072"/>
            <a:ext cx="5239512" cy="384048"/>
          </a:xfrm>
          <a:prstGeom prst="rect">
            <a:avLst/>
          </a:prstGeom>
          <a:noFill/>
        </p:spPr>
        <p:txBody>
          <a:bodyPr wrap="square" lIns="0" rIns="0" tIns="0" bIns="0" anchor="ctr">
            <a:spAutoFit/>
          </a:bodyPr>
          <a:lstStyle/>
          <a:p>
            <a:pPr algn="l"/>
            <a:r>
              <a:rPr sz="1150" b="1" i="0">
                <a:solidFill>
                  <a:srgbClr val="8A1626"/>
                </a:solidFill>
              </a:rPr>
              <a:t>Demo, replayed  </a:t>
            </a:r>
            <a:r>
              <a:rPr sz="1100" b="0" i="0">
                <a:solidFill>
                  <a:srgbClr val="1A1A1A"/>
                </a:solidFill>
              </a:rPr>
              <a:t>FX desk: 3 breaches in 249 days, green; the bank: 5, amber</a:t>
            </a:r>
          </a:p>
        </p:txBody>
      </p:sp>
      <p:sp>
        <p:nvSpPr>
          <p:cNvPr id="48" name="TextBox 47"/>
          <p:cNvSpPr txBox="1"/>
          <p:nvPr/>
        </p:nvSpPr>
        <p:spPr>
          <a:xfrm>
            <a:off x="6172199" y="4407408"/>
            <a:ext cx="5239512" cy="384048"/>
          </a:xfrm>
          <a:prstGeom prst="rect">
            <a:avLst/>
          </a:prstGeom>
          <a:noFill/>
        </p:spPr>
        <p:txBody>
          <a:bodyPr wrap="square" lIns="0" rIns="0" tIns="0" bIns="0" anchor="ctr">
            <a:spAutoFit/>
          </a:bodyPr>
          <a:lstStyle/>
          <a:p>
            <a:pPr algn="l"/>
            <a:r>
              <a:rPr sz="1150" b="1" i="0">
                <a:solidFill>
                  <a:srgbClr val="8A1626"/>
                </a:solidFill>
              </a:rPr>
              <a:t>Short histories  </a:t>
            </a:r>
            <a:r>
              <a:rPr sz="1100" b="0" i="0">
                <a:solidFill>
                  <a:srgbClr val="1A1A1A"/>
                </a:solidFill>
              </a:rPr>
              <a:t>limits scale with the days; not a regulatory zone before 250</a:t>
            </a:r>
          </a:p>
        </p:txBody>
      </p:sp>
      <p:sp>
        <p:nvSpPr>
          <p:cNvPr id="49" name="Rectangle 48"/>
          <p:cNvSpPr/>
          <p:nvPr/>
        </p:nvSpPr>
        <p:spPr>
          <a:xfrm>
            <a:off x="777240" y="50749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50749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1005840" y="5074920"/>
            <a:ext cx="10314432" cy="713232"/>
          </a:xfrm>
          <a:prstGeom prst="rect">
            <a:avLst/>
          </a:prstGeom>
          <a:noFill/>
        </p:spPr>
        <p:txBody>
          <a:bodyPr wrap="square" lIns="0" rIns="0" tIns="0" bIns="0" anchor="ctr">
            <a:spAutoFit/>
          </a:bodyPr>
          <a:lstStyle/>
          <a:p>
            <a:pPr algn="l"/>
            <a:r>
              <a:rPr sz="1150" b="1" i="0">
                <a:solidFill>
                  <a:srgbClr val="A51C30"/>
                </a:solidFill>
              </a:rPr>
              <a:t>Not built, to disclose  </a:t>
            </a:r>
            <a:r>
              <a:rPr sz="1100" b="0" i="0">
                <a:solidFill>
                  <a:srgbClr val="1A1A1A"/>
                </a:solidFill>
              </a:rPr>
              <a:t>age-weighted and filtered methods, ES backtests, 10-day and stressed VaR. The hypothetical P&amp;L is the engine's own; a bank's own hypothetical P&amp;L table replacing it is planned.</a:t>
            </a:r>
          </a:p>
        </p:txBody>
      </p:sp>
      <p:sp>
        <p:nvSpPr>
          <p:cNvPr id="52" name="TextBox 51"/>
          <p:cNvSpPr txBox="1"/>
          <p:nvPr/>
        </p:nvSpPr>
        <p:spPr>
          <a:xfrm>
            <a:off x="777240" y="5815584"/>
            <a:ext cx="10634472" cy="512063"/>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CONTROLS</a:t>
            </a:r>
          </a:p>
        </p:txBody>
      </p:sp>
      <p:sp>
        <p:nvSpPr>
          <p:cNvPr id="3" name="Title 2"/>
          <p:cNvSpPr>
            <a:spLocks noGrp="1"/>
          </p:cNvSpPr>
          <p:nvPr>
            <p:ph type="title" idx="104"/>
          </p:nvPr>
        </p:nvSpPr>
        <p:spPr/>
        <p:txBody>
          <a:bodyPr/>
          <a:lstStyle/>
          <a:p>
            <a:r>
              <a:t>Independent checks, entitlements, audit, change control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Independent recomputation</a:t>
            </a:r>
          </a:p>
          <a:p>
            <a:pPr algn="l" marL="146304" indent="-146304">
              <a:spcAft>
                <a:spcPts val="200"/>
              </a:spcAft>
              <a:buClr>
                <a:srgbClr val="A51C30"/>
              </a:buClr>
              <a:buSzPct val="100000"/>
              <a:buFont typeface="Arial"/>
              <a:buChar char="▪"/>
            </a:pPr>
            <a:r>
              <a:rPr sz="1150" b="0" i="0">
                <a:solidFill>
                  <a:srgbClr val="1A1A1A"/>
                </a:solidFill>
              </a:rPr>
              <a:t>A checker recomputes the VaR and ES of the bank and every desk from the files sent, and compares with the engine</a:t>
            </a:r>
          </a:p>
          <a:p>
            <a:pPr algn="l" marL="146304" indent="-146304">
              <a:spcAft>
                <a:spcPts val="200"/>
              </a:spcAft>
              <a:buClr>
                <a:srgbClr val="A51C30"/>
              </a:buClr>
              <a:buSzPct val="100000"/>
              <a:buFont typeface="Arial"/>
              <a:buChar char="▪"/>
            </a:pPr>
            <a:r>
              <a:rPr sz="1150" b="0" i="0">
                <a:solidFill>
                  <a:srgbClr val="1A1A1A"/>
                </a:solidFill>
              </a:rPr>
              <a:t>Exits non-zero on any difference: fit for a daily job</a:t>
            </a:r>
          </a:p>
          <a:p>
            <a:pPr algn="l" marL="146304" indent="-146304">
              <a:spcAft>
                <a:spcPts val="200"/>
              </a:spcAft>
              <a:buClr>
                <a:srgbClr val="A51C30"/>
              </a:buClr>
              <a:buSzPct val="100000"/>
              <a:buFont typeface="Arial"/>
              <a:buChar char="▪"/>
            </a:pPr>
            <a:r>
              <a:rPr sz="1150" b="0" i="0">
                <a:solidFill>
                  <a:srgbClr val="1A1A1A"/>
                </a:solidFill>
              </a:rPr>
              <a:t>The official record names its inputs' versions and batch ids: a recomputation reads exactly that data</a:t>
            </a:r>
          </a:p>
        </p:txBody>
      </p:sp>
      <p:sp>
        <p:nvSpPr>
          <p:cNvPr id="29" name="Rectangle 28"/>
          <p:cNvSpPr/>
          <p:nvPr/>
        </p:nvSpPr>
        <p:spPr>
          <a:xfrm>
            <a:off x="6208776"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208776"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6373368"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Entitlements</a:t>
            </a:r>
          </a:p>
          <a:p>
            <a:pPr algn="l" marL="146304" indent="-146304">
              <a:spcAft>
                <a:spcPts val="200"/>
              </a:spcAft>
              <a:buClr>
                <a:srgbClr val="A51C30"/>
              </a:buClr>
              <a:buSzPct val="100000"/>
              <a:buFont typeface="Arial"/>
              <a:buChar char="▪"/>
            </a:pPr>
            <a:r>
              <a:rPr sz="1150" b="0" i="0">
                <a:solidFill>
                  <a:srgbClr val="1A1A1A"/>
                </a:solidFill>
              </a:rPr>
              <a:t>Per role and node: positions, or aggregate only (drishti.var.access)</a:t>
            </a:r>
          </a:p>
          <a:p>
            <a:pPr algn="l" marL="146304" indent="-146304">
              <a:spcAft>
                <a:spcPts val="200"/>
              </a:spcAft>
              <a:buClr>
                <a:srgbClr val="A51C30"/>
              </a:buClr>
              <a:buSzPct val="100000"/>
              <a:buFont typeface="Arial"/>
              <a:buChar char="▪"/>
            </a:pPr>
            <a:r>
              <a:rPr sz="1150" b="0" i="0">
                <a:solidFill>
                  <a:srgbClr val="1A1A1A"/>
                </a:solidFill>
              </a:rPr>
              <a:t>A scope is computed over the trades you may see; the rest counted</a:t>
            </a:r>
          </a:p>
          <a:p>
            <a:pPr algn="l" marL="146304" indent="-146304">
              <a:spcAft>
                <a:spcPts val="200"/>
              </a:spcAft>
              <a:buClr>
                <a:srgbClr val="A51C30"/>
              </a:buClr>
              <a:buSzPct val="100000"/>
              <a:buFont typeface="Arial"/>
              <a:buChar char="▪"/>
            </a:pPr>
            <a:r>
              <a:rPr sz="1150" b="0" i="0">
                <a:solidFill>
                  <a:srgbClr val="1A1A1A"/>
                </a:solidFill>
              </a:rPr>
              <a:t>Masks apply; answers cached per view, never shared across rights</a:t>
            </a:r>
          </a:p>
          <a:p>
            <a:pPr algn="l" marL="146304" indent="-146304">
              <a:spcAft>
                <a:spcPts val="200"/>
              </a:spcAft>
              <a:buClr>
                <a:srgbClr val="A51C30"/>
              </a:buClr>
              <a:buSzPct val="100000"/>
              <a:buFont typeface="Arial"/>
              <a:buChar char="▪"/>
            </a:pPr>
            <a:r>
              <a:rPr sz="1150" b="0" i="0">
                <a:solidFill>
                  <a:srgbClr val="1A1A1A"/>
                </a:solidFill>
              </a:rPr>
              <a:t>Saving baskets and captures needs the token scope risk:write</a:t>
            </a:r>
          </a:p>
        </p:txBody>
      </p:sp>
      <p:sp>
        <p:nvSpPr>
          <p:cNvPr id="32" name="Rectangle 31"/>
          <p:cNvSpPr/>
          <p:nvPr/>
        </p:nvSpPr>
        <p:spPr>
          <a:xfrm>
            <a:off x="777240"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41832"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Audit</a:t>
            </a:r>
          </a:p>
          <a:p>
            <a:pPr algn="l" marL="146304" indent="-146304">
              <a:spcAft>
                <a:spcPts val="200"/>
              </a:spcAft>
              <a:buClr>
                <a:srgbClr val="A51C30"/>
              </a:buClr>
              <a:buSzPct val="100000"/>
              <a:buFont typeface="Arial"/>
              <a:buChar char="▪"/>
            </a:pPr>
            <a:r>
              <a:rPr sz="1150" b="0" i="0">
                <a:solidFill>
                  <a:srgbClr val="1A1A1A"/>
                </a:solidFill>
              </a:rPr>
              <a:t>Every headline, capture, basket change, reload and official run (Admin → Audit)</a:t>
            </a:r>
          </a:p>
          <a:p>
            <a:pPr algn="l" marL="146304" indent="-146304">
              <a:spcAft>
                <a:spcPts val="200"/>
              </a:spcAft>
              <a:buClr>
                <a:srgbClr val="A51C30"/>
              </a:buClr>
              <a:buSzPct val="100000"/>
              <a:buFont typeface="Arial"/>
              <a:buChar char="▪"/>
            </a:pPr>
            <a:r>
              <a:rPr sz="1150" b="0" i="0">
                <a:solidFill>
                  <a:srgbClr val="1A1A1A"/>
                </a:solidFill>
              </a:rPr>
              <a:t>A headline's entry: date, data version, view, VaR, ES, trades, hidden, members' digest, time</a:t>
            </a:r>
          </a:p>
          <a:p>
            <a:pPr algn="l" marL="146304" indent="-146304">
              <a:spcAft>
                <a:spcPts val="200"/>
              </a:spcAft>
              <a:buClr>
                <a:srgbClr val="A51C30"/>
              </a:buClr>
              <a:buSzPct val="100000"/>
              <a:buFont typeface="Arial"/>
              <a:buChar char="▪"/>
            </a:pPr>
            <a:r>
              <a:rPr sz="1150" b="0" i="0">
                <a:solidFill>
                  <a:srgbClr val="1A1A1A"/>
                </a:solidFill>
              </a:rPr>
              <a:t>Reloads and official captures: administrators only; official numbers kept 7 years</a:t>
            </a:r>
          </a:p>
        </p:txBody>
      </p:sp>
      <p:sp>
        <p:nvSpPr>
          <p:cNvPr id="35" name="Rectangle 34"/>
          <p:cNvSpPr/>
          <p:nvPr/>
        </p:nvSpPr>
        <p:spPr>
          <a:xfrm>
            <a:off x="6208776"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6208776"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373368"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Change control of settings</a:t>
            </a:r>
          </a:p>
          <a:p>
            <a:pPr algn="l" marL="146304" indent="-146304">
              <a:spcAft>
                <a:spcPts val="200"/>
              </a:spcAft>
              <a:buClr>
                <a:srgbClr val="A51C30"/>
              </a:buClr>
              <a:buSzPct val="100000"/>
              <a:buFont typeface="Arial"/>
              <a:buChar char="▪"/>
            </a:pPr>
            <a:r>
              <a:rPr sz="1150" b="0" i="0">
                <a:solidFill>
                  <a:srgbClr val="1A1A1A"/>
                </a:solidFill>
              </a:rPr>
              <a:t>Window, confidence, rank rule, currencies, pins: in application.yaml, shown by GET /status</a:t>
            </a:r>
          </a:p>
          <a:p>
            <a:pPr algn="l" marL="146304" indent="-146304">
              <a:spcAft>
                <a:spcPts val="200"/>
              </a:spcAft>
              <a:buClr>
                <a:srgbClr val="A51C30"/>
              </a:buClr>
              <a:buSzPct val="100000"/>
              <a:buFont typeface="Arial"/>
              <a:buChar char="▪"/>
            </a:pPr>
            <a:r>
              <a:rPr sz="1150" b="0" i="0">
                <a:solidFill>
                  <a:srgbClr val="1A1A1A"/>
                </a:solidFill>
              </a:rPr>
              <a:t>Every answer is labelled with its confidence and window; per-request windows are never official</a:t>
            </a:r>
          </a:p>
          <a:p>
            <a:pPr algn="l" marL="146304" indent="-146304">
              <a:spcAft>
                <a:spcPts val="200"/>
              </a:spcAft>
              <a:buClr>
                <a:srgbClr val="A51C30"/>
              </a:buClr>
              <a:buSzPct val="100000"/>
              <a:buFont typeface="Arial"/>
              <a:buChar char="▪"/>
            </a:pPr>
            <a:r>
              <a:rPr sz="1150" b="0" i="0">
                <a:solidFill>
                  <a:srgbClr val="1A1A1A"/>
                </a:solidFill>
              </a:rPr>
              <a:t>Pins read at start: apply from the next date loaded; provenance records them</a:t>
            </a:r>
          </a:p>
        </p:txBody>
      </p:sp>
      <p:sp>
        <p:nvSpPr>
          <p:cNvPr id="38" name="Rounded Rectangle 37"/>
          <p:cNvSpPr/>
          <p:nvPr/>
        </p:nvSpPr>
        <p:spPr>
          <a:xfrm>
            <a:off x="5111496" y="148132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39" name="Rounded Rectangle 38"/>
          <p:cNvSpPr/>
          <p:nvPr/>
        </p:nvSpPr>
        <p:spPr>
          <a:xfrm>
            <a:off x="10543032" y="36941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0" name="TextBox 39"/>
          <p:cNvSpPr txBox="1"/>
          <p:nvPr/>
        </p:nvSpPr>
        <p:spPr>
          <a:xfrm>
            <a:off x="777240" y="5897880"/>
            <a:ext cx="10634472" cy="347472"/>
          </a:xfrm>
          <a:prstGeom prst="rect">
            <a:avLst/>
          </a:prstGeom>
          <a:noFill/>
        </p:spPr>
        <p:txBody>
          <a:bodyPr wrap="square" lIns="0" rIns="0" tIns="0" bIns="0" anchor="ctr">
            <a:spAutoFit/>
          </a:bodyPr>
          <a:lstStyle/>
          <a:p>
            <a:pPr algn="l"/>
            <a:r>
              <a:rPr sz="1050" b="0" i="1">
                <a:solidFill>
                  <a:srgbClr val="4A5058"/>
                </a:solidFill>
              </a:rPr>
              <a:t>PROPOSED marks the practice: a daily independent job, and comparing a setting change per request before making it; the mechanisms are built.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09</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Computed, never stored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COMPUTED ATTRIBUTES</a:t>
            </a:r>
          </a:p>
        </p:txBody>
      </p:sp>
      <p:sp>
        <p:nvSpPr>
          <p:cNvPr id="3" name="Title 2"/>
          <p:cNvSpPr>
            <a:spLocks noGrp="1"/>
          </p:cNvSpPr>
          <p:nvPr>
            <p:ph type="title" idx="104"/>
          </p:nvPr>
        </p:nvSpPr>
        <p:spPr/>
        <p:txBody>
          <a:bodyPr/>
          <a:lstStyle/>
          <a:p>
            <a:r>
              <a:t>Computed on demand from trade-grain inputs, never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566928"/>
          </a:xfrm>
          <a:prstGeom prst="rect">
            <a:avLst/>
          </a:prstGeom>
          <a:noFill/>
        </p:spPr>
        <p:txBody>
          <a:bodyPr wrap="square" lIns="0" rIns="0" tIns="0" bIns="0" anchor="ctr">
            <a:spAutoFit/>
          </a:bodyPr>
          <a:lstStyle/>
          <a:p>
            <a:pPr algn="l"/>
            <a:r>
              <a:rPr sz="1200" b="1" i="0">
                <a:solidFill>
                  <a:srgbClr val="A51C30"/>
                </a:solidFill>
              </a:rPr>
              <a:t>The principle.  </a:t>
            </a:r>
            <a:r>
              <a:rPr sz="1150" b="0" i="0">
                <a:solidFill>
                  <a:srgbClr val="1A1A1A"/>
                </a:solidFill>
              </a:rPr>
              <a:t>A total is computed from the trades it adds up, once per business date and data version, and shared by everyone who may open the page. A stored copy is shown beside it with the difference, until it is retired.</a:t>
            </a:r>
          </a:p>
        </p:txBody>
      </p:sp>
      <p:graphicFrame>
        <p:nvGraphicFramePr>
          <p:cNvPr id="29" name="Table 28"/>
          <p:cNvGraphicFramePr>
            <a:graphicFrameLocks noGrp="1"/>
          </p:cNvGraphicFramePr>
          <p:nvPr/>
        </p:nvGraphicFramePr>
        <p:xfrm>
          <a:off x="777240" y="2057400"/>
          <a:ext cx="5760719" cy="2359152"/>
        </p:xfrm>
        <a:graphic>
          <a:graphicData uri="http://schemas.openxmlformats.org/drawingml/2006/table">
            <a:tbl>
              <a:tblPr firstRow="0" bandRow="0">
                <a:tableStyleId>{5940675A-B579-460E-94D1-54222C63F5DA}</a:tableStyleId>
              </a:tblPr>
              <a:tblGrid>
                <a:gridCol w="1463040"/>
                <a:gridCol w="4297679"/>
              </a:tblGrid>
              <a:tr h="393192">
                <a:tc>
                  <a:txBody>
                    <a:bodyPr wrap="square"/>
                    <a:lstStyle/>
                    <a:p>
                      <a:r>
                        <a:rPr sz="1100" b="1" i="0">
                          <a:solidFill>
                            <a:srgbClr val="FFFFFF"/>
                          </a:solidFill>
                        </a:rPr>
                        <a:t>Computed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93192">
                <a:tc>
                  <a:txBody>
                    <a:bodyPr wrap="square"/>
                    <a:lstStyle/>
                    <a:p>
                      <a:r>
                        <a:rPr sz="1050" b="1" i="0">
                          <a:solidFill>
                            <a:srgbClr val="A51C30"/>
                          </a:solidFill>
                          <a:latin typeface="Courier New"/>
                        </a:rPr>
                        <a:t>NSMTM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netting set's MtM from its live trades: net, gross parts, netting benefit, CE, past maturity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93192">
                <a:tc>
                  <a:txBody>
                    <a:bodyPr wrap="square"/>
                    <a:lstStyle/>
                    <a:p>
                      <a:r>
                        <a:rPr sz="1050" b="1" i="0">
                          <a:solidFill>
                            <a:srgbClr val="A51C30"/>
                          </a:solidFill>
                          <a:latin typeface="Courier New"/>
                        </a:rPr>
                        <a:t>CPMTM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counterparty's MtM and its netting sets, from the trade valuations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93192">
                <a:tc>
                  <a:txBody>
                    <a:bodyPr wrap="square"/>
                    <a:lstStyle/>
                    <a:p>
                      <a:r>
                        <a:rPr sz="1050" b="1" i="0">
                          <a:solidFill>
                            <a:srgbClr val="A51C30"/>
                          </a:solidFill>
                          <a:latin typeface="Courier New"/>
                        </a:rPr>
                        <a:t>SSPNL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stress scenario's P&amp;L: every desk, its limit use, breaches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93192">
                <a:tc>
                  <a:txBody>
                    <a:bodyPr wrap="square"/>
                    <a:lstStyle/>
                    <a:p>
                      <a:r>
                        <a:rPr sz="1050" b="1" i="0">
                          <a:solidFill>
                            <a:srgbClr val="A51C30"/>
                          </a:solidFill>
                          <a:latin typeface="Courier New"/>
                        </a:rPr>
                        <a:t>Checks panels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collateral after haircut, credit-limit headroom, the SA-CCR EAD identity, stress limit use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93192">
                <a:tc>
                  <a:txBody>
                    <a:bodyPr wrap="square"/>
                    <a:lstStyle/>
                    <a:p>
                      <a:r>
                        <a:rPr sz="1050" b="1" i="0">
                          <a:solidFill>
                            <a:srgbClr val="A51C30"/>
                          </a:solidFill>
                          <a:latin typeface="Courier New"/>
                        </a:rPr>
                        <a:t>Exposure 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members and MtM from trade valuations; collateral after haircut; limit from credit-limit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0" name="TextBox 29"/>
          <p:cNvSpPr txBox="1"/>
          <p:nvPr/>
        </p:nvSpPr>
        <p:spPr>
          <a:xfrm>
            <a:off x="777240" y="4526280"/>
            <a:ext cx="5760720" cy="548640"/>
          </a:xfrm>
          <a:prstGeom prst="rect">
            <a:avLst/>
          </a:prstGeom>
          <a:noFill/>
        </p:spPr>
        <p:txBody>
          <a:bodyPr wrap="square" lIns="0" rIns="0" tIns="0" bIns="0" anchor="ctr">
            <a:spAutoFit/>
          </a:bodyPr>
          <a:lstStyle/>
          <a:p>
            <a:pPr algn="l"/>
            <a:r>
              <a:rPr sz="1100" b="1" i="0">
                <a:solidFill>
                  <a:srgbClr val="8A1626"/>
                </a:solidFill>
              </a:rPr>
              <a:t>Live </a:t>
            </a:r>
            <a:r>
              <a:rPr sz="1100" b="0" i="0">
                <a:solidFill>
                  <a:srgbClr val="1A1A1A"/>
                </a:solidFill>
              </a:rPr>
              <a:t>is one rule everywhere: a live status and a maturity not before the valuation date. A live trade past maturity is in no total, and is listed as a data-quality warning.</a:t>
            </a:r>
          </a:p>
        </p:txBody>
      </p:sp>
      <p:pic>
        <p:nvPicPr>
          <p:cNvPr id="31" name="Picture 30" descr="01-netting-set-computed.jpg"/>
          <p:cNvPicPr>
            <a:picLocks noChangeAspect="1"/>
          </p:cNvPicPr>
          <p:nvPr/>
        </p:nvPicPr>
        <p:blipFill>
          <a:blip r:embed="rId2"/>
          <a:stretch>
            <a:fillRect/>
          </a:stretch>
        </p:blipFill>
        <p:spPr>
          <a:xfrm>
            <a:off x="6766559" y="2057400"/>
            <a:ext cx="4645152" cy="1550024"/>
          </a:xfrm>
          <a:prstGeom prst="rect">
            <a:avLst/>
          </a:prstGeom>
          <a:ln w="9525">
            <a:solidFill>
              <a:srgbClr val="E3DED7"/>
            </a:solidFill>
          </a:ln>
        </p:spPr>
      </p:pic>
      <p:sp>
        <p:nvSpPr>
          <p:cNvPr id="32" name="TextBox 31"/>
          <p:cNvSpPr txBox="1"/>
          <p:nvPr/>
        </p:nvSpPr>
        <p:spPr>
          <a:xfrm>
            <a:off x="6766559" y="3634856"/>
            <a:ext cx="4645152" cy="237744"/>
          </a:xfrm>
          <a:prstGeom prst="rect">
            <a:avLst/>
          </a:prstGeom>
          <a:noFill/>
        </p:spPr>
        <p:txBody>
          <a:bodyPr wrap="square" lIns="0" rIns="0" tIns="0" bIns="0" anchor="ctr">
            <a:spAutoFit/>
          </a:bodyPr>
          <a:lstStyle/>
          <a:p>
            <a:pPr algn="l"/>
            <a:r>
              <a:rPr sz="1050" b="0" i="1">
                <a:solidFill>
                  <a:srgbClr val="4A5058"/>
                </a:solidFill>
              </a:rPr>
              <a:t>A netting set: computed, stored and the difference</a:t>
            </a:r>
          </a:p>
        </p:txBody>
      </p:sp>
      <p:pic>
        <p:nvPicPr>
          <p:cNvPr id="33" name="Picture 32" descr="05-collateral-checks.jpg"/>
          <p:cNvPicPr>
            <a:picLocks noChangeAspect="1"/>
          </p:cNvPicPr>
          <p:nvPr/>
        </p:nvPicPr>
        <p:blipFill>
          <a:blip r:embed="rId3"/>
          <a:stretch>
            <a:fillRect/>
          </a:stretch>
        </p:blipFill>
        <p:spPr>
          <a:xfrm>
            <a:off x="6766559" y="4018904"/>
            <a:ext cx="2249424" cy="970706"/>
          </a:xfrm>
          <a:prstGeom prst="rect">
            <a:avLst/>
          </a:prstGeom>
          <a:ln w="9525">
            <a:solidFill>
              <a:srgbClr val="E3DED7"/>
            </a:solidFill>
          </a:ln>
        </p:spPr>
      </p:pic>
      <p:pic>
        <p:nvPicPr>
          <p:cNvPr id="34" name="Picture 33" descr="06-credit-limit-checks.jpg"/>
          <p:cNvPicPr>
            <a:picLocks noChangeAspect="1"/>
          </p:cNvPicPr>
          <p:nvPr/>
        </p:nvPicPr>
        <p:blipFill>
          <a:blip r:embed="rId4"/>
          <a:stretch>
            <a:fillRect/>
          </a:stretch>
        </p:blipFill>
        <p:spPr>
          <a:xfrm>
            <a:off x="9162288" y="4018904"/>
            <a:ext cx="2249424" cy="886702"/>
          </a:xfrm>
          <a:prstGeom prst="rect">
            <a:avLst/>
          </a:prstGeom>
          <a:ln w="9525">
            <a:solidFill>
              <a:srgbClr val="E3DED7"/>
            </a:solidFill>
          </a:ln>
        </p:spPr>
      </p:pic>
      <p:sp>
        <p:nvSpPr>
          <p:cNvPr id="35" name="TextBox 34"/>
          <p:cNvSpPr txBox="1"/>
          <p:nvPr/>
        </p:nvSpPr>
        <p:spPr>
          <a:xfrm>
            <a:off x="6766559" y="5017042"/>
            <a:ext cx="4645152" cy="237744"/>
          </a:xfrm>
          <a:prstGeom prst="rect">
            <a:avLst/>
          </a:prstGeom>
          <a:noFill/>
        </p:spPr>
        <p:txBody>
          <a:bodyPr wrap="square" lIns="0" rIns="0" tIns="0" bIns="0" anchor="ctr">
            <a:spAutoFit/>
          </a:bodyPr>
          <a:lstStyle/>
          <a:p>
            <a:pPr algn="l"/>
            <a:r>
              <a:rPr sz="1050" b="0" i="1">
                <a:solidFill>
                  <a:srgbClr val="4A5058"/>
                </a:solidFill>
              </a:rPr>
              <a:t>Checks: the collateral balance and the credit limit</a:t>
            </a:r>
          </a:p>
        </p:txBody>
      </p:sp>
      <p:sp>
        <p:nvSpPr>
          <p:cNvPr id="36" name="Rectangle 35"/>
          <p:cNvSpPr/>
          <p:nvPr/>
        </p:nvSpPr>
        <p:spPr>
          <a:xfrm>
            <a:off x="777240" y="5340096"/>
            <a:ext cx="10634472" cy="9235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777240" y="5340096"/>
            <a:ext cx="45720" cy="9235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32688" y="5404104"/>
            <a:ext cx="10396728" cy="832104"/>
          </a:xfrm>
          <a:prstGeom prst="rect">
            <a:avLst/>
          </a:prstGeom>
          <a:noFill/>
        </p:spPr>
        <p:txBody>
          <a:bodyPr wrap="square" lIns="0" rIns="0" tIns="0" bIns="0" anchor="t">
            <a:spAutoFit/>
          </a:bodyPr>
          <a:lstStyle/>
          <a:p>
            <a:pPr algn="l">
              <a:spcAft>
                <a:spcPts val="300"/>
              </a:spcAft>
            </a:pPr>
            <a:r>
              <a:rPr sz="1300" b="1" i="0">
                <a:solidFill>
                  <a:srgbClr val="8A1626"/>
                </a:solidFill>
              </a:rPr>
              <a:t>Why</a:t>
            </a:r>
          </a:p>
          <a:p>
            <a:pPr algn="l" marL="146304" indent="-146304">
              <a:spcAft>
                <a:spcPts val="200"/>
              </a:spcAft>
              <a:buClr>
                <a:srgbClr val="A51C30"/>
              </a:buClr>
              <a:buSzPct val="100000"/>
              <a:buFont typeface="Arial"/>
              <a:buChar char="▪"/>
            </a:pPr>
            <a:r>
              <a:rPr sz="1100" b="0" i="0">
                <a:solidFill>
                  <a:srgbClr val="1A1A1A"/>
                </a:solidFill>
              </a:rPr>
              <a:t>One definition per figure: no second copy to drift and no batch job to forget</a:t>
            </a:r>
          </a:p>
          <a:p>
            <a:pPr algn="l" marL="146304" indent="-146304">
              <a:spcAft>
                <a:spcPts val="200"/>
              </a:spcAft>
              <a:buClr>
                <a:srgbClr val="A51C30"/>
              </a:buClr>
              <a:buSzPct val="100000"/>
              <a:buFont typeface="Arial"/>
              <a:buChar char="▪"/>
            </a:pPr>
            <a:r>
              <a:rPr sz="1100" b="0" i="0">
                <a:solidFill>
                  <a:srgbClr val="1A1A1A"/>
                </a:solidFill>
              </a:rPr>
              <a:t>Every total traceable to the trades it adds up; a stored copy is checked, not trusted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COMPUTED ATTRIBUTES · RECONCILIATION</a:t>
            </a:r>
          </a:p>
        </p:txBody>
      </p:sp>
      <p:sp>
        <p:nvSpPr>
          <p:cNvPr id="3" name="Title 2"/>
          <p:cNvSpPr>
            <a:spLocks noGrp="1"/>
          </p:cNvSpPr>
          <p:nvPr>
            <p:ph type="title" idx="104"/>
          </p:nvPr>
        </p:nvSpPr>
        <p:spPr/>
        <p:txBody>
          <a:bodyPr/>
          <a:lstStyle/>
          <a:p>
            <a:r>
              <a:t>Reconciled to the stored figures, retired fields guarded, VaR unchanged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3422904" cy="960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399032"/>
            <a:ext cx="3148584" cy="411480"/>
          </a:xfrm>
          <a:prstGeom prst="rect">
            <a:avLst/>
          </a:prstGeom>
          <a:noFill/>
        </p:spPr>
        <p:txBody>
          <a:bodyPr wrap="square" lIns="0" rIns="0" tIns="0" bIns="0" anchor="ctr">
            <a:spAutoFit/>
          </a:bodyPr>
          <a:lstStyle/>
          <a:p>
            <a:pPr algn="l"/>
            <a:r>
              <a:rPr sz="2100" b="1" i="0">
                <a:solidFill>
                  <a:srgbClr val="8A1626"/>
                </a:solidFill>
              </a:rPr>
              <a:t>55 of 76</a:t>
            </a:r>
          </a:p>
        </p:txBody>
      </p:sp>
      <p:sp>
        <p:nvSpPr>
          <p:cNvPr id="29" name="TextBox 28"/>
          <p:cNvSpPr txBox="1"/>
          <p:nvPr/>
        </p:nvSpPr>
        <p:spPr>
          <a:xfrm>
            <a:off x="941832" y="1810512"/>
            <a:ext cx="3148584" cy="502920"/>
          </a:xfrm>
          <a:prstGeom prst="rect">
            <a:avLst/>
          </a:prstGeom>
          <a:noFill/>
        </p:spPr>
        <p:txBody>
          <a:bodyPr wrap="square" lIns="0" rIns="0" tIns="0" bIns="0" anchor="t">
            <a:spAutoFit/>
          </a:bodyPr>
          <a:lstStyle/>
          <a:p>
            <a:pPr algn="l"/>
            <a:r>
              <a:rPr sz="1100" b="0" i="0">
                <a:solidFill>
                  <a:srgbClr val="4A5058"/>
                </a:solidFill>
              </a:rPr>
              <a:t>netting sets: derived net MtM equals the stored one</a:t>
            </a:r>
          </a:p>
        </p:txBody>
      </p:sp>
      <p:sp>
        <p:nvSpPr>
          <p:cNvPr id="30" name="Rectangle 29"/>
          <p:cNvSpPr/>
          <p:nvPr/>
        </p:nvSpPr>
        <p:spPr>
          <a:xfrm>
            <a:off x="4383024" y="1371600"/>
            <a:ext cx="3422904" cy="960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371600"/>
            <a:ext cx="45720"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47616" y="1399032"/>
            <a:ext cx="3148584" cy="411480"/>
          </a:xfrm>
          <a:prstGeom prst="rect">
            <a:avLst/>
          </a:prstGeom>
          <a:noFill/>
        </p:spPr>
        <p:txBody>
          <a:bodyPr wrap="square" lIns="0" rIns="0" tIns="0" bIns="0" anchor="ctr">
            <a:spAutoFit/>
          </a:bodyPr>
          <a:lstStyle/>
          <a:p>
            <a:pPr algn="l"/>
            <a:r>
              <a:rPr sz="2100" b="1" i="0">
                <a:solidFill>
                  <a:srgbClr val="8A1626"/>
                </a:solidFill>
              </a:rPr>
              <a:t>21 explained</a:t>
            </a:r>
          </a:p>
        </p:txBody>
      </p:sp>
      <p:sp>
        <p:nvSpPr>
          <p:cNvPr id="33" name="TextBox 32"/>
          <p:cNvSpPr txBox="1"/>
          <p:nvPr/>
        </p:nvSpPr>
        <p:spPr>
          <a:xfrm>
            <a:off x="4547616" y="1810512"/>
            <a:ext cx="3148584" cy="502920"/>
          </a:xfrm>
          <a:prstGeom prst="rect">
            <a:avLst/>
          </a:prstGeom>
          <a:noFill/>
        </p:spPr>
        <p:txBody>
          <a:bodyPr wrap="square" lIns="0" rIns="0" tIns="0" bIns="0" anchor="t">
            <a:spAutoFit/>
          </a:bodyPr>
          <a:lstStyle/>
          <a:p>
            <a:pPr algn="l"/>
            <a:r>
              <a:rPr sz="1100" b="0" i="0">
                <a:solidFill>
                  <a:srgbClr val="4A5058"/>
                </a:solidFill>
              </a:rPr>
              <a:t>827 live trades past maturity (MtM 16.7m); added back, 76 of 76 agree to the dollar</a:t>
            </a:r>
          </a:p>
        </p:txBody>
      </p:sp>
      <p:sp>
        <p:nvSpPr>
          <p:cNvPr id="34" name="Rectangle 33"/>
          <p:cNvSpPr/>
          <p:nvPr/>
        </p:nvSpPr>
        <p:spPr>
          <a:xfrm>
            <a:off x="7988808" y="1371600"/>
            <a:ext cx="3422904" cy="960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371600"/>
            <a:ext cx="45720"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53400" y="1399032"/>
            <a:ext cx="3148584" cy="411480"/>
          </a:xfrm>
          <a:prstGeom prst="rect">
            <a:avLst/>
          </a:prstGeom>
          <a:noFill/>
        </p:spPr>
        <p:txBody>
          <a:bodyPr wrap="square" lIns="0" rIns="0" tIns="0" bIns="0" anchor="ctr">
            <a:spAutoFit/>
          </a:bodyPr>
          <a:lstStyle/>
          <a:p>
            <a:pPr algn="l"/>
            <a:r>
              <a:rPr sz="2100" b="1" i="0">
                <a:solidFill>
                  <a:srgbClr val="8A1626"/>
                </a:solidFill>
              </a:rPr>
              <a:t>112,041,646</a:t>
            </a:r>
          </a:p>
        </p:txBody>
      </p:sp>
      <p:sp>
        <p:nvSpPr>
          <p:cNvPr id="37" name="TextBox 36"/>
          <p:cNvSpPr txBox="1"/>
          <p:nvPr/>
        </p:nvSpPr>
        <p:spPr>
          <a:xfrm>
            <a:off x="8153400" y="1810512"/>
            <a:ext cx="3148584" cy="502920"/>
          </a:xfrm>
          <a:prstGeom prst="rect">
            <a:avLst/>
          </a:prstGeom>
          <a:noFill/>
        </p:spPr>
        <p:txBody>
          <a:bodyPr wrap="square" lIns="0" rIns="0" tIns="0" bIns="0" anchor="t">
            <a:spAutoFit/>
          </a:bodyPr>
          <a:lstStyle/>
          <a:p>
            <a:pPr algn="l"/>
            <a:r>
              <a:rPr sz="1100" b="0" i="0">
                <a:solidFill>
                  <a:srgbClr val="4A5058"/>
                </a:solidFill>
              </a:rPr>
              <a:t>VAR BANK, USD, 2026-09-30: unchanged, no VaR input moved</a:t>
            </a:r>
          </a:p>
        </p:txBody>
      </p:sp>
      <p:sp>
        <p:nvSpPr>
          <p:cNvPr id="38" name="TextBox 37"/>
          <p:cNvSpPr txBox="1"/>
          <p:nvPr/>
        </p:nvSpPr>
        <p:spPr>
          <a:xfrm>
            <a:off x="777240" y="2450592"/>
            <a:ext cx="5989320" cy="274320"/>
          </a:xfrm>
          <a:prstGeom prst="rect">
            <a:avLst/>
          </a:prstGeom>
          <a:noFill/>
        </p:spPr>
        <p:txBody>
          <a:bodyPr wrap="square" lIns="0" rIns="0" tIns="0" bIns="0" anchor="ctr">
            <a:spAutoFit/>
          </a:bodyPr>
          <a:lstStyle/>
          <a:p>
            <a:pPr algn="l"/>
            <a:r>
              <a:rPr sz="1200" b="1" i="0">
                <a:solidFill>
                  <a:srgbClr val="A51C30"/>
                </a:solidFill>
              </a:rPr>
              <a:t>Exposure on its real inputs  </a:t>
            </a:r>
            <a:r>
              <a:rPr sz="1050" b="0" i="0">
                <a:solidFill>
                  <a:srgbClr val="4A5058"/>
                </a:solidFill>
              </a:rPr>
              <a:t>collateral after haircut, 2026-09-30, USD</a:t>
            </a:r>
          </a:p>
        </p:txBody>
      </p:sp>
      <p:graphicFrame>
        <p:nvGraphicFramePr>
          <p:cNvPr id="39" name="Table 38"/>
          <p:cNvGraphicFramePr>
            <a:graphicFrameLocks noGrp="1"/>
          </p:cNvGraphicFramePr>
          <p:nvPr/>
        </p:nvGraphicFramePr>
        <p:xfrm>
          <a:off x="777240" y="2743200"/>
          <a:ext cx="5989320" cy="1755648"/>
        </p:xfrm>
        <a:graphic>
          <a:graphicData uri="http://schemas.openxmlformats.org/drawingml/2006/table">
            <a:tbl>
              <a:tblPr firstRow="0" bandRow="0">
                <a:tableStyleId>{5940675A-B579-460E-94D1-54222C63F5DA}</a:tableStyleId>
              </a:tblPr>
              <a:tblGrid>
                <a:gridCol w="2331720"/>
                <a:gridCol w="1828800"/>
                <a:gridCol w="1828800"/>
              </a:tblGrid>
              <a:tr h="292608">
                <a:tc>
                  <a:txBody>
                    <a:bodyPr wrap="square"/>
                    <a:lstStyle/>
                    <a:p>
                      <a:r>
                        <a:rPr sz="1100" b="1" i="0">
                          <a:solidFill>
                            <a:srgbClr val="FFFFFF"/>
                          </a:solidFill>
                        </a:rPr>
                        <a:t>Scope · 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Stored inputs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Computed inputs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BANK · peak PFE 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2,858,060,180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2,897,620,439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BANK · EPE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945,577,981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947,202,991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BANK ·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1,532,007,701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1,586,811,699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CP-ALDERSHOT ·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217,565,006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220,250,163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NS-ALDERSHOT-NY ·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212,580,686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214,706,654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0" name="TextBox 39"/>
          <p:cNvSpPr txBox="1"/>
          <p:nvPr/>
        </p:nvSpPr>
        <p:spPr>
          <a:xfrm>
            <a:off x="777240" y="4544568"/>
            <a:ext cx="5989320" cy="502920"/>
          </a:xfrm>
          <a:prstGeom prst="rect">
            <a:avLst/>
          </a:prstGeom>
          <a:noFill/>
        </p:spPr>
        <p:txBody>
          <a:bodyPr wrap="square" lIns="0" rIns="0" tIns="0" bIns="0" anchor="ctr">
            <a:spAutoFit/>
          </a:bodyPr>
          <a:lstStyle/>
          <a:p>
            <a:pPr algn="l"/>
            <a:r>
              <a:rPr sz="1100" b="0" i="0">
                <a:solidFill>
                  <a:srgbClr val="1A1A1A"/>
                </a:solidFill>
              </a:rPr>
              <a:t>Holdings 6,304.4m at market value, 6,229.6m after haircut: less held raises a collateralised set's exposure, less posted lowers it.</a:t>
            </a:r>
          </a:p>
        </p:txBody>
      </p:sp>
      <p:sp>
        <p:nvSpPr>
          <p:cNvPr id="41" name="Rectangle 40"/>
          <p:cNvSpPr/>
          <p:nvPr/>
        </p:nvSpPr>
        <p:spPr>
          <a:xfrm>
            <a:off x="6995159" y="2450592"/>
            <a:ext cx="4416552"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6995159" y="2450592"/>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150607" y="2514600"/>
            <a:ext cx="4178808" cy="1280160"/>
          </a:xfrm>
          <a:prstGeom prst="rect">
            <a:avLst/>
          </a:prstGeom>
          <a:noFill/>
        </p:spPr>
        <p:txBody>
          <a:bodyPr wrap="square" lIns="0" rIns="0" tIns="0" bIns="0" anchor="t">
            <a:spAutoFit/>
          </a:bodyPr>
          <a:lstStyle/>
          <a:p>
            <a:pPr algn="l">
              <a:spcAft>
                <a:spcPts val="300"/>
              </a:spcAft>
            </a:pPr>
            <a:r>
              <a:rPr sz="1300" b="1" i="0">
                <a:solidFill>
                  <a:srgbClr val="8A1626"/>
                </a:solidFill>
              </a:rPr>
              <a:t>Retired fields, guarded</a:t>
            </a:r>
          </a:p>
          <a:p>
            <a:pPr algn="l" marL="146304" indent="-146304">
              <a:spcAft>
                <a:spcPts val="200"/>
              </a:spcAft>
              <a:buClr>
                <a:srgbClr val="A51C30"/>
              </a:buClr>
              <a:buSzPct val="100000"/>
              <a:buFont typeface="Arial"/>
              <a:buChar char="▪"/>
            </a:pPr>
            <a:r>
              <a:rPr sz="1000" b="0" i="0">
                <a:solidFill>
                  <a:srgbClr val="1A1A1A"/>
                </a:solidFill>
                <a:latin typeface="Courier New"/>
              </a:rPr>
              <a:t>netting-set.UTILISATION</a:t>
            </a:r>
            <a:r>
              <a:rPr sz="1100" b="0" i="0">
                <a:solidFill>
                  <a:srgbClr val="1A1A1A"/>
                </a:solidFill>
              </a:rPr>
              <a:t>, </a:t>
            </a:r>
            <a:r>
              <a:rPr sz="1000" b="0" i="0">
                <a:solidFill>
                  <a:srgbClr val="1A1A1A"/>
                </a:solidFill>
                <a:latin typeface="Courier New"/>
              </a:rPr>
              <a:t>risk-hierarchy.LIMIT_VAR</a:t>
            </a:r>
            <a:r>
              <a:rPr sz="1100" b="0" i="0">
                <a:solidFill>
                  <a:srgbClr val="1A1A1A"/>
                </a:solidFill>
              </a:rPr>
              <a:t>, </a:t>
            </a:r>
            <a:r>
              <a:rPr sz="1000" b="0" i="0">
                <a:solidFill>
                  <a:srgbClr val="1A1A1A"/>
                </a:solidFill>
                <a:latin typeface="Courier New"/>
              </a:rPr>
              <a:t>portfolio.LIMIT_VAR</a:t>
            </a:r>
          </a:p>
          <a:p>
            <a:pPr algn="l" marL="146304" indent="-146304">
              <a:spcAft>
                <a:spcPts val="200"/>
              </a:spcAft>
              <a:buClr>
                <a:srgbClr val="A51C30"/>
              </a:buClr>
              <a:buSzPct val="100000"/>
              <a:buFont typeface="Arial"/>
              <a:buChar char="▪"/>
            </a:pPr>
            <a:r>
              <a:rPr sz="1100" b="0" i="0">
                <a:solidFill>
                  <a:srgbClr val="1A1A1A"/>
                </a:solidFill>
              </a:rPr>
              <a:t>The build fails if one returns (tools/contracts.policy.yaml, removed:); VaR limits live only in var-limit</a:t>
            </a:r>
          </a:p>
        </p:txBody>
      </p:sp>
      <p:sp>
        <p:nvSpPr>
          <p:cNvPr id="44" name="Rectangle 43"/>
          <p:cNvSpPr/>
          <p:nvPr/>
        </p:nvSpPr>
        <p:spPr>
          <a:xfrm>
            <a:off x="6995159" y="3913632"/>
            <a:ext cx="4416552" cy="1133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6995159" y="3913632"/>
            <a:ext cx="45720" cy="113385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150607" y="3977640"/>
            <a:ext cx="4178808" cy="1042415"/>
          </a:xfrm>
          <a:prstGeom prst="rect">
            <a:avLst/>
          </a:prstGeom>
          <a:noFill/>
        </p:spPr>
        <p:txBody>
          <a:bodyPr wrap="square" lIns="0" rIns="0" tIns="0" bIns="0" anchor="t">
            <a:spAutoFit/>
          </a:bodyPr>
          <a:lstStyle/>
          <a:p>
            <a:pPr algn="l">
              <a:spcAft>
                <a:spcPts val="300"/>
              </a:spcAft>
            </a:pPr>
            <a:r>
              <a:rPr sz="1300" b="1" i="0">
                <a:solidFill>
                  <a:srgbClr val="8A1626"/>
                </a:solidFill>
              </a:rPr>
              <a:t>The difference is shown, not hidden</a:t>
            </a:r>
          </a:p>
          <a:p>
            <a:pPr algn="l" marL="146304" indent="-146304">
              <a:spcAft>
                <a:spcPts val="200"/>
              </a:spcAft>
              <a:buClr>
                <a:srgbClr val="A51C30"/>
              </a:buClr>
              <a:buSzPct val="100000"/>
              <a:buFont typeface="Arial"/>
              <a:buChar char="▪"/>
            </a:pPr>
            <a:r>
              <a:rPr sz="1100" b="0" i="0">
                <a:solidFill>
                  <a:srgbClr val="1A1A1A"/>
                </a:solidFill>
              </a:rPr>
              <a:t>The netting set's panel: computed, stored, difference</a:t>
            </a:r>
          </a:p>
          <a:p>
            <a:pPr algn="l" marL="146304" indent="-146304">
              <a:spcAft>
                <a:spcPts val="200"/>
              </a:spcAft>
              <a:buClr>
                <a:srgbClr val="A51C30"/>
              </a:buClr>
              <a:buSzPct val="100000"/>
              <a:buFont typeface="Arial"/>
              <a:buChar char="▪"/>
            </a:pPr>
            <a:r>
              <a:rPr sz="1100" b="0" i="0">
                <a:solidFill>
                  <a:srgbClr val="1A1A1A"/>
                </a:solidFill>
              </a:rPr>
              <a:t>CP-ALDERSHOT: stored 520,405,666, derived 518,314,005 (18 trades past maturity)</a:t>
            </a:r>
          </a:p>
        </p:txBody>
      </p:sp>
      <p:sp>
        <p:nvSpPr>
          <p:cNvPr id="47" name="Rectangle 46"/>
          <p:cNvSpPr/>
          <p:nvPr/>
        </p:nvSpPr>
        <p:spPr>
          <a:xfrm>
            <a:off x="777240" y="5166360"/>
            <a:ext cx="10634472" cy="10972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ounded Rectangle 47"/>
          <p:cNvSpPr/>
          <p:nvPr/>
        </p:nvSpPr>
        <p:spPr>
          <a:xfrm>
            <a:off x="914400" y="5276088"/>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49" name="TextBox 48"/>
          <p:cNvSpPr txBox="1"/>
          <p:nvPr/>
        </p:nvSpPr>
        <p:spPr>
          <a:xfrm>
            <a:off x="1787651" y="5212080"/>
            <a:ext cx="9486900" cy="329184"/>
          </a:xfrm>
          <a:prstGeom prst="rect">
            <a:avLst/>
          </a:prstGeom>
          <a:noFill/>
        </p:spPr>
        <p:txBody>
          <a:bodyPr wrap="square" lIns="0" rIns="0" tIns="0" bIns="0" anchor="ctr">
            <a:spAutoFit/>
          </a:bodyPr>
          <a:lstStyle/>
          <a:p>
            <a:pPr algn="l"/>
            <a:r>
              <a:rPr sz="1200" b="1" i="0">
                <a:solidFill>
                  <a:srgbClr val="8A1626"/>
                </a:solidFill>
              </a:rPr>
              <a:t>Still open</a:t>
            </a:r>
          </a:p>
        </p:txBody>
      </p:sp>
      <p:sp>
        <p:nvSpPr>
          <p:cNvPr id="50" name="TextBox 49"/>
          <p:cNvSpPr txBox="1"/>
          <p:nvPr/>
        </p:nvSpPr>
        <p:spPr>
          <a:xfrm>
            <a:off x="914400" y="5550408"/>
            <a:ext cx="10360152" cy="685800"/>
          </a:xfrm>
          <a:prstGeom prst="rect">
            <a:avLst/>
          </a:prstGeom>
          <a:noFill/>
        </p:spPr>
        <p:txBody>
          <a:bodyPr wrap="square" lIns="0" rIns="0" tIns="0" bIns="0" anchor="t">
            <a:spAutoFit/>
          </a:bodyPr>
          <a:lstStyle/>
          <a:p>
            <a:pPr algn="l"/>
            <a:r>
              <a:rPr sz="1100" b="0" i="0">
                <a:solidFill>
                  <a:srgbClr val="1A1A1A"/>
                </a:solidFill>
              </a:rPr>
              <a:t>retiring the stored netting-set and counterparty MtM with the netting-set engine; currency conversion on derived totals (all USD today); BI's MtM measures filtered to live trades; SA-CCR's stored RC still before haircut.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COMPUTED ATTRIBUTES · ON THE PAGES</a:t>
            </a:r>
          </a:p>
        </p:txBody>
      </p:sp>
      <p:sp>
        <p:nvSpPr>
          <p:cNvPr id="3" name="Title 2"/>
          <p:cNvSpPr>
            <a:spLocks noGrp="1"/>
          </p:cNvSpPr>
          <p:nvPr>
            <p:ph type="title" idx="104"/>
          </p:nvPr>
        </p:nvSpPr>
        <p:spPr/>
        <p:txBody>
          <a:bodyPr/>
          <a:lstStyle/>
          <a:p>
            <a:r>
              <a:t>On the pages: the counterparty and a stress scenario, computed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03-counterparty-computed.jpg"/>
          <p:cNvPicPr>
            <a:picLocks noChangeAspect="1"/>
          </p:cNvPicPr>
          <p:nvPr/>
        </p:nvPicPr>
        <p:blipFill>
          <a:blip r:embed="rId2"/>
          <a:stretch>
            <a:fillRect/>
          </a:stretch>
        </p:blipFill>
        <p:spPr>
          <a:xfrm>
            <a:off x="777240" y="1417320"/>
            <a:ext cx="3566160" cy="3188828"/>
          </a:xfrm>
          <a:prstGeom prst="rect">
            <a:avLst/>
          </a:prstGeom>
          <a:ln w="9525">
            <a:solidFill>
              <a:srgbClr val="E3DED7"/>
            </a:solidFill>
          </a:ln>
        </p:spPr>
      </p:pic>
      <p:sp>
        <p:nvSpPr>
          <p:cNvPr id="27" name="TextBox 26"/>
          <p:cNvSpPr txBox="1"/>
          <p:nvPr/>
        </p:nvSpPr>
        <p:spPr>
          <a:xfrm>
            <a:off x="777240" y="4633579"/>
            <a:ext cx="3566160" cy="237744"/>
          </a:xfrm>
          <a:prstGeom prst="rect">
            <a:avLst/>
          </a:prstGeom>
          <a:noFill/>
        </p:spPr>
        <p:txBody>
          <a:bodyPr wrap="square" lIns="0" rIns="0" tIns="0" bIns="0" anchor="ctr">
            <a:spAutoFit/>
          </a:bodyPr>
          <a:lstStyle/>
          <a:p>
            <a:pPr algn="l"/>
            <a:r>
              <a:rPr sz="1050" b="0" i="1">
                <a:solidFill>
                  <a:srgbClr val="4A5058"/>
                </a:solidFill>
              </a:rPr>
              <a:t>A counterparty, computed from the trade valuations</a:t>
            </a:r>
          </a:p>
        </p:txBody>
      </p:sp>
      <p:pic>
        <p:nvPicPr>
          <p:cNvPr id="28" name="Picture 27" descr="04-stress-scenario.jpg"/>
          <p:cNvPicPr>
            <a:picLocks noChangeAspect="1"/>
          </p:cNvPicPr>
          <p:nvPr/>
        </p:nvPicPr>
        <p:blipFill>
          <a:blip r:embed="rId3"/>
          <a:stretch>
            <a:fillRect/>
          </a:stretch>
        </p:blipFill>
        <p:spPr>
          <a:xfrm>
            <a:off x="4617720" y="1417320"/>
            <a:ext cx="6793992" cy="4021813"/>
          </a:xfrm>
          <a:prstGeom prst="rect">
            <a:avLst/>
          </a:prstGeom>
          <a:ln w="9525">
            <a:solidFill>
              <a:srgbClr val="E3DED7"/>
            </a:solidFill>
          </a:ln>
        </p:spPr>
      </p:pic>
      <p:sp>
        <p:nvSpPr>
          <p:cNvPr id="29" name="TextBox 28"/>
          <p:cNvSpPr txBox="1"/>
          <p:nvPr/>
        </p:nvSpPr>
        <p:spPr>
          <a:xfrm>
            <a:off x="4617720" y="5466565"/>
            <a:ext cx="6793992" cy="237744"/>
          </a:xfrm>
          <a:prstGeom prst="rect">
            <a:avLst/>
          </a:prstGeom>
          <a:noFill/>
        </p:spPr>
        <p:txBody>
          <a:bodyPr wrap="square" lIns="0" rIns="0" tIns="0" bIns="0" anchor="ctr">
            <a:spAutoFit/>
          </a:bodyPr>
          <a:lstStyle/>
          <a:p>
            <a:pPr algn="l"/>
            <a:r>
              <a:rPr sz="1050" b="0" i="1">
                <a:solidFill>
                  <a:srgbClr val="4A5058"/>
                </a:solidFill>
              </a:rPr>
              <a:t>A stress scenario: the bank's P&amp;L and every desk under it (SSPNL)</a:t>
            </a:r>
          </a:p>
        </p:txBody>
      </p:sp>
      <p:sp>
        <p:nvSpPr>
          <p:cNvPr id="30" name="Rectangle 29"/>
          <p:cNvSpPr/>
          <p:nvPr/>
        </p:nvSpPr>
        <p:spPr>
          <a:xfrm>
            <a:off x="777240" y="5832325"/>
            <a:ext cx="10634472" cy="43131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77240" y="5832325"/>
            <a:ext cx="54864" cy="43131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1005840" y="5832325"/>
            <a:ext cx="10314432" cy="431314"/>
          </a:xfrm>
          <a:prstGeom prst="rect">
            <a:avLst/>
          </a:prstGeom>
          <a:noFill/>
        </p:spPr>
        <p:txBody>
          <a:bodyPr wrap="square" lIns="0" rIns="0" tIns="0" bIns="0" anchor="ctr">
            <a:spAutoFit/>
          </a:bodyPr>
          <a:lstStyle/>
          <a:p>
            <a:pPr algn="l"/>
            <a:r>
              <a:rPr sz="1200" b="1" i="0">
                <a:solidFill>
                  <a:srgbClr val="A51C30"/>
                </a:solidFill>
              </a:rPr>
              <a:t>Read from the trades, not copied.  </a:t>
            </a:r>
            <a:r>
              <a:rPr sz="1150" b="0" i="0">
                <a:solidFill>
                  <a:srgbClr val="1A1A1A"/>
                </a:solidFill>
              </a:rPr>
              <a:t>A page shows the computed figure with its source, its sum currency and its checks; a stored copy, while it exists, sits beside it with the difference.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10</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Drishti Risk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EDITIONS</a:t>
            </a:r>
          </a:p>
        </p:txBody>
      </p:sp>
      <p:sp>
        <p:nvSpPr>
          <p:cNvPr id="3" name="Title 2"/>
          <p:cNvSpPr>
            <a:spLocks noGrp="1"/>
          </p:cNvSpPr>
          <p:nvPr>
            <p:ph type="title" idx="104"/>
          </p:nvPr>
        </p:nvSpPr>
        <p:spPr/>
        <p:txBody>
          <a:bodyPr/>
          <a:lstStyle/>
          <a:p>
            <a:r>
              <a:t>One file makes a focused product: Drishti Risk, World or Market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5212080"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32688" y="1435608"/>
            <a:ext cx="4974336" cy="1389888"/>
          </a:xfrm>
          <a:prstGeom prst="rect">
            <a:avLst/>
          </a:prstGeom>
          <a:noFill/>
        </p:spPr>
        <p:txBody>
          <a:bodyPr wrap="square" lIns="0" rIns="0" tIns="0" bIns="0" anchor="t">
            <a:spAutoFit/>
          </a:bodyPr>
          <a:lstStyle/>
          <a:p>
            <a:pPr algn="l">
              <a:spcAft>
                <a:spcPts val="300"/>
              </a:spcAft>
            </a:pPr>
            <a:r>
              <a:rPr sz="1300" b="1" i="0">
                <a:solidFill>
                  <a:srgbClr val="8A1626"/>
                </a:solidFill>
              </a:rPr>
              <a:t>An edition is one configuration file</a:t>
            </a:r>
          </a:p>
          <a:p>
            <a:pPr algn="l">
              <a:spcAft>
                <a:spcPts val="300"/>
              </a:spcAft>
            </a:pPr>
            <a:r>
              <a:rPr sz="1100" b="1" i="0">
                <a:solidFill>
                  <a:srgbClr val="A51C30"/>
                </a:solidFill>
                <a:latin typeface="Courier New"/>
              </a:rPr>
              <a:t>config/editions/&lt;name&gt;.yaml</a:t>
            </a:r>
          </a:p>
          <a:p>
            <a:pPr algn="l"/>
            <a:r>
              <a:rPr sz="1100" b="0" i="0">
                <a:solidFill>
                  <a:srgbClr val="1A1A1A"/>
                </a:solidFill>
              </a:rPr>
              <a:t>It sets the packs, the commands and words people may use, the menus and features, BI's datasets, Home and its landings, help, the Admin pages and the branding. The site's own settings still win, key by key.</a:t>
            </a:r>
          </a:p>
        </p:txBody>
      </p:sp>
      <p:sp>
        <p:nvSpPr>
          <p:cNvPr id="29" name="Rectangle 28"/>
          <p:cNvSpPr/>
          <p:nvPr/>
        </p:nvSpPr>
        <p:spPr>
          <a:xfrm>
            <a:off x="777240" y="2944368"/>
            <a:ext cx="5212080" cy="175564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2999232"/>
            <a:ext cx="4983480" cy="1664208"/>
          </a:xfrm>
          <a:prstGeom prst="rect">
            <a:avLst/>
          </a:prstGeom>
          <a:noFill/>
        </p:spPr>
        <p:txBody>
          <a:bodyPr wrap="square" lIns="0" rIns="0" tIns="0" bIns="0" anchor="t">
            <a:spAutoFit/>
          </a:bodyPr>
          <a:lstStyle/>
          <a:p>
            <a:pPr algn="l">
              <a:spcAft>
                <a:spcPts val="50"/>
              </a:spcAft>
            </a:pPr>
            <a:r>
              <a:rPr sz="1000" b="0" i="0">
                <a:solidFill>
                  <a:srgbClr val="9AA0A8"/>
                </a:solidFill>
                <a:latin typeface="Courier New"/>
              </a:rPr>
              <a:t># config/editions/risk.yaml, abridged</a:t>
            </a:r>
          </a:p>
          <a:p>
            <a:pPr algn="l">
              <a:spcAft>
                <a:spcPts val="50"/>
              </a:spcAft>
            </a:pPr>
            <a:r>
              <a:rPr sz="1000" b="0" i="0">
                <a:solidFill>
                  <a:srgbClr val="F1EEE9"/>
                </a:solidFill>
                <a:latin typeface="Courier New"/>
              </a:rPr>
              <a:t>edition: risk</a:t>
            </a:r>
          </a:p>
          <a:p>
            <a:pPr algn="l">
              <a:spcAft>
                <a:spcPts val="50"/>
              </a:spcAft>
            </a:pPr>
            <a:r>
              <a:rPr sz="1000" b="0" i="0">
                <a:solidFill>
                  <a:srgbClr val="F1EEE9"/>
                </a:solidFill>
                <a:latin typeface="Courier New"/>
              </a:rPr>
              <a:t>title: Drishti Risk</a:t>
            </a:r>
          </a:p>
          <a:p>
            <a:pPr algn="l">
              <a:spcAft>
                <a:spcPts val="50"/>
              </a:spcAft>
            </a:pPr>
            <a:r>
              <a:rPr sz="1000" b="0" i="0">
                <a:solidFill>
                  <a:srgbClr val="E8A0AC"/>
                </a:solidFill>
                <a:latin typeface="Courier New"/>
              </a:rPr>
              <a:t>packs: { enabled: [core, market-data, trading,</a:t>
            </a:r>
          </a:p>
          <a:p>
            <a:pPr algn="l">
              <a:spcAft>
                <a:spcPts val="50"/>
              </a:spcAft>
            </a:pPr>
            <a:r>
              <a:rPr sz="1000" b="0" i="0">
                <a:solidFill>
                  <a:srgbClr val="E8A0AC"/>
                </a:solidFill>
                <a:latin typeface="Courier New"/>
              </a:rPr>
              <a:t>        counterparty-risk, market-risk], allow-only: true }</a:t>
            </a:r>
          </a:p>
          <a:p>
            <a:pPr algn="l">
              <a:spcAft>
                <a:spcPts val="50"/>
              </a:spcAft>
            </a:pPr>
            <a:r>
              <a:rPr sz="1000" b="0" i="0">
                <a:solidFill>
                  <a:srgbClr val="E8A0AC"/>
                </a:solidFill>
                <a:latin typeface="Courier New"/>
              </a:rPr>
              <a:t>commands: { allow: [VAR, VRES, EXP, NSET, NSMTM, …] }</a:t>
            </a:r>
          </a:p>
          <a:p>
            <a:pPr algn="l">
              <a:spcAft>
                <a:spcPts val="50"/>
              </a:spcAft>
            </a:pPr>
            <a:r>
              <a:rPr sz="1000" b="0" i="0">
                <a:solidFill>
                  <a:srgbClr val="E8A0AC"/>
                </a:solidFill>
                <a:latin typeface="Courier New"/>
              </a:rPr>
              <a:t>home: { landing: desk, landings: [desk, command, map],</a:t>
            </a:r>
          </a:p>
          <a:p>
            <a:pPr algn="l">
              <a:spcAft>
                <a:spcPts val="50"/>
              </a:spcAft>
            </a:pPr>
            <a:r>
              <a:rPr sz="1000" b="0" i="0">
                <a:solidFill>
                  <a:srgbClr val="E8A0AC"/>
                </a:solidFill>
                <a:latin typeface="Courier New"/>
              </a:rPr>
              <a:t>        landing-by-role: {} }</a:t>
            </a:r>
          </a:p>
          <a:p>
            <a:pPr algn="l">
              <a:spcAft>
                <a:spcPts val="50"/>
              </a:spcAft>
            </a:pPr>
            <a:r>
              <a:rPr sz="1000" b="0" i="0">
                <a:solidFill>
                  <a:srgbClr val="E8A0AC"/>
                </a:solidFill>
                <a:latin typeface="Courier New"/>
              </a:rPr>
              <a:t>branding: { product: Drishti Risk }</a:t>
            </a:r>
          </a:p>
        </p:txBody>
      </p:sp>
      <p:graphicFrame>
        <p:nvGraphicFramePr>
          <p:cNvPr id="31" name="Table 30"/>
          <p:cNvGraphicFramePr>
            <a:graphicFrameLocks noGrp="1"/>
          </p:cNvGraphicFramePr>
          <p:nvPr/>
        </p:nvGraphicFramePr>
        <p:xfrm>
          <a:off x="6217920" y="1371600"/>
          <a:ext cx="5193792" cy="1975104"/>
        </p:xfrm>
        <a:graphic>
          <a:graphicData uri="http://schemas.openxmlformats.org/drawingml/2006/table">
            <a:tbl>
              <a:tblPr firstRow="0" bandRow="0">
                <a:tableStyleId>{5940675A-B579-460E-94D1-54222C63F5DA}</a:tableStyleId>
              </a:tblPr>
              <a:tblGrid>
                <a:gridCol w="1143000"/>
                <a:gridCol w="2025396"/>
                <a:gridCol w="2025396"/>
              </a:tblGrid>
              <a:tr h="329184">
                <a:tc>
                  <a:txBody>
                    <a:bodyPr wrap="square"/>
                    <a:lstStyle/>
                    <a:p>
                      <a:r>
                        <a:rPr sz="1050" b="1" i="0">
                          <a:solidFill>
                            <a:srgbClr val="FFFFFF"/>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Edition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Lens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050" b="1" i="0">
                          <a:solidFill>
                            <a:srgbClr val="8A1626"/>
                          </a:solidFill>
                        </a:rPr>
                        <a:t>Set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DRISHTI_EDITION, then a restart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person's link: Open Drishti Risk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050" b="1" i="0">
                          <a:solidFill>
                            <a:srgbClr val="8A1626"/>
                          </a:solidFill>
                        </a:rPr>
                        <a:t>Offered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administrator, every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DRISHTI_LENSES on a full instance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05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whole instance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one person's session, no restart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050" b="1" i="0">
                          <a:solidFill>
                            <a:srgbClr val="8A1626"/>
                          </a:solidFill>
                        </a:rPr>
                        <a:t>Packs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only the edition's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all stay loaded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050" b="1" i="0">
                          <a:solidFill>
                            <a:srgbClr val="8A1626"/>
                          </a:solidFill>
                        </a:rPr>
                        <a:t>Secures?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refuses packs, hides commands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hides; it does not secure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2" name="TextBox 31"/>
          <p:cNvSpPr txBox="1"/>
          <p:nvPr/>
        </p:nvSpPr>
        <p:spPr>
          <a:xfrm>
            <a:off x="6217920" y="3401568"/>
            <a:ext cx="5193792" cy="502920"/>
          </a:xfrm>
          <a:prstGeom prst="rect">
            <a:avLst/>
          </a:prstGeom>
          <a:noFill/>
        </p:spPr>
        <p:txBody>
          <a:bodyPr wrap="square" lIns="0" rIns="0" tIns="0" bIns="0" anchor="ctr">
            <a:spAutoFit/>
          </a:bodyPr>
          <a:lstStyle/>
          <a:p>
            <a:pPr algn="l"/>
            <a:r>
              <a:rPr sz="1100" b="1" i="0">
                <a:solidFill>
                  <a:srgbClr val="8A1626"/>
                </a:solidFill>
              </a:rPr>
              <a:t>In Views and on Home: </a:t>
            </a:r>
            <a:r>
              <a:rPr sz="1100" b="0" i="0">
                <a:solidFill>
                  <a:srgbClr val="1A1A1A"/>
                </a:solidFill>
              </a:rPr>
              <a:t>Open Drishti Risk; inside one, Leave … first, then Switch to … the others.</a:t>
            </a:r>
          </a:p>
        </p:txBody>
      </p:sp>
      <p:sp>
        <p:nvSpPr>
          <p:cNvPr id="33" name="Rectangle 32"/>
          <p:cNvSpPr/>
          <p:nvPr/>
        </p:nvSpPr>
        <p:spPr>
          <a:xfrm>
            <a:off x="6217920" y="3931920"/>
            <a:ext cx="5193792" cy="76809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ounded Rectangle 33"/>
          <p:cNvSpPr/>
          <p:nvPr/>
        </p:nvSpPr>
        <p:spPr>
          <a:xfrm>
            <a:off x="6327648" y="400507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35" name="TextBox 34"/>
          <p:cNvSpPr txBox="1"/>
          <p:nvPr/>
        </p:nvSpPr>
        <p:spPr>
          <a:xfrm>
            <a:off x="6327648" y="4224528"/>
            <a:ext cx="4974336" cy="457200"/>
          </a:xfrm>
          <a:prstGeom prst="rect">
            <a:avLst/>
          </a:prstGeom>
          <a:noFill/>
        </p:spPr>
        <p:txBody>
          <a:bodyPr wrap="square" lIns="0" rIns="0" tIns="0" bIns="0" anchor="ctr">
            <a:spAutoFit/>
          </a:bodyPr>
          <a:lstStyle/>
          <a:p>
            <a:pPr algn="l"/>
            <a:r>
              <a:rPr sz="1100" b="1" i="0">
                <a:solidFill>
                  <a:srgbClr val="8A1626"/>
                </a:solidFill>
              </a:rPr>
              <a:t>Role-based access: </a:t>
            </a:r>
            <a:r>
              <a:rPr sz="1100" b="0" i="0">
                <a:solidFill>
                  <a:srgbClr val="1A1A1A"/>
                </a:solidFill>
              </a:rPr>
              <a:t>home.landing-by-role is read and wins when set; who sees a lens (lens.roles) is a hook, not wired.</a:t>
            </a:r>
          </a:p>
        </p:txBody>
      </p:sp>
      <p:sp>
        <p:nvSpPr>
          <p:cNvPr id="36" name="Rectangle 35"/>
          <p:cNvSpPr/>
          <p:nvPr/>
        </p:nvSpPr>
        <p:spPr>
          <a:xfrm>
            <a:off x="777240" y="4828032"/>
            <a:ext cx="3422904" cy="102412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914400" y="4864608"/>
            <a:ext cx="3194304" cy="960120"/>
          </a:xfrm>
          <a:prstGeom prst="rect">
            <a:avLst/>
          </a:prstGeom>
          <a:noFill/>
        </p:spPr>
        <p:txBody>
          <a:bodyPr wrap="square" lIns="0" rIns="0" tIns="0" bIns="0" anchor="ctr">
            <a:spAutoFit/>
          </a:bodyPr>
          <a:lstStyle/>
          <a:p>
            <a:pPr algn="l">
              <a:spcAft>
                <a:spcPts val="100"/>
              </a:spcAft>
            </a:pPr>
            <a:r>
              <a:rPr sz="1350" b="1" i="0">
                <a:solidFill>
                  <a:srgbClr val="FFFFFF"/>
                </a:solidFill>
              </a:rPr>
              <a:t>Drishti Risk</a:t>
            </a:r>
          </a:p>
          <a:p>
            <a:pPr algn="l">
              <a:spcAft>
                <a:spcPts val="200"/>
              </a:spcAft>
            </a:pPr>
            <a:r>
              <a:rPr sz="1100" b="0" i="0">
                <a:solidFill>
                  <a:srgbClr val="F6E6E9"/>
                </a:solidFill>
              </a:rPr>
              <a:t>VaR and exposure from the bank's own data; stress left out</a:t>
            </a:r>
          </a:p>
          <a:p>
            <a:pPr algn="l"/>
            <a:r>
              <a:rPr sz="1100" b="1" i="0">
                <a:solidFill>
                  <a:srgbClr val="FFFFFF"/>
                </a:solidFill>
              </a:rPr>
              <a:t>Landings: </a:t>
            </a:r>
            <a:r>
              <a:rPr sz="1100" b="0" i="0">
                <a:solidFill>
                  <a:srgbClr val="FFFFFF"/>
                </a:solidFill>
              </a:rPr>
              <a:t>desk · command · map</a:t>
            </a:r>
          </a:p>
        </p:txBody>
      </p:sp>
      <p:sp>
        <p:nvSpPr>
          <p:cNvPr id="38" name="Rectangle 37"/>
          <p:cNvSpPr/>
          <p:nvPr/>
        </p:nvSpPr>
        <p:spPr>
          <a:xfrm>
            <a:off x="4383024" y="4828032"/>
            <a:ext cx="342290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4520184" y="4864608"/>
            <a:ext cx="3194304" cy="960120"/>
          </a:xfrm>
          <a:prstGeom prst="rect">
            <a:avLst/>
          </a:prstGeom>
          <a:noFill/>
        </p:spPr>
        <p:txBody>
          <a:bodyPr wrap="square" lIns="0" rIns="0" tIns="0" bIns="0" anchor="ctr">
            <a:spAutoFit/>
          </a:bodyPr>
          <a:lstStyle/>
          <a:p>
            <a:pPr algn="l">
              <a:spcAft>
                <a:spcPts val="100"/>
              </a:spcAft>
            </a:pPr>
            <a:r>
              <a:rPr sz="1350" b="1" i="0">
                <a:solidFill>
                  <a:srgbClr val="8A1626"/>
                </a:solidFill>
              </a:rPr>
              <a:t>Drishti World</a:t>
            </a:r>
          </a:p>
          <a:p>
            <a:pPr algn="l">
              <a:spcAft>
                <a:spcPts val="200"/>
              </a:spcAft>
            </a:pPr>
            <a:r>
              <a:rPr sz="1100" b="0" i="0">
                <a:solidFill>
                  <a:srgbClr val="4A5058"/>
                </a:solidFill>
              </a:rPr>
              <a:t>economies, markets, companies and funds from public data</a:t>
            </a:r>
          </a:p>
          <a:p>
            <a:pPr algn="l"/>
            <a:r>
              <a:rPr sz="1100" b="1" i="0">
                <a:solidFill>
                  <a:srgbClr val="8A1626"/>
                </a:solidFill>
              </a:rPr>
              <a:t>Landings: </a:t>
            </a:r>
            <a:r>
              <a:rPr sz="1100" b="0" i="0">
                <a:solidFill>
                  <a:srgbClr val="8A1626"/>
                </a:solidFill>
              </a:rPr>
              <a:t>desk · explorer · map</a:t>
            </a:r>
          </a:p>
        </p:txBody>
      </p:sp>
      <p:sp>
        <p:nvSpPr>
          <p:cNvPr id="40" name="Rectangle 39"/>
          <p:cNvSpPr/>
          <p:nvPr/>
        </p:nvSpPr>
        <p:spPr>
          <a:xfrm>
            <a:off x="7988808" y="4828032"/>
            <a:ext cx="342290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8125968" y="4864608"/>
            <a:ext cx="3194304" cy="960120"/>
          </a:xfrm>
          <a:prstGeom prst="rect">
            <a:avLst/>
          </a:prstGeom>
          <a:noFill/>
        </p:spPr>
        <p:txBody>
          <a:bodyPr wrap="square" lIns="0" rIns="0" tIns="0" bIns="0" anchor="ctr">
            <a:spAutoFit/>
          </a:bodyPr>
          <a:lstStyle/>
          <a:p>
            <a:pPr algn="l">
              <a:spcAft>
                <a:spcPts val="100"/>
              </a:spcAft>
            </a:pPr>
            <a:r>
              <a:rPr sz="1350" b="1" i="0">
                <a:solidFill>
                  <a:srgbClr val="8A1626"/>
                </a:solidFill>
              </a:rPr>
              <a:t>Drishti Market</a:t>
            </a:r>
          </a:p>
          <a:p>
            <a:pPr algn="l">
              <a:spcAft>
                <a:spcPts val="200"/>
              </a:spcAft>
            </a:pPr>
            <a:r>
              <a:rPr sz="1100" b="0" i="0">
                <a:solidFill>
                  <a:srgbClr val="4A5058"/>
                </a:solidFill>
              </a:rPr>
              <a:t>curves, surfaces and fixings that feed risk and valuations</a:t>
            </a:r>
          </a:p>
          <a:p>
            <a:pPr algn="l"/>
            <a:r>
              <a:rPr sz="1100" b="1" i="0">
                <a:solidFill>
                  <a:srgbClr val="8A1626"/>
                </a:solidFill>
              </a:rPr>
              <a:t>Landings: </a:t>
            </a:r>
            <a:r>
              <a:rPr sz="1100" b="0" i="0">
                <a:solidFill>
                  <a:srgbClr val="8A1626"/>
                </a:solidFill>
              </a:rPr>
              <a:t>desk · explorer · quality</a:t>
            </a:r>
          </a:p>
        </p:txBody>
      </p:sp>
      <p:sp>
        <p:nvSpPr>
          <p:cNvPr id="42" name="TextBox 41"/>
          <p:cNvSpPr txBox="1"/>
          <p:nvPr/>
        </p:nvSpPr>
        <p:spPr>
          <a:xfrm>
            <a:off x="777240" y="5897880"/>
            <a:ext cx="10634472" cy="365760"/>
          </a:xfrm>
          <a:prstGeom prst="rect">
            <a:avLst/>
          </a:prstGeom>
          <a:noFill/>
        </p:spPr>
        <p:txBody>
          <a:bodyPr wrap="square" lIns="0" rIns="0" tIns="0" bIns="0" anchor="ctr">
            <a:spAutoFit/>
          </a:bodyPr>
          <a:lstStyle/>
          <a:p>
            <a:pPr algn="l"/>
            <a:r>
              <a:rPr sz="1100" b="0" i="1">
                <a:solidFill>
                  <a:srgbClr val="4A5058"/>
                </a:solidFill>
              </a:rPr>
              <a:t>The engines are unchanged under an edition: VaR and exposure of any scope, sharded or not, equal to the cent (the risk suites run again with the edition 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RISK · HOME</a:t>
            </a:r>
          </a:p>
        </p:txBody>
      </p:sp>
      <p:sp>
        <p:nvSpPr>
          <p:cNvPr id="3" name="Title 2"/>
          <p:cNvSpPr>
            <a:spLocks noGrp="1"/>
          </p:cNvSpPr>
          <p:nvPr>
            <p:ph type="title" idx="104"/>
          </p:nvPr>
        </p:nvSpPr>
        <p:spPr/>
        <p:txBody>
          <a:bodyPr/>
          <a:lstStyle/>
          <a:p>
            <a:r>
              <a:t>Drishti Risk's three landings: desk, command and map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risk-desk.jpg"/>
          <p:cNvPicPr>
            <a:picLocks noChangeAspect="1"/>
          </p:cNvPicPr>
          <p:nvPr/>
        </p:nvPicPr>
        <p:blipFill>
          <a:blip r:embed="rId2"/>
          <a:stretch>
            <a:fillRect/>
          </a:stretch>
        </p:blipFill>
        <p:spPr>
          <a:xfrm>
            <a:off x="777240" y="1417320"/>
            <a:ext cx="6400800" cy="2744047"/>
          </a:xfrm>
          <a:prstGeom prst="rect">
            <a:avLst/>
          </a:prstGeom>
          <a:ln w="9525">
            <a:solidFill>
              <a:srgbClr val="E3DED7"/>
            </a:solidFill>
          </a:ln>
        </p:spPr>
      </p:pic>
      <p:sp>
        <p:nvSpPr>
          <p:cNvPr id="27" name="TextBox 26"/>
          <p:cNvSpPr txBox="1"/>
          <p:nvPr/>
        </p:nvSpPr>
        <p:spPr>
          <a:xfrm>
            <a:off x="777240" y="4188798"/>
            <a:ext cx="6400800" cy="237744"/>
          </a:xfrm>
          <a:prstGeom prst="rect">
            <a:avLst/>
          </a:prstGeom>
          <a:noFill/>
        </p:spPr>
        <p:txBody>
          <a:bodyPr wrap="square" lIns="0" rIns="0" tIns="0" bIns="0" anchor="ctr">
            <a:spAutoFit/>
          </a:bodyPr>
          <a:lstStyle/>
          <a:p>
            <a:pPr algn="l"/>
            <a:r>
              <a:rPr sz="1050" b="0" i="1">
                <a:solidFill>
                  <a:srgbClr val="4A5058"/>
                </a:solidFill>
              </a:rPr>
              <a:t>A · Risk desk (the default): VaR, backtest, exposure, limits in breach; desks and counterparties</a:t>
            </a:r>
          </a:p>
        </p:txBody>
      </p:sp>
      <p:pic>
        <p:nvPicPr>
          <p:cNvPr id="28" name="Picture 27" descr="risk-command.jpg"/>
          <p:cNvPicPr>
            <a:picLocks noChangeAspect="1"/>
          </p:cNvPicPr>
          <p:nvPr/>
        </p:nvPicPr>
        <p:blipFill>
          <a:blip r:embed="rId3"/>
          <a:stretch>
            <a:fillRect/>
          </a:stretch>
        </p:blipFill>
        <p:spPr>
          <a:xfrm>
            <a:off x="7406640" y="1417320"/>
            <a:ext cx="4005072" cy="1477797"/>
          </a:xfrm>
          <a:prstGeom prst="rect">
            <a:avLst/>
          </a:prstGeom>
          <a:ln w="9525">
            <a:solidFill>
              <a:srgbClr val="E3DED7"/>
            </a:solidFill>
          </a:ln>
        </p:spPr>
      </p:pic>
      <p:sp>
        <p:nvSpPr>
          <p:cNvPr id="29" name="TextBox 28"/>
          <p:cNvSpPr txBox="1"/>
          <p:nvPr/>
        </p:nvSpPr>
        <p:spPr>
          <a:xfrm>
            <a:off x="7406640" y="2922549"/>
            <a:ext cx="4005072" cy="237744"/>
          </a:xfrm>
          <a:prstGeom prst="rect">
            <a:avLst/>
          </a:prstGeom>
          <a:noFill/>
        </p:spPr>
        <p:txBody>
          <a:bodyPr wrap="square" lIns="0" rIns="0" tIns="0" bIns="0" anchor="ctr">
            <a:spAutoFit/>
          </a:bodyPr>
          <a:lstStyle/>
          <a:p>
            <a:pPr algn="l"/>
            <a:r>
              <a:rPr sz="1050" b="0" i="1">
                <a:solidFill>
                  <a:srgbClr val="4A5058"/>
                </a:solidFill>
              </a:rPr>
              <a:t>B · Command first: the command line, chips, baskets</a:t>
            </a:r>
          </a:p>
        </p:txBody>
      </p:sp>
      <p:pic>
        <p:nvPicPr>
          <p:cNvPr id="30" name="Picture 29" descr="risk-map.jpg"/>
          <p:cNvPicPr>
            <a:picLocks noChangeAspect="1"/>
          </p:cNvPicPr>
          <p:nvPr/>
        </p:nvPicPr>
        <p:blipFill>
          <a:blip r:embed="rId4"/>
          <a:stretch>
            <a:fillRect/>
          </a:stretch>
        </p:blipFill>
        <p:spPr>
          <a:xfrm>
            <a:off x="7406640" y="3260877"/>
            <a:ext cx="4005072" cy="1210793"/>
          </a:xfrm>
          <a:prstGeom prst="rect">
            <a:avLst/>
          </a:prstGeom>
          <a:ln w="9525">
            <a:solidFill>
              <a:srgbClr val="E3DED7"/>
            </a:solidFill>
          </a:ln>
        </p:spPr>
      </p:pic>
      <p:sp>
        <p:nvSpPr>
          <p:cNvPr id="31" name="TextBox 30"/>
          <p:cNvSpPr txBox="1"/>
          <p:nvPr/>
        </p:nvSpPr>
        <p:spPr>
          <a:xfrm>
            <a:off x="7406640" y="4499102"/>
            <a:ext cx="4005072" cy="237744"/>
          </a:xfrm>
          <a:prstGeom prst="rect">
            <a:avLst/>
          </a:prstGeom>
          <a:noFill/>
        </p:spPr>
        <p:txBody>
          <a:bodyPr wrap="square" lIns="0" rIns="0" tIns="0" bIns="0" anchor="ctr">
            <a:spAutoFit/>
          </a:bodyPr>
          <a:lstStyle/>
          <a:p>
            <a:pPr algn="l"/>
            <a:r>
              <a:rPr sz="1050" b="0" i="1">
                <a:solidFill>
                  <a:srgbClr val="4A5058"/>
                </a:solidFill>
              </a:rPr>
              <a:t>C · Risk map: a hierarchy with VaR and limit use, a heat map, Today</a:t>
            </a:r>
          </a:p>
        </p:txBody>
      </p:sp>
      <p:sp>
        <p:nvSpPr>
          <p:cNvPr id="32" name="Rectangle 31"/>
          <p:cNvSpPr/>
          <p:nvPr/>
        </p:nvSpPr>
        <p:spPr>
          <a:xfrm>
            <a:off x="777240" y="4837430"/>
            <a:ext cx="10634472" cy="142620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4837430"/>
            <a:ext cx="45720" cy="142620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32688" y="4901438"/>
            <a:ext cx="10396728" cy="1334769"/>
          </a:xfrm>
          <a:prstGeom prst="rect">
            <a:avLst/>
          </a:prstGeom>
          <a:noFill/>
        </p:spPr>
        <p:txBody>
          <a:bodyPr wrap="square" lIns="0" rIns="0" tIns="0" bIns="0" anchor="t">
            <a:spAutoFit/>
          </a:bodyPr>
          <a:lstStyle/>
          <a:p>
            <a:pPr algn="l">
              <a:spcAft>
                <a:spcPts val="300"/>
              </a:spcAft>
            </a:pPr>
            <a:r>
              <a:rPr sz="1300" b="1" i="0">
                <a:solidFill>
                  <a:srgbClr val="8A1626"/>
                </a:solidFill>
              </a:rPr>
              <a:t>Every figure is the engines' own answer</a:t>
            </a:r>
          </a:p>
          <a:p>
            <a:pPr algn="l" marL="146304" indent="-146304">
              <a:spcAft>
                <a:spcPts val="200"/>
              </a:spcAft>
              <a:buClr>
                <a:srgbClr val="A51C30"/>
              </a:buClr>
              <a:buSzPct val="100000"/>
              <a:buFont typeface="Arial"/>
              <a:buChar char="▪"/>
            </a:pPr>
            <a:r>
              <a:rPr sz="1100" b="0" i="0">
                <a:solidFill>
                  <a:srgbClr val="1A1A1A"/>
                </a:solidFill>
              </a:rPr>
              <a:t>The landings read the console's VaR and exposure routes (scope, tree, intraday streams, official records, baskets); no new store, no copy of a figure</a:t>
            </a:r>
          </a:p>
          <a:p>
            <a:pPr algn="l" marL="146304" indent="-146304">
              <a:spcAft>
                <a:spcPts val="200"/>
              </a:spcAft>
              <a:buClr>
                <a:srgbClr val="A51C30"/>
              </a:buClr>
              <a:buSzPct val="100000"/>
              <a:buFont typeface="Arial"/>
              <a:buChar char="▪"/>
            </a:pPr>
            <a:r>
              <a:rPr sz="1100" b="0" i="0">
                <a:solidFill>
                  <a:srgbClr val="1A1A1A"/>
                </a:solidFill>
              </a:rPr>
              <a:t>The choice of landing is kept per person; a role can be given its landing (home.landing-by-role)</a:t>
            </a:r>
          </a:p>
          <a:p>
            <a:pPr algn="l" marL="146304" indent="-146304">
              <a:spcAft>
                <a:spcPts val="200"/>
              </a:spcAft>
              <a:buClr>
                <a:srgbClr val="A51C30"/>
              </a:buClr>
              <a:buSzPct val="100000"/>
              <a:buFont typeface="Arial"/>
              <a:buChar char="▪"/>
            </a:pPr>
            <a:r>
              <a:rPr sz="1100" b="0" i="0">
                <a:solidFill>
                  <a:srgbClr val="1A1A1A"/>
                </a:solidFill>
              </a:rPr>
              <a:t>Pictures from the browser tests' stand-in server: VaR 112.04m and EPE 947.20m are the demo bank's 2026-09-30 figures; the desk and counterparty rows are stand-ins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11</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Regulatory reporting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REGULATORY REPORTING · THE LANDSCAPE</a:t>
            </a:r>
          </a:p>
        </p:txBody>
      </p:sp>
      <p:sp>
        <p:nvSpPr>
          <p:cNvPr id="3" name="Title 2"/>
          <p:cNvSpPr>
            <a:spLocks noGrp="1"/>
          </p:cNvSpPr>
          <p:nvPr>
            <p:ph type="title" idx="104"/>
          </p:nvPr>
        </p:nvSpPr>
        <p:spPr/>
        <p:txBody>
          <a:bodyPr/>
          <a:lstStyle/>
          <a:p>
            <a:r>
              <a:t>Canada and the US: the reports that need VaR or 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566928"/>
          </a:xfrm>
          <a:prstGeom prst="rect">
            <a:avLst/>
          </a:prstGeom>
          <a:noFill/>
        </p:spPr>
        <p:txBody>
          <a:bodyPr wrap="square" lIns="0" rIns="0" tIns="0" bIns="0" anchor="ctr">
            <a:spAutoFit/>
          </a:bodyPr>
          <a:lstStyle/>
          <a:p>
            <a:pPr algn="l"/>
            <a:r>
              <a:rPr sz="1150" b="1" i="0">
                <a:solidFill>
                  <a:srgbClr val="A51C30"/>
                </a:solidFill>
              </a:rPr>
              <a:t>Today.  </a:t>
            </a:r>
            <a:r>
              <a:rPr sz="1100" b="0" i="0">
                <a:solidFill>
                  <a:srgbClr val="1A1A1A"/>
                </a:solidFill>
              </a:rPr>
              <a:t>Canada: FRTB since November 2023; every bank reports the standardised approach, internal models need OSFI's approval. US: VaR and stressed VaR (Basel 2.5) in force; an ES-based re-proposal of March 2026 is not final.</a:t>
            </a:r>
          </a:p>
        </p:txBody>
      </p:sp>
      <p:graphicFrame>
        <p:nvGraphicFramePr>
          <p:cNvPr id="29" name="Table 28"/>
          <p:cNvGraphicFramePr>
            <a:graphicFrameLocks noGrp="1"/>
          </p:cNvGraphicFramePr>
          <p:nvPr/>
        </p:nvGraphicFramePr>
        <p:xfrm>
          <a:off x="777240" y="2075688"/>
          <a:ext cx="5202936" cy="3291840"/>
        </p:xfrm>
        <a:graphic>
          <a:graphicData uri="http://schemas.openxmlformats.org/drawingml/2006/table">
            <a:tbl>
              <a:tblPr firstRow="0" bandRow="0">
                <a:tableStyleId>{5940675A-B579-460E-94D1-54222C63F5DA}</a:tableStyleId>
              </a:tblPr>
              <a:tblGrid>
                <a:gridCol w="1325880"/>
                <a:gridCol w="868680"/>
                <a:gridCol w="3008376"/>
              </a:tblGrid>
              <a:tr h="548640">
                <a:tc>
                  <a:txBody>
                    <a:bodyPr wrap="square"/>
                    <a:lstStyle/>
                    <a:p>
                      <a:r>
                        <a:rPr sz="1100" b="1" i="0">
                          <a:solidFill>
                            <a:srgbClr val="FFFFFF"/>
                          </a:solidFill>
                        </a:rPr>
                        <a:t>Canada (OSFI)</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How often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or ES it needs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548640">
                <a:tc>
                  <a:txBody>
                    <a:bodyPr wrap="square"/>
                    <a:lstStyle/>
                    <a:p>
                      <a:r>
                        <a:rPr sz="1100" b="1" i="0">
                          <a:solidFill>
                            <a:srgbClr val="8A1626"/>
                          </a:solidFill>
                        </a:rPr>
                        <a:t>BCAR 90.010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standardised for all; ES 97.5% and SES, latest and 60-day, on internal models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Pillar 3 MR1, MR2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MR2: ES, SES, DRC, latest, average, high, low; exceptions against 99%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Internal-model tests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Daily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1-day VaR 99% and 97.5% against actual and hypothetical P&amp;L; the PLA 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Annual report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Yearly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trading VaR, 1 day 99%, by risk type: year-end, average, high, low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ICAAP, stress tests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Yearly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 prescribed VaR or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30" name="Table 29"/>
          <p:cNvGraphicFramePr>
            <a:graphicFrameLocks noGrp="1"/>
          </p:cNvGraphicFramePr>
          <p:nvPr/>
        </p:nvGraphicFramePr>
        <p:xfrm>
          <a:off x="6208776" y="2075688"/>
          <a:ext cx="5202936" cy="3291840"/>
        </p:xfrm>
        <a:graphic>
          <a:graphicData uri="http://schemas.openxmlformats.org/drawingml/2006/table">
            <a:tbl>
              <a:tblPr firstRow="0" bandRow="0">
                <a:tableStyleId>{5940675A-B579-460E-94D1-54222C63F5DA}</a:tableStyleId>
              </a:tblPr>
              <a:tblGrid>
                <a:gridCol w="1325880"/>
                <a:gridCol w="868680"/>
                <a:gridCol w="3008376"/>
              </a:tblGrid>
              <a:tr h="548640">
                <a:tc>
                  <a:txBody>
                    <a:bodyPr wrap="square"/>
                    <a:lstStyle/>
                    <a:p>
                      <a:r>
                        <a:rPr sz="1100" b="1" i="0">
                          <a:solidFill>
                            <a:srgbClr val="FFFFFF"/>
                          </a:solidFill>
                        </a:rPr>
                        <a:t>US (Fed, OCC, FDIC)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293352"/>
                    </a:solidFill>
                  </a:tcPr>
                </a:tc>
                <a:tc>
                  <a:txBody>
                    <a:bodyPr wrap="square"/>
                    <a:lstStyle/>
                    <a:p>
                      <a:r>
                        <a:rPr sz="1100" b="1" i="0">
                          <a:solidFill>
                            <a:srgbClr val="FFFFFF"/>
                          </a:solidFill>
                        </a:rPr>
                        <a:t>How often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293352"/>
                    </a:solidFill>
                  </a:tcPr>
                </a:tc>
                <a:tc>
                  <a:txBody>
                    <a:bodyPr wrap="square"/>
                    <a:lstStyle/>
                    <a:p>
                      <a:r>
                        <a:rPr sz="1100" b="1" i="0">
                          <a:solidFill>
                            <a:srgbClr val="FFFFFF"/>
                          </a:solidFill>
                        </a:rPr>
                        <a:t>VaR or ES it needs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293352"/>
                    </a:solidFill>
                  </a:tcPr>
                </a:tc>
              </a:tr>
              <a:tr h="548640">
                <a:tc>
                  <a:txBody>
                    <a:bodyPr wrap="square"/>
                    <a:lstStyle/>
                    <a:p>
                      <a:r>
                        <a:rPr sz="1100" b="1" i="0">
                          <a:solidFill>
                            <a:srgbClr val="8A1626"/>
                          </a:solidFill>
                        </a:rPr>
                        <a:t>Market risk rule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Daily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 99% 10-day and stressed VaR; 60-day and 12-week averages × 3 to 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FFIEC 102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and stressed VaR, latest and averages; public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§217.212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high, low, mean, period-end VaR and stressed VaR; by risk type; backtest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Volcker metrics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desk, daily: limits and use, VaR 1-day 99%, P&amp;L attribution, positions, volumes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FR Y-9C, FR Y-14Q</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market-risk RWA (HC-R item 27); the market shock: not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1" name="Rectangle 30"/>
          <p:cNvSpPr/>
          <p:nvPr/>
        </p:nvSpPr>
        <p:spPr>
          <a:xfrm>
            <a:off x="777240" y="548640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48640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5486400"/>
            <a:ext cx="10314432" cy="777240"/>
          </a:xfrm>
          <a:prstGeom prst="rect">
            <a:avLst/>
          </a:prstGeom>
          <a:noFill/>
        </p:spPr>
        <p:txBody>
          <a:bodyPr wrap="square" lIns="0" rIns="0" tIns="0" bIns="0" anchor="ctr">
            <a:spAutoFit/>
          </a:bodyPr>
          <a:lstStyle/>
          <a:p>
            <a:pPr algn="l"/>
            <a:r>
              <a:rPr sz="1150" b="1" i="0">
                <a:solidFill>
                  <a:srgbClr val="A51C30"/>
                </a:solidFill>
              </a:rPr>
              <a:t>A Canadian bank with a US holding company.  </a:t>
            </a:r>
            <a:r>
              <a:rPr sz="1100" b="0" i="0">
                <a:solidFill>
                  <a:srgbClr val="1A1A1A"/>
                </a:solidFill>
              </a:rPr>
              <a:t>It files both sides: the US holding company follows the US capital rule like a US bank holding company; FFIEC 102 applies at $1 billion of trading assets and liabilities, Volcker at $20 billion across the bank's US operations.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REGULATORY REPORTING · WHAT EVERY REPORT NEEDS</a:t>
            </a:r>
          </a:p>
        </p:txBody>
      </p:sp>
      <p:sp>
        <p:nvSpPr>
          <p:cNvPr id="3" name="Title 2"/>
          <p:cNvSpPr>
            <a:spLocks noGrp="1"/>
          </p:cNvSpPr>
          <p:nvPr>
            <p:ph type="title" idx="104"/>
          </p:nvPr>
        </p:nvSpPr>
        <p:spPr/>
        <p:txBody>
          <a:bodyPr/>
          <a:lstStyle/>
          <a:p>
            <a:r>
              <a:t>The building blocks, and what Drishti has today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371600"/>
          <a:ext cx="10634472" cy="4219956"/>
        </p:xfrm>
        <a:graphic>
          <a:graphicData uri="http://schemas.openxmlformats.org/drawingml/2006/table">
            <a:tbl>
              <a:tblPr firstRow="0" bandRow="0">
                <a:tableStyleId>{5940675A-B579-460E-94D1-54222C63F5DA}</a:tableStyleId>
              </a:tblPr>
              <a:tblGrid>
                <a:gridCol w="2788920"/>
                <a:gridCol w="3063240"/>
                <a:gridCol w="1005840"/>
                <a:gridCol w="3776472"/>
              </a:tblGrid>
              <a:tr h="324612">
                <a:tc>
                  <a:txBody>
                    <a:bodyPr wrap="square"/>
                    <a:lstStyle/>
                    <a:p>
                      <a:r>
                        <a:rPr sz="1100" b="1" i="0">
                          <a:solidFill>
                            <a:srgbClr val="FFFFFF"/>
                          </a:solidFill>
                        </a:rPr>
                        <a:t>Building block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Needed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Drishti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4612">
                <a:tc>
                  <a:txBody>
                    <a:bodyPr wrap="square"/>
                    <a:lstStyle/>
                    <a:p>
                      <a:r>
                        <a:rPr sz="1100" b="1" i="0">
                          <a:solidFill>
                            <a:srgbClr val="8A1626"/>
                          </a:solidFill>
                        </a:rPr>
                        <a:t>VaR 99% and ES 97.5%, 1 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MD&amp;A, Volcker, every backtest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bank to a trade; any node or trade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By desk and legal entity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all; diversification in most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every hierarchy node, with 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VaR limits and their use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Volcker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limit per node; use in every official record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Kept and reproducible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official runs of every node, 7 years, versions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Backtest: hypothetical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every node: exceptions, traffic light, tests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Backtest: actual P&amp;L,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US rule, OSFI internal models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needs the bank's daily P&amp;L feed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10-day VaR, stressed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US rule, FFIEC 102, §217.212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in the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High, low, average, 60-day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MD&amp;A, FFIEC 102, §217.212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from the official history Drishti keeps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VaR by risk 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MD&amp;A, §217.212, FFIEC 102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needs P&amp;L vectors by risk class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Other limits, P&amp;L attribution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Volcker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P&amp;L explain designed, not 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Standardised approach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BCAR 90.010, Pillar 3 MR1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contract designed (FRTB SA)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ES by liquidity horizon, PLA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banks on internal models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with NMRF and DRC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7" name="Rounded Rectangle 26"/>
          <p:cNvSpPr/>
          <p:nvPr/>
        </p:nvSpPr>
        <p:spPr>
          <a:xfrm>
            <a:off x="6702552" y="3380994"/>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28" name="Rounded Rectangle 27"/>
          <p:cNvSpPr/>
          <p:nvPr/>
        </p:nvSpPr>
        <p:spPr>
          <a:xfrm>
            <a:off x="6702552" y="3705606"/>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29" name="Rounded Rectangle 28"/>
          <p:cNvSpPr/>
          <p:nvPr/>
        </p:nvSpPr>
        <p:spPr>
          <a:xfrm>
            <a:off x="6702552" y="4030218"/>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0" name="Rounded Rectangle 29"/>
          <p:cNvSpPr/>
          <p:nvPr/>
        </p:nvSpPr>
        <p:spPr>
          <a:xfrm>
            <a:off x="6702552" y="4354830"/>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1" name="Rounded Rectangle 30"/>
          <p:cNvSpPr/>
          <p:nvPr/>
        </p:nvSpPr>
        <p:spPr>
          <a:xfrm>
            <a:off x="6702552" y="4679442"/>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2" name="Rounded Rectangle 31"/>
          <p:cNvSpPr/>
          <p:nvPr/>
        </p:nvSpPr>
        <p:spPr>
          <a:xfrm>
            <a:off x="6702552" y="5004053"/>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3" name="Rounded Rectangle 32"/>
          <p:cNvSpPr/>
          <p:nvPr/>
        </p:nvSpPr>
        <p:spPr>
          <a:xfrm>
            <a:off x="6702552" y="532866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4" name="Rectangle 33"/>
          <p:cNvSpPr/>
          <p:nvPr/>
        </p:nvSpPr>
        <p:spPr>
          <a:xfrm>
            <a:off x="777240" y="5728716"/>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728716"/>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5728716"/>
            <a:ext cx="10314432" cy="566928"/>
          </a:xfrm>
          <a:prstGeom prst="rect">
            <a:avLst/>
          </a:prstGeom>
          <a:noFill/>
        </p:spPr>
        <p:txBody>
          <a:bodyPr wrap="square" lIns="0" rIns="0" tIns="0" bIns="0" anchor="ctr">
            <a:spAutoFit/>
          </a:bodyPr>
          <a:lstStyle/>
          <a:p>
            <a:pPr algn="l"/>
            <a:r>
              <a:rPr sz="1150" b="1" i="0">
                <a:solidFill>
                  <a:srgbClr val="A51C30"/>
                </a:solidFill>
              </a:rPr>
              <a:t>Reading it.  </a:t>
            </a:r>
            <a:r>
              <a:rPr sz="1100" b="0" i="0">
                <a:solidFill>
                  <a:srgbClr val="1A1A1A"/>
                </a:solidFill>
              </a:rPr>
              <a:t>A Canadian bank on the standardised approach reports VaR in its annual report; its US holding company needs the full VaR and stressed VaR set. Built rows carry no pill.</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REGULATORY REPORTING · ROADMAP</a:t>
            </a:r>
          </a:p>
        </p:txBody>
      </p:sp>
      <p:sp>
        <p:nvSpPr>
          <p:cNvPr id="3" name="Title 2"/>
          <p:cNvSpPr>
            <a:spLocks noGrp="1"/>
          </p:cNvSpPr>
          <p:nvPr>
            <p:ph type="title" idx="104"/>
          </p:nvPr>
        </p:nvSpPr>
        <p:spPr/>
        <p:txBody>
          <a:bodyPr/>
          <a:lstStyle/>
          <a:p>
            <a:r>
              <a:t>Three phases: the measures, the report packs, then FRTB</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2507742" cy="56692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371600"/>
            <a:ext cx="2324862" cy="566928"/>
          </a:xfrm>
          <a:prstGeom prst="rect">
            <a:avLst/>
          </a:prstGeom>
          <a:noFill/>
        </p:spPr>
        <p:txBody>
          <a:bodyPr wrap="square" lIns="0" rIns="0" tIns="0" bIns="0" anchor="ctr">
            <a:spAutoFit/>
          </a:bodyPr>
          <a:lstStyle/>
          <a:p>
            <a:pPr algn="l"/>
            <a:r>
              <a:rPr sz="1300" b="1" i="0">
                <a:solidFill>
                  <a:srgbClr val="FFFFFF"/>
                </a:solidFill>
              </a:rPr>
              <a:t>1 · The measures</a:t>
            </a:r>
          </a:p>
          <a:p>
            <a:pPr algn="l"/>
            <a:r>
              <a:rPr sz="1100" b="0" i="0">
                <a:solidFill>
                  <a:srgbClr val="FFFFFF"/>
                </a:solidFill>
              </a:rPr>
              <a:t>next</a:t>
            </a:r>
          </a:p>
        </p:txBody>
      </p:sp>
      <p:sp>
        <p:nvSpPr>
          <p:cNvPr id="28" name="Rectangle 27"/>
          <p:cNvSpPr/>
          <p:nvPr/>
        </p:nvSpPr>
        <p:spPr>
          <a:xfrm>
            <a:off x="77724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ounded Rectangle 28"/>
          <p:cNvSpPr/>
          <p:nvPr/>
        </p:nvSpPr>
        <p:spPr>
          <a:xfrm>
            <a:off x="90525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0" name="TextBox 29"/>
          <p:cNvSpPr txBox="1"/>
          <p:nvPr/>
        </p:nvSpPr>
        <p:spPr>
          <a:xfrm>
            <a:off x="90525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10-day and stressed VaR</a:t>
            </a:r>
          </a:p>
          <a:p>
            <a:pPr algn="l" marL="146304" indent="-146304">
              <a:spcAft>
                <a:spcPts val="200"/>
              </a:spcAft>
              <a:buClr>
                <a:srgbClr val="A51C30"/>
              </a:buClr>
              <a:buSzPct val="100000"/>
              <a:buFont typeface="Arial"/>
              <a:buChar char="▪"/>
            </a:pPr>
            <a:r>
              <a:rPr sz="1100" b="0" i="0">
                <a:solidFill>
                  <a:srgbClr val="1A1A1A"/>
                </a:solidFill>
              </a:rPr>
              <a:t>a daily actual and hypothetical P&amp;L feed</a:t>
            </a:r>
          </a:p>
          <a:p>
            <a:pPr algn="l" marL="146304" indent="-146304">
              <a:spcAft>
                <a:spcPts val="200"/>
              </a:spcAft>
              <a:buClr>
                <a:srgbClr val="A51C30"/>
              </a:buClr>
              <a:buSzPct val="100000"/>
              <a:buFont typeface="Arial"/>
              <a:buChar char="▪"/>
            </a:pPr>
            <a:r>
              <a:rPr sz="1100" b="0" i="0">
                <a:solidFill>
                  <a:srgbClr val="1A1A1A"/>
                </a:solidFill>
              </a:rPr>
              <a:t>backtests: 99% and 97.5%, both P&amp;Ls, multiplier</a:t>
            </a:r>
          </a:p>
          <a:p>
            <a:pPr algn="l" marL="146304" indent="-146304">
              <a:spcAft>
                <a:spcPts val="200"/>
              </a:spcAft>
              <a:buClr>
                <a:srgbClr val="A51C30"/>
              </a:buClr>
              <a:buSzPct val="100000"/>
              <a:buFont typeface="Arial"/>
              <a:buChar char="▪"/>
            </a:pPr>
            <a:r>
              <a:rPr sz="1100" b="0" i="0">
                <a:solidFill>
                  <a:srgbClr val="1A1A1A"/>
                </a:solidFill>
              </a:rPr>
              <a:t>high, low, average, 60-day; CAD records</a:t>
            </a:r>
          </a:p>
        </p:txBody>
      </p:sp>
      <p:sp>
        <p:nvSpPr>
          <p:cNvPr id="31" name="Rectangle 30"/>
          <p:cNvSpPr/>
          <p:nvPr/>
        </p:nvSpPr>
        <p:spPr>
          <a:xfrm>
            <a:off x="90525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90525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US rule figures; FFIEC 102 and §217.212 inputs; the annual report's statistics</a:t>
            </a:r>
          </a:p>
        </p:txBody>
      </p:sp>
      <p:cxnSp>
        <p:nvCxnSpPr>
          <p:cNvPr id="33" name="Connector 32"/>
          <p:cNvCxnSpPr/>
          <p:nvPr/>
        </p:nvCxnSpPr>
        <p:spPr>
          <a:xfrm>
            <a:off x="3303270" y="1655064"/>
            <a:ext cx="164592"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3486150" y="1371600"/>
            <a:ext cx="2507742" cy="56692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3614166" y="1371600"/>
            <a:ext cx="2324862" cy="566928"/>
          </a:xfrm>
          <a:prstGeom prst="rect">
            <a:avLst/>
          </a:prstGeom>
          <a:noFill/>
        </p:spPr>
        <p:txBody>
          <a:bodyPr wrap="square" lIns="0" rIns="0" tIns="0" bIns="0" anchor="ctr">
            <a:spAutoFit/>
          </a:bodyPr>
          <a:lstStyle/>
          <a:p>
            <a:pPr algn="l"/>
            <a:r>
              <a:rPr sz="1300" b="1" i="0">
                <a:solidFill>
                  <a:srgbClr val="FFFFFF"/>
                </a:solidFill>
              </a:rPr>
              <a:t>2 · The report packs</a:t>
            </a:r>
          </a:p>
          <a:p>
            <a:pPr algn="l"/>
            <a:r>
              <a:rPr sz="1100" b="0" i="0">
                <a:solidFill>
                  <a:srgbClr val="FFFFFF"/>
                </a:solidFill>
              </a:rPr>
              <a:t>later</a:t>
            </a:r>
          </a:p>
        </p:txBody>
      </p:sp>
      <p:sp>
        <p:nvSpPr>
          <p:cNvPr id="36" name="Rectangle 35"/>
          <p:cNvSpPr/>
          <p:nvPr/>
        </p:nvSpPr>
        <p:spPr>
          <a:xfrm>
            <a:off x="348615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ounded Rectangle 36"/>
          <p:cNvSpPr/>
          <p:nvPr/>
        </p:nvSpPr>
        <p:spPr>
          <a:xfrm>
            <a:off x="361416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8" name="TextBox 37"/>
          <p:cNvSpPr txBox="1"/>
          <p:nvPr/>
        </p:nvSpPr>
        <p:spPr>
          <a:xfrm>
            <a:off x="361416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VaR by risk type</a:t>
            </a:r>
          </a:p>
          <a:p>
            <a:pPr algn="l" marL="146304" indent="-146304">
              <a:spcAft>
                <a:spcPts val="200"/>
              </a:spcAft>
              <a:buClr>
                <a:srgbClr val="A51C30"/>
              </a:buClr>
              <a:buSzPct val="100000"/>
              <a:buFont typeface="Arial"/>
              <a:buChar char="▪"/>
            </a:pPr>
            <a:r>
              <a:rPr sz="1100" b="0" i="0">
                <a:solidFill>
                  <a:srgbClr val="1A1A1A"/>
                </a:solidFill>
              </a:rPr>
              <a:t>BI reports and extracts in each report's layout</a:t>
            </a:r>
          </a:p>
          <a:p>
            <a:pPr algn="l" marL="146304" indent="-146304">
              <a:spcAft>
                <a:spcPts val="200"/>
              </a:spcAft>
              <a:buClr>
                <a:srgbClr val="A51C30"/>
              </a:buClr>
              <a:buSzPct val="100000"/>
              <a:buFont typeface="Arial"/>
              <a:buChar char="▪"/>
            </a:pPr>
            <a:r>
              <a:rPr sz="1100" b="0" i="0">
                <a:solidFill>
                  <a:srgbClr val="1A1A1A"/>
                </a:solidFill>
              </a:rPr>
              <a:t>Volcker metrics per desk</a:t>
            </a:r>
          </a:p>
        </p:txBody>
      </p:sp>
      <p:sp>
        <p:nvSpPr>
          <p:cNvPr id="39" name="Rectangle 38"/>
          <p:cNvSpPr/>
          <p:nvPr/>
        </p:nvSpPr>
        <p:spPr>
          <a:xfrm>
            <a:off x="361416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361416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annual report VaR table, Pillar 3 tables, FFIEC 102, §217.212, Volcker</a:t>
            </a:r>
          </a:p>
        </p:txBody>
      </p:sp>
      <p:cxnSp>
        <p:nvCxnSpPr>
          <p:cNvPr id="41" name="Connector 40"/>
          <p:cNvCxnSpPr/>
          <p:nvPr/>
        </p:nvCxnSpPr>
        <p:spPr>
          <a:xfrm>
            <a:off x="6012180" y="1655064"/>
            <a:ext cx="164592"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6195060" y="1371600"/>
            <a:ext cx="2507742" cy="566928"/>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6323076" y="1371600"/>
            <a:ext cx="2324862" cy="566928"/>
          </a:xfrm>
          <a:prstGeom prst="rect">
            <a:avLst/>
          </a:prstGeom>
          <a:noFill/>
        </p:spPr>
        <p:txBody>
          <a:bodyPr wrap="square" lIns="0" rIns="0" tIns="0" bIns="0" anchor="ctr">
            <a:spAutoFit/>
          </a:bodyPr>
          <a:lstStyle/>
          <a:p>
            <a:pPr algn="l"/>
            <a:r>
              <a:rPr sz="1300" b="1" i="0">
                <a:solidFill>
                  <a:srgbClr val="FFFFFF"/>
                </a:solidFill>
              </a:rPr>
              <a:t>3a · FRTB standardised</a:t>
            </a:r>
          </a:p>
          <a:p>
            <a:pPr algn="l"/>
            <a:r>
              <a:rPr sz="1100" b="0" i="0">
                <a:solidFill>
                  <a:srgbClr val="FFFFFF"/>
                </a:solidFill>
              </a:rPr>
              <a:t>after that</a:t>
            </a:r>
          </a:p>
        </p:txBody>
      </p:sp>
      <p:sp>
        <p:nvSpPr>
          <p:cNvPr id="44" name="Rectangle 43"/>
          <p:cNvSpPr/>
          <p:nvPr/>
        </p:nvSpPr>
        <p:spPr>
          <a:xfrm>
            <a:off x="619506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ounded Rectangle 44"/>
          <p:cNvSpPr/>
          <p:nvPr/>
        </p:nvSpPr>
        <p:spPr>
          <a:xfrm>
            <a:off x="632307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46" name="TextBox 45"/>
          <p:cNvSpPr txBox="1"/>
          <p:nvPr/>
        </p:nvSpPr>
        <p:spPr>
          <a:xfrm>
            <a:off x="632307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sensitivities-based method</a:t>
            </a:r>
          </a:p>
          <a:p>
            <a:pPr algn="l" marL="146304" indent="-146304">
              <a:spcAft>
                <a:spcPts val="200"/>
              </a:spcAft>
              <a:buClr>
                <a:srgbClr val="A51C30"/>
              </a:buClr>
              <a:buSzPct val="100000"/>
              <a:buFont typeface="Arial"/>
              <a:buChar char="▪"/>
            </a:pPr>
            <a:r>
              <a:rPr sz="1100" b="0" i="0">
                <a:solidFill>
                  <a:srgbClr val="1A1A1A"/>
                </a:solidFill>
              </a:rPr>
              <a:t>default risk charge, residual risk add-on</a:t>
            </a:r>
          </a:p>
        </p:txBody>
      </p:sp>
      <p:sp>
        <p:nvSpPr>
          <p:cNvPr id="47" name="Rectangle 46"/>
          <p:cNvSpPr/>
          <p:nvPr/>
        </p:nvSpPr>
        <p:spPr>
          <a:xfrm>
            <a:off x="632307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32307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BCAR 90.010, Pillar 3 MR1; the US standardised approach if adopted</a:t>
            </a:r>
          </a:p>
        </p:txBody>
      </p:sp>
      <p:cxnSp>
        <p:nvCxnSpPr>
          <p:cNvPr id="49" name="Connector 48"/>
          <p:cNvCxnSpPr/>
          <p:nvPr/>
        </p:nvCxnSpPr>
        <p:spPr>
          <a:xfrm>
            <a:off x="8721090" y="1655064"/>
            <a:ext cx="164592"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903970" y="1371600"/>
            <a:ext cx="2507742" cy="566928"/>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031986" y="1371600"/>
            <a:ext cx="2324862" cy="566928"/>
          </a:xfrm>
          <a:prstGeom prst="rect">
            <a:avLst/>
          </a:prstGeom>
          <a:noFill/>
        </p:spPr>
        <p:txBody>
          <a:bodyPr wrap="square" lIns="0" rIns="0" tIns="0" bIns="0" anchor="ctr">
            <a:spAutoFit/>
          </a:bodyPr>
          <a:lstStyle/>
          <a:p>
            <a:pPr algn="l"/>
            <a:r>
              <a:rPr sz="1300" b="1" i="0">
                <a:solidFill>
                  <a:srgbClr val="FFFFFF"/>
                </a:solidFill>
              </a:rPr>
              <a:t>3b · FRTB internal models</a:t>
            </a:r>
          </a:p>
          <a:p>
            <a:pPr algn="l"/>
            <a:r>
              <a:rPr sz="1100" b="0" i="0">
                <a:solidFill>
                  <a:srgbClr val="FFFFFF"/>
                </a:solidFill>
              </a:rPr>
              <a:t>only on approval</a:t>
            </a:r>
          </a:p>
        </p:txBody>
      </p:sp>
      <p:sp>
        <p:nvSpPr>
          <p:cNvPr id="52" name="Rectangle 51"/>
          <p:cNvSpPr/>
          <p:nvPr/>
        </p:nvSpPr>
        <p:spPr>
          <a:xfrm>
            <a:off x="890397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Rounded Rectangle 52"/>
          <p:cNvSpPr/>
          <p:nvPr/>
        </p:nvSpPr>
        <p:spPr>
          <a:xfrm>
            <a:off x="903198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4" name="TextBox 53"/>
          <p:cNvSpPr txBox="1"/>
          <p:nvPr/>
        </p:nvSpPr>
        <p:spPr>
          <a:xfrm>
            <a:off x="903198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ES by liquidity horizon, stressed calibration</a:t>
            </a:r>
          </a:p>
          <a:p>
            <a:pPr algn="l" marL="146304" indent="-146304">
              <a:spcAft>
                <a:spcPts val="200"/>
              </a:spcAft>
              <a:buClr>
                <a:srgbClr val="A51C30"/>
              </a:buClr>
              <a:buSzPct val="100000"/>
              <a:buFont typeface="Arial"/>
              <a:buChar char="▪"/>
            </a:pPr>
            <a:r>
              <a:rPr sz="1100" b="0" i="0">
                <a:solidFill>
                  <a:srgbClr val="1A1A1A"/>
                </a:solidFill>
              </a:rPr>
              <a:t>PLA test; NMRF and SES; DRC</a:t>
            </a:r>
          </a:p>
        </p:txBody>
      </p:sp>
      <p:sp>
        <p:nvSpPr>
          <p:cNvPr id="55" name="Rectangle 54"/>
          <p:cNvSpPr/>
          <p:nvPr/>
        </p:nvSpPr>
        <p:spPr>
          <a:xfrm>
            <a:off x="903198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903198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BCAR 90.010 section A; Pillar 3 MR2; model approval</a:t>
            </a:r>
          </a:p>
        </p:txBody>
      </p:sp>
      <p:sp>
        <p:nvSpPr>
          <p:cNvPr id="57" name="Rectangle 56"/>
          <p:cNvSpPr/>
          <p:nvPr/>
        </p:nvSpPr>
        <p:spPr>
          <a:xfrm>
            <a:off x="777240" y="5120640"/>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Rectangle 57"/>
          <p:cNvSpPr/>
          <p:nvPr/>
        </p:nvSpPr>
        <p:spPr>
          <a:xfrm>
            <a:off x="777240" y="5120640"/>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1005840" y="5120640"/>
            <a:ext cx="10314432" cy="566928"/>
          </a:xfrm>
          <a:prstGeom prst="rect">
            <a:avLst/>
          </a:prstGeom>
          <a:noFill/>
        </p:spPr>
        <p:txBody>
          <a:bodyPr wrap="square" lIns="0" rIns="0" tIns="0" bIns="0" anchor="ctr">
            <a:spAutoFit/>
          </a:bodyPr>
          <a:lstStyle/>
          <a:p>
            <a:pPr algn="l"/>
            <a:r>
              <a:rPr sz="1150" b="1" i="0">
                <a:solidFill>
                  <a:srgbClr val="A51C30"/>
                </a:solidFill>
              </a:rPr>
              <a:t>Why 3a before 3b.  </a:t>
            </a:r>
            <a:r>
              <a:rPr sz="1100" b="0" i="0">
                <a:solidFill>
                  <a:srgbClr val="1A1A1A"/>
                </a:solidFill>
              </a:rPr>
              <a:t>Every Canadian bank reports the standardised approach, modelled or not; internal models serve only a bank that applies.</a:t>
            </a:r>
          </a:p>
        </p:txBody>
      </p:sp>
      <p:sp>
        <p:nvSpPr>
          <p:cNvPr id="60" name="TextBox 59"/>
          <p:cNvSpPr txBox="1"/>
          <p:nvPr/>
        </p:nvSpPr>
        <p:spPr>
          <a:xfrm>
            <a:off x="777240" y="5760720"/>
            <a:ext cx="10634472" cy="502920"/>
          </a:xfrm>
          <a:prstGeom prst="rect">
            <a:avLst/>
          </a:prstGeom>
          <a:noFill/>
        </p:spPr>
        <p:txBody>
          <a:bodyPr wrap="square" lIns="0" rIns="0" tIns="0" bIns="0" anchor="ctr">
            <a:spAutoFit/>
          </a:bodyPr>
          <a:lstStyle/>
          <a:p>
            <a:pPr algn="l"/>
            <a:r>
              <a:rPr sz="1100" b="1" i="0">
                <a:solidFill>
                  <a:srgbClr val="8A1626"/>
                </a:solidFill>
              </a:rPr>
              <a:t>The bank supplies: </a:t>
            </a:r>
            <a:r>
              <a:rPr sz="1100" b="0" i="0">
                <a:solidFill>
                  <a:srgbClr val="1A1A1A"/>
                </a:solidFill>
              </a:rPr>
              <a:t>daily actual and hypothetical P&amp;L; 10-day and stress-window P&amp;L vectors; P&amp;L by risk class; desk definitions and its limit catalogue; sensitivities; real-price observations for 3b.</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REGULATORY REPORTING · HOW A REPORT IS MADE</a:t>
            </a:r>
          </a:p>
        </p:txBody>
      </p:sp>
      <p:sp>
        <p:nvSpPr>
          <p:cNvPr id="3" name="Title 2"/>
          <p:cNvSpPr>
            <a:spLocks noGrp="1"/>
          </p:cNvSpPr>
          <p:nvPr>
            <p:ph type="title" idx="104"/>
          </p:nvPr>
        </p:nvSpPr>
        <p:spPr/>
        <p:txBody>
          <a:bodyPr/>
          <a:lstStyle/>
          <a:p>
            <a:r>
              <a:t>From the official run to the filing, reproducible as of a date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777240" y="1417320"/>
            <a:ext cx="1907438" cy="457200"/>
          </a:xfrm>
          <a:prstGeom prst="rect">
            <a:avLst/>
          </a:prstGeom>
          <a:noFill/>
        </p:spPr>
        <p:txBody>
          <a:bodyPr wrap="square" lIns="0" rIns="0" tIns="0" bIns="0" anchor="ctr">
            <a:spAutoFit/>
          </a:bodyPr>
          <a:lstStyle/>
          <a:p>
            <a:pPr algn="ctr"/>
            <a:r>
              <a:rPr sz="1300" b="1" i="0">
                <a:solidFill>
                  <a:srgbClr val="FFFFFF"/>
                </a:solidFill>
              </a:rPr>
              <a:t>Inputs</a:t>
            </a:r>
          </a:p>
        </p:txBody>
      </p:sp>
      <p:sp>
        <p:nvSpPr>
          <p:cNvPr id="28" name="Rectangle 27"/>
          <p:cNvSpPr/>
          <p:nvPr/>
        </p:nvSpPr>
        <p:spPr>
          <a:xfrm>
            <a:off x="777240"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68680"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trades, P&amp;L vectors, scenario sets</a:t>
            </a:r>
          </a:p>
        </p:txBody>
      </p:sp>
      <p:sp>
        <p:nvSpPr>
          <p:cNvPr id="30" name="TextBox 29"/>
          <p:cNvSpPr txBox="1"/>
          <p:nvPr/>
        </p:nvSpPr>
        <p:spPr>
          <a:xfrm>
            <a:off x="868680"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hierarchies, limits</a:t>
            </a:r>
          </a:p>
        </p:txBody>
      </p:sp>
      <p:sp>
        <p:nvSpPr>
          <p:cNvPr id="31" name="TextBox 30"/>
          <p:cNvSpPr txBox="1"/>
          <p:nvPr/>
        </p:nvSpPr>
        <p:spPr>
          <a:xfrm>
            <a:off x="868680"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daily P&amp;L from product control</a:t>
            </a:r>
          </a:p>
        </p:txBody>
      </p:sp>
      <p:sp>
        <p:nvSpPr>
          <p:cNvPr id="32" name="Rounded Rectangle 31"/>
          <p:cNvSpPr/>
          <p:nvPr/>
        </p:nvSpPr>
        <p:spPr>
          <a:xfrm>
            <a:off x="1014983" y="3657600"/>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cxnSp>
        <p:nvCxnSpPr>
          <p:cNvPr id="33" name="Connector 32"/>
          <p:cNvCxnSpPr/>
          <p:nvPr/>
        </p:nvCxnSpPr>
        <p:spPr>
          <a:xfrm>
            <a:off x="2712110"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2958998"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2958998" y="1417320"/>
            <a:ext cx="1907438" cy="457200"/>
          </a:xfrm>
          <a:prstGeom prst="rect">
            <a:avLst/>
          </a:prstGeom>
          <a:noFill/>
        </p:spPr>
        <p:txBody>
          <a:bodyPr wrap="square" lIns="0" rIns="0" tIns="0" bIns="0" anchor="ctr">
            <a:spAutoFit/>
          </a:bodyPr>
          <a:lstStyle/>
          <a:p>
            <a:pPr algn="ctr"/>
            <a:r>
              <a:rPr sz="1300" b="1" i="0">
                <a:solidFill>
                  <a:srgbClr val="FFFFFF"/>
                </a:solidFill>
              </a:rPr>
              <a:t>Official run</a:t>
            </a:r>
          </a:p>
        </p:txBody>
      </p:sp>
      <p:sp>
        <p:nvSpPr>
          <p:cNvPr id="36" name="Rectangle 35"/>
          <p:cNvSpPr/>
          <p:nvPr/>
        </p:nvSpPr>
        <p:spPr>
          <a:xfrm>
            <a:off x="2958998"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050438"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end of day, every node</a:t>
            </a:r>
          </a:p>
        </p:txBody>
      </p:sp>
      <p:sp>
        <p:nvSpPr>
          <p:cNvPr id="38" name="TextBox 37"/>
          <p:cNvSpPr txBox="1"/>
          <p:nvPr/>
        </p:nvSpPr>
        <p:spPr>
          <a:xfrm>
            <a:off x="3050438"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inputs' versions and batch ids</a:t>
            </a:r>
          </a:p>
        </p:txBody>
      </p:sp>
      <p:sp>
        <p:nvSpPr>
          <p:cNvPr id="39" name="TextBox 38"/>
          <p:cNvSpPr txBox="1"/>
          <p:nvPr/>
        </p:nvSpPr>
        <p:spPr>
          <a:xfrm>
            <a:off x="3050438"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a restatement is a new version</a:t>
            </a:r>
          </a:p>
        </p:txBody>
      </p:sp>
      <p:cxnSp>
        <p:nvCxnSpPr>
          <p:cNvPr id="40" name="Connector 39"/>
          <p:cNvCxnSpPr/>
          <p:nvPr/>
        </p:nvCxnSpPr>
        <p:spPr>
          <a:xfrm>
            <a:off x="4893868"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140756"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5140756" y="1417320"/>
            <a:ext cx="1907438" cy="457200"/>
          </a:xfrm>
          <a:prstGeom prst="rect">
            <a:avLst/>
          </a:prstGeom>
          <a:noFill/>
        </p:spPr>
        <p:txBody>
          <a:bodyPr wrap="square" lIns="0" rIns="0" tIns="0" bIns="0" anchor="ctr">
            <a:spAutoFit/>
          </a:bodyPr>
          <a:lstStyle/>
          <a:p>
            <a:pPr algn="ctr"/>
            <a:r>
              <a:rPr sz="1300" b="1" i="0">
                <a:solidFill>
                  <a:srgbClr val="FFFFFF"/>
                </a:solidFill>
              </a:rPr>
              <a:t>Computed measures</a:t>
            </a:r>
          </a:p>
        </p:txBody>
      </p:sp>
      <p:sp>
        <p:nvSpPr>
          <p:cNvPr id="43" name="Rectangle 42"/>
          <p:cNvSpPr/>
          <p:nvPr/>
        </p:nvSpPr>
        <p:spPr>
          <a:xfrm>
            <a:off x="5140756"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5232196"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VaR, ES, backtest, diversification</a:t>
            </a:r>
          </a:p>
        </p:txBody>
      </p:sp>
      <p:sp>
        <p:nvSpPr>
          <p:cNvPr id="45" name="TextBox 44"/>
          <p:cNvSpPr txBox="1"/>
          <p:nvPr/>
        </p:nvSpPr>
        <p:spPr>
          <a:xfrm>
            <a:off x="5232196"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10-day and stressed VaR</a:t>
            </a:r>
          </a:p>
        </p:txBody>
      </p:sp>
      <p:sp>
        <p:nvSpPr>
          <p:cNvPr id="46" name="Rounded Rectangle 45"/>
          <p:cNvSpPr/>
          <p:nvPr/>
        </p:nvSpPr>
        <p:spPr>
          <a:xfrm>
            <a:off x="5378500" y="301752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47" name="TextBox 46"/>
          <p:cNvSpPr txBox="1"/>
          <p:nvPr/>
        </p:nvSpPr>
        <p:spPr>
          <a:xfrm>
            <a:off x="5232196"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period statistics, averages</a:t>
            </a:r>
          </a:p>
        </p:txBody>
      </p:sp>
      <p:sp>
        <p:nvSpPr>
          <p:cNvPr id="48" name="Rounded Rectangle 47"/>
          <p:cNvSpPr/>
          <p:nvPr/>
        </p:nvSpPr>
        <p:spPr>
          <a:xfrm>
            <a:off x="5378500" y="3657600"/>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cxnSp>
        <p:nvCxnSpPr>
          <p:cNvPr id="49" name="Connector 48"/>
          <p:cNvCxnSpPr/>
          <p:nvPr/>
        </p:nvCxnSpPr>
        <p:spPr>
          <a:xfrm>
            <a:off x="7075627"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7322515"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7322515" y="1417320"/>
            <a:ext cx="1907438" cy="457200"/>
          </a:xfrm>
          <a:prstGeom prst="rect">
            <a:avLst/>
          </a:prstGeom>
          <a:noFill/>
        </p:spPr>
        <p:txBody>
          <a:bodyPr wrap="square" lIns="0" rIns="0" tIns="0" bIns="0" anchor="ctr">
            <a:spAutoFit/>
          </a:bodyPr>
          <a:lstStyle/>
          <a:p>
            <a:pPr algn="ctr"/>
            <a:r>
              <a:rPr sz="1300" b="1" i="0">
                <a:solidFill>
                  <a:srgbClr val="FFFFFF"/>
                </a:solidFill>
              </a:rPr>
              <a:t>Report layer</a:t>
            </a:r>
          </a:p>
        </p:txBody>
      </p:sp>
      <p:sp>
        <p:nvSpPr>
          <p:cNvPr id="52" name="Rectangle 51"/>
          <p:cNvSpPr/>
          <p:nvPr/>
        </p:nvSpPr>
        <p:spPr>
          <a:xfrm>
            <a:off x="7322515"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7413955"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BI reports and paginated reports</a:t>
            </a:r>
          </a:p>
        </p:txBody>
      </p:sp>
      <p:sp>
        <p:nvSpPr>
          <p:cNvPr id="54" name="TextBox 53"/>
          <p:cNvSpPr txBox="1"/>
          <p:nvPr/>
        </p:nvSpPr>
        <p:spPr>
          <a:xfrm>
            <a:off x="7413955"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extracts: Excel, CSV, PDF</a:t>
            </a:r>
          </a:p>
        </p:txBody>
      </p:sp>
      <p:sp>
        <p:nvSpPr>
          <p:cNvPr id="55" name="TextBox 54"/>
          <p:cNvSpPr txBox="1"/>
          <p:nvPr/>
        </p:nvSpPr>
        <p:spPr>
          <a:xfrm>
            <a:off x="7413955"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the published official table</a:t>
            </a:r>
          </a:p>
        </p:txBody>
      </p:sp>
      <p:cxnSp>
        <p:nvCxnSpPr>
          <p:cNvPr id="56" name="Connector 55"/>
          <p:cNvCxnSpPr/>
          <p:nvPr/>
        </p:nvCxnSpPr>
        <p:spPr>
          <a:xfrm>
            <a:off x="9257385"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9504273" y="1417320"/>
            <a:ext cx="1907438" cy="457200"/>
          </a:xfrm>
          <a:prstGeom prst="rect">
            <a:avLst/>
          </a:prstGeom>
          <a:solidFill>
            <a:srgbClr val="4A50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9504273" y="1417320"/>
            <a:ext cx="1907438" cy="457200"/>
          </a:xfrm>
          <a:prstGeom prst="rect">
            <a:avLst/>
          </a:prstGeom>
          <a:noFill/>
        </p:spPr>
        <p:txBody>
          <a:bodyPr wrap="square" lIns="0" rIns="0" tIns="0" bIns="0" anchor="ctr">
            <a:spAutoFit/>
          </a:bodyPr>
          <a:lstStyle/>
          <a:p>
            <a:pPr algn="ctr"/>
            <a:r>
              <a:rPr sz="1300" b="1" i="0">
                <a:solidFill>
                  <a:srgbClr val="FFFFFF"/>
                </a:solidFill>
              </a:rPr>
              <a:t>Filing</a:t>
            </a:r>
          </a:p>
        </p:txBody>
      </p:sp>
      <p:sp>
        <p:nvSpPr>
          <p:cNvPr id="59" name="Rectangle 58"/>
          <p:cNvSpPr/>
          <p:nvPr/>
        </p:nvSpPr>
        <p:spPr>
          <a:xfrm>
            <a:off x="9504273"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9595713"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the bank's own filing channels</a:t>
            </a:r>
          </a:p>
        </p:txBody>
      </p:sp>
      <p:sp>
        <p:nvSpPr>
          <p:cNvPr id="61" name="TextBox 60"/>
          <p:cNvSpPr txBox="1"/>
          <p:nvPr/>
        </p:nvSpPr>
        <p:spPr>
          <a:xfrm>
            <a:off x="9595713"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the bank's review and approval</a:t>
            </a:r>
          </a:p>
        </p:txBody>
      </p:sp>
      <p:sp>
        <p:nvSpPr>
          <p:cNvPr id="62" name="TextBox 61"/>
          <p:cNvSpPr txBox="1"/>
          <p:nvPr/>
        </p:nvSpPr>
        <p:spPr>
          <a:xfrm>
            <a:off x="9595713"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Drishti does not file</a:t>
            </a:r>
          </a:p>
        </p:txBody>
      </p:sp>
      <p:sp>
        <p:nvSpPr>
          <p:cNvPr id="63" name="Rectangle 62"/>
          <p:cNvSpPr/>
          <p:nvPr/>
        </p:nvSpPr>
        <p:spPr>
          <a:xfrm>
            <a:off x="777240" y="4133087"/>
            <a:ext cx="5955304" cy="169164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Rectangle 63"/>
          <p:cNvSpPr/>
          <p:nvPr/>
        </p:nvSpPr>
        <p:spPr>
          <a:xfrm>
            <a:off x="777240" y="4133087"/>
            <a:ext cx="45720"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960120" y="4224527"/>
            <a:ext cx="5680984" cy="1554480"/>
          </a:xfrm>
          <a:prstGeom prst="rect">
            <a:avLst/>
          </a:prstGeom>
          <a:noFill/>
        </p:spPr>
        <p:txBody>
          <a:bodyPr wrap="square" lIns="0" rIns="0" tIns="0" bIns="0" anchor="t">
            <a:spAutoFit/>
          </a:bodyPr>
          <a:lstStyle/>
          <a:p>
            <a:pPr algn="l">
              <a:spcAft>
                <a:spcPts val="400"/>
              </a:spcAft>
            </a:pPr>
            <a:r>
              <a:rPr sz="1300" b="1" i="0">
                <a:solidFill>
                  <a:srgbClr val="8A1626"/>
                </a:solidFill>
              </a:rPr>
              <a:t>Example: a quarter's US VaR figures</a:t>
            </a:r>
          </a:p>
          <a:p>
            <a:pPr algn="l" marL="146304" indent="-146304">
              <a:spcAft>
                <a:spcPts val="400"/>
              </a:spcAft>
              <a:buClr>
                <a:srgbClr val="A51C30"/>
              </a:buClr>
              <a:buSzPct val="100000"/>
              <a:buFont typeface="Arial"/>
              <a:buChar char="▪"/>
            </a:pPr>
            <a:r>
              <a:rPr sz="1150" b="0" i="0">
                <a:solidFill>
                  <a:srgbClr val="1A1A1A"/>
                </a:solidFill>
              </a:rPr>
              <a:t>the official records of the quarter's business days, each node's VaR at its own result version</a:t>
            </a:r>
          </a:p>
          <a:p>
            <a:pPr algn="l" marL="146304" indent="-146304">
              <a:spcAft>
                <a:spcPts val="400"/>
              </a:spcAft>
              <a:buClr>
                <a:srgbClr val="A51C30"/>
              </a:buClr>
              <a:buSzPct val="100000"/>
              <a:buFont typeface="Arial"/>
              <a:buChar char="▪"/>
            </a:pPr>
            <a:r>
              <a:rPr sz="1150" b="0" i="0">
                <a:solidFill>
                  <a:srgbClr val="1A1A1A"/>
                </a:solidFill>
              </a:rPr>
              <a:t>10-day VaR: the latest and the 60-day average × the multiplier from 250 days of exceptions</a:t>
            </a:r>
          </a:p>
          <a:p>
            <a:pPr algn="l" marL="146304" indent="-146304">
              <a:spcAft>
                <a:spcPts val="400"/>
              </a:spcAft>
              <a:buClr>
                <a:srgbClr val="A51C30"/>
              </a:buClr>
              <a:buSzPct val="100000"/>
              <a:buFont typeface="Arial"/>
              <a:buChar char="▪"/>
            </a:pPr>
            <a:r>
              <a:rPr sz="1150" b="0" i="0">
                <a:solidFill>
                  <a:srgbClr val="1A1A1A"/>
                </a:solidFill>
              </a:rPr>
              <a:t>stressed VaR: the latest and the 12-week average; high, low, mean and period end by risk type</a:t>
            </a:r>
          </a:p>
          <a:p>
            <a:pPr algn="l" marL="146304" indent="-146304">
              <a:spcAft>
                <a:spcPts val="400"/>
              </a:spcAft>
              <a:buClr>
                <a:srgbClr val="A51C30"/>
              </a:buClr>
              <a:buSzPct val="100000"/>
              <a:buFont typeface="Arial"/>
              <a:buChar char="▪"/>
            </a:pPr>
            <a:r>
              <a:rPr sz="1150" b="0" i="0">
                <a:solidFill>
                  <a:srgbClr val="1A1A1A"/>
                </a:solidFill>
              </a:rPr>
              <a:t>laid out as the report's table; exported for the bank's filing</a:t>
            </a:r>
          </a:p>
        </p:txBody>
      </p:sp>
      <p:sp>
        <p:nvSpPr>
          <p:cNvPr id="66" name="Rectangle 65"/>
          <p:cNvSpPr/>
          <p:nvPr/>
        </p:nvSpPr>
        <p:spPr>
          <a:xfrm>
            <a:off x="6961144" y="4133087"/>
            <a:ext cx="4450567" cy="1691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Rectangle 66"/>
          <p:cNvSpPr/>
          <p:nvPr/>
        </p:nvSpPr>
        <p:spPr>
          <a:xfrm>
            <a:off x="6961144" y="4133087"/>
            <a:ext cx="45720"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7144024" y="4224527"/>
            <a:ext cx="4176247" cy="1554480"/>
          </a:xfrm>
          <a:prstGeom prst="rect">
            <a:avLst/>
          </a:prstGeom>
          <a:noFill/>
        </p:spPr>
        <p:txBody>
          <a:bodyPr wrap="square" lIns="0" rIns="0" tIns="0" bIns="0" anchor="t">
            <a:spAutoFit/>
          </a:bodyPr>
          <a:lstStyle/>
          <a:p>
            <a:pPr algn="l">
              <a:spcAft>
                <a:spcPts val="400"/>
              </a:spcAft>
            </a:pPr>
            <a:r>
              <a:rPr sz="1300" b="1" i="0">
                <a:solidFill>
                  <a:srgbClr val="8A1626"/>
                </a:solidFill>
              </a:rPr>
              <a:t>Reproducible as of a date</a:t>
            </a:r>
          </a:p>
          <a:p>
            <a:pPr algn="l" marL="146304" indent="-146304">
              <a:spcAft>
                <a:spcPts val="400"/>
              </a:spcAft>
              <a:buClr>
                <a:srgbClr val="A51C30"/>
              </a:buClr>
              <a:buSzPct val="100000"/>
              <a:buFont typeface="Arial"/>
              <a:buChar char="▪"/>
            </a:pPr>
            <a:r>
              <a:rPr sz="1150" b="0" i="0">
                <a:solidFill>
                  <a:srgbClr val="1A1A1A"/>
                </a:solidFill>
              </a:rPr>
              <a:t>each record names its inputs' versions, batch ids and position rules</a:t>
            </a:r>
          </a:p>
          <a:p>
            <a:pPr algn="l" marL="146304" indent="-146304">
              <a:spcAft>
                <a:spcPts val="400"/>
              </a:spcAft>
              <a:buClr>
                <a:srgbClr val="A51C30"/>
              </a:buClr>
              <a:buSzPct val="100000"/>
              <a:buFont typeface="Arial"/>
              <a:buChar char="▪"/>
            </a:pPr>
            <a:r>
              <a:rPr sz="1150" b="0" i="0">
                <a:solidFill>
                  <a:srgbClr val="1A1A1A"/>
                </a:solidFill>
              </a:rPr>
              <a:t>the members of every node kept with the record</a:t>
            </a:r>
          </a:p>
          <a:p>
            <a:pPr algn="l" marL="146304" indent="-146304">
              <a:spcAft>
                <a:spcPts val="400"/>
              </a:spcAft>
              <a:buClr>
                <a:srgbClr val="A51C30"/>
              </a:buClr>
              <a:buSzPct val="100000"/>
              <a:buFont typeface="Arial"/>
              <a:buChar char="▪"/>
            </a:pPr>
            <a:r>
              <a:rPr sz="1150" b="0" i="0">
                <a:solidFill>
                  <a:srgbClr val="1A1A1A"/>
                </a:solidFill>
              </a:rPr>
              <a:t>append-only, 7 years, Delta or Iceberg</a:t>
            </a:r>
          </a:p>
          <a:p>
            <a:pPr algn="l" marL="146304" indent="-146304">
              <a:spcAft>
                <a:spcPts val="400"/>
              </a:spcAft>
              <a:buClr>
                <a:srgbClr val="A51C30"/>
              </a:buClr>
              <a:buSzPct val="100000"/>
              <a:buFont typeface="Arial"/>
              <a:buChar char="▪"/>
            </a:pPr>
            <a:r>
              <a:rPr sz="1150" b="0" i="0">
                <a:solidFill>
                  <a:srgbClr val="1A1A1A"/>
                </a:solidFill>
              </a:rPr>
              <a:t>recomputed from the same vectors and engine: the same number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12</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Roadmap and rollout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GOVERNANCE AND ROADMAP</a:t>
            </a:r>
          </a:p>
        </p:txBody>
      </p:sp>
      <p:sp>
        <p:nvSpPr>
          <p:cNvPr id="3" name="Title 2"/>
          <p:cNvSpPr>
            <a:spLocks noGrp="1"/>
          </p:cNvSpPr>
          <p:nvPr>
            <p:ph type="title" idx="104"/>
          </p:nvPr>
        </p:nvSpPr>
        <p:spPr/>
        <p:txBody>
          <a:bodyPr/>
          <a:lstStyle/>
          <a:p>
            <a:r>
              <a:t>Numbers of record you can reproduce,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Official, append-only</a:t>
            </a:r>
          </a:p>
          <a:p>
            <a:pPr algn="l"/>
            <a:r>
              <a:rPr sz="1200" b="0" i="0">
                <a:solidFill>
                  <a:srgbClr val="1A1A1A"/>
                </a:solidFill>
              </a:rPr>
              <a:t>Every node of every hierarchy, every date, from the morning run; a restatement adds a result version. Published to var-official (Delta or Iceberg, folder or S3) with JSONL beside it.</a:t>
            </a:r>
          </a:p>
        </p:txBody>
      </p:sp>
      <p:sp>
        <p:nvSpPr>
          <p:cNvPr id="29" name="Rectangle 28"/>
          <p:cNvSpPr/>
          <p:nvPr/>
        </p:nvSpPr>
        <p:spPr>
          <a:xfrm>
            <a:off x="388620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388620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06908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Reproducible</a:t>
            </a:r>
          </a:p>
          <a:p>
            <a:pPr algn="l"/>
            <a:r>
              <a:rPr sz="1200" b="0" i="0">
                <a:solidFill>
                  <a:srgbClr val="1A1A1A"/>
                </a:solidFill>
              </a:rPr>
              <a:t>Each answer names its inputs' data versions, batch ids, scenario set, position rules' digest, membership hash and engine version; a capture keeps the vector itself.</a:t>
            </a:r>
          </a:p>
        </p:txBody>
      </p:sp>
      <p:sp>
        <p:nvSpPr>
          <p:cNvPr id="32" name="Rectangle 31"/>
          <p:cNvSpPr/>
          <p:nvPr/>
        </p:nvSpPr>
        <p:spPr>
          <a:xfrm>
            <a:off x="77724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6012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Kept 7 years</a:t>
            </a:r>
          </a:p>
          <a:p>
            <a:pPr algn="l"/>
            <a:r>
              <a:rPr sz="1200" b="0" i="0">
                <a:solidFill>
                  <a:srgbClr val="1A1A1A"/>
                </a:solidFill>
              </a:rPr>
              <a:t>Vectors and their time travel, official captures and records; lake maintenance never vacuums the risk domains below 7 years.</a:t>
            </a:r>
          </a:p>
        </p:txBody>
      </p:sp>
      <p:sp>
        <p:nvSpPr>
          <p:cNvPr id="35" name="Rectangle 34"/>
          <p:cNvSpPr/>
          <p:nvPr/>
        </p:nvSpPr>
        <p:spPr>
          <a:xfrm>
            <a:off x="388620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388620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406908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Entitled and audited</a:t>
            </a:r>
          </a:p>
          <a:p>
            <a:pPr algn="l"/>
            <a:r>
              <a:rPr sz="1200" b="0" i="0">
                <a:solidFill>
                  <a:srgbClr val="1A1A1A"/>
                </a:solidFill>
              </a:rPr>
              <a:t>Per role and node: positions or aggregate; masks on rows; every headline, capture, basket, reload and official run audited.</a:t>
            </a:r>
          </a:p>
        </p:txBody>
      </p:sp>
      <p:sp>
        <p:nvSpPr>
          <p:cNvPr id="38" name="TextBox 37"/>
          <p:cNvSpPr txBox="1"/>
          <p:nvPr/>
        </p:nvSpPr>
        <p:spPr>
          <a:xfrm>
            <a:off x="7132319" y="1417320"/>
            <a:ext cx="4279392" cy="292608"/>
          </a:xfrm>
          <a:prstGeom prst="rect">
            <a:avLst/>
          </a:prstGeom>
          <a:noFill/>
        </p:spPr>
        <p:txBody>
          <a:bodyPr wrap="square" lIns="0" rIns="0" tIns="0" bIns="0" anchor="ctr">
            <a:spAutoFit/>
          </a:bodyPr>
          <a:lstStyle/>
          <a:p>
            <a:pPr algn="l"/>
            <a:r>
              <a:rPr sz="1300" b="1" i="0">
                <a:solidFill>
                  <a:srgbClr val="A51C30"/>
                </a:solidFill>
              </a:rPr>
              <a:t>Recently built</a:t>
            </a:r>
          </a:p>
        </p:txBody>
      </p:sp>
      <p:sp>
        <p:nvSpPr>
          <p:cNvPr id="39" name="TextBox 38"/>
          <p:cNvSpPr txBox="1"/>
          <p:nvPr/>
        </p:nvSpPr>
        <p:spPr>
          <a:xfrm>
            <a:off x="7132319" y="1737360"/>
            <a:ext cx="4279392" cy="1371600"/>
          </a:xfrm>
          <a:prstGeom prst="rect">
            <a:avLst/>
          </a:prstGeom>
          <a:noFill/>
        </p:spPr>
        <p:txBody>
          <a:bodyPr wrap="square" lIns="0" rIns="0" tIns="0" bIns="0" anchor="t">
            <a:spAutoFit/>
          </a:bodyPr>
          <a:lstStyle/>
          <a:p>
            <a:pPr algn="l" marL="146304" indent="-146304">
              <a:spcAft>
                <a:spcPts val="100"/>
              </a:spcAft>
              <a:buClr>
                <a:srgbClr val="A51C30"/>
              </a:buClr>
              <a:buSzPct val="100000"/>
              <a:buFont typeface="Arial"/>
              <a:buChar char="▪"/>
            </a:pPr>
            <a:r>
              <a:rPr sz="1100" b="0" i="0">
                <a:solidFill>
                  <a:srgbClr val="1A1A1A"/>
                </a:solidFill>
              </a:rPr>
              <a:t>Hierarchies by columns: limit letters, var-limit, the picker</a:t>
            </a:r>
          </a:p>
          <a:p>
            <a:pPr algn="l" marL="146304" indent="-146304">
              <a:spcAft>
                <a:spcPts val="100"/>
              </a:spcAft>
              <a:buClr>
                <a:srgbClr val="A51C30"/>
              </a:buClr>
              <a:buSzPct val="100000"/>
              <a:buFont typeface="Arial"/>
              <a:buChar char="▪"/>
            </a:pPr>
            <a:r>
              <a:rPr sz="1100" b="0" i="0">
                <a:solidFill>
                  <a:srgbClr val="1A1A1A"/>
                </a:solidFill>
              </a:rPr>
              <a:t>Iceberg a full alternative: VaR, intraday, exposure</a:t>
            </a:r>
          </a:p>
          <a:p>
            <a:pPr algn="l" marL="146304" indent="-146304">
              <a:spcAft>
                <a:spcPts val="100"/>
              </a:spcAft>
              <a:buClr>
                <a:srgbClr val="A51C30"/>
              </a:buClr>
              <a:buSzPct val="100000"/>
              <a:buFont typeface="Arial"/>
              <a:buChar char="▪"/>
            </a:pPr>
            <a:r>
              <a:rPr sz="1100" b="0" i="0">
                <a:solidFill>
                  <a:srgbClr val="1A1A1A"/>
                </a:solidFill>
              </a:rPr>
              <a:t>VaR sharded across servers; the parallel Java loader</a:t>
            </a:r>
          </a:p>
          <a:p>
            <a:pPr algn="l" marL="146304" indent="-146304">
              <a:spcAft>
                <a:spcPts val="100"/>
              </a:spcAft>
              <a:buClr>
                <a:srgbClr val="A51C30"/>
              </a:buClr>
              <a:buSzPct val="100000"/>
              <a:buFont typeface="Arial"/>
              <a:buChar char="▪"/>
            </a:pPr>
            <a:r>
              <a:rPr sz="1100" b="0" i="0">
                <a:solidFill>
                  <a:srgbClr val="1A1A1A"/>
                </a:solidFill>
              </a:rPr>
              <a:t>Drishti Risk: an edition for VaR and exposure</a:t>
            </a:r>
          </a:p>
          <a:p>
            <a:pPr algn="l" marL="146304" indent="-146304">
              <a:spcAft>
                <a:spcPts val="100"/>
              </a:spcAft>
              <a:buClr>
                <a:srgbClr val="A51C30"/>
              </a:buClr>
              <a:buSzPct val="100000"/>
              <a:buFont typeface="Arial"/>
              <a:buChar char="▪"/>
            </a:pPr>
            <a:r>
              <a:rPr sz="1100" b="0" i="0">
                <a:solidFill>
                  <a:srgbClr val="1A1A1A"/>
                </a:solidFill>
              </a:rPr>
              <a:t>Computed attributes: derived MtM and checks, never stored</a:t>
            </a:r>
          </a:p>
        </p:txBody>
      </p:sp>
      <p:sp>
        <p:nvSpPr>
          <p:cNvPr id="40" name="TextBox 39"/>
          <p:cNvSpPr txBox="1"/>
          <p:nvPr/>
        </p:nvSpPr>
        <p:spPr>
          <a:xfrm>
            <a:off x="7132319" y="3108960"/>
            <a:ext cx="4279392" cy="274320"/>
          </a:xfrm>
          <a:prstGeom prst="rect">
            <a:avLst/>
          </a:prstGeom>
          <a:noFill/>
        </p:spPr>
        <p:txBody>
          <a:bodyPr wrap="square" lIns="0" rIns="0" tIns="0" bIns="0" anchor="t">
            <a:spAutoFit/>
          </a:bodyPr>
          <a:lstStyle/>
          <a:p>
            <a:pPr algn="l"/>
            <a:r>
              <a:rPr sz="1300" b="1" i="0">
                <a:solidFill>
                  <a:srgbClr val="293352"/>
                </a:solidFill>
              </a:rPr>
              <a:t>Next</a:t>
            </a:r>
          </a:p>
        </p:txBody>
      </p:sp>
      <p:sp>
        <p:nvSpPr>
          <p:cNvPr id="41" name="TextBox 40"/>
          <p:cNvSpPr txBox="1"/>
          <p:nvPr/>
        </p:nvSpPr>
        <p:spPr>
          <a:xfrm>
            <a:off x="7132319" y="3401568"/>
            <a:ext cx="4279392" cy="2286000"/>
          </a:xfrm>
          <a:prstGeom prst="rect">
            <a:avLst/>
          </a:prstGeom>
          <a:noFill/>
        </p:spPr>
        <p:txBody>
          <a:bodyPr wrap="square" lIns="0" rIns="0" tIns="0" bIns="0" anchor="t">
            <a:spAutoFit/>
          </a:bodyPr>
          <a:lstStyle/>
          <a:p>
            <a:pPr algn="l" marL="146304" indent="-146304">
              <a:spcAft>
                <a:spcPts val="200"/>
              </a:spcAft>
              <a:buClr>
                <a:srgbClr val="293352"/>
              </a:buClr>
              <a:buSzPct val="100000"/>
              <a:buFont typeface="Arial"/>
              <a:buChar char="▪"/>
            </a:pPr>
            <a:r>
              <a:rPr sz="1100" b="0" i="0">
                <a:solidFill>
                  <a:srgbClr val="1A1A1A"/>
                </a:solidFill>
              </a:rPr>
              <a:t>Not built yet: 10-day and stressed VaR; ES backtests; the 200K and 2.3M benchmarks</a:t>
            </a:r>
          </a:p>
          <a:p>
            <a:pPr algn="l" marL="146304" indent="-146304">
              <a:spcAft>
                <a:spcPts val="200"/>
              </a:spcAft>
              <a:buClr>
                <a:srgbClr val="293352"/>
              </a:buClr>
              <a:buSzPct val="100000"/>
              <a:buFont typeface="Arial"/>
              <a:buChar char="▪"/>
            </a:pPr>
            <a:r>
              <a:rPr sz="1100" b="0" i="0">
                <a:solidFill>
                  <a:srgbClr val="1A1A1A"/>
                </a:solidFill>
              </a:rPr>
              <a:t>Not built yet: Delta in-place schema evolution; Delta↔Iceberg conversion; the Glue and S3 Tables runs</a:t>
            </a:r>
          </a:p>
          <a:p>
            <a:pPr algn="l" marL="146304" indent="-146304">
              <a:spcAft>
                <a:spcPts val="200"/>
              </a:spcAft>
              <a:buClr>
                <a:srgbClr val="293352"/>
              </a:buClr>
              <a:buSzPct val="100000"/>
              <a:buFont typeface="Arial"/>
              <a:buChar char="▪"/>
            </a:pPr>
            <a:r>
              <a:rPr sz="1100" b="0" i="0">
                <a:solidFill>
                  <a:srgbClr val="1A1A1A"/>
                </a:solidFill>
              </a:rPr>
              <a:t>Proposed: the lake layout at scale</a:t>
            </a:r>
          </a:p>
          <a:p>
            <a:pPr algn="l" marL="146304" indent="-146304">
              <a:spcAft>
                <a:spcPts val="200"/>
              </a:spcAft>
              <a:buClr>
                <a:srgbClr val="293352"/>
              </a:buClr>
              <a:buSzPct val="100000"/>
              <a:buFont typeface="Arial"/>
              <a:buChar char="▪"/>
            </a:pPr>
            <a:r>
              <a:rPr sz="1100" b="0" i="0">
                <a:solidFill>
                  <a:srgbClr val="1A1A1A"/>
                </a:solidFill>
              </a:rPr>
              <a:t>Later: QLRisk what-if pricing; age-weighted methods; cubes</a:t>
            </a:r>
          </a:p>
        </p:txBody>
      </p:sp>
      <p:sp>
        <p:nvSpPr>
          <p:cNvPr id="42" name="Rectangle 41"/>
          <p:cNvSpPr/>
          <p:nvPr/>
        </p:nvSpPr>
        <p:spPr>
          <a:xfrm>
            <a:off x="777240" y="5760720"/>
            <a:ext cx="1063447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760720"/>
            <a:ext cx="54864" cy="4754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760720"/>
            <a:ext cx="10268712" cy="475488"/>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Official numbers come only from full runs, and each can be recomputed from its inputs years later.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IMPLEMENTATION AND ROLLOUT</a:t>
            </a:r>
          </a:p>
        </p:txBody>
      </p:sp>
      <p:sp>
        <p:nvSpPr>
          <p:cNvPr id="3" name="Title 2"/>
          <p:cNvSpPr>
            <a:spLocks noGrp="1"/>
          </p:cNvSpPr>
          <p:nvPr>
            <p:ph type="title" idx="104"/>
          </p:nvPr>
        </p:nvSpPr>
        <p:spPr/>
        <p:txBody>
          <a:bodyPr/>
          <a:lstStyle/>
          <a:p>
            <a:r>
              <a:t>A phased rollout with a parallel run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0</a:t>
            </a:r>
          </a:p>
        </p:txBody>
      </p:sp>
      <p:sp>
        <p:nvSpPr>
          <p:cNvPr id="28" name="TextBox 27"/>
          <p:cNvSpPr txBox="1"/>
          <p:nvPr/>
        </p:nvSpPr>
        <p:spPr>
          <a:xfrm>
            <a:off x="1325880" y="1508760"/>
            <a:ext cx="1400860" cy="365760"/>
          </a:xfrm>
          <a:prstGeom prst="rect">
            <a:avLst/>
          </a:prstGeom>
          <a:noFill/>
        </p:spPr>
        <p:txBody>
          <a:bodyPr wrap="square" lIns="0" rIns="0" tIns="0" bIns="0" anchor="ctr">
            <a:spAutoFit/>
          </a:bodyPr>
          <a:lstStyle/>
          <a:p>
            <a:pPr algn="l"/>
            <a:r>
              <a:rPr sz="1300" b="1" i="0">
                <a:solidFill>
                  <a:srgbClr val="8A1626"/>
                </a:solidFill>
              </a:rPr>
              <a:t>Prepare</a:t>
            </a:r>
          </a:p>
        </p:txBody>
      </p:sp>
      <p:sp>
        <p:nvSpPr>
          <p:cNvPr id="29" name="TextBox 28"/>
          <p:cNvSpPr txBox="1"/>
          <p:nvPr/>
        </p:nvSpPr>
        <p:spPr>
          <a:xfrm>
            <a:off x="886968"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Environment: Delta or Iceberg, on premises or AWS</a:t>
            </a:r>
          </a:p>
          <a:p>
            <a:pPr algn="l" marL="146304" indent="-146304">
              <a:spcAft>
                <a:spcPts val="200"/>
              </a:spcAft>
              <a:buClr>
                <a:srgbClr val="A51C30"/>
              </a:buClr>
              <a:buSzPct val="100000"/>
              <a:buFont typeface="Arial"/>
              <a:buChar char="▪"/>
            </a:pPr>
            <a:r>
              <a:rPr sz="1050" b="0" i="0">
                <a:solidFill>
                  <a:srgbClr val="1A1A1A"/>
                </a:solidFill>
              </a:rPr>
              <a:t>Settings and entitlements agreed</a:t>
            </a:r>
          </a:p>
          <a:p>
            <a:pPr algn="l" marL="146304" indent="-146304">
              <a:spcAft>
                <a:spcPts val="200"/>
              </a:spcAft>
              <a:buClr>
                <a:srgbClr val="A51C30"/>
              </a:buClr>
              <a:buSzPct val="100000"/>
              <a:buFont typeface="Arial"/>
              <a:buChar char="▪"/>
            </a:pPr>
            <a:r>
              <a:rPr sz="1050" b="0" i="0">
                <a:solidFill>
                  <a:srgbClr val="1A1A1A"/>
                </a:solidFill>
              </a:rPr>
              <a:t>The 200K benchmark, then 2.3M on the target server</a:t>
            </a:r>
          </a:p>
        </p:txBody>
      </p:sp>
      <p:sp>
        <p:nvSpPr>
          <p:cNvPr id="30" name="Rectangle 29"/>
          <p:cNvSpPr/>
          <p:nvPr/>
        </p:nvSpPr>
        <p:spPr>
          <a:xfrm>
            <a:off x="2937052"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3046780"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32" name="TextBox 31"/>
          <p:cNvSpPr txBox="1"/>
          <p:nvPr/>
        </p:nvSpPr>
        <p:spPr>
          <a:xfrm>
            <a:off x="3485692" y="1508760"/>
            <a:ext cx="1400860" cy="365760"/>
          </a:xfrm>
          <a:prstGeom prst="rect">
            <a:avLst/>
          </a:prstGeom>
          <a:noFill/>
        </p:spPr>
        <p:txBody>
          <a:bodyPr wrap="square" lIns="0" rIns="0" tIns="0" bIns="0" anchor="ctr">
            <a:spAutoFit/>
          </a:bodyPr>
          <a:lstStyle/>
          <a:p>
            <a:pPr algn="l"/>
            <a:r>
              <a:rPr sz="1300" b="1" i="0">
                <a:solidFill>
                  <a:srgbClr val="8A1626"/>
                </a:solidFill>
              </a:rPr>
              <a:t>Pilot desk</a:t>
            </a:r>
          </a:p>
        </p:txBody>
      </p:sp>
      <p:sp>
        <p:nvSpPr>
          <p:cNvPr id="33" name="TextBox 32"/>
          <p:cNvSpPr txBox="1"/>
          <p:nvPr/>
        </p:nvSpPr>
        <p:spPr>
          <a:xfrm>
            <a:off x="3046780"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The desk's systems onboarded</a:t>
            </a:r>
          </a:p>
          <a:p>
            <a:pPr algn="l" marL="146304" indent="-146304">
              <a:spcAft>
                <a:spcPts val="200"/>
              </a:spcAft>
              <a:buClr>
                <a:srgbClr val="A51C30"/>
              </a:buClr>
              <a:buSzPct val="100000"/>
              <a:buFont typeface="Arial"/>
              <a:buChar char="▪"/>
            </a:pPr>
            <a:r>
              <a:rPr sz="1050" b="0" i="0">
                <a:solidFill>
                  <a:srgbClr val="1A1A1A"/>
                </a:solidFill>
              </a:rPr>
              <a:t>Daily full runs and official records</a:t>
            </a:r>
          </a:p>
          <a:p>
            <a:pPr algn="l" marL="146304" indent="-146304">
              <a:spcAft>
                <a:spcPts val="200"/>
              </a:spcAft>
              <a:buClr>
                <a:srgbClr val="A51C30"/>
              </a:buClr>
              <a:buSzPct val="100000"/>
              <a:buFont typeface="Arial"/>
              <a:buChar char="▪"/>
            </a:pPr>
            <a:r>
              <a:rPr sz="1050" b="0" i="0">
                <a:solidFill>
                  <a:srgbClr val="1A1A1A"/>
                </a:solidFill>
              </a:rPr>
              <a:t>Parallel run against the existing VaR</a:t>
            </a:r>
          </a:p>
        </p:txBody>
      </p:sp>
      <p:sp>
        <p:nvSpPr>
          <p:cNvPr id="34" name="Rectangle 33"/>
          <p:cNvSpPr/>
          <p:nvPr/>
        </p:nvSpPr>
        <p:spPr>
          <a:xfrm>
            <a:off x="5096865"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5206593"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6" name="TextBox 35"/>
          <p:cNvSpPr txBox="1"/>
          <p:nvPr/>
        </p:nvSpPr>
        <p:spPr>
          <a:xfrm>
            <a:off x="5645505" y="1508760"/>
            <a:ext cx="1400860" cy="365760"/>
          </a:xfrm>
          <a:prstGeom prst="rect">
            <a:avLst/>
          </a:prstGeom>
          <a:noFill/>
        </p:spPr>
        <p:txBody>
          <a:bodyPr wrap="square" lIns="0" rIns="0" tIns="0" bIns="0" anchor="ctr">
            <a:spAutoFit/>
          </a:bodyPr>
          <a:lstStyle/>
          <a:p>
            <a:pPr algn="l"/>
            <a:r>
              <a:rPr sz="1300" b="1" i="0">
                <a:solidFill>
                  <a:srgbClr val="8A1626"/>
                </a:solidFill>
              </a:rPr>
              <a:t>A legal entity</a:t>
            </a:r>
          </a:p>
        </p:txBody>
      </p:sp>
      <p:sp>
        <p:nvSpPr>
          <p:cNvPr id="37" name="TextBox 36"/>
          <p:cNvSpPr txBox="1"/>
          <p:nvPr/>
        </p:nvSpPr>
        <p:spPr>
          <a:xfrm>
            <a:off x="5206593"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All its desks and systems</a:t>
            </a:r>
          </a:p>
          <a:p>
            <a:pPr algn="l" marL="146304" indent="-146304">
              <a:spcAft>
                <a:spcPts val="200"/>
              </a:spcAft>
              <a:buClr>
                <a:srgbClr val="A51C30"/>
              </a:buClr>
              <a:buSzPct val="100000"/>
              <a:buFont typeface="Arial"/>
              <a:buChar char="▪"/>
            </a:pPr>
            <a:r>
              <a:rPr sz="1050" b="0" i="0">
                <a:solidFill>
                  <a:srgbClr val="1A1A1A"/>
                </a:solidFill>
              </a:rPr>
              <a:t>LEGAL tree and limits</a:t>
            </a:r>
          </a:p>
          <a:p>
            <a:pPr algn="l" marL="146304" indent="-146304">
              <a:spcAft>
                <a:spcPts val="200"/>
              </a:spcAft>
              <a:buClr>
                <a:srgbClr val="A51C30"/>
              </a:buClr>
              <a:buSzPct val="100000"/>
              <a:buFont typeface="Arial"/>
              <a:buChar char="▪"/>
            </a:pPr>
            <a:r>
              <a:rPr sz="1050" b="0" i="0">
                <a:solidFill>
                  <a:srgbClr val="1A1A1A"/>
                </a:solidFill>
              </a:rPr>
              <a:t>Intraday switched on</a:t>
            </a:r>
          </a:p>
        </p:txBody>
      </p:sp>
      <p:sp>
        <p:nvSpPr>
          <p:cNvPr id="38" name="Rectangle 37"/>
          <p:cNvSpPr/>
          <p:nvPr/>
        </p:nvSpPr>
        <p:spPr>
          <a:xfrm>
            <a:off x="7256678"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736640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40" name="TextBox 39"/>
          <p:cNvSpPr txBox="1"/>
          <p:nvPr/>
        </p:nvSpPr>
        <p:spPr>
          <a:xfrm>
            <a:off x="7805318" y="1508760"/>
            <a:ext cx="1400860" cy="365760"/>
          </a:xfrm>
          <a:prstGeom prst="rect">
            <a:avLst/>
          </a:prstGeom>
          <a:noFill/>
        </p:spPr>
        <p:txBody>
          <a:bodyPr wrap="square" lIns="0" rIns="0" tIns="0" bIns="0" anchor="ctr">
            <a:spAutoFit/>
          </a:bodyPr>
          <a:lstStyle/>
          <a:p>
            <a:pPr algn="l"/>
            <a:r>
              <a:rPr sz="1300" b="1" i="0">
                <a:solidFill>
                  <a:srgbClr val="8A1626"/>
                </a:solidFill>
              </a:rPr>
              <a:t>The bank</a:t>
            </a:r>
          </a:p>
        </p:txBody>
      </p:sp>
      <p:sp>
        <p:nvSpPr>
          <p:cNvPr id="41" name="TextBox 40"/>
          <p:cNvSpPr txBox="1"/>
          <p:nvPr/>
        </p:nvSpPr>
        <p:spPr>
          <a:xfrm>
            <a:off x="7366406"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Every system, every tree</a:t>
            </a:r>
          </a:p>
          <a:p>
            <a:pPr algn="l" marL="146304" indent="-146304">
              <a:spcAft>
                <a:spcPts val="200"/>
              </a:spcAft>
              <a:buClr>
                <a:srgbClr val="A51C30"/>
              </a:buClr>
              <a:buSzPct val="100000"/>
              <a:buFont typeface="Arial"/>
              <a:buChar char="▪"/>
            </a:pPr>
            <a:r>
              <a:rPr sz="1050" b="0" i="0">
                <a:solidFill>
                  <a:srgbClr val="1A1A1A"/>
                </a:solidFill>
              </a:rPr>
              <a:t>≈ 15,000 portfolios; ≈ 700 limit letters</a:t>
            </a:r>
          </a:p>
          <a:p>
            <a:pPr algn="l" marL="146304" indent="-146304">
              <a:spcAft>
                <a:spcPts val="200"/>
              </a:spcAft>
              <a:buClr>
                <a:srgbClr val="A51C30"/>
              </a:buClr>
              <a:buSzPct val="100000"/>
              <a:buFont typeface="Arial"/>
              <a:buChar char="▪"/>
            </a:pPr>
            <a:r>
              <a:rPr sz="1050" b="0" i="0">
                <a:solidFill>
                  <a:srgbClr val="1A1A1A"/>
                </a:solidFill>
              </a:rPr>
              <a:t>BI reads the official results</a:t>
            </a:r>
          </a:p>
        </p:txBody>
      </p:sp>
      <p:sp>
        <p:nvSpPr>
          <p:cNvPr id="42" name="Rectangle 41"/>
          <p:cNvSpPr/>
          <p:nvPr/>
        </p:nvSpPr>
        <p:spPr>
          <a:xfrm>
            <a:off x="9416491" y="1417320"/>
            <a:ext cx="1995220" cy="1874519"/>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Oval 42"/>
          <p:cNvSpPr/>
          <p:nvPr/>
        </p:nvSpPr>
        <p:spPr>
          <a:xfrm>
            <a:off x="9526219"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4" name="TextBox 43"/>
          <p:cNvSpPr txBox="1"/>
          <p:nvPr/>
        </p:nvSpPr>
        <p:spPr>
          <a:xfrm>
            <a:off x="9965131" y="1508760"/>
            <a:ext cx="1400860" cy="365760"/>
          </a:xfrm>
          <a:prstGeom prst="rect">
            <a:avLst/>
          </a:prstGeom>
          <a:noFill/>
        </p:spPr>
        <p:txBody>
          <a:bodyPr wrap="square" lIns="0" rIns="0" tIns="0" bIns="0" anchor="ctr">
            <a:spAutoFit/>
          </a:bodyPr>
          <a:lstStyle/>
          <a:p>
            <a:pPr algn="l"/>
            <a:r>
              <a:rPr sz="1300" b="1" i="0">
                <a:solidFill>
                  <a:srgbClr val="8A1626"/>
                </a:solidFill>
              </a:rPr>
              <a:t>Cutover</a:t>
            </a:r>
          </a:p>
        </p:txBody>
      </p:sp>
      <p:sp>
        <p:nvSpPr>
          <p:cNvPr id="45" name="TextBox 44"/>
          <p:cNvSpPr txBox="1"/>
          <p:nvPr/>
        </p:nvSpPr>
        <p:spPr>
          <a:xfrm>
            <a:off x="9526219"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Sign-off</a:t>
            </a:r>
          </a:p>
          <a:p>
            <a:pPr algn="l" marL="146304" indent="-146304">
              <a:spcAft>
                <a:spcPts val="200"/>
              </a:spcAft>
              <a:buClr>
                <a:srgbClr val="A51C30"/>
              </a:buClr>
              <a:buSzPct val="100000"/>
              <a:buFont typeface="Arial"/>
              <a:buChar char="▪"/>
            </a:pPr>
            <a:r>
              <a:rPr sz="1050" b="0" i="0">
                <a:solidFill>
                  <a:srgbClr val="1A1A1A"/>
                </a:solidFill>
              </a:rPr>
              <a:t>Drishti's records become the numbers of record</a:t>
            </a:r>
          </a:p>
          <a:p>
            <a:pPr algn="l" marL="146304" indent="-146304">
              <a:spcAft>
                <a:spcPts val="200"/>
              </a:spcAft>
              <a:buClr>
                <a:srgbClr val="A51C30"/>
              </a:buClr>
              <a:buSzPct val="100000"/>
              <a:buFont typeface="Arial"/>
              <a:buChar char="▪"/>
            </a:pPr>
            <a:r>
              <a:rPr sz="1050" b="0" i="0">
                <a:solidFill>
                  <a:srgbClr val="1A1A1A"/>
                </a:solidFill>
              </a:rPr>
              <a:t>The existing VaR retired</a:t>
            </a:r>
          </a:p>
        </p:txBody>
      </p:sp>
      <p:sp>
        <p:nvSpPr>
          <p:cNvPr id="46" name="Rectangle 45"/>
          <p:cNvSpPr/>
          <p:nvPr/>
        </p:nvSpPr>
        <p:spPr>
          <a:xfrm>
            <a:off x="777240" y="3429000"/>
            <a:ext cx="5669280" cy="2194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7724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941832" y="3502152"/>
            <a:ext cx="5413248" cy="2084831"/>
          </a:xfrm>
          <a:prstGeom prst="rect">
            <a:avLst/>
          </a:prstGeom>
          <a:noFill/>
        </p:spPr>
        <p:txBody>
          <a:bodyPr wrap="square" lIns="0" rIns="0" tIns="0" bIns="0" anchor="t">
            <a:spAutoFit/>
          </a:bodyPr>
          <a:lstStyle/>
          <a:p>
            <a:pPr algn="l">
              <a:spcAft>
                <a:spcPts val="400"/>
              </a:spcAft>
            </a:pPr>
            <a:r>
              <a:rPr sz="1300" b="1" i="0">
                <a:solidFill>
                  <a:srgbClr val="8A1626"/>
                </a:solidFill>
              </a:rPr>
              <a:t>Parallel run and reconciliation</a:t>
            </a:r>
          </a:p>
          <a:p>
            <a:pPr algn="l" marL="146304" indent="-146304">
              <a:spcAft>
                <a:spcPts val="300"/>
              </a:spcAft>
              <a:buClr>
                <a:srgbClr val="A51C30"/>
              </a:buClr>
              <a:buSzPct val="100000"/>
              <a:buFont typeface="Arial"/>
              <a:buChar char="▪"/>
            </a:pPr>
            <a:r>
              <a:rPr sz="1100" b="0" i="0">
                <a:solidFill>
                  <a:srgbClr val="1A1A1A"/>
                </a:solidFill>
              </a:rPr>
              <a:t>Each node, each date: the existing VaR beside Drishti's official record (the var-official table)</a:t>
            </a:r>
          </a:p>
          <a:p>
            <a:pPr algn="l" marL="146304" indent="-146304">
              <a:spcAft>
                <a:spcPts val="300"/>
              </a:spcAft>
              <a:buClr>
                <a:srgbClr val="A51C30"/>
              </a:buClr>
              <a:buSzPct val="100000"/>
              <a:buFont typeface="Arial"/>
              <a:buChar char="▪"/>
            </a:pPr>
            <a:r>
              <a:rPr sz="1100" b="0" i="0">
                <a:solidFill>
                  <a:srgbClr val="1A1A1A"/>
                </a:solidFill>
              </a:rPr>
              <a:t>Explain every difference by its cause: inputs (refused, excluded, unknown ids), method (window, confidence, rank rule), FX (scenario FX, not today's rate), membership (overlaps counted once), model</a:t>
            </a:r>
          </a:p>
          <a:p>
            <a:pPr algn="l" marL="146304" indent="-146304">
              <a:spcAft>
                <a:spcPts val="300"/>
              </a:spcAft>
              <a:buClr>
                <a:srgbClr val="A51C30"/>
              </a:buClr>
              <a:buSzPct val="100000"/>
              <a:buFont typeface="Arial"/>
              <a:buChar char="▪"/>
            </a:pPr>
            <a:r>
              <a:rPr sz="1100" b="0" i="0">
                <a:solidFill>
                  <a:srgbClr val="1A1A1A"/>
                </a:solidFill>
              </a:rPr>
              <a:t>Track the backtest light on the official history as it builds up</a:t>
            </a:r>
          </a:p>
        </p:txBody>
      </p:sp>
      <p:sp>
        <p:nvSpPr>
          <p:cNvPr id="49" name="Rectangle 48"/>
          <p:cNvSpPr/>
          <p:nvPr/>
        </p:nvSpPr>
        <p:spPr>
          <a:xfrm>
            <a:off x="6675120" y="3429000"/>
            <a:ext cx="4736592" cy="2194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667512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839712" y="3502152"/>
            <a:ext cx="4480560" cy="2084831"/>
          </a:xfrm>
          <a:prstGeom prst="rect">
            <a:avLst/>
          </a:prstGeom>
          <a:noFill/>
        </p:spPr>
        <p:txBody>
          <a:bodyPr wrap="square" lIns="0" rIns="0" tIns="0" bIns="0" anchor="t">
            <a:spAutoFit/>
          </a:bodyPr>
          <a:lstStyle/>
          <a:p>
            <a:pPr algn="l">
              <a:spcAft>
                <a:spcPts val="400"/>
              </a:spcAft>
            </a:pPr>
            <a:r>
              <a:rPr sz="1300" b="1" i="0">
                <a:solidFill>
                  <a:srgbClr val="8A1626"/>
                </a:solidFill>
              </a:rPr>
              <a:t>Sign-off criteria</a:t>
            </a:r>
          </a:p>
          <a:p>
            <a:pPr algn="l" marL="146304" indent="-146304">
              <a:spcAft>
                <a:spcPts val="150"/>
              </a:spcAft>
              <a:buClr>
                <a:srgbClr val="A51C30"/>
              </a:buClr>
              <a:buSzPct val="100000"/>
              <a:buFont typeface="Arial"/>
              <a:buChar char="▪"/>
            </a:pPr>
            <a:r>
              <a:rPr sz="1100" b="0" i="0">
                <a:solidFill>
                  <a:srgbClr val="1A1A1A"/>
                </a:solidFill>
              </a:rPr>
              <a:t>Agreed tolerance per node; every difference explained</a:t>
            </a:r>
          </a:p>
          <a:p>
            <a:pPr algn="l" marL="146304" indent="-146304">
              <a:spcAft>
                <a:spcPts val="150"/>
              </a:spcAft>
              <a:buClr>
                <a:srgbClr val="A51C30"/>
              </a:buClr>
              <a:buSzPct val="100000"/>
              <a:buFont typeface="Arial"/>
              <a:buChar char="▪"/>
            </a:pPr>
            <a:r>
              <a:rPr sz="1100" b="0" i="0">
                <a:solidFill>
                  <a:srgbClr val="1A1A1A"/>
                </a:solidFill>
              </a:rPr>
              <a:t>No unexplained refusals over an agreed run of days</a:t>
            </a:r>
          </a:p>
          <a:p>
            <a:pPr algn="l" marL="146304" indent="-146304">
              <a:spcAft>
                <a:spcPts val="150"/>
              </a:spcAft>
              <a:buClr>
                <a:srgbClr val="A51C30"/>
              </a:buClr>
              <a:buSzPct val="100000"/>
              <a:buFont typeface="Arial"/>
              <a:buChar char="▪"/>
            </a:pPr>
            <a:r>
              <a:rPr sz="1100" b="0" i="0">
                <a:solidFill>
                  <a:srgbClr val="1A1A1A"/>
                </a:solidFill>
              </a:rPr>
              <a:t>Model validation of the method settings and the controls</a:t>
            </a:r>
          </a:p>
          <a:p>
            <a:pPr algn="l" marL="146304" indent="-146304">
              <a:spcAft>
                <a:spcPts val="150"/>
              </a:spcAft>
              <a:buClr>
                <a:srgbClr val="A51C30"/>
              </a:buClr>
              <a:buSzPct val="100000"/>
              <a:buFont typeface="Arial"/>
              <a:buChar char="▪"/>
            </a:pPr>
            <a:r>
              <a:rPr sz="1100" b="0" i="0">
                <a:solidFill>
                  <a:srgbClr val="1A1A1A"/>
                </a:solidFill>
              </a:rPr>
              <a:t>Runbook rehearsed: a restatement, a failed publish, a restart</a:t>
            </a:r>
          </a:p>
          <a:p>
            <a:pPr algn="l" marL="146304" indent="-146304">
              <a:spcAft>
                <a:spcPts val="150"/>
              </a:spcAft>
              <a:buClr>
                <a:srgbClr val="A51C30"/>
              </a:buClr>
              <a:buSzPct val="100000"/>
              <a:buFont typeface="Arial"/>
              <a:buChar char="▪"/>
            </a:pPr>
            <a:r>
              <a:rPr sz="1100" b="0" i="0">
                <a:solidFill>
                  <a:srgbClr val="1A1A1A"/>
                </a:solidFill>
              </a:rPr>
              <a:t>Backtest light not red; entitlements and audit reviewed</a:t>
            </a:r>
          </a:p>
        </p:txBody>
      </p:sp>
      <p:sp>
        <p:nvSpPr>
          <p:cNvPr id="52" name="Rounded Rectangle 51"/>
          <p:cNvSpPr/>
          <p:nvPr/>
        </p:nvSpPr>
        <p:spPr>
          <a:xfrm>
            <a:off x="10543032" y="349300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proposed plan: generic, no dates. Each phase uses built capabilities; the 10-day and stressed measures are not built yet.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GLOSSARY</a:t>
            </a:r>
          </a:p>
        </p:txBody>
      </p:sp>
      <p:sp>
        <p:nvSpPr>
          <p:cNvPr id="3" name="Title 2"/>
          <p:cNvSpPr>
            <a:spLocks noGrp="1"/>
          </p:cNvSpPr>
          <p:nvPr>
            <p:ph type="title" idx="104"/>
          </p:nvPr>
        </p:nvSpPr>
        <p:spPr/>
        <p:txBody>
          <a:bodyPr/>
          <a:lstStyle/>
          <a:p>
            <a:r>
              <a:t>The terms used in this deck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5180075" cy="4636008"/>
        </p:xfrm>
        <a:graphic>
          <a:graphicData uri="http://schemas.openxmlformats.org/drawingml/2006/table">
            <a:tbl>
              <a:tblPr firstRow="0" bandRow="0">
                <a:tableStyleId>{5940675A-B579-460E-94D1-54222C63F5DA}</a:tableStyleId>
              </a:tblPr>
              <a:tblGrid>
                <a:gridCol w="1463040"/>
                <a:gridCol w="3717035"/>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loss not exceeded at the confidence: 99% = minus the 6th worst of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expected shortfall: minus the mean of the 13 worst P&amp;Ls at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historical day's market move, applied to today's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scenario days of a date (HS-509),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trade's or position's value under one scenario, in its own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Path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P&amp;L vector: one P&amp;L per scenario (509 numbers)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Form · 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P&amp;L · one record a trade, or one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any set of trades or positions: bank, LE, desk, book, portfolio, rule,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Node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point of a hierarchy; its vector precomputed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Limit 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 of LL, a hierarchy by columns; limit from var-limit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trades grouped by the pack's rules, or sent whole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stored scope: 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Table 26"/>
          <p:cNvGraphicFramePr>
            <a:graphicFrameLocks noGrp="1"/>
          </p:cNvGraphicFramePr>
          <p:nvPr/>
        </p:nvGraphicFramePr>
        <p:xfrm>
          <a:off x="6231636" y="1417320"/>
          <a:ext cx="5180076" cy="4636008"/>
        </p:xfrm>
        <a:graphic>
          <a:graphicData uri="http://schemas.openxmlformats.org/drawingml/2006/table">
            <a:tbl>
              <a:tblPr firstRow="0" bandRow="0">
                <a:tableStyleId>{5940675A-B579-460E-94D1-54222C63F5DA}</a:tableStyleId>
              </a:tblPr>
              <a:tblGrid>
                <a:gridCol w="1600200"/>
                <a:gridCol w="3579876"/>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part's share of VaR (Euler); parts add up to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Incremental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VaR(scope) − VaR(scope without the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Marginal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component VaR per million of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sum of standalone VaRs minus the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FX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each scenario's exchange rates, used to convert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Reporting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currency an answer is in; five built ahead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date's vectors, memory-mapped from local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Official record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node's end-of-day VaR and ES, append-only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Result version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 2, 3 … as a date is restated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Provenance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how a number was built: inputs, versions, refusals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Breach (exception)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day whose loss exceeds the VaR tested against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Headroom 39%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provisioned = need ÷ 0.61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set of trades or positions, in any reporting currency</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1–3  Why, how VaR works, data in</a:t>
            </a:r>
            <a:endParaRPr lang="en-US" sz="1200" dirty="0"/>
          </a:p>
          <a:p>
            <a:pPr indent="0" marL="0">
              <a:spcAft>
                <a:spcPts val="600"/>
              </a:spcAft>
              <a:buNone/>
            </a:pPr>
            <a:r>
              <a:rPr lang="en-US" sz="1200" b="1" dirty="0">
                <a:solidFill>
                  <a:srgbClr val="A51C30"/>
                </a:solidFill>
              </a:rPr>
              <a:t>4  Scale, capacity, concurrency</a:t>
            </a:r>
            <a:endParaRPr lang="en-US" sz="1200" dirty="0"/>
          </a:p>
          <a:p>
            <a:pPr indent="0" marL="0">
              <a:spcAft>
                <a:spcPts val="600"/>
              </a:spcAft>
              <a:buNone/>
            </a:pPr>
            <a:r>
              <a:rPr lang="en-US" sz="1200" b="1" dirty="0">
                <a:solidFill>
                  <a:srgbClr val="A51C30"/>
                </a:solidFill>
              </a:rPr>
              <a:t>5–6  Storage, deployment, AWS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7–8  Operations, model risk, controls</a:t>
            </a:r>
            <a:endParaRPr lang="en-US" sz="1200" dirty="0"/>
          </a:p>
          <a:p>
            <a:pPr indent="0" marL="0">
              <a:spcAft>
                <a:spcPts val="600"/>
              </a:spcAft>
              <a:buNone/>
            </a:pPr>
            <a:r>
              <a:rPr lang="en-US" sz="1200" b="1" dirty="0">
                <a:solidFill>
                  <a:srgbClr val="A51C30"/>
                </a:solidFill>
              </a:rPr>
              <a:t>9–10  Computed attributes, Drishti Risk</a:t>
            </a:r>
            <a:endParaRPr lang="en-US" sz="1200" dirty="0"/>
          </a:p>
          <a:p>
            <a:pPr indent="0" marL="0">
              <a:spcAft>
                <a:spcPts val="600"/>
              </a:spcAft>
              <a:buNone/>
            </a:pPr>
            <a:r>
              <a:rPr lang="en-US" sz="1200" b="1" dirty="0">
                <a:solidFill>
                  <a:srgbClr val="A51C30"/>
                </a:solidFill>
              </a:rPr>
              <a:t>11  Roadmap and rollout</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Tree>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VaR engine</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TextBox 25"/>
          <p:cNvSpPr txBox="1"/>
          <p:nvPr/>
        </p:nvSpPr>
        <p:spPr>
          <a:xfrm>
            <a:off x="1234440" y="4389120"/>
            <a:ext cx="9720072" cy="329184"/>
          </a:xfrm>
          <a:prstGeom prst="rect">
            <a:avLst/>
          </a:prstGeom>
          <a:noFill/>
        </p:spPr>
        <p:txBody>
          <a:bodyPr wrap="square" lIns="0" rIns="0" tIns="0" bIns="0" anchor="ctr">
            <a:spAutoFit/>
          </a:bodyPr>
          <a:lstStyle/>
          <a:p>
            <a:pPr algn="ctr"/>
            <a:r>
              <a:rPr sz="1400" b="1" i="0">
                <a:solidFill>
                  <a:srgbClr val="F6E6E9"/>
                </a:solidFill>
              </a:rPr>
              <a:t>One engine, every input: PVs or P&amp;L, by trade or by position, any currency, files or Kafka.</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
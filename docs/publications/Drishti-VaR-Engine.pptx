
<file path=[Content_Types].xml><?xml version="1.0" encoding="utf-8"?>
<Types xmlns="http://schemas.openxmlformats.org/package/2006/content-types">
  <Default Extension="jp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99" r:id="rId9"/>
    <p:sldId id="300" r:id="rId10"/>
    <p:sldId id="301" r:id="rId11"/>
    <p:sldId id="302" r:id="rId12"/>
    <p:sldId id="303" r:id="rId13"/>
    <p:sldId id="304" r:id="rId14"/>
    <p:sldId id="305" r:id="rId15"/>
    <p:sldId id="306" r:id="rId16"/>
    <p:sldId id="307" r:id="rId17"/>
    <p:sldId id="308" r:id="rId18"/>
    <p:sldId id="309" r:id="rId19"/>
    <p:sldId id="310" r:id="rId20"/>
    <p:sldId id="311" r:id="rId21"/>
    <p:sldId id="312" r:id="rId22"/>
    <p:sldId id="313" r:id="rId23"/>
    <p:sldId id="314" r:id="rId24"/>
    <p:sldId id="315" r:id="rId25"/>
    <p:sldId id="316" r:id="rId26"/>
    <p:sldId id="317" r:id="rId27"/>
    <p:sldId id="318" r:id="rId28"/>
    <p:sldId id="319" r:id="rId29"/>
    <p:sldId id="320" r:id="rId30"/>
    <p:sldId id="321" r:id="rId31"/>
    <p:sldId id="322" r:id="rId32"/>
    <p:sldId id="323" r:id="rId33"/>
    <p:sldId id="324" r:id="rId34"/>
    <p:sldId id="325" r:id="rId35"/>
    <p:sldId id="326" r:id="rId36"/>
    <p:sldId id="327" r:id="rId37"/>
    <p:sldId id="328" r:id="rId38"/>
    <p:sldId id="329" r:id="rId39"/>
    <p:sldId id="330" r:id="rId40"/>
    <p:sldId id="331" r:id="rId41"/>
    <p:sldId id="332" r:id="rId42"/>
    <p:sldId id="333" r:id="rId43"/>
    <p:sldId id="334" r:id="rId8"/>
    <p:sldId id="335" r:id="rId7"/>
    <p:sldId id="336" r:id="rId6"/>
    <p:sldId id="337" r:id="rId5"/>
    <p:sldId id="338" r:id="rId4"/>
    <p:sldId id="339" r:id="rId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fff05ea-7e3f-edc1-6e4c-b237f484a65c}">
          <p14:sldIdLst>
            <p14:sldId id="256"/>
            <p14:sldId id="257"/>
          </p14:sldIdLst>
        </p14:section>
        <p14:section name="1 The idea" id="{ca601b58-0b8b-3761-3239-43cfc2554691}">
          <p14:sldIdLst>
            <p14:sldId id="258"/>
            <p14:sldId id="259"/>
            <p14:sldId id="260"/>
            <p14:sldId id="261"/>
            <p14:sldId id="262"/>
            <p14:sldId id="263"/>
            <p14:sldId id="264"/>
            <p14:sldId id="265"/>
            <p14:sldId id="266"/>
            <p14:sldId id="267"/>
            <p14:sldId id="268"/>
            <p14:sldId id="269"/>
          </p14:sldIdLst>
        </p14:section>
        <p14:section name="2 The product" id="{426419ec-ae60-8af7-70b6-913aa38d3bca}">
          <p14:sldIdLst>
            <p14:sldId id="270"/>
            <p14:sldId id="271"/>
            <p14:sldId id="272"/>
            <p14:sldId id="273"/>
            <p14:sldId id="274"/>
            <p14:sldId id="275"/>
            <p14:sldId id="276"/>
            <p14:sldId id="277"/>
            <p14:sldId id="278"/>
            <p14:sldId id="279"/>
            <p14:sldId id="280"/>
            <p14:sldId id="281"/>
          </p14:sldIdLst>
        </p14:section>
        <p14:section name="3 Security" id="{31e90070-bf08-f842-13da-c475a1110454}">
          <p14:sldIdLst>
            <p14:sldId id="282"/>
            <p14:sldId id="283"/>
            <p14:sldId id="284"/>
            <p14:sldId id="285"/>
            <p14:sldId id="286"/>
            <p14:sldId id="287"/>
          </p14:sldIdLst>
        </p14:section>
        <p14:section name="4 Evidence" id="{c3cbb4b4-ca8c-870f-e402-1568eefc4f50}">
          <p14:sldIdLst>
            <p14:sldId id="288"/>
            <p14:sldId id="289"/>
            <p14:sldId id="290"/>
            <p14:sldId id="291"/>
            <p14:sldId id="292"/>
            <p14:sldId id="293"/>
            <p14:sldId id="294"/>
          </p14:sldIdLst>
        </p14:section>
        <p14:section name="5 Where it is going" id="{40493725-4708-b045-208a-8e178f7cb474}">
          <p14:sldIdLst>
            <p14:sldId id="295"/>
            <p14:sldId id="296"/>
            <p14:sldId id="297"/>
            <p14:sldId id="29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43.xml"/><Relationship Id="rId4" Type="http://schemas.openxmlformats.org/officeDocument/2006/relationships/slide" Target="slides/slide42.xml"/><Relationship Id="rId5" Type="http://schemas.openxmlformats.org/officeDocument/2006/relationships/slide" Target="slides/slide41.xml"/><Relationship Id="rId6" Type="http://schemas.openxmlformats.org/officeDocument/2006/relationships/slide" Target="slides/slide40.xml"/><Relationship Id="rId7" Type="http://schemas.openxmlformats.org/officeDocument/2006/relationships/slide" Target="slides/slide39.xml"/><Relationship Id="rId8" Type="http://schemas.openxmlformats.org/officeDocument/2006/relationships/slide" Target="slides/slide38.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48.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Bank VaR 99%, EUR m</c:v>
                </c:pt>
              </c:strCache>
            </c:strRef>
          </c:tx>
          <c:dPt>
            <c:idx val="0"/>
            <c:spPr>
              <a:solidFill>
                <a:srgbClr val="8A1626"/>
              </a:solidFill>
            </c:spPr>
          </c:dPt>
          <c:dPt>
            <c:idx val="1"/>
            <c:spPr>
              <a:solidFill>
                <a:srgbClr val="B9AFA5"/>
              </a:solidFill>
            </c:spPr>
          </c:dPt>
          <c:cat>
            <c:strRef>
              <c:f>Sheet1!$A$2:$A$3</c:f>
              <c:strCache>
                <c:ptCount val="2"/>
                <c:pt idx="0">
                  <c:v>EUR VaR, scenario FX</c:v>
                </c:pt>
                <c:pt idx="1">
                  <c:v>USD VaR × today's rate</c:v>
                </c:pt>
              </c:strCache>
            </c:strRef>
          </c:cat>
          <c:val>
            <c:numRef>
              <c:f>Sheet1!$B$2:$B$3</c:f>
              <c:numCache>
                <c:formatCode>General</c:formatCode>
                <c:ptCount val="2"/>
                <c:pt idx="0">
                  <c:v>111.84</c:v>
                </c:pt>
                <c:pt idx="1">
                  <c:v>95.4</c:v>
                </c:pt>
              </c:numCache>
            </c:numRef>
          </c:val>
        </c:ser>
        <c:dLbls>
          <c:numFmt formatCode="0.0" sourceLinked="0"/>
          <c:txPr>
            <a:bodyPr/>
            <a:lstStyle/>
            <a:p>
              <a:pPr>
                <a:defRPr sz="1200" b="1">
                  <a:solidFill>
                    <a:srgbClr val="8A1626"/>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E3DED7"/>
            </a:solidFill>
          </a:ln>
        </c:spPr>
        <c:txPr>
          <a:bodyPr/>
          <a:lstStyle/>
          <a:p>
            <a:pPr>
              <a:defRPr sz="1100">
                <a:solidFill>
                  <a:srgbClr val="4A5058"/>
                </a:solidFill>
              </a:defRPr>
            </a:pPr>
          </a:p>
        </c:txPr>
        <c:crossAx val="-2113994440"/>
        <c:crosses val="autoZero"/>
        <c:auto val="1"/>
        <c:lblAlgn val="ctr"/>
        <c:lblOffset val="100"/>
        <c:noMultiLvlLbl val="0"/>
      </c:catAx>
      <c:valAx>
        <c:axId val="-2113994440"/>
        <c:scaling>
          <c:max val="175.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t>Values a position (sized)</a:t>
            </a:r>
          </a:p>
        </c:rich>
      </c:tx>
      <c:layout/>
      <c:overlay val="0"/>
    </c:title>
    <c:autoTitleDeleted val="0"/>
    <c:plotArea>
      <c:barChart>
        <c:barDir val="col"/>
        <c:grouping val="clustered"/>
        <c:ser>
          <c:idx val="0"/>
          <c:order val="0"/>
          <c:tx>
            <c:strRef>
              <c:f>Sheet1!$B$1</c:f>
              <c:strCache>
                <c:ptCount val="1"/>
                <c:pt idx="0">
                  <c:v>Values a position</c:v>
                </c:pt>
              </c:strCache>
            </c:strRef>
          </c:tx>
          <c:spPr>
            <a:solidFill>
              <a:srgbClr val="8A1626"/>
            </a:solidFill>
          </c:spPr>
          <c:cat>
            <c:strRef>
              <c:f>Sheet1!$A$2:$A$5</c:f>
              <c:strCache>
                <c:ptCount val="4"/>
                <c:pt idx="0">
                  <c:v>1-day</c:v>
                </c:pt>
                <c:pt idx="1">
                  <c:v>10-day</c:v>
                </c:pt>
                <c:pt idx="2">
                  <c:v>Stressed 1-day</c:v>
                </c:pt>
                <c:pt idx="3">
                  <c:v>Stressed 10-day</c:v>
                </c:pt>
              </c:strCache>
            </c:strRef>
          </c:cat>
          <c:val>
            <c:numRef>
              <c:f>Sheet1!$B$2:$B$5</c:f>
              <c:numCache>
                <c:formatCode>General</c:formatCode>
                <c:ptCount val="4"/>
                <c:pt idx="0">
                  <c:v>509</c:v>
                </c:pt>
                <c:pt idx="1">
                  <c:v>509</c:v>
                </c:pt>
                <c:pt idx="2">
                  <c:v>250</c:v>
                </c:pt>
                <c:pt idx="3">
                  <c:v>250</c:v>
                </c:pt>
              </c:numCache>
            </c:numRef>
          </c:val>
        </c:ser>
        <c:dLbls>
          <c:txPr>
            <a:bodyPr/>
            <a:lstStyle/>
            <a:p>
              <a:pPr>
                <a:defRPr sz="105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E3DED7"/>
            </a:solidFill>
          </a:ln>
        </c:spPr>
        <c:crossAx val="-2113994440"/>
        <c:crosses val="autoZero"/>
        <c:auto val="1"/>
        <c:lblAlgn val="ctr"/>
        <c:lblOffset val="100"/>
        <c:noMultiLvlLbl val="0"/>
      </c:catAx>
      <c:valAx>
        <c:axId val="-2113994440"/>
        <c:scaling>
          <c:max val="620.0"/>
        </c:scaling>
        <c:delete/>
        <c:axPos val="l"/>
        <c:majorTickMark val="out"/>
        <c:minorTickMark val="none"/>
        <c:tickLblPos val="nextTo"/>
        <c:crossAx val="-2068027336"/>
        <c:crosses val="autoZero"/>
      </c:valAx>
    </c:plotArea>
    <c:dispBlanksAs val="gap"/>
  </c:chart>
  <c:txPr>
    <a:bodyPr/>
    <a:lstStyle/>
    <a:p>
      <a:pPr>
        <a:defRPr sz="1050">
          <a:solidFill>
            <a:srgbClr val="4A5058"/>
          </a:solidFil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t>RAM per VaR server, GB (estimated)</a:t>
            </a:r>
          </a:p>
        </c:rich>
      </c:tx>
      <c:layout/>
      <c:overlay val="0"/>
    </c:title>
    <c:autoTitleDeleted val="0"/>
    <c:plotArea>
      <c:barChart>
        <c:barDir val="bar"/>
        <c:grouping val="stacked"/>
        <c:ser>
          <c:idx val="0"/>
          <c:order val="0"/>
          <c:tx>
            <c:strRef>
              <c:f>Sheet1!$B$1</c:f>
              <c:strCache>
                <c:ptCount val="1"/>
                <c:pt idx="0">
                  <c:v>Heap</c:v>
                </c:pt>
              </c:strCache>
            </c:strRef>
          </c:tx>
          <c:spPr>
            <a:solidFill>
              <a:srgbClr val="8A1626"/>
            </a:solidFill>
          </c:spPr>
          <c:cat>
            <c:strRef>
              <c:f>Sheet1!$A$2:$A$4</c:f>
              <c:strCache>
                <c:ptCount val="3"/>
                <c:pt idx="0">
                  <c:v>1-day need · 76</c:v>
                </c:pt>
                <c:pt idx="1">
                  <c:v>All four need · 151</c:v>
                </c:pt>
                <c:pt idx="2">
                  <c:v>Provisioned · 256</c:v>
                </c:pt>
              </c:strCache>
            </c:strRef>
          </c:cat>
          <c:val>
            <c:numRef>
              <c:f>Sheet1!$B$2:$B$4</c:f>
              <c:numCache>
                <c:formatCode>General</c:formatCode>
                <c:ptCount val="3"/>
                <c:pt idx="0">
                  <c:v>20</c:v>
                </c:pt>
                <c:pt idx="1">
                  <c:v>21</c:v>
                </c:pt>
                <c:pt idx="2">
                  <c:v>36</c:v>
                </c:pt>
              </c:numCache>
            </c:numRef>
          </c:val>
        </c:ser>
        <c:ser>
          <c:idx val="1"/>
          <c:order val="1"/>
          <c:tx>
            <c:strRef>
              <c:f>Sheet1!$C$1</c:f>
              <c:strCache>
                <c:ptCount val="1"/>
                <c:pt idx="0">
                  <c:v>Page cache</c:v>
                </c:pt>
              </c:strCache>
            </c:strRef>
          </c:tx>
          <c:spPr>
            <a:solidFill>
              <a:srgbClr val="C4384B"/>
            </a:solidFill>
          </c:spPr>
          <c:cat>
            <c:strRef>
              <c:f>Sheet1!$A$2:$A$4</c:f>
              <c:strCache>
                <c:ptCount val="3"/>
                <c:pt idx="0">
                  <c:v>1-day need · 76</c:v>
                </c:pt>
                <c:pt idx="1">
                  <c:v>All four need · 151</c:v>
                </c:pt>
                <c:pt idx="2">
                  <c:v>Provisioned · 256</c:v>
                </c:pt>
              </c:strCache>
            </c:strRef>
          </c:cat>
          <c:val>
            <c:numRef>
              <c:f>Sheet1!$C$2:$C$4</c:f>
              <c:numCache>
                <c:formatCode>General</c:formatCode>
                <c:ptCount val="3"/>
                <c:pt idx="0">
                  <c:v>34</c:v>
                </c:pt>
                <c:pt idx="1">
                  <c:v>78</c:v>
                </c:pt>
                <c:pt idx="2">
                  <c:v>78</c:v>
                </c:pt>
              </c:numCache>
            </c:numRef>
          </c:val>
        </c:ser>
        <c:ser>
          <c:idx val="2"/>
          <c:order val="2"/>
          <c:tx>
            <c:strRef>
              <c:f>Sheet1!$D$1</c:f>
              <c:strCache>
                <c:ptCount val="1"/>
                <c:pt idx="0">
                  <c:v>Load</c:v>
                </c:pt>
              </c:strCache>
            </c:strRef>
          </c:tx>
          <c:spPr>
            <a:solidFill>
              <a:srgbClr val="B9AFA5"/>
            </a:solidFill>
          </c:spPr>
          <c:cat>
            <c:strRef>
              <c:f>Sheet1!$A$2:$A$4</c:f>
              <c:strCache>
                <c:ptCount val="3"/>
                <c:pt idx="0">
                  <c:v>1-day need · 76</c:v>
                </c:pt>
                <c:pt idx="1">
                  <c:v>All four need · 151</c:v>
                </c:pt>
                <c:pt idx="2">
                  <c:v>Provisioned · 256</c:v>
                </c:pt>
              </c:strCache>
            </c:strRef>
          </c:cat>
          <c:val>
            <c:numRef>
              <c:f>Sheet1!$D$2:$D$4</c:f>
              <c:numCache>
                <c:formatCode>General</c:formatCode>
                <c:ptCount val="3"/>
                <c:pt idx="0">
                  <c:v>15</c:v>
                </c:pt>
                <c:pt idx="1">
                  <c:v>44</c:v>
                </c:pt>
                <c:pt idx="2">
                  <c:v>44</c:v>
                </c:pt>
              </c:numCache>
            </c:numRef>
          </c:val>
        </c:ser>
        <c:ser>
          <c:idx val="3"/>
          <c:order val="3"/>
          <c:tx>
            <c:strRef>
              <c:f>Sheet1!$E$1</c:f>
              <c:strCache>
                <c:ptCount val="1"/>
                <c:pt idx="0">
                  <c:v>OS</c:v>
                </c:pt>
              </c:strCache>
            </c:strRef>
          </c:tx>
          <c:spPr>
            <a:solidFill>
              <a:srgbClr val="4A5058"/>
            </a:solidFill>
          </c:spPr>
          <c:cat>
            <c:strRef>
              <c:f>Sheet1!$A$2:$A$4</c:f>
              <c:strCache>
                <c:ptCount val="3"/>
                <c:pt idx="0">
                  <c:v>1-day need · 76</c:v>
                </c:pt>
                <c:pt idx="1">
                  <c:v>All four need · 151</c:v>
                </c:pt>
                <c:pt idx="2">
                  <c:v>Provisioned · 256</c:v>
                </c:pt>
              </c:strCache>
            </c:strRef>
          </c:cat>
          <c:val>
            <c:numRef>
              <c:f>Sheet1!$E$2:$E$4</c:f>
              <c:numCache>
                <c:formatCode>General</c:formatCode>
                <c:ptCount val="3"/>
                <c:pt idx="0">
                  <c:v>7</c:v>
                </c:pt>
                <c:pt idx="1">
                  <c:v>7</c:v>
                </c:pt>
                <c:pt idx="2">
                  <c:v>7</c:v>
                </c:pt>
              </c:numCache>
            </c:numRef>
          </c:val>
        </c:ser>
        <c:ser>
          <c:idx val="4"/>
          <c:order val="4"/>
          <c:tx>
            <c:strRef>
              <c:f>Sheet1!$F$1</c:f>
              <c:strCache>
                <c:ptCount val="1"/>
                <c:pt idx="0">
                  <c:v>Headroom</c:v>
                </c:pt>
              </c:strCache>
            </c:strRef>
          </c:tx>
          <c:spPr>
            <a:solidFill>
              <a:srgbClr val="E3DED7"/>
            </a:solidFill>
          </c:spPr>
          <c:cat>
            <c:strRef>
              <c:f>Sheet1!$A$2:$A$4</c:f>
              <c:strCache>
                <c:ptCount val="3"/>
                <c:pt idx="0">
                  <c:v>1-day need · 76</c:v>
                </c:pt>
                <c:pt idx="1">
                  <c:v>All four need · 151</c:v>
                </c:pt>
                <c:pt idx="2">
                  <c:v>Provisioned · 256</c:v>
                </c:pt>
              </c:strCache>
            </c:strRef>
          </c:cat>
          <c:val>
            <c:numRef>
              <c:f>Sheet1!$F$2:$F$4</c:f>
              <c:numCache>
                <c:formatCode>General</c:formatCode>
                <c:ptCount val="3"/>
                <c:pt idx="0">
                  <c:v>0</c:v>
                </c:pt>
                <c:pt idx="1">
                  <c:v>0</c:v>
                </c:pt>
                <c:pt idx="2">
                  <c:v>91</c:v>
                </c:pt>
              </c:numCache>
            </c:numRef>
          </c:val>
        </c:ser>
        <c:gapWidth val="50"/>
        <c:overlap val="100"/>
        <c:axId val="-2068027336"/>
        <c:axId val="-2113994440"/>
      </c:barChart>
      <c:catAx>
        <c:axId val="-2068027336"/>
        <c:scaling>
          <c:orientation val="maxMin"/>
        </c:scaling>
        <c:delete val="0"/>
        <c:axPos val="l"/>
        <c:majorTickMark val="out"/>
        <c:minorTickMark val="none"/>
        <c:tickLblPos val="nextTo"/>
        <c:spPr>
          <a:ln>
            <a:solidFill>
              <a:srgbClr val="E3DED7"/>
            </a:solidFill>
          </a:ln>
        </c:spPr>
        <c:crossAx val="-2113994440"/>
        <c:crosses val="autoZero"/>
        <c:auto val="1"/>
        <c:lblAlgn val="ctr"/>
        <c:lblOffset val="100"/>
        <c:noMultiLvlLbl val="0"/>
      </c:catAx>
      <c:valAx>
        <c:axId val="-2113994440"/>
        <c:scaling>
          <c:max val="260.0"/>
          <c:min val="0.0"/>
        </c:scaling>
        <c:delete val="0"/>
        <c:axPos val="b"/>
        <c:majorTickMark val="out"/>
        <c:minorTickMark val="none"/>
        <c:tickLblPos val="nextTo"/>
        <c:txPr>
          <a:bodyPr/>
          <a:lstStyle/>
          <a:p>
            <a:pPr>
              <a:defRPr sz="900"/>
            </a:pPr>
          </a:p>
        </c:txPr>
        <c:crossAx val="-2068027336"/>
        <c:crosses val="autoZero"/>
      </c:valAx>
    </c:plotArea>
    <c:legend>
      <c:legendPos val="b"/>
      <c:overlay val="0"/>
      <c:txPr>
        <a:bodyPr/>
        <a:lstStyle/>
        <a:p>
          <a:pPr>
            <a:defRPr sz="950"/>
          </a:pPr>
        </a:p>
      </c:txPr>
    </c:legend>
    <c:dispBlanksAs val="gap"/>
  </c:chart>
  <c:txPr>
    <a:bodyPr/>
    <a:lstStyle/>
    <a:p>
      <a:pPr>
        <a:defRPr sz="1000">
          <a:solidFill>
            <a:srgbClr val="4A5058"/>
          </a:solidFil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t>Lake over 7 years, TB (base)</a:t>
            </a:r>
          </a:p>
        </c:rich>
      </c:tx>
      <c:layout/>
      <c:overlay val="0"/>
    </c:title>
    <c:autoTitleDeleted val="0"/>
    <c:plotArea>
      <c:barChart>
        <c:barDir val="col"/>
        <c:grouping val="clustered"/>
        <c:ser>
          <c:idx val="0"/>
          <c:order val="0"/>
          <c:tx>
            <c:strRef>
              <c:f>Sheet1!$B$1</c:f>
              <c:strCache>
                <c:ptCount val="1"/>
                <c:pt idx="0">
                  <c:v>TB</c:v>
                </c:pt>
              </c:strCache>
            </c:strRef>
          </c:tx>
          <c:dPt>
            <c:idx val="0"/>
            <c:spPr>
              <a:solidFill>
                <a:srgbClr val="4A5058"/>
              </a:solidFill>
            </c:spPr>
          </c:dPt>
          <c:dPt>
            <c:idx val="1"/>
            <c:spPr>
              <a:solidFill>
                <a:srgbClr val="8A1626"/>
              </a:solidFill>
            </c:spPr>
          </c:dPt>
          <c:dPt>
            <c:idx val="2"/>
            <c:spPr>
              <a:solidFill>
                <a:srgbClr val="C4384B"/>
              </a:solidFill>
            </c:spPr>
          </c:dPt>
          <c:dPt>
            <c:idx val="3"/>
            <c:spPr>
              <a:solidFill>
                <a:srgbClr val="B9AFA5"/>
              </a:solidFill>
            </c:spPr>
          </c:dPt>
          <c:cat>
            <c:strRef>
              <c:f>Sheet1!$A$2:$A$5</c:f>
              <c:strCache>
                <c:ptCount val="4"/>
                <c:pt idx="0">
                  <c:v>1-day</c:v>
                </c:pt>
                <c:pt idx="1">
                  <c:v>All four</c:v>
                </c:pt>
                <c:pt idx="2">
                  <c:v>÷ 0.61</c:v>
                </c:pt>
                <c:pt idx="3">
                  <c:v>+ DR</c:v>
                </c:pt>
              </c:strCache>
            </c:strRef>
          </c:cat>
          <c:val>
            <c:numRef>
              <c:f>Sheet1!$B$2:$B$5</c:f>
              <c:numCache>
                <c:formatCode>General</c:formatCode>
                <c:ptCount val="4"/>
                <c:pt idx="0">
                  <c:v>16.1</c:v>
                </c:pt>
                <c:pt idx="1">
                  <c:v>48.2</c:v>
                </c:pt>
                <c:pt idx="2">
                  <c:v>79</c:v>
                </c:pt>
                <c:pt idx="3">
                  <c:v>158</c:v>
                </c:pt>
              </c:numCache>
            </c:numRef>
          </c:val>
        </c:ser>
        <c:dLbls>
          <c:numFmt formatCode="0.#" sourceLinked="0"/>
          <c:txPr>
            <a:bodyPr/>
            <a:lstStyle/>
            <a:p>
              <a:pPr>
                <a:defRPr sz="10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E3DED7"/>
            </a:solidFill>
          </a:ln>
        </c:spPr>
        <c:crossAx val="-2113994440"/>
        <c:crosses val="autoZero"/>
        <c:auto val="1"/>
        <c:lblAlgn val="ctr"/>
        <c:lblOffset val="100"/>
        <c:noMultiLvlLbl val="0"/>
      </c:catAx>
      <c:valAx>
        <c:axId val="-2113994440"/>
        <c:scaling>
          <c:max val="190.0"/>
        </c:scaling>
        <c:delete/>
        <c:axPos val="l"/>
        <c:majorTickMark val="out"/>
        <c:minorTickMark val="none"/>
        <c:tickLblPos val="nextTo"/>
        <c:crossAx val="-2068027336"/>
        <c:crosses val="autoZero"/>
      </c:valAx>
    </c:plotArea>
    <c:dispBlanksAs val="gap"/>
  </c:chart>
  <c:txPr>
    <a:bodyPr/>
    <a:lstStyle/>
    <a:p>
      <a:pPr>
        <a:defRPr sz="1050">
          <a:solidFill>
            <a:srgbClr val="4A5058"/>
          </a:solidFil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docs/guides/VAR_GUIDE.md (2.9.5, develop), CHANGELOG.md (2.9.5), docs/knowledge/market-risk.md, docs/tutorials/25-var-from-the-bank-to-a-trade.md, docs/architecture/IMPLEMENTATION_PLAN.md (2.9.4 and 2.9.5 sections).</a:t>
            </a:r>
          </a:p>
          <a:p/>
          <a:p>
            <a:r>
              <a:t>Talk track: this deck explains the VaR engine that sits inside the Drishti server: what it computes, how the data reaches it, what the 2.9.4 release added (scenario PVs in each trade's own currency, any reporting currency, intraday updates, JSONL as the delivery standard) and what 2.9.5 adds (hierarchies configured by columns such as limit letters, Iceberg as a full alternative to Delta, official results to S3), what the console shows, and how it scales to a large bank (e.g. 2.3 million positions, 15,000 portfolios, about 700 limit letters); then capacity and hardware, storage formats, deployment, operations, model risk and controls, a rollout plan and a glossary.</a:t>
            </a:r>
          </a:p>
          <a:p/>
          <a:p>
            <a:r>
              <a:t>Status words used throughout: BUILT means in the code and tested (everything new in 2.9.4 and 2.9.5 is built); BUILT · 2.9.5 marks what release 2.9.5 added; 2.9.6 marks what that release ships; DESIGNED is used only for scale-out across several Drishti servers (VaR sharding); PROPOSED means a recommendation of this deck; MEASURED, ESTIMATED and ASSUMPTION label figures.</a:t>
            </a:r>
          </a:p>
          <a:p/>
          <a:p>
            <a:r>
              <a:t>All figures are from the committed synthetic test data (a correlated, fat-tailed factor market), not real prices.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Framing. The scale figures (about 2.3 million positions, about 15,000 portfolios, about 700 limit letters) are an illustrative large bank, the volumes the product owner asked this deck to be sized for; they are not any client's data. Everything else is Drishti's: figures from the committed synthetic test data or measured on one workstation.</a:t>
            </a:r>
          </a:p>
          <a:p/>
          <a:p>
            <a:r>
              <a:t>Talk track: four things make VaR hard at a large bank. Scale: millions of positions a day and thousands of portfolios and limit letters, any of which someone may ask about at any moment. Pricing systems: they cannot be made to change, so the engine adapts to what each sends (scenario PVs or path P&amp;L, by trade or by position, files or Kafka). Currencies: a EUR- or CAD-based owner carries currency risk that a USD view hides, so the engine converts with each scenario's FX, not today's rate. Intraday: positions change during the day, and the VaR should follow without a full rerun, while the official record stays the morning run's.</a:t>
            </a:r>
          </a:p>
          <a:p/>
          <a:p>
            <a:r>
              <a:t>Sources: VAR_GUIDE.md sections 26-27 (a node from its float64 aggregate: 0.48 ms measured), 15.13 (any form, any grain), 15.9-15.11 (scenario PVs, scenario FX, currencies built ahead), 8.4 (intraday as built, official records the morning run's). Limit letters are a hierarchy configured by columns, built in 2.9.5 (VAR_GUIDE.md section 15.14).</a:t>
            </a:r>
          </a:p>
          <a:p/>
          <a:p>
            <a:r>
              <a:t>The legend explains the status pills used on every later slide: BUILT; BUILT · 2.9.5 for what release 2.9.5 added (built and tested); 2.9.6 for what that release ships; DESIGNED only for scale-out across several Drishti servers (VaR sharding); PROPOSED for this deck's recommendations; MEASURED, ESTIMATED and ASSUMPTION on figures.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Headline figures of the demo bank, for reference (the figure tiles were removed from the slide): VaR 99% 1-day 112,041,646 USD and ES 97.5% 160,143,809 USD on 2026-09-30; 509 scenario days (2024-09-17 to 2026-09-29); 9,572 live trades in 7,984 derived positions, 88 hierarchy nodes, 28 portfolios; a node's VaR in under 1 ms from its float64 aggregate; the date loads in 572 ms.</a:t>
            </a:r>
          </a:p>
          <a:p/>
          <a:p>
            <a:r>
              <a:t>Sources: VAR_GUIDE.md section 2.2 (the bank on 2026-09-30: VaR 112,041,646, ES 160,143,809, 9,572 trades in 7,984 positions); section 15.3 (HS-509, 2024-09-17 to 2026-09-29); section 15.4 (88 nodes), 15.5 (28 portfolios); section 26.7 (loadMs 572 for the test date); section 26.2 and 27.3 (a node under 1 ms, 0.48 ms measured); section 27.2 (VarScaleBenchmark: the whole bank of 1 million trades summed in 58 ms on 24 threads); section 27.3 (VarTierBenchmark: 100,000 trades × 5 dates).</a:t>
            </a:r>
          </a:p>
          <a:p/>
          <a:p>
            <a:r>
              <a:t>The input message (product owner): Drishti handles every input contract: scenario PVs or P&amp;L vectors, at trade or position grain, in any native currency, from files or Kafka, mixed across source systems on one date and switchable day to day, with optional per-system pins as a check. Status: all of it is built and ships in 2.9.4 (P&amp;L vectors by trade since 2.8.0).</a:t>
            </a:r>
          </a:p>
          <a:p/>
          <a:p>
            <a:r>
              <a:t>Talk track: if you remember one slide, make it this one. The engine is generic: a hierarchy node is just a scope that happens to be precomputed. Additive where it can be (P&amp;L vectors and ES contributions add up), honest where it cannot (VaR does not add: the screens show diversification instead of summing VaRs).</a:t>
            </a:r>
          </a:p>
          <a:p/>
          <a:p>
            <a:r>
              <a:t>Status: the VaR engine itself is built and released (2.8.0 to 2.9.3). The 2.9.4 work (scenario PVs, reporting currencies, the currency picker, intraday from files and Kafka, any input contract, the configurable window, confidence and root name, JSONL) is built and shipped in 2.9.4. The 2.9.5 work (hierarchies configured by columns with the limit letters and the var-limit feed, PNL-&lt;trade&gt;-&lt;set&gt; ids, Iceberg as a full alternative to Delta for VaR, intraday and exposure, official results to Delta or Iceberg on a folder or S3, airtight connector upgrades) is built. Only scaling one date out across a cluster of servers (VaR sharding) is designed; 10-day and stressed VaR, editions and the 2.3M benchmark ship in 2.9.6.</a:t>
            </a:r>
          </a:p>
          <a:p/>
          <a:p>
            <a:r>
              <a:t>Measured (ColumnHierarchyBenchmark, 10,000 trades, 700 letters): the hierarchies build in 65-99 ms against 53-197 ms without the letters, and the VaR of every node (1,412) takes about 30 ms.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 (the question, methodology: historical simulation, equal weights, 1-day; ES at 97.5% as in FRTB IMA without liquidity horizons), section 2 (the measures table), section 2.1 (the worked example: every number on this slide), section 18 (formulas: k = clamp(ceil(N(1−α) − 1e-9), 1, N); component tail = ranks k−h..k+h with window 5; scale c = VaR / smoothed VaR), section 7 (backtest: the Basel traffic light counts breaches, losses bigger than VaR, in 250 days at 99%: 0–4 green, 5–9 amber, 10+ red; the Kupiec test (Paul Kupiec, 1995) asks whether the number of breaches is consistent with 99%, about 2–3 in 250 days; the Christoffersen test (Peter Christoffersen, 1998) asks whether breaches cluster together, a sign the model reacts too slowly when markets turn. Both are standard statistical tests named after the researchers who published them. Drishti reports their p-values), section 3.2 (limit bars: amber at 75%, red at 90%).</a:t>
            </a:r>
          </a:p>
          <a:p/>
          <a:p>
            <a:r>
              <a:t>Talk track: the whole engine is in these four steps. Step 2 is where scope matters: any scope (bank, legal entity, desk, book, position, trade, stored portfolio, a rule such as every short EUR position, a basket, or unions, differences and intersections of these) resolves to a set of trades, so a trade in two parts of a scope counts once, and a long and a short of one instrument cancel before the quantile is taken. That is why a desk's VaR is never the sum of its books' VaRs.</a:t>
            </a:r>
          </a:p>
          <a:p/>
          <a:p>
            <a:r>
              <a:t>The worked example uses α = 80% so that k = 2 on ten scenarios and every step can be checked by hand. The book's sorted P&amp;Ls are −7 (scenario 3), −6 (4), −6 (9), so VaR = 6 and ES = 6.5. Component VaR averages the scope's scenarios ranked 1 to 3 (window 3), scaled by c = 6 / 6.3333 so that P1 (1.2632) and P2 (4.7368) add up to the VaR. P1's incremental VaR is −1: it hedges, and removing it would raise the book's VaR from 6 to 7.</a:t>
            </a:r>
          </a:p>
          <a:p/>
          <a:p>
            <a:r>
              <a:t>On the test data (section 2.2): the ten desks' VaRs add up to 367.9 million against the bank's 112.0 million; the credit desk alone (130.7 million) has a larger VaR than the bank, because other desks gain on its worst days.</a:t>
            </a:r>
          </a:p>
          <a:p/>
          <a:p>
            <a:r>
              <a:t>Not built (stated in the guide): age-weighted or filtered methods and ES backtests; 10-day and stressed VaR ship in 2.9.6 (the capacity slides size them).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on this slide is built and ships in 2.9.4.</a:t>
            </a:r>
          </a:p>
          <a:p/>
          <a:p>
            <a:r>
              <a:t>Scenario window (2.9.4): drishti.var.scenario-window takes all (the whole set, 509 days in the demo) or N, the newest N scenarios of the set. A request may pass window= to compare, for example, a 1-year (250) and a 2-year (all) view of the same scope; such answers are labelled with their window and are never official. Ranks follow the guide's rule k = ⌈N(1 − α)⌉ (VAR_GUIDE.md section 18.1): at N = 509 VaR 99% is the 6th worst and ES 97.5% the mean of the 13 worst; at N = 250 the 3rd worst and the mean of the 7 worst (250 × 2.5% = 6.25, rounded up); at 95% the 26th worst of 509 (25.45 rounded up) and the 13th worst of 250 (12.5 rounded up).</a:t>
            </a:r>
          </a:p>
          <a:p/>
          <a:p>
            <a:r>
              <a:t>Choosing the window: banks typically use one year (about 250 business days, the regulatory minimum for internal-model VaR) or two years (about 500). One year reacts faster when volatility changes; two years is steadier and keeps more stress days in the tail. The per-request window lets a risk manager see both before changing the bank's setting.</a:t>
            </a:r>
          </a:p>
          <a:p/>
          <a:p>
            <a:r>
              <a:t>Confidence (2.9.4): VaR 99% by default, 95% by configuration (DRISHTI_VAR_CONFIDENCE, the setting drishti.var.confidence); ES 97.5% by default (DRISHTI_VAR_ES_CONFIDENCE); both may also be set per request, and every label on the screens follows the answer. The backtest stays at 99%: the Basel traffic light (breaches in 250 days at 99%: 0–4 green, 5–9 amber, 10+ red), the Kupiec test (Paul Kupiec, 1995: is the number of breaches consistent with 99%, about 2–3 in 250 days?) and the Christoffersen test (Peter Christoffersen, 1998: do breaches cluster together, a sign the model reacts too slowly when markets turn?). Both are standard statistical tests named after the researchers who published them. Drishti reports their p-values.</a:t>
            </a:r>
          </a:p>
          <a:p/>
          <a:p>
            <a:r>
              <a:t>Currencies built ahead (VAR_GUIDE.md section 15.11): drishti.var.currencies (default USD, EUR, CAD, JPY, GBP) are built in the background after a date's USD book, each into its own hot file; drishti.var.currency-retention-dates (5) keeps the newest five business dates; older dates' currency files are deleted and built again on first ask. Measured on the demo lake: 21.4 MB a currency a date, 58 to 148 ms to build each; extrapolated 250 MB a currency per 100,000 trades.</a:t>
            </a:r>
          </a:p>
          <a:p/>
          <a:p>
            <a:r>
              <a:t>Names: drishti.var.root-name (DRISHTI_VAR_ROOT_NAME; blank keeps the hierarchy data's NAME) names the top of every hierarchy when a date loads, drishti.var.root-names one hierarchy's; the tree, breadcrumbs, headline, CLI, var-result, captures and new official records follow. The demo's bank, short name, legal entities and branches come from config/demo/names.yaml (lake demo and build_demo_lakes.py --names FILE; LEIs and BICs kept).</a:t>
            </a:r>
          </a:p>
          <a:p/>
          <a:p>
            <a:r>
              <a:t>Inputs and intraday: drishti.var.inputs pins a source system's form and grain (optional cross-check, DRS-5209 when a record disagrees); drishti.var.intraday.kafka.window (DRISHTI_VAR_INTRADAY_KAFKA_WINDOW, 5m) and max-trades (500). Official records are captured in drishti.var.official.currencies (default USD).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15.9 (scenario-pv: the product owner's decisions of 2026-10-27, the conversion P&amp;L_USD(s) = PV(s) × FX_c(s) − PV(base) × FX_c(base), FX supplied by fx-scenario or derived from fx-spot as FX(s) = FX(base) × H(d_s) / H(d_s − 1), crosses through USD, DRS-5206 and DRS-5207, the demo's 1,339 Endur trades and the figures that moved); section 15.10 (reporting currency: P&amp;L_r(s) = (p + P&amp;L_USD(s)) / FX_r(s) − p / FX_r(base); the table of the bank in seven currencies; 'At today's rates the USD VaR would be 95.4 million EUR or 155.6 million CAD ... the bank's net value (3.65 billion USD)'); section 15.11 (per-trade-currency totals, exact to the cent; Trade currency on the trade pages); section 20.3 (the load checks). Input form and grain (2.9.4): all four combinations are accepted. Every record is self-describing: VALUE_TYPE (PV or PNL), GRAIN (TRADE or POSITION) with the matching TRADE_ID or POSITION_ID, CURRENCY and SOURCE_SYSTEM are required. The per-system pin in drishti.var.inputs is an optional cross-check: a record that disagrees with it is refused. A pin makes an unexpected upstream change refused and visible; switching a system's input is a configuration change effective from the next date loaded. Within one system and date there is exactly one form and grain (no double counting); intraday updates follow that day's form and grain; the provenance shows the form and grain per system. Today a bank can already send one row per position by using the position id as TRADE_ID (VAR_GUIDE section 15.2).</a:t>
            </a:r>
          </a:p>
          <a:p/>
          <a:p>
            <a:r>
              <a:t>Talk track: pricing systems always send PVs in the trade's native currency, kept as received. Drishti makes the P&amp;L itself, which means it controls the FX: the scenario's own exchange rate, not today's, so a EUR bond's USD P&amp;L carries both the bond's move and the euro's move on that scenario day. Using today's rate for every scenario would silently drop the currency risk.</a:t>
            </a:r>
          </a:p>
          <a:p/>
          <a:p>
            <a:r>
              <a:t>The chart is the key point for a non-USD reader: the same bank has a VaR of 111.8 million EUR, not the 95.4 million that a simple conversion of the USD VaR gives, because the bank's net 3.65 billion USD of value moves against the euro on the scenario days. Which currency is right is the owner's question, not the model's. The engine answers in any currency with scenario FX on the date; USD, EUR, CAD, JPY and GBP are built ahead.</a:t>
            </a:r>
          </a:p>
          <a:p/>
          <a:p>
            <a:r>
              <a:t>A scenario that failed to price is never treated as zero (a zero would claim the trade neither gains nor loses on that day, quietly lowering the VaR): the whole trade is left out and named in every answer's provenance.</a:t>
            </a:r>
          </a:p>
          <a:p/>
          <a:p>
            <a:r>
              <a:t>At position grain: rows carry POSITION_ID, LEGAL_ENTITY, DESK, TT_BOOK, CURRENCY, the security or product identifiers and optionally TRADE_IDS; everything that adds up still works (tree, portfolios, scopes, baskets, captures, official records, currencies, intraday keyed by POSITION_ID); trade-level drill-down degrades cleanly.</a:t>
            </a:r>
          </a:p>
          <a:p/>
          <a:p>
            <a:r>
              <a:t>(The form × grain grid and the caveat are on the Any input contract slide.) The form × grain grid: P&amp;L vectors at trade grain are as built since 2.8.0; scenario PVs at trade grain and position grain for either form are built in 2.9.4. The forms and grains can mix per source system and per date (each system uses exactly one grain).</a:t>
            </a:r>
          </a:p>
          <a:p/>
          <a:p>
            <a:r>
              <a:t>The caveat, precisely (VAR_GUIDE section 15.10): converting to a reporting currency r uses each trade's USD value today p (its PV): P&amp;L_r(s) = (p + P&amp;L_USD(s)) / FX_r(s) − p / FX_r(base). A P&amp;L-vector row that carries its optional PV column converts exactly by this formula; a trade with no PV converts its P&amp;L alone, which misses the FX translation of its base value, and is counted in the provenance as fx.rates.&lt;CCY&gt;.tradesWithoutPv. Scenario PVs always carry the base PV, so they give exact multi-currency VaR, and they also feed the per-trade-currency totals in their own currency.</a:t>
            </a:r>
          </a:p>
          <a:p/>
          <a:p>
            <a:r>
              <a:t>The refusals at load (DRS-5201, 5206, 5207) are listed on the data-contracts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8.4 'Intraday updates, as built (2.9.4)' (the marker RUN_KIND INTRADAY, own BATCH_ID, later COMPUTED_AT, appended with lake build --mode append or drishti.py var intraday --load; the rules table; applying incrementally with VarIntraday; labels; 'the official records are the morning run's'; measured with VarIntradayApiTest: 200 batches of 3 trades, equal to the cent to the same final data loaded as one run, on every node; a restart equal too; batch time not growing); section 15.8 (cadence); 'Intraday updates from Kafka, as built (2.9.4)' (commit 295cba961). 2.9.5: intraday works on an Iceberg risk lake too: a file batch appended to an Iceberg table is applied live after its data-load signal, and each Kafka window is one Iceberg append (LakeAppends; VarFormatEqualityTest applies intraday file batches live from Iceberg, equal to Delta).</a:t>
            </a:r>
          </a:p>
          <a:p/>
          <a:p>
            <a:r>
              <a:t>Kafka as built: the market-risk pack's connector pv-updates (plugin var-pv-stream, off by default: DRISHTI_VAR_PV_STREAM=true) reads the PV topic; each message's value is JSONL text, one or more records of the scenario-pv or pnl-vector contract a line (both forms and cancels may share a message; the key is not read; a tombstone carries no record and is ignored; a malformed line is rejected, DRS-5201, with its partition, offset and line number, without dropping the others). Everything received in drishti.var.intraday.kafka.window (5m) keeps the latest COMPUTED_AT per trade and is appended to the lake as one intraday batch (BATCH_ID K-&lt;date&gt;-&lt;time&gt;-&lt;n&gt;), then applied after one data-load signal; earlier at max-trades (500) or an administrator's Apply now (POST /api/v1/var/intraday/streams/{connector}/apply). Sizing from the guide: a record is 4–8 KB, so 10,000 updates a day are 40–80 MB on the topic; a window of a few hundred trades is written and applied in about a second. Tested with VarPvStreamTest (in-process Kafka): files and windows mixed equal one run to the cent in USD, EUR and CAD; a replay writes nothing.</a:t>
            </a:r>
          </a:p>
          <a:p/>
          <a:p>
            <a:r>
              <a:t>Talk track: before 2.9.4 a second BATCH_ID on a date refused the date and the engine answered yesterday, silently turning today's VaR into yesterday's at the first intraday update. Now the pricing systems send only what changed, priced over the same scenario set as the morning. The engine keeps only the current P&amp;L per trade, never the batches, so the work of a batch does not grow with the batches before it. The old P&amp;L subtracted is the morning row exactly as received (with the tiered memory its float32 copy is not exact, so the row is read back from the lake by its id): that is what makes the incremental result equal a full reload to the cent.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3 (the explorer: commands, the three columns, the six tiles, drill-down, the tabs, Construct your basket, How this number was built, the portfolio and position pages, the trade page's Risk group, the phone), section 15.11 (the Reporting currency picker, the tab In other currencies, Trade currency), section 5 (scopes, portfolios and baskets), section 6 (captures and compare), section 7 (history and backtesting), section 8 (VRES var-result, VWIF var-whatif, the pre-deal what-if in the basket tray), section 9 (entitlements and audit), section 10 (CLI), section 11 (API), section 12 (drishti.var.root-name, drishti.var.root-names), section 27.2 (painted in 9 to 14 ms with answers fetched ahead, 30 to 35 ms without; the product owner's target 300 ms click to painted); config/demo/names.yaml on release-2.9.4 (the demo's bank and legal-entity names); USER_GUIDE.md (Home facts); the screenshot docs/guides/img/var/15-reporting-currency.jpg.</a:t>
            </a:r>
          </a:p>
          <a:p/>
          <a:p>
            <a:r>
              <a:t>Talk track: the explorer is a console page over /api/v1/var. Type VAR BANK, VAR DESK RATES, VAR TRD &lt;id&gt;, VAR PORT &lt;id&gt; or any scope in the grammar, optionally ending IN EUR. The left column is the hierarchy with each node's VaR, ES and limit bar; the middle has the breadcrumb, six tiles and the tabs; the right column says exactly how the number was built. The basket tray computes the VaR of any mix live, flags anything that matches nothing in words (never a VaR of 0 that looks computed), and offers a pre-deal what-if: a copy of a booked trade's vector scaled by a factor (−1 is its unwind), answered by the Python VaR engine in the compute pool (off by default; without it the tray says so, 503 DRS-5205).</a:t>
            </a:r>
          </a:p>
          <a:p/>
          <a:p>
            <a:r>
              <a:t>The same engine answers everywhere: trade pages show Trade currency and a Risk group (P&amp;L vector, VaR of this trade); position, portfolio, desk and legal-entity pages show the engine's figures computed as the viewer; the command line takes --ccy; var-result and var-whatif are ordinary computed kinds; BI's Market risk: VaR report reads the published official results; Home's facts (for example a book over its VaR limit inside a desk within its own) are computed from the engine's answers.</a:t>
            </a:r>
          </a:p>
          <a:p/>
          <a:p>
            <a:r>
              <a:t>Governance in the UI: the top of the tree is named by drishti.var.root-name (blank keeps the hierarchy data's NAME), the demo's bank and legal-entity names come from config/demo/names.yaml; access is per role and node at positions or aggregate level; masks apply to contribution rows; every headline, capture, basket change, reload and official run is an audit entry.</a:t>
            </a:r>
          </a:p>
          <a:p/>
          <a:p>
            <a:r>
              <a:t>Not built: pricing a new or amended trade from its terms (QLRisk, parked until its API is stable); the copy of a booked trade's vector stands in for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15.1 (the risk lake layout: risk/pnl-vector, scenario-pv, fx-scenario, scenario-set, risk-hierarchy, portfolio, all partitioned by business_date; risk-results/var-official), 15.8 (cadence, delivery and the load signal), 15.9 (scenario PVs, the conversion at load in VarIntake / ScenarioFx.pnlFromPv, FX supplied or derived, crosses through USD), 15.11 (currencies built ahead, per-trade-currency totals in the hot file's CTOT section), section 8.4 'Intraday updates, as built (2.9.4)' (VarIntraday), section 19 (official end-of-day captures, published append-only to risk-results/var-official), section 25 (VarBook), section 26 (tiered memory and the hot file); DATA_FORMATS.md section 4 (official results also written as JSON Lines beside the Delta tables, risk-results/jsonl/&lt;table&gt;/&lt;date&gt;/); USER_GUIDE.md (Home facts computed from the VaR engine's answers); config/bi (the Market risk: VaR report reads var-official).</a:t>
            </a:r>
          </a:p>
          <a:p/>
          <a:p>
            <a:r>
              <a:t>Talk track, left to right. (1) Pricing systems run once in the morning over every live trade and send either form: scenario PVs with the base PV in the trade's own currency, or a finished P&amp;L vector in USD. During the day they send only the trades that changed. (2) Everything lands in Delta tables, one per kind, partitioned by business date; a full run replaces the date, an intraday batch is appended with its own BATCH_ID. (3) The data-load signal makes the engine load the date: every row is checked (a failed scenario is refused, never zero-filled), scenario PVs are converted to USD P&amp;L with the scenario FX, positions are derived by the pack's rules, the trades are sorted into hierarchy order and every book and node is summed once in float64. (4) The date lives in a memory-mapped hot file: float32 position rows, float64 aggregates and, per node, the PVs summed per trade currency, so a headline in any currency is exact and cheap. The listed reporting currencies (USD, EUR, CAD, JPY, GBP by default) are built ahead in the background. Intraday batches are applied as an overlay: each changed trade's new minus old into its book and every node above it, without reloading. (5) Everyone reads the same answers: the VaR explorer, the trade, position, portfolio, desk and legal-entity pages and Home's facts, the command line, the REST API and the computed kinds (VRES var-result, VWIF var-whatif), and BI through the published official results.</a:t>
            </a:r>
          </a:p>
          <a:p/>
          <a:p>
            <a:r>
              <a:t>Official records are taken from the morning run only, for every node of every configured hierarchy (MGMT, LEGAL and the limit letters: 131 nodes on the test data), and published to risk-results/var-official, append-only, in Delta (the default) or Iceberg, under a folder or an s3:// root (2.9.5, drishti.var.official.format and .storage), with a JSONL copy beside it. The lake of inputs is Delta by default or Iceberg (2.9.5); VaR, intraday and exposure read either, equal to the cent. No engine reads risk-results back (a guard test).</a:t>
            </a:r>
          </a:p>
          <a:p/>
          <a:p>
            <a:r>
              <a:t>Status: everything on this slide is built; the 2.9.4 parts ship in the 2.9.4 release.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trees, all built. MGMT (bank, division, desk, book) and LEGAL (bank, legal entity, desk, book) arrive as risk-hierarchy rows (VAR_GUIDE.md section 15.4: NODE_ID = &lt;HIERARCHY&gt;~&lt;node&gt;, LIMIT_VAR per node, BOOKS listing every book beneath a node). The limit letters (LL) are a hierarchy configured by columns, built in 2.9.5 (VAR_GUIDE.md sections 15.14 and 15.15; CHANGELOG 2.9.5 'Hierarchies').</a:t>
            </a:r>
          </a:p>
          <a:p/>
          <a:p>
            <a:r>
              <a:t>Configuration: the market-risk pack's hierarchies: block (the code on the slide, as built); drishti.var.hierarchies in the server's settings wins over it; neither: MGMT and LEGAL from the rows, as before. Keys: title, source (risk-hierarchy or columns), levels (top first), level-names, root, ids (path, the default, or leaf), word (the scope word: LL:LL-0003, LL:LL-0003/DESK-RATES), limits (the var-limit kind). A configuration error is DRS-5213.</a:t>
            </a:r>
          </a:p>
          <a:p/>
          <a:p>
            <a:r>
              <a:t>Members are rows, not books: a column node's members are the trades whose values start with its path, so a letter may hold part of a book (two of the demo's books are split between two letters). The engine sums every cell once when the date loads (a run of one book's trades with the same level values), so a letter's VaR costs what a desk's does. A position whose trades sit under two letters is split (&lt;position&gt;@&lt;letter&gt;) and the provenance says how many were split.</a:t>
            </a:r>
          </a:p>
          <a:p/>
          <a:p>
            <a:r>
              <a:t>Data without the column (product owner, 2026-10-28): a source that does not keep a level column (P&amp;L vectors or exposure paths written before the letters) skips that hierarchy alone: the date, MGMT, LEGAL, exposure and the official captures answer as before, and a DRS-5211 warning names the hierarchy, the column, the kind and the fix, in the provenance, Admin → Health (Hierarchy skipped) and the log; its tree answers DRS-5214 and the explorer lists it disabled. A row that leaves the column empty, in a table that keeps it, is refused and listed. Tests: HierarchyColumnMissingTest, HierarchyUpgradeWithoutLettersTest.</a:t>
            </a:r>
          </a:p>
          <a:p/>
          <a:p>
            <a:r>
              <a:t>Limits: the dated kind var-limit (VLIM, JSONL: HIERARCHY, NODE_ID, LIMIT_VAR in USD); a node without a row shows no limit, never zero; a row naming no node is said (DRS-5212). The tree shows each node's VaR, ES and limit bar (amber at 75%, red at 90%); the official records carry LIMIT and LIMIT_USE per node, date and result version (section 19). Official records are taken for every configured hierarchy (131 nodes on the test data: 88 MGMT and LEGAL + 43 LL); exposure builds the same hierarchies.</a:t>
            </a:r>
          </a:p>
          <a:p/>
          <a:p>
            <a:r>
              <a:t>Evidence: HierarchyEquivalenceTest rebuilds MGMT and LEGAL from columns and gets the rows' trees exactly (ids, parents, levels, members, aggregates to the bit; VaR, ES, components and worst scenarios to the cent in USD and EUR; limits); every letter is the sum of its rows. ColumnHierarchyBenchmark (MEASURED, one workstation): 10,000 trades, 100 books, 10 desks, 700 letters: the build 65-99 ms against 53-197 ms without the letters; the VaR of every node (1,412) about 30 ms.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 owner's message: Drishti handles every input contract. The four combinations (scenario PVs or P&amp;L vectors, by trade or by position) work in any native currency, from files or Kafka, mixed across source systems on one date, switchable day to day, with optional per-system pins as a check. We adapt to the source systems; they do not have to adapt to us.</a:t>
            </a:r>
          </a:p>
          <a:p/>
          <a:p>
            <a:r>
              <a:t>Status: P&amp;L vectors by trade are as built since 2.8.0; everything else on this slide is built in 2.9.4 and ships in the 2.9.4 release: scenario PVs (VAR_GUIDE.md section 15.9), position grain for both forms, the canonical record, the per-system pin, intraday files (section 8.4) and Kafka micro-batches ('Intraday updates from Kafka, as built (2.9.4)'), and the PV scripts (tools/pvgen: morning run, intraday files, Kafka publisher, checker). Old files are brought to the canonical record with drishti.py convert --set ….</a:t>
            </a:r>
          </a:p>
          <a:p/>
          <a:p>
            <a:r>
              <a:t>The record (verbatim as endorsed): VALUE_TYPE (PV or PNL), GRAIN (TRADE or POSITION) with the matching TRADE_ID or POSITION_ID, CURRENCY (native for PVs) and SOURCE_SYSTEM are required on every record, in files and on Kafka. The per-system pin, drishti.var.inputs, is an optional cross-check: a record that contradicts its system's pin is refused (DRS-5209); a record missing a field or contradicting its payload or id is refused (DRS-5208); a second form or grain from one system on one date is DRS-5210. Switching a system's input is a configuration change effective from the next date loaded and recorded in the provenance. Within one system and date there is exactly one form and grain, which prevents double counting; intraday updates follow that day's form and grain. Field names: the endorsed record says PVS and BOOK; the as-built contracts say SCENARIO_PV and TT_BOOK.</a:t>
            </a:r>
          </a:p>
          <a:p/>
          <a:p>
            <a:r>
              <a:t>Whatever the input, the engine keeps one internal representation: a USD P&amp;L vector per row (converted at load from PVs with the scenario FX, crosses via USD), plus, per node, the PVs summed per trade currency. Every scope, currency, capture and official record works the same whichever form a trade came in.</a:t>
            </a:r>
          </a:p>
          <a:p/>
          <a:p>
            <a:r>
              <a:t>The caveat, precisely (VAR_GUIDE section 15.10): converting to a reporting currency r uses each trade's USD value today p: P&amp;L_r(s) = (p + P&amp;L_USD(s)) / FX_r(s) − p / FX_r(base). A P&amp;L-vector row that carries its optional PV converts exactly by this formula; a trade with no PV converts its P&amp;L alone, missing the FX move of its base value, and is counted in the provenance (fx.rates.&lt;CCY&gt;.tradesWithoutPv). Scenario PVs always carry the base PV, so they give exact multi-currency VaR.</a:t>
            </a:r>
          </a:p>
          <a:p/>
          <a:p>
            <a:r>
              <a:t>Kafka (built): JSONL payloads with one or more records per message, a 5-minute window (configurable), an early flush, an administrator's Apply now, one intraday batch per window in the lake, the latest COMPUTED_AT per trade winning.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one-page specification of what a pricing system sends. System names in the pin are placeholders (SYS_A, SYS_B).</a:t>
            </a:r>
          </a:p>
          <a:p/>
          <a:p>
            <a:r>
              <a:t>Sources: VAR_GUIDE.md section 15.13 (every record says what it is: VALUE_TYPE, GRAIN, its id TRADE_ID or POSITION_ID, CURRENCY and SOURCE_SYSTEM, in files and Kafka lines alike; refusals DRS-5208, 5209, 5210; the pin is optional and read at start), section 15.14 (2.9.5: a hierarchy's level columns, such as LIMIT_LETTER, on every row; a source whose table does not keep the column skips that hierarchy alone with a DRS-5211 warning, while a row that leaves it empty is refused), section 15.12 (JSONL, one row of the contract a line), sections 15.2 and 15.9 (the as-built contracts: LEGAL_ENTITY, DESK and TT_BOOK promoted, the load fails otherwise; TRADE_STATUS and MATURITY_DATE: only live trades count; STATUS; BATCH_ID; RUN_KIND and COMPUTED_AT from 2.9.4), section 15.8 (one run per date; restatement rewrites the whole date), section 8.4 (intraday: RUN_KIND INTRADAY, own BATCH_ID, later COMPUTED_AT, the morning run's scenario set; a cancel is TRADE_STATUS CANCELLED with the vector null), section 20.3 (a null or NaN scenario PV is a scenario that failed to price: DRS-5206, never zero-filled), 'Intraday updates from Kafka, as built (2.9.4)'.</a:t>
            </a:r>
          </a:p>
          <a:p/>
          <a:p>
            <a:r>
              <a:t>Details for the pricing-system teams: a P&amp;L vector is in USD (REPORTING_CCY) with CURRENCY the trade's own; the optional PV column makes conversion to other reporting currencies exact (else the trade is counted as tradesWithoutPv). A position record carries what places it without a trade master: LEGAL_ENTITY, DESK, TT_BOOK, COUNTERPARTY when it has one, CURRENCY, the identifiers the position rules use, and optionally TRADE_IDS. The endorsed canonical record names the scenario PVs PVS and the book BOOK; the as-built contracts say SCENARIO_PV and TT_BOOK, which this slide uses.</a:t>
            </a:r>
          </a:p>
          <a:p/>
          <a:p>
            <a:r>
              <a:t>Files: the full run replaces the date in the lake (lake build), an intraday batch is appended (lake build --mode append or drishti.py var intraday --load), then the data-load signal POST /api/v1/packs/market-risk/loads. Kafka: each message's value is JSONL text, one or more records (both forms and cancels may share a message); a window every 5 minutes, an early flush at 500 trades, an administrator's Apply now; each window is written to the lake as one intraday batch.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Part II (contract version 1.8 on the newest branch's working tree; 1.7 committed): section 15.2 pnl-vector (every column, type and rule), 15.3 scenario-set, 15.4 risk-hierarchy, 15.5 portfolio, 15.9 scenario-pv and fx-scenario, 15.12 'Producing P&amp;L vectors and scenario PVs' (JSONL, one row of the contract a line), section 20 (validation and the DRS codes); the contract files config/packs/market-risk/contracts/{scenario-pv,pnl-vector,fx-scenario,scenario-set,risk-hierarchy,portfolio}.contract.yaml; DATA_FORMATS.md (release-2.9.4: JSON Lines is Drishti's data standard since 2.9.4).</a:t>
            </a:r>
          </a:p>
          <a:p/>
          <a:p>
            <a:r>
              <a:t>The tables show the as-built contracts' key fields. Every trade-level row also carries LEGAL_ENTITY, DESK and TT_BOOK promoted (the load fails otherwise), the keys a position rule names (SECURITY_ID …), PRODUCT_GROUP and PRODUCT_TYPE, COUNTERPARTY, DIRECTION, signed QUANTITY, TRADE_STATUS and MATURITY_DATE (only live trades count), SCENARIO_SET_ID and BATCH_ID (one run per date), STATUS, and from 2.9.4 RUN_KIND and COMPUTED_AT. The self-describing fields of the endorsed record (VALUE_TYPE, GRAIN with TRADE_ID or POSITION_ID, CURRENCY, SOURCE_SYSTEM, all required) are built in 2.9.4; GRAIN is always present and must match TRADE_ID or POSITION_ID; old files are brought to the format with drishti.py convert --set …. The canonical record names the scenario PVs PVS and the book BOOK where the 2.8.0-era contract columns say SCENARIO_PV and TT_BOOK. The four canonical lines are on the Any input contract slide.</a:t>
            </a:r>
          </a:p>
          <a:p/>
          <a:p>
            <a:r>
              <a:t>2.9.5 (built): P&amp;L-vector ids are PNL-&lt;trade or position&gt;-&lt;set&gt; (PNL-MX-20000274-HS-509; the earlier PV- ids are still read from lakes and captures written before); every P&amp;L-vector, scenario-PV and exposure-path row carries LIMIT_LETTER, the level column of the limit letters (a source without the column skips that hierarchy alone with a DRS-5211 warning); the new dated kind var-limit (VLIM: HIERARCHY, NODE_ID, LIMIT_VAR in USD) holds the nodes' limits (VAR_GUIDE.md sections 15.14 and 15.15).</a:t>
            </a:r>
          </a:p>
          <a:p/>
          <a:p>
            <a:r>
              <a:t>Talk track: the engine reads no master data; everything it needs is on the rows. Positions are not an input unless a system sends position grain: Drishti derives them with the pack's configured rules (securities by book and security, listed by book and contract, OTC one per trade). JSONL is the delivery standard: one object a line, no array around the lines; every generator writes it, every loader reads it, every export offers it, and a drill test guards the rule.</a:t>
            </a:r>
          </a:p>
          <a:p/>
          <a:p>
            <a:r>
              <a:t>Refusals are never silent and never padded: DRS-5201, 5206, 5207, 5208 (record fields missing or contradicting the payload or id), 5209 (against the system's pin) and 5210 (a second form or grain from one system on one date) reject a row or a trade and are listed in every answer's provenance (the first 20 reasons); DRS-5202 and 5203 refuse the date (the date before is answered, with a warning); DRS-5204 is a capacity refusal (503). Still not checked (planned): a TRADE_ID live in the trade master, a book in exactly one leaf of each hierarchy, a portfolio's members existing, completeness of the batch against the trades booked.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checklist for bringing one pricing system onto the engine. Steps 1 to 6 are the contract as built in 2.9.4; step 7 uses the approach of the stand-in pricing system's checker; the 'ready when' line is this deck's recommendation.</a:t>
            </a:r>
          </a:p>
          <a:p/>
          <a:p>
            <a:r>
              <a:t>Sources: VAR_GUIDE.md section 15.13 (forms and grains; one system, one form and one grain on one date, DRS-5210; the pin, DRS-5209; the record fields, DRS-5208; provenance.inputsBySystem per system: form, grain, rows, decidedBy, tradesWithoutPv, shown in How this number was built), section 15.9 (fx-scenario supplied, or derived from the FX history as FX(s) = FX(base) × H(d_s) / H(d_s − 1); crosses through USD; DRS-5207 when a currency has no scenario FX), section 20.3 (what the load checks), section 15.12 (tools/pvgen/check.py recomputes from the files what the engine should show and compares the bank's and every desk's VaR and ES with GET /api/v1/var/scope; exit 1 on a difference).</a:t>
            </a:r>
          </a:p>
          <a:p/>
          <a:p>
            <a:r>
              <a:t>Talk track: onboarding is a data exercise, not a code change. The system team decides what it can send, maps its fields to the record, prices over the agreed scenario set, and chooses files or Kafka. The pin is a safety net: if the system suddenly sends something else, the records are refused and visible rather than silently mixed in. Before go-live, an independent recomputation from the very files sent should agree with the engine, and the refusal list should be empty. Older files are brought to the record with drishti.py convert --set … .</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24 (where the engine lives: Java in drishti-compute and drishti-server, Python in the compute pool for what does not add), section 25 (VarBook, the planner: 'Markets minus three trades costs four vector operations', ParallelSums: slices summed into their own float64 accumulators and added in slice order, the answer cache of 512 entries), section 26 (the tiers, the life of a date: hot-dates 2, disk-dates 60, the hot file format, float32 rows and float64 aggregates, precision bound), section 27.1 (bytes per date: 509 × 8 = 4,072 bytes a trade; mapped about 0.8 MB of heap and 2.1 MB of hot file per 1,000 trades), section 27.2 (VarScaleBenchmark: 1,000,000 trades in memory, the whole bank in 58 ms, about 70 GB/s on 24 threads), section 27.3 (VarTierBenchmark at 100,000 trades × 5 dates: node 0.48 ms, bank minus a desk 1.1 ms, whole bank 3.4 ms at about 60 GB/s, basket of 50,000 positions 2.6 ms plus about 45 ms resolving ids, reopening a date 23 ms, first load 0.8 to 1.2 s, heap about 80 MB per open date), section 26.7 (loadMs 572 for the test date), section 15.11 (currencies built ahead: 21.4 MB a currency a date on the demo lake, 5 dates retained), section 28 (sharding planned).</a:t>
            </a:r>
          </a:p>
          <a:p/>
          <a:p>
            <a:r>
              <a:t>Talk track: base VaR is additions and sorts. A row is 509 numbers; a node's vector is summed once when the date loads and kept in float64, so any node's VaR is answered from its aggregate in under a millisecond whatever its size. Anything else (a rule, a basket, the bank minus a few trades) is planned over the aggregates: cover what is whole with aggregates, add or subtract the few rows left. A filter that cuts across every node sums position rows on every core at memory bandwidth.</a:t>
            </a:r>
          </a:p>
          <a:p/>
          <a:p>
            <a:r>
              <a:t>The tiered memory keeps the heap small: the vectors are never on the heap when mapped; the operating system's page cache holds only the pages in use. Precision is proven: a node's figures are the lake's to the bit; any other scope is within 2^-24 of the gross P&amp;L (measured 0 USD on the test data, 5.86 × 10^-8 of the VaR on data scaled 1,000×).</a:t>
            </a:r>
          </a:p>
          <a:p/>
          <a:p>
            <a:r>
              <a:t>All benchmark figures were measured on one workstation (24 hardware threads, 61 GB, JDK 25, NVMe); the full million-trade × 50-date run is for a server and has not been run (a million-trade run once took the workstation down).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Arithmetic and bases (all decimal GB; scale factor 2,300,000 / 100,000 = 23). Vectors: 2,300,000 × 509 × 8 bytes = 9,365,600,000 B = 9.37 GB per date per currency in float64; float32 halves it to 4.68 GB. Hot file: VarTierBenchmark measured 237.7 MB per date for 100,000 trades (203.6 MB of float32 rows plus aggregates of 2,100 books and nodes, columns and ids), × 23 ≈ 5,467 MB ≈ 5.5 GB. Heap: about 80 MB per open date per 100,000 trades measured, × 23 ≈ 1.8 GB; with hot-dates 2 about 3.7 GB. First load: 0.8–1.2 s per 100,000 measured, × 23 ≈ 18–28 s (the sort is n log n, so slightly more than linear), plus the lake read: the guide estimates 10 to 40 s for a cold whole-bank read of about 4 GB of Parquet on one server, so about 18 to 70 s for the 7 GB here. Reopening: 23 ms per 100,000, × 23 ≈ 0.5 s. Whole bank resident: 3.4 ms for 203.6 MB measured (≈ 60 GB/s), so 4.68 GB ≈ 78 ms; cold from NVMe at about 3 GB/s ≈ 1.6 s (the guide's own basis). A node: 0.48 ms measured, independent of size.</a:t>
            </a:r>
          </a:p>
          <a:p/>
          <a:p>
            <a:r>
              <a:t>Currencies built ahead (VAR_GUIDE 15.11, measured on the demo lake 2026-10-27): 21.4 MB a currency a date for 8,566 trades; the guide's linear extrapolation is 250 MB a currency per 100,000 trades, 1.0 GB for four, 5.0 GB for the 5 retained dates, and about 4.3 s to build the four in the background. × 23: ≈ 5.75 GB a currency, ≈ 23 GB a date for four, ≈ 115 GB for the five retained dates, ≈ 99 s background build. USD hot files: disk-dates 60 × ≈ 5.5 GB ≈ 330 GB of local disk (lower disk-dates to need less). Lake: Parquet ≈ 0.75 × raw (the design's estimate): 9.37 GB × 0.75 ≈ 7.0 GB a date, × 252 business dates ≈ 1.8 TB a year, ≈ 12.4 TB for the 7 years kept.</a:t>
            </a:r>
          </a:p>
          <a:p/>
          <a:p>
            <a:r>
              <a:t>15,000 portfolios: the cost of computing every portfolio's vector is the sum over portfolios of their position counts × 509. The average size is not known: 130 positions per portfolio is an assumption (it roughly matches 2.3M positions each sitting in about one portfolio, and the same assumption as the companion deck): 15,000 × 130 = 1.95 million row reads, 1.95M × 2,036 B ≈ 3.97 GB of float32 rows. Sequential reads at the measured 60 GB/s give ≈ 0.07 s; scattered reads at the design's 5 GB/s effective give ≈ 0.8 s; both per currency, both estimated. Roll-ups save most of it: a HIERARCHY portfolio is a node, answered from its aggregate; a portfolio covering whole books costs one addition per book; the planner takes a node's aggregate minus the missing rows when at most max(16, covered/8) are missing (built). Sharing sub-sums across portfolios (sum each book or common sleeve once and reuse it) beyond the hierarchy aggregates is a proposal. Storing every portfolio vector: 15,000 × 509 × 8 B ≈ 61 MB a date a currency, ≈ 305 MB for five currencies, about 31 MB a currency in float32 (proposed; today only captures keep a vector). 15,000 portfolio rows are within the loader's 100,000-row read limit for a connector that cannot list a date whole.</a:t>
            </a:r>
          </a:p>
          <a:p/>
          <a:p>
            <a:r>
              <a:t>Per-trade-currency totals: each node keeps, per trade currency, the 509 scenario PV sums and today's sum (510 float64 = 4 KB). Nodes now span three trees: an assumed 5,000 MGMT and LEGAL nodes plus about 700 limit letters (≈ 5,700 nodes) × 10 trade currencies on average × 4,080 B ≈ 233 MB, independent of the position count. A headline in any currency is then a sum over the node's trade currencies of 509 multiply-adds: microseconds.</a:t>
            </a:r>
          </a:p>
          <a:p/>
          <a:p>
            <a:r>
              <a:t>Intraday per changed trade or position, in a four-level tree: its book aggregate and the nodes above it in MGMT and LEGAL (about 9 vectors, plus about 2 for its limit letter and that tree's root: ≈ 11), in USD and the 4 built currencies (≈ 55 vector additions of 509 numbers, plus the trade-currency totals): microseconds. The measured cost of a batch is dominated by the lake (its 1-second refresh in VarIntradayApiTest); with tiered memory the old row is read back from the lake by its id for an exact subtraction.</a:t>
            </a:r>
          </a:p>
          <a:p/>
          <a:p>
            <a:r>
              <a:t>Position grain: if the bank sends 2.3M positions, rows equal positions, so no trade matrix (TMAT) is needed and the vector count is bounded by positions, not trades.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10-day VaR and stressed VaR ship in release 2.9.6. This slide sizes what they add for a large bank: e.g. 2.3M positions, 15,000 portfolios, about 700 limit letters (509 scenarios, five reporting currencies, 7 years). The methods are ASSUMPTIONS for the bank to confirm.</a:t>
            </a:r>
          </a:p>
          <a:p/>
          <a:p>
            <a:r>
              <a:t>10-day VaR. (a) Square-root-of-time: 10-day VaR = √10 × 1-day VaR; no extra data or memory. (b) Overlapping 10-day historical returns: each position gets a second vector of 10-day P&amp;L over the window; 509 daily scenario dates give 509 − 9 = 500 overlapping 10-day windows; sized as 509 (+1.00× the 1-day), conservative. Whether the 10-day vector is built at load from the daily vectors (exact only for linear positions) or delivered (full revaluation over 10-day moves) is for the bank and 2.9.6 to settle; sized here as delivered and stored.</a:t>
            </a:r>
          </a:p>
          <a:p/>
          <a:p>
            <a:r>
              <a:t>Stressed VaR: a second scenario set over a 12-month stress period (≈250 scenarios, e.g. 2008–09), per position per date: 250 / 509 = 0.49× the 1-day vector, with stressed ES from the same vector. Stressed 10-day: another ≈250: +0.49×. Total width: 509 + 509 + 250 + 250 = 1,518 values a position = 2.98× the 1-day.</a:t>
            </a:r>
          </a:p>
          <a:p/>
          <a:p>
            <a:r>
              <a:t>Per date (decimal GB; scale factor 2,300,000 / 100,000 = 23 on the measured 100,000-trade figures of VAR_GUIDE.md 27.3 and 15.11; none measured at 2.3M): float64 vectors 2.3M × 1,518 × 8 B = 27.93 GB (9.37 GB 1-day only); float32 rows 13.97 GB (4.68 GB); USD hot file 237.7 MB per 100k × 23 = 5.47 GB × 2.98 = 16.30 GB; heap of an open date 1.84 GB (80 MB per 100k × 23), of which aggregates 8.6 MB per 100k × 23 = 0.20 GB grow with the width: 1.84 + 0.20 × 1.98 = 2.23 GB. First open: lake read 18–70 s for 7 GB of Parquet (the guide's 10–40 s for about 4 GB) × 2.98 = 54–209 s; build 0.8–1.2 s per 100k × 23 = 18–28 s × 2.98 = 55–82 s: 2 to 5 minutes in all. Other currencies: 1-day built ahead, 250 MB per 100k × 23 = 5.75 GB a currency a date; the 10-day and stressed sets on first ask, 5.75 × 1.98 = 11.4 GB per currency asked (ASSUMPTION).</a:t>
            </a:r>
          </a:p>
          <a:p/>
          <a:p>
            <a:r>
              <a:t>Per VaR server, need before headroom (next slide): NVMe 16.30 × 60 USD dates = 978 GB + 115 + 45.6 + a load's spill and new file 44.2 GB → 1,183 GB (458 GB 1-day only); RAM 151 GB (76 GB). Lake over 7 years, base: 48.2 TB (16.1 TB), of which vectors 12.39 × 2.98 = 36.95 TB. Option (a): width 509 + 250 = 759, × 1.49; vectors 18.5 TB over 7 years.</a:t>
            </a:r>
          </a:p>
          <a:p/>
          <a:p>
            <a:r>
              <a:t>Computation: a node is its float64 aggregate per measure (0.48 ms MEASURED); a whole-bank sum of a 509-wide set reads 4.68 GB at ≈60 GB/s ≈ 78 ms, a 250-wide stressed set ≈ 38 ms; the four together ≈ 233 ms (ESTIMATED).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Capacity for a large bank: e.g. 2.3M positions, 15,000 portfolios, about 700 limit letters, with 1-day, 10-day and stressed VaR (2.9.6, the conservative method (b)), as the platform stands: one server holds each date's whole VaR. Labels: MEASURED (a Drishti measurement), ESTIMATED (arithmetic on measured figures), ASSUMPTION (for the bank to confirm). Status: BUILT, and DESIGNED only for clustering several servers as one and VaR sharding.</a:t>
            </a:r>
          </a:p>
          <a:p/>
          <a:p>
            <a:r>
              <a:t>HEADROOM (39%): the projected peak may use at most 61% of the provisioned capacity, so provisioned = need ÷ 0.61 ≈ need × 1.64, applied to RAM, heap, NVMe, CPU and the lake. If a bank means need × 1.39 instead, every provisioned figure is about 15% less: RAM 210 GB (still a 256 GB machine), heap 30g, budget 19.4 GB, NVMe 1.64 TB (one 1.9 TB disk), 48 vCPU, lake 67 TB (134 TB with a DR copy).</a:t>
            </a:r>
          </a:p>
          <a:p/>
          <a:p>
            <a:r>
              <a:t>PROCESSES (built; VAR_GUIDE.md 19, 8.4, 28; NET.md 8; LIVE.md). Every VaR server holds whole dates and is sized for all 2.3M positions and all four sets; the four are the same machine so any can take any role. Official EOD: DRISHTI_VAR_OFFICIAL true on it only. Intraday writer: the pv-updates connector (DRISHTI_VAR_PV_STREAM=true) on one node only; every loaded server applies its batches from the lake. UI/API replicas: 2, so one can fail. Consoles: 2 hosts, 4 workers each, sticky sessions and one DRISHTI_SESSION_SECRET; several consoles without sticky sessions is part of the designed multi-instance work.</a:t>
            </a:r>
          </a:p>
          <a:p/>
          <a:p>
            <a:r>
              <a:t>CPU (ESTIMATED): need 32 vCPU (24 threads reached ≈60 GB/s in the measurement; plus 8 for a concurrent load, currency builds, intraday and requests, ASSUMPTION); 32 ÷ 0.61 = 52.5 → 64. Large (2× positions): 48 → 79 → 96.</a:t>
            </a:r>
          </a:p>
          <a:p/>
          <a:p>
            <a:r>
              <a:t>CONSOLES: one worker ≈ 40 pages/s (MEASURED, SCALE_BENCHMARK.md section 8). ASSUMPTION: 200 named users, 50 at once, a page every 10 s, peaks 5× the mean: 25 pages/s; ÷ 0.61 = 41 pages/s against one host's 160; the second host is for failover.</a:t>
            </a:r>
          </a:p>
          <a:p/>
          <a:p>
            <a:r>
              <a:t>MEMORY per VaR server (ESTIMATED). Heap, live: two USD dates with all four sets 2 × 2.23 = 4.46 GB + two other-currency 1-day books 2 × 1.84 = 3.68 (ASSUMPTION) + a load's sort and columns 2 + the rest of the server 4 (ASSUMPTION) = 14.14 GB; × 1.5 for generational ZGC = 21.2 GB need; ÷ 0.61 = 34.8 → -Xmx36g (1-day only: 20.0 GB). Memory budget (drishti.var.memory-budget-mb, the float32 copy of one date): need 13.97 GB → 14,300 MB; ÷ 0.61 → 23,000 MB; the default at -Xmx36g would be 9 GB and refuse the date (503 DRS-5204). Page cache: two USD dates 2 × 16.30 = 32.6 GB + four 1-day currency books 23 GB + two currencies' 10-day and stressed books 2 × 11.4 = 22.8 GB (ASSUMPTION) = 78.4 GB (1-day 33.9). A load: spill 27.93 + new hot file 16.30 = 44.2 GB transient (14.8). OS and native 7 GB. Need 21.2 + 78.4 + 44.2 + 7 = 150.9 GB (1-day 75.8); ÷ 0.61 = 247 → 256 GB; the provisioned bar shows the provisioned heap (36), the same cache and load, and 91 GB of headroom. Local NVMe: 1,183 GB ÷ 0.61 = 1,939 GB → 2 × 1.9 TB = 3.8 TB.</a:t>
            </a:r>
          </a:p>
          <a:p/>
          <a:p>
            <a:r>
              <a:t>LARGE (2× positions, 4.6M, all four sets): heap 36.4 → 60g; RAM 291 → 477 → 512 GB; budget 27.9 GB ÷ 0.61 → 46,000 MB; NVMe 2,366 GB → 3.88 TB → 5.7 TB. Exposure is not sized here.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Storage over 7 years for a large bank: e.g. 2.3M positions, 15,000 portfolios, about 700 limit letters, with 1-day, 10-day and stressed VaR (method (b), conservative), beside the 1-day-only figures (VAR_GUIDE.md 15.1 and LAKE_MAINTENANCE.md: the risk and risk-results domains keep 7 years of business dates and of time travel). 7 × 252 = 1,764 dates. Decimal units. The multiplier 2.98 = 1,518 / 509.</a:t>
            </a:r>
          </a:p>
          <a:p/>
          <a:p>
            <a:r>
              <a:t>P&amp;L vectors (ESTIMATED): 2.3M × 1,518 × 8 B = 27.93 GB a date; × 0.75 (Parquet, the design's estimate) = 20.95 GB; × 1,764 = 36.95 TB (1-day only 12.39 TB). Option (a), √10 scaling: 18.5 TB. Row columns (ASSUMPTION): about 100 B a row of dictionary-encoded terms, each set its own rows: 0.41 × 4 = 1.62 TB. Scenario PVs as well (ASSUMPTION, upper case): +37.0 TB. Trades (ESTIMATED, only if Drishti's trading pack holds them): 1.5 KB a trade a day (SCALE_BENCHMARK.md 8, MEASURED), trades ≈ positions: 6.09 TB. Positions: the official membership record MEASURED at 40.8 B a trade on the demo: 0.17 TB.</a:t>
            </a:r>
          </a:p>
          <a:p/>
          <a:p>
            <a:r>
              <a:t>Official results (ESTIMATED from MEASURED demo files): 27,527 B a node capture + 352 B record + 321 B published row + about 1 KB JSONL ≈ 29.2 KB a node; 5,700 nodes (ASSUMPTION: 5,000 MGMT and LEGAL + 700 limit letters) × 1,764 = 0.29 TB; × 2.98 for the new measures (ASSUMPTION) = 0.88 TB.</a:t>
            </a:r>
          </a:p>
          <a:p/>
          <a:p>
            <a:r>
              <a:t>Intraday (ASSUMPTION): 230,000 positions changed a day (10%), each re-sent with all four sets: 1,518 × 8 B × 0.75 = 9.1 KB a row, 2.09 GB a day; × 1,764 × 2 (compaction rewrites the small files; the removed ones are kept 7 years) = 7.39 TB (2.48 TB 1-day). Restatements (ASSUMPTION): 2% of dates rerun in full: 0.74 TB. Delta checkpoints (ESTIMATED): one a day 0.14 TB × 2.98 = 0.42 TB; one every 10 commits at 120 commits a day 4.9 TB (upper case). Iceberg metadata, if Iceberg is chosen: ≈ 12 GB; the metadata file reaches ≈ 0.2 GB by year 7. Scenario FX: under 1 GB.</a:t>
            </a:r>
          </a:p>
          <a:p/>
          <a:p>
            <a:r>
              <a:t>Totals. Need, base: 36.95 + 1.62 + 7.39 + 0.88 + 0.17 + 0.74 + 0.42 = 48.2 TB (1-day 16.1). Provisioned with 39% headroom: ÷ 0.61 = 79 TB (1-day 26.4); with a DR copy 158 TB. Need, upper: base + PVs 36.95 + trades 6.09 + frequent checkpoints 4.5 = 95.7 TB; ÷ 0.61 = 157 TB; with DR 314 TB.</a:t>
            </a:r>
          </a:p>
          <a:p/>
          <a:p>
            <a:r>
              <a:t>Local NVMe per VaR server (ESTIMATED): USD hot files 16.30 GB × tier.disk-dates 60 = 978 GB; four 1-day currency books 23 GB × 5 retained dates = 115 GB; the 10-day and stressed books of four currencies asked on today 45.6 GB (ASSUMPTION); a load 44.2 GB: 1,183 GB need; ÷ 0.61 = 1,939 GB → 2 × 1.9 TB. Rebuilt from the lake, so local NVMe, not EFS.</a:t>
            </a:r>
          </a:p>
          <a:p/>
          <a:p>
            <a:r>
              <a:t>250-day window (drishti.var.scenario-window 250, built): rows cut to the newest 250 at load: 1,000 / 1,518 = 0.66 of everything per date: float32 9.2 GB, NVMe ≈ 780 GB. The lake keeps what the bank sends: 24.3 TB of vectors only if it sends 250-day sets.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hardware plan to hand to infrastructure, for 1-day, 10-day and stressed VaR (2.9.6; method (b), the conservative case) for a large bank: e.g. 2.3M positions, 15,000 portfolios, about 700 limit letters, with 39% headroom. Every figure ESTIMATED (or ASSUMPTION where marked); the arithmetic is in the notes of the three previous slides. Headroom: the projected peak uses at most 61% of the provisioned capacity, provisioned = need ÷ 0.61 (× 1.64).</a:t>
            </a:r>
          </a:p>
          <a:p/>
          <a:p>
            <a:r>
              <a:t>VaR servers: 4, identical, so any can take any role (official EOD, intraday writer, two UI/API replicas); each holds whole dates and is sized for all 2.3M positions and all four sets. vCPU 32 need → 64; RAM 151 GB need → 247 → 256 GB; heap 21.2 GB need → 34.8 → -Xmx36g with generational ZGC and MALLOC_ARENA_MAX=2; drishti.var.memory-budget-mb (DRISHTI_VAR_MEMORY_MB) 14,300 → 23,000 MB; local NVMe for drishti.var.tier.dir 1,183 GB → 1,939 GB → 2 × 1.9 TB. Large (2× positions): 5 servers (adding a history and backtest node so the UI replicas keep today resident), 96 vCPU, 512 GB, -Xmx60g, 46,000 MB, 5.7 TB NVMe.</a:t>
            </a:r>
          </a:p>
          <a:p/>
          <a:p>
            <a:r>
              <a:t>Consoles: 2 hosts, 4 vCPU and 8 GB, 4 workers: the assumed peak of 25 pages/s ÷ 0.61 = 41 pages/s against 160 per host (40 a worker, MEASURED). Lake: need 48.2 TB base over 7 years → ÷ 0.61 = 79 TB → 158 TB with a DR copy; upper 95.7 → 157 → 314 TB. Shared state on EFS or NFS: ≈ 300 GB ÷ 0.61 ≈ 0.5 TB.</a:t>
            </a:r>
          </a:p>
          <a:p/>
          <a:p>
            <a:r>
              <a:t>Network (ESTIMATED): a date's first open reads 27.93 GB × 0.75 = 20.9 GB of Parquet; decoding, not the network, limits it (0.1–0.4 GB/s on one server: 54–209 s); 0.4 GB/s = 3.2 Gbit/s ÷ 0.61 = 5.2 Gbit/s, so 10 Gbit/s at least. Intraday: 2.09 GB a day in about 120 windows = 17.5 MB a window; about 35 MB per server per 5 minutes, under 1 MB/s.</a:t>
            </a:r>
          </a:p>
          <a:p/>
          <a:p>
            <a:r>
              <a:t>Kafka (ASSUMPTION): a record of 1,518 numbers as JSON ≈ 12–24 KB (the guide: 4–8 KB for 509); 230,000 × 24 KB = 5.5 GB a day; kept 7 days = 38.6 GB; ÷ 0.61 → 64 GB per replica.</a:t>
            </a:r>
          </a:p>
          <a:p/>
          <a:p>
            <a:r>
              <a:t>Example instances, to price and confirm: m6id.16xlarge (64 vCPU, 256 GiB, 2 × 1,900 GB NVMe instance store, up to 25 Gbit/s); r6id.24xlarge (96 vCPU, 768 GiB, 4 × 1,425 GB NVMe) for the large size. Instance store is lost when the instance stops: acceptable for hot files, which are rebuilt from the lake. Fargate suits the consoles, not a VaR server. On premises: two-socket servers, 2 × 16 cores, 256 GB with every memory channel populated (bandwidth decides the sums), 2 × 1.92 TB NVMe, 25 GbE; an S3-compatible object store for the lake.</a:t>
            </a:r>
          </a:p>
          <a:p/>
          <a:p>
            <a:r>
              <a:t>One server per date: per million positions the provisioned RAM is about (151 − 13 fixed) / 2.3 ÷ 0.61 ≈ 98 GB, so a 512 GB machine reaches its limit near 5M positions; the time to open a date also grows (2–5 minutes at 2.3M, 4–10 at 5M). Beyond about 5M positions VaR sharding (DESIGNED, VAR_GUIDE.md 28) is needed.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 designed, proposed. Sources: VAR_GUIDE.md section 15.1 (partitioned by business_date only; 7-year log and file retention, time travel; 'Design differs': the sort by legal entity, desk, book and position, the partition by scenario set, 512 MB files, BYTE_STREAM_SPLIT and ZSTD are described in the guide as a design, not in the code: shown here as PROPOSED, since only cluster scale-out and sharding carry DESIGNED; open question 7), section 29 (the vector grain, the four layouts compared: list&lt;double&gt; chosen; a fixed-length binary blob rejected for interoperability; deletion vectors avoided; the append-only daily snapshot), section 29.3 (in 2.9.4 only the Delta plugin implemented SourcePlugin.vectors(); 2.9.5 built it in the Iceberg plugin, so VaR, intraday and exposure read an Iceberg risk lake, equal to Delta to the cent: VarFormatEqualityTest, ExposureFormatEqualityTest), section 30 (cubes and rule-portfolio vectors designed, kept in memory; the overnight precomputation not built), section 19 ('No vectors and no trade or position rows are published'; since 2.9.5 the official tables go to Delta or Iceberg under a folder or an s3:// root, each Delta commit on S3 an exclusive create, OfficialS3Test), section 28 (sharding: the mechanism is not in place; each server holds whole dates; the plan: shard map by legal entity and desk with two owners each, POST /api/v1/var/partial, partial float64 vectors added in a fixed order), section 20.3 (only the first 100,000 hierarchy nodes or portfolios are read from a connector that cannot list a date whole), section 8.4 (intraday appends); LAKE_MAINTENANCE.md (compaction, checkpoint, vacuum; never below 7 years for risk domains); DELTA_CONNECTOR.md (file statistics kept on the id, the date and promoted columns via delta.dataSkippingStatsColumns; OPTIMIZE ZORDER or liquid clustering mentioned only as a Databricks option); the AWS deck and AWS_DELTA_LAKE.md (reading Delta in S3 built; lake publish built; AWS scripts dry-run tested, first real run pending); NET.md (Drishti*net: gossip membership, capability digest, replicas and shards for entity reads, view and data forwarding, the console's backend.urls with discovery and failover, one token secret across nodes); LIVE.md and IMPLEMENTATION_PLAN.md known gaps (the workers of one console relay a channel's calls to the worker that holds it; several console processes behind a load balancer need sticky sessions); CONFIGURATION.md (DRISHTI_SESSION_SECRET).</a:t>
            </a:r>
          </a:p>
          <a:p/>
          <a:p>
            <a:r>
              <a:t>What is built for scale-out today: several servers form one cluster; each server that reads the risk lake loads whole dates and answers VaR on its own (a console session stays on one server, falls over to another, and returns); several consoles can share the servers with one session secret and sticky sessions at the load balancer.</a:t>
            </a:r>
          </a:p>
          <a:p/>
          <a:p>
            <a:r>
              <a:t>Designed, not built: VaR sharding. Each member would map only its ranges of position rows (a desk never split, two owners each), and a sum over the bank would be a scatter-gather: the coordinator sends each owner its part of the set and adds the partial vectors (509 doubles, 4 KB each). Because vectors add, this is map-reduce over vectors, exact in any order in float64. The hot file already keeps rows contiguous by legal entity and desk, so a shard is a byte range.</a:t>
            </a:r>
          </a:p>
          <a:p/>
          <a:p>
            <a:r>
              <a:t>Proposed by this deck (not in the docs): Z-order or liquid clustering by book and portfolio; a published Delta table of node and portfolio vectors per currency (BI and other servers read sums instead of 2.3M rows); the change data feed on the input tables for downstream followers; one designated node computing the official end-of-day records (drishti.var.official.enabled true there, DRISHTI_VAR_OFFICIAL=false elsewhere) while read replicas serve the UI.</a:t>
            </a:r>
          </a:p>
          <a:p/>
          <a:p>
            <a:r>
              <a:t>The gap list in full: (1) run the 1M × 50 benchmark (and 2.3M × 60) on a real server, including a cold first touch of a history date; (2) build VaR sharding across Drishti*net; (3) the lake layout at bank scale (sort by hierarchy, partition by scenario set, file and row-group sizes, BYTE_STREAM_SPLIT + ZSTD); (4) a batch that builds every portfolio vector (the designed overnight precomputation), 15,000 portfolios are within the 100,000-row read limit; size max-parts (5,000) for contribution tables; (5) several consoles without sticky sessions; (6) the Glue and S3 Tables runs on a real AWS account (the code is built in 2.9.5; not yet run: no AWS account; with 2.9.6). Position grain and Kafka micro-batching (2.9.4), Iceberg for VaR and exposure inputs and official results to Iceberg and S3 (2.9.5) are built and no longer gaps.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ICEBERG_CONNECTOR.md section 7 (how the connector reads: a snapshot's data files planned once from the manifests and grouped by business date, kept per snapshot), section 9 (retention and maintenance: snapshot expiry), section 17 (engines: native and library); DRISHTI_ICEBERG.md (the native engine: Parquet by field id, schema evolution, deletes, time travel); AWS_DELTA_LAKE.md and DELTA_CONNECTOR.md (the Delta log, checkpoints, lake maintain, statistics); VAR_GUIDE.md sections 26-27 (the hot file; a node's VaR in 0.48 ms measured; the whole bank from its float32 rows at about 60 GB/s, so about 80 ms for 4.68 GB at 2.3M positions, estimated). The comparison rows, the 0.2 GB metadata estimate and the release plan are the product owner's. Built in 2.9.5 (CHANGELOG 2.9.5, Iceberg; ICEBERG_CONNECTOR.md section 18): the Iceberg connector answers as the Delta one on the same rows (vector columns read in bulk, documents of a date in one pass, disk caches); VaR, intraday (files and Kafka, one Iceberg append a window) and exposure read an Iceberg risk lake; official results go to Delta or Iceberg under a folder or s3://, and BI's readers follow the format. VarFormatEqualityTest and ExposureFormatEqualityTest prove Delta = Iceberg to the cent (USD and EUR); on the demo data VAR BANK is USD 112,041,646 in both. A real run on the demo data moved 14 risk tables (955,124 rows) into Iceberg in 579 s (MEASURED, demo). 2.9.6: the 2.3M benchmark on both formats, Delta↔Iceberg conversion, Delta in-place schema evolution, and the Glue and S3 Tables runs.</a:t>
            </a:r>
          </a:p>
          <a:p/>
          <a:p>
            <a:r>
              <a:t>Talk track: the format never touches an answer. VaR, ES, contributions and paths come from the date's memory-mapped hot file, built once when the date loads; after that Delta and Iceberg are equally fast because neither is read. The format matters in four places. First load: about the same; both are Parquet read by Drishti's own engines, Iceberg planning from its manifests, Delta replaying its log from the last checkpoint. Intraday: with Kafka micro-batches every 5 minutes a date sees about 120 commits; Delta appends a small JSON log entry per commit and checkpoints, while Iceberg writes a new metadata file per commit, and with 7 years of snapshots kept that file grows (about 0.2 GB by year 7, estimated), so Iceberg needs snapshot expiry and metadata management. History: Iceberg jumps to a snapshot, Delta rebuilds a version from its log and checkpoints, so Iceberg is slightly ahead for heavy time travel and restatements. Other engines: Iceberg has the broader multi-engine support (Athena, Trino, Snowflake, Spark); Delta is strongest with Spark and Databricks. Correctness is identical, proven by the 2.9.5 equality tests to the cent (built in 2.9.5).</a:t>
            </a:r>
          </a:p>
          <a:p/>
          <a:p>
            <a:r>
              <a:t>Recommendation: Delta is the default, especially with Kafka intraday; choose Iceberg where the bank's data platform standardises on it, or where heavy time travel and multi-engine access matter more. Switching is configuration. Nothing here has been measured at 2.3M positions yet: the 2.9.6 benchmark runs on both formats.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DELTA_CONNECTOR.md (the physical table: id, doc with the whole document as JSON, business_date and the promoted columns; a field not promoted lives only inside doc); VAR_GUIDE.md section 15.1 (the same table layout for the risk kinds); ICEBERG_CONNECTOR.md and DRISHTI_ICEBERG.md (schema evolution by field id: add, drop, rename, reorder, int to long, float to double, decimal widening; columns added after a file was written read as null); the product owner's plan for 2.9.6 (Delta: an in-place add of a nullable column, old files reading as empty, with an optional backfill from the documents); the connector upgrades of 2.9.5 (CHANGELOG 2.9.5, Connector upgrades; CONNECTOR_FILES.md, Upgrades): a file Drishti wrote from a pack template carries the template's fingerprint; never edited, it is replaced in full by the new template (the old one kept beside it as .before-upgrade-....bak and in the history); edited, it gains every key the template has at any depth, its values never overwritten, lists keeping their order and gaining the missing items (an edited layout list gains LIMIT_LETTER after its own columns); conflicts are listed in Admin → Connectors → Template updates with Use the pack's value per key. ConnectorUpgradeTest starts a server on release 2.9.4's generated files and proves it.</a:t>
            </a:r>
          </a:p>
          <a:p/>
          <a:p>
            <a:r>
              <a:t>Talk track: three cases. A new field in the source data is the common one and costs nothing: every row keeps its full JSON document, so the field is readable the moment it arrives (by the pages, search and any kind that reads it), and older rows simply do not have it. A new promoted column (a field the engine reads as a column, for speed) is a schema change: Iceberg evolves in place by field id; Delta gains an in-place nullable add in 2.9.6, and until then adding a promoted column to an existing Delta table means rewriting the affected dates. Either way, history is not rewritten: time travel still shows each version as it was, the official records are append-only, and every figure of record can be recomputed from the inputs it was computed from.</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IMPLEMENTATION_PLAN.md, section '2.9.5: Iceberg as a full production alternative to Delta': above the storage plugins Drishti is identical for both (packs, data contracts, connector names, engines, BI, UI, Drishti*net); 2.9.5 adds SourcePlugin.vectors() and the other Delta-only methods to the Iceberg plugin (VaR and exposure load from Iceberg exactly as from Delta), official VaR and exposure results published to Iceberg as well as Delta and to s3:// roots in either format, Iceberg versions of the deploy/aws scripts, the AWS Glue catalog, Iceberg in Admin → Lakes, disk caches, and lake build --format iceberg. VAR_GUIDE.md section 19 (official results published append-only, JSONL beside them), section 15.1 and LAKE_MAINTENANCE.md (never vacuums the risk domains below 7 years), section 12 (tier.dir: hot files on fast local disk); the AWS deck (reading Delta in S3 built; the AWS scripts dry-run tested, first real run pending). The Iceberg connector for other data is drishti-iceberg (Iceberg without Hadoop, 2.6.0).</a:t>
            </a:r>
          </a:p>
          <a:p/>
          <a:p>
            <a:r>
              <a:t>As built in 2.9.5 (CHANGELOG 2.9.5, Iceberg; ICEBERG_CONNECTOR.md sections 18-19; AWS_DEPLOYMENT.md section 22): every item above is built and tested except the live AWS runs. VarFormatEqualityTest and ExposureFormatEqualityTest write the same lines to Delta and to Iceberg and get VaR, ES, component and incremental VaR, limit letters, intraday, EE, PFE and EPE equal to the cent in USD and EUR; on the demo data VAR BANK is USD 112,041,646 on both. Official results: drishti.var.official.format and drishti.ccr.exposure.official.format (delta, the default, or iceberg) with .storage (s3.*); on S3 a Delta commit is an exclusive create (conditional PUT), so two servers publishing at once both land (OfficialSinkTest, OfficialS3Test); BI's readers follow the format by themselves (OfficialReadersTest). Glue (GlueLiveTest via check-glue.sh) and S3 Tables (check-glue.sh --s3-tables) are written but NOT YET RUN: no AWS account; the product owner's run is planned with 2.9.6.</a:t>
            </a:r>
          </a:p>
          <a:p/>
          <a:p>
            <a:r>
              <a:t>Companion decks: Drishti-AWS-Delta-Lake and Drishti-AWS-Iceberg (docs/publications) cover the AWS architecture in detail.</a:t>
            </a:r>
          </a:p>
          <a:p/>
          <a:p>
            <a:r>
              <a:t>Talk track: VaR runs on Delta or Iceberg, on premises or on AWS; since 2.9.5 official results go to a local, EFS or s3:// root in either format. Above the storage plugins it is one product, so deployment option A can be built on Iceberg as fully as on Delta.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Drishti on AWS, generic: an example Region, ca-central-1, chosen only to price the example; the same shape works in any commercial Region. Preferences fitted: ECS container images rather than self-managed EC2, Fargate where possible, S3 for as much as possible, EFS only where essential. Status: everything shown is built (Iceberg and official results to S3 were built in 2.9.5, so option A can be built on an Iceberg lake as fully as on Delta; the Glue and S3 Tables catalogs are written but not yet run on AWS, a 2.9.6 run); only VaR sharding (option C) is DESIGNED, planned for 2.9.6, which is what keeps the VaR servers on EC2 capacity for now. Option B depends on √10 scaling for 10-day VaR, which ships with the 10-day measures in 2.9.6.</a:t>
            </a:r>
          </a:p>
          <a:p/>
          <a:p>
            <a:r>
              <a:t>Fargate limits (AWS documentation, read 2026-10-27): Linux tasks up to 16 vCPU with 32–120 GB, and 32 vCPU with 60, 120 or 244 GB (platform 1.4.0 or later); storage: EBS volumes, EFS volumes and bind mounts. EBS on ECS: one new EBS volume per task, on Fargate, EC2 and ECS Managed Instances; volumes of service tasks are deleted when the task ends, which suits hot files (rebuilt from the lake). gp3: up to 64 TiB, 80,000 IOPS and 2,000 MiB/s per volume.</a:t>
            </a:r>
          </a:p>
          <a:p/>
          <a:p>
            <a:r>
              <a:t>Does a VaR server fit one Fargate task? 1-day only: need 75.8 GB and 32 vCPU; with 39% headroom 124 GB and 52 vCPU: the 32 vCPU/244 GB task holds the memory (31%) but CPU keeps the headroom only if the peak is at most 19.5 vCPU busy. Full case (10-day by overlapping returns and stressed): need 151 GB → 62% of 244, over the 61% rule, and CPU short: it does not fit. Option B, √10 scaling for 10-day: width 759 (× 1.49): need 94 GB, ÷ 0.61 = 155 GB: fits on memory. Option C, sharded: 8 shards of ≈ 290,000 positions; per shard (151 − 6 − 7) ÷ 8 + 6 + 3 = 26 GB, ÷ 0.61 = 43 GB → an 8 vCPU, 44 GB task; 250 GB gp3 each.</a:t>
            </a:r>
          </a:p>
          <a:p/>
          <a:p>
            <a:r>
              <a:t>Where each thing lives. S3 (gateway endpoint, no NAT charges): the lake (Delta by default, or Iceberg, built in 2.9.5), the official results (Delta or Iceberg with JSONL beside, to s3:// roots, built in 2.9.5; each Delta commit an exclusive create), the content store (S3 backend, built), the JSONL landing, backups, and the DR copy by Cross-Region Replication. EBS gp3, one per VaR task: hot files and caches, 0.8–2 TB, 16,000 IOPS, 2,000 MiB/s. EFS, small (≈ 0.3–0.5 TB as built): config and connector files, Sutras, each node's data folder (users, governance, BI store, reports); it cannot be avoided entirely as built. Kafka: Amazon MSK (3 × m7g.large) or the bank's own. Edge: ALB (HTTPS, sticky sessions), NAT, Secrets Manager, KMS, CloudWatch, IAM task roles; Cloud Map for Drishti*net names.</a:t>
            </a:r>
          </a:p>
          <a:p/>
          <a:p>
            <a:r>
              <a:t>The VaR servers: four ECS tasks on EC2 capacity (an Auto Scaling group capacity provider, m7i.16xlarge for the full case, c7i.16xlarge for 1-day only) or ECS Managed Instances, over two Availability Zones: the official end-of-day writer, the intraday writer (reads Kafka, writes one lake batch per 5-minute window), and two UI/API replicas.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 cost estimate for a large bank (e.g. 2.3M positions, 15,000 portfolios, about 700 limit letters) in an example Region, ca-central-1, 24 × 7, 730 hours a month, on the recommended architecture (Fargate for the consoles and lake tasks; the four VaR servers on ECS with EC2 capacity until sharding; S3 for the lake, results and content store; a small EFS). Two cases, both sized with the 39% headroom: 1-day VaR only, and the full case with 10-day (overlapping returns) and stressed VaR (2.9.6). Every quantity ESTIMATED from the capacity slides; every unit price an ASSUMPTION: AWS's public on-demand prices for ca-central-1, read on 2026-10-27 from the AWS Price List bulk files, and the Compute Savings Plans file of the same date. Verify in the AWS Pricing Calculator before quoting; taxes and support plans excluded.</a:t>
            </a:r>
          </a:p>
          <a:p/>
          <a:p>
            <a:r>
              <a:t>Unit prices (ASSUMPTION, USD): Fargate Linux/x86 $0.04456 per vCPU-hour, $0.004865 per GB-hour; EC2 m7i.16xlarge (64 vCPU, 256 GiB) $3.5952 an hour, c7i.16xlarge (64 vCPU, 128 GiB) $3.1248; ECS Managed Instances fee m7i.16xlarge $0.431424, c7i.16xlarge $0.374976 an hour; EBS gp3 $0.088 per GB-month, $0.0055 per IOPS-month above 3,000, $0.044 per MiB/s-month above 125; S3 Standard $0.025 per GB-month, Standard-IA $0.0138; inter-Region transfer $0.02 per GB; EFS $0.33 per GB-month; MSK kafka.m7g.large $0.2275 per broker-hour, storage $0.11 per GB-month; ALB $0.02475 an hour, $0.0088 per LCU-hour; NAT $0.05 an hour and per GB; interface endpoint $0.011 an hour per AZ; inter-AZ $0.01 per GB each way; internet out $0.09 per GB; CloudWatch logs $0.55 per GB ingested, $0.033 per GB-month, $0.30 per metric-month; Secrets Manager $0.40 per secret-month. Compute Savings Plans, no upfront: 1 year −26.9% on EC2, −20.0% on Fargate; 3 years −49.5% and −45.0% (applied to EC2 and Fargate only).</a:t>
            </a:r>
          </a:p>
          <a:p/>
          <a:p>
            <a:r>
              <a:t>Quantities (ESTIMATED): VaR servers 4 × c7i.16xlarge (1-day) or m7i.16xlarge (full) × 730 h; EBS gp3 per task 800 GB (1-day) or 2,000 GB (full), 16,000 IOPS, 2,000 MiB/s; consoles 2 × (4 vCPU, 8 GB); lake loads and maintenance 2 hours a day of an 8 vCPU, 32 GB Fargate task (ASSUMPTION); S3: the lake grows by 2.3 TB (1-day) or 6.9 TB (full) a year, the newest year in Standard and older dates in Standard-IA (ASSUMPTION: a lifecycle rule); DR: the same storage in a second Region plus replication transfer; EFS 500 GB plus backup; MSK 3 brokers (the bank's own Kafka: $0); ALB; NAT and 6 interface endpoints in 2 AZs; 1 TB a month between AZs and 0.8 TB of pages out; CloudWatch 270 GB of logs a month.</a:t>
            </a:r>
          </a:p>
          <a:p/>
          <a:p>
            <a:r>
              <a:t>Totals, year 7 on-demand: 1-day $12,119 a month ($145,428 a year); full $14,910 a month ($178,914 a year). Year 1: $11,738 and $13,770 a month. With a 1-year Compute Savings Plan: $9,596 and $12,017; 3-year: $7,443 and $9,553.</a:t>
            </a:r>
          </a:p>
          <a:p/>
          <a:p>
            <a:r>
              <a:t>The VaR tier (servers and EBS only; the rest of the bill is the same): A, 4 × m7i.16xlarge with 2 TB gp3 each: $11,818 a month, 3-year $6,618. B, √10 scaling on 4 Fargate tasks of 32 vCPU · 244 GB ($2.61 an hour each) with 1.1 TB gp3: $8,633, 3-year $5,200; not like for like (it drops the stored 10-day vectors). C, sharded on Fargate (DESIGNED, 2.9.6): 8 shards × 2 replicas of 8 vCPU · 44 GB plus a 2 vCPU intraday task, 250 GB gp3 each: 24 × 7 $7,373; with second replicas only in business hours (12 h × 22 days, ASSUMPTION) $5,050, 3-year $2,966, and with second replicas on Fargate Spot (ASSUMPTION: 60% off) $2,785. One full copy: C $3,640 against A $2,954 (Fargate is ≈ 14% dearer per resource and each task carries its own JVM); C saves by needing 2 copies rather than A's 4, scaling in off-hours, Spot, and right-sizing. Recommendation (PROPOSED): A until sharding ships; C from 2.9.6.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15.8 (cadence: once per business date after the close; the sequence: scenario set, vectors, hierarchy and portfolios, then POST /api/v1/packs/market-risk/loads; a ready load drops the date and captures it officially in the background; at start the server captures the newest date without a record; at most hot-dates (2) stay loaded), section 20.3 (what the load checks), section 15.11 (currencies built ahead in the background), section 19 (official end-of-day captures of every node; published append-only with JSONL beside; publishError recorded when a publish fails), section 8.4 (intraday: the official records are the morning run's), 'Intraday updates from Kafka, as built' (GET /api/v1/var/intraday/streams; POST …/apply and the connector's Apply now button), section 11.4 (GET /status fields), section 11.2 (provenance), section 9 (Admin → Audit), section 3.2 (limit bars), section 7 (the backtest light).</a:t>
            </a:r>
          </a:p>
          <a:p/>
          <a:p>
            <a:r>
              <a:t>Not built and open: the batch's due time is 'to be agreed' (open question 4); completeness of the batch against the trades booked is not checked (planned, section 20.3).</a:t>
            </a:r>
          </a:p>
          <a:p/>
          <a:p>
            <a:r>
              <a:t>Talk track: the day starts with the full run of the business date, priced after the close. The load signal makes the engine load the date and take the official record of every node, which is published for BI and other systems. During the day only changed trades arrive and are applied on top; the official record is never restated by intraday updates. A restatement is a new full run of the date, which produces the next result version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13 (troubleshooting: every row of this table, with the message the user sees), section 20.2 (errors the engine answers: DRS-5202 422, DRS-5203 the date before answered with a warning, DRS-5204 503 capacity), section 20.3 (rows refused and listed in provenance.rejections, never padded; DRS-5201 length, null, NaN, failed rows, currency, valuation dates; DRS-5206 a scenario PV that failed; DRS-5207 no scenario FX), section 15.13 (DRS-5208 record fields, DRS-5209 against the pin, DRS-5210 a second form or grain), section 15.8 (restatement: rewrite the whole date, RESTATEMENT + 1, a new BATCH_ID; the signal reloads the date; the official capture is taken again with the next result version, the earlier kept), section 19 (a publish that fails is recorded as publishError and logged; the capture stands; administrators can capture again with POST /official or drishti.py var official --capture), section 26 (a damaged or old-format hot file: the date is read from the lake and the file rebuilt), 'Intraday updates from Kafka' (replaying the topic after a restart writes nothing twice).</a:t>
            </a:r>
          </a:p>
          <a:p/>
          <a:p>
            <a:r>
              <a:t>Talk track: the fix is always at the source, followed by a restatement of the whole date and the load signal; the new official record gets the next result version, and the old one is kept. The runbook steps are this deck's summary of the guide's troubleshooting.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11.2 (provenance: inputs, batchIds, positionRules, membershipHash, engine), section 4 and 15.6 (each official capture records the membership and the rules' text and digest), section 19 (append-only official records, result versions, 7 years, 'each can be recomputed from its inputs (the same vectors, the same engine version) at any later date'), section 15.1 and LAKE_MAINTENANCE.md (7 years of time travel), section 26.6 (a node's figures are the lake's to the bit; any other scope within 2^-24 of the gross P&amp;L), section 18.3 (components add up to VaR exactly), sections 7 and 18.4 (backtesting: exception = a loss larger than the VaR tested against; official mode and replay mode; the FX desk replayed: 3 exceptions in 249 days, green, Kupiec p 0.753, Christoffersen p 0.786; the bank replayed: 5 exceptions, amber, Kupiec p 0.160, Christoffersen p 0.076; HYPO_PNL is the node's P&amp;L under the newest scenario day, and a bank delivering its own hypothetical P&amp;L table replaces it, planned; short histories scale the light's limits), section 12 (the backtest stays at 99% whatever the configured VaR confidence), section 18.4 (not built: ES backtests).</a:t>
            </a:r>
          </a:p>
          <a:p/>
          <a:p>
            <a:r>
              <a:t>What the backtesting lines mean: Basel traffic light: breaches in 250 days at 99%: 0–4 green, 5–9 amber, 10+ red. Kupiec test (Paul Kupiec, 1995): is the number of VaR breaches (losses bigger than VaR) consistent with 99%, about 2–3 in 250 days? Christoffersen test (Peter Christoffersen, 1998): do breaches cluster together, a sign the model reacts too slowly when markets turn? Both are standard statistical tests named after the researchers who published them. Drishti reports their p-values.</a:t>
            </a:r>
          </a:p>
          <a:p/>
          <a:p>
            <a:r>
              <a:t>The demo figures are from Drishti's synthetic test data.</a:t>
            </a:r>
          </a:p>
          <a:p/>
          <a:p>
            <a:r>
              <a:t>Talk track: model risk asks two questions: can you reproduce the number, and does the model work? For the first, every answer carries what it was built from, and the official records are append-only and kept seven years. For the second, every node with an official history is backtested each day against the Basel traffic light at 99%, with the Kupiec and Christoffersen tests.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15.12 (tools/pvgen/check.py: recomputes from the files what the engine should show and compares the bank's and every desk's VaR and ES with GET /api/v1/var/scope; exit 1 on a difference); section 18.3 (component VaR and component ES add up exactly); section 9 (entitlements: drishti.var.access per role and node, positions or aggregate; a scope is computed over the trades the viewer may see and the rest counted as hidden; masks; answers cached per date, data version, view and scope; tokens need risk:write for baskets and captures; reloads and official captures for administrators only; every headline, capture, basket change, reload and official run is an audit entry; official numbers kept 7 years; the per-node levels are kept in Drishti, not read from the bank's entitlement system, decided), section 12 (settings in application.yaml; GET /api/v1/var/status shows the effective values), section 15.13 (the pins are read at start: a change applies after a restart, from the next date loaded).</a:t>
            </a:r>
          </a:p>
          <a:p/>
          <a:p>
            <a:r>
              <a:t>The checker is part of the stand-in pricing system (tools/pvgen); at a bank an equivalent independent job would recompute from the files its systems send. That use, and the change-control practice, are this deck's recommendations (PROPOSED).</a:t>
            </a:r>
          </a:p>
          <a:p/>
          <a:p>
            <a:r>
              <a:t>Talk track: four controls a model risk function will ask for: an independent recomputation from the very files delivered; entitlements that never leak a position to someone entitled to aggregates only; a complete audit trail; and change control, where every method setting is configuration, visible in the status, and every answer is labelled with the settings it was computed with.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19 (official end-of-day captures of every node of every hierarchy, as the server; one capture at a time; unchanged inputs not captured again; restatements get the next result version, the earlier kept; published append-only with delta.appendOnly and 7 years of log and removed files; no vectors published), section 4 and 15.6 (each official capture records the membership and the rules' text and digest, so a figure can be recomputed later), section 11.2 (provenance: inputs, batchIds, positionRules, membershipHash, engine), section 6 (captures keep the vector), section 15.1 and open question 10 (7 years), section 9 (entitlements and audit), section 31 (open items: what-if pricing via QLRisk; intraday from write-backs; sharding and the full benchmark; the lake layout; several scenario sets and SVAR-250; age-weighted and filtered methods; 10-day and stressed VaR (2.9.6 per the product owner); ES backtests; a bank's own hypothetical P&amp;L; the batch's due time and completeness; risk-position grouping; cubes and the overnight precomputation; the common risk lake); DATA_FORMATS.md (official results also as JSONL); the 2.9.4 release (everything new in it built); CHANGELOG 2.9.5 (everything new in it built: the hierarchies configured by columns with the limit letters, the var-limit feed and the hierarchy picker, a missing level column skipping only that hierarchy with a DRS-5211 warning, split positions counted, official records for every hierarchy, exposure too; PNL- ids; Iceberg as a full alternative to Delta for VaR, intraday from files and Kafka, and exposure; official results to Delta or Iceberg, folder or S3, with BI's readers following the format; lake build, maintenance and the deploy/aws/iceberg scripts; airtight connector upgrades; one download button per panel).</a:t>
            </a:r>
          </a:p>
          <a:p/>
          <a:p>
            <a:r>
              <a:t>Next (the product owner's 2.9.6 scope): 10-day and stressed VaR; sharding; editions; the 2.3M benchmark; Delta in-place schema evolution; Delta↔Iceberg conversion; the Glue and S3 Tables runs (the code is built; not yet run, no AWS account). Only cluster scale-out and sharding are DESIGNED.</a:t>
            </a:r>
          </a:p>
          <a:p/>
          <a:p>
            <a:r>
              <a:t>Talk track: an official number is never a screen value someone remembered: it is a record in the content store and a row in an append-only Delta table, stamped with the versions of every input and the position rules it was built with. Intraday updates never restate it. A restated batch produces a new result version and keeps the old one, so 'what did we report on that day' and 'what is the corrected number' are both answerable for seven years.</a:t>
            </a:r>
          </a:p>
          <a:p/>
          <a:p>
            <a:r>
              <a:t>Roadmap: only items stated in the docs are listed. Scope words GROUP: and NSET: are parked by the product owner (fundamentals and VaR only). No dates are given for the planned items in the docs.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proposed plan (PROPOSED): generic, with no dates and nothing assumed about a bank's organisation beyond the illustrative volumes. Phase 0, prepare: Delta or Iceberg (Iceberg a full alternative, built in 2.9.5); settings (window, confidence, currencies, root name; VAR_GUIDE.md section 12) and entitlements per role and node (section 9) agreed; the million-trade × 50-date benchmark has not been run on a server, so running it (and 2.3M) on the target hardware comes first (section 27; the 2.3M benchmark is planned for 2.9.6). Phase 1, pilot desk: onboarding by the checklist; daily full runs; official records every day (section 19). Phase 2, a legal entity: the LEGAL hierarchy and its limits (section 15.4), intraday from files or Kafka (section 8.4); the official history starts the official-mode backtest (section 7). Phase 3, the bank: every system; ≈15,000 portfolios and ≈700 limit letters (a hierarchy configured by columns, built in 2.9.5, with the var-limit feed); currencies built ahead; BI's Market risk: VaR report reads var-official. If one server is not enough, VaR scale-out across a cluster is designed (section 28). Cutover: sign-off, after which Drishti's official records are the numbers of record.</a:t>
            </a:r>
          </a:p>
          <a:p/>
          <a:p>
            <a:r>
              <a:t>Reconciliation: risk-results/var-official has one row per node per date and result version with VAR, ES, CONFIDENCE, ES_CONFIDENCE, SCENARIO_SET_ID, TRADE_COUNT and POSITION_COUNT (section 19), which a reconciliation job can read beside the existing figures. Causes of difference: refused, excluded and unknown ids in the provenance (sections 20.3, 11.2); the window, confidence and rank rule (section 18.1); scenario FX against today's rate (section 15.10: the demo bank's EUR VaR is 111.8 million against 95.4 million at today's rate); membership (section 5.3); and the model itself. The guide's own reconciliation of a retired stored figure (section 21.2) found a different model, different trades and a different date: explain each difference by its cause rather than fit a factor.</a:t>
            </a:r>
          </a:p>
          <a:p/>
          <a:p>
            <a:r>
              <a:t>The sign-off criteria are this deck's proposal, for the bank's model risk and risk management functions to set.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Definitions from VAR_GUIDE.md: sections 1 and 2 (VaR, ES, the measures), 17 and 18 (conventions, ranks: k = ceil(N(1 − α)): 6th worst of 509 at 99%, 13 worst at 97.5%; component, incremental and marginal VaR per million of market value or PV; diversification), 15.3 (the scenario set HS-509), 15.9 (scenario PVs and scenario FX), 15.13 (form and grain), 5 (scopes, portfolios: HIERARCHY, RULE and BASKET), 4 and 15.6 (positions derived by the pack's rules, or supplied whole at position grain), 15.10 and 15.11 (reporting currency; five built ahead), 26 (the hot file), 19 (official records and result versions), 11.2 (provenance), 7 (exceptions). Limit letters: a hierarchy configured by columns (built in 2.9.5, section 15.14). Headroom: this deck's capacity convention (39%: the peak uses at most 61% of what is provisioned).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Questions.</a:t>
            </a:r>
          </a:p>
          <a:p/>
          <a:p>
            <a:r>
              <a:t>Where to read more: docs/guides/VAR_GUIDE.md (the complete guide: Part I using VaR, Part II the data contract, Part III how the engine stores data), docs/tutorials/25-var-from-the-bank-to-a-trade.md (twelve hands-on steps), and the Market risk Knowledge page (docs/knowledge/market-risk.md).</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66928"/>
            <a:ext cx="274320" cy="54864"/>
          </a:xfrm>
          <a:prstGeom prst="rect">
            <a:avLst/>
          </a:prstGeom>
          <a:solidFill>
            <a:srgbClr val="A51C30"/>
          </a:solidFill>
          <a:ln/>
        </p:spPr>
      </p:sp>
      <p:sp>
        <p:nvSpPr>
          <p:cNvPr id="3" name="Shape 1"/>
          <p:cNvSpPr/>
          <p:nvPr/>
        </p:nvSpPr>
        <p:spPr>
          <a:xfrm>
            <a:off x="777240" y="6355080"/>
            <a:ext cx="10634472" cy="9144"/>
          </a:xfrm>
          <a:prstGeom prst="rect">
            <a:avLst/>
          </a:prstGeom>
          <a:solidFill>
            <a:srgbClr val="E3DED7"/>
          </a:solidFill>
          <a:ln/>
        </p:spPr>
      </p:sp>
      <p:sp>
        <p:nvSpPr>
          <p:cNvPr id="4" name="Text 2"/>
          <p:cNvSpPr/>
          <p:nvPr/>
        </p:nvSpPr>
        <p:spPr>
          <a:xfrm>
            <a:off x="777240" y="6437376"/>
            <a:ext cx="7443216" cy="219456"/>
          </a:xfrm>
          <a:prstGeom prst="rect">
            <a:avLst/>
          </a:prstGeom>
          <a:noFill/>
          <a:ln/>
        </p:spPr>
        <p:txBody>
          <a:bodyPr wrap="square" lIns="0" tIns="0" rIns="0" bIns="0" rtlCol="0" anchor="ctr"/>
          <a:lstStyle/>
          <a:p>
            <a:pPr indent="0" marL="0">
              <a:buNone/>
            </a:pPr>
            <a:r>
              <a:rPr lang="en-US" sz="850" dirty="0">
                <a:solidFill>
                  <a:srgbClr val="61666E"/>
                </a:solidFill>
              </a:rPr>
              <a:t>Drishti • Ashutosh Sinha</a:t>
            </a:r>
            <a:endParaRPr lang="en-US" sz="850" dirty="0"/>
          </a:p>
        </p:txBody>
      </p:sp>
      <p:sp>
        <p:nvSpPr>
          <p:cNvPr id="5" name="Text 3"/>
          <p:cNvSpPr/>
          <p:nvPr>
            <p:ph idx="103" type="body" hasCustomPrompt="1"/>
          </p:nvPr>
        </p:nvSpPr>
        <p:spPr>
          <a:xfrm>
            <a:off x="777240" y="457200"/>
            <a:ext cx="10634472" cy="237744"/>
          </a:xfrm>
          <a:prstGeom prst="rect">
            <a:avLst/>
          </a:prstGeom>
          <a:noFill/>
          <a:ln/>
        </p:spPr>
        <p:txBody>
          <a:bodyPr wrap="square" rtlCol="0"/>
          <a:lstStyle>
            <a:lvl1pPr algn="l" indent="0" marL="0">
              <a:buNone/>
              <a:defRPr lang="en-US" sz="1050" b="1" spc="100" kern="0" dirty="0">
                <a:solidFill>
                  <a:srgbClr val="A51C30"/>
                </a:solidFill>
              </a:defRPr>
            </a:lvl1pPr>
          </a:lstStyle>
          <a:p>
            <a:pPr algn="l" indent="0" marL="0">
              <a:buNone/>
            </a:pPr>
            <a:endParaRPr lang="en-US" sz="1050" dirty="0"/>
          </a:p>
        </p:txBody>
      </p:sp>
      <p:sp>
        <p:nvSpPr>
          <p:cNvPr id="6" name="Text 3"/>
          <p:cNvSpPr/>
          <p:nvPr>
            <p:ph idx="104" type="title" hasCustomPrompt="1"/>
          </p:nvPr>
        </p:nvSpPr>
        <p:spPr>
          <a:xfrm>
            <a:off x="777240" y="731520"/>
            <a:ext cx="10634472" cy="502920"/>
          </a:xfrm>
          <a:prstGeom prst="rect">
            <a:avLst/>
          </a:prstGeom>
          <a:noFill/>
          <a:ln/>
        </p:spPr>
        <p:txBody>
          <a:bodyPr wrap="square" rtlCol="0"/>
          <a:lstStyle>
            <a:lvl1pPr algn="l" indent="0" marL="0">
              <a:buNone/>
              <a:defRPr lang="en-US" sz="2600" b="1" dirty="0">
                <a:solidFill>
                  <a:srgbClr val="1A1A1A"/>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8A1626"/>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6E1120"/>
          </a:solidFill>
          <a:ln/>
        </p:spPr>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2.xml"/><Relationship Id="rId3"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3.xml"/><Relationship Id="rId3"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4.xml"/><Relationship Id="rId3"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3931920"/>
          </a:xfrm>
          <a:prstGeom prst="rect">
            <a:avLst/>
          </a:prstGeom>
          <a:solidFill>
            <a:srgbClr val="8A1626"/>
          </a:solidFill>
          <a:ln/>
        </p:spPr>
        <p:txBody>
          <a:bodyPr/>
          <a:p/>
        </p:txBody>
      </p:sp>
      <p:sp>
        <p:nvSpPr>
          <p:cNvPr id="3" name="Shape 1"/>
          <p:cNvSpPr/>
          <p:nvPr/>
        </p:nvSpPr>
        <p:spPr>
          <a:xfrm>
            <a:off x="0" y="3931920"/>
            <a:ext cx="12191695" cy="54864"/>
          </a:xfrm>
          <a:prstGeom prst="rect">
            <a:avLst/>
          </a:prstGeom>
          <a:solidFill>
            <a:srgbClr val="C4384B"/>
          </a:solidFill>
          <a:ln/>
        </p:spPr>
        <p:txBody>
          <a:bodyPr/>
          <a:p/>
        </p:txBody>
      </p:sp>
      <p:sp>
        <p:nvSpPr>
          <p:cNvPr id="4" name="Shape 2"/>
          <p:cNvSpPr/>
          <p:nvPr/>
        </p:nvSpPr>
        <p:spPr>
          <a:xfrm>
            <a:off x="0" y="0"/>
            <a:ext cx="182880" cy="3931920"/>
          </a:xfrm>
          <a:prstGeom prst="rect">
            <a:avLst/>
          </a:prstGeom>
          <a:solidFill>
            <a:srgbClr val="6E1120"/>
          </a:solidFill>
          <a:ln/>
        </p:spPr>
        <p:txBody>
          <a:bodyPr/>
          <a:p/>
        </p:txBody>
      </p:sp>
      <p:sp>
        <p:nvSpPr>
          <p:cNvPr id="5" name="Shape 3"/>
          <p:cNvSpPr/>
          <p:nvPr/>
        </p:nvSpPr>
        <p:spPr>
          <a:xfrm>
            <a:off x="10085832" y="941832"/>
            <a:ext cx="1024128" cy="256032"/>
          </a:xfrm>
          <a:prstGeom prst="arc">
            <a:avLst>
              <a:gd name="adj1" fmla="val 12000000"/>
              <a:gd name="adj2" fmla="val 20400000"/>
            </a:avLst>
          </a:prstGeom>
          <a:ln w="25400">
            <a:solidFill>
              <a:srgbClr val="C4384B"/>
            </a:solidFill>
            <a:prstDash val="solid"/>
          </a:ln>
        </p:spPr>
        <p:txBody>
          <a:bodyPr/>
          <a:p/>
        </p:txBody>
      </p:sp>
      <p:sp>
        <p:nvSpPr>
          <p:cNvPr id="6" name="Shape 4"/>
          <p:cNvSpPr/>
          <p:nvPr/>
        </p:nvSpPr>
        <p:spPr>
          <a:xfrm>
            <a:off x="10085832" y="1088136"/>
            <a:ext cx="1024128" cy="256032"/>
          </a:xfrm>
          <a:prstGeom prst="arc">
            <a:avLst>
              <a:gd name="adj1" fmla="val 12000000"/>
              <a:gd name="adj2" fmla="val 20400000"/>
            </a:avLst>
          </a:prstGeom>
          <a:ln w="25400">
            <a:solidFill>
              <a:srgbClr val="C4384B"/>
            </a:solidFill>
            <a:prstDash val="solid"/>
          </a:ln>
        </p:spPr>
        <p:txBody>
          <a:bodyPr/>
          <a:p/>
        </p:txBody>
      </p:sp>
      <p:sp>
        <p:nvSpPr>
          <p:cNvPr id="7" name="Shape 5"/>
          <p:cNvSpPr/>
          <p:nvPr/>
        </p:nvSpPr>
        <p:spPr>
          <a:xfrm>
            <a:off x="10085832" y="1234440"/>
            <a:ext cx="1024128" cy="256032"/>
          </a:xfrm>
          <a:prstGeom prst="arc">
            <a:avLst>
              <a:gd name="adj1" fmla="val 12000000"/>
              <a:gd name="adj2" fmla="val 20400000"/>
            </a:avLst>
          </a:prstGeom>
          <a:ln w="25400">
            <a:solidFill>
              <a:srgbClr val="C4384B"/>
            </a:solidFill>
            <a:prstDash val="solid"/>
          </a:ln>
        </p:spPr>
        <p:txBody>
          <a:bodyPr/>
          <a:p/>
        </p:txBody>
      </p:sp>
      <p:sp>
        <p:nvSpPr>
          <p:cNvPr id="8" name="Text 6"/>
          <p:cNvSpPr txBox="1"/>
          <p:nvPr/>
        </p:nvSpPr>
        <p:spPr>
          <a:xfrm>
            <a:off x="1051560" y="731520"/>
            <a:ext cx="7772400" cy="310896"/>
          </a:xfrm>
          <a:prstGeom prst="rect">
            <a:avLst/>
          </a:prstGeom>
          <a:noFill/>
          <a:ln/>
        </p:spPr>
        <p:txBody>
          <a:bodyPr wrap="square" lIns="0" tIns="0" rIns="0" bIns="0" rtlCol="0" anchor="ctr"/>
          <a:lstStyle/>
          <a:p>
            <a:pPr indent="0" marL="0">
              <a:buNone/>
            </a:pPr>
            <a:r>
              <a:rPr lang="en-US" sz="1100" b="1" spc="200" kern="0" dirty="0">
                <a:solidFill>
                  <a:srgbClr val="F2A7B2"/>
                </a:solidFill>
              </a:rPr>
              <a:t>DRISHTI · दृष्टि · SIGHT</a:t>
            </a:r>
            <a:endParaRPr lang="en-US" sz="1100" dirty="0"/>
          </a:p>
        </p:txBody>
      </p:sp>
      <p:sp>
        <p:nvSpPr>
          <p:cNvPr id="9" name="Text 7"/>
          <p:cNvSpPr txBox="1"/>
          <p:nvPr/>
        </p:nvSpPr>
        <p:spPr>
          <a:xfrm>
            <a:off x="1051560" y="1143000"/>
            <a:ext cx="8595360" cy="1737360"/>
          </a:xfrm>
          <a:prstGeom prst="rect">
            <a:avLst/>
          </a:prstGeom>
          <a:noFill/>
          <a:ln/>
        </p:spPr>
        <p:txBody>
          <a:bodyPr wrap="square" lIns="0" tIns="0" rIns="0" bIns="0" rtlCol="0" anchor="t"/>
          <a:lstStyle/>
          <a:p>
            <a:pPr indent="0" marL="0">
              <a:buNone/>
            </a:pPr>
            <a:r>
              <a:rPr lang="en-US" sz="3400" b="1" dirty="0">
                <a:solidFill>
                  <a:srgbClr val="FFFFFF"/>
                </a:solidFill>
              </a:rPr>
              <a:t>Drishti VaR engine</a:t>
            </a:r>
            <a:endParaRPr lang="en-US" sz="3400" dirty="0"/>
          </a:p>
          <a:p>
            <a:pPr indent="0" marL="0">
              <a:buNone/>
            </a:pPr>
            <a:r>
              <a:rPr lang="en-US" sz="3400" b="1" dirty="0">
                <a:solidFill>
                  <a:srgbClr val="FFFFFF"/>
                </a:solidFill>
              </a:rPr>
              <a:t>Architecture, data contract and how VaR works</a:t>
            </a:r>
            <a:endParaRPr lang="en-US" sz="3400" dirty="0"/>
          </a:p>
        </p:txBody>
      </p:sp>
      <p:sp>
        <p:nvSpPr>
          <p:cNvPr id="10" name="Shape 8"/>
          <p:cNvSpPr/>
          <p:nvPr/>
        </p:nvSpPr>
        <p:spPr>
          <a:xfrm>
            <a:off x="1051560" y="2971800"/>
            <a:ext cx="1554480" cy="36576"/>
          </a:xfrm>
          <a:prstGeom prst="rect">
            <a:avLst/>
          </a:prstGeom>
          <a:solidFill>
            <a:srgbClr val="C4384B"/>
          </a:solidFill>
          <a:ln/>
        </p:spPr>
        <p:txBody>
          <a:bodyPr/>
          <a:p/>
        </p:txBody>
      </p:sp>
      <p:sp>
        <p:nvSpPr>
          <p:cNvPr id="11" name="Text 9"/>
          <p:cNvSpPr txBox="1"/>
          <p:nvPr/>
        </p:nvSpPr>
        <p:spPr>
          <a:xfrm>
            <a:off x="1051560" y="3127248"/>
            <a:ext cx="9052560" cy="640080"/>
          </a:xfrm>
          <a:prstGeom prst="rect">
            <a:avLst/>
          </a:prstGeom>
          <a:noFill/>
          <a:ln/>
        </p:spPr>
        <p:txBody>
          <a:bodyPr wrap="square" lIns="0" tIns="0" rIns="0" bIns="0" rtlCol="0" anchor="ctr"/>
          <a:lstStyle/>
          <a:p>
            <a:pPr indent="0" marL="0">
              <a:buNone/>
            </a:pPr>
            <a:r>
              <a:rPr lang="en-US" sz="2500" i="1" dirty="0">
                <a:solidFill>
                  <a:srgbClr val="FFFFFF"/>
                </a:solidFill>
              </a:rPr>
              <a:t>Any set of trades or positions, in any reporting currency</a:t>
            </a:r>
            <a:endParaRPr lang="en-US" sz="2500" dirty="0"/>
          </a:p>
        </p:txBody>
      </p:sp>
      <p:sp>
        <p:nvSpPr>
          <p:cNvPr id="12" name="Text 10"/>
          <p:cNvSpPr txBox="1"/>
          <p:nvPr/>
        </p:nvSpPr>
        <p:spPr>
          <a:xfrm>
            <a:off x="1051560" y="4343400"/>
            <a:ext cx="4251960" cy="1188720"/>
          </a:xfrm>
          <a:prstGeom prst="rect">
            <a:avLst/>
          </a:prstGeom>
          <a:noFill/>
          <a:ln/>
        </p:spPr>
        <p:txBody>
          <a:bodyPr wrap="square" lIns="0" tIns="0" rIns="0" bIns="0" rtlCol="0" anchor="t"/>
          <a:lstStyle/>
          <a:p>
            <a:pPr indent="0" marL="0">
              <a:buNone/>
            </a:pPr>
            <a:r>
              <a:rPr lang="en-US" sz="2000" b="1" dirty="0">
                <a:solidFill>
                  <a:srgbClr val="1A1A1A"/>
                </a:solidFill>
              </a:rPr>
              <a:t>Ashutosh Sinha</a:t>
            </a:r>
            <a:endParaRPr lang="en-US" sz="2000" dirty="0"/>
          </a:p>
          <a:p>
            <a:pPr indent="0" marL="0">
              <a:buNone/>
            </a:pPr>
            <a:r>
              <a:rPr lang="en-US" sz="1400" dirty="0">
                <a:solidFill>
                  <a:srgbClr val="4A5058"/>
                </a:solidFill>
              </a:rPr>
              <a:t>October 2026</a:t>
            </a:r>
            <a:endParaRPr lang="en-US" sz="2000" dirty="0"/>
          </a:p>
          <a:p>
            <a:pPr indent="0" marL="0">
              <a:buNone/>
            </a:pPr>
            <a:r>
              <a:rPr lang="en-US" sz="1200" dirty="0">
                <a:solidFill>
                  <a:srgbClr val="61666E"/>
                </a:solidFill>
              </a:rPr>
              <a:t>Release 2.9.5 · historical simulation over 509 scenario days, window and confidence configurable</a:t>
            </a:r>
            <a:endParaRPr lang="en-US" sz="2000" dirty="0"/>
          </a:p>
        </p:txBody>
      </p:sp>
      <p:sp>
        <p:nvSpPr>
          <p:cNvPr id="13" name="Text 11"/>
          <p:cNvSpPr txBox="1"/>
          <p:nvPr/>
        </p:nvSpPr>
        <p:spPr>
          <a:xfrm>
            <a:off x="5559552" y="4224528"/>
            <a:ext cx="5303520" cy="219456"/>
          </a:xfrm>
          <a:prstGeom prst="rect">
            <a:avLst/>
          </a:prstGeom>
          <a:noFill/>
          <a:ln/>
        </p:spPr>
        <p:txBody>
          <a:bodyPr wrap="square" lIns="0" tIns="0" rIns="0" bIns="0" rtlCol="0" anchor="ctr"/>
          <a:lstStyle/>
          <a:p>
            <a:pPr indent="0" marL="0">
              <a:buNone/>
            </a:pPr>
            <a:r>
              <a:rPr lang="en-US" sz="950" b="1" spc="200" kern="0" dirty="0">
                <a:solidFill>
                  <a:srgbClr val="A51C30"/>
                </a:solidFill>
              </a:rPr>
              <a:t>IN THIS DECK</a:t>
            </a:r>
            <a:endParaRPr lang="en-US" sz="950" dirty="0"/>
          </a:p>
        </p:txBody>
      </p:sp>
      <p:sp>
        <p:nvSpPr>
          <p:cNvPr id="14" name="Text 12"/>
          <p:cNvSpPr txBox="1"/>
          <p:nvPr/>
        </p:nvSpPr>
        <p:spPr>
          <a:xfrm>
            <a:off x="5559552" y="4498848"/>
            <a:ext cx="292608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1  Why, and how VaR works</a:t>
            </a:r>
            <a:endParaRPr lang="en-US" sz="1200" dirty="0"/>
          </a:p>
          <a:p>
            <a:pPr indent="0" marL="0">
              <a:spcAft>
                <a:spcPts val="600"/>
              </a:spcAft>
              <a:buNone/>
            </a:pPr>
            <a:r>
              <a:rPr lang="en-US" sz="1200" b="1" dirty="0">
                <a:solidFill>
                  <a:srgbClr val="A51C30"/>
                </a:solidFill>
              </a:rPr>
              <a:t>2  Architecture, hierarchies, inputs</a:t>
            </a:r>
            <a:endParaRPr lang="en-US" sz="1200" dirty="0"/>
          </a:p>
          <a:p>
            <a:pPr indent="0" marL="0">
              <a:spcAft>
                <a:spcPts val="600"/>
              </a:spcAft>
              <a:buNone/>
            </a:pPr>
            <a:r>
              <a:rPr lang="en-US" sz="1200" b="1" dirty="0">
                <a:solidFill>
                  <a:srgbClr val="A51C30"/>
                </a:solidFill>
              </a:rPr>
              <a:t>3  PVs, intraday, contracts, the UI</a:t>
            </a:r>
            <a:endParaRPr lang="en-US" sz="1200" dirty="0"/>
          </a:p>
        </p:txBody>
      </p:sp>
      <p:sp>
        <p:nvSpPr>
          <p:cNvPr id="15" name="Text 13"/>
          <p:cNvSpPr txBox="1"/>
          <p:nvPr/>
        </p:nvSpPr>
        <p:spPr>
          <a:xfrm>
            <a:off x="8577072" y="4498848"/>
            <a:ext cx="283464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4  Scale, sizing, capacity, hardware</a:t>
            </a:r>
            <a:endParaRPr lang="en-US" sz="1200" dirty="0"/>
          </a:p>
          <a:p>
            <a:pPr indent="0" marL="0">
              <a:spcAft>
                <a:spcPts val="600"/>
              </a:spcAft>
              <a:buNone/>
            </a:pPr>
            <a:r>
              <a:rPr lang="en-US" sz="1200" b="1" dirty="0">
                <a:solidFill>
                  <a:srgbClr val="A51C30"/>
                </a:solidFill>
              </a:rPr>
              <a:t>5  Storage, deployment, operations</a:t>
            </a:r>
            <a:endParaRPr lang="en-US" sz="1200" dirty="0"/>
          </a:p>
          <a:p>
            <a:pPr indent="0" marL="0">
              <a:spcAft>
                <a:spcPts val="600"/>
              </a:spcAft>
              <a:buNone/>
            </a:pPr>
            <a:r>
              <a:rPr lang="en-US" sz="1200" b="1" dirty="0">
                <a:solidFill>
                  <a:srgbClr val="A51C30"/>
                </a:solidFill>
              </a:rPr>
              <a:t>6  Controls, roadmap, rollout</a:t>
            </a:r>
            <a:endParaRPr lang="en-US" sz="1200" dirty="0"/>
          </a:p>
        </p:txBody>
      </p:sp>
      <p:sp>
        <p:nvSpPr>
          <p:cNvPr id="16" name="Shape 14"/>
          <p:cNvSpPr/>
          <p:nvPr/>
        </p:nvSpPr>
        <p:spPr>
          <a:xfrm>
            <a:off x="777240" y="6355080"/>
            <a:ext cx="10634472" cy="9144"/>
          </a:xfrm>
          <a:prstGeom prst="rect">
            <a:avLst/>
          </a:prstGeom>
          <a:solidFill>
            <a:srgbClr val="E3DED7"/>
          </a:solidFill>
          <a:ln/>
        </p:spPr>
        <p:txBody>
          <a:bodyPr/>
          <a:p/>
        </p:txBody>
      </p:sp>
      <p:sp>
        <p:nvSpPr>
          <p:cNvPr id="17" name="Text 15"/>
          <p:cNvSpPr txBox="1"/>
          <p:nvPr/>
        </p:nvSpPr>
        <p:spPr>
          <a:xfrm>
            <a:off x="777240" y="6437376"/>
            <a:ext cx="7443216" cy="219456"/>
          </a:xfrm>
          <a:prstGeom prst="rect">
            <a:avLst/>
          </a:prstGeom>
          <a:noFill/>
          <a:ln/>
        </p:spPr>
        <p:txBody>
          <a:bodyPr wrap="square" lIns="0" tIns="0" rIns="0" bIns="0" rtlCol="0" anchor="ctr"/>
          <a:lstStyle/>
          <a:p>
            <a:pPr indent="0" marL="0">
              <a:buNone/>
            </a:pPr>
            <a:r>
              <a:rPr lang="en-US" sz="850" dirty="0">
                <a:solidFill>
                  <a:srgbClr val="61666E"/>
                </a:solidFill>
              </a:rPr>
              <a:t>Drishti • Ashutosh Sinha</a:t>
            </a:r>
            <a:endParaRPr lang="en-US" sz="850" dirty="0"/>
          </a:p>
        </p:txBody>
      </p:sp>
      <p:sp>
        <p:nvSpPr>
          <p:cNvPr id="18" name="TextBox 17"/>
          <p:cNvSpPr txBox="1"/>
          <p:nvPr/>
        </p:nvSpPr>
        <p:spPr>
          <a:xfrm>
            <a:off x="6949440" y="6437376"/>
            <a:ext cx="4462272" cy="219456"/>
          </a:xfrm>
          <a:prstGeom prst="rect">
            <a:avLst/>
          </a:prstGeom>
          <a:noFill/>
        </p:spPr>
        <p:txBody>
          <a:bodyPr wrap="square" lIns="0" rIns="0" tIns="0" bIns="0" anchor="ctr">
            <a:spAutoFit/>
          </a:bodyPr>
          <a:lstStyle/>
          <a:p>
            <a:pPr algn="r"/>
            <a:r>
              <a:rPr sz="850" b="0" i="0">
                <a:solidFill>
                  <a:srgbClr val="61666E"/>
                </a:solidFill>
              </a:rPr>
              <a:t>Copyright © 2026 Ashutosh Sinha. All rights reserved. Proprietary and confidential.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01</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Why Drishti VaR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WHY IT MATTERS</a:t>
            </a:r>
          </a:p>
        </p:txBody>
      </p:sp>
      <p:sp>
        <p:nvSpPr>
          <p:cNvPr id="3" name="Title 2"/>
          <p:cNvSpPr>
            <a:spLocks noGrp="1"/>
          </p:cNvSpPr>
          <p:nvPr>
            <p:ph type="title" idx="104"/>
          </p:nvPr>
        </p:nvSpPr>
        <p:spPr/>
        <p:txBody>
          <a:bodyPr/>
          <a:lstStyle/>
          <a:p>
            <a:r>
              <a:t>VaR at a large bank: scale, sources, currencies, intraday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252145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1732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508760"/>
            <a:ext cx="2247138" cy="457200"/>
          </a:xfrm>
          <a:prstGeom prst="rect">
            <a:avLst/>
          </a:prstGeom>
          <a:noFill/>
        </p:spPr>
        <p:txBody>
          <a:bodyPr wrap="square" lIns="0" rIns="0" tIns="0" bIns="0" anchor="ctr">
            <a:spAutoFit/>
          </a:bodyPr>
          <a:lstStyle/>
          <a:p>
            <a:pPr algn="l"/>
            <a:r>
              <a:rPr sz="2400" b="1" i="0">
                <a:solidFill>
                  <a:srgbClr val="8A1626"/>
                </a:solidFill>
              </a:rPr>
              <a:t>≈ 2.3M</a:t>
            </a:r>
          </a:p>
        </p:txBody>
      </p:sp>
      <p:sp>
        <p:nvSpPr>
          <p:cNvPr id="29" name="TextBox 28"/>
          <p:cNvSpPr txBox="1"/>
          <p:nvPr/>
        </p:nvSpPr>
        <p:spPr>
          <a:xfrm>
            <a:off x="960120" y="1984248"/>
            <a:ext cx="2247138" cy="475487"/>
          </a:xfrm>
          <a:prstGeom prst="rect">
            <a:avLst/>
          </a:prstGeom>
          <a:noFill/>
        </p:spPr>
        <p:txBody>
          <a:bodyPr wrap="square" lIns="0" rIns="0" tIns="0" bIns="0" anchor="t">
            <a:spAutoFit/>
          </a:bodyPr>
          <a:lstStyle/>
          <a:p>
            <a:pPr algn="l"/>
            <a:r>
              <a:rPr sz="1150" b="0" i="0">
                <a:solidFill>
                  <a:srgbClr val="4A5058"/>
                </a:solidFill>
              </a:rPr>
              <a:t>positions valued every business date</a:t>
            </a:r>
          </a:p>
        </p:txBody>
      </p:sp>
      <p:sp>
        <p:nvSpPr>
          <p:cNvPr id="30" name="Rectangle 29"/>
          <p:cNvSpPr/>
          <p:nvPr/>
        </p:nvSpPr>
        <p:spPr>
          <a:xfrm>
            <a:off x="3481578" y="1417320"/>
            <a:ext cx="252145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3481578" y="141732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3664458" y="1508760"/>
            <a:ext cx="2247138" cy="457200"/>
          </a:xfrm>
          <a:prstGeom prst="rect">
            <a:avLst/>
          </a:prstGeom>
          <a:noFill/>
        </p:spPr>
        <p:txBody>
          <a:bodyPr wrap="square" lIns="0" rIns="0" tIns="0" bIns="0" anchor="ctr">
            <a:spAutoFit/>
          </a:bodyPr>
          <a:lstStyle/>
          <a:p>
            <a:pPr algn="l"/>
            <a:r>
              <a:rPr sz="2400" b="1" i="0">
                <a:solidFill>
                  <a:srgbClr val="8A1626"/>
                </a:solidFill>
              </a:rPr>
              <a:t>≈ 15,000</a:t>
            </a:r>
          </a:p>
        </p:txBody>
      </p:sp>
      <p:sp>
        <p:nvSpPr>
          <p:cNvPr id="33" name="TextBox 32"/>
          <p:cNvSpPr txBox="1"/>
          <p:nvPr/>
        </p:nvSpPr>
        <p:spPr>
          <a:xfrm>
            <a:off x="3664458" y="1984248"/>
            <a:ext cx="2247138" cy="475487"/>
          </a:xfrm>
          <a:prstGeom prst="rect">
            <a:avLst/>
          </a:prstGeom>
          <a:noFill/>
        </p:spPr>
        <p:txBody>
          <a:bodyPr wrap="square" lIns="0" rIns="0" tIns="0" bIns="0" anchor="t">
            <a:spAutoFit/>
          </a:bodyPr>
          <a:lstStyle/>
          <a:p>
            <a:pPr algn="l"/>
            <a:r>
              <a:rPr sz="1150" b="0" i="0">
                <a:solidFill>
                  <a:srgbClr val="4A5058"/>
                </a:solidFill>
              </a:rPr>
              <a:t>portfolios, each a VaR on demand</a:t>
            </a:r>
          </a:p>
        </p:txBody>
      </p:sp>
      <p:sp>
        <p:nvSpPr>
          <p:cNvPr id="34" name="Rectangle 33"/>
          <p:cNvSpPr/>
          <p:nvPr/>
        </p:nvSpPr>
        <p:spPr>
          <a:xfrm>
            <a:off x="6185916" y="1417320"/>
            <a:ext cx="252145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6185916" y="141732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6368796" y="1508760"/>
            <a:ext cx="2247138" cy="457200"/>
          </a:xfrm>
          <a:prstGeom prst="rect">
            <a:avLst/>
          </a:prstGeom>
          <a:noFill/>
        </p:spPr>
        <p:txBody>
          <a:bodyPr wrap="square" lIns="0" rIns="0" tIns="0" bIns="0" anchor="ctr">
            <a:spAutoFit/>
          </a:bodyPr>
          <a:lstStyle/>
          <a:p>
            <a:pPr algn="l"/>
            <a:r>
              <a:rPr sz="2400" b="1" i="0">
                <a:solidFill>
                  <a:srgbClr val="8A1626"/>
                </a:solidFill>
              </a:rPr>
              <a:t>5</a:t>
            </a:r>
          </a:p>
        </p:txBody>
      </p:sp>
      <p:sp>
        <p:nvSpPr>
          <p:cNvPr id="37" name="TextBox 36"/>
          <p:cNvSpPr txBox="1"/>
          <p:nvPr/>
        </p:nvSpPr>
        <p:spPr>
          <a:xfrm>
            <a:off x="6368796" y="1984248"/>
            <a:ext cx="2247138" cy="475487"/>
          </a:xfrm>
          <a:prstGeom prst="rect">
            <a:avLst/>
          </a:prstGeom>
          <a:noFill/>
        </p:spPr>
        <p:txBody>
          <a:bodyPr wrap="square" lIns="0" rIns="0" tIns="0" bIns="0" anchor="t">
            <a:spAutoFit/>
          </a:bodyPr>
          <a:lstStyle/>
          <a:p>
            <a:pPr algn="l"/>
            <a:r>
              <a:rPr sz="1150" b="0" i="0">
                <a:solidFill>
                  <a:srgbClr val="4A5058"/>
                </a:solidFill>
              </a:rPr>
              <a:t>reporting currencies built ahead: USD, EUR, CAD, JPY, GBP</a:t>
            </a:r>
          </a:p>
        </p:txBody>
      </p:sp>
      <p:sp>
        <p:nvSpPr>
          <p:cNvPr id="38" name="Rectangle 37"/>
          <p:cNvSpPr/>
          <p:nvPr/>
        </p:nvSpPr>
        <p:spPr>
          <a:xfrm>
            <a:off x="8890254" y="1417320"/>
            <a:ext cx="252145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Rectangle 38"/>
          <p:cNvSpPr/>
          <p:nvPr/>
        </p:nvSpPr>
        <p:spPr>
          <a:xfrm>
            <a:off x="8890254" y="141732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9073134" y="1508760"/>
            <a:ext cx="2247138" cy="457200"/>
          </a:xfrm>
          <a:prstGeom prst="rect">
            <a:avLst/>
          </a:prstGeom>
          <a:noFill/>
        </p:spPr>
        <p:txBody>
          <a:bodyPr wrap="square" lIns="0" rIns="0" tIns="0" bIns="0" anchor="ctr">
            <a:spAutoFit/>
          </a:bodyPr>
          <a:lstStyle/>
          <a:p>
            <a:pPr algn="l"/>
            <a:r>
              <a:rPr sz="2400" b="1" i="0">
                <a:solidFill>
                  <a:srgbClr val="8A1626"/>
                </a:solidFill>
              </a:rPr>
              <a:t>≈ 700</a:t>
            </a:r>
          </a:p>
        </p:txBody>
      </p:sp>
      <p:sp>
        <p:nvSpPr>
          <p:cNvPr id="41" name="TextBox 40"/>
          <p:cNvSpPr txBox="1"/>
          <p:nvPr/>
        </p:nvSpPr>
        <p:spPr>
          <a:xfrm>
            <a:off x="9073134" y="1984248"/>
            <a:ext cx="2247138" cy="475487"/>
          </a:xfrm>
          <a:prstGeom prst="rect">
            <a:avLst/>
          </a:prstGeom>
          <a:noFill/>
        </p:spPr>
        <p:txBody>
          <a:bodyPr wrap="square" lIns="0" rIns="0" tIns="0" bIns="0" anchor="t">
            <a:spAutoFit/>
          </a:bodyPr>
          <a:lstStyle/>
          <a:p>
            <a:pPr algn="l"/>
            <a:r>
              <a:rPr sz="1150" b="0" i="0">
                <a:solidFill>
                  <a:srgbClr val="4A5058"/>
                </a:solidFill>
              </a:rPr>
              <a:t>limit letters: a hierarchy configured by columns</a:t>
            </a:r>
          </a:p>
        </p:txBody>
      </p:sp>
      <p:sp>
        <p:nvSpPr>
          <p:cNvPr id="42" name="TextBox 41"/>
          <p:cNvSpPr txBox="1"/>
          <p:nvPr/>
        </p:nvSpPr>
        <p:spPr>
          <a:xfrm>
            <a:off x="777240" y="2578608"/>
            <a:ext cx="10634472" cy="256032"/>
          </a:xfrm>
          <a:prstGeom prst="rect">
            <a:avLst/>
          </a:prstGeom>
          <a:noFill/>
        </p:spPr>
        <p:txBody>
          <a:bodyPr wrap="square" lIns="0" rIns="0" tIns="0" bIns="0" anchor="t">
            <a:spAutoFit/>
          </a:bodyPr>
          <a:lstStyle/>
          <a:p>
            <a:pPr algn="l"/>
            <a:r>
              <a:rPr sz="1050" b="0" i="1">
                <a:solidFill>
                  <a:srgbClr val="4A5058"/>
                </a:solidFill>
              </a:rPr>
              <a:t>Illustrative volumes of a large bank (an example, not a client's figures); every other figure in this deck is Drishti's.</a:t>
            </a:r>
          </a:p>
        </p:txBody>
      </p:sp>
      <p:sp>
        <p:nvSpPr>
          <p:cNvPr id="43" name="Rectangle 42"/>
          <p:cNvSpPr/>
          <p:nvPr/>
        </p:nvSpPr>
        <p:spPr>
          <a:xfrm>
            <a:off x="777240" y="2907792"/>
            <a:ext cx="5225796"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Rectangle 43"/>
          <p:cNvSpPr/>
          <p:nvPr/>
        </p:nvSpPr>
        <p:spPr>
          <a:xfrm>
            <a:off x="777240" y="2907792"/>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941832" y="2980944"/>
            <a:ext cx="4969764" cy="987552"/>
          </a:xfrm>
          <a:prstGeom prst="rect">
            <a:avLst/>
          </a:prstGeom>
          <a:noFill/>
        </p:spPr>
        <p:txBody>
          <a:bodyPr wrap="square" lIns="0" rIns="0" tIns="0" bIns="0" anchor="t">
            <a:spAutoFit/>
          </a:bodyPr>
          <a:lstStyle/>
          <a:p>
            <a:pPr algn="l">
              <a:spcAft>
                <a:spcPts val="400"/>
              </a:spcAft>
            </a:pPr>
            <a:r>
              <a:rPr sz="1300" b="1" i="0">
                <a:solidFill>
                  <a:srgbClr val="8A1626"/>
                </a:solidFill>
              </a:rPr>
              <a:t>Scale</a:t>
            </a:r>
          </a:p>
          <a:p>
            <a:pPr algn="l" marL="146304" indent="-146304">
              <a:spcAft>
                <a:spcPts val="300"/>
              </a:spcAft>
              <a:buClr>
                <a:srgbClr val="A51C30"/>
              </a:buClr>
              <a:buSzPct val="100000"/>
              <a:buFont typeface="Arial"/>
              <a:buChar char="▪"/>
            </a:pPr>
            <a:r>
              <a:rPr sz="1150" b="0" i="0">
                <a:solidFill>
                  <a:srgbClr val="1A1A1A"/>
                </a:solidFill>
              </a:rPr>
              <a:t>A node's VaR from its float64 aggregate in under a millisecond, whatever its size</a:t>
            </a:r>
          </a:p>
          <a:p>
            <a:pPr algn="l" marL="146304" indent="-146304">
              <a:spcAft>
                <a:spcPts val="300"/>
              </a:spcAft>
              <a:buClr>
                <a:srgbClr val="A51C30"/>
              </a:buClr>
              <a:buSzPct val="100000"/>
              <a:buFont typeface="Arial"/>
              <a:buChar char="▪"/>
            </a:pPr>
            <a:r>
              <a:rPr sz="1150" b="0" i="0">
                <a:solidFill>
                  <a:srgbClr val="1A1A1A"/>
                </a:solidFill>
              </a:rPr>
              <a:t>Position grain keeps rows = positions; portfolios are sums of positions</a:t>
            </a:r>
          </a:p>
        </p:txBody>
      </p:sp>
      <p:sp>
        <p:nvSpPr>
          <p:cNvPr id="46" name="Rectangle 45"/>
          <p:cNvSpPr/>
          <p:nvPr/>
        </p:nvSpPr>
        <p:spPr>
          <a:xfrm>
            <a:off x="6185916" y="2907792"/>
            <a:ext cx="5225796"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Rectangle 46"/>
          <p:cNvSpPr/>
          <p:nvPr/>
        </p:nvSpPr>
        <p:spPr>
          <a:xfrm>
            <a:off x="6185916" y="2907792"/>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6350508" y="2980944"/>
            <a:ext cx="4969764" cy="987552"/>
          </a:xfrm>
          <a:prstGeom prst="rect">
            <a:avLst/>
          </a:prstGeom>
          <a:noFill/>
        </p:spPr>
        <p:txBody>
          <a:bodyPr wrap="square" lIns="0" rIns="0" tIns="0" bIns="0" anchor="t">
            <a:spAutoFit/>
          </a:bodyPr>
          <a:lstStyle/>
          <a:p>
            <a:pPr algn="l">
              <a:spcAft>
                <a:spcPts val="400"/>
              </a:spcAft>
            </a:pPr>
            <a:r>
              <a:rPr sz="1300" b="1" i="0">
                <a:solidFill>
                  <a:srgbClr val="8A1626"/>
                </a:solidFill>
              </a:rPr>
              <a:t>Pricing systems keep their formats</a:t>
            </a:r>
          </a:p>
          <a:p>
            <a:pPr algn="l" marL="146304" indent="-146304">
              <a:spcAft>
                <a:spcPts val="300"/>
              </a:spcAft>
              <a:buClr>
                <a:srgbClr val="A51C30"/>
              </a:buClr>
              <a:buSzPct val="100000"/>
              <a:buFont typeface="Arial"/>
              <a:buChar char="▪"/>
            </a:pPr>
            <a:r>
              <a:rPr sz="1150" b="0" i="0">
                <a:solidFill>
                  <a:srgbClr val="1A1A1A"/>
                </a:solidFill>
              </a:rPr>
              <a:t>Scenario PVs or P&amp;L, by trade or by position, files or Kafka</a:t>
            </a:r>
          </a:p>
          <a:p>
            <a:pPr algn="l" marL="146304" indent="-146304">
              <a:spcAft>
                <a:spcPts val="300"/>
              </a:spcAft>
              <a:buClr>
                <a:srgbClr val="A51C30"/>
              </a:buClr>
              <a:buSzPct val="100000"/>
              <a:buFont typeface="Arial"/>
              <a:buChar char="▪"/>
            </a:pPr>
            <a:r>
              <a:rPr sz="1150" b="0" i="0">
                <a:solidFill>
                  <a:srgbClr val="1A1A1A"/>
                </a:solidFill>
              </a:rPr>
              <a:t>Each system its own form; systems mix on one date and may switch day to day</a:t>
            </a:r>
          </a:p>
        </p:txBody>
      </p:sp>
      <p:sp>
        <p:nvSpPr>
          <p:cNvPr id="49" name="Rectangle 48"/>
          <p:cNvSpPr/>
          <p:nvPr/>
        </p:nvSpPr>
        <p:spPr>
          <a:xfrm>
            <a:off x="777240" y="4114800"/>
            <a:ext cx="5225796"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Rectangle 49"/>
          <p:cNvSpPr/>
          <p:nvPr/>
        </p:nvSpPr>
        <p:spPr>
          <a:xfrm>
            <a:off x="777240" y="411480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941832" y="4187952"/>
            <a:ext cx="4969764" cy="987552"/>
          </a:xfrm>
          <a:prstGeom prst="rect">
            <a:avLst/>
          </a:prstGeom>
          <a:noFill/>
        </p:spPr>
        <p:txBody>
          <a:bodyPr wrap="square" lIns="0" rIns="0" tIns="0" bIns="0" anchor="t">
            <a:spAutoFit/>
          </a:bodyPr>
          <a:lstStyle/>
          <a:p>
            <a:pPr algn="l">
              <a:spcAft>
                <a:spcPts val="400"/>
              </a:spcAft>
            </a:pPr>
            <a:r>
              <a:rPr sz="1300" b="1" i="0">
                <a:solidFill>
                  <a:srgbClr val="8A1626"/>
                </a:solidFill>
              </a:rPr>
              <a:t>Multi-currency reporting</a:t>
            </a:r>
          </a:p>
          <a:p>
            <a:pPr algn="l" marL="146304" indent="-146304">
              <a:spcAft>
                <a:spcPts val="300"/>
              </a:spcAft>
              <a:buClr>
                <a:srgbClr val="A51C30"/>
              </a:buClr>
              <a:buSzPct val="100000"/>
              <a:buFont typeface="Arial"/>
              <a:buChar char="▪"/>
            </a:pPr>
            <a:r>
              <a:rPr sz="1150" b="0" i="0">
                <a:solidFill>
                  <a:srgbClr val="1A1A1A"/>
                </a:solidFill>
              </a:rPr>
              <a:t>PVs in each trade's or position's own currency, converted with each scenario's FX</a:t>
            </a:r>
          </a:p>
          <a:p>
            <a:pPr algn="l" marL="146304" indent="-146304">
              <a:spcAft>
                <a:spcPts val="300"/>
              </a:spcAft>
              <a:buClr>
                <a:srgbClr val="A51C30"/>
              </a:buClr>
              <a:buSzPct val="100000"/>
              <a:buFont typeface="Arial"/>
              <a:buChar char="▪"/>
            </a:pPr>
            <a:r>
              <a:rPr sz="1150" b="0" i="0">
                <a:solidFill>
                  <a:srgbClr val="1A1A1A"/>
                </a:solidFill>
              </a:rPr>
              <a:t>A EUR or CAD VaR is not the USD VaR × today's rate: it carries the currency risk</a:t>
            </a:r>
          </a:p>
        </p:txBody>
      </p:sp>
      <p:sp>
        <p:nvSpPr>
          <p:cNvPr id="52" name="Rectangle 51"/>
          <p:cNvSpPr/>
          <p:nvPr/>
        </p:nvSpPr>
        <p:spPr>
          <a:xfrm>
            <a:off x="6185916" y="4114800"/>
            <a:ext cx="5225796"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Rectangle 52"/>
          <p:cNvSpPr/>
          <p:nvPr/>
        </p:nvSpPr>
        <p:spPr>
          <a:xfrm>
            <a:off x="6185916" y="411480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xtBox 53"/>
          <p:cNvSpPr txBox="1"/>
          <p:nvPr/>
        </p:nvSpPr>
        <p:spPr>
          <a:xfrm>
            <a:off x="6350508" y="4187952"/>
            <a:ext cx="4969764" cy="987552"/>
          </a:xfrm>
          <a:prstGeom prst="rect">
            <a:avLst/>
          </a:prstGeom>
          <a:noFill/>
        </p:spPr>
        <p:txBody>
          <a:bodyPr wrap="square" lIns="0" rIns="0" tIns="0" bIns="0" anchor="t">
            <a:spAutoFit/>
          </a:bodyPr>
          <a:lstStyle/>
          <a:p>
            <a:pPr algn="l">
              <a:spcAft>
                <a:spcPts val="400"/>
              </a:spcAft>
            </a:pPr>
            <a:r>
              <a:rPr sz="1300" b="1" i="0">
                <a:solidFill>
                  <a:srgbClr val="8A1626"/>
                </a:solidFill>
              </a:rPr>
              <a:t>Intraday</a:t>
            </a:r>
          </a:p>
          <a:p>
            <a:pPr algn="l" marL="146304" indent="-146304">
              <a:spcAft>
                <a:spcPts val="300"/>
              </a:spcAft>
              <a:buClr>
                <a:srgbClr val="A51C30"/>
              </a:buClr>
              <a:buSzPct val="100000"/>
              <a:buFont typeface="Arial"/>
              <a:buChar char="▪"/>
            </a:pPr>
            <a:r>
              <a:rPr sz="1150" b="0" i="0">
                <a:solidFill>
                  <a:srgbClr val="1A1A1A"/>
                </a:solidFill>
              </a:rPr>
              <a:t>Only the changed trades or positions, applied as new − old up every tree</a:t>
            </a:r>
          </a:p>
          <a:p>
            <a:pPr algn="l" marL="146304" indent="-146304">
              <a:spcAft>
                <a:spcPts val="300"/>
              </a:spcAft>
              <a:buClr>
                <a:srgbClr val="A51C30"/>
              </a:buClr>
              <a:buSzPct val="100000"/>
              <a:buFont typeface="Arial"/>
              <a:buChar char="▪"/>
            </a:pPr>
            <a:r>
              <a:rPr sz="1150" b="0" i="0">
                <a:solidFill>
                  <a:srgbClr val="1A1A1A"/>
                </a:solidFill>
              </a:rPr>
              <a:t>The official end-of-day record stays the full run's; intraday never restates it</a:t>
            </a:r>
          </a:p>
        </p:txBody>
      </p:sp>
      <p:sp>
        <p:nvSpPr>
          <p:cNvPr id="55" name="Rectangle 54"/>
          <p:cNvSpPr/>
          <p:nvPr/>
        </p:nvSpPr>
        <p:spPr>
          <a:xfrm>
            <a:off x="777240" y="5349240"/>
            <a:ext cx="10634472" cy="9144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914400" y="5404103"/>
            <a:ext cx="1463040" cy="274320"/>
          </a:xfrm>
          <a:prstGeom prst="rect">
            <a:avLst/>
          </a:prstGeom>
          <a:noFill/>
        </p:spPr>
        <p:txBody>
          <a:bodyPr wrap="square" lIns="0" rIns="0" tIns="0" bIns="0" anchor="ctr">
            <a:spAutoFit/>
          </a:bodyPr>
          <a:lstStyle/>
          <a:p>
            <a:pPr algn="l"/>
            <a:r>
              <a:rPr sz="1100" b="1" i="0">
                <a:solidFill>
                  <a:srgbClr val="8A1626"/>
                </a:solidFill>
              </a:rPr>
              <a:t>Status words</a:t>
            </a:r>
          </a:p>
        </p:txBody>
      </p:sp>
      <p:sp>
        <p:nvSpPr>
          <p:cNvPr id="57" name="Rounded Rectangle 56"/>
          <p:cNvSpPr/>
          <p:nvPr/>
        </p:nvSpPr>
        <p:spPr>
          <a:xfrm>
            <a:off x="914400" y="5715000"/>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FFFFFF"/>
                </a:solidFill>
              </a:rPr>
              <a:t>BUILT</a:t>
            </a:r>
          </a:p>
        </p:txBody>
      </p:sp>
      <p:sp>
        <p:nvSpPr>
          <p:cNvPr id="58" name="TextBox 57"/>
          <p:cNvSpPr txBox="1"/>
          <p:nvPr/>
        </p:nvSpPr>
        <p:spPr>
          <a:xfrm>
            <a:off x="1449324" y="5696712"/>
            <a:ext cx="1991106" cy="237744"/>
          </a:xfrm>
          <a:prstGeom prst="rect">
            <a:avLst/>
          </a:prstGeom>
          <a:noFill/>
        </p:spPr>
        <p:txBody>
          <a:bodyPr wrap="square" lIns="0" rIns="0" tIns="0" bIns="0" anchor="ctr">
            <a:spAutoFit/>
          </a:bodyPr>
          <a:lstStyle/>
          <a:p>
            <a:pPr algn="l"/>
            <a:r>
              <a:rPr sz="1000" b="0" i="0">
                <a:solidFill>
                  <a:srgbClr val="4A5058"/>
                </a:solidFill>
              </a:rPr>
              <a:t>in the code and tested</a:t>
            </a:r>
          </a:p>
        </p:txBody>
      </p:sp>
      <p:sp>
        <p:nvSpPr>
          <p:cNvPr id="59" name="Rounded Rectangle 58"/>
          <p:cNvSpPr/>
          <p:nvPr/>
        </p:nvSpPr>
        <p:spPr>
          <a:xfrm>
            <a:off x="3504438" y="5715000"/>
            <a:ext cx="101041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FFFFFF"/>
                </a:solidFill>
              </a:rPr>
              <a:t>BUILT · 2.9.5</a:t>
            </a:r>
          </a:p>
        </p:txBody>
      </p:sp>
      <p:sp>
        <p:nvSpPr>
          <p:cNvPr id="60" name="TextBox 59"/>
          <p:cNvSpPr txBox="1"/>
          <p:nvPr/>
        </p:nvSpPr>
        <p:spPr>
          <a:xfrm>
            <a:off x="4588002" y="5696712"/>
            <a:ext cx="1442466" cy="237744"/>
          </a:xfrm>
          <a:prstGeom prst="rect">
            <a:avLst/>
          </a:prstGeom>
          <a:noFill/>
        </p:spPr>
        <p:txBody>
          <a:bodyPr wrap="square" lIns="0" rIns="0" tIns="0" bIns="0" anchor="ctr">
            <a:spAutoFit/>
          </a:bodyPr>
          <a:lstStyle/>
          <a:p>
            <a:pPr algn="l"/>
            <a:r>
              <a:rPr sz="1000" b="0" i="0">
                <a:solidFill>
                  <a:srgbClr val="4A5058"/>
                </a:solidFill>
              </a:rPr>
              <a:t>new in release 2.9.5</a:t>
            </a:r>
          </a:p>
        </p:txBody>
      </p:sp>
      <p:sp>
        <p:nvSpPr>
          <p:cNvPr id="61" name="Rounded Rectangle 60"/>
          <p:cNvSpPr/>
          <p:nvPr/>
        </p:nvSpPr>
        <p:spPr>
          <a:xfrm>
            <a:off x="6094476" y="5715000"/>
            <a:ext cx="461772" cy="201168"/>
          </a:xfrm>
          <a:prstGeom prst="roundRect">
            <a:avLst>
              <a:gd name="adj" fmla="val 50000"/>
            </a:avLst>
          </a:prstGeom>
          <a:solidFill>
            <a:srgbClr val="293352"/>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FFFFFF"/>
                </a:solidFill>
              </a:rPr>
              <a:t>2.9.6</a:t>
            </a:r>
          </a:p>
        </p:txBody>
      </p:sp>
      <p:sp>
        <p:nvSpPr>
          <p:cNvPr id="62" name="TextBox 61"/>
          <p:cNvSpPr txBox="1"/>
          <p:nvPr/>
        </p:nvSpPr>
        <p:spPr>
          <a:xfrm>
            <a:off x="6629400" y="5696712"/>
            <a:ext cx="1991106" cy="237744"/>
          </a:xfrm>
          <a:prstGeom prst="rect">
            <a:avLst/>
          </a:prstGeom>
          <a:noFill/>
        </p:spPr>
        <p:txBody>
          <a:bodyPr wrap="square" lIns="0" rIns="0" tIns="0" bIns="0" anchor="ctr">
            <a:spAutoFit/>
          </a:bodyPr>
          <a:lstStyle/>
          <a:p>
            <a:pPr algn="l"/>
            <a:r>
              <a:rPr sz="1000" b="0" i="0">
                <a:solidFill>
                  <a:srgbClr val="4A5058"/>
                </a:solidFill>
              </a:rPr>
              <a:t>ships in 2.9.6</a:t>
            </a:r>
          </a:p>
        </p:txBody>
      </p:sp>
      <p:sp>
        <p:nvSpPr>
          <p:cNvPr id="63" name="Rounded Rectangle 62"/>
          <p:cNvSpPr/>
          <p:nvPr/>
        </p:nvSpPr>
        <p:spPr>
          <a:xfrm>
            <a:off x="8684514" y="5715000"/>
            <a:ext cx="667512" cy="201168"/>
          </a:xfrm>
          <a:prstGeom prst="roundRect">
            <a:avLst>
              <a:gd name="adj" fmla="val 50000"/>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A51C30"/>
                </a:solidFill>
              </a:rPr>
              <a:t>DESIGNED</a:t>
            </a:r>
          </a:p>
        </p:txBody>
      </p:sp>
      <p:sp>
        <p:nvSpPr>
          <p:cNvPr id="64" name="TextBox 63"/>
          <p:cNvSpPr txBox="1"/>
          <p:nvPr/>
        </p:nvSpPr>
        <p:spPr>
          <a:xfrm>
            <a:off x="9425178" y="5696712"/>
            <a:ext cx="1785366" cy="237744"/>
          </a:xfrm>
          <a:prstGeom prst="rect">
            <a:avLst/>
          </a:prstGeom>
          <a:noFill/>
        </p:spPr>
        <p:txBody>
          <a:bodyPr wrap="square" lIns="0" rIns="0" tIns="0" bIns="0" anchor="ctr">
            <a:spAutoFit/>
          </a:bodyPr>
          <a:lstStyle/>
          <a:p>
            <a:pPr algn="l"/>
            <a:r>
              <a:rPr sz="1000" b="0" i="0">
                <a:solidFill>
                  <a:srgbClr val="4A5058"/>
                </a:solidFill>
              </a:rPr>
              <a:t>cluster scale-out only</a:t>
            </a:r>
          </a:p>
        </p:txBody>
      </p:sp>
      <p:sp>
        <p:nvSpPr>
          <p:cNvPr id="65" name="Rounded Rectangle 64"/>
          <p:cNvSpPr/>
          <p:nvPr/>
        </p:nvSpPr>
        <p:spPr>
          <a:xfrm>
            <a:off x="914400" y="5989320"/>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4A5058"/>
                </a:solidFill>
              </a:rPr>
              <a:t>PROPOSED</a:t>
            </a:r>
          </a:p>
        </p:txBody>
      </p:sp>
      <p:sp>
        <p:nvSpPr>
          <p:cNvPr id="66" name="TextBox 65"/>
          <p:cNvSpPr txBox="1"/>
          <p:nvPr/>
        </p:nvSpPr>
        <p:spPr>
          <a:xfrm>
            <a:off x="1655064" y="5971032"/>
            <a:ext cx="1785366" cy="237744"/>
          </a:xfrm>
          <a:prstGeom prst="rect">
            <a:avLst/>
          </a:prstGeom>
          <a:noFill/>
        </p:spPr>
        <p:txBody>
          <a:bodyPr wrap="square" lIns="0" rIns="0" tIns="0" bIns="0" anchor="ctr">
            <a:spAutoFit/>
          </a:bodyPr>
          <a:lstStyle/>
          <a:p>
            <a:pPr algn="l"/>
            <a:r>
              <a:rPr sz="1000" b="0" i="0">
                <a:solidFill>
                  <a:srgbClr val="4A5058"/>
                </a:solidFill>
              </a:rPr>
              <a:t>this deck's recommendation</a:t>
            </a:r>
          </a:p>
        </p:txBody>
      </p:sp>
      <p:sp>
        <p:nvSpPr>
          <p:cNvPr id="67" name="Rounded Rectangle 66"/>
          <p:cNvSpPr/>
          <p:nvPr/>
        </p:nvSpPr>
        <p:spPr>
          <a:xfrm>
            <a:off x="3504438" y="5989320"/>
            <a:ext cx="667512" cy="201168"/>
          </a:xfrm>
          <a:prstGeom prst="roundRect">
            <a:avLst>
              <a:gd name="adj" fmla="val 50000"/>
            </a:avLst>
          </a:prstGeom>
          <a:solidFill>
            <a:srgbClr val="4A5058"/>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FFFFFF"/>
                </a:solidFill>
              </a:rPr>
              <a:t>MEASURED</a:t>
            </a:r>
          </a:p>
        </p:txBody>
      </p:sp>
      <p:sp>
        <p:nvSpPr>
          <p:cNvPr id="68" name="TextBox 67"/>
          <p:cNvSpPr txBox="1"/>
          <p:nvPr/>
        </p:nvSpPr>
        <p:spPr>
          <a:xfrm>
            <a:off x="4245102" y="5971032"/>
            <a:ext cx="1785366" cy="237744"/>
          </a:xfrm>
          <a:prstGeom prst="rect">
            <a:avLst/>
          </a:prstGeom>
          <a:noFill/>
        </p:spPr>
        <p:txBody>
          <a:bodyPr wrap="square" lIns="0" rIns="0" tIns="0" bIns="0" anchor="ctr">
            <a:spAutoFit/>
          </a:bodyPr>
          <a:lstStyle/>
          <a:p>
            <a:pPr algn="l"/>
            <a:r>
              <a:rPr sz="1000" b="0" i="0">
                <a:solidFill>
                  <a:srgbClr val="4A5058"/>
                </a:solidFill>
              </a:rPr>
              <a:t>on a workstation</a:t>
            </a:r>
          </a:p>
        </p:txBody>
      </p:sp>
      <p:sp>
        <p:nvSpPr>
          <p:cNvPr id="69" name="Rounded Rectangle 68"/>
          <p:cNvSpPr/>
          <p:nvPr/>
        </p:nvSpPr>
        <p:spPr>
          <a:xfrm>
            <a:off x="6094476" y="5989320"/>
            <a:ext cx="736092" cy="201168"/>
          </a:xfrm>
          <a:prstGeom prst="roundRect">
            <a:avLst>
              <a:gd name="adj" fmla="val 50000"/>
            </a:avLst>
          </a:prstGeom>
          <a:solidFill>
            <a:srgbClr val="FFFFFF"/>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4A5058"/>
                </a:solidFill>
              </a:rPr>
              <a:t>ESTIMATED</a:t>
            </a:r>
          </a:p>
        </p:txBody>
      </p:sp>
      <p:sp>
        <p:nvSpPr>
          <p:cNvPr id="70" name="TextBox 69"/>
          <p:cNvSpPr txBox="1"/>
          <p:nvPr/>
        </p:nvSpPr>
        <p:spPr>
          <a:xfrm>
            <a:off x="6903720" y="5971032"/>
            <a:ext cx="1716786" cy="237744"/>
          </a:xfrm>
          <a:prstGeom prst="rect">
            <a:avLst/>
          </a:prstGeom>
          <a:noFill/>
        </p:spPr>
        <p:txBody>
          <a:bodyPr wrap="square" lIns="0" rIns="0" tIns="0" bIns="0" anchor="ctr">
            <a:spAutoFit/>
          </a:bodyPr>
          <a:lstStyle/>
          <a:p>
            <a:pPr algn="l"/>
            <a:r>
              <a:rPr sz="1000" b="0" i="0">
                <a:solidFill>
                  <a:srgbClr val="4A5058"/>
                </a:solidFill>
              </a:rPr>
              <a:t>scaled from measured</a:t>
            </a:r>
          </a:p>
        </p:txBody>
      </p:sp>
      <p:sp>
        <p:nvSpPr>
          <p:cNvPr id="71" name="Rounded Rectangle 70"/>
          <p:cNvSpPr/>
          <p:nvPr/>
        </p:nvSpPr>
        <p:spPr>
          <a:xfrm>
            <a:off x="8684514" y="5989320"/>
            <a:ext cx="804672" cy="201168"/>
          </a:xfrm>
          <a:prstGeom prst="roundRect">
            <a:avLst>
              <a:gd name="adj" fmla="val 50000"/>
            </a:avLst>
          </a:prstGeom>
          <a:solidFill>
            <a:srgbClr val="F3EBD9"/>
          </a:solidFill>
          <a:ln w="12700">
            <a:solidFill>
              <a:srgbClr val="C9A55A"/>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7A5A12"/>
                </a:solidFill>
              </a:rPr>
              <a:t>ASSUMPTION</a:t>
            </a:r>
          </a:p>
        </p:txBody>
      </p:sp>
      <p:sp>
        <p:nvSpPr>
          <p:cNvPr id="72" name="TextBox 71"/>
          <p:cNvSpPr txBox="1"/>
          <p:nvPr/>
        </p:nvSpPr>
        <p:spPr>
          <a:xfrm>
            <a:off x="9562338" y="5971032"/>
            <a:ext cx="1648206" cy="237744"/>
          </a:xfrm>
          <a:prstGeom prst="rect">
            <a:avLst/>
          </a:prstGeom>
          <a:noFill/>
        </p:spPr>
        <p:txBody>
          <a:bodyPr wrap="square" lIns="0" rIns="0" tIns="0" bIns="0" anchor="ctr">
            <a:spAutoFit/>
          </a:bodyPr>
          <a:lstStyle/>
          <a:p>
            <a:pPr algn="l"/>
            <a:r>
              <a:rPr sz="1000" b="0" i="0">
                <a:solidFill>
                  <a:srgbClr val="4A5058"/>
                </a:solidFill>
              </a:rPr>
              <a:t>for the bank to confirm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TL;DR · DRISHTI 2.9.5</a:t>
            </a:r>
          </a:p>
        </p:txBody>
      </p:sp>
      <p:sp>
        <p:nvSpPr>
          <p:cNvPr id="3" name="Title 2"/>
          <p:cNvSpPr>
            <a:spLocks noGrp="1"/>
          </p:cNvSpPr>
          <p:nvPr>
            <p:ph type="title" idx="104"/>
          </p:nvPr>
        </p:nvSpPr>
        <p:spPr/>
        <p:txBody>
          <a:bodyPr/>
          <a:lstStyle/>
          <a:p>
            <a:r>
              <a:t>Executive summary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81328"/>
            <a:ext cx="2331720" cy="786384"/>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41832" y="1481328"/>
            <a:ext cx="2103120" cy="786384"/>
          </a:xfrm>
          <a:prstGeom prst="rect">
            <a:avLst/>
          </a:prstGeom>
          <a:noFill/>
        </p:spPr>
        <p:txBody>
          <a:bodyPr wrap="square" lIns="0" rIns="0" tIns="0" bIns="0" anchor="ctr">
            <a:spAutoFit/>
          </a:bodyPr>
          <a:lstStyle/>
          <a:p>
            <a:pPr algn="l"/>
            <a:r>
              <a:rPr sz="1400" b="1" i="0">
                <a:solidFill>
                  <a:srgbClr val="8A1626"/>
                </a:solidFill>
              </a:rPr>
              <a:t>What is it?</a:t>
            </a:r>
          </a:p>
        </p:txBody>
      </p:sp>
      <p:sp>
        <p:nvSpPr>
          <p:cNvPr id="28" name="Rectangle 27"/>
          <p:cNvSpPr/>
          <p:nvPr/>
        </p:nvSpPr>
        <p:spPr>
          <a:xfrm>
            <a:off x="3154680" y="1481328"/>
            <a:ext cx="8257032" cy="78638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3337560" y="1481328"/>
            <a:ext cx="7936992" cy="786384"/>
          </a:xfrm>
          <a:prstGeom prst="rect">
            <a:avLst/>
          </a:prstGeom>
          <a:noFill/>
        </p:spPr>
        <p:txBody>
          <a:bodyPr wrap="square" lIns="0" rIns="0" tIns="0" bIns="0" anchor="ctr">
            <a:spAutoFit/>
          </a:bodyPr>
          <a:lstStyle/>
          <a:p>
            <a:pPr algn="l"/>
            <a:r>
              <a:rPr sz="1300" b="0" i="0">
                <a:solidFill>
                  <a:srgbClr val="1A1A1A"/>
                </a:solidFill>
              </a:rPr>
              <a:t>A VaR engine in the Drishti server: historical simulation over 509 scenario days (or a set window), VaR 99% (95% by setting) and ES 97.5%, 1 day, on demand for any set of trades or positions: the bank, a legal entity, desk, book, a portfolio, a rule or a basket.</a:t>
            </a:r>
          </a:p>
        </p:txBody>
      </p:sp>
      <p:sp>
        <p:nvSpPr>
          <p:cNvPr id="30" name="Rectangle 29"/>
          <p:cNvSpPr/>
          <p:nvPr/>
        </p:nvSpPr>
        <p:spPr>
          <a:xfrm>
            <a:off x="777240" y="2359152"/>
            <a:ext cx="2331720" cy="676656"/>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941832" y="2359152"/>
            <a:ext cx="2103120" cy="676656"/>
          </a:xfrm>
          <a:prstGeom prst="rect">
            <a:avLst/>
          </a:prstGeom>
          <a:noFill/>
        </p:spPr>
        <p:txBody>
          <a:bodyPr wrap="square" lIns="0" rIns="0" tIns="0" bIns="0" anchor="ctr">
            <a:spAutoFit/>
          </a:bodyPr>
          <a:lstStyle/>
          <a:p>
            <a:pPr algn="l"/>
            <a:r>
              <a:rPr sz="1400" b="1" i="0">
                <a:solidFill>
                  <a:srgbClr val="FFFFFF"/>
                </a:solidFill>
              </a:rPr>
              <a:t>Every input</a:t>
            </a:r>
          </a:p>
        </p:txBody>
      </p:sp>
      <p:sp>
        <p:nvSpPr>
          <p:cNvPr id="32" name="Rectangle 31"/>
          <p:cNvSpPr/>
          <p:nvPr/>
        </p:nvSpPr>
        <p:spPr>
          <a:xfrm>
            <a:off x="3154680" y="2359152"/>
            <a:ext cx="8257032" cy="676656"/>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3337560" y="2359152"/>
            <a:ext cx="7936992" cy="676656"/>
          </a:xfrm>
          <a:prstGeom prst="rect">
            <a:avLst/>
          </a:prstGeom>
          <a:noFill/>
        </p:spPr>
        <p:txBody>
          <a:bodyPr wrap="square" lIns="0" rIns="0" tIns="0" bIns="0" anchor="ctr">
            <a:spAutoFit/>
          </a:bodyPr>
          <a:lstStyle/>
          <a:p>
            <a:pPr algn="l"/>
            <a:r>
              <a:rPr sz="1350" b="1" i="0">
                <a:solidFill>
                  <a:srgbClr val="8A1626"/>
                </a:solidFill>
              </a:rPr>
              <a:t>One engine, every input: scenario PVs or path P&amp;L, by trade or by position, any currency, files or Kafka. Source systems keep their own formats.</a:t>
            </a:r>
          </a:p>
        </p:txBody>
      </p:sp>
      <p:sp>
        <p:nvSpPr>
          <p:cNvPr id="34" name="Rectangle 33"/>
          <p:cNvSpPr/>
          <p:nvPr/>
        </p:nvSpPr>
        <p:spPr>
          <a:xfrm>
            <a:off x="777240" y="3127248"/>
            <a:ext cx="2331720" cy="118872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941832" y="3127248"/>
            <a:ext cx="2103120" cy="1188720"/>
          </a:xfrm>
          <a:prstGeom prst="rect">
            <a:avLst/>
          </a:prstGeom>
          <a:noFill/>
        </p:spPr>
        <p:txBody>
          <a:bodyPr wrap="square" lIns="0" rIns="0" tIns="0" bIns="0" anchor="ctr">
            <a:spAutoFit/>
          </a:bodyPr>
          <a:lstStyle/>
          <a:p>
            <a:pPr algn="l"/>
            <a:r>
              <a:rPr sz="1400" b="1" i="0">
                <a:solidFill>
                  <a:srgbClr val="8A1626"/>
                </a:solidFill>
              </a:rPr>
              <a:t>How does it work?</a:t>
            </a:r>
          </a:p>
        </p:txBody>
      </p:sp>
      <p:sp>
        <p:nvSpPr>
          <p:cNvPr id="36" name="Rectangle 35"/>
          <p:cNvSpPr/>
          <p:nvPr/>
        </p:nvSpPr>
        <p:spPr>
          <a:xfrm>
            <a:off x="3154680" y="3127248"/>
            <a:ext cx="8257032" cy="11887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3337560" y="3127248"/>
            <a:ext cx="7936992" cy="1188720"/>
          </a:xfrm>
          <a:prstGeom prst="rect">
            <a:avLst/>
          </a:prstGeom>
          <a:noFill/>
        </p:spPr>
        <p:txBody>
          <a:bodyPr wrap="square" lIns="0" rIns="0" tIns="0" bIns="0" anchor="ctr">
            <a:spAutoFit/>
          </a:bodyPr>
          <a:lstStyle/>
          <a:p>
            <a:pPr algn="l"/>
            <a:r>
              <a:rPr sz="1300" b="0" i="0">
                <a:solidFill>
                  <a:srgbClr val="1A1A1A"/>
                </a:solidFill>
              </a:rPr>
              <a:t>It never reprices. The pricing systems send scenario PVs (in each trade's or position's own currency) or path P&amp;L, at trade or position level, through files or Kafka. Drishti turns each into one internal form, a P&amp;L vector per trade or position, converting PVs with scenario FX into any reporting currency. A scope's vector is the sum of its trades' or positions' vectors, and VaR, ES and every contribution are read from that one vector.</a:t>
            </a:r>
          </a:p>
        </p:txBody>
      </p:sp>
      <p:sp>
        <p:nvSpPr>
          <p:cNvPr id="38" name="Rectangle 37"/>
          <p:cNvSpPr/>
          <p:nvPr/>
        </p:nvSpPr>
        <p:spPr>
          <a:xfrm>
            <a:off x="777240" y="4407408"/>
            <a:ext cx="2331720" cy="786384"/>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41832" y="4407408"/>
            <a:ext cx="2103120" cy="786384"/>
          </a:xfrm>
          <a:prstGeom prst="rect">
            <a:avLst/>
          </a:prstGeom>
          <a:noFill/>
        </p:spPr>
        <p:txBody>
          <a:bodyPr wrap="square" lIns="0" rIns="0" tIns="0" bIns="0" anchor="ctr">
            <a:spAutoFit/>
          </a:bodyPr>
          <a:lstStyle/>
          <a:p>
            <a:pPr algn="l"/>
            <a:r>
              <a:rPr sz="1400" b="1" i="0">
                <a:solidFill>
                  <a:srgbClr val="8A1626"/>
                </a:solidFill>
              </a:rPr>
              <a:t>Can I trust it?</a:t>
            </a:r>
          </a:p>
        </p:txBody>
      </p:sp>
      <p:sp>
        <p:nvSpPr>
          <p:cNvPr id="40" name="Rectangle 39"/>
          <p:cNvSpPr/>
          <p:nvPr/>
        </p:nvSpPr>
        <p:spPr>
          <a:xfrm>
            <a:off x="3154680" y="4407408"/>
            <a:ext cx="8257032" cy="78638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3337560" y="4407408"/>
            <a:ext cx="7936992" cy="786384"/>
          </a:xfrm>
          <a:prstGeom prst="rect">
            <a:avLst/>
          </a:prstGeom>
          <a:noFill/>
        </p:spPr>
        <p:txBody>
          <a:bodyPr wrap="square" lIns="0" rIns="0" tIns="0" bIns="0" anchor="ctr">
            <a:spAutoFit/>
          </a:bodyPr>
          <a:lstStyle/>
          <a:p>
            <a:pPr algn="l"/>
            <a:r>
              <a:rPr sz="1300" b="0" i="0">
                <a:solidFill>
                  <a:srgbClr val="1A1A1A"/>
                </a:solidFill>
              </a:rPr>
              <a:t>Every answer names its inputs' versions, batch ids, scenario set, method and memory tier; components add up to the VaR exactly; every node gets an official end-of-day record, append-only, kept 7 years.</a:t>
            </a:r>
          </a:p>
        </p:txBody>
      </p:sp>
      <p:sp>
        <p:nvSpPr>
          <p:cNvPr id="42" name="Rectangle 41"/>
          <p:cNvSpPr/>
          <p:nvPr/>
        </p:nvSpPr>
        <p:spPr>
          <a:xfrm>
            <a:off x="777240" y="5285232"/>
            <a:ext cx="2331720" cy="786384"/>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941832" y="5285232"/>
            <a:ext cx="2103120" cy="786384"/>
          </a:xfrm>
          <a:prstGeom prst="rect">
            <a:avLst/>
          </a:prstGeom>
          <a:noFill/>
        </p:spPr>
        <p:txBody>
          <a:bodyPr wrap="square" lIns="0" rIns="0" tIns="0" bIns="0" anchor="ctr">
            <a:spAutoFit/>
          </a:bodyPr>
          <a:lstStyle/>
          <a:p>
            <a:pPr algn="l"/>
            <a:r>
              <a:rPr sz="1400" b="1" i="0">
                <a:solidFill>
                  <a:srgbClr val="8A1626"/>
                </a:solidFill>
              </a:rPr>
              <a:t>Does it scale?</a:t>
            </a:r>
          </a:p>
        </p:txBody>
      </p:sp>
      <p:sp>
        <p:nvSpPr>
          <p:cNvPr id="44" name="Rectangle 43"/>
          <p:cNvSpPr/>
          <p:nvPr/>
        </p:nvSpPr>
        <p:spPr>
          <a:xfrm>
            <a:off x="3154680" y="5285232"/>
            <a:ext cx="8257032" cy="78638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3337560" y="5285232"/>
            <a:ext cx="7936992" cy="786384"/>
          </a:xfrm>
          <a:prstGeom prst="rect">
            <a:avLst/>
          </a:prstGeom>
          <a:noFill/>
        </p:spPr>
        <p:txBody>
          <a:bodyPr wrap="square" lIns="0" rIns="0" tIns="0" bIns="0" anchor="ctr">
            <a:spAutoFit/>
          </a:bodyPr>
          <a:lstStyle/>
          <a:p>
            <a:pPr algn="l"/>
            <a:r>
              <a:rPr sz="1300" b="0" i="0">
                <a:solidFill>
                  <a:srgbClr val="1A1A1A"/>
                </a:solidFill>
              </a:rPr>
              <a:t>Measured: 1 million rows summed in 58 ms (heap tier); 100,000 × 5 dates on the tiered store, a node in 0.48 ms; 700 limit letters build in the same time. Sized for a large bank (e.g. 2.3M positions, 15,000 portfolios) on the sizing and capacity slides; sharding is designed.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02</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How VaR works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METHOD</a:t>
            </a:r>
          </a:p>
        </p:txBody>
      </p:sp>
      <p:sp>
        <p:nvSpPr>
          <p:cNvPr id="3" name="Title 2"/>
          <p:cNvSpPr>
            <a:spLocks noGrp="1"/>
          </p:cNvSpPr>
          <p:nvPr>
            <p:ph type="title" idx="104"/>
          </p:nvPr>
        </p:nvSpPr>
        <p:spPr/>
        <p:txBody>
          <a:bodyPr/>
          <a:lstStyle/>
          <a:p>
            <a:r>
              <a:t>How VaR works in Drishti: add vectors, then read the tail</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44752"/>
            <a:ext cx="2432304" cy="102412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Oval 26"/>
          <p:cNvSpPr/>
          <p:nvPr/>
        </p:nvSpPr>
        <p:spPr>
          <a:xfrm>
            <a:off x="886968"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1</a:t>
            </a:r>
          </a:p>
        </p:txBody>
      </p:sp>
      <p:sp>
        <p:nvSpPr>
          <p:cNvPr id="28" name="TextBox 27"/>
          <p:cNvSpPr txBox="1"/>
          <p:nvPr/>
        </p:nvSpPr>
        <p:spPr>
          <a:xfrm>
            <a:off x="1307592" y="1499616"/>
            <a:ext cx="1828800" cy="438912"/>
          </a:xfrm>
          <a:prstGeom prst="rect">
            <a:avLst/>
          </a:prstGeom>
          <a:noFill/>
        </p:spPr>
        <p:txBody>
          <a:bodyPr wrap="square" lIns="0" rIns="0" tIns="0" bIns="0" anchor="ctr">
            <a:spAutoFit/>
          </a:bodyPr>
          <a:lstStyle/>
          <a:p>
            <a:pPr algn="l"/>
            <a:r>
              <a:rPr sz="1250" b="1" i="0">
                <a:solidFill>
                  <a:srgbClr val="8A1626"/>
                </a:solidFill>
              </a:rPr>
              <a:t>A P&amp;L vector per trade or position</a:t>
            </a:r>
          </a:p>
        </p:txBody>
      </p:sp>
      <p:sp>
        <p:nvSpPr>
          <p:cNvPr id="29" name="TextBox 28"/>
          <p:cNvSpPr txBox="1"/>
          <p:nvPr/>
        </p:nvSpPr>
        <p:spPr>
          <a:xfrm>
            <a:off x="905256" y="1975104"/>
            <a:ext cx="2231136" cy="475488"/>
          </a:xfrm>
          <a:prstGeom prst="rect">
            <a:avLst/>
          </a:prstGeom>
          <a:noFill/>
        </p:spPr>
        <p:txBody>
          <a:bodyPr wrap="square" lIns="0" rIns="0" tIns="0" bIns="0" anchor="t">
            <a:spAutoFit/>
          </a:bodyPr>
          <a:lstStyle/>
          <a:p>
            <a:pPr algn="l"/>
            <a:r>
              <a:rPr sz="1100" b="0" i="0">
                <a:solidFill>
                  <a:srgbClr val="4A5058"/>
                </a:solidFill>
              </a:rPr>
              <a:t>509 numbers: its P&amp;L if the market moved as on each scenario day</a:t>
            </a:r>
          </a:p>
        </p:txBody>
      </p:sp>
      <p:cxnSp>
        <p:nvCxnSpPr>
          <p:cNvPr id="30" name="Connector 29"/>
          <p:cNvCxnSpPr/>
          <p:nvPr/>
        </p:nvCxnSpPr>
        <p:spPr>
          <a:xfrm>
            <a:off x="3236976" y="1920240"/>
            <a:ext cx="246888"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3511296" y="1444752"/>
            <a:ext cx="2432304" cy="102412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Oval 31"/>
          <p:cNvSpPr/>
          <p:nvPr/>
        </p:nvSpPr>
        <p:spPr>
          <a:xfrm>
            <a:off x="3621024"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2</a:t>
            </a:r>
          </a:p>
        </p:txBody>
      </p:sp>
      <p:sp>
        <p:nvSpPr>
          <p:cNvPr id="33" name="TextBox 32"/>
          <p:cNvSpPr txBox="1"/>
          <p:nvPr/>
        </p:nvSpPr>
        <p:spPr>
          <a:xfrm>
            <a:off x="4041648" y="1499616"/>
            <a:ext cx="1828800" cy="438912"/>
          </a:xfrm>
          <a:prstGeom prst="rect">
            <a:avLst/>
          </a:prstGeom>
          <a:noFill/>
        </p:spPr>
        <p:txBody>
          <a:bodyPr wrap="square" lIns="0" rIns="0" tIns="0" bIns="0" anchor="ctr">
            <a:spAutoFit/>
          </a:bodyPr>
          <a:lstStyle/>
          <a:p>
            <a:pPr algn="l"/>
            <a:r>
              <a:rPr sz="1250" b="1" i="0">
                <a:solidFill>
                  <a:srgbClr val="8A1626"/>
                </a:solidFill>
              </a:rPr>
              <a:t>Add the scope's vectors</a:t>
            </a:r>
          </a:p>
        </p:txBody>
      </p:sp>
      <p:sp>
        <p:nvSpPr>
          <p:cNvPr id="34" name="TextBox 33"/>
          <p:cNvSpPr txBox="1"/>
          <p:nvPr/>
        </p:nvSpPr>
        <p:spPr>
          <a:xfrm>
            <a:off x="3639312" y="1975104"/>
            <a:ext cx="2231136" cy="475488"/>
          </a:xfrm>
          <a:prstGeom prst="rect">
            <a:avLst/>
          </a:prstGeom>
          <a:noFill/>
        </p:spPr>
        <p:txBody>
          <a:bodyPr wrap="square" lIns="0" rIns="0" tIns="0" bIns="0" anchor="t">
            <a:spAutoFit/>
          </a:bodyPr>
          <a:lstStyle/>
          <a:p>
            <a:pPr algn="l"/>
            <a:r>
              <a:rPr sz="1100" b="0" i="0">
                <a:solidFill>
                  <a:srgbClr val="4A5058"/>
                </a:solidFill>
              </a:rPr>
              <a:t>a set of trades or positions; overlaps once; longs and shorts net</a:t>
            </a:r>
          </a:p>
        </p:txBody>
      </p:sp>
      <p:cxnSp>
        <p:nvCxnSpPr>
          <p:cNvPr id="35" name="Connector 34"/>
          <p:cNvCxnSpPr/>
          <p:nvPr/>
        </p:nvCxnSpPr>
        <p:spPr>
          <a:xfrm>
            <a:off x="5971032" y="1920240"/>
            <a:ext cx="246888"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6245352" y="1444752"/>
            <a:ext cx="2432304" cy="102412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Oval 36"/>
          <p:cNvSpPr/>
          <p:nvPr/>
        </p:nvSpPr>
        <p:spPr>
          <a:xfrm>
            <a:off x="6355080"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3</a:t>
            </a:r>
          </a:p>
        </p:txBody>
      </p:sp>
      <p:sp>
        <p:nvSpPr>
          <p:cNvPr id="38" name="TextBox 37"/>
          <p:cNvSpPr txBox="1"/>
          <p:nvPr/>
        </p:nvSpPr>
        <p:spPr>
          <a:xfrm>
            <a:off x="6775704" y="1499616"/>
            <a:ext cx="1828800" cy="438912"/>
          </a:xfrm>
          <a:prstGeom prst="rect">
            <a:avLst/>
          </a:prstGeom>
          <a:noFill/>
        </p:spPr>
        <p:txBody>
          <a:bodyPr wrap="square" lIns="0" rIns="0" tIns="0" bIns="0" anchor="ctr">
            <a:spAutoFit/>
          </a:bodyPr>
          <a:lstStyle/>
          <a:p>
            <a:pPr algn="l"/>
            <a:r>
              <a:rPr sz="1250" b="1" i="0">
                <a:solidFill>
                  <a:srgbClr val="8A1626"/>
                </a:solidFill>
              </a:rPr>
              <a:t>Sort the 509 P&amp;Ls</a:t>
            </a:r>
          </a:p>
        </p:txBody>
      </p:sp>
      <p:sp>
        <p:nvSpPr>
          <p:cNvPr id="39" name="TextBox 38"/>
          <p:cNvSpPr txBox="1"/>
          <p:nvPr/>
        </p:nvSpPr>
        <p:spPr>
          <a:xfrm>
            <a:off x="6373368" y="1975104"/>
            <a:ext cx="2231136" cy="475488"/>
          </a:xfrm>
          <a:prstGeom prst="rect">
            <a:avLst/>
          </a:prstGeom>
          <a:noFill/>
        </p:spPr>
        <p:txBody>
          <a:bodyPr wrap="square" lIns="0" rIns="0" tIns="0" bIns="0" anchor="t">
            <a:spAutoFit/>
          </a:bodyPr>
          <a:lstStyle/>
          <a:p>
            <a:pPr algn="l"/>
            <a:r>
              <a:rPr sz="1100" b="0" i="0">
                <a:solidFill>
                  <a:srgbClr val="4A5058"/>
                </a:solidFill>
              </a:rPr>
              <a:t>worst first; equal P&amp;Ls: the older scenario first</a:t>
            </a:r>
          </a:p>
        </p:txBody>
      </p:sp>
      <p:cxnSp>
        <p:nvCxnSpPr>
          <p:cNvPr id="40" name="Connector 39"/>
          <p:cNvCxnSpPr/>
          <p:nvPr/>
        </p:nvCxnSpPr>
        <p:spPr>
          <a:xfrm>
            <a:off x="8705088" y="1920240"/>
            <a:ext cx="246888"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8979408" y="1444752"/>
            <a:ext cx="2432304" cy="102412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Oval 41"/>
          <p:cNvSpPr/>
          <p:nvPr/>
        </p:nvSpPr>
        <p:spPr>
          <a:xfrm>
            <a:off x="9089136"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4</a:t>
            </a:r>
          </a:p>
        </p:txBody>
      </p:sp>
      <p:sp>
        <p:nvSpPr>
          <p:cNvPr id="43" name="TextBox 42"/>
          <p:cNvSpPr txBox="1"/>
          <p:nvPr/>
        </p:nvSpPr>
        <p:spPr>
          <a:xfrm>
            <a:off x="9509760" y="1499616"/>
            <a:ext cx="1828800" cy="438912"/>
          </a:xfrm>
          <a:prstGeom prst="rect">
            <a:avLst/>
          </a:prstGeom>
          <a:noFill/>
        </p:spPr>
        <p:txBody>
          <a:bodyPr wrap="square" lIns="0" rIns="0" tIns="0" bIns="0" anchor="ctr">
            <a:spAutoFit/>
          </a:bodyPr>
          <a:lstStyle/>
          <a:p>
            <a:pPr algn="l"/>
            <a:r>
              <a:rPr sz="1250" b="1" i="0">
                <a:solidFill>
                  <a:srgbClr val="8A1626"/>
                </a:solidFill>
              </a:rPr>
              <a:t>Read the tail</a:t>
            </a:r>
          </a:p>
        </p:txBody>
      </p:sp>
      <p:sp>
        <p:nvSpPr>
          <p:cNvPr id="44" name="TextBox 43"/>
          <p:cNvSpPr txBox="1"/>
          <p:nvPr/>
        </p:nvSpPr>
        <p:spPr>
          <a:xfrm>
            <a:off x="9107424" y="1975104"/>
            <a:ext cx="2231136" cy="475488"/>
          </a:xfrm>
          <a:prstGeom prst="rect">
            <a:avLst/>
          </a:prstGeom>
          <a:noFill/>
        </p:spPr>
        <p:txBody>
          <a:bodyPr wrap="square" lIns="0" rIns="0" tIns="0" bIns="0" anchor="t">
            <a:spAutoFit/>
          </a:bodyPr>
          <a:lstStyle/>
          <a:p>
            <a:pPr algn="l"/>
            <a:r>
              <a:rPr sz="1100" b="0" i="0">
                <a:solidFill>
                  <a:srgbClr val="4A5058"/>
                </a:solidFill>
              </a:rPr>
              <a:t>VaR: minus the 6th worst; ES: minus the mean of the 13 worst</a:t>
            </a:r>
          </a:p>
        </p:txBody>
      </p:sp>
      <p:sp>
        <p:nvSpPr>
          <p:cNvPr id="45" name="TextBox 44"/>
          <p:cNvSpPr txBox="1"/>
          <p:nvPr/>
        </p:nvSpPr>
        <p:spPr>
          <a:xfrm>
            <a:off x="777240" y="2560320"/>
            <a:ext cx="6400800" cy="274320"/>
          </a:xfrm>
          <a:prstGeom prst="rect">
            <a:avLst/>
          </a:prstGeom>
          <a:noFill/>
        </p:spPr>
        <p:txBody>
          <a:bodyPr wrap="square" lIns="0" rIns="0" tIns="0" bIns="0" anchor="t">
            <a:spAutoFit/>
          </a:bodyPr>
          <a:lstStyle/>
          <a:p>
            <a:pPr algn="l"/>
            <a:r>
              <a:rPr sz="1300" b="1" i="0">
                <a:solidFill>
                  <a:srgbClr val="A51C30"/>
                </a:solidFill>
              </a:rPr>
              <a:t>Worked example  </a:t>
            </a:r>
            <a:r>
              <a:rPr sz="1200" b="0" i="0">
                <a:solidFill>
                  <a:srgbClr val="4A5058"/>
                </a:solidFill>
              </a:rPr>
              <a:t>ten scenarios, α = 80% so k = 2; one book holding P1 (T1 long, T2 short) and P2 (T3)</a:t>
            </a:r>
          </a:p>
        </p:txBody>
      </p:sp>
      <p:graphicFrame>
        <p:nvGraphicFramePr>
          <p:cNvPr id="46" name="Table 45"/>
          <p:cNvGraphicFramePr>
            <a:graphicFrameLocks noGrp="1"/>
          </p:cNvGraphicFramePr>
          <p:nvPr/>
        </p:nvGraphicFramePr>
        <p:xfrm>
          <a:off x="777240" y="2862072"/>
          <a:ext cx="6400800" cy="1591056"/>
        </p:xfrm>
        <a:graphic>
          <a:graphicData uri="http://schemas.openxmlformats.org/drawingml/2006/table">
            <a:tbl>
              <a:tblPr firstRow="0" bandRow="0">
                <a:tableStyleId>{5940675A-B579-460E-94D1-54222C63F5DA}</a:tableStyleId>
              </a:tblPr>
              <a:tblGrid>
                <a:gridCol w="1463040"/>
                <a:gridCol w="493776"/>
                <a:gridCol w="493776"/>
                <a:gridCol w="493776"/>
                <a:gridCol w="493776"/>
                <a:gridCol w="493776"/>
                <a:gridCol w="493776"/>
                <a:gridCol w="493776"/>
                <a:gridCol w="493776"/>
                <a:gridCol w="493776"/>
                <a:gridCol w="493776"/>
              </a:tblGrid>
              <a:tr h="265176">
                <a:tc>
                  <a:txBody>
                    <a:bodyPr wrap="square"/>
                    <a:lstStyle/>
                    <a:p>
                      <a:r>
                        <a:rPr sz="1200" b="1" i="0">
                          <a:solidFill>
                            <a:srgbClr val="FFFFFF"/>
                          </a:solidFill>
                        </a:rPr>
                        <a:t>Vector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65176">
                <a:tc>
                  <a:txBody>
                    <a:bodyPr wrap="square"/>
                    <a:lstStyle/>
                    <a:p>
                      <a:r>
                        <a:rPr sz="1200" b="1" i="0">
                          <a:solidFill>
                            <a:srgbClr val="8A1626"/>
                          </a:solidFill>
                        </a:rPr>
                        <a:t>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200" b="1" i="0">
                          <a:solidFill>
                            <a:srgbClr val="8A1626"/>
                          </a:solidFill>
                        </a:rPr>
                        <a:t>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200" b="1" i="0">
                          <a:solidFill>
                            <a:srgbClr val="8A1626"/>
                          </a:solidFill>
                        </a:rPr>
                        <a:t>P2 = 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200" b="1" i="0">
                          <a:solidFill>
                            <a:srgbClr val="8A1626"/>
                          </a:solidFill>
                        </a:rPr>
                        <a:t>P1 = T1 + 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200" b="1" i="0">
                          <a:solidFill>
                            <a:srgbClr val="8A1626"/>
                          </a:solidFill>
                        </a:rPr>
                        <a:t>Book = P1 + P2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1" i="0">
                          <a:solidFill>
                            <a:srgbClr val="A51C30"/>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1" i="0">
                          <a:solidFill>
                            <a:srgbClr val="A51C30"/>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1" i="0">
                          <a:solidFill>
                            <a:srgbClr val="A51C30"/>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7" name="Rectangle 46"/>
          <p:cNvSpPr/>
          <p:nvPr/>
        </p:nvSpPr>
        <p:spPr>
          <a:xfrm>
            <a:off x="777240" y="4526280"/>
            <a:ext cx="1207008" cy="9875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868680" y="4572000"/>
            <a:ext cx="1069848" cy="228600"/>
          </a:xfrm>
          <a:prstGeom prst="rect">
            <a:avLst/>
          </a:prstGeom>
          <a:noFill/>
        </p:spPr>
        <p:txBody>
          <a:bodyPr wrap="square" lIns="0" rIns="0" tIns="0" bIns="0" anchor="t">
            <a:spAutoFit/>
          </a:bodyPr>
          <a:lstStyle/>
          <a:p>
            <a:pPr algn="l"/>
            <a:r>
              <a:rPr sz="1100" b="1" i="0">
                <a:solidFill>
                  <a:srgbClr val="4A5058"/>
                </a:solidFill>
              </a:rPr>
              <a:t>VaR</a:t>
            </a:r>
          </a:p>
        </p:txBody>
      </p:sp>
      <p:sp>
        <p:nvSpPr>
          <p:cNvPr id="49" name="TextBox 48"/>
          <p:cNvSpPr txBox="1"/>
          <p:nvPr/>
        </p:nvSpPr>
        <p:spPr>
          <a:xfrm>
            <a:off x="868680" y="4800600"/>
            <a:ext cx="1069848" cy="320040"/>
          </a:xfrm>
          <a:prstGeom prst="rect">
            <a:avLst/>
          </a:prstGeom>
          <a:noFill/>
        </p:spPr>
        <p:txBody>
          <a:bodyPr wrap="square" lIns="0" rIns="0" tIns="0" bIns="0" anchor="t">
            <a:spAutoFit/>
          </a:bodyPr>
          <a:lstStyle/>
          <a:p>
            <a:pPr algn="l"/>
            <a:r>
              <a:rPr sz="1500" b="1" i="0">
                <a:solidFill>
                  <a:srgbClr val="8A1626"/>
                </a:solidFill>
              </a:rPr>
              <a:t>6</a:t>
            </a:r>
          </a:p>
        </p:txBody>
      </p:sp>
      <p:sp>
        <p:nvSpPr>
          <p:cNvPr id="50" name="TextBox 49"/>
          <p:cNvSpPr txBox="1"/>
          <p:nvPr/>
        </p:nvSpPr>
        <p:spPr>
          <a:xfrm>
            <a:off x="868680" y="5102352"/>
            <a:ext cx="1069848" cy="411480"/>
          </a:xfrm>
          <a:prstGeom prst="rect">
            <a:avLst/>
          </a:prstGeom>
          <a:noFill/>
        </p:spPr>
        <p:txBody>
          <a:bodyPr wrap="square" lIns="0" rIns="0" tIns="0" bIns="0" anchor="t">
            <a:spAutoFit/>
          </a:bodyPr>
          <a:lstStyle/>
          <a:p>
            <a:pPr algn="l"/>
            <a:r>
              <a:rPr sz="1050" b="0" i="0">
                <a:solidFill>
                  <a:srgbClr val="4A5058"/>
                </a:solidFill>
              </a:rPr>
              <a:t>2nd worst of the book: −6</a:t>
            </a:r>
          </a:p>
        </p:txBody>
      </p:sp>
      <p:sp>
        <p:nvSpPr>
          <p:cNvPr id="51" name="Rectangle 50"/>
          <p:cNvSpPr/>
          <p:nvPr/>
        </p:nvSpPr>
        <p:spPr>
          <a:xfrm>
            <a:off x="2066544" y="4526280"/>
            <a:ext cx="1207008" cy="9875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2157984" y="4572000"/>
            <a:ext cx="1069848" cy="228600"/>
          </a:xfrm>
          <a:prstGeom prst="rect">
            <a:avLst/>
          </a:prstGeom>
          <a:noFill/>
        </p:spPr>
        <p:txBody>
          <a:bodyPr wrap="square" lIns="0" rIns="0" tIns="0" bIns="0" anchor="t">
            <a:spAutoFit/>
          </a:bodyPr>
          <a:lstStyle/>
          <a:p>
            <a:pPr algn="l"/>
            <a:r>
              <a:rPr sz="1100" b="1" i="0">
                <a:solidFill>
                  <a:srgbClr val="4A5058"/>
                </a:solidFill>
              </a:rPr>
              <a:t>ES</a:t>
            </a:r>
          </a:p>
        </p:txBody>
      </p:sp>
      <p:sp>
        <p:nvSpPr>
          <p:cNvPr id="53" name="TextBox 52"/>
          <p:cNvSpPr txBox="1"/>
          <p:nvPr/>
        </p:nvSpPr>
        <p:spPr>
          <a:xfrm>
            <a:off x="2157984" y="4800600"/>
            <a:ext cx="1069848" cy="320040"/>
          </a:xfrm>
          <a:prstGeom prst="rect">
            <a:avLst/>
          </a:prstGeom>
          <a:noFill/>
        </p:spPr>
        <p:txBody>
          <a:bodyPr wrap="square" lIns="0" rIns="0" tIns="0" bIns="0" anchor="t">
            <a:spAutoFit/>
          </a:bodyPr>
          <a:lstStyle/>
          <a:p>
            <a:pPr algn="l"/>
            <a:r>
              <a:rPr sz="1500" b="1" i="0">
                <a:solidFill>
                  <a:srgbClr val="8A1626"/>
                </a:solidFill>
              </a:rPr>
              <a:t>6.5</a:t>
            </a:r>
          </a:p>
        </p:txBody>
      </p:sp>
      <p:sp>
        <p:nvSpPr>
          <p:cNvPr id="54" name="TextBox 53"/>
          <p:cNvSpPr txBox="1"/>
          <p:nvPr/>
        </p:nvSpPr>
        <p:spPr>
          <a:xfrm>
            <a:off x="2157984" y="5102352"/>
            <a:ext cx="1069848" cy="411480"/>
          </a:xfrm>
          <a:prstGeom prst="rect">
            <a:avLst/>
          </a:prstGeom>
          <a:noFill/>
        </p:spPr>
        <p:txBody>
          <a:bodyPr wrap="square" lIns="0" rIns="0" tIns="0" bIns="0" anchor="t">
            <a:spAutoFit/>
          </a:bodyPr>
          <a:lstStyle/>
          <a:p>
            <a:pPr algn="l"/>
            <a:r>
              <a:rPr sz="1050" b="0" i="0">
                <a:solidFill>
                  <a:srgbClr val="4A5058"/>
                </a:solidFill>
              </a:rPr>
              <a:t>mean of −7 and −6</a:t>
            </a:r>
          </a:p>
        </p:txBody>
      </p:sp>
      <p:sp>
        <p:nvSpPr>
          <p:cNvPr id="55" name="Rectangle 54"/>
          <p:cNvSpPr/>
          <p:nvPr/>
        </p:nvSpPr>
        <p:spPr>
          <a:xfrm>
            <a:off x="3355848" y="4526280"/>
            <a:ext cx="1207008" cy="9875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3447288" y="4572000"/>
            <a:ext cx="1069848" cy="228600"/>
          </a:xfrm>
          <a:prstGeom prst="rect">
            <a:avLst/>
          </a:prstGeom>
          <a:noFill/>
        </p:spPr>
        <p:txBody>
          <a:bodyPr wrap="square" lIns="0" rIns="0" tIns="0" bIns="0" anchor="t">
            <a:spAutoFit/>
          </a:bodyPr>
          <a:lstStyle/>
          <a:p>
            <a:pPr algn="l"/>
            <a:r>
              <a:rPr sz="1100" b="1" i="0">
                <a:solidFill>
                  <a:srgbClr val="4A5058"/>
                </a:solidFill>
              </a:rPr>
              <a:t>Component VaR</a:t>
            </a:r>
          </a:p>
        </p:txBody>
      </p:sp>
      <p:sp>
        <p:nvSpPr>
          <p:cNvPr id="57" name="TextBox 56"/>
          <p:cNvSpPr txBox="1"/>
          <p:nvPr/>
        </p:nvSpPr>
        <p:spPr>
          <a:xfrm>
            <a:off x="3447288" y="4800600"/>
            <a:ext cx="1069848" cy="320040"/>
          </a:xfrm>
          <a:prstGeom prst="rect">
            <a:avLst/>
          </a:prstGeom>
          <a:noFill/>
        </p:spPr>
        <p:txBody>
          <a:bodyPr wrap="square" lIns="0" rIns="0" tIns="0" bIns="0" anchor="t">
            <a:spAutoFit/>
          </a:bodyPr>
          <a:lstStyle/>
          <a:p>
            <a:pPr algn="l"/>
            <a:r>
              <a:rPr sz="1500" b="1" i="0">
                <a:solidFill>
                  <a:srgbClr val="8A1626"/>
                </a:solidFill>
              </a:rPr>
              <a:t>1.26 + 4.74</a:t>
            </a:r>
          </a:p>
        </p:txBody>
      </p:sp>
      <p:sp>
        <p:nvSpPr>
          <p:cNvPr id="58" name="TextBox 57"/>
          <p:cNvSpPr txBox="1"/>
          <p:nvPr/>
        </p:nvSpPr>
        <p:spPr>
          <a:xfrm>
            <a:off x="3447288" y="5102352"/>
            <a:ext cx="1069848" cy="411480"/>
          </a:xfrm>
          <a:prstGeom prst="rect">
            <a:avLst/>
          </a:prstGeom>
          <a:noFill/>
        </p:spPr>
        <p:txBody>
          <a:bodyPr wrap="square" lIns="0" rIns="0" tIns="0" bIns="0" anchor="t">
            <a:spAutoFit/>
          </a:bodyPr>
          <a:lstStyle/>
          <a:p>
            <a:pPr algn="l"/>
            <a:r>
              <a:rPr sz="1050" b="0" i="0">
                <a:solidFill>
                  <a:srgbClr val="4A5058"/>
                </a:solidFill>
              </a:rPr>
              <a:t>P1 + P2 = 6: Euler, adds up</a:t>
            </a:r>
          </a:p>
        </p:txBody>
      </p:sp>
      <p:sp>
        <p:nvSpPr>
          <p:cNvPr id="59" name="Rectangle 58"/>
          <p:cNvSpPr/>
          <p:nvPr/>
        </p:nvSpPr>
        <p:spPr>
          <a:xfrm>
            <a:off x="4645152" y="4526280"/>
            <a:ext cx="1207008" cy="9875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xtBox 59"/>
          <p:cNvSpPr txBox="1"/>
          <p:nvPr/>
        </p:nvSpPr>
        <p:spPr>
          <a:xfrm>
            <a:off x="4736592" y="4572000"/>
            <a:ext cx="1069848" cy="228600"/>
          </a:xfrm>
          <a:prstGeom prst="rect">
            <a:avLst/>
          </a:prstGeom>
          <a:noFill/>
        </p:spPr>
        <p:txBody>
          <a:bodyPr wrap="square" lIns="0" rIns="0" tIns="0" bIns="0" anchor="t">
            <a:spAutoFit/>
          </a:bodyPr>
          <a:lstStyle/>
          <a:p>
            <a:pPr algn="l"/>
            <a:r>
              <a:rPr sz="1100" b="1" i="0">
                <a:solidFill>
                  <a:srgbClr val="4A5058"/>
                </a:solidFill>
              </a:rPr>
              <a:t>Diversification</a:t>
            </a:r>
          </a:p>
        </p:txBody>
      </p:sp>
      <p:sp>
        <p:nvSpPr>
          <p:cNvPr id="61" name="TextBox 60"/>
          <p:cNvSpPr txBox="1"/>
          <p:nvPr/>
        </p:nvSpPr>
        <p:spPr>
          <a:xfrm>
            <a:off x="4736592" y="4800600"/>
            <a:ext cx="1069848" cy="320040"/>
          </a:xfrm>
          <a:prstGeom prst="rect">
            <a:avLst/>
          </a:prstGeom>
          <a:noFill/>
        </p:spPr>
        <p:txBody>
          <a:bodyPr wrap="square" lIns="0" rIns="0" tIns="0" bIns="0" anchor="t">
            <a:spAutoFit/>
          </a:bodyPr>
          <a:lstStyle/>
          <a:p>
            <a:pPr algn="l"/>
            <a:r>
              <a:rPr sz="1500" b="1" i="0">
                <a:solidFill>
                  <a:srgbClr val="8A1626"/>
                </a:solidFill>
              </a:rPr>
              <a:t>6</a:t>
            </a:r>
          </a:p>
        </p:txBody>
      </p:sp>
      <p:sp>
        <p:nvSpPr>
          <p:cNvPr id="62" name="TextBox 61"/>
          <p:cNvSpPr txBox="1"/>
          <p:nvPr/>
        </p:nvSpPr>
        <p:spPr>
          <a:xfrm>
            <a:off x="4736592" y="5102352"/>
            <a:ext cx="1069848" cy="411480"/>
          </a:xfrm>
          <a:prstGeom prst="rect">
            <a:avLst/>
          </a:prstGeom>
          <a:noFill/>
        </p:spPr>
        <p:txBody>
          <a:bodyPr wrap="square" lIns="0" rIns="0" tIns="0" bIns="0" anchor="t">
            <a:spAutoFit/>
          </a:bodyPr>
          <a:lstStyle/>
          <a:p>
            <a:pPr algn="l"/>
            <a:r>
              <a:rPr sz="1050" b="0" i="0">
                <a:solidFill>
                  <a:srgbClr val="4A5058"/>
                </a:solidFill>
              </a:rPr>
              <a:t>standalone 5 + 7 − 6</a:t>
            </a:r>
          </a:p>
        </p:txBody>
      </p:sp>
      <p:sp>
        <p:nvSpPr>
          <p:cNvPr id="63" name="Rectangle 62"/>
          <p:cNvSpPr/>
          <p:nvPr/>
        </p:nvSpPr>
        <p:spPr>
          <a:xfrm>
            <a:off x="5934456" y="4526280"/>
            <a:ext cx="1207008" cy="9875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4" name="TextBox 63"/>
          <p:cNvSpPr txBox="1"/>
          <p:nvPr/>
        </p:nvSpPr>
        <p:spPr>
          <a:xfrm>
            <a:off x="6025896" y="4572000"/>
            <a:ext cx="1069848" cy="228600"/>
          </a:xfrm>
          <a:prstGeom prst="rect">
            <a:avLst/>
          </a:prstGeom>
          <a:noFill/>
        </p:spPr>
        <p:txBody>
          <a:bodyPr wrap="square" lIns="0" rIns="0" tIns="0" bIns="0" anchor="t">
            <a:spAutoFit/>
          </a:bodyPr>
          <a:lstStyle/>
          <a:p>
            <a:pPr algn="l"/>
            <a:r>
              <a:rPr sz="1100" b="1" i="0">
                <a:solidFill>
                  <a:srgbClr val="4A5058"/>
                </a:solidFill>
              </a:rPr>
              <a:t>Incremental, P1</a:t>
            </a:r>
          </a:p>
        </p:txBody>
      </p:sp>
      <p:sp>
        <p:nvSpPr>
          <p:cNvPr id="65" name="TextBox 64"/>
          <p:cNvSpPr txBox="1"/>
          <p:nvPr/>
        </p:nvSpPr>
        <p:spPr>
          <a:xfrm>
            <a:off x="6025896" y="4800600"/>
            <a:ext cx="1069848" cy="320040"/>
          </a:xfrm>
          <a:prstGeom prst="rect">
            <a:avLst/>
          </a:prstGeom>
          <a:noFill/>
        </p:spPr>
        <p:txBody>
          <a:bodyPr wrap="square" lIns="0" rIns="0" tIns="0" bIns="0" anchor="t">
            <a:spAutoFit/>
          </a:bodyPr>
          <a:lstStyle/>
          <a:p>
            <a:pPr algn="l"/>
            <a:r>
              <a:rPr sz="1500" b="1" i="0">
                <a:solidFill>
                  <a:srgbClr val="8A1626"/>
                </a:solidFill>
              </a:rPr>
              <a:t>−1</a:t>
            </a:r>
          </a:p>
        </p:txBody>
      </p:sp>
      <p:sp>
        <p:nvSpPr>
          <p:cNvPr id="66" name="TextBox 65"/>
          <p:cNvSpPr txBox="1"/>
          <p:nvPr/>
        </p:nvSpPr>
        <p:spPr>
          <a:xfrm>
            <a:off x="6025896" y="5102352"/>
            <a:ext cx="1069848" cy="411480"/>
          </a:xfrm>
          <a:prstGeom prst="rect">
            <a:avLst/>
          </a:prstGeom>
          <a:noFill/>
        </p:spPr>
        <p:txBody>
          <a:bodyPr wrap="square" lIns="0" rIns="0" tIns="0" bIns="0" anchor="t">
            <a:spAutoFit/>
          </a:bodyPr>
          <a:lstStyle/>
          <a:p>
            <a:pPr algn="l"/>
            <a:r>
              <a:rPr sz="1050" b="0" i="0">
                <a:solidFill>
                  <a:srgbClr val="4A5058"/>
                </a:solidFill>
              </a:rPr>
              <a:t>a hedge: removing it raises VaR</a:t>
            </a:r>
          </a:p>
        </p:txBody>
      </p:sp>
      <p:sp>
        <p:nvSpPr>
          <p:cNvPr id="67" name="TextBox 66"/>
          <p:cNvSpPr txBox="1"/>
          <p:nvPr/>
        </p:nvSpPr>
        <p:spPr>
          <a:xfrm>
            <a:off x="777240" y="5815584"/>
            <a:ext cx="10634472" cy="493776"/>
          </a:xfrm>
          <a:prstGeom prst="rect">
            <a:avLst/>
          </a:prstGeom>
          <a:noFill/>
        </p:spPr>
        <p:txBody>
          <a:bodyPr wrap="square" lIns="0" rIns="0" tIns="0" bIns="0" anchor="b">
            <a:spAutoFit/>
          </a:bodyPr>
          <a:lstStyle/>
          <a:p>
            <a:pPr algn="l"/>
            <a:r>
              <a:rPr sz="1000" b="0" i="0">
                <a:solidFill>
                  <a:srgbClr val="4A5058"/>
                </a:solidFill>
              </a:rPr>
              <a:t>Kupiec test (Paul Kupiec, 1995): is the number of VaR breaches (losses bigger than VaR) consistent with 99%, about 2–3 in 250 days?</a:t>
            </a:r>
          </a:p>
          <a:p>
            <a:pPr algn="l"/>
            <a:r>
              <a:rPr sz="1000" b="0" i="0">
                <a:solidFill>
                  <a:srgbClr val="4A5058"/>
                </a:solidFill>
              </a:rPr>
              <a:t>Christoffersen test (Peter Christoffersen, 1998): do breaches cluster together, a sign the model reacts too slowly when markets turn?</a:t>
            </a:r>
          </a:p>
          <a:p>
            <a:pPr algn="l"/>
            <a:r>
              <a:rPr sz="1000" b="0" i="0">
                <a:solidFill>
                  <a:srgbClr val="4A5058"/>
                </a:solidFill>
              </a:rPr>
              <a:t>Basel traffic light: breaches in 250 days at 99%: 0–4 green, 5–9 amber, 10+ red.</a:t>
            </a:r>
          </a:p>
        </p:txBody>
      </p:sp>
      <p:sp>
        <p:nvSpPr>
          <p:cNvPr id="68" name="TextBox 67"/>
          <p:cNvSpPr txBox="1"/>
          <p:nvPr/>
        </p:nvSpPr>
        <p:spPr>
          <a:xfrm>
            <a:off x="7452360" y="2560320"/>
            <a:ext cx="3959352" cy="274320"/>
          </a:xfrm>
          <a:prstGeom prst="rect">
            <a:avLst/>
          </a:prstGeom>
          <a:noFill/>
        </p:spPr>
        <p:txBody>
          <a:bodyPr wrap="square" lIns="0" rIns="0" tIns="0" bIns="0" anchor="t">
            <a:spAutoFit/>
          </a:bodyPr>
          <a:lstStyle/>
          <a:p>
            <a:pPr algn="l"/>
            <a:r>
              <a:rPr sz="1300" b="1" i="0">
                <a:solidFill>
                  <a:srgbClr val="A51C30"/>
                </a:solidFill>
              </a:rPr>
              <a:t>The measures at N = 509</a:t>
            </a:r>
          </a:p>
        </p:txBody>
      </p:sp>
      <p:graphicFrame>
        <p:nvGraphicFramePr>
          <p:cNvPr id="69" name="Table 68"/>
          <p:cNvGraphicFramePr>
            <a:graphicFrameLocks noGrp="1"/>
          </p:cNvGraphicFramePr>
          <p:nvPr/>
        </p:nvGraphicFramePr>
        <p:xfrm>
          <a:off x="7452360" y="2862072"/>
          <a:ext cx="3959352" cy="2551176"/>
        </p:xfrm>
        <a:graphic>
          <a:graphicData uri="http://schemas.openxmlformats.org/drawingml/2006/table">
            <a:tbl>
              <a:tblPr firstRow="0" bandRow="0">
                <a:tableStyleId>{5940675A-B579-460E-94D1-54222C63F5DA}</a:tableStyleId>
              </a:tblPr>
              <a:tblGrid>
                <a:gridCol w="1298448"/>
                <a:gridCol w="2660904"/>
              </a:tblGrid>
              <a:tr h="283464">
                <a:tc>
                  <a:txBody>
                    <a:bodyPr wrap="square"/>
                    <a:lstStyle/>
                    <a:p>
                      <a:r>
                        <a:rPr sz="1100" b="1" i="0">
                          <a:solidFill>
                            <a:srgbClr val="FFFFFF"/>
                          </a:solidFill>
                        </a:rPr>
                        <a:t>Measure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Definition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83464">
                <a:tc>
                  <a:txBody>
                    <a:bodyPr wrap="square"/>
                    <a:lstStyle/>
                    <a:p>
                      <a:r>
                        <a:rPr sz="1100" b="1" i="0">
                          <a:solidFill>
                            <a:srgbClr val="8A1626"/>
                          </a:solidFill>
                        </a:rPr>
                        <a:t>VaR 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minus the 6th worst P&amp;L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83464">
                <a:tc>
                  <a:txBody>
                    <a:bodyPr wrap="square"/>
                    <a:lstStyle/>
                    <a:p>
                      <a:r>
                        <a:rPr sz="1100" b="1" i="0">
                          <a:solidFill>
                            <a:srgbClr val="8A1626"/>
                          </a:solidFill>
                        </a:rPr>
                        <a:t>ES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minus the mean of the 13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83464">
                <a:tc>
                  <a:txBody>
                    <a:bodyPr wrap="square"/>
                    <a:lstStyle/>
                    <a:p>
                      <a:r>
                        <a:rPr sz="1100" b="1" i="0">
                          <a:solidFill>
                            <a:srgbClr val="8A1626"/>
                          </a:solidFill>
                        </a:rPr>
                        <a:t>Component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Euler on ranks 4–8; adds up to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83464">
                <a:tc>
                  <a:txBody>
                    <a:bodyPr wrap="square"/>
                    <a:lstStyle/>
                    <a:p>
                      <a:r>
                        <a:rPr sz="1100" b="1" i="0">
                          <a:solidFill>
                            <a:srgbClr val="8A1626"/>
                          </a:solidFill>
                        </a:rPr>
                        <a:t>Component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mean over the 13 worst; adds up to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83464">
                <a:tc>
                  <a:txBody>
                    <a:bodyPr wrap="square"/>
                    <a:lstStyle/>
                    <a:p>
                      <a:r>
                        <a:rPr sz="1100" b="1" i="0">
                          <a:solidFill>
                            <a:srgbClr val="8A1626"/>
                          </a:solidFill>
                        </a:rPr>
                        <a:t>Incremental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VaR(scope) − VaR(scope − part)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83464">
                <a:tc>
                  <a:txBody>
                    <a:bodyPr wrap="square"/>
                    <a:lstStyle/>
                    <a:p>
                      <a:r>
                        <a:rPr sz="1100" b="1" i="0">
                          <a:solidFill>
                            <a:srgbClr val="8A1626"/>
                          </a:solidFill>
                        </a:rPr>
                        <a:t>Marginal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component ÷ |size| × 1,000,000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83464">
                <a:tc>
                  <a:txBody>
                    <a:bodyPr wrap="square"/>
                    <a:lstStyle/>
                    <a:p>
                      <a:r>
                        <a:rPr sz="1100" b="1" i="0">
                          <a:solidFill>
                            <a:srgbClr val="8A1626"/>
                          </a:solidFill>
                        </a:rPr>
                        <a:t>Diversification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Σ standalone VaR −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83464">
                <a:tc>
                  <a:txBody>
                    <a:bodyPr wrap="square"/>
                    <a:lstStyle/>
                    <a:p>
                      <a:r>
                        <a:rPr sz="1100" b="1" i="0">
                          <a:solidFill>
                            <a:srgbClr val="8A1626"/>
                          </a:solidFill>
                        </a:rPr>
                        <a:t>Limits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per node, portfolio; amber 75%, red 90%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CONFIGURABLE · 2.9.4</a:t>
            </a:r>
          </a:p>
        </p:txBody>
      </p:sp>
      <p:sp>
        <p:nvSpPr>
          <p:cNvPr id="3" name="Title 2"/>
          <p:cNvSpPr>
            <a:spLocks noGrp="1"/>
          </p:cNvSpPr>
          <p:nvPr>
            <p:ph type="title" idx="104"/>
          </p:nvPr>
        </p:nvSpPr>
        <p:spPr/>
        <p:txBody>
          <a:bodyPr/>
          <a:lstStyle/>
          <a:p>
            <a:r>
              <a:t>The window, the confidence, the currencies and the names are settings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5202936" cy="2286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17320"/>
            <a:ext cx="45720" cy="2286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490472"/>
            <a:ext cx="4928616" cy="1143000"/>
          </a:xfrm>
          <a:prstGeom prst="rect">
            <a:avLst/>
          </a:prstGeom>
          <a:noFill/>
        </p:spPr>
        <p:txBody>
          <a:bodyPr wrap="square" lIns="0" rIns="0" tIns="0" bIns="0" anchor="t">
            <a:spAutoFit/>
          </a:bodyPr>
          <a:lstStyle/>
          <a:p>
            <a:pPr algn="l">
              <a:spcAft>
                <a:spcPts val="300"/>
              </a:spcAft>
            </a:pPr>
            <a:r>
              <a:rPr sz="1350" b="1" i="0">
                <a:solidFill>
                  <a:srgbClr val="8A1626"/>
                </a:solidFill>
              </a:rPr>
              <a:t>Scenario window</a:t>
            </a:r>
          </a:p>
          <a:p>
            <a:pPr algn="l">
              <a:spcAft>
                <a:spcPts val="400"/>
              </a:spcAft>
            </a:pPr>
            <a:r>
              <a:rPr sz="1050" b="1" i="0">
                <a:solidFill>
                  <a:srgbClr val="A51C30"/>
                </a:solidFill>
                <a:latin typeface="Courier New"/>
              </a:rPr>
              <a:t>drishti.var.scenario-window: all | N</a:t>
            </a:r>
          </a:p>
          <a:p>
            <a:pPr algn="l"/>
            <a:r>
              <a:rPr sz="1150" b="0" i="0">
                <a:solidFill>
                  <a:srgbClr val="1A1A1A"/>
                </a:solidFill>
              </a:rPr>
              <a:t>The newest N scenarios of the set (all: 509). Per request, window=250 shows a 1-year view beside the 2-year one: labelled on every answer, never official.</a:t>
            </a:r>
          </a:p>
        </p:txBody>
      </p:sp>
      <p:graphicFrame>
        <p:nvGraphicFramePr>
          <p:cNvPr id="29" name="Table 28"/>
          <p:cNvGraphicFramePr>
            <a:graphicFrameLocks noGrp="1"/>
          </p:cNvGraphicFramePr>
          <p:nvPr/>
        </p:nvGraphicFramePr>
        <p:xfrm>
          <a:off x="960120" y="2743200"/>
          <a:ext cx="4837176" cy="822960"/>
        </p:xfrm>
        <a:graphic>
          <a:graphicData uri="http://schemas.openxmlformats.org/drawingml/2006/table">
            <a:tbl>
              <a:tblPr firstRow="0" bandRow="0">
                <a:tableStyleId>{5940675A-B579-460E-94D1-54222C63F5DA}</a:tableStyleId>
              </a:tblPr>
              <a:tblGrid>
                <a:gridCol w="1463040"/>
                <a:gridCol w="1687068"/>
                <a:gridCol w="1687068"/>
              </a:tblGrid>
              <a:tr h="274320">
                <a:tc>
                  <a:txBody>
                    <a:bodyPr wrap="square"/>
                    <a:lstStyle/>
                    <a:p>
                      <a:r>
                        <a:rPr sz="1100" b="1" i="0">
                          <a:solidFill>
                            <a:srgbClr val="FFFFFF"/>
                          </a:solidFill>
                        </a:rPr>
                        <a:t>Window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VaR 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ES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100" b="1" i="0">
                          <a:solidFill>
                            <a:srgbClr val="8A1626"/>
                          </a:solidFill>
                        </a:rPr>
                        <a:t>all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6th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mean of 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100" b="1" i="0">
                          <a:solidFill>
                            <a:srgbClr val="8A1626"/>
                          </a:solidFill>
                        </a:rPr>
                        <a:t>250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3rd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mean of 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0" name="Rectangle 29"/>
          <p:cNvSpPr/>
          <p:nvPr/>
        </p:nvSpPr>
        <p:spPr>
          <a:xfrm>
            <a:off x="6208776" y="1417320"/>
            <a:ext cx="5202936" cy="2286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6208776" y="1417320"/>
            <a:ext cx="45720" cy="2286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6391656" y="1490472"/>
            <a:ext cx="4928616" cy="1143000"/>
          </a:xfrm>
          <a:prstGeom prst="rect">
            <a:avLst/>
          </a:prstGeom>
          <a:noFill/>
        </p:spPr>
        <p:txBody>
          <a:bodyPr wrap="square" lIns="0" rIns="0" tIns="0" bIns="0" anchor="t">
            <a:spAutoFit/>
          </a:bodyPr>
          <a:lstStyle/>
          <a:p>
            <a:pPr algn="l">
              <a:spcAft>
                <a:spcPts val="300"/>
              </a:spcAft>
            </a:pPr>
            <a:r>
              <a:rPr sz="1350" b="1" i="0">
                <a:solidFill>
                  <a:srgbClr val="8A1626"/>
                </a:solidFill>
              </a:rPr>
              <a:t>Confidence</a:t>
            </a:r>
          </a:p>
          <a:p>
            <a:pPr algn="l">
              <a:spcAft>
                <a:spcPts val="400"/>
              </a:spcAft>
            </a:pPr>
            <a:r>
              <a:rPr sz="1050" b="1" i="0">
                <a:solidFill>
                  <a:srgbClr val="A51C30"/>
                </a:solidFill>
                <a:latin typeface="Courier New"/>
              </a:rPr>
              <a:t>DRISHTI_VAR_CONFIDENCE · DRISHTI_VAR_ES_CONFIDENCE</a:t>
            </a:r>
          </a:p>
          <a:p>
            <a:pPr algn="l"/>
            <a:r>
              <a:rPr sz="1150" b="0" i="0">
                <a:solidFill>
                  <a:srgbClr val="1A1A1A"/>
                </a:solidFill>
              </a:rPr>
              <a:t>VaR 99% by default, 95% by configuration; ES 97.5% by default; both also per request. Every label follows the answer (VaR 95% · 1 day). Backtesting stays at 99%.</a:t>
            </a:r>
          </a:p>
        </p:txBody>
      </p:sp>
      <p:graphicFrame>
        <p:nvGraphicFramePr>
          <p:cNvPr id="33" name="Table 32"/>
          <p:cNvGraphicFramePr>
            <a:graphicFrameLocks noGrp="1"/>
          </p:cNvGraphicFramePr>
          <p:nvPr/>
        </p:nvGraphicFramePr>
        <p:xfrm>
          <a:off x="6391656" y="2743200"/>
          <a:ext cx="4837176" cy="822960"/>
        </p:xfrm>
        <a:graphic>
          <a:graphicData uri="http://schemas.openxmlformats.org/drawingml/2006/table">
            <a:tbl>
              <a:tblPr firstRow="0" bandRow="0">
                <a:tableStyleId>{5940675A-B579-460E-94D1-54222C63F5DA}</a:tableStyleId>
              </a:tblPr>
              <a:tblGrid>
                <a:gridCol w="1463040"/>
                <a:gridCol w="1687068"/>
                <a:gridCol w="1687068"/>
              </a:tblGrid>
              <a:tr h="274320">
                <a:tc>
                  <a:txBody>
                    <a:bodyPr wrap="square"/>
                    <a:lstStyle/>
                    <a:p>
                      <a:r>
                        <a:rPr sz="1100" b="1" i="0">
                          <a:solidFill>
                            <a:srgbClr val="FFFFFF"/>
                          </a:solidFill>
                        </a:rPr>
                        <a:t>VaR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509 days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250 days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100" b="1" i="0">
                          <a:solidFill>
                            <a:srgbClr val="8A1626"/>
                          </a:solidFill>
                        </a:rPr>
                        <a:t>99% (default)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6th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3rd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100" b="1" i="0">
                          <a:solidFill>
                            <a:srgbClr val="8A1626"/>
                          </a:solidFill>
                        </a:rPr>
                        <a:t>95%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13th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4" name="Rectangle 33"/>
          <p:cNvSpPr/>
          <p:nvPr/>
        </p:nvSpPr>
        <p:spPr>
          <a:xfrm>
            <a:off x="777240" y="3813048"/>
            <a:ext cx="10634472" cy="56692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77240" y="3813048"/>
            <a:ext cx="54864"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1005840" y="3813048"/>
            <a:ext cx="10314432" cy="566928"/>
          </a:xfrm>
          <a:prstGeom prst="rect">
            <a:avLst/>
          </a:prstGeom>
          <a:noFill/>
        </p:spPr>
        <p:txBody>
          <a:bodyPr wrap="square" lIns="0" rIns="0" tIns="0" bIns="0" anchor="ctr">
            <a:spAutoFit/>
          </a:bodyPr>
          <a:lstStyle/>
          <a:p>
            <a:pPr algn="l"/>
            <a:r>
              <a:rPr sz="1250" b="1" i="0">
                <a:solidFill>
                  <a:srgbClr val="A51C30"/>
                </a:solidFill>
              </a:rPr>
              <a:t>Choosing the window  </a:t>
            </a:r>
            <a:r>
              <a:rPr sz="1150" b="0" i="0">
                <a:solidFill>
                  <a:srgbClr val="1A1A1A"/>
                </a:solidFill>
              </a:rPr>
              <a:t>banks typically use 1 year (≈ 250 days, the regulatory minimum) or 2 years (≈ 500). A shorter window reacts faster to new volatility; a longer one is steadier and keeps more stress days. Compare both with window= before changing the setting.</a:t>
            </a:r>
          </a:p>
        </p:txBody>
      </p:sp>
      <p:sp>
        <p:nvSpPr>
          <p:cNvPr id="37" name="Rectangle 36"/>
          <p:cNvSpPr/>
          <p:nvPr/>
        </p:nvSpPr>
        <p:spPr>
          <a:xfrm>
            <a:off x="777240" y="4489704"/>
            <a:ext cx="3422904" cy="1773935"/>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86968" y="4544568"/>
            <a:ext cx="3240024" cy="1682495"/>
          </a:xfrm>
          <a:prstGeom prst="rect">
            <a:avLst/>
          </a:prstGeom>
          <a:noFill/>
        </p:spPr>
        <p:txBody>
          <a:bodyPr wrap="square" lIns="0" rIns="0" tIns="0" bIns="0" anchor="t">
            <a:spAutoFit/>
          </a:bodyPr>
          <a:lstStyle/>
          <a:p>
            <a:pPr algn="l">
              <a:spcAft>
                <a:spcPts val="300"/>
              </a:spcAft>
            </a:pPr>
            <a:r>
              <a:rPr sz="1250" b="1" i="0">
                <a:solidFill>
                  <a:srgbClr val="8A1626"/>
                </a:solidFill>
              </a:rPr>
              <a:t>Currencies, built ahead</a:t>
            </a:r>
          </a:p>
          <a:p>
            <a:pPr algn="l"/>
            <a:r>
              <a:rPr sz="1000" b="1" i="0">
                <a:solidFill>
                  <a:srgbClr val="A51C30"/>
                </a:solidFill>
                <a:latin typeface="Courier New"/>
              </a:rPr>
              <a:t>drishti.var.currencies</a:t>
            </a:r>
          </a:p>
          <a:p>
            <a:pPr algn="l">
              <a:spcAft>
                <a:spcPts val="300"/>
              </a:spcAft>
            </a:pPr>
            <a:r>
              <a:rPr sz="1100" b="0" i="0">
                <a:solidFill>
                  <a:srgbClr val="4A5058"/>
                </a:solidFill>
              </a:rPr>
              <a:t>USD, EUR, CAD, JPY, GBP, built in the background after the USD book</a:t>
            </a:r>
          </a:p>
          <a:p>
            <a:pPr algn="l"/>
            <a:r>
              <a:rPr sz="1000" b="1" i="0">
                <a:solidFill>
                  <a:srgbClr val="A51C30"/>
                </a:solidFill>
                <a:latin typeface="Courier New"/>
              </a:rPr>
              <a:t>currency-retention-dates</a:t>
            </a:r>
          </a:p>
          <a:p>
            <a:pPr algn="l">
              <a:spcAft>
                <a:spcPts val="300"/>
              </a:spcAft>
            </a:pPr>
            <a:r>
              <a:rPr sz="1100" b="0" i="0">
                <a:solidFill>
                  <a:srgbClr val="4A5058"/>
                </a:solidFill>
              </a:rPr>
              <a:t>5: the newest dates kept; older ones built again on first ask</a:t>
            </a:r>
          </a:p>
        </p:txBody>
      </p:sp>
      <p:sp>
        <p:nvSpPr>
          <p:cNvPr id="39" name="Rectangle 38"/>
          <p:cNvSpPr/>
          <p:nvPr/>
        </p:nvSpPr>
        <p:spPr>
          <a:xfrm>
            <a:off x="4383024" y="4489704"/>
            <a:ext cx="3422904" cy="1773935"/>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4492752" y="4544568"/>
            <a:ext cx="3240024" cy="1682495"/>
          </a:xfrm>
          <a:prstGeom prst="rect">
            <a:avLst/>
          </a:prstGeom>
          <a:noFill/>
        </p:spPr>
        <p:txBody>
          <a:bodyPr wrap="square" lIns="0" rIns="0" tIns="0" bIns="0" anchor="t">
            <a:spAutoFit/>
          </a:bodyPr>
          <a:lstStyle/>
          <a:p>
            <a:pPr algn="l">
              <a:spcAft>
                <a:spcPts val="300"/>
              </a:spcAft>
            </a:pPr>
            <a:r>
              <a:rPr sz="1250" b="1" i="0">
                <a:solidFill>
                  <a:srgbClr val="8A1626"/>
                </a:solidFill>
              </a:rPr>
              <a:t>Names</a:t>
            </a:r>
          </a:p>
          <a:p>
            <a:pPr algn="l"/>
            <a:r>
              <a:rPr sz="1000" b="1" i="0">
                <a:solidFill>
                  <a:srgbClr val="A51C30"/>
                </a:solidFill>
                <a:latin typeface="Courier New"/>
              </a:rPr>
              <a:t>DRISHTI_VAR_ROOT_NAME</a:t>
            </a:r>
          </a:p>
          <a:p>
            <a:pPr algn="l">
              <a:spcAft>
                <a:spcPts val="300"/>
              </a:spcAft>
            </a:pPr>
            <a:r>
              <a:rPr sz="1100" b="0" i="0">
                <a:solidFill>
                  <a:srgbClr val="4A5058"/>
                </a:solidFill>
              </a:rPr>
              <a:t>the top of every VaR tree (root-names: per hierarchy)</a:t>
            </a:r>
          </a:p>
          <a:p>
            <a:pPr algn="l"/>
            <a:r>
              <a:rPr sz="1000" b="1" i="0">
                <a:solidFill>
                  <a:srgbClr val="A51C30"/>
                </a:solidFill>
                <a:latin typeface="Courier New"/>
              </a:rPr>
              <a:t>config/demo/names.yaml</a:t>
            </a:r>
          </a:p>
          <a:p>
            <a:pPr algn="l">
              <a:spcAft>
                <a:spcPts val="300"/>
              </a:spcAft>
            </a:pPr>
            <a:r>
              <a:rPr sz="1100" b="0" i="0">
                <a:solidFill>
                  <a:srgbClr val="4A5058"/>
                </a:solidFill>
              </a:rPr>
              <a:t>the demo's bank and legal-entity names</a:t>
            </a:r>
          </a:p>
        </p:txBody>
      </p:sp>
      <p:sp>
        <p:nvSpPr>
          <p:cNvPr id="41" name="Rectangle 40"/>
          <p:cNvSpPr/>
          <p:nvPr/>
        </p:nvSpPr>
        <p:spPr>
          <a:xfrm>
            <a:off x="7988808" y="4489704"/>
            <a:ext cx="3422904" cy="1773935"/>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8098536" y="4544568"/>
            <a:ext cx="3240024" cy="1682495"/>
          </a:xfrm>
          <a:prstGeom prst="rect">
            <a:avLst/>
          </a:prstGeom>
          <a:noFill/>
        </p:spPr>
        <p:txBody>
          <a:bodyPr wrap="square" lIns="0" rIns="0" tIns="0" bIns="0" anchor="t">
            <a:spAutoFit/>
          </a:bodyPr>
          <a:lstStyle/>
          <a:p>
            <a:pPr algn="l">
              <a:spcAft>
                <a:spcPts val="300"/>
              </a:spcAft>
            </a:pPr>
            <a:r>
              <a:rPr sz="1250" b="1" i="0">
                <a:solidFill>
                  <a:srgbClr val="8A1626"/>
                </a:solidFill>
              </a:rPr>
              <a:t>Inputs and intraday</a:t>
            </a:r>
          </a:p>
          <a:p>
            <a:pPr algn="l"/>
            <a:r>
              <a:rPr sz="1000" b="1" i="0">
                <a:solidFill>
                  <a:srgbClr val="A51C30"/>
                </a:solidFill>
                <a:latin typeface="Courier New"/>
              </a:rPr>
              <a:t>drishti.var.inputs</a:t>
            </a:r>
          </a:p>
          <a:p>
            <a:pPr algn="l">
              <a:spcAft>
                <a:spcPts val="300"/>
              </a:spcAft>
            </a:pPr>
            <a:r>
              <a:rPr sz="1100" b="0" i="0">
                <a:solidFill>
                  <a:srgbClr val="4A5058"/>
                </a:solidFill>
              </a:rPr>
              <a:t>optional pin per source system: form and grain</a:t>
            </a:r>
          </a:p>
          <a:p>
            <a:pPr algn="l"/>
            <a:r>
              <a:rPr sz="1000" b="1" i="0">
                <a:solidFill>
                  <a:srgbClr val="A51C30"/>
                </a:solidFill>
                <a:latin typeface="Courier New"/>
              </a:rPr>
              <a:t>intraday.kafka.window</a:t>
            </a:r>
          </a:p>
          <a:p>
            <a:pPr algn="l">
              <a:spcAft>
                <a:spcPts val="300"/>
              </a:spcAft>
            </a:pPr>
            <a:r>
              <a:rPr sz="1100" b="0" i="0">
                <a:solidFill>
                  <a:srgbClr val="4A5058"/>
                </a:solidFill>
              </a:rPr>
              <a:t>5m; early flush at max-trades (500)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PV-BASED ENGINE · 2.9.4</a:t>
            </a:r>
          </a:p>
        </p:txBody>
      </p:sp>
      <p:sp>
        <p:nvSpPr>
          <p:cNvPr id="3" name="Title 2"/>
          <p:cNvSpPr>
            <a:spLocks noGrp="1"/>
          </p:cNvSpPr>
          <p:nvPr>
            <p:ph type="title" idx="104"/>
          </p:nvPr>
        </p:nvSpPr>
        <p:spPr/>
        <p:txBody>
          <a:bodyPr/>
          <a:lstStyle/>
          <a:p>
            <a:r>
              <a:t>From scenario PVs in their own currency to VaR in any currency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417320"/>
            <a:ext cx="5623560" cy="1783080"/>
          </a:xfrm>
          <a:prstGeom prst="rect">
            <a:avLst/>
          </a:prstGeom>
          <a:noFill/>
        </p:spPr>
        <p:txBody>
          <a:bodyPr wrap="square" lIns="0" rIns="0" tIns="0" bIns="0" anchor="t">
            <a:spAutoFit/>
          </a:bodyPr>
          <a:lstStyle/>
          <a:p>
            <a:pPr algn="l">
              <a:spcAft>
                <a:spcPts val="300"/>
              </a:spcAft>
            </a:pPr>
            <a:r>
              <a:rPr sz="1300" b="1" i="0">
                <a:solidFill>
                  <a:srgbClr val="A51C30"/>
                </a:solidFill>
              </a:rPr>
              <a:t>Inputs</a:t>
            </a:r>
          </a:p>
          <a:p>
            <a:pPr algn="l" marL="146304" indent="-146304">
              <a:spcAft>
                <a:spcPts val="300"/>
              </a:spcAft>
              <a:buClr>
                <a:srgbClr val="A51C30"/>
              </a:buClr>
              <a:buSzPct val="100000"/>
              <a:buFont typeface="Arial"/>
              <a:buChar char="▪"/>
            </a:pPr>
            <a:r>
              <a:rPr sz="1200" b="0" i="0">
                <a:solidFill>
                  <a:srgbClr val="1A1A1A"/>
                </a:solidFill>
              </a:rPr>
              <a:t>Pricing systems send each trade's or position's 509 scenario PVs and base PV in its own currency (</a:t>
            </a:r>
            <a:r>
              <a:rPr sz="1100" b="0" i="0">
                <a:solidFill>
                  <a:srgbClr val="1A1A1A"/>
                </a:solidFill>
                <a:latin typeface="Courier New"/>
              </a:rPr>
              <a:t>scenario-pv</a:t>
            </a:r>
            <a:r>
              <a:rPr sz="1200" b="0" i="0">
                <a:solidFill>
                  <a:srgbClr val="1A1A1A"/>
                </a:solidFill>
              </a:rPr>
              <a:t>). The USD P&amp;L-vector form stays supported; a date may mix both, each row in one form.</a:t>
            </a:r>
          </a:p>
          <a:p>
            <a:pPr algn="l" marL="146304" indent="-146304">
              <a:spcAft>
                <a:spcPts val="300"/>
              </a:spcAft>
              <a:buClr>
                <a:srgbClr val="A51C30"/>
              </a:buClr>
              <a:buSzPct val="100000"/>
              <a:buFont typeface="Arial"/>
              <a:buChar char="▪"/>
            </a:pPr>
            <a:r>
              <a:rPr sz="1200" b="0" i="0">
                <a:solidFill>
                  <a:srgbClr val="1A1A1A"/>
                </a:solidFill>
              </a:rPr>
              <a:t>Scenario FX: the batch's own (</a:t>
            </a:r>
            <a:r>
              <a:rPr sz="1100" b="0" i="0">
                <a:solidFill>
                  <a:srgbClr val="1A1A1A"/>
                </a:solidFill>
                <a:latin typeface="Courier New"/>
              </a:rPr>
              <a:t>fx-scenario</a:t>
            </a:r>
            <a:r>
              <a:rPr sz="1200" b="0" i="0">
                <a:solidFill>
                  <a:srgbClr val="1A1A1A"/>
                </a:solidFill>
              </a:rPr>
              <a:t>) when sent, else derived from the FX history. Every cross goes via USD. Horizon: 1 day.</a:t>
            </a:r>
          </a:p>
          <a:p>
            <a:pPr algn="l" marL="146304" indent="-146304">
              <a:buClr>
                <a:srgbClr val="A51C30"/>
              </a:buClr>
              <a:buSzPct val="100000"/>
              <a:buFont typeface="Arial"/>
              <a:buChar char="▪"/>
            </a:pPr>
            <a:r>
              <a:rPr sz="1200" b="0" i="0">
                <a:solidFill>
                  <a:srgbClr val="1A1A1A"/>
                </a:solidFill>
              </a:rPr>
              <a:t>Converted when the date loads; positions, nodes, captures and official records do not know which form a row came in.</a:t>
            </a:r>
          </a:p>
        </p:txBody>
      </p:sp>
      <p:sp>
        <p:nvSpPr>
          <p:cNvPr id="27" name="Rectangle 26"/>
          <p:cNvSpPr/>
          <p:nvPr/>
        </p:nvSpPr>
        <p:spPr>
          <a:xfrm>
            <a:off x="777240" y="3200400"/>
            <a:ext cx="5623560" cy="1170432"/>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14400" y="3273552"/>
            <a:ext cx="5394960" cy="1051560"/>
          </a:xfrm>
          <a:prstGeom prst="rect">
            <a:avLst/>
          </a:prstGeom>
          <a:noFill/>
        </p:spPr>
        <p:txBody>
          <a:bodyPr wrap="square" lIns="0" rIns="0" tIns="0" bIns="0" anchor="t">
            <a:spAutoFit/>
          </a:bodyPr>
          <a:lstStyle/>
          <a:p>
            <a:pPr algn="l">
              <a:spcAft>
                <a:spcPts val="200"/>
              </a:spcAft>
            </a:pPr>
            <a:r>
              <a:rPr sz="1100" b="1" i="0">
                <a:solidFill>
                  <a:srgbClr val="E8A0AC"/>
                </a:solidFill>
                <a:latin typeface="Courier New"/>
              </a:rPr>
              <a:t>USD P&amp;L     </a:t>
            </a:r>
            <a:r>
              <a:rPr sz="1100" b="0" i="0">
                <a:solidFill>
                  <a:srgbClr val="F1EEE9"/>
                </a:solidFill>
                <a:latin typeface="Courier New"/>
              </a:rPr>
              <a:t>PV(s)·FX_c(s) − PV(base)·FX_c(base)</a:t>
            </a:r>
          </a:p>
          <a:p>
            <a:pPr algn="l">
              <a:spcAft>
                <a:spcPts val="200"/>
              </a:spcAft>
            </a:pPr>
            <a:r>
              <a:rPr sz="1100" b="1" i="0">
                <a:solidFill>
                  <a:srgbClr val="E8A0AC"/>
                </a:solidFill>
                <a:latin typeface="Courier New"/>
              </a:rPr>
              <a:t>FX derived  </a:t>
            </a:r>
            <a:r>
              <a:rPr sz="1100" b="0" i="0">
                <a:solidFill>
                  <a:srgbClr val="F1EEE9"/>
                </a:solidFill>
                <a:latin typeface="Courier New"/>
              </a:rPr>
              <a:t>FX(s) = FX(base) · H(d_s) / H(d_s − 1)</a:t>
            </a:r>
          </a:p>
          <a:p>
            <a:pPr algn="l">
              <a:spcAft>
                <a:spcPts val="200"/>
              </a:spcAft>
            </a:pPr>
            <a:r>
              <a:rPr sz="1100" b="1" i="0">
                <a:solidFill>
                  <a:srgbClr val="E8A0AC"/>
                </a:solidFill>
                <a:latin typeface="Courier New"/>
              </a:rPr>
              <a:t>In r        </a:t>
            </a:r>
            <a:r>
              <a:rPr sz="1100" b="0" i="0">
                <a:solidFill>
                  <a:srgbClr val="F1EEE9"/>
                </a:solidFill>
                <a:latin typeface="Courier New"/>
              </a:rPr>
              <a:t>(p + P&amp;L_USD(s)) / FX_r(s) − p / FX_r(base)</a:t>
            </a:r>
          </a:p>
          <a:p>
            <a:pPr algn="l">
              <a:spcAft>
                <a:spcPts val="200"/>
              </a:spcAft>
            </a:pPr>
            <a:r>
              <a:rPr sz="1100" b="1" i="0">
                <a:solidFill>
                  <a:srgbClr val="E8A0AC"/>
                </a:solidFill>
                <a:latin typeface="Courier New"/>
              </a:rPr>
              <a:t>Node in X   </a:t>
            </a:r>
            <a:r>
              <a:rPr sz="1100" b="0" i="0">
                <a:solidFill>
                  <a:srgbClr val="F1EEE9"/>
                </a:solidFill>
                <a:latin typeface="Courier New"/>
              </a:rPr>
              <a:t>Σ_c [PVsum_c(s)·FX_c→X(s) − PVbase_c·FX_c→X(base)]</a:t>
            </a:r>
          </a:p>
        </p:txBody>
      </p:sp>
      <p:sp>
        <p:nvSpPr>
          <p:cNvPr id="29" name="Rectangle 28"/>
          <p:cNvSpPr/>
          <p:nvPr/>
        </p:nvSpPr>
        <p:spPr>
          <a:xfrm>
            <a:off x="777240" y="4498848"/>
            <a:ext cx="5623560" cy="17373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914400" y="4553712"/>
            <a:ext cx="5394960" cy="1645920"/>
          </a:xfrm>
          <a:prstGeom prst="rect">
            <a:avLst/>
          </a:prstGeom>
          <a:noFill/>
        </p:spPr>
        <p:txBody>
          <a:bodyPr wrap="square" lIns="0" rIns="0" tIns="0" bIns="0" anchor="t">
            <a:spAutoFit/>
          </a:bodyPr>
          <a:lstStyle/>
          <a:p>
            <a:pPr algn="l">
              <a:spcAft>
                <a:spcPts val="300"/>
              </a:spcAft>
            </a:pPr>
            <a:r>
              <a:rPr sz="1250" b="1" i="0">
                <a:solidFill>
                  <a:srgbClr val="A51C30"/>
                </a:solidFill>
              </a:rPr>
              <a:t>Reporting currencies</a:t>
            </a:r>
          </a:p>
          <a:p>
            <a:pPr algn="l" marL="146304" indent="-146304">
              <a:spcAft>
                <a:spcPts val="300"/>
              </a:spcAft>
              <a:buClr>
                <a:srgbClr val="A51C30"/>
              </a:buClr>
              <a:buSzPct val="100000"/>
              <a:buFont typeface="Arial"/>
              <a:buChar char="▪"/>
            </a:pPr>
            <a:r>
              <a:rPr sz="1150" b="0" i="0">
                <a:solidFill>
                  <a:srgbClr val="1A1A1A"/>
                </a:solidFill>
              </a:rPr>
              <a:t>Built ahead in the background: USD · EUR · CAD · JPY · GBP (</a:t>
            </a:r>
            <a:r>
              <a:rPr sz="1050" b="0" i="0">
                <a:solidFill>
                  <a:srgbClr val="1A1A1A"/>
                </a:solidFill>
                <a:latin typeface="Courier New"/>
              </a:rPr>
              <a:t>drishti.var.currencies</a:t>
            </a:r>
            <a:r>
              <a:rPr sz="1150" b="0" i="0">
                <a:solidFill>
                  <a:srgbClr val="1A1A1A"/>
                </a:solidFill>
              </a:rPr>
              <a:t>); the newest 5 dates kept; any other currency with FX on first ask.</a:t>
            </a:r>
          </a:p>
          <a:p>
            <a:pPr algn="l" marL="146304" indent="-146304">
              <a:spcAft>
                <a:spcPts val="300"/>
              </a:spcAft>
              <a:buClr>
                <a:srgbClr val="A51C30"/>
              </a:buClr>
              <a:buSzPct val="100000"/>
              <a:buFont typeface="Arial"/>
              <a:buChar char="▪"/>
            </a:pPr>
            <a:r>
              <a:rPr sz="1150" b="0" i="0">
                <a:solidFill>
                  <a:srgbClr val="1A1A1A"/>
                </a:solidFill>
              </a:rPr>
              <a:t>Every node keeps its PVs summed per trade currency: a headline in any currency is exact to the cent.</a:t>
            </a:r>
          </a:p>
          <a:p>
            <a:pPr algn="l" marL="146304" indent="-146304">
              <a:buClr>
                <a:srgbClr val="A51C30"/>
              </a:buClr>
              <a:buSzPct val="100000"/>
              <a:buFont typeface="Arial"/>
              <a:buChar char="▪"/>
            </a:pPr>
            <a:r>
              <a:rPr sz="1150" b="0" i="0">
                <a:solidFill>
                  <a:srgbClr val="1A1A1A"/>
                </a:solidFill>
              </a:rPr>
              <a:t>Trade pages say the Trade currency (EUR · as priced); official records in USD, others per setting.</a:t>
            </a:r>
          </a:p>
        </p:txBody>
      </p:sp>
      <p:sp>
        <p:nvSpPr>
          <p:cNvPr id="31" name="TextBox 30"/>
          <p:cNvSpPr txBox="1"/>
          <p:nvPr/>
        </p:nvSpPr>
        <p:spPr>
          <a:xfrm>
            <a:off x="6720840" y="1417320"/>
            <a:ext cx="4690872" cy="274320"/>
          </a:xfrm>
          <a:prstGeom prst="rect">
            <a:avLst/>
          </a:prstGeom>
          <a:noFill/>
        </p:spPr>
        <p:txBody>
          <a:bodyPr wrap="square" lIns="0" rIns="0" tIns="0" bIns="0" anchor="t">
            <a:spAutoFit/>
          </a:bodyPr>
          <a:lstStyle/>
          <a:p>
            <a:pPr algn="l"/>
            <a:r>
              <a:rPr sz="1300" b="1" i="0">
                <a:solidFill>
                  <a:srgbClr val="A51C30"/>
                </a:solidFill>
              </a:rPr>
              <a:t>Why EUR VaR ≠ USD VaR × today's rate  </a:t>
            </a:r>
          </a:p>
          <a:p>
            <a:pPr algn="l"/>
            <a:r>
              <a:rPr sz="1100" b="0" i="0">
                <a:solidFill>
                  <a:srgbClr val="4A5058"/>
                </a:solidFill>
              </a:rPr>
              <a:t>the bank, EUR millions</a:t>
            </a:r>
          </a:p>
        </p:txBody>
      </p:sp>
      <p:graphicFrame>
        <p:nvGraphicFramePr>
          <p:cNvPr id="32" name="Chart 31"/>
          <p:cNvGraphicFramePr>
            <a:graphicFrameLocks noGrp="1"/>
          </p:cNvGraphicFramePr>
          <p:nvPr/>
        </p:nvGraphicFramePr>
        <p:xfrm>
          <a:off x="6720840" y="1719072"/>
          <a:ext cx="4690872" cy="1325880"/>
        </p:xfrm>
        <a:graphic>
          <a:graphicData uri="http://schemas.openxmlformats.org/drawingml/2006/chart">
            <c:chart xmlns:c="http://schemas.openxmlformats.org/drawingml/2006/chart" r:id="rId2"/>
          </a:graphicData>
        </a:graphic>
      </p:graphicFrame>
      <p:sp>
        <p:nvSpPr>
          <p:cNvPr id="33" name="TextBox 32"/>
          <p:cNvSpPr txBox="1"/>
          <p:nvPr/>
        </p:nvSpPr>
        <p:spPr>
          <a:xfrm>
            <a:off x="6720840" y="3072384"/>
            <a:ext cx="4690872" cy="566928"/>
          </a:xfrm>
          <a:prstGeom prst="rect">
            <a:avLst/>
          </a:prstGeom>
          <a:noFill/>
        </p:spPr>
        <p:txBody>
          <a:bodyPr wrap="square" lIns="0" rIns="0" tIns="0" bIns="0" anchor="t">
            <a:spAutoFit/>
          </a:bodyPr>
          <a:lstStyle/>
          <a:p>
            <a:pPr algn="l"/>
            <a:r>
              <a:rPr sz="1150" b="0" i="0">
                <a:solidFill>
                  <a:srgbClr val="4A5058"/>
                </a:solidFill>
              </a:rPr>
              <a:t>The bank on 2026-09-30 holds a net 3.65 bn USD of value; on the scenario days it moves against the euro, a risk a euro-based owner carries and a dollar-based one does not.</a:t>
            </a:r>
          </a:p>
        </p:txBody>
      </p:sp>
      <p:graphicFrame>
        <p:nvGraphicFramePr>
          <p:cNvPr id="34" name="Table 33"/>
          <p:cNvGraphicFramePr>
            <a:graphicFrameLocks noGrp="1"/>
          </p:cNvGraphicFramePr>
          <p:nvPr/>
        </p:nvGraphicFramePr>
        <p:xfrm>
          <a:off x="6720840" y="3675887"/>
          <a:ext cx="4690872" cy="1481328"/>
        </p:xfrm>
        <a:graphic>
          <a:graphicData uri="http://schemas.openxmlformats.org/drawingml/2006/table">
            <a:tbl>
              <a:tblPr firstRow="0" bandRow="0">
                <a:tableStyleId>{5940675A-B579-460E-94D1-54222C63F5DA}</a:tableStyleId>
              </a:tblPr>
              <a:tblGrid>
                <a:gridCol w="685800"/>
                <a:gridCol w="2002536"/>
                <a:gridCol w="2002536"/>
              </a:tblGrid>
              <a:tr h="246888">
                <a:tc>
                  <a:txBody>
                    <a:bodyPr wrap="square"/>
                    <a:lstStyle/>
                    <a:p>
                      <a:r>
                        <a:rPr sz="1150" b="1" i="0">
                          <a:solidFill>
                            <a:srgbClr val="FFFFFF"/>
                          </a:solidFill>
                        </a:rPr>
                        <a:t>Ccy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Bank VaR 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Bank ES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46888">
                <a:tc>
                  <a:txBody>
                    <a:bodyPr wrap="square"/>
                    <a:lstStyle/>
                    <a:p>
                      <a:r>
                        <a:rPr sz="1150" b="1" i="0">
                          <a:solidFill>
                            <a:srgbClr val="8A1626"/>
                          </a:solidFill>
                        </a:rPr>
                        <a:t>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112,041,646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160,143,809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1150" b="1" i="0">
                          <a:solidFill>
                            <a:srgbClr val="8A1626"/>
                          </a:solidFill>
                        </a:rPr>
                        <a:t>EUR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111,837,045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137,631,546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1150" b="1" i="0">
                          <a:solidFill>
                            <a:srgbClr val="8A1626"/>
                          </a:solidFill>
                        </a:rPr>
                        <a:t>CAD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189,801,404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230,680,413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1150" b="1" i="0">
                          <a:solidFill>
                            <a:srgbClr val="8A1626"/>
                          </a:solidFill>
                        </a:rPr>
                        <a:t>JPY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20,883,226,318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23,578,418,999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1150" b="1" i="0">
                          <a:solidFill>
                            <a:srgbClr val="8A1626"/>
                          </a:solidFill>
                        </a:rPr>
                        <a:t>GBP</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104,139,554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125,595,958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35" name="Rectangle 34"/>
          <p:cNvSpPr/>
          <p:nvPr/>
        </p:nvSpPr>
        <p:spPr>
          <a:xfrm>
            <a:off x="6720840" y="5257800"/>
            <a:ext cx="4690872" cy="96012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6848855" y="5285232"/>
            <a:ext cx="4462272" cy="914400"/>
          </a:xfrm>
          <a:prstGeom prst="rect">
            <a:avLst/>
          </a:prstGeom>
          <a:noFill/>
        </p:spPr>
        <p:txBody>
          <a:bodyPr wrap="square" lIns="0" rIns="0" tIns="0" bIns="0" anchor="ctr">
            <a:spAutoFit/>
          </a:bodyPr>
          <a:lstStyle/>
          <a:p>
            <a:pPr algn="l"/>
            <a:r>
              <a:rPr sz="1150" b="1" i="0">
                <a:solidFill>
                  <a:srgbClr val="8A1626"/>
                </a:solidFill>
              </a:rPr>
              <a:t>On the demo: </a:t>
            </a:r>
            <a:r>
              <a:rPr sz="1150" b="0" i="0">
                <a:solidFill>
                  <a:srgbClr val="1A1A1A"/>
                </a:solidFill>
              </a:rPr>
              <a:t>the 1,339 Endur trades come as scenario PVs (1,089 USD, 246 EUR, 4 CAD). Bank VaR 112,035,906 → 112,041,646 and ES 160,132,107 → 160,143,809: the FX move of the 250 EUR and CAD trades. A USD trade reproduces its vector exactly.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INTRADAY UPDATES · 2.9.4</a:t>
            </a:r>
          </a:p>
        </p:txBody>
      </p:sp>
      <p:sp>
        <p:nvSpPr>
          <p:cNvPr id="3" name="Title 2"/>
          <p:cNvSpPr>
            <a:spLocks noGrp="1"/>
          </p:cNvSpPr>
          <p:nvPr>
            <p:ph type="title" idx="104"/>
          </p:nvPr>
        </p:nvSpPr>
        <p:spPr/>
        <p:txBody>
          <a:bodyPr/>
          <a:lstStyle/>
          <a:p>
            <a:r>
              <a:t>Intraday: only what changed, applied as new − old up the tree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1947672" cy="1298448"/>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68680"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Morning full run</a:t>
            </a:r>
          </a:p>
          <a:p>
            <a:pPr algn="l"/>
            <a:r>
              <a:rPr sz="1100" b="0" i="0">
                <a:solidFill>
                  <a:srgbClr val="4A5058"/>
                </a:solidFill>
              </a:rPr>
              <a:t>RUN_KIND FULL: every live trade or position; the date loads; official records taken from it</a:t>
            </a:r>
          </a:p>
        </p:txBody>
      </p:sp>
      <p:cxnSp>
        <p:nvCxnSpPr>
          <p:cNvPr id="28" name="Connector 27"/>
          <p:cNvCxnSpPr/>
          <p:nvPr/>
        </p:nvCxnSpPr>
        <p:spPr>
          <a:xfrm>
            <a:off x="2743200" y="2112264"/>
            <a:ext cx="187452"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2948940" y="1463040"/>
            <a:ext cx="1947672" cy="1298448"/>
          </a:xfrm>
          <a:prstGeom prst="rect">
            <a:avLst/>
          </a:prstGeom>
          <a:solidFill>
            <a:srgbClr val="F7F5F2"/>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3040380"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Changed rows</a:t>
            </a:r>
          </a:p>
          <a:p>
            <a:pPr algn="l"/>
            <a:r>
              <a:rPr sz="1100" b="0" i="0">
                <a:solidFill>
                  <a:srgbClr val="4A5058"/>
                </a:solidFill>
              </a:rPr>
              <a:t>Trades or positions amended, new, cancelled; same scenario set; own BATCH_ID, later COMPUTED_AT</a:t>
            </a:r>
          </a:p>
        </p:txBody>
      </p:sp>
      <p:cxnSp>
        <p:nvCxnSpPr>
          <p:cNvPr id="31" name="Connector 30"/>
          <p:cNvCxnSpPr/>
          <p:nvPr/>
        </p:nvCxnSpPr>
        <p:spPr>
          <a:xfrm>
            <a:off x="4914900" y="2112264"/>
            <a:ext cx="187452"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120640" y="1463040"/>
            <a:ext cx="1947672" cy="1298448"/>
          </a:xfrm>
          <a:prstGeom prst="rect">
            <a:avLst/>
          </a:prstGeom>
          <a:solidFill>
            <a:srgbClr val="F7F5F2"/>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5212079"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Lake: appended batch</a:t>
            </a:r>
          </a:p>
          <a:p>
            <a:pPr algn="l"/>
            <a:r>
              <a:rPr sz="1100" b="0" i="0">
                <a:solidFill>
                  <a:srgbClr val="4A5058"/>
                </a:solidFill>
              </a:rPr>
              <a:t>Files: drishti.py var intraday --load (lake build --mode append). Kafka: one batch per window</a:t>
            </a:r>
          </a:p>
        </p:txBody>
      </p:sp>
      <p:cxnSp>
        <p:nvCxnSpPr>
          <p:cNvPr id="34" name="Connector 33"/>
          <p:cNvCxnSpPr/>
          <p:nvPr/>
        </p:nvCxnSpPr>
        <p:spPr>
          <a:xfrm>
            <a:off x="7086599" y="2112264"/>
            <a:ext cx="187453"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7292340" y="1463040"/>
            <a:ext cx="1947672" cy="1298448"/>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7383779"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Apply: new − old</a:t>
            </a:r>
          </a:p>
          <a:p>
            <a:pPr algn="l"/>
            <a:r>
              <a:rPr sz="1100" b="0" i="0">
                <a:solidFill>
                  <a:srgbClr val="4A5058"/>
                </a:solidFill>
              </a:rPr>
              <a:t>Into the book, every node above (every hierarchy), the currency totals and built currencies</a:t>
            </a:r>
          </a:p>
        </p:txBody>
      </p:sp>
      <p:cxnSp>
        <p:nvCxnSpPr>
          <p:cNvPr id="37" name="Connector 36"/>
          <p:cNvCxnSpPr/>
          <p:nvPr/>
        </p:nvCxnSpPr>
        <p:spPr>
          <a:xfrm>
            <a:off x="9258300" y="2112264"/>
            <a:ext cx="187452"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9464040" y="1463040"/>
            <a:ext cx="1947672" cy="1298448"/>
          </a:xfrm>
          <a:prstGeom prst="rect">
            <a:avLst/>
          </a:prstGeom>
          <a:solidFill>
            <a:srgbClr val="F7F5F2"/>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555480"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Answers say intraday</a:t>
            </a:r>
          </a:p>
          <a:p>
            <a:pPr algn="l"/>
            <a:r>
              <a:rPr sz="1100" b="0" i="0">
                <a:solidFill>
                  <a:srgbClr val="4A5058"/>
                </a:solidFill>
              </a:rPr>
              <a:t>Badge in the status line, intraday on every answer; morning hot file never changed</a:t>
            </a:r>
          </a:p>
        </p:txBody>
      </p:sp>
      <p:sp>
        <p:nvSpPr>
          <p:cNvPr id="40" name="Rounded Rectangle 39"/>
          <p:cNvSpPr/>
          <p:nvPr/>
        </p:nvSpPr>
        <p:spPr>
          <a:xfrm>
            <a:off x="3040380" y="2834640"/>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1" name="TextBox 40"/>
          <p:cNvSpPr txBox="1"/>
          <p:nvPr/>
        </p:nvSpPr>
        <p:spPr>
          <a:xfrm>
            <a:off x="3662172" y="2816352"/>
            <a:ext cx="1463040" cy="237744"/>
          </a:xfrm>
          <a:prstGeom prst="rect">
            <a:avLst/>
          </a:prstGeom>
          <a:noFill/>
        </p:spPr>
        <p:txBody>
          <a:bodyPr wrap="square" lIns="0" rIns="0" tIns="0" bIns="0" anchor="ctr">
            <a:spAutoFit/>
          </a:bodyPr>
          <a:lstStyle/>
          <a:p>
            <a:pPr algn="l"/>
            <a:r>
              <a:rPr sz="1100" b="1" i="0">
                <a:solidFill>
                  <a:srgbClr val="8A1626"/>
                </a:solidFill>
              </a:rPr>
              <a:t>JSONL files</a:t>
            </a:r>
          </a:p>
        </p:txBody>
      </p:sp>
      <p:sp>
        <p:nvSpPr>
          <p:cNvPr id="42" name="Rounded Rectangle 41"/>
          <p:cNvSpPr/>
          <p:nvPr/>
        </p:nvSpPr>
        <p:spPr>
          <a:xfrm>
            <a:off x="5216652" y="2834640"/>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3" name="TextBox 42"/>
          <p:cNvSpPr txBox="1"/>
          <p:nvPr/>
        </p:nvSpPr>
        <p:spPr>
          <a:xfrm>
            <a:off x="5856732" y="2816352"/>
            <a:ext cx="1828800" cy="237744"/>
          </a:xfrm>
          <a:prstGeom prst="rect">
            <a:avLst/>
          </a:prstGeom>
          <a:noFill/>
        </p:spPr>
        <p:txBody>
          <a:bodyPr wrap="square" lIns="0" rIns="0" tIns="0" bIns="0" anchor="ctr">
            <a:spAutoFit/>
          </a:bodyPr>
          <a:lstStyle/>
          <a:p>
            <a:pPr algn="l"/>
            <a:r>
              <a:rPr sz="1100" b="1" i="0">
                <a:solidFill>
                  <a:srgbClr val="8A1626"/>
                </a:solidFill>
              </a:rPr>
              <a:t>Kafka micro-batches</a:t>
            </a:r>
          </a:p>
        </p:txBody>
      </p:sp>
      <p:graphicFrame>
        <p:nvGraphicFramePr>
          <p:cNvPr id="44" name="Table 43"/>
          <p:cNvGraphicFramePr>
            <a:graphicFrameLocks noGrp="1"/>
          </p:cNvGraphicFramePr>
          <p:nvPr/>
        </p:nvGraphicFramePr>
        <p:xfrm>
          <a:off x="777240" y="3154680"/>
          <a:ext cx="6172200" cy="2633472"/>
        </p:xfrm>
        <a:graphic>
          <a:graphicData uri="http://schemas.openxmlformats.org/drawingml/2006/table">
            <a:tbl>
              <a:tblPr firstRow="0" bandRow="0">
                <a:tableStyleId>{5940675A-B579-460E-94D1-54222C63F5DA}</a:tableStyleId>
              </a:tblPr>
              <a:tblGrid>
                <a:gridCol w="2697480"/>
                <a:gridCol w="3474720"/>
              </a:tblGrid>
              <a:tr h="329184">
                <a:tc>
                  <a:txBody>
                    <a:bodyPr wrap="square"/>
                    <a:lstStyle/>
                    <a:p>
                      <a:r>
                        <a:rPr sz="1150" b="1" i="0">
                          <a:solidFill>
                            <a:srgbClr val="FFFFFF"/>
                          </a:solidFill>
                        </a:rPr>
                        <a:t>Case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What the engine does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29184">
                <a:tc>
                  <a:txBody>
                    <a:bodyPr wrap="square"/>
                    <a:lstStyle/>
                    <a:p>
                      <a:r>
                        <a:rPr sz="1150" b="1" i="0">
                          <a:solidFill>
                            <a:srgbClr val="8A1626"/>
                          </a:solidFill>
                        </a:rPr>
                        <a:t>Same trade or position, several batches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latest COMPUTED_AT wins across files and Kafka; an equal one keeps the first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50" b="1" i="0">
                          <a:solidFill>
                            <a:srgbClr val="8A1626"/>
                          </a:solidFill>
                        </a:rPr>
                        <a:t>COMPUTED_AT before the morning run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ignored and counted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50" b="1" i="0">
                          <a:solidFill>
                            <a:srgbClr val="8A1626"/>
                          </a:solidFill>
                        </a:rPr>
                        <a:t>Cancel (CANCELLED, vector null)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removed from every scope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50" b="1" i="0">
                          <a:solidFill>
                            <a:srgbClr val="8A1626"/>
                          </a:solidFill>
                        </a:rPr>
                        <a:t>New trade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book from TT_BOOK, position by the position rules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50" b="1" i="0">
                          <a:solidFill>
                            <a:srgbClr val="8A1626"/>
                          </a:solidFill>
                        </a:rPr>
                        <a:t>Moved to another book or position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old ordinal cancelled, added in its new place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50" b="1" i="0">
                          <a:solidFill>
                            <a:srgbClr val="8A1626"/>
                          </a:solidFill>
                        </a:rPr>
                        <a:t>Another scenario set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row refused (DRS-5203); the date stays as it is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50" b="1" i="0">
                          <a:solidFill>
                            <a:srgbClr val="8A1626"/>
                          </a:solidFill>
                        </a:rPr>
                        <a:t>A full run of the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date reloads; the intraday layer is dropped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5" name="Rectangle 44"/>
          <p:cNvSpPr/>
          <p:nvPr/>
        </p:nvSpPr>
        <p:spPr>
          <a:xfrm>
            <a:off x="7178040" y="3154680"/>
            <a:ext cx="4233672" cy="1874519"/>
          </a:xfrm>
          <a:prstGeom prst="rect">
            <a:avLst/>
          </a:prstGeom>
          <a:solidFill>
            <a:srgbClr val="F7F5F2"/>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7315200" y="3218688"/>
            <a:ext cx="4005072" cy="1783080"/>
          </a:xfrm>
          <a:prstGeom prst="rect">
            <a:avLst/>
          </a:prstGeom>
          <a:noFill/>
        </p:spPr>
        <p:txBody>
          <a:bodyPr wrap="square" lIns="0" rIns="0" tIns="0" bIns="0" anchor="t">
            <a:spAutoFit/>
          </a:bodyPr>
          <a:lstStyle/>
          <a:p>
            <a:pPr algn="l">
              <a:spcAft>
                <a:spcPts val="300"/>
              </a:spcAft>
            </a:pPr>
            <a:r>
              <a:rPr sz="1250" b="1" i="0">
                <a:solidFill>
                  <a:srgbClr val="293352"/>
                </a:solidFill>
              </a:rPr>
              <a:t>Kafka, as built in 2.9.4</a:t>
            </a:r>
          </a:p>
          <a:p>
            <a:pPr algn="l" marL="146304" indent="-146304">
              <a:spcAft>
                <a:spcPts val="200"/>
              </a:spcAft>
              <a:buClr>
                <a:srgbClr val="293352"/>
              </a:buClr>
              <a:buSzPct val="100000"/>
              <a:buFont typeface="Arial"/>
              <a:buChar char="▪"/>
            </a:pPr>
            <a:r>
              <a:rPr sz="1150" b="0" i="0">
                <a:solidFill>
                  <a:srgbClr val="1A1A1A"/>
                </a:solidFill>
              </a:rPr>
              <a:t>A message is JSONL text: one or more records, PVs or P&amp;L, a cancel as a marked line</a:t>
            </a:r>
          </a:p>
          <a:p>
            <a:pPr algn="l" marL="146304" indent="-146304">
              <a:spcAft>
                <a:spcPts val="200"/>
              </a:spcAft>
              <a:buClr>
                <a:srgbClr val="293352"/>
              </a:buClr>
              <a:buSzPct val="100000"/>
              <a:buFont typeface="Arial"/>
              <a:buChar char="▪"/>
            </a:pPr>
            <a:r>
              <a:rPr sz="1150" b="0" i="0">
                <a:solidFill>
                  <a:srgbClr val="1A1A1A"/>
                </a:solidFill>
              </a:rPr>
              <a:t>A window every 5 min (drishti.var.intraday.kafka.window); early flush at 500 trades; admin “Apply now”</a:t>
            </a:r>
          </a:p>
          <a:p>
            <a:pPr algn="l" marL="146304" indent="-146304">
              <a:spcAft>
                <a:spcPts val="200"/>
              </a:spcAft>
              <a:buClr>
                <a:srgbClr val="293352"/>
              </a:buClr>
              <a:buSzPct val="100000"/>
              <a:buFont typeface="Arial"/>
              <a:buChar char="▪"/>
            </a:pPr>
            <a:r>
              <a:rPr sz="1150" b="0" i="0">
                <a:solidFill>
                  <a:srgbClr val="1A1A1A"/>
                </a:solidFill>
              </a:rPr>
              <a:t>Each window written to the lake as ONE intraday batch (on Iceberg, one append), then applied like a file</a:t>
            </a:r>
          </a:p>
          <a:p>
            <a:pPr algn="l" marL="146304" indent="-146304">
              <a:buClr>
                <a:srgbClr val="293352"/>
              </a:buClr>
              <a:buSzPct val="100000"/>
              <a:buFont typeface="Arial"/>
              <a:buChar char="▪"/>
            </a:pPr>
            <a:r>
              <a:rPr sz="1150" b="0" i="0">
                <a:solidFill>
                  <a:srgbClr val="1A1A1A"/>
                </a:solidFill>
              </a:rPr>
              <a:t>Replaying the topic after a restart writes nothing twice</a:t>
            </a:r>
          </a:p>
        </p:txBody>
      </p:sp>
      <p:sp>
        <p:nvSpPr>
          <p:cNvPr id="47" name="Rectangle 46"/>
          <p:cNvSpPr/>
          <p:nvPr/>
        </p:nvSpPr>
        <p:spPr>
          <a:xfrm>
            <a:off x="7178040" y="5138928"/>
            <a:ext cx="4233672" cy="107899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Rectangle 47"/>
          <p:cNvSpPr/>
          <p:nvPr/>
        </p:nvSpPr>
        <p:spPr>
          <a:xfrm>
            <a:off x="7178040" y="5138928"/>
            <a:ext cx="54864"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7360919" y="5166360"/>
            <a:ext cx="3959352" cy="1024128"/>
          </a:xfrm>
          <a:prstGeom prst="rect">
            <a:avLst/>
          </a:prstGeom>
          <a:noFill/>
        </p:spPr>
        <p:txBody>
          <a:bodyPr wrap="square" lIns="0" rIns="0" tIns="0" bIns="0" anchor="ctr">
            <a:spAutoFit/>
          </a:bodyPr>
          <a:lstStyle/>
          <a:p>
            <a:pPr algn="l">
              <a:spcAft>
                <a:spcPts val="300"/>
              </a:spcAft>
            </a:pPr>
            <a:r>
              <a:rPr sz="1250" b="1" i="0">
                <a:solidFill>
                  <a:srgbClr val="A51C30"/>
                </a:solidFill>
              </a:rPr>
              <a:t>The guarantee  </a:t>
            </a:r>
            <a:r>
              <a:rPr sz="1200" b="1" i="0">
                <a:solidFill>
                  <a:srgbClr val="8A1626"/>
                </a:solidFill>
              </a:rPr>
              <a:t>incremental = the same data loaded as one run, to the cent, on every node</a:t>
            </a:r>
          </a:p>
          <a:p>
            <a:pPr algn="l"/>
            <a:r>
              <a:rPr sz="1100" b="0" i="0">
                <a:solidFill>
                  <a:srgbClr val="1A1A1A"/>
                </a:solidFill>
              </a:rPr>
              <a:t>Measured: 200 batches of 3 trades on one date; a restart equal too; batch time does not grow. Official numbers come only from full runs.</a:t>
            </a:r>
          </a:p>
        </p:txBody>
      </p:sp>
      <p:sp>
        <p:nvSpPr>
          <p:cNvPr id="50" name="TextBox 49"/>
          <p:cNvSpPr txBox="1"/>
          <p:nvPr/>
        </p:nvSpPr>
        <p:spPr>
          <a:xfrm>
            <a:off x="777240" y="5852160"/>
            <a:ext cx="6172200" cy="365760"/>
          </a:xfrm>
          <a:prstGeom prst="rect">
            <a:avLst/>
          </a:prstGeom>
          <a:noFill/>
        </p:spPr>
        <p:txBody>
          <a:bodyPr wrap="square" lIns="0" rIns="0" tIns="0" bIns="0" anchor="ctr">
            <a:spAutoFit/>
          </a:bodyPr>
          <a:lstStyle/>
          <a:p>
            <a:pPr algn="l"/>
            <a:r>
              <a:rPr sz="1150" b="0" i="1">
                <a:solidFill>
                  <a:srgbClr val="4A5058"/>
                </a:solidFill>
              </a:rPr>
              <a:t>Cost of a batch ∝ rows changed × nodes above × currencies built, never the size of the book.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VAR UI AND THE REST</a:t>
            </a:r>
          </a:p>
        </p:txBody>
      </p:sp>
      <p:sp>
        <p:nvSpPr>
          <p:cNvPr id="3" name="Title 2"/>
          <p:cNvSpPr>
            <a:spLocks noGrp="1"/>
          </p:cNvSpPr>
          <p:nvPr>
            <p:ph type="title" idx="104"/>
          </p:nvPr>
        </p:nvSpPr>
        <p:spPr/>
        <p:txBody>
          <a:bodyPr/>
          <a:lstStyle/>
          <a:p>
            <a:r>
              <a:t>One explorer for any scope, and the same answers everywhere else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Picture 25" descr="15-reporting-currency.jpg"/>
          <p:cNvPicPr>
            <a:picLocks noChangeAspect="1"/>
          </p:cNvPicPr>
          <p:nvPr/>
        </p:nvPicPr>
        <p:blipFill>
          <a:blip r:embed="rId2"/>
          <a:stretch>
            <a:fillRect/>
          </a:stretch>
        </p:blipFill>
        <p:spPr>
          <a:xfrm>
            <a:off x="777240" y="1444752"/>
            <a:ext cx="5989320" cy="3743325"/>
          </a:xfrm>
          <a:prstGeom prst="rect">
            <a:avLst/>
          </a:prstGeom>
          <a:ln w="9144">
            <a:solidFill>
              <a:srgbClr val="E3DED7"/>
            </a:solidFill>
          </a:ln>
        </p:spPr>
      </p:pic>
      <p:sp>
        <p:nvSpPr>
          <p:cNvPr id="27" name="TextBox 26"/>
          <p:cNvSpPr txBox="1"/>
          <p:nvPr/>
        </p:nvSpPr>
        <p:spPr>
          <a:xfrm>
            <a:off x="777240" y="5242941"/>
            <a:ext cx="5989320" cy="411480"/>
          </a:xfrm>
          <a:prstGeom prst="rect">
            <a:avLst/>
          </a:prstGeom>
          <a:noFill/>
        </p:spPr>
        <p:txBody>
          <a:bodyPr wrap="square" lIns="0" rIns="0" tIns="0" bIns="0" anchor="t">
            <a:spAutoFit/>
          </a:bodyPr>
          <a:lstStyle/>
          <a:p>
            <a:pPr algn="l"/>
            <a:r>
              <a:rPr sz="1050" b="0" i="1">
                <a:solidFill>
                  <a:srgbClr val="4A5058"/>
                </a:solidFill>
              </a:rPr>
              <a:t>VAR DESK DESK-RATES IN EUR: the scope tree and tiles in EUR, the basket tray, the P&amp;L path, and How this number was built naming the reporting currency, the input form, the scenario FX and the crosses via USD (2026-09-30).</a:t>
            </a:r>
          </a:p>
        </p:txBody>
      </p:sp>
      <p:sp>
        <p:nvSpPr>
          <p:cNvPr id="28" name="Rectangle 27"/>
          <p:cNvSpPr/>
          <p:nvPr/>
        </p:nvSpPr>
        <p:spPr>
          <a:xfrm>
            <a:off x="777240" y="5715000"/>
            <a:ext cx="2903220" cy="5486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886968" y="5715000"/>
            <a:ext cx="960120" cy="548640"/>
          </a:xfrm>
          <a:prstGeom prst="rect">
            <a:avLst/>
          </a:prstGeom>
          <a:noFill/>
        </p:spPr>
        <p:txBody>
          <a:bodyPr wrap="square" lIns="0" rIns="0" tIns="0" bIns="0" anchor="ctr">
            <a:spAutoFit/>
          </a:bodyPr>
          <a:lstStyle/>
          <a:p>
            <a:pPr algn="l"/>
            <a:r>
              <a:rPr sz="1500" b="1" i="0">
                <a:solidFill>
                  <a:srgbClr val="8A1626"/>
                </a:solidFill>
              </a:rPr>
              <a:t>9–14 ms</a:t>
            </a:r>
          </a:p>
        </p:txBody>
      </p:sp>
      <p:sp>
        <p:nvSpPr>
          <p:cNvPr id="30" name="TextBox 29"/>
          <p:cNvSpPr txBox="1"/>
          <p:nvPr/>
        </p:nvSpPr>
        <p:spPr>
          <a:xfrm>
            <a:off x="1847088" y="5715000"/>
            <a:ext cx="1760219" cy="548640"/>
          </a:xfrm>
          <a:prstGeom prst="rect">
            <a:avLst/>
          </a:prstGeom>
          <a:noFill/>
        </p:spPr>
        <p:txBody>
          <a:bodyPr wrap="square" lIns="0" rIns="0" tIns="0" bIns="0" anchor="ctr">
            <a:spAutoFit/>
          </a:bodyPr>
          <a:lstStyle/>
          <a:p>
            <a:pPr algn="l"/>
            <a:r>
              <a:rPr sz="1050" b="0" i="0">
                <a:solidFill>
                  <a:srgbClr val="4A5058"/>
                </a:solidFill>
              </a:rPr>
              <a:t>click to painted, a desk, answers fetched ahead (target 300 ms)</a:t>
            </a:r>
          </a:p>
        </p:txBody>
      </p:sp>
      <p:sp>
        <p:nvSpPr>
          <p:cNvPr id="31" name="Rectangle 30"/>
          <p:cNvSpPr/>
          <p:nvPr/>
        </p:nvSpPr>
        <p:spPr>
          <a:xfrm>
            <a:off x="3863339" y="5715000"/>
            <a:ext cx="2903220" cy="5486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3973068" y="5715000"/>
            <a:ext cx="960120" cy="548640"/>
          </a:xfrm>
          <a:prstGeom prst="rect">
            <a:avLst/>
          </a:prstGeom>
          <a:noFill/>
        </p:spPr>
        <p:txBody>
          <a:bodyPr wrap="square" lIns="0" rIns="0" tIns="0" bIns="0" anchor="ctr">
            <a:spAutoFit/>
          </a:bodyPr>
          <a:lstStyle/>
          <a:p>
            <a:pPr algn="l"/>
            <a:r>
              <a:rPr sz="1500" b="1" i="0">
                <a:solidFill>
                  <a:srgbClr val="8A1626"/>
                </a:solidFill>
              </a:rPr>
              <a:t>390 px</a:t>
            </a:r>
          </a:p>
        </p:txBody>
      </p:sp>
      <p:sp>
        <p:nvSpPr>
          <p:cNvPr id="33" name="TextBox 32"/>
          <p:cNvSpPr txBox="1"/>
          <p:nvPr/>
        </p:nvSpPr>
        <p:spPr>
          <a:xfrm>
            <a:off x="4933188" y="5715000"/>
            <a:ext cx="1760219" cy="548640"/>
          </a:xfrm>
          <a:prstGeom prst="rect">
            <a:avLst/>
          </a:prstGeom>
          <a:noFill/>
        </p:spPr>
        <p:txBody>
          <a:bodyPr wrap="square" lIns="0" rIns="0" tIns="0" bIns="0" anchor="ctr">
            <a:spAutoFit/>
          </a:bodyPr>
          <a:lstStyle/>
          <a:p>
            <a:pPr algn="l"/>
            <a:r>
              <a:rPr sz="1050" b="0" i="0">
                <a:solidFill>
                  <a:srgbClr val="4A5058"/>
                </a:solidFill>
              </a:rPr>
              <a:t>on a phone the three columns stack, no sideways scroll</a:t>
            </a:r>
          </a:p>
        </p:txBody>
      </p:sp>
      <p:sp>
        <p:nvSpPr>
          <p:cNvPr id="34" name="TextBox 33"/>
          <p:cNvSpPr txBox="1"/>
          <p:nvPr/>
        </p:nvSpPr>
        <p:spPr>
          <a:xfrm>
            <a:off x="7040879" y="1417320"/>
            <a:ext cx="4370832" cy="4846320"/>
          </a:xfrm>
          <a:prstGeom prst="rect">
            <a:avLst/>
          </a:prstGeom>
          <a:noFill/>
        </p:spPr>
        <p:txBody>
          <a:bodyPr wrap="square" lIns="0" rIns="0" tIns="0" bIns="0" anchor="t">
            <a:spAutoFit/>
          </a:bodyPr>
          <a:lstStyle/>
          <a:p>
            <a:pPr algn="l" marL="146304" indent="-146304">
              <a:spcAft>
                <a:spcPts val="550"/>
              </a:spcAft>
              <a:buClr>
                <a:srgbClr val="A51C30"/>
              </a:buClr>
              <a:buSzPct val="100000"/>
              <a:buFont typeface="Arial"/>
              <a:buChar char="▪"/>
            </a:pPr>
            <a:r>
              <a:rPr sz="1200" b="1" i="0">
                <a:solidFill>
                  <a:srgbClr val="8A1626"/>
                </a:solidFill>
              </a:rPr>
              <a:t>Scope tree and six tiles  </a:t>
            </a:r>
            <a:r>
              <a:rPr sz="1150" b="0" i="0">
                <a:solidFill>
                  <a:srgbClr val="1A1A1A"/>
                </a:solidFill>
              </a:rPr>
              <a:t>MGMT, LEGAL or the limit letters (a tree by columns) with VaR, ES and limit bars; VaR, ES, sum of standalone, diversification, limit use, backtest exceptions.</a:t>
            </a:r>
          </a:p>
          <a:p>
            <a:pPr algn="l" marL="146304" indent="-146304">
              <a:spcAft>
                <a:spcPts val="550"/>
              </a:spcAft>
              <a:buClr>
                <a:srgbClr val="A51C30"/>
              </a:buClr>
              <a:buSzPct val="100000"/>
              <a:buFont typeface="Arial"/>
              <a:buChar char="▪"/>
            </a:pPr>
            <a:r>
              <a:rPr sz="1200" b="1" i="0">
                <a:solidFill>
                  <a:srgbClr val="8A1626"/>
                </a:solidFill>
              </a:rPr>
              <a:t>Five tabs  </a:t>
            </a:r>
            <a:r>
              <a:rPr sz="1150" b="0" i="0">
                <a:solidFill>
                  <a:srgbClr val="1A1A1A"/>
                </a:solidFill>
              </a:rPr>
              <a:t>P&amp;L path (509 days, worst 25, who lost on a day) · VaR/ES history and backtest · contributions · captured results · In other currencies.</a:t>
            </a:r>
          </a:p>
          <a:p>
            <a:pPr algn="l" marL="146304" indent="-146304">
              <a:spcAft>
                <a:spcPts val="550"/>
              </a:spcAft>
              <a:buClr>
                <a:srgbClr val="A51C30"/>
              </a:buClr>
              <a:buSzPct val="100000"/>
              <a:buFont typeface="Arial"/>
              <a:buChar char="▪"/>
            </a:pPr>
            <a:r>
              <a:rPr sz="1200" b="1" i="0">
                <a:solidFill>
                  <a:srgbClr val="8A1626"/>
                </a:solidFill>
              </a:rPr>
              <a:t>Reporting currency picker  </a:t>
            </a:r>
            <a:r>
              <a:rPr sz="1150" b="0" i="0">
                <a:solidFill>
                  <a:srgbClr val="1A1A1A"/>
                </a:solidFill>
              </a:rPr>
              <a:t>USD, EUR, CAD, JPY, GBP and More…; every panel follows; kept in the link; VAR … IN EUR.</a:t>
            </a:r>
          </a:p>
          <a:p>
            <a:pPr algn="l" marL="146304" indent="-146304">
              <a:spcAft>
                <a:spcPts val="550"/>
              </a:spcAft>
              <a:buClr>
                <a:srgbClr val="A51C30"/>
              </a:buClr>
              <a:buSzPct val="100000"/>
              <a:buFont typeface="Arial"/>
              <a:buChar char="▪"/>
            </a:pPr>
            <a:r>
              <a:rPr sz="1200" b="1" i="0">
                <a:solidFill>
                  <a:srgbClr val="8A1626"/>
                </a:solidFill>
              </a:rPr>
              <a:t>How this number was built  </a:t>
            </a:r>
            <a:r>
              <a:rPr sz="1150" b="0" i="0">
                <a:solidFill>
                  <a:srgbClr val="1A1A1A"/>
                </a:solidFill>
              </a:rPr>
              <a:t>the scope as resolved, its trades and positions, hidden and unknown ids, batch, data versions, method, tier, timing.</a:t>
            </a:r>
          </a:p>
          <a:p>
            <a:pPr algn="l" marL="146304" indent="-146304">
              <a:spcAft>
                <a:spcPts val="550"/>
              </a:spcAft>
              <a:buClr>
                <a:srgbClr val="A51C30"/>
              </a:buClr>
              <a:buSzPct val="100000"/>
              <a:buFont typeface="Arial"/>
              <a:buChar char="▪"/>
            </a:pPr>
            <a:r>
              <a:rPr sz="1200" b="1" i="0">
                <a:solidFill>
                  <a:srgbClr val="8A1626"/>
                </a:solidFill>
              </a:rPr>
              <a:t>Baskets and pre-deal what-if  </a:t>
            </a:r>
            <a:r>
              <a:rPr sz="1150" b="0" i="0">
                <a:solidFill>
                  <a:srgbClr val="1A1A1A"/>
                </a:solidFill>
              </a:rPr>
              <a:t>any mix of portfolios, positions, trades, counterparties and rules, live; a booked trade's vector × a factor through the Python engine.</a:t>
            </a:r>
          </a:p>
          <a:p>
            <a:pPr algn="l" marL="146304" indent="-146304">
              <a:spcAft>
                <a:spcPts val="550"/>
              </a:spcAft>
              <a:buClr>
                <a:srgbClr val="A51C30"/>
              </a:buClr>
              <a:buSzPct val="100000"/>
              <a:buFont typeface="Arial"/>
              <a:buChar char="▪"/>
            </a:pPr>
            <a:r>
              <a:rPr sz="1200" b="1" i="0">
                <a:solidFill>
                  <a:srgbClr val="8A1626"/>
                </a:solidFill>
              </a:rPr>
              <a:t>Captures, official records  </a:t>
            </a:r>
            <a:r>
              <a:rPr sz="1150" b="0" i="0">
                <a:solidFill>
                  <a:srgbClr val="1A1A1A"/>
                </a:solidFill>
              </a:rPr>
              <a:t>immutable captures, compare with now; each node's official history.</a:t>
            </a:r>
          </a:p>
          <a:p>
            <a:pPr algn="l" marL="146304" indent="-146304">
              <a:spcAft>
                <a:spcPts val="550"/>
              </a:spcAft>
              <a:buClr>
                <a:srgbClr val="A51C30"/>
              </a:buClr>
              <a:buSzPct val="100000"/>
              <a:buFont typeface="Arial"/>
              <a:buChar char="▪"/>
            </a:pPr>
            <a:r>
              <a:rPr sz="1200" b="1" i="0">
                <a:solidFill>
                  <a:srgbClr val="8A1626"/>
                </a:solidFill>
              </a:rPr>
              <a:t>Everywhere else  </a:t>
            </a:r>
            <a:r>
              <a:rPr sz="1150" b="0" i="0">
                <a:solidFill>
                  <a:srgbClr val="1A1A1A"/>
                </a:solidFill>
              </a:rPr>
              <a:t>trade (Trade currency), position, portfolio, desk and LE pages; drishti.py var … --ccy; /api/v1/var; VRES and VWIF; the BI VaR report; Home facts.</a:t>
            </a:r>
          </a:p>
          <a:p>
            <a:pPr algn="l" marL="146304" indent="-146304">
              <a:spcAft>
                <a:spcPts val="550"/>
              </a:spcAft>
              <a:buClr>
                <a:srgbClr val="A51C30"/>
              </a:buClr>
              <a:buSzPct val="100000"/>
              <a:buFont typeface="Arial"/>
              <a:buChar char="▪"/>
            </a:pPr>
            <a:r>
              <a:rPr sz="1200" b="1" i="0">
                <a:solidFill>
                  <a:srgbClr val="8A1626"/>
                </a:solidFill>
              </a:rPr>
              <a:t>Governed  </a:t>
            </a:r>
            <a:r>
              <a:rPr sz="1150" b="0" i="0">
                <a:solidFill>
                  <a:srgbClr val="1A1A1A"/>
                </a:solidFill>
              </a:rPr>
              <a:t>root name drishti.var.root-name; per-node positions or aggregate access; masks; every answer audited.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03</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Data in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ARCHITECTURE AND DATA FLOW</a:t>
            </a:r>
          </a:p>
        </p:txBody>
      </p:sp>
      <p:sp>
        <p:nvSpPr>
          <p:cNvPr id="3" name="Title 2"/>
          <p:cNvSpPr>
            <a:spLocks noGrp="1"/>
          </p:cNvSpPr>
          <p:nvPr>
            <p:ph type="title" idx="104"/>
          </p:nvPr>
        </p:nvSpPr>
        <p:spPr/>
        <p:txBody>
          <a:bodyPr/>
          <a:lstStyle/>
          <a:p>
            <a:r>
              <a:t>From the pricing systems to every screen, in one direction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89888"/>
            <a:ext cx="1920240" cy="237744"/>
          </a:xfrm>
          <a:prstGeom prst="rect">
            <a:avLst/>
          </a:prstGeom>
          <a:noFill/>
        </p:spPr>
        <p:txBody>
          <a:bodyPr wrap="square" lIns="0" rIns="0" tIns="0" bIns="0" anchor="ctr">
            <a:spAutoFit/>
          </a:bodyPr>
          <a:lstStyle/>
          <a:p>
            <a:pPr algn="l"/>
            <a:r>
              <a:rPr sz="1050" b="1" i="0">
                <a:solidFill>
                  <a:srgbClr val="A51C30"/>
                </a:solidFill>
              </a:rPr>
              <a:t>1 · SOURCES</a:t>
            </a:r>
          </a:p>
        </p:txBody>
      </p:sp>
      <p:sp>
        <p:nvSpPr>
          <p:cNvPr id="27" name="TextBox 26"/>
          <p:cNvSpPr txBox="1"/>
          <p:nvPr/>
        </p:nvSpPr>
        <p:spPr>
          <a:xfrm>
            <a:off x="2990088" y="1389888"/>
            <a:ext cx="1920240" cy="237744"/>
          </a:xfrm>
          <a:prstGeom prst="rect">
            <a:avLst/>
          </a:prstGeom>
          <a:noFill/>
        </p:spPr>
        <p:txBody>
          <a:bodyPr wrap="square" lIns="0" rIns="0" tIns="0" bIns="0" anchor="ctr">
            <a:spAutoFit/>
          </a:bodyPr>
          <a:lstStyle/>
          <a:p>
            <a:pPr algn="l"/>
            <a:r>
              <a:rPr sz="1050" b="1" i="0">
                <a:solidFill>
                  <a:srgbClr val="A51C30"/>
                </a:solidFill>
              </a:rPr>
              <a:t>2 · THE LAKE</a:t>
            </a:r>
          </a:p>
        </p:txBody>
      </p:sp>
      <p:sp>
        <p:nvSpPr>
          <p:cNvPr id="28" name="TextBox 27"/>
          <p:cNvSpPr txBox="1"/>
          <p:nvPr/>
        </p:nvSpPr>
        <p:spPr>
          <a:xfrm>
            <a:off x="5202936" y="1389888"/>
            <a:ext cx="2011680" cy="237744"/>
          </a:xfrm>
          <a:prstGeom prst="rect">
            <a:avLst/>
          </a:prstGeom>
          <a:noFill/>
        </p:spPr>
        <p:txBody>
          <a:bodyPr wrap="square" lIns="0" rIns="0" tIns="0" bIns="0" anchor="ctr">
            <a:spAutoFit/>
          </a:bodyPr>
          <a:lstStyle/>
          <a:p>
            <a:pPr algn="l"/>
            <a:r>
              <a:rPr sz="1050" b="1" i="0">
                <a:solidFill>
                  <a:srgbClr val="A51C30"/>
                </a:solidFill>
              </a:rPr>
              <a:t>3 · LOAD AND CONVERT</a:t>
            </a:r>
          </a:p>
        </p:txBody>
      </p:sp>
      <p:sp>
        <p:nvSpPr>
          <p:cNvPr id="29" name="TextBox 28"/>
          <p:cNvSpPr txBox="1"/>
          <p:nvPr/>
        </p:nvSpPr>
        <p:spPr>
          <a:xfrm>
            <a:off x="7507224" y="1389888"/>
            <a:ext cx="2011680" cy="237744"/>
          </a:xfrm>
          <a:prstGeom prst="rect">
            <a:avLst/>
          </a:prstGeom>
          <a:noFill/>
        </p:spPr>
        <p:txBody>
          <a:bodyPr wrap="square" lIns="0" rIns="0" tIns="0" bIns="0" anchor="ctr">
            <a:spAutoFit/>
          </a:bodyPr>
          <a:lstStyle/>
          <a:p>
            <a:pPr algn="l"/>
            <a:r>
              <a:rPr sz="1050" b="1" i="0">
                <a:solidFill>
                  <a:srgbClr val="A51C30"/>
                </a:solidFill>
              </a:rPr>
              <a:t>4 · THE ENGINE, ONE DATE</a:t>
            </a:r>
          </a:p>
        </p:txBody>
      </p:sp>
      <p:sp>
        <p:nvSpPr>
          <p:cNvPr id="30" name="TextBox 29"/>
          <p:cNvSpPr txBox="1"/>
          <p:nvPr/>
        </p:nvSpPr>
        <p:spPr>
          <a:xfrm>
            <a:off x="9811512" y="1389888"/>
            <a:ext cx="1600200" cy="237744"/>
          </a:xfrm>
          <a:prstGeom prst="rect">
            <a:avLst/>
          </a:prstGeom>
          <a:noFill/>
        </p:spPr>
        <p:txBody>
          <a:bodyPr wrap="square" lIns="0" rIns="0" tIns="0" bIns="0" anchor="ctr">
            <a:spAutoFit/>
          </a:bodyPr>
          <a:lstStyle/>
          <a:p>
            <a:pPr algn="l"/>
            <a:r>
              <a:rPr sz="1050" b="1" i="0">
                <a:solidFill>
                  <a:srgbClr val="A51C30"/>
                </a:solidFill>
              </a:rPr>
              <a:t>5 · WHO READS IT</a:t>
            </a:r>
          </a:p>
        </p:txBody>
      </p:sp>
      <p:sp>
        <p:nvSpPr>
          <p:cNvPr id="31" name="Rectangle 30"/>
          <p:cNvSpPr/>
          <p:nvPr/>
        </p:nvSpPr>
        <p:spPr>
          <a:xfrm>
            <a:off x="777240" y="1691640"/>
            <a:ext cx="1920240" cy="128016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868680" y="1755648"/>
            <a:ext cx="1755648" cy="1188719"/>
          </a:xfrm>
          <a:prstGeom prst="rect">
            <a:avLst/>
          </a:prstGeom>
          <a:noFill/>
        </p:spPr>
        <p:txBody>
          <a:bodyPr wrap="square" lIns="0" rIns="0" tIns="0" bIns="0" anchor="t">
            <a:spAutoFit/>
          </a:bodyPr>
          <a:lstStyle/>
          <a:p>
            <a:pPr algn="l">
              <a:spcAft>
                <a:spcPts val="200"/>
              </a:spcAft>
            </a:pPr>
            <a:r>
              <a:rPr sz="1200" b="1" i="0">
                <a:solidFill>
                  <a:srgbClr val="8A1626"/>
                </a:solidFill>
              </a:rPr>
              <a:t>Morning run · full</a:t>
            </a:r>
          </a:p>
          <a:p>
            <a:pPr algn="l">
              <a:spcAft>
                <a:spcPts val="100"/>
              </a:spcAft>
            </a:pPr>
            <a:r>
              <a:rPr sz="1000" b="0" i="0">
                <a:solidFill>
                  <a:srgbClr val="4A5058"/>
                </a:solidFill>
              </a:rPr>
              <a:t>Any native currency, JSONL:</a:t>
            </a:r>
          </a:p>
        </p:txBody>
      </p:sp>
      <p:sp>
        <p:nvSpPr>
          <p:cNvPr id="33" name="Rectangle 32"/>
          <p:cNvSpPr/>
          <p:nvPr/>
        </p:nvSpPr>
        <p:spPr>
          <a:xfrm>
            <a:off x="850392" y="2331720"/>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PV · trade</a:t>
            </a:r>
          </a:p>
        </p:txBody>
      </p:sp>
      <p:sp>
        <p:nvSpPr>
          <p:cNvPr id="34" name="Rectangle 33"/>
          <p:cNvSpPr/>
          <p:nvPr/>
        </p:nvSpPr>
        <p:spPr>
          <a:xfrm>
            <a:off x="1755648" y="2331720"/>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PV · position</a:t>
            </a:r>
          </a:p>
        </p:txBody>
      </p:sp>
      <p:sp>
        <p:nvSpPr>
          <p:cNvPr id="35" name="Rectangle 34"/>
          <p:cNvSpPr/>
          <p:nvPr/>
        </p:nvSpPr>
        <p:spPr>
          <a:xfrm>
            <a:off x="850392" y="2633472"/>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P&amp;L · trade</a:t>
            </a:r>
          </a:p>
        </p:txBody>
      </p:sp>
      <p:sp>
        <p:nvSpPr>
          <p:cNvPr id="36" name="Rectangle 35"/>
          <p:cNvSpPr/>
          <p:nvPr/>
        </p:nvSpPr>
        <p:spPr>
          <a:xfrm>
            <a:off x="1755648" y="2633472"/>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P&amp;L · position</a:t>
            </a:r>
          </a:p>
        </p:txBody>
      </p:sp>
      <p:sp>
        <p:nvSpPr>
          <p:cNvPr id="37" name="Rectangle 36"/>
          <p:cNvSpPr/>
          <p:nvPr/>
        </p:nvSpPr>
        <p:spPr>
          <a:xfrm>
            <a:off x="777240" y="3081528"/>
            <a:ext cx="1920240" cy="86868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68680" y="3145536"/>
            <a:ext cx="1755648" cy="777240"/>
          </a:xfrm>
          <a:prstGeom prst="rect">
            <a:avLst/>
          </a:prstGeom>
          <a:noFill/>
        </p:spPr>
        <p:txBody>
          <a:bodyPr wrap="square" lIns="0" rIns="0" tIns="0" bIns="0" anchor="t">
            <a:spAutoFit/>
          </a:bodyPr>
          <a:lstStyle/>
          <a:p>
            <a:pPr algn="l">
              <a:spcAft>
                <a:spcPts val="200"/>
              </a:spcAft>
            </a:pPr>
            <a:r>
              <a:rPr sz="1200" b="1" i="0">
                <a:solidFill>
                  <a:srgbClr val="8A1626"/>
                </a:solidFill>
              </a:rPr>
              <a:t>Reference inputs</a:t>
            </a:r>
          </a:p>
          <a:p>
            <a:pPr algn="l">
              <a:spcAft>
                <a:spcPts val="100"/>
              </a:spcAft>
            </a:pPr>
            <a:r>
              <a:rPr sz="1050" b="0" i="0">
                <a:solidFill>
                  <a:srgbClr val="4A5058"/>
                </a:solidFill>
              </a:rPr>
              <a:t>Scenario set · hierarchies and limits · portfolios · scenario FX</a:t>
            </a:r>
          </a:p>
        </p:txBody>
      </p:sp>
      <p:sp>
        <p:nvSpPr>
          <p:cNvPr id="39" name="Rectangle 38"/>
          <p:cNvSpPr/>
          <p:nvPr/>
        </p:nvSpPr>
        <p:spPr>
          <a:xfrm>
            <a:off x="777240" y="4059936"/>
            <a:ext cx="1920240" cy="1197864"/>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868680" y="4123944"/>
            <a:ext cx="1755648" cy="1106424"/>
          </a:xfrm>
          <a:prstGeom prst="rect">
            <a:avLst/>
          </a:prstGeom>
          <a:noFill/>
        </p:spPr>
        <p:txBody>
          <a:bodyPr wrap="square" lIns="0" rIns="0" tIns="0" bIns="0" anchor="t">
            <a:spAutoFit/>
          </a:bodyPr>
          <a:lstStyle/>
          <a:p>
            <a:pPr algn="l">
              <a:spcAft>
                <a:spcPts val="200"/>
              </a:spcAft>
            </a:pPr>
            <a:r>
              <a:rPr sz="1200" b="1" i="0">
                <a:solidFill>
                  <a:srgbClr val="8A1626"/>
                </a:solidFill>
              </a:rPr>
              <a:t>During the day</a:t>
            </a:r>
          </a:p>
          <a:p>
            <a:pPr algn="l">
              <a:spcAft>
                <a:spcPts val="100"/>
              </a:spcAft>
            </a:pPr>
            <a:r>
              <a:rPr sz="1050" b="0" i="0">
                <a:solidFill>
                  <a:srgbClr val="4A5058"/>
                </a:solidFill>
              </a:rPr>
              <a:t>Changed trades or positions only (RUN_KIND INTRADAY): small JSONL files, or a Kafka PV topic, 5-min micro-batches</a:t>
            </a:r>
          </a:p>
        </p:txBody>
      </p:sp>
      <p:sp>
        <p:nvSpPr>
          <p:cNvPr id="41" name="Rounded Rectangle 40"/>
          <p:cNvSpPr/>
          <p:nvPr/>
        </p:nvSpPr>
        <p:spPr>
          <a:xfrm>
            <a:off x="886968" y="4983480"/>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2" name="TextBox 41"/>
          <p:cNvSpPr txBox="1"/>
          <p:nvPr/>
        </p:nvSpPr>
        <p:spPr>
          <a:xfrm>
            <a:off x="1421892" y="4983480"/>
            <a:ext cx="731520" cy="201168"/>
          </a:xfrm>
          <a:prstGeom prst="rect">
            <a:avLst/>
          </a:prstGeom>
          <a:noFill/>
        </p:spPr>
        <p:txBody>
          <a:bodyPr wrap="square" lIns="0" rIns="0" tIns="0" bIns="0" anchor="ctr">
            <a:spAutoFit/>
          </a:bodyPr>
          <a:lstStyle/>
          <a:p>
            <a:pPr algn="l"/>
            <a:r>
              <a:rPr sz="1000" b="1" i="0">
                <a:solidFill>
                  <a:srgbClr val="293352"/>
                </a:solidFill>
              </a:rPr>
              <a:t>Kafka</a:t>
            </a:r>
          </a:p>
        </p:txBody>
      </p:sp>
      <p:sp>
        <p:nvSpPr>
          <p:cNvPr id="43" name="Rectangle 42"/>
          <p:cNvSpPr/>
          <p:nvPr/>
        </p:nvSpPr>
        <p:spPr>
          <a:xfrm>
            <a:off x="2990088" y="1691640"/>
            <a:ext cx="1920240" cy="2880360"/>
          </a:xfrm>
          <a:prstGeom prst="rect">
            <a:avLst/>
          </a:prstGeom>
          <a:solidFill>
            <a:srgbClr val="F7F5F2"/>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3081528" y="1755648"/>
            <a:ext cx="1783080" cy="274320"/>
          </a:xfrm>
          <a:prstGeom prst="rect">
            <a:avLst/>
          </a:prstGeom>
          <a:noFill/>
        </p:spPr>
        <p:txBody>
          <a:bodyPr wrap="square" lIns="0" rIns="0" tIns="0" bIns="0" anchor="t">
            <a:spAutoFit/>
          </a:bodyPr>
          <a:lstStyle/>
          <a:p>
            <a:pPr algn="l"/>
            <a:r>
              <a:rPr sz="1150" b="1" i="0">
                <a:solidFill>
                  <a:srgbClr val="8A1626"/>
                </a:solidFill>
              </a:rPr>
              <a:t>Delta or Iceberg · risk</a:t>
            </a:r>
          </a:p>
        </p:txBody>
      </p:sp>
      <p:sp>
        <p:nvSpPr>
          <p:cNvPr id="45" name="Rectangle 44"/>
          <p:cNvSpPr/>
          <p:nvPr/>
        </p:nvSpPr>
        <p:spPr>
          <a:xfrm>
            <a:off x="3127248" y="207568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scenario-pv</a:t>
            </a:r>
          </a:p>
        </p:txBody>
      </p:sp>
      <p:sp>
        <p:nvSpPr>
          <p:cNvPr id="46" name="Rectangle 45"/>
          <p:cNvSpPr/>
          <p:nvPr/>
        </p:nvSpPr>
        <p:spPr>
          <a:xfrm>
            <a:off x="3127248" y="235000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pnl-vector</a:t>
            </a:r>
          </a:p>
        </p:txBody>
      </p:sp>
      <p:sp>
        <p:nvSpPr>
          <p:cNvPr id="47" name="Rectangle 46"/>
          <p:cNvSpPr/>
          <p:nvPr/>
        </p:nvSpPr>
        <p:spPr>
          <a:xfrm>
            <a:off x="3127248" y="262432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fx-scenario</a:t>
            </a:r>
          </a:p>
        </p:txBody>
      </p:sp>
      <p:sp>
        <p:nvSpPr>
          <p:cNvPr id="48" name="Rectangle 47"/>
          <p:cNvSpPr/>
          <p:nvPr/>
        </p:nvSpPr>
        <p:spPr>
          <a:xfrm>
            <a:off x="3127248" y="289864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scenario-set</a:t>
            </a:r>
          </a:p>
        </p:txBody>
      </p:sp>
      <p:sp>
        <p:nvSpPr>
          <p:cNvPr id="49" name="Rectangle 48"/>
          <p:cNvSpPr/>
          <p:nvPr/>
        </p:nvSpPr>
        <p:spPr>
          <a:xfrm>
            <a:off x="3127248" y="317296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risk-hierarchy</a:t>
            </a:r>
          </a:p>
        </p:txBody>
      </p:sp>
      <p:sp>
        <p:nvSpPr>
          <p:cNvPr id="50" name="Rectangle 49"/>
          <p:cNvSpPr/>
          <p:nvPr/>
        </p:nvSpPr>
        <p:spPr>
          <a:xfrm>
            <a:off x="3127248" y="344728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portfolio</a:t>
            </a:r>
          </a:p>
        </p:txBody>
      </p:sp>
      <p:sp>
        <p:nvSpPr>
          <p:cNvPr id="51" name="TextBox 50"/>
          <p:cNvSpPr txBox="1"/>
          <p:nvPr/>
        </p:nvSpPr>
        <p:spPr>
          <a:xfrm>
            <a:off x="3081528" y="3767328"/>
            <a:ext cx="1783080" cy="777240"/>
          </a:xfrm>
          <a:prstGeom prst="rect">
            <a:avLst/>
          </a:prstGeom>
          <a:noFill/>
        </p:spPr>
        <p:txBody>
          <a:bodyPr wrap="square" lIns="0" rIns="0" tIns="0" bIns="0" anchor="t">
            <a:spAutoFit/>
          </a:bodyPr>
          <a:lstStyle/>
          <a:p>
            <a:pPr algn="l"/>
            <a:r>
              <a:rPr sz="1000" b="0" i="0">
                <a:solidFill>
                  <a:srgbClr val="4A5058"/>
                </a:solidFill>
              </a:rPr>
              <a:t>business_date partitions · intraday batches appended · 7 years of time travel · rows checked at lake build</a:t>
            </a:r>
          </a:p>
        </p:txBody>
      </p:sp>
      <p:sp>
        <p:nvSpPr>
          <p:cNvPr id="52" name="Rectangle 51"/>
          <p:cNvSpPr/>
          <p:nvPr/>
        </p:nvSpPr>
        <p:spPr>
          <a:xfrm>
            <a:off x="2990088" y="4709160"/>
            <a:ext cx="1920240" cy="109728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3081528" y="4773168"/>
            <a:ext cx="1755648" cy="1005839"/>
          </a:xfrm>
          <a:prstGeom prst="rect">
            <a:avLst/>
          </a:prstGeom>
          <a:noFill/>
        </p:spPr>
        <p:txBody>
          <a:bodyPr wrap="square" lIns="0" rIns="0" tIns="0" bIns="0" anchor="t">
            <a:spAutoFit/>
          </a:bodyPr>
          <a:lstStyle/>
          <a:p>
            <a:pPr algn="l">
              <a:spcAft>
                <a:spcPts val="200"/>
              </a:spcAft>
            </a:pPr>
            <a:r>
              <a:rPr sz="1200" b="1" i="0">
                <a:solidFill>
                  <a:srgbClr val="8A1626"/>
                </a:solidFill>
              </a:rPr>
              <a:t>risk-results</a:t>
            </a:r>
          </a:p>
          <a:p>
            <a:pPr algn="l">
              <a:spcAft>
                <a:spcPts val="100"/>
              </a:spcAft>
            </a:pPr>
            <a:r>
              <a:rPr sz="1050" b="0" i="0">
                <a:solidFill>
                  <a:srgbClr val="4A5058"/>
                </a:solidFill>
              </a:rPr>
              <a:t>var-official: append-only Delta or Iceberg, a folder or S3, JSONL beside it; BI reads it (VOFF)</a:t>
            </a:r>
          </a:p>
        </p:txBody>
      </p:sp>
      <p:sp>
        <p:nvSpPr>
          <p:cNvPr id="54" name="Rectangle 53"/>
          <p:cNvSpPr/>
          <p:nvPr/>
        </p:nvSpPr>
        <p:spPr>
          <a:xfrm>
            <a:off x="5202936" y="1691640"/>
            <a:ext cx="2011680" cy="2468880"/>
          </a:xfrm>
          <a:prstGeom prst="rect">
            <a:avLst/>
          </a:prstGeom>
          <a:solidFill>
            <a:srgbClr val="F6E6E9"/>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5294376" y="1755648"/>
            <a:ext cx="1847088" cy="2377440"/>
          </a:xfrm>
          <a:prstGeom prst="rect">
            <a:avLst/>
          </a:prstGeom>
          <a:noFill/>
        </p:spPr>
        <p:txBody>
          <a:bodyPr wrap="square" lIns="0" rIns="0" tIns="0" bIns="0" anchor="t">
            <a:spAutoFit/>
          </a:bodyPr>
          <a:lstStyle/>
          <a:p>
            <a:pPr algn="l">
              <a:spcAft>
                <a:spcPts val="300"/>
              </a:spcAft>
            </a:pPr>
            <a:r>
              <a:rPr sz="1200" b="1" i="0">
                <a:solidFill>
                  <a:srgbClr val="8A1626"/>
                </a:solidFill>
              </a:rPr>
              <a:t>VarIntake → VarLoader</a:t>
            </a:r>
          </a:p>
          <a:p>
            <a:pPr algn="l" marL="146304" indent="-146304">
              <a:spcAft>
                <a:spcPts val="200"/>
              </a:spcAft>
              <a:buClr>
                <a:srgbClr val="A51C30"/>
              </a:buClr>
              <a:buSzPct val="100000"/>
              <a:buFont typeface="Arial"/>
              <a:buChar char="▪"/>
            </a:pPr>
            <a:r>
              <a:rPr sz="1050" b="1" i="0">
                <a:solidFill>
                  <a:srgbClr val="8A1626"/>
                </a:solidFill>
              </a:rPr>
              <a:t>Four input types → one internal form: a USD P&amp;L vector per row</a:t>
            </a:r>
          </a:p>
          <a:p>
            <a:pPr algn="l" marL="146304" indent="-146304">
              <a:spcAft>
                <a:spcPts val="200"/>
              </a:spcAft>
              <a:buClr>
                <a:srgbClr val="A51C30"/>
              </a:buClr>
              <a:buSzPct val="100000"/>
              <a:buFont typeface="Arial"/>
              <a:buChar char="▪"/>
            </a:pPr>
            <a:r>
              <a:rPr sz="1050" b="0" i="0">
                <a:solidFill>
                  <a:srgbClr val="1A1A1A"/>
                </a:solidFill>
              </a:rPr>
              <a:t>Every row checked; refusals named (DRS-…)</a:t>
            </a:r>
          </a:p>
          <a:p>
            <a:pPr algn="l" marL="146304" indent="-146304">
              <a:spcAft>
                <a:spcPts val="200"/>
              </a:spcAft>
              <a:buClr>
                <a:srgbClr val="A51C30"/>
              </a:buClr>
              <a:buSzPct val="100000"/>
              <a:buFont typeface="Arial"/>
              <a:buChar char="▪"/>
            </a:pPr>
            <a:r>
              <a:rPr sz="1050" b="0" i="0">
                <a:solidFill>
                  <a:srgbClr val="1A1A1A"/>
                </a:solidFill>
              </a:rPr>
              <a:t>PV → USD P&amp;L: </a:t>
            </a:r>
            <a:r>
              <a:rPr sz="950" b="0" i="0">
                <a:solidFill>
                  <a:srgbClr val="8A1626"/>
                </a:solidFill>
                <a:latin typeface="Courier New"/>
              </a:rPr>
              <a:t>PV(s)·FX(s) − PV(b)·FX(b)</a:t>
            </a:r>
          </a:p>
          <a:p>
            <a:pPr algn="l" marL="146304" indent="-146304">
              <a:spcAft>
                <a:spcPts val="200"/>
              </a:spcAft>
              <a:buClr>
                <a:srgbClr val="A51C30"/>
              </a:buClr>
              <a:buSzPct val="100000"/>
              <a:buFont typeface="Arial"/>
              <a:buChar char="▪"/>
            </a:pPr>
            <a:r>
              <a:rPr sz="1050" b="0" i="0">
                <a:solidFill>
                  <a:srgbClr val="1A1A1A"/>
                </a:solidFill>
              </a:rPr>
              <a:t>FX supplied or derived, via USD; positions by the pack's rules</a:t>
            </a:r>
          </a:p>
          <a:p>
            <a:pPr algn="l" marL="146304" indent="-146304">
              <a:buClr>
                <a:srgbClr val="A51C30"/>
              </a:buClr>
              <a:buSzPct val="100000"/>
              <a:buFont typeface="Arial"/>
              <a:buChar char="▪"/>
            </a:pPr>
            <a:r>
              <a:rPr sz="1050" b="0" i="0">
                <a:solidFill>
                  <a:srgbClr val="1A1A1A"/>
                </a:solidFill>
              </a:rPr>
              <a:t>Hierarchy order; every node summed in float64</a:t>
            </a:r>
          </a:p>
        </p:txBody>
      </p:sp>
      <p:sp>
        <p:nvSpPr>
          <p:cNvPr id="56" name="Rectangle 55"/>
          <p:cNvSpPr/>
          <p:nvPr/>
        </p:nvSpPr>
        <p:spPr>
          <a:xfrm>
            <a:off x="5202936" y="4297680"/>
            <a:ext cx="2011680" cy="868680"/>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xtBox 56"/>
          <p:cNvSpPr txBox="1"/>
          <p:nvPr/>
        </p:nvSpPr>
        <p:spPr>
          <a:xfrm>
            <a:off x="5294376" y="4361688"/>
            <a:ext cx="1847088" cy="777240"/>
          </a:xfrm>
          <a:prstGeom prst="rect">
            <a:avLst/>
          </a:prstGeom>
          <a:noFill/>
        </p:spPr>
        <p:txBody>
          <a:bodyPr wrap="square" lIns="0" rIns="0" tIns="0" bIns="0" anchor="t">
            <a:spAutoFit/>
          </a:bodyPr>
          <a:lstStyle/>
          <a:p>
            <a:pPr algn="l">
              <a:spcAft>
                <a:spcPts val="200"/>
              </a:spcAft>
            </a:pPr>
            <a:r>
              <a:rPr sz="1200" b="1" i="0">
                <a:solidFill>
                  <a:srgbClr val="8A1626"/>
                </a:solidFill>
              </a:rPr>
              <a:t>Intraday apply</a:t>
            </a:r>
          </a:p>
          <a:p>
            <a:pPr algn="l">
              <a:spcAft>
                <a:spcPts val="100"/>
              </a:spcAft>
            </a:pPr>
            <a:r>
              <a:rPr sz="1050" b="0" i="0">
                <a:solidFill>
                  <a:srgbClr val="4A5058"/>
                </a:solidFill>
              </a:rPr>
              <a:t>Latest COMPUTED_AT per trade or position wins; no reload</a:t>
            </a:r>
          </a:p>
        </p:txBody>
      </p:sp>
      <p:sp>
        <p:nvSpPr>
          <p:cNvPr id="58" name="Rectangle 57"/>
          <p:cNvSpPr/>
          <p:nvPr/>
        </p:nvSpPr>
        <p:spPr>
          <a:xfrm>
            <a:off x="7507224" y="1691640"/>
            <a:ext cx="2011680" cy="137160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7598664" y="1755648"/>
            <a:ext cx="1847088" cy="1280160"/>
          </a:xfrm>
          <a:prstGeom prst="rect">
            <a:avLst/>
          </a:prstGeom>
          <a:noFill/>
        </p:spPr>
        <p:txBody>
          <a:bodyPr wrap="square" lIns="0" rIns="0" tIns="0" bIns="0" anchor="t">
            <a:spAutoFit/>
          </a:bodyPr>
          <a:lstStyle/>
          <a:p>
            <a:pPr algn="l">
              <a:spcAft>
                <a:spcPts val="200"/>
              </a:spcAft>
            </a:pPr>
            <a:r>
              <a:rPr sz="1200" b="1" i="0">
                <a:solidFill>
                  <a:srgbClr val="8A1626"/>
                </a:solidFill>
              </a:rPr>
              <a:t>VarBook, tiered memory</a:t>
            </a:r>
          </a:p>
          <a:p>
            <a:pPr algn="l">
              <a:spcAft>
                <a:spcPts val="100"/>
              </a:spcAft>
            </a:pPr>
            <a:r>
              <a:rPr sz="1000" b="0" i="0">
                <a:solidFill>
                  <a:srgbClr val="4A5058"/>
                </a:solidFill>
              </a:rPr>
              <a:t>Hot file per date, mapped: float32 position rows, float64 node aggregates, per-trade-currency totals</a:t>
            </a:r>
          </a:p>
          <a:p>
            <a:pPr algn="l">
              <a:spcAft>
                <a:spcPts val="100"/>
              </a:spcAft>
            </a:pPr>
            <a:r>
              <a:rPr sz="1000" b="0" i="0">
                <a:solidFill>
                  <a:srgbClr val="4A5058"/>
                </a:solidFill>
              </a:rPr>
              <a:t>USD, EUR, CAD, JPY, GBP built ahead</a:t>
            </a:r>
          </a:p>
        </p:txBody>
      </p:sp>
      <p:sp>
        <p:nvSpPr>
          <p:cNvPr id="60" name="Rectangle 59"/>
          <p:cNvSpPr/>
          <p:nvPr/>
        </p:nvSpPr>
        <p:spPr>
          <a:xfrm>
            <a:off x="7507224" y="3200400"/>
            <a:ext cx="2011680" cy="96012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1" name="TextBox 60"/>
          <p:cNvSpPr txBox="1"/>
          <p:nvPr/>
        </p:nvSpPr>
        <p:spPr>
          <a:xfrm>
            <a:off x="7598664" y="3236976"/>
            <a:ext cx="1874519" cy="914400"/>
          </a:xfrm>
          <a:prstGeom prst="rect">
            <a:avLst/>
          </a:prstGeom>
          <a:noFill/>
        </p:spPr>
        <p:txBody>
          <a:bodyPr wrap="square" lIns="0" rIns="0" tIns="0" bIns="0" anchor="ctr">
            <a:spAutoFit/>
          </a:bodyPr>
          <a:lstStyle/>
          <a:p>
            <a:pPr algn="l">
              <a:spcAft>
                <a:spcPts val="200"/>
              </a:spcAft>
            </a:pPr>
            <a:r>
              <a:rPr sz="1200" b="1" i="0">
                <a:solidFill>
                  <a:srgbClr val="FFFFFF"/>
                </a:solidFill>
              </a:rPr>
              <a:t>Engine answers</a:t>
            </a:r>
          </a:p>
          <a:p>
            <a:pPr algn="l"/>
            <a:r>
              <a:rPr sz="1050" b="0" i="0">
                <a:solidFill>
                  <a:srgbClr val="F6E6E9"/>
                </a:solidFill>
              </a:rPr>
              <a:t>headline · path · contributions · tree · baskets · captures · what-if</a:t>
            </a:r>
          </a:p>
        </p:txBody>
      </p:sp>
      <p:sp>
        <p:nvSpPr>
          <p:cNvPr id="62" name="Rectangle 61"/>
          <p:cNvSpPr/>
          <p:nvPr/>
        </p:nvSpPr>
        <p:spPr>
          <a:xfrm>
            <a:off x="7507224" y="4297680"/>
            <a:ext cx="2011680" cy="868680"/>
          </a:xfrm>
          <a:prstGeom prst="rect">
            <a:avLst/>
          </a:prstGeom>
          <a:solidFill>
            <a:srgbClr val="FFFFFF"/>
          </a:solid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7598664" y="4361688"/>
            <a:ext cx="1847088" cy="777240"/>
          </a:xfrm>
          <a:prstGeom prst="rect">
            <a:avLst/>
          </a:prstGeom>
          <a:noFill/>
        </p:spPr>
        <p:txBody>
          <a:bodyPr wrap="square" lIns="0" rIns="0" tIns="0" bIns="0" anchor="t">
            <a:spAutoFit/>
          </a:bodyPr>
          <a:lstStyle/>
          <a:p>
            <a:pPr algn="l">
              <a:spcAft>
                <a:spcPts val="200"/>
              </a:spcAft>
            </a:pPr>
            <a:r>
              <a:rPr sz="1200" b="1" i="0">
                <a:solidFill>
                  <a:srgbClr val="8A1626"/>
                </a:solidFill>
              </a:rPr>
              <a:t>Intraday layer</a:t>
            </a:r>
          </a:p>
          <a:p>
            <a:pPr algn="l">
              <a:spcAft>
                <a:spcPts val="100"/>
              </a:spcAft>
            </a:pPr>
            <a:r>
              <a:rPr sz="1050" b="0" i="0">
                <a:solidFill>
                  <a:srgbClr val="4A5058"/>
                </a:solidFill>
              </a:rPr>
              <a:t>new − old into the book, every node above, totals, currencies</a:t>
            </a:r>
          </a:p>
        </p:txBody>
      </p:sp>
      <p:sp>
        <p:nvSpPr>
          <p:cNvPr id="64" name="Rectangle 63"/>
          <p:cNvSpPr/>
          <p:nvPr/>
        </p:nvSpPr>
        <p:spPr>
          <a:xfrm>
            <a:off x="7507224" y="5303520"/>
            <a:ext cx="2011680" cy="50292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5" name="TextBox 64"/>
          <p:cNvSpPr txBox="1"/>
          <p:nvPr/>
        </p:nvSpPr>
        <p:spPr>
          <a:xfrm>
            <a:off x="7598664" y="5367528"/>
            <a:ext cx="1847088" cy="411480"/>
          </a:xfrm>
          <a:prstGeom prst="rect">
            <a:avLst/>
          </a:prstGeom>
          <a:noFill/>
        </p:spPr>
        <p:txBody>
          <a:bodyPr wrap="square" lIns="0" rIns="0" tIns="0" bIns="0" anchor="t">
            <a:spAutoFit/>
          </a:bodyPr>
          <a:lstStyle/>
          <a:p>
            <a:pPr algn="l">
              <a:spcAft>
                <a:spcPts val="200"/>
              </a:spcAft>
            </a:pPr>
            <a:r>
              <a:rPr sz="1200" b="1" i="0">
                <a:solidFill>
                  <a:srgbClr val="8A1626"/>
                </a:solidFill>
              </a:rPr>
              <a:t>Official end-of-day</a:t>
            </a:r>
          </a:p>
        </p:txBody>
      </p:sp>
      <p:sp>
        <p:nvSpPr>
          <p:cNvPr id="66" name="TextBox 65"/>
          <p:cNvSpPr txBox="1"/>
          <p:nvPr/>
        </p:nvSpPr>
        <p:spPr>
          <a:xfrm>
            <a:off x="7598664" y="5550408"/>
            <a:ext cx="1874519" cy="256032"/>
          </a:xfrm>
          <a:prstGeom prst="rect">
            <a:avLst/>
          </a:prstGeom>
          <a:noFill/>
        </p:spPr>
        <p:txBody>
          <a:bodyPr wrap="square" lIns="0" rIns="0" tIns="0" bIns="0" anchor="t">
            <a:spAutoFit/>
          </a:bodyPr>
          <a:lstStyle/>
          <a:p>
            <a:pPr algn="l"/>
            <a:r>
              <a:rPr sz="1000" b="0" i="0">
                <a:solidFill>
                  <a:srgbClr val="4A5058"/>
                </a:solidFill>
              </a:rPr>
              <a:t>every node, morning book</a:t>
            </a:r>
          </a:p>
        </p:txBody>
      </p:sp>
      <p:sp>
        <p:nvSpPr>
          <p:cNvPr id="67" name="Rectangle 66"/>
          <p:cNvSpPr/>
          <p:nvPr/>
        </p:nvSpPr>
        <p:spPr>
          <a:xfrm>
            <a:off x="9811512" y="1691640"/>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8" name="TextBox 67"/>
          <p:cNvSpPr txBox="1"/>
          <p:nvPr/>
        </p:nvSpPr>
        <p:spPr>
          <a:xfrm>
            <a:off x="9884664" y="1746504"/>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VaR explorer /var</a:t>
            </a:r>
          </a:p>
          <a:p>
            <a:pPr algn="l"/>
            <a:r>
              <a:rPr sz="1000" b="0" i="0">
                <a:solidFill>
                  <a:srgbClr val="4A5058"/>
                </a:solidFill>
              </a:rPr>
              <a:t>currency picker, tabs, provenance</a:t>
            </a:r>
          </a:p>
        </p:txBody>
      </p:sp>
      <p:sp>
        <p:nvSpPr>
          <p:cNvPr id="69" name="Rectangle 68"/>
          <p:cNvSpPr/>
          <p:nvPr/>
        </p:nvSpPr>
        <p:spPr>
          <a:xfrm>
            <a:off x="9811512" y="2532888"/>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TextBox 69"/>
          <p:cNvSpPr txBox="1"/>
          <p:nvPr/>
        </p:nvSpPr>
        <p:spPr>
          <a:xfrm>
            <a:off x="9884664" y="2587752"/>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Pages and Home</a:t>
            </a:r>
          </a:p>
          <a:p>
            <a:pPr algn="l"/>
            <a:r>
              <a:rPr sz="1000" b="0" i="0">
                <a:solidFill>
                  <a:srgbClr val="4A5058"/>
                </a:solidFill>
              </a:rPr>
              <a:t>trade, position, portfolio, desk, LE; facts</a:t>
            </a:r>
          </a:p>
        </p:txBody>
      </p:sp>
      <p:sp>
        <p:nvSpPr>
          <p:cNvPr id="71" name="Rectangle 70"/>
          <p:cNvSpPr/>
          <p:nvPr/>
        </p:nvSpPr>
        <p:spPr>
          <a:xfrm>
            <a:off x="9811512" y="3374136"/>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2" name="TextBox 71"/>
          <p:cNvSpPr txBox="1"/>
          <p:nvPr/>
        </p:nvSpPr>
        <p:spPr>
          <a:xfrm>
            <a:off x="9884664" y="3429000"/>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CLI</a:t>
            </a:r>
          </a:p>
          <a:p>
            <a:pPr algn="l"/>
            <a:r>
              <a:rPr sz="1000" b="0" i="0">
                <a:solidFill>
                  <a:srgbClr val="4A5058"/>
                </a:solidFill>
              </a:rPr>
              <a:t>drishti.py var … --ccy EUR</a:t>
            </a:r>
          </a:p>
        </p:txBody>
      </p:sp>
      <p:sp>
        <p:nvSpPr>
          <p:cNvPr id="73" name="Rectangle 72"/>
          <p:cNvSpPr/>
          <p:nvPr/>
        </p:nvSpPr>
        <p:spPr>
          <a:xfrm>
            <a:off x="9811512" y="4215383"/>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4" name="TextBox 73"/>
          <p:cNvSpPr txBox="1"/>
          <p:nvPr/>
        </p:nvSpPr>
        <p:spPr>
          <a:xfrm>
            <a:off x="9884664" y="4270247"/>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REST API</a:t>
            </a:r>
          </a:p>
          <a:p>
            <a:pPr algn="l"/>
            <a:r>
              <a:rPr sz="1000" b="0" i="0">
                <a:solidFill>
                  <a:srgbClr val="4A5058"/>
                </a:solidFill>
              </a:rPr>
              <a:t>/api/v1/var · VRES · VWIF</a:t>
            </a:r>
          </a:p>
        </p:txBody>
      </p:sp>
      <p:sp>
        <p:nvSpPr>
          <p:cNvPr id="75" name="Rectangle 74"/>
          <p:cNvSpPr/>
          <p:nvPr/>
        </p:nvSpPr>
        <p:spPr>
          <a:xfrm>
            <a:off x="9811512" y="5056631"/>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TextBox 75"/>
          <p:cNvSpPr txBox="1"/>
          <p:nvPr/>
        </p:nvSpPr>
        <p:spPr>
          <a:xfrm>
            <a:off x="9884664" y="5111495"/>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BI</a:t>
            </a:r>
          </a:p>
          <a:p>
            <a:pPr algn="l"/>
            <a:r>
              <a:rPr sz="1000" b="0" i="0">
                <a:solidFill>
                  <a:srgbClr val="4A5058"/>
                </a:solidFill>
              </a:rPr>
              <a:t>Market risk: VaR report</a:t>
            </a:r>
          </a:p>
        </p:txBody>
      </p:sp>
      <p:cxnSp>
        <p:nvCxnSpPr>
          <p:cNvPr id="77" name="Connector 76"/>
          <p:cNvCxnSpPr/>
          <p:nvPr/>
        </p:nvCxnSpPr>
        <p:spPr>
          <a:xfrm>
            <a:off x="2697480" y="233172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2697480" y="352044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2697480" y="434340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4910328" y="2651760"/>
            <a:ext cx="29260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4910328" y="443484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7214616" y="2377440"/>
            <a:ext cx="29260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7214616" y="4727448"/>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8513064" y="3063240"/>
            <a:ext cx="0" cy="1371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8513064" y="4160520"/>
            <a:ext cx="0" cy="1371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H="1">
            <a:off x="4910328" y="5559552"/>
            <a:ext cx="259689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7" name="TextBox 86"/>
          <p:cNvSpPr txBox="1"/>
          <p:nvPr/>
        </p:nvSpPr>
        <p:spPr>
          <a:xfrm>
            <a:off x="5257800" y="5285232"/>
            <a:ext cx="1920240" cy="256032"/>
          </a:xfrm>
          <a:prstGeom prst="rect">
            <a:avLst/>
          </a:prstGeom>
          <a:noFill/>
        </p:spPr>
        <p:txBody>
          <a:bodyPr wrap="square" lIns="0" rIns="0" tIns="0" bIns="0" anchor="ctr">
            <a:spAutoFit/>
          </a:bodyPr>
          <a:lstStyle/>
          <a:p>
            <a:pPr algn="ctr"/>
            <a:r>
              <a:rPr sz="1000" b="0" i="1">
                <a:solidFill>
                  <a:srgbClr val="A51C30"/>
                </a:solidFill>
              </a:rPr>
              <a:t>published: lake + JSONL</a:t>
            </a:r>
          </a:p>
        </p:txBody>
      </p:sp>
      <p:cxnSp>
        <p:nvCxnSpPr>
          <p:cNvPr id="88" name="Connector 87"/>
          <p:cNvCxnSpPr/>
          <p:nvPr/>
        </p:nvCxnSpPr>
        <p:spPr>
          <a:xfrm>
            <a:off x="9518904" y="3675887"/>
            <a:ext cx="146304"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9665208" y="2066543"/>
            <a:ext cx="0" cy="3374137"/>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9665208" y="2066544"/>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9665208" y="2907792"/>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9665208" y="3749039"/>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9665208" y="4590288"/>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9665208" y="5431536"/>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777240" y="5897880"/>
            <a:ext cx="10634472" cy="329184"/>
          </a:xfrm>
          <a:prstGeom prst="rect">
            <a:avLst/>
          </a:prstGeom>
          <a:noFill/>
        </p:spPr>
        <p:txBody>
          <a:bodyPr wrap="square" lIns="0" rIns="0" tIns="0" bIns="0" anchor="t">
            <a:spAutoFit/>
          </a:bodyPr>
          <a:lstStyle/>
          <a:p>
            <a:pPr algn="l"/>
            <a:r>
              <a:rPr sz="1050" b="0" i="1">
                <a:solidFill>
                  <a:srgbClr val="4A5058"/>
                </a:solidFill>
              </a:rPr>
              <a:t>Each batch's data-load signal </a:t>
            </a:r>
            <a:r>
              <a:rPr sz="1000" b="0" i="0">
                <a:solidFill>
                  <a:srgbClr val="4A5058"/>
                </a:solidFill>
                <a:latin typeface="Courier New"/>
              </a:rPr>
              <a:t>POST /api/v1/packs/market-risk/loads</a:t>
            </a:r>
            <a:r>
              <a:rPr sz="1050" b="0" i="1">
                <a:solidFill>
                  <a:srgbClr val="4A5058"/>
                </a:solidFill>
              </a:rPr>
              <a:t> tells the engine: a full run reloads the date; an intraday batch is applied on top. The lake is the record: a restart rebuilds everything, the intraday layer included.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HIERARCHIES AND LIMITS</a:t>
            </a:r>
          </a:p>
        </p:txBody>
      </p:sp>
      <p:sp>
        <p:nvSpPr>
          <p:cNvPr id="3" name="Title 2"/>
          <p:cNvSpPr>
            <a:spLocks noGrp="1"/>
          </p:cNvSpPr>
          <p:nvPr>
            <p:ph type="title" idx="104"/>
          </p:nvPr>
        </p:nvSpPr>
        <p:spPr/>
        <p:txBody>
          <a:bodyPr/>
          <a:lstStyle/>
          <a:p>
            <a:r>
              <a:t>Three trees: management, legal entity and the limit letters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89888"/>
            <a:ext cx="1463040" cy="274320"/>
          </a:xfrm>
          <a:prstGeom prst="rect">
            <a:avLst/>
          </a:prstGeom>
          <a:noFill/>
        </p:spPr>
        <p:txBody>
          <a:bodyPr wrap="square" lIns="0" rIns="0" tIns="0" bIns="0" anchor="ctr">
            <a:spAutoFit/>
          </a:bodyPr>
          <a:lstStyle/>
          <a:p>
            <a:pPr algn="l"/>
            <a:r>
              <a:rPr sz="1200" b="1" i="0">
                <a:solidFill>
                  <a:srgbClr val="8A1626"/>
                </a:solidFill>
              </a:rPr>
              <a:t>MGMT · management</a:t>
            </a:r>
          </a:p>
        </p:txBody>
      </p:sp>
      <p:sp>
        <p:nvSpPr>
          <p:cNvPr id="27" name="Rounded Rectangle 26"/>
          <p:cNvSpPr/>
          <p:nvPr/>
        </p:nvSpPr>
        <p:spPr>
          <a:xfrm>
            <a:off x="2267712" y="1426464"/>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28" name="Rectangle 27"/>
          <p:cNvSpPr/>
          <p:nvPr/>
        </p:nvSpPr>
        <p:spPr>
          <a:xfrm>
            <a:off x="777240" y="1783080"/>
            <a:ext cx="1554480" cy="384048"/>
          </a:xfrm>
          <a:prstGeom prst="rect">
            <a:avLst/>
          </a:prstGeom>
          <a:solidFill>
            <a:srgbClr val="8A1626"/>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1" i="0">
                <a:solidFill>
                  <a:srgbClr val="FFFFFF"/>
                </a:solidFill>
              </a:rPr>
              <a:t>Bank</a:t>
            </a:r>
          </a:p>
        </p:txBody>
      </p:sp>
      <p:sp>
        <p:nvSpPr>
          <p:cNvPr id="29" name="Rounded Rectangle 28"/>
          <p:cNvSpPr/>
          <p:nvPr/>
        </p:nvSpPr>
        <p:spPr>
          <a:xfrm>
            <a:off x="2377440" y="1856231"/>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sp>
        <p:nvSpPr>
          <p:cNvPr id="30" name="Rectangle 29"/>
          <p:cNvSpPr/>
          <p:nvPr/>
        </p:nvSpPr>
        <p:spPr>
          <a:xfrm>
            <a:off x="886968" y="2350008"/>
            <a:ext cx="1444752"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Division</a:t>
            </a:r>
          </a:p>
        </p:txBody>
      </p:sp>
      <p:sp>
        <p:nvSpPr>
          <p:cNvPr id="31" name="Rounded Rectangle 30"/>
          <p:cNvSpPr/>
          <p:nvPr/>
        </p:nvSpPr>
        <p:spPr>
          <a:xfrm>
            <a:off x="2377440" y="2423160"/>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32" name="Connector 31"/>
          <p:cNvCxnSpPr/>
          <p:nvPr/>
        </p:nvCxnSpPr>
        <p:spPr>
          <a:xfrm>
            <a:off x="832103" y="2167127"/>
            <a:ext cx="0" cy="374905"/>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32103" y="2542032"/>
            <a:ext cx="54865"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996695" y="2916936"/>
            <a:ext cx="1335024"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Desk</a:t>
            </a:r>
          </a:p>
        </p:txBody>
      </p:sp>
      <p:sp>
        <p:nvSpPr>
          <p:cNvPr id="35" name="Rounded Rectangle 34"/>
          <p:cNvSpPr/>
          <p:nvPr/>
        </p:nvSpPr>
        <p:spPr>
          <a:xfrm>
            <a:off x="2377440" y="2990088"/>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36" name="Connector 35"/>
          <p:cNvCxnSpPr/>
          <p:nvPr/>
        </p:nvCxnSpPr>
        <p:spPr>
          <a:xfrm>
            <a:off x="941831" y="2734056"/>
            <a:ext cx="0" cy="374904"/>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41831" y="3108960"/>
            <a:ext cx="54864"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1106424" y="3483863"/>
            <a:ext cx="1225296"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Book</a:t>
            </a:r>
          </a:p>
        </p:txBody>
      </p:sp>
      <p:sp>
        <p:nvSpPr>
          <p:cNvPr id="39" name="Rounded Rectangle 38"/>
          <p:cNvSpPr/>
          <p:nvPr/>
        </p:nvSpPr>
        <p:spPr>
          <a:xfrm>
            <a:off x="2377440" y="3557015"/>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40" name="Connector 39"/>
          <p:cNvCxnSpPr/>
          <p:nvPr/>
        </p:nvCxnSpPr>
        <p:spPr>
          <a:xfrm>
            <a:off x="1051560" y="3300983"/>
            <a:ext cx="0" cy="374904"/>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51560" y="3675887"/>
            <a:ext cx="54864"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090672" y="1389888"/>
            <a:ext cx="1463040" cy="274320"/>
          </a:xfrm>
          <a:prstGeom prst="rect">
            <a:avLst/>
          </a:prstGeom>
          <a:noFill/>
        </p:spPr>
        <p:txBody>
          <a:bodyPr wrap="square" lIns="0" rIns="0" tIns="0" bIns="0" anchor="ctr">
            <a:spAutoFit/>
          </a:bodyPr>
          <a:lstStyle/>
          <a:p>
            <a:pPr algn="l"/>
            <a:r>
              <a:rPr sz="1200" b="1" i="0">
                <a:solidFill>
                  <a:srgbClr val="8A1626"/>
                </a:solidFill>
              </a:rPr>
              <a:t>LEGAL · legal entity</a:t>
            </a:r>
          </a:p>
        </p:txBody>
      </p:sp>
      <p:sp>
        <p:nvSpPr>
          <p:cNvPr id="43" name="Rounded Rectangle 42"/>
          <p:cNvSpPr/>
          <p:nvPr/>
        </p:nvSpPr>
        <p:spPr>
          <a:xfrm>
            <a:off x="4581144" y="1426464"/>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4" name="Rectangle 43"/>
          <p:cNvSpPr/>
          <p:nvPr/>
        </p:nvSpPr>
        <p:spPr>
          <a:xfrm>
            <a:off x="3090672" y="1783080"/>
            <a:ext cx="1554480" cy="384048"/>
          </a:xfrm>
          <a:prstGeom prst="rect">
            <a:avLst/>
          </a:prstGeom>
          <a:solidFill>
            <a:srgbClr val="8A1626"/>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1" i="0">
                <a:solidFill>
                  <a:srgbClr val="FFFFFF"/>
                </a:solidFill>
              </a:rPr>
              <a:t>Bank</a:t>
            </a:r>
          </a:p>
        </p:txBody>
      </p:sp>
      <p:sp>
        <p:nvSpPr>
          <p:cNvPr id="45" name="Rounded Rectangle 44"/>
          <p:cNvSpPr/>
          <p:nvPr/>
        </p:nvSpPr>
        <p:spPr>
          <a:xfrm>
            <a:off x="4690872" y="1856231"/>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sp>
        <p:nvSpPr>
          <p:cNvPr id="46" name="Rectangle 45"/>
          <p:cNvSpPr/>
          <p:nvPr/>
        </p:nvSpPr>
        <p:spPr>
          <a:xfrm>
            <a:off x="3200400" y="2350008"/>
            <a:ext cx="1444752"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Legal entity</a:t>
            </a:r>
          </a:p>
        </p:txBody>
      </p:sp>
      <p:sp>
        <p:nvSpPr>
          <p:cNvPr id="47" name="Rounded Rectangle 46"/>
          <p:cNvSpPr/>
          <p:nvPr/>
        </p:nvSpPr>
        <p:spPr>
          <a:xfrm>
            <a:off x="4690872" y="2423160"/>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48" name="Connector 47"/>
          <p:cNvCxnSpPr/>
          <p:nvPr/>
        </p:nvCxnSpPr>
        <p:spPr>
          <a:xfrm>
            <a:off x="3145536" y="2167127"/>
            <a:ext cx="0" cy="374905"/>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3145536" y="2542032"/>
            <a:ext cx="54864"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3310128" y="2916936"/>
            <a:ext cx="1335024"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Desk</a:t>
            </a:r>
          </a:p>
        </p:txBody>
      </p:sp>
      <p:sp>
        <p:nvSpPr>
          <p:cNvPr id="51" name="Rounded Rectangle 50"/>
          <p:cNvSpPr/>
          <p:nvPr/>
        </p:nvSpPr>
        <p:spPr>
          <a:xfrm>
            <a:off x="4690872" y="2990088"/>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52" name="Connector 51"/>
          <p:cNvCxnSpPr/>
          <p:nvPr/>
        </p:nvCxnSpPr>
        <p:spPr>
          <a:xfrm>
            <a:off x="3255264" y="2734056"/>
            <a:ext cx="0" cy="374904"/>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3255264" y="3108960"/>
            <a:ext cx="54864"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54" name="Rectangle 53"/>
          <p:cNvSpPr/>
          <p:nvPr/>
        </p:nvSpPr>
        <p:spPr>
          <a:xfrm>
            <a:off x="3419856" y="3483863"/>
            <a:ext cx="1225296"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Book</a:t>
            </a:r>
          </a:p>
        </p:txBody>
      </p:sp>
      <p:sp>
        <p:nvSpPr>
          <p:cNvPr id="55" name="Rounded Rectangle 54"/>
          <p:cNvSpPr/>
          <p:nvPr/>
        </p:nvSpPr>
        <p:spPr>
          <a:xfrm>
            <a:off x="4690872" y="3557015"/>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56" name="Connector 55"/>
          <p:cNvCxnSpPr/>
          <p:nvPr/>
        </p:nvCxnSpPr>
        <p:spPr>
          <a:xfrm>
            <a:off x="3364992" y="3300983"/>
            <a:ext cx="0" cy="374904"/>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3364992" y="3675887"/>
            <a:ext cx="54864"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5404104" y="1389888"/>
            <a:ext cx="1143000" cy="274320"/>
          </a:xfrm>
          <a:prstGeom prst="rect">
            <a:avLst/>
          </a:prstGeom>
          <a:noFill/>
        </p:spPr>
        <p:txBody>
          <a:bodyPr wrap="square" lIns="0" rIns="0" tIns="0" bIns="0" anchor="ctr">
            <a:spAutoFit/>
          </a:bodyPr>
          <a:lstStyle/>
          <a:p>
            <a:pPr algn="l"/>
            <a:r>
              <a:rPr sz="1200" b="1" i="0">
                <a:solidFill>
                  <a:srgbClr val="8A1626"/>
                </a:solidFill>
              </a:rPr>
              <a:t>LL · limit letters</a:t>
            </a:r>
          </a:p>
        </p:txBody>
      </p:sp>
      <p:sp>
        <p:nvSpPr>
          <p:cNvPr id="59" name="Rounded Rectangle 58"/>
          <p:cNvSpPr/>
          <p:nvPr/>
        </p:nvSpPr>
        <p:spPr>
          <a:xfrm>
            <a:off x="6547104" y="1426464"/>
            <a:ext cx="101041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00" b="1" i="0">
                <a:solidFill>
                  <a:srgbClr val="FFFFFF"/>
                </a:solidFill>
              </a:rPr>
              <a:t>BUILT · 2.9.5</a:t>
            </a:r>
          </a:p>
        </p:txBody>
      </p:sp>
      <p:sp>
        <p:nvSpPr>
          <p:cNvPr id="60" name="Rectangle 59"/>
          <p:cNvSpPr/>
          <p:nvPr/>
        </p:nvSpPr>
        <p:spPr>
          <a:xfrm>
            <a:off x="5404104" y="1783080"/>
            <a:ext cx="1554480" cy="384048"/>
          </a:xfrm>
          <a:prstGeom prst="rect">
            <a:avLst/>
          </a:prstGeom>
          <a:solidFill>
            <a:srgbClr val="8A1626"/>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1" i="0">
                <a:solidFill>
                  <a:srgbClr val="FFFFFF"/>
                </a:solidFill>
              </a:rPr>
              <a:t>Bank</a:t>
            </a:r>
          </a:p>
        </p:txBody>
      </p:sp>
      <p:sp>
        <p:nvSpPr>
          <p:cNvPr id="61" name="Rounded Rectangle 60"/>
          <p:cNvSpPr/>
          <p:nvPr/>
        </p:nvSpPr>
        <p:spPr>
          <a:xfrm>
            <a:off x="7004304" y="1856231"/>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sp>
        <p:nvSpPr>
          <p:cNvPr id="62" name="Rectangle 61"/>
          <p:cNvSpPr/>
          <p:nvPr/>
        </p:nvSpPr>
        <p:spPr>
          <a:xfrm>
            <a:off x="5513832" y="2350008"/>
            <a:ext cx="1444752"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LIMIT_LETTER  (≈ 700)</a:t>
            </a:r>
          </a:p>
        </p:txBody>
      </p:sp>
      <p:sp>
        <p:nvSpPr>
          <p:cNvPr id="63" name="Rounded Rectangle 62"/>
          <p:cNvSpPr/>
          <p:nvPr/>
        </p:nvSpPr>
        <p:spPr>
          <a:xfrm>
            <a:off x="7004304" y="2423160"/>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64" name="Connector 63"/>
          <p:cNvCxnSpPr/>
          <p:nvPr/>
        </p:nvCxnSpPr>
        <p:spPr>
          <a:xfrm>
            <a:off x="5458968" y="2167127"/>
            <a:ext cx="0" cy="374905"/>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5458968" y="2542032"/>
            <a:ext cx="54864"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66" name="Rectangle 65"/>
          <p:cNvSpPr/>
          <p:nvPr/>
        </p:nvSpPr>
        <p:spPr>
          <a:xfrm>
            <a:off x="5623560" y="2916936"/>
            <a:ext cx="1335024"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DESK</a:t>
            </a:r>
          </a:p>
        </p:txBody>
      </p:sp>
      <p:sp>
        <p:nvSpPr>
          <p:cNvPr id="67" name="Rounded Rectangle 66"/>
          <p:cNvSpPr/>
          <p:nvPr/>
        </p:nvSpPr>
        <p:spPr>
          <a:xfrm>
            <a:off x="7004304" y="2990088"/>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68" name="Connector 67"/>
          <p:cNvCxnSpPr/>
          <p:nvPr/>
        </p:nvCxnSpPr>
        <p:spPr>
          <a:xfrm>
            <a:off x="5568696" y="2734056"/>
            <a:ext cx="0" cy="374904"/>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5568696" y="3108960"/>
            <a:ext cx="54864"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70" name="Rectangle 69"/>
          <p:cNvSpPr/>
          <p:nvPr/>
        </p:nvSpPr>
        <p:spPr>
          <a:xfrm>
            <a:off x="7808976" y="1417320"/>
            <a:ext cx="3602735" cy="23317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Rectangle 70"/>
          <p:cNvSpPr/>
          <p:nvPr/>
        </p:nvSpPr>
        <p:spPr>
          <a:xfrm>
            <a:off x="7808976" y="1417320"/>
            <a:ext cx="45720" cy="2331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2" name="TextBox 71"/>
          <p:cNvSpPr txBox="1"/>
          <p:nvPr/>
        </p:nvSpPr>
        <p:spPr>
          <a:xfrm>
            <a:off x="7973568" y="1490472"/>
            <a:ext cx="3346703" cy="2221991"/>
          </a:xfrm>
          <a:prstGeom prst="rect">
            <a:avLst/>
          </a:prstGeom>
          <a:noFill/>
        </p:spPr>
        <p:txBody>
          <a:bodyPr wrap="square" lIns="0" rIns="0" tIns="0" bIns="0" anchor="t">
            <a:spAutoFit/>
          </a:bodyPr>
          <a:lstStyle/>
          <a:p>
            <a:pPr algn="l">
              <a:spcAft>
                <a:spcPts val="400"/>
              </a:spcAft>
            </a:pPr>
            <a:r>
              <a:rPr sz="1300" b="1" i="0">
                <a:solidFill>
                  <a:srgbClr val="8A1626"/>
                </a:solidFill>
              </a:rPr>
              <a:t>Configured by columns</a:t>
            </a:r>
          </a:p>
          <a:p>
            <a:pPr algn="l" marL="146304" indent="-146304">
              <a:spcAft>
                <a:spcPts val="300"/>
              </a:spcAft>
              <a:buClr>
                <a:srgbClr val="A51C30"/>
              </a:buClr>
              <a:buSzPct val="100000"/>
              <a:buFont typeface="Arial"/>
              <a:buChar char="▪"/>
            </a:pPr>
            <a:r>
              <a:rPr sz="1050" b="0" i="0">
                <a:solidFill>
                  <a:srgbClr val="1A1A1A"/>
                </a:solidFill>
              </a:rPr>
              <a:t>Levels are columns every row carries (LIMIT_LETTER &gt; DESK); nodes are the distinct paths of the values</a:t>
            </a:r>
          </a:p>
          <a:p>
            <a:pPr algn="l" marL="146304" indent="-146304">
              <a:spcAft>
                <a:spcPts val="300"/>
              </a:spcAft>
              <a:buClr>
                <a:srgbClr val="A51C30"/>
              </a:buClr>
              <a:buSzPct val="100000"/>
              <a:buFont typeface="Arial"/>
              <a:buChar char="▪"/>
            </a:pPr>
            <a:r>
              <a:rPr sz="1050" b="0" i="0">
                <a:solidFill>
                  <a:srgbClr val="1A1A1A"/>
                </a:solidFill>
              </a:rPr>
              <a:t>A letter may hold part of a book; a position under two letters is split (&lt;position&gt;@&lt;letter&gt;) and counted</a:t>
            </a:r>
          </a:p>
          <a:p>
            <a:pPr algn="l" marL="146304" indent="-146304">
              <a:spcAft>
                <a:spcPts val="300"/>
              </a:spcAft>
              <a:buClr>
                <a:srgbClr val="A51C30"/>
              </a:buClr>
              <a:buSzPct val="100000"/>
              <a:buFont typeface="Arial"/>
              <a:buChar char="▪"/>
            </a:pPr>
            <a:r>
              <a:rPr sz="1050" b="0" i="0">
                <a:solidFill>
                  <a:srgbClr val="1A1A1A"/>
                </a:solidFill>
              </a:rPr>
              <a:t>A source without the column skips that hierarchy alone, with a DRS-5211 warning; the date, MGMT, LEGAL and exposure answer as before</a:t>
            </a:r>
          </a:p>
          <a:p>
            <a:pPr algn="l" marL="146304" indent="-146304">
              <a:spcAft>
                <a:spcPts val="300"/>
              </a:spcAft>
              <a:buClr>
                <a:srgbClr val="A51C30"/>
              </a:buClr>
              <a:buSzPct val="100000"/>
              <a:buFont typeface="Arial"/>
              <a:buChar char="▪"/>
            </a:pPr>
            <a:r>
              <a:rPr sz="1050" b="0" i="0">
                <a:solidFill>
                  <a:srgbClr val="1A1A1A"/>
                </a:solidFill>
              </a:rPr>
              <a:t>Official records for every hierarchy; exposure builds the same trees</a:t>
            </a:r>
          </a:p>
        </p:txBody>
      </p:sp>
      <p:sp>
        <p:nvSpPr>
          <p:cNvPr id="73" name="Rounded Rectangle 72"/>
          <p:cNvSpPr/>
          <p:nvPr/>
        </p:nvSpPr>
        <p:spPr>
          <a:xfrm>
            <a:off x="10296144" y="1490472"/>
            <a:ext cx="101041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00" b="1" i="0">
                <a:solidFill>
                  <a:srgbClr val="FFFFFF"/>
                </a:solidFill>
              </a:rPr>
              <a:t>BUILT · 2.9.5</a:t>
            </a:r>
          </a:p>
        </p:txBody>
      </p:sp>
      <p:sp>
        <p:nvSpPr>
          <p:cNvPr id="74" name="Rectangle 73"/>
          <p:cNvSpPr/>
          <p:nvPr/>
        </p:nvSpPr>
        <p:spPr>
          <a:xfrm>
            <a:off x="7808976" y="3858768"/>
            <a:ext cx="3602735" cy="16733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5" name="Rectangle 74"/>
          <p:cNvSpPr/>
          <p:nvPr/>
        </p:nvSpPr>
        <p:spPr>
          <a:xfrm>
            <a:off x="7808976" y="3858768"/>
            <a:ext cx="45720" cy="167335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TextBox 75"/>
          <p:cNvSpPr txBox="1"/>
          <p:nvPr/>
        </p:nvSpPr>
        <p:spPr>
          <a:xfrm>
            <a:off x="7973568" y="3931920"/>
            <a:ext cx="3346703" cy="1563624"/>
          </a:xfrm>
          <a:prstGeom prst="rect">
            <a:avLst/>
          </a:prstGeom>
          <a:noFill/>
        </p:spPr>
        <p:txBody>
          <a:bodyPr wrap="square" lIns="0" rIns="0" tIns="0" bIns="0" anchor="t">
            <a:spAutoFit/>
          </a:bodyPr>
          <a:lstStyle/>
          <a:p>
            <a:pPr algn="l">
              <a:spcAft>
                <a:spcPts val="400"/>
              </a:spcAft>
            </a:pPr>
            <a:r>
              <a:rPr sz="1300" b="1" i="0">
                <a:solidFill>
                  <a:srgbClr val="8A1626"/>
                </a:solidFill>
              </a:rPr>
              <a:t>Limits and the picker</a:t>
            </a:r>
          </a:p>
          <a:p>
            <a:pPr algn="l" marL="146304" indent="-146304">
              <a:spcAft>
                <a:spcPts val="300"/>
              </a:spcAft>
              <a:buClr>
                <a:srgbClr val="A51C30"/>
              </a:buClr>
              <a:buSzPct val="100000"/>
              <a:buFont typeface="Arial"/>
              <a:buChar char="▪"/>
            </a:pPr>
            <a:r>
              <a:rPr sz="1050" b="0" i="0">
                <a:solidFill>
                  <a:srgbClr val="1A1A1A"/>
                </a:solidFill>
              </a:rPr>
              <a:t>HIERARCHY, NODE_ID, LIMIT_VAR (USD); no row: no limit, never zero</a:t>
            </a:r>
          </a:p>
          <a:p>
            <a:pPr algn="l" marL="146304" indent="-146304">
              <a:spcAft>
                <a:spcPts val="300"/>
              </a:spcAft>
              <a:buClr>
                <a:srgbClr val="A51C30"/>
              </a:buClr>
              <a:buSzPct val="100000"/>
              <a:buFont typeface="Arial"/>
              <a:buChar char="▪"/>
            </a:pPr>
            <a:r>
              <a:rPr sz="1050" b="0" i="0">
                <a:solidFill>
                  <a:srgbClr val="1A1A1A"/>
                </a:solidFill>
              </a:rPr>
              <a:t>Limit bar amber 75%, red 90%; LIMIT and LIMIT_USE in official records</a:t>
            </a:r>
          </a:p>
          <a:p>
            <a:pPr algn="l" marL="146304" indent="-146304">
              <a:spcAft>
                <a:spcPts val="300"/>
              </a:spcAft>
              <a:buClr>
                <a:srgbClr val="A51C30"/>
              </a:buClr>
              <a:buSzPct val="100000"/>
              <a:buFont typeface="Arial"/>
              <a:buChar char="▪"/>
            </a:pPr>
            <a:r>
              <a:rPr sz="1050" b="0" i="0">
                <a:solidFill>
                  <a:srgbClr val="1A1A1A"/>
                </a:solidFill>
              </a:rPr>
              <a:t>The explorer's hierarchy picker lists the date's trees (hierarchy=LL kept in the link)</a:t>
            </a:r>
          </a:p>
        </p:txBody>
      </p:sp>
      <p:sp>
        <p:nvSpPr>
          <p:cNvPr id="77" name="Rectangle 76"/>
          <p:cNvSpPr/>
          <p:nvPr/>
        </p:nvSpPr>
        <p:spPr>
          <a:xfrm>
            <a:off x="777240" y="4206240"/>
            <a:ext cx="6867144" cy="132588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8" name="TextBox 77"/>
          <p:cNvSpPr txBox="1"/>
          <p:nvPr/>
        </p:nvSpPr>
        <p:spPr>
          <a:xfrm>
            <a:off x="914400" y="4261104"/>
            <a:ext cx="6592824" cy="1234440"/>
          </a:xfrm>
          <a:prstGeom prst="rect">
            <a:avLst/>
          </a:prstGeom>
          <a:noFill/>
        </p:spPr>
        <p:txBody>
          <a:bodyPr wrap="square" lIns="0" rIns="0" tIns="0" bIns="0" anchor="ctr">
            <a:spAutoFit/>
          </a:bodyPr>
          <a:lstStyle/>
          <a:p>
            <a:pPr algn="l"/>
            <a:r>
              <a:rPr sz="900" b="0" i="0">
                <a:solidFill>
                  <a:srgbClr val="9AA0A8"/>
                </a:solidFill>
                <a:latin typeface="Courier New"/>
              </a:rPr>
              <a:t># the market-risk pack's hierarchies: block, as built (2.9.5)</a:t>
            </a:r>
          </a:p>
          <a:p>
            <a:pPr algn="l"/>
            <a:r>
              <a:rPr sz="900" b="0" i="0">
                <a:solidFill>
                  <a:srgbClr val="F1EEE9"/>
                </a:solidFill>
                <a:latin typeface="Courier New"/>
              </a:rPr>
              <a:t>hierarchies:</a:t>
            </a:r>
          </a:p>
          <a:p>
            <a:pPr algn="l"/>
            <a:r>
              <a:rPr sz="900" b="0" i="0">
                <a:solidFill>
                  <a:srgbClr val="E8A0AC"/>
                </a:solidFill>
                <a:latin typeface="Courier New"/>
              </a:rPr>
              <a:t>  MGMT:  { title: Management, source: risk-hierarchy }</a:t>
            </a:r>
          </a:p>
          <a:p>
            <a:pPr algn="l"/>
            <a:r>
              <a:rPr sz="900" b="0" i="0">
                <a:solidFill>
                  <a:srgbClr val="E8A0AC"/>
                </a:solidFill>
                <a:latin typeface="Courier New"/>
              </a:rPr>
              <a:t>  LEGAL: { title: Legal entities, source: risk-hierarchy }</a:t>
            </a:r>
          </a:p>
          <a:p>
            <a:pPr algn="l"/>
            <a:r>
              <a:rPr sz="900" b="0" i="0">
                <a:solidFill>
                  <a:srgbClr val="E8A0AC"/>
                </a:solidFill>
                <a:latin typeface="Courier New"/>
              </a:rPr>
              <a:t>  LL:    { title: Limit letters, levels: "LIMIT_LETTER &gt; DESK", word: LL, limits: var-limit }</a:t>
            </a:r>
          </a:p>
        </p:txBody>
      </p:sp>
      <p:sp>
        <p:nvSpPr>
          <p:cNvPr id="79" name="Rounded Rectangle 78"/>
          <p:cNvSpPr/>
          <p:nvPr/>
        </p:nvSpPr>
        <p:spPr>
          <a:xfrm>
            <a:off x="777240" y="5751576"/>
            <a:ext cx="667512" cy="201168"/>
          </a:xfrm>
          <a:prstGeom prst="roundRect">
            <a:avLst>
              <a:gd name="adj" fmla="val 50000"/>
            </a:avLst>
          </a:prstGeom>
          <a:solidFill>
            <a:srgbClr val="4A5058"/>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00" b="1" i="0">
                <a:solidFill>
                  <a:srgbClr val="FFFFFF"/>
                </a:solidFill>
              </a:rPr>
              <a:t>MEASURED</a:t>
            </a:r>
          </a:p>
        </p:txBody>
      </p:sp>
      <p:sp>
        <p:nvSpPr>
          <p:cNvPr id="80" name="TextBox 79"/>
          <p:cNvSpPr txBox="1"/>
          <p:nvPr/>
        </p:nvSpPr>
        <p:spPr>
          <a:xfrm>
            <a:off x="1536192" y="5641848"/>
            <a:ext cx="9875520" cy="457200"/>
          </a:xfrm>
          <a:prstGeom prst="rect">
            <a:avLst/>
          </a:prstGeom>
          <a:noFill/>
        </p:spPr>
        <p:txBody>
          <a:bodyPr wrap="square" lIns="0" rIns="0" tIns="0" bIns="0" anchor="ctr">
            <a:spAutoFit/>
          </a:bodyPr>
          <a:lstStyle/>
          <a:p>
            <a:pPr algn="l"/>
            <a:r>
              <a:rPr sz="1100" b="1" i="0">
                <a:solidFill>
                  <a:srgbClr val="8A1626"/>
                </a:solidFill>
              </a:rPr>
              <a:t>700 letters build in the same time as none, and the VaR of all 1,412 nodes takes about 30 ms </a:t>
            </a:r>
            <a:r>
              <a:rPr sz="1100" b="0" i="0">
                <a:solidFill>
                  <a:srgbClr val="4A5058"/>
                </a:solidFill>
              </a:rPr>
              <a:t>(10,000 trades; build 65–99 ms against 53–197 ms without). Scope word LL:LL-0003; node ids are paths, LL~LL-0003/DESK-RATES.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ANY INPUT CONTRACT</a:t>
            </a:r>
          </a:p>
        </p:txBody>
      </p:sp>
      <p:sp>
        <p:nvSpPr>
          <p:cNvPr id="3" name="Title 2"/>
          <p:cNvSpPr>
            <a:spLocks noGrp="1"/>
          </p:cNvSpPr>
          <p:nvPr>
            <p:ph type="title" idx="104"/>
          </p:nvPr>
        </p:nvSpPr>
        <p:spPr/>
        <p:txBody>
          <a:bodyPr/>
          <a:lstStyle/>
          <a:p>
            <a:r>
              <a:t>One engine, every input: source systems keep their own formats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2011680" y="1417320"/>
            <a:ext cx="201168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250" b="1" i="0">
                <a:solidFill>
                  <a:srgbClr val="FFFFFF"/>
                </a:solidFill>
              </a:rPr>
              <a:t>Scenario PVs</a:t>
            </a:r>
          </a:p>
          <a:p>
            <a:pPr algn="ctr"/>
            <a:r>
              <a:rPr sz="1000" b="0" i="0">
                <a:solidFill>
                  <a:srgbClr val="F6E6E9"/>
                </a:solidFill>
              </a:rPr>
              <a:t>native currency</a:t>
            </a:r>
          </a:p>
        </p:txBody>
      </p:sp>
      <p:sp>
        <p:nvSpPr>
          <p:cNvPr id="27" name="Rectangle 26"/>
          <p:cNvSpPr/>
          <p:nvPr/>
        </p:nvSpPr>
        <p:spPr>
          <a:xfrm>
            <a:off x="4078224" y="1417320"/>
            <a:ext cx="201168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250" b="1" i="0">
                <a:solidFill>
                  <a:srgbClr val="FFFFFF"/>
                </a:solidFill>
              </a:rPr>
              <a:t>Path P&amp;L vectors</a:t>
            </a:r>
          </a:p>
          <a:p>
            <a:pPr algn="ctr"/>
            <a:r>
              <a:rPr sz="1000" b="0" i="0">
                <a:solidFill>
                  <a:srgbClr val="F6E6E9"/>
                </a:solidFill>
              </a:rPr>
              <a:t>any currency</a:t>
            </a:r>
          </a:p>
        </p:txBody>
      </p:sp>
      <p:sp>
        <p:nvSpPr>
          <p:cNvPr id="28" name="Rectangle 27"/>
          <p:cNvSpPr/>
          <p:nvPr/>
        </p:nvSpPr>
        <p:spPr>
          <a:xfrm>
            <a:off x="777240" y="1856231"/>
            <a:ext cx="1179576" cy="64008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886968" y="1856231"/>
            <a:ext cx="1051560" cy="640080"/>
          </a:xfrm>
          <a:prstGeom prst="rect">
            <a:avLst/>
          </a:prstGeom>
          <a:noFill/>
        </p:spPr>
        <p:txBody>
          <a:bodyPr wrap="square" lIns="0" rIns="0" tIns="0" bIns="0" anchor="ctr">
            <a:spAutoFit/>
          </a:bodyPr>
          <a:lstStyle/>
          <a:p>
            <a:pPr algn="l"/>
            <a:r>
              <a:rPr sz="1300" b="1" i="0">
                <a:solidFill>
                  <a:srgbClr val="8A1626"/>
                </a:solidFill>
              </a:rPr>
              <a:t>By trade</a:t>
            </a:r>
          </a:p>
        </p:txBody>
      </p:sp>
      <p:sp>
        <p:nvSpPr>
          <p:cNvPr id="30" name="Rectangle 29"/>
          <p:cNvSpPr/>
          <p:nvPr/>
        </p:nvSpPr>
        <p:spPr>
          <a:xfrm>
            <a:off x="2011680" y="1856231"/>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Oval 30"/>
          <p:cNvSpPr/>
          <p:nvPr/>
        </p:nvSpPr>
        <p:spPr>
          <a:xfrm>
            <a:off x="2148840" y="1947672"/>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32" name="Rounded Rectangle 31"/>
          <p:cNvSpPr/>
          <p:nvPr/>
        </p:nvSpPr>
        <p:spPr>
          <a:xfrm>
            <a:off x="2743200" y="1947672"/>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3" name="TextBox 32"/>
          <p:cNvSpPr txBox="1"/>
          <p:nvPr/>
        </p:nvSpPr>
        <p:spPr>
          <a:xfrm>
            <a:off x="2743200" y="2185415"/>
            <a:ext cx="1234440" cy="274320"/>
          </a:xfrm>
          <a:prstGeom prst="rect">
            <a:avLst/>
          </a:prstGeom>
          <a:noFill/>
        </p:spPr>
        <p:txBody>
          <a:bodyPr wrap="square" lIns="0" rIns="0" tIns="0" bIns="0" anchor="ctr">
            <a:spAutoFit/>
          </a:bodyPr>
          <a:lstStyle/>
          <a:p>
            <a:pPr algn="l"/>
            <a:r>
              <a:rPr sz="1100" b="0" i="0">
                <a:solidFill>
                  <a:srgbClr val="4A5058"/>
                </a:solidFill>
              </a:rPr>
              <a:t>2.9.4</a:t>
            </a:r>
          </a:p>
        </p:txBody>
      </p:sp>
      <p:sp>
        <p:nvSpPr>
          <p:cNvPr id="34" name="Rectangle 33"/>
          <p:cNvSpPr/>
          <p:nvPr/>
        </p:nvSpPr>
        <p:spPr>
          <a:xfrm>
            <a:off x="4078224" y="1856231"/>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Oval 34"/>
          <p:cNvSpPr/>
          <p:nvPr/>
        </p:nvSpPr>
        <p:spPr>
          <a:xfrm>
            <a:off x="4215384" y="1947672"/>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36" name="Rounded Rectangle 35"/>
          <p:cNvSpPr/>
          <p:nvPr/>
        </p:nvSpPr>
        <p:spPr>
          <a:xfrm>
            <a:off x="4809744" y="1947672"/>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7" name="TextBox 36"/>
          <p:cNvSpPr txBox="1"/>
          <p:nvPr/>
        </p:nvSpPr>
        <p:spPr>
          <a:xfrm>
            <a:off x="4809744" y="2185415"/>
            <a:ext cx="1234440" cy="274320"/>
          </a:xfrm>
          <a:prstGeom prst="rect">
            <a:avLst/>
          </a:prstGeom>
          <a:noFill/>
        </p:spPr>
        <p:txBody>
          <a:bodyPr wrap="square" lIns="0" rIns="0" tIns="0" bIns="0" anchor="ctr">
            <a:spAutoFit/>
          </a:bodyPr>
          <a:lstStyle/>
          <a:p>
            <a:pPr algn="l"/>
            <a:r>
              <a:rPr sz="1100" b="0" i="0">
                <a:solidFill>
                  <a:srgbClr val="4A5058"/>
                </a:solidFill>
              </a:rPr>
              <a:t>since 2.8.0</a:t>
            </a:r>
          </a:p>
        </p:txBody>
      </p:sp>
      <p:sp>
        <p:nvSpPr>
          <p:cNvPr id="38" name="Rectangle 37"/>
          <p:cNvSpPr/>
          <p:nvPr/>
        </p:nvSpPr>
        <p:spPr>
          <a:xfrm>
            <a:off x="777240" y="2551176"/>
            <a:ext cx="1179576" cy="64008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886968" y="2551176"/>
            <a:ext cx="1051560" cy="640080"/>
          </a:xfrm>
          <a:prstGeom prst="rect">
            <a:avLst/>
          </a:prstGeom>
          <a:noFill/>
        </p:spPr>
        <p:txBody>
          <a:bodyPr wrap="square" lIns="0" rIns="0" tIns="0" bIns="0" anchor="ctr">
            <a:spAutoFit/>
          </a:bodyPr>
          <a:lstStyle/>
          <a:p>
            <a:pPr algn="l"/>
            <a:r>
              <a:rPr sz="1300" b="1" i="0">
                <a:solidFill>
                  <a:srgbClr val="8A1626"/>
                </a:solidFill>
              </a:rPr>
              <a:t>By position</a:t>
            </a:r>
          </a:p>
        </p:txBody>
      </p:sp>
      <p:sp>
        <p:nvSpPr>
          <p:cNvPr id="40" name="Rectangle 39"/>
          <p:cNvSpPr/>
          <p:nvPr/>
        </p:nvSpPr>
        <p:spPr>
          <a:xfrm>
            <a:off x="2011680" y="2551176"/>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Oval 40"/>
          <p:cNvSpPr/>
          <p:nvPr/>
        </p:nvSpPr>
        <p:spPr>
          <a:xfrm>
            <a:off x="2148840" y="2642616"/>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42" name="Rounded Rectangle 41"/>
          <p:cNvSpPr/>
          <p:nvPr/>
        </p:nvSpPr>
        <p:spPr>
          <a:xfrm>
            <a:off x="2743200" y="2642616"/>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3" name="TextBox 42"/>
          <p:cNvSpPr txBox="1"/>
          <p:nvPr/>
        </p:nvSpPr>
        <p:spPr>
          <a:xfrm>
            <a:off x="2743200" y="2880360"/>
            <a:ext cx="1234440" cy="274320"/>
          </a:xfrm>
          <a:prstGeom prst="rect">
            <a:avLst/>
          </a:prstGeom>
          <a:noFill/>
        </p:spPr>
        <p:txBody>
          <a:bodyPr wrap="square" lIns="0" rIns="0" tIns="0" bIns="0" anchor="ctr">
            <a:spAutoFit/>
          </a:bodyPr>
          <a:lstStyle/>
          <a:p>
            <a:pPr algn="l"/>
            <a:r>
              <a:rPr sz="1100" b="0" i="0">
                <a:solidFill>
                  <a:srgbClr val="4A5058"/>
                </a:solidFill>
              </a:rPr>
              <a:t>2.9.4</a:t>
            </a:r>
          </a:p>
        </p:txBody>
      </p:sp>
      <p:sp>
        <p:nvSpPr>
          <p:cNvPr id="44" name="Rectangle 43"/>
          <p:cNvSpPr/>
          <p:nvPr/>
        </p:nvSpPr>
        <p:spPr>
          <a:xfrm>
            <a:off x="4078224" y="2551176"/>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Oval 44"/>
          <p:cNvSpPr/>
          <p:nvPr/>
        </p:nvSpPr>
        <p:spPr>
          <a:xfrm>
            <a:off x="4215384" y="2642616"/>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46" name="Rounded Rectangle 45"/>
          <p:cNvSpPr/>
          <p:nvPr/>
        </p:nvSpPr>
        <p:spPr>
          <a:xfrm>
            <a:off x="4809744" y="2642616"/>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7" name="TextBox 46"/>
          <p:cNvSpPr txBox="1"/>
          <p:nvPr/>
        </p:nvSpPr>
        <p:spPr>
          <a:xfrm>
            <a:off x="4809744" y="2880360"/>
            <a:ext cx="1234440" cy="274320"/>
          </a:xfrm>
          <a:prstGeom prst="rect">
            <a:avLst/>
          </a:prstGeom>
          <a:noFill/>
        </p:spPr>
        <p:txBody>
          <a:bodyPr wrap="square" lIns="0" rIns="0" tIns="0" bIns="0" anchor="ctr">
            <a:spAutoFit/>
          </a:bodyPr>
          <a:lstStyle/>
          <a:p>
            <a:pPr algn="l"/>
            <a:r>
              <a:rPr sz="1100" b="0" i="0">
                <a:solidFill>
                  <a:srgbClr val="4A5058"/>
                </a:solidFill>
              </a:rPr>
              <a:t>2.9.4</a:t>
            </a:r>
          </a:p>
        </p:txBody>
      </p:sp>
      <p:sp>
        <p:nvSpPr>
          <p:cNvPr id="48" name="TextBox 47"/>
          <p:cNvSpPr txBox="1"/>
          <p:nvPr/>
        </p:nvSpPr>
        <p:spPr>
          <a:xfrm>
            <a:off x="6409944" y="1399032"/>
            <a:ext cx="5001768" cy="274320"/>
          </a:xfrm>
          <a:prstGeom prst="rect">
            <a:avLst/>
          </a:prstGeom>
          <a:noFill/>
        </p:spPr>
        <p:txBody>
          <a:bodyPr wrap="square" lIns="0" rIns="0" tIns="0" bIns="0" anchor="ctr">
            <a:spAutoFit/>
          </a:bodyPr>
          <a:lstStyle/>
          <a:p>
            <a:pPr algn="l"/>
            <a:r>
              <a:rPr sz="1300" b="1" i="0">
                <a:solidFill>
                  <a:srgbClr val="A51C30"/>
                </a:solidFill>
              </a:rPr>
              <a:t>Delivery routes</a:t>
            </a:r>
          </a:p>
        </p:txBody>
      </p:sp>
      <p:sp>
        <p:nvSpPr>
          <p:cNvPr id="49" name="Rectangle 48"/>
          <p:cNvSpPr/>
          <p:nvPr/>
        </p:nvSpPr>
        <p:spPr>
          <a:xfrm>
            <a:off x="6409944" y="1719072"/>
            <a:ext cx="5001768" cy="49377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xtBox 49"/>
          <p:cNvSpPr txBox="1"/>
          <p:nvPr/>
        </p:nvSpPr>
        <p:spPr>
          <a:xfrm>
            <a:off x="6519672" y="1737360"/>
            <a:ext cx="3767328" cy="457200"/>
          </a:xfrm>
          <a:prstGeom prst="rect">
            <a:avLst/>
          </a:prstGeom>
          <a:noFill/>
        </p:spPr>
        <p:txBody>
          <a:bodyPr wrap="square" lIns="0" rIns="0" tIns="0" bIns="0" anchor="ctr">
            <a:spAutoFit/>
          </a:bodyPr>
          <a:lstStyle/>
          <a:p>
            <a:pPr algn="l"/>
            <a:r>
              <a:rPr sz="1200" b="1" i="0">
                <a:solidFill>
                  <a:srgbClr val="8A1626"/>
                </a:solidFill>
              </a:rPr>
              <a:t>Files, JSONL</a:t>
            </a:r>
          </a:p>
          <a:p>
            <a:pPr algn="l"/>
            <a:r>
              <a:rPr sz="1050" b="0" i="0">
                <a:solidFill>
                  <a:srgbClr val="4A5058"/>
                </a:solidFill>
              </a:rPr>
              <a:t>the morning run; small intraday batches appended</a:t>
            </a:r>
          </a:p>
        </p:txBody>
      </p:sp>
      <p:sp>
        <p:nvSpPr>
          <p:cNvPr id="51" name="Rounded Rectangle 50"/>
          <p:cNvSpPr/>
          <p:nvPr/>
        </p:nvSpPr>
        <p:spPr>
          <a:xfrm>
            <a:off x="10858500" y="1865376"/>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2" name="Rectangle 51"/>
          <p:cNvSpPr/>
          <p:nvPr/>
        </p:nvSpPr>
        <p:spPr>
          <a:xfrm>
            <a:off x="6409944" y="2249424"/>
            <a:ext cx="5001768" cy="49377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6519672" y="2267712"/>
            <a:ext cx="3767328" cy="457200"/>
          </a:xfrm>
          <a:prstGeom prst="rect">
            <a:avLst/>
          </a:prstGeom>
          <a:noFill/>
        </p:spPr>
        <p:txBody>
          <a:bodyPr wrap="square" lIns="0" rIns="0" tIns="0" bIns="0" anchor="ctr">
            <a:spAutoFit/>
          </a:bodyPr>
          <a:lstStyle/>
          <a:p>
            <a:pPr algn="l"/>
            <a:r>
              <a:rPr sz="1200" b="1" i="0">
                <a:solidFill>
                  <a:srgbClr val="8A1626"/>
                </a:solidFill>
              </a:rPr>
              <a:t>Kafka, micro-batched</a:t>
            </a:r>
          </a:p>
          <a:p>
            <a:pPr algn="l"/>
            <a:r>
              <a:rPr sz="1050" b="0" i="0">
                <a:solidFill>
                  <a:srgbClr val="4A5058"/>
                </a:solidFill>
              </a:rPr>
              <a:t>JSONL messages; 5-min window, early flush, Apply now</a:t>
            </a:r>
          </a:p>
        </p:txBody>
      </p:sp>
      <p:sp>
        <p:nvSpPr>
          <p:cNvPr id="54" name="Rounded Rectangle 53"/>
          <p:cNvSpPr/>
          <p:nvPr/>
        </p:nvSpPr>
        <p:spPr>
          <a:xfrm>
            <a:off x="10858500" y="2395728"/>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5" name="Rectangle 54"/>
          <p:cNvSpPr/>
          <p:nvPr/>
        </p:nvSpPr>
        <p:spPr>
          <a:xfrm>
            <a:off x="6409944" y="2779776"/>
            <a:ext cx="5001768" cy="49377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6519672" y="2798064"/>
            <a:ext cx="3767328" cy="457200"/>
          </a:xfrm>
          <a:prstGeom prst="rect">
            <a:avLst/>
          </a:prstGeom>
          <a:noFill/>
        </p:spPr>
        <p:txBody>
          <a:bodyPr wrap="square" lIns="0" rIns="0" tIns="0" bIns="0" anchor="ctr">
            <a:spAutoFit/>
          </a:bodyPr>
          <a:lstStyle/>
          <a:p>
            <a:pPr algn="l"/>
            <a:r>
              <a:rPr sz="1200" b="1" i="0">
                <a:solidFill>
                  <a:srgbClr val="8A1626"/>
                </a:solidFill>
              </a:rPr>
              <a:t>Intraday, either route</a:t>
            </a:r>
          </a:p>
          <a:p>
            <a:pPr algn="l"/>
            <a:r>
              <a:rPr sz="1050" b="0" i="0">
                <a:solidFill>
                  <a:srgbClr val="4A5058"/>
                </a:solidFill>
              </a:rPr>
              <a:t>changed trades or positions, as new − old; latest wins</a:t>
            </a:r>
          </a:p>
        </p:txBody>
      </p:sp>
      <p:sp>
        <p:nvSpPr>
          <p:cNvPr id="57" name="Rounded Rectangle 56"/>
          <p:cNvSpPr/>
          <p:nvPr/>
        </p:nvSpPr>
        <p:spPr>
          <a:xfrm>
            <a:off x="10858500" y="2926080"/>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8" name="Rectangle 57"/>
          <p:cNvSpPr/>
          <p:nvPr/>
        </p:nvSpPr>
        <p:spPr>
          <a:xfrm>
            <a:off x="777240" y="3346704"/>
            <a:ext cx="10634472" cy="932688"/>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914400" y="3401568"/>
            <a:ext cx="10405872" cy="859536"/>
          </a:xfrm>
          <a:prstGeom prst="rect">
            <a:avLst/>
          </a:prstGeom>
          <a:noFill/>
        </p:spPr>
        <p:txBody>
          <a:bodyPr wrap="square" lIns="0" rIns="0" tIns="0" bIns="0" anchor="t">
            <a:spAutoFit/>
          </a:bodyPr>
          <a:lstStyle/>
          <a:p>
            <a:pPr algn="l">
              <a:spcAft>
                <a:spcPts val="250"/>
              </a:spcAft>
            </a:pPr>
            <a:r>
              <a:rPr sz="950" b="0" i="0">
                <a:solidFill>
                  <a:srgbClr val="F1EEE9"/>
                </a:solidFill>
                <a:latin typeface="Courier New"/>
              </a:rPr>
              <a:t>{"VALUE_TYPE":"PV",  "GRAIN":"TRADE",    "TRADE_ID":"1000279", "CURRENCY":"EUR", "BASE_PV":…, "PVS":[…509…], "COMPUTED_AT":"…", …}</a:t>
            </a:r>
          </a:p>
          <a:p>
            <a:pPr algn="l">
              <a:spcAft>
                <a:spcPts val="250"/>
              </a:spcAft>
            </a:pPr>
            <a:r>
              <a:rPr sz="950" b="0" i="0">
                <a:solidFill>
                  <a:srgbClr val="F1EEE9"/>
                </a:solidFill>
                <a:latin typeface="Courier New"/>
              </a:rPr>
              <a:t>{"VALUE_TYPE":"PV",  "GRAIN":"POSITION", "POSITION_ID":"POS-…", "CURRENCY":"JPY", "BOOK":"…", "BASE_PV":…, "PVS":[…], …}</a:t>
            </a:r>
          </a:p>
          <a:p>
            <a:pPr algn="l">
              <a:spcAft>
                <a:spcPts val="250"/>
              </a:spcAft>
            </a:pPr>
            <a:r>
              <a:rPr sz="950" b="0" i="0">
                <a:solidFill>
                  <a:srgbClr val="F1EEE9"/>
                </a:solidFill>
                <a:latin typeface="Courier New"/>
              </a:rPr>
              <a:t>{"VALUE_TYPE":"PNL", "GRAIN":"TRADE",    "TRADE_ID":"MX-…",    "CURRENCY":"USD", "PNL":[…509…], …}</a:t>
            </a:r>
          </a:p>
          <a:p>
            <a:pPr algn="l">
              <a:spcAft>
                <a:spcPts val="250"/>
              </a:spcAft>
            </a:pPr>
            <a:r>
              <a:rPr sz="950" b="0" i="0">
                <a:solidFill>
                  <a:srgbClr val="F1EEE9"/>
                </a:solidFill>
                <a:latin typeface="Courier New"/>
              </a:rPr>
              <a:t>{"VALUE_TYPE":"PNL", "GRAIN":"POSITION", "POSITION_ID":"POS-…", "CURRENCY":"USD", "PNL":[…], …}</a:t>
            </a:r>
          </a:p>
        </p:txBody>
      </p:sp>
      <p:sp>
        <p:nvSpPr>
          <p:cNvPr id="60" name="Rectangle 59"/>
          <p:cNvSpPr/>
          <p:nvPr/>
        </p:nvSpPr>
        <p:spPr>
          <a:xfrm>
            <a:off x="777240" y="4389120"/>
            <a:ext cx="3429000" cy="13716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1" name="TextBox 60"/>
          <p:cNvSpPr txBox="1"/>
          <p:nvPr/>
        </p:nvSpPr>
        <p:spPr>
          <a:xfrm>
            <a:off x="905256" y="4443983"/>
            <a:ext cx="3227832" cy="1280160"/>
          </a:xfrm>
          <a:prstGeom prst="rect">
            <a:avLst/>
          </a:prstGeom>
          <a:noFill/>
        </p:spPr>
        <p:txBody>
          <a:bodyPr wrap="square" lIns="0" rIns="0" tIns="0" bIns="0" anchor="t">
            <a:spAutoFit/>
          </a:bodyPr>
          <a:lstStyle/>
          <a:p>
            <a:pPr algn="l">
              <a:spcAft>
                <a:spcPts val="300"/>
              </a:spcAft>
            </a:pPr>
            <a:r>
              <a:rPr sz="1250" b="1" i="0">
                <a:solidFill>
                  <a:srgbClr val="A51C30"/>
                </a:solidFill>
              </a:rPr>
              <a:t>Mix and switch</a:t>
            </a:r>
          </a:p>
          <a:p>
            <a:pPr algn="l" marL="146304" indent="-146304">
              <a:spcAft>
                <a:spcPts val="200"/>
              </a:spcAft>
              <a:buClr>
                <a:srgbClr val="A51C30"/>
              </a:buClr>
              <a:buSzPct val="100000"/>
              <a:buFont typeface="Arial"/>
              <a:buChar char="▪"/>
            </a:pPr>
            <a:r>
              <a:rPr sz="1150" b="0" i="0">
                <a:solidFill>
                  <a:srgbClr val="1A1A1A"/>
                </a:solidFill>
              </a:rPr>
              <a:t>Each system sends its own form and grain; systems mix on one date.</a:t>
            </a:r>
          </a:p>
          <a:p>
            <a:pPr algn="l" marL="146304" indent="-146304">
              <a:spcAft>
                <a:spcPts val="200"/>
              </a:spcAft>
              <a:buClr>
                <a:srgbClr val="A51C30"/>
              </a:buClr>
              <a:buSzPct val="100000"/>
              <a:buFont typeface="Arial"/>
              <a:buChar char="▪"/>
            </a:pPr>
            <a:r>
              <a:rPr sz="1150" b="0" i="0">
                <a:solidFill>
                  <a:srgbClr val="1A1A1A"/>
                </a:solidFill>
              </a:rPr>
              <a:t>A system may switch day to day; each date loads as it stands.</a:t>
            </a:r>
          </a:p>
          <a:p>
            <a:pPr algn="l" marL="146304" indent="-146304">
              <a:buClr>
                <a:srgbClr val="A51C30"/>
              </a:buClr>
              <a:buSzPct val="100000"/>
              <a:buFont typeface="Arial"/>
              <a:buChar char="▪"/>
            </a:pPr>
            <a:r>
              <a:rPr sz="1150" b="0" i="0">
                <a:solidFill>
                  <a:srgbClr val="1A1A1A"/>
                </a:solidFill>
              </a:rPr>
              <a:t>Old files: </a:t>
            </a:r>
            <a:r>
              <a:rPr sz="1000" b="0" i="0">
                <a:solidFill>
                  <a:srgbClr val="1A1A1A"/>
                </a:solidFill>
                <a:latin typeface="Courier New"/>
              </a:rPr>
              <a:t>drishti.py convert --set …</a:t>
            </a:r>
          </a:p>
        </p:txBody>
      </p:sp>
      <p:sp>
        <p:nvSpPr>
          <p:cNvPr id="62" name="Rectangle 61"/>
          <p:cNvSpPr/>
          <p:nvPr/>
        </p:nvSpPr>
        <p:spPr>
          <a:xfrm>
            <a:off x="4389120" y="4389120"/>
            <a:ext cx="2926080" cy="137160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4498848" y="4480559"/>
            <a:ext cx="2761488" cy="1234440"/>
          </a:xfrm>
          <a:prstGeom prst="rect">
            <a:avLst/>
          </a:prstGeom>
          <a:noFill/>
        </p:spPr>
        <p:txBody>
          <a:bodyPr wrap="square" lIns="0" rIns="0" tIns="0" bIns="0" anchor="t">
            <a:spAutoFit/>
          </a:bodyPr>
          <a:lstStyle/>
          <a:p>
            <a:pPr algn="l">
              <a:spcAft>
                <a:spcPts val="200"/>
              </a:spcAft>
            </a:pPr>
            <a:r>
              <a:rPr sz="1000" b="0" i="0">
                <a:solidFill>
                  <a:srgbClr val="9AA0A8"/>
                </a:solidFill>
                <a:latin typeface="Courier New"/>
              </a:rPr>
              <a:t># optional cross-check</a:t>
            </a:r>
          </a:p>
          <a:p>
            <a:pPr algn="l">
              <a:spcAft>
                <a:spcPts val="200"/>
              </a:spcAft>
            </a:pPr>
            <a:r>
              <a:rPr sz="1000" b="0" i="0">
                <a:solidFill>
                  <a:srgbClr val="F1EEE9"/>
                </a:solidFill>
                <a:latin typeface="Courier New"/>
              </a:rPr>
              <a:t>drishti.var.inputs:</a:t>
            </a:r>
          </a:p>
          <a:p>
            <a:pPr algn="l">
              <a:spcAft>
                <a:spcPts val="200"/>
              </a:spcAft>
            </a:pPr>
            <a:r>
              <a:rPr sz="1000" b="0" i="0">
                <a:solidFill>
                  <a:srgbClr val="E8A0AC"/>
                </a:solidFill>
                <a:latin typeface="Courier New"/>
              </a:rPr>
              <a:t>  ENDUR:   {form: pv,  grain: trade}</a:t>
            </a:r>
          </a:p>
          <a:p>
            <a:pPr algn="l">
              <a:spcAft>
                <a:spcPts val="200"/>
              </a:spcAft>
            </a:pPr>
            <a:r>
              <a:rPr sz="1000" b="0" i="0">
                <a:solidFill>
                  <a:srgbClr val="E8A0AC"/>
                </a:solidFill>
                <a:latin typeface="Courier New"/>
              </a:rPr>
              <a:t>  CALYPSO: {form: pnl, grain: trade}</a:t>
            </a:r>
          </a:p>
          <a:p>
            <a:pPr algn="l">
              <a:spcAft>
                <a:spcPts val="200"/>
              </a:spcAft>
            </a:pPr>
            <a:r>
              <a:rPr sz="1000" b="0" i="0">
                <a:solidFill>
                  <a:srgbClr val="F1EEE9"/>
                </a:solidFill>
                <a:latin typeface="Courier New"/>
              </a:rPr>
              <a:t>  default: {form: any, grain: any}</a:t>
            </a:r>
          </a:p>
        </p:txBody>
      </p:sp>
      <p:sp>
        <p:nvSpPr>
          <p:cNvPr id="64" name="Rectangle 63"/>
          <p:cNvSpPr/>
          <p:nvPr/>
        </p:nvSpPr>
        <p:spPr>
          <a:xfrm>
            <a:off x="7498079" y="4389120"/>
            <a:ext cx="3913632" cy="137160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5" name="TextBox 64"/>
          <p:cNvSpPr txBox="1"/>
          <p:nvPr/>
        </p:nvSpPr>
        <p:spPr>
          <a:xfrm>
            <a:off x="7626096" y="4443983"/>
            <a:ext cx="3712464" cy="1280160"/>
          </a:xfrm>
          <a:prstGeom prst="rect">
            <a:avLst/>
          </a:prstGeom>
          <a:noFill/>
        </p:spPr>
        <p:txBody>
          <a:bodyPr wrap="square" lIns="0" rIns="0" tIns="0" bIns="0" anchor="t">
            <a:spAutoFit/>
          </a:bodyPr>
          <a:lstStyle/>
          <a:p>
            <a:pPr algn="l">
              <a:spcAft>
                <a:spcPts val="300"/>
              </a:spcAft>
            </a:pPr>
            <a:r>
              <a:rPr sz="1250" b="1" i="0">
                <a:solidFill>
                  <a:srgbClr val="A51C30"/>
                </a:solidFill>
              </a:rPr>
              <a:t>Guarantees</a:t>
            </a:r>
          </a:p>
          <a:p>
            <a:pPr algn="l" marL="146304" indent="-146304">
              <a:spcAft>
                <a:spcPts val="200"/>
              </a:spcAft>
              <a:buClr>
                <a:srgbClr val="A51C30"/>
              </a:buClr>
              <a:buSzPct val="100000"/>
              <a:buFont typeface="Arial"/>
              <a:buChar char="▪"/>
            </a:pPr>
            <a:r>
              <a:rPr sz="1150" b="0" i="0">
                <a:solidFill>
                  <a:srgbClr val="1A1A1A"/>
                </a:solidFill>
              </a:rPr>
              <a:t>One form and grain per system per date (DRS-5210): no double counting</a:t>
            </a:r>
          </a:p>
          <a:p>
            <a:pPr algn="l" marL="146304" indent="-146304">
              <a:spcAft>
                <a:spcPts val="200"/>
              </a:spcAft>
              <a:buClr>
                <a:srgbClr val="A51C30"/>
              </a:buClr>
              <a:buSzPct val="100000"/>
              <a:buFont typeface="Arial"/>
              <a:buChar char="▪"/>
            </a:pPr>
            <a:r>
              <a:rPr sz="1150" b="0" i="0">
                <a:solidFill>
                  <a:srgbClr val="1A1A1A"/>
                </a:solidFill>
              </a:rPr>
              <a:t>Fields missing or wrong (DRS-5208), or against the pin (DRS-5209): refused, never guessed</a:t>
            </a:r>
          </a:p>
          <a:p>
            <a:pPr algn="l" marL="146304" indent="-146304">
              <a:buClr>
                <a:srgbClr val="A51C30"/>
              </a:buClr>
              <a:buSzPct val="100000"/>
              <a:buFont typeface="Arial"/>
              <a:buChar char="▪"/>
            </a:pPr>
            <a:r>
              <a:rPr sz="1150" b="0" i="0">
                <a:solidFill>
                  <a:srgbClr val="1A1A1A"/>
                </a:solidFill>
              </a:rPr>
              <a:t>Provenance shows what each system sent</a:t>
            </a:r>
          </a:p>
        </p:txBody>
      </p:sp>
      <p:sp>
        <p:nvSpPr>
          <p:cNvPr id="66" name="TextBox 65"/>
          <p:cNvSpPr txBox="1"/>
          <p:nvPr/>
        </p:nvSpPr>
        <p:spPr>
          <a:xfrm>
            <a:off x="777240" y="5824728"/>
            <a:ext cx="10634472" cy="429768"/>
          </a:xfrm>
          <a:prstGeom prst="rect">
            <a:avLst/>
          </a:prstGeom>
          <a:noFill/>
        </p:spPr>
        <p:txBody>
          <a:bodyPr wrap="square" lIns="0" rIns="0" tIns="0" bIns="0" anchor="ctr">
            <a:spAutoFit/>
          </a:bodyPr>
          <a:lstStyle/>
          <a:p>
            <a:pPr algn="l"/>
            <a:r>
              <a:rPr sz="1100" b="1" i="0">
                <a:solidFill>
                  <a:srgbClr val="A51C30"/>
                </a:solidFill>
              </a:rPr>
              <a:t>Caveat  </a:t>
            </a:r>
            <a:r>
              <a:rPr sz="1100" b="0" i="0">
                <a:solidFill>
                  <a:srgbClr val="4A5058"/>
                </a:solidFill>
              </a:rPr>
              <a:t>a P&amp;L vector sent without its PV converts to another reporting currency only approximately (at each scenario's rate, without the FX move of its base value; counted as </a:t>
            </a:r>
            <a:r>
              <a:rPr sz="1000" b="0" i="0">
                <a:solidFill>
                  <a:srgbClr val="4A5058"/>
                </a:solidFill>
                <a:latin typeface="Courier New"/>
              </a:rPr>
              <a:t>tradesWithoutPv</a:t>
            </a:r>
            <a:r>
              <a:rPr sz="1100" b="0" i="0">
                <a:solidFill>
                  <a:srgbClr val="4A5058"/>
                </a:solidFill>
              </a:rPr>
              <a:t>). Scenario PVs give exact multi-currency VaR.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RECORD CONTRACT ON ONE PAGE</a:t>
            </a:r>
          </a:p>
        </p:txBody>
      </p:sp>
      <p:sp>
        <p:nvSpPr>
          <p:cNvPr id="3" name="Title 2"/>
          <p:cNvSpPr>
            <a:spLocks noGrp="1"/>
          </p:cNvSpPr>
          <p:nvPr>
            <p:ph type="title" idx="104"/>
          </p:nvPr>
        </p:nvSpPr>
        <p:spPr/>
        <p:txBody>
          <a:bodyPr/>
          <a:lstStyle/>
          <a:p>
            <a:r>
              <a:t>What a pricing system sends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71600"/>
            <a:ext cx="6583680" cy="274320"/>
          </a:xfrm>
          <a:prstGeom prst="rect">
            <a:avLst/>
          </a:prstGeom>
          <a:noFill/>
        </p:spPr>
        <p:txBody>
          <a:bodyPr wrap="square" lIns="0" rIns="0" tIns="0" bIns="0" anchor="ctr">
            <a:spAutoFit/>
          </a:bodyPr>
          <a:lstStyle/>
          <a:p>
            <a:pPr algn="l"/>
            <a:r>
              <a:rPr sz="1250" b="1" i="0">
                <a:solidFill>
                  <a:srgbClr val="A51C30"/>
                </a:solidFill>
              </a:rPr>
              <a:t>Every record  </a:t>
            </a:r>
            <a:r>
              <a:rPr sz="1150" b="0" i="0">
                <a:solidFill>
                  <a:srgbClr val="4A5058"/>
                </a:solidFill>
              </a:rPr>
              <a:t>JSONL: one JSON object a line, UTF-8, .jsonl or .jsonl.gz; files or Kafka</a:t>
            </a:r>
          </a:p>
        </p:txBody>
      </p:sp>
      <p:graphicFrame>
        <p:nvGraphicFramePr>
          <p:cNvPr id="27" name="Table 26"/>
          <p:cNvGraphicFramePr>
            <a:graphicFrameLocks noGrp="1"/>
          </p:cNvGraphicFramePr>
          <p:nvPr/>
        </p:nvGraphicFramePr>
        <p:xfrm>
          <a:off x="777240" y="1691640"/>
          <a:ext cx="6583680" cy="3803904"/>
        </p:xfrm>
        <a:graphic>
          <a:graphicData uri="http://schemas.openxmlformats.org/drawingml/2006/table">
            <a:tbl>
              <a:tblPr firstRow="0" bandRow="0">
                <a:tableStyleId>{5940675A-B579-460E-94D1-54222C63F5DA}</a:tableStyleId>
              </a:tblPr>
              <a:tblGrid>
                <a:gridCol w="2514600"/>
                <a:gridCol w="2514600"/>
                <a:gridCol w="1554480"/>
              </a:tblGrid>
              <a:tr h="292608">
                <a:tc>
                  <a:txBody>
                    <a:bodyPr wrap="square"/>
                    <a:lstStyle/>
                    <a:p>
                      <a:r>
                        <a:rPr sz="1100" b="1" i="0">
                          <a:solidFill>
                            <a:srgbClr val="FFFFFF"/>
                          </a:solidFill>
                        </a:rPr>
                        <a:t>Field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Values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Rule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92608">
                <a:tc>
                  <a:txBody>
                    <a:bodyPr wrap="square"/>
                    <a:lstStyle/>
                    <a:p>
                      <a:r>
                        <a:rPr sz="950" b="1" i="0">
                          <a:solidFill>
                            <a:srgbClr val="8A1626"/>
                          </a:solidFill>
                          <a:latin typeface="Courier New"/>
                        </a:rPr>
                        <a:t>VALUE_TYPE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PV or PNL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required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950" b="1" i="0">
                          <a:solidFill>
                            <a:srgbClr val="8A1626"/>
                          </a:solidFill>
                          <a:latin typeface="Courier New"/>
                        </a:rPr>
                        <a:t>GRAIN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TRADE or POSITION, with its 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required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950" b="1" i="0">
                          <a:solidFill>
                            <a:srgbClr val="8A1626"/>
                          </a:solidFill>
                          <a:latin typeface="Courier New"/>
                        </a:rPr>
                        <a:t>CURRENCY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ISO code; PVs in their own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required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950" b="1" i="0">
                          <a:solidFill>
                            <a:srgbClr val="8A1626"/>
                          </a:solidFill>
                          <a:latin typeface="Courier New"/>
                        </a:rPr>
                        <a:t>SOURCE_SYSTEM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pricing system that sent 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required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950" b="1" i="0">
                          <a:solidFill>
                            <a:srgbClr val="8A1626"/>
                          </a:solidFill>
                          <a:latin typeface="Courier New"/>
                        </a:rPr>
                        <a:t>SCENARIO_SET_ID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the date's set (demo: 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all, in order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950" b="1" i="0">
                          <a:solidFill>
                            <a:srgbClr val="8A1626"/>
                          </a:solidFill>
                          <a:latin typeface="Courier New"/>
                        </a:rPr>
                        <a:t>BATCH_ID · RUN_KIND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FULL or INTRADAY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one full run a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950" b="1" i="0">
                          <a:solidFill>
                            <a:srgbClr val="8A1626"/>
                          </a:solidFill>
                          <a:latin typeface="Courier New"/>
                        </a:rPr>
                        <a:t>COMPUTED_AT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UTC instant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the latest wins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950" b="1" i="0">
                          <a:solidFill>
                            <a:srgbClr val="8A1626"/>
                          </a:solidFill>
                          <a:latin typeface="Courier New"/>
                        </a:rPr>
                        <a:t>LEGAL_ENTITY · DESK · TT_BOOK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where it sits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needed to load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950" b="1" i="0">
                          <a:solidFill>
                            <a:srgbClr val="8A1626"/>
                          </a:solidFill>
                          <a:latin typeface="Courier New"/>
                        </a:rPr>
                        <a:t>LIMIT_LETTER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level column of a hierarchy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absent: tree skipped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950" b="1" i="0">
                          <a:solidFill>
                            <a:srgbClr val="8A1626"/>
                          </a:solidFill>
                          <a:latin typeface="Courier New"/>
                        </a:rPr>
                        <a:t>BASE_PV · SCENARIO_PV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PV form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failed: null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950" b="1" i="0">
                          <a:solidFill>
                            <a:srgbClr val="8A1626"/>
                          </a:solidFill>
                          <a:latin typeface="Courier New"/>
                        </a:rPr>
                        <a:t>PNL (+ 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the P&amp;L form,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PV makes FX exact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950" b="1" i="0">
                          <a:solidFill>
                            <a:srgbClr val="8A1626"/>
                          </a:solidFill>
                          <a:latin typeface="Courier New"/>
                        </a:rPr>
                        <a:t>TRADE_STATUS · MATURITY_DATE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live trades count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CANCELLED: cancel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28" name="Rectangle 27"/>
          <p:cNvSpPr/>
          <p:nvPr/>
        </p:nvSpPr>
        <p:spPr>
          <a:xfrm>
            <a:off x="7589520" y="1417320"/>
            <a:ext cx="3822191" cy="74980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7726680" y="1463040"/>
            <a:ext cx="2953511" cy="685800"/>
          </a:xfrm>
          <a:prstGeom prst="rect">
            <a:avLst/>
          </a:prstGeom>
          <a:noFill/>
        </p:spPr>
        <p:txBody>
          <a:bodyPr wrap="square" lIns="0" rIns="0" tIns="0" bIns="0" anchor="ctr">
            <a:spAutoFit/>
          </a:bodyPr>
          <a:lstStyle/>
          <a:p>
            <a:pPr algn="l">
              <a:spcAft>
                <a:spcPts val="200"/>
              </a:spcAft>
            </a:pPr>
            <a:r>
              <a:rPr sz="1250" b="1" i="0">
                <a:solidFill>
                  <a:srgbClr val="8A1626"/>
                </a:solidFill>
              </a:rPr>
              <a:t>Files</a:t>
            </a:r>
          </a:p>
          <a:p>
            <a:pPr algn="l"/>
            <a:r>
              <a:rPr sz="1100" b="0" i="0">
                <a:solidFill>
                  <a:srgbClr val="4A5058"/>
                </a:solidFill>
              </a:rPr>
              <a:t>the full run, and small intraday batches; lake build, then the load signal</a:t>
            </a:r>
          </a:p>
        </p:txBody>
      </p:sp>
      <p:sp>
        <p:nvSpPr>
          <p:cNvPr id="30" name="Rounded Rectangle 29"/>
          <p:cNvSpPr/>
          <p:nvPr/>
        </p:nvSpPr>
        <p:spPr>
          <a:xfrm>
            <a:off x="10753344" y="1527048"/>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1" name="Rectangle 30"/>
          <p:cNvSpPr/>
          <p:nvPr/>
        </p:nvSpPr>
        <p:spPr>
          <a:xfrm>
            <a:off x="7589520" y="2258568"/>
            <a:ext cx="3822191" cy="74980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7726680" y="2304288"/>
            <a:ext cx="2953511" cy="685800"/>
          </a:xfrm>
          <a:prstGeom prst="rect">
            <a:avLst/>
          </a:prstGeom>
          <a:noFill/>
        </p:spPr>
        <p:txBody>
          <a:bodyPr wrap="square" lIns="0" rIns="0" tIns="0" bIns="0" anchor="ctr">
            <a:spAutoFit/>
          </a:bodyPr>
          <a:lstStyle/>
          <a:p>
            <a:pPr algn="l">
              <a:spcAft>
                <a:spcPts val="200"/>
              </a:spcAft>
            </a:pPr>
            <a:r>
              <a:rPr sz="1250" b="1" i="0">
                <a:solidFill>
                  <a:srgbClr val="8A1626"/>
                </a:solidFill>
              </a:rPr>
              <a:t>Kafka</a:t>
            </a:r>
          </a:p>
          <a:p>
            <a:pPr algn="l"/>
            <a:r>
              <a:rPr sz="1100" b="0" i="0">
                <a:solidFill>
                  <a:srgbClr val="4A5058"/>
                </a:solidFill>
              </a:rPr>
              <a:t>JSONL text per message, one or more records; one lake batch per 5-minute window</a:t>
            </a:r>
          </a:p>
        </p:txBody>
      </p:sp>
      <p:sp>
        <p:nvSpPr>
          <p:cNvPr id="33" name="Rounded Rectangle 32"/>
          <p:cNvSpPr/>
          <p:nvPr/>
        </p:nvSpPr>
        <p:spPr>
          <a:xfrm>
            <a:off x="10753344" y="2368296"/>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4" name="Rectangle 33"/>
          <p:cNvSpPr/>
          <p:nvPr/>
        </p:nvSpPr>
        <p:spPr>
          <a:xfrm>
            <a:off x="7589520" y="3136392"/>
            <a:ext cx="3822191" cy="132588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589520" y="3136392"/>
            <a:ext cx="45720"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7754112" y="3209544"/>
            <a:ext cx="3566159" cy="1216152"/>
          </a:xfrm>
          <a:prstGeom prst="rect">
            <a:avLst/>
          </a:prstGeom>
          <a:noFill/>
        </p:spPr>
        <p:txBody>
          <a:bodyPr wrap="square" lIns="0" rIns="0" tIns="0" bIns="0" anchor="t">
            <a:spAutoFit/>
          </a:bodyPr>
          <a:lstStyle/>
          <a:p>
            <a:pPr algn="l">
              <a:spcAft>
                <a:spcPts val="400"/>
              </a:spcAft>
            </a:pPr>
            <a:r>
              <a:rPr sz="1300" b="1" i="0">
                <a:solidFill>
                  <a:srgbClr val="8A1626"/>
                </a:solidFill>
              </a:rPr>
              <a:t>Intraday and cancels</a:t>
            </a:r>
          </a:p>
          <a:p>
            <a:pPr algn="l" marL="146304" indent="-146304">
              <a:spcAft>
                <a:spcPts val="300"/>
              </a:spcAft>
              <a:buClr>
                <a:srgbClr val="A51C30"/>
              </a:buClr>
              <a:buSzPct val="100000"/>
              <a:buFont typeface="Arial"/>
              <a:buChar char="▪"/>
            </a:pPr>
            <a:r>
              <a:rPr sz="1100" b="0" i="0">
                <a:solidFill>
                  <a:srgbClr val="1A1A1A"/>
                </a:solidFill>
              </a:rPr>
              <a:t>RUN_KIND INTRADAY, its own BATCH_ID, a later COMPUTED_AT, the morning's scenario set</a:t>
            </a:r>
          </a:p>
          <a:p>
            <a:pPr algn="l" marL="146304" indent="-146304">
              <a:spcAft>
                <a:spcPts val="300"/>
              </a:spcAft>
              <a:buClr>
                <a:srgbClr val="A51C30"/>
              </a:buClr>
              <a:buSzPct val="100000"/>
              <a:buFont typeface="Arial"/>
              <a:buChar char="▪"/>
            </a:pPr>
            <a:r>
              <a:rPr sz="1100" b="0" i="0">
                <a:solidFill>
                  <a:srgbClr val="1A1A1A"/>
                </a:solidFill>
              </a:rPr>
              <a:t>A cancel: TRADE_STATUS CANCELLED, the vector null</a:t>
            </a:r>
          </a:p>
          <a:p>
            <a:pPr algn="l" marL="146304" indent="-146304">
              <a:spcAft>
                <a:spcPts val="300"/>
              </a:spcAft>
              <a:buClr>
                <a:srgbClr val="A51C30"/>
              </a:buClr>
              <a:buSzPct val="100000"/>
              <a:buFont typeface="Arial"/>
              <a:buChar char="▪"/>
            </a:pPr>
            <a:r>
              <a:rPr sz="1100" b="0" i="0">
                <a:solidFill>
                  <a:srgbClr val="1A1A1A"/>
                </a:solidFill>
              </a:rPr>
              <a:t>Same form and grain as the system's full run</a:t>
            </a:r>
          </a:p>
        </p:txBody>
      </p:sp>
      <p:sp>
        <p:nvSpPr>
          <p:cNvPr id="37" name="Rectangle 36"/>
          <p:cNvSpPr/>
          <p:nvPr/>
        </p:nvSpPr>
        <p:spPr>
          <a:xfrm>
            <a:off x="7589520" y="4572000"/>
            <a:ext cx="3822191" cy="109728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7699248" y="4617720"/>
            <a:ext cx="3657599" cy="1005840"/>
          </a:xfrm>
          <a:prstGeom prst="rect">
            <a:avLst/>
          </a:prstGeom>
          <a:noFill/>
        </p:spPr>
        <p:txBody>
          <a:bodyPr wrap="square" lIns="0" rIns="0" tIns="0" bIns="0" anchor="ctr">
            <a:spAutoFit/>
          </a:bodyPr>
          <a:lstStyle/>
          <a:p>
            <a:pPr algn="l">
              <a:spcAft>
                <a:spcPts val="100"/>
              </a:spcAft>
            </a:pPr>
            <a:r>
              <a:rPr sz="1000" b="0" i="0">
                <a:solidFill>
                  <a:srgbClr val="9AA0A8"/>
                </a:solidFill>
                <a:latin typeface="Courier New"/>
              </a:rPr>
              <a:t># optional per-system pin (read at start)</a:t>
            </a:r>
          </a:p>
          <a:p>
            <a:pPr algn="l">
              <a:spcAft>
                <a:spcPts val="100"/>
              </a:spcAft>
            </a:pPr>
            <a:r>
              <a:rPr sz="1000" b="0" i="0">
                <a:solidFill>
                  <a:srgbClr val="F1EEE9"/>
                </a:solidFill>
                <a:latin typeface="Courier New"/>
              </a:rPr>
              <a:t>drishti.var.inputs:</a:t>
            </a:r>
          </a:p>
          <a:p>
            <a:pPr algn="l">
              <a:spcAft>
                <a:spcPts val="100"/>
              </a:spcAft>
            </a:pPr>
            <a:r>
              <a:rPr sz="1000" b="0" i="0">
                <a:solidFill>
                  <a:srgbClr val="E8A0AC"/>
                </a:solidFill>
                <a:latin typeface="Courier New"/>
              </a:rPr>
              <a:t>  SYS_A:   {form: pv,  grain: position}</a:t>
            </a:r>
          </a:p>
          <a:p>
            <a:pPr algn="l">
              <a:spcAft>
                <a:spcPts val="100"/>
              </a:spcAft>
            </a:pPr>
            <a:r>
              <a:rPr sz="1000" b="0" i="0">
                <a:solidFill>
                  <a:srgbClr val="E8A0AC"/>
                </a:solidFill>
                <a:latin typeface="Courier New"/>
              </a:rPr>
              <a:t>  SYS_B:   {form: pnl, grain: trade}</a:t>
            </a:r>
          </a:p>
          <a:p>
            <a:pPr algn="l">
              <a:spcAft>
                <a:spcPts val="100"/>
              </a:spcAft>
            </a:pPr>
            <a:r>
              <a:rPr sz="1000" b="0" i="0">
                <a:solidFill>
                  <a:srgbClr val="F1EEE9"/>
                </a:solidFill>
                <a:latin typeface="Courier New"/>
              </a:rPr>
              <a:t>  default: {form: any, grain: any}</a:t>
            </a:r>
          </a:p>
        </p:txBody>
      </p:sp>
      <p:sp>
        <p:nvSpPr>
          <p:cNvPr id="39" name="TextBox 38"/>
          <p:cNvSpPr txBox="1"/>
          <p:nvPr/>
        </p:nvSpPr>
        <p:spPr>
          <a:xfrm>
            <a:off x="777240" y="5760720"/>
            <a:ext cx="10634472" cy="457200"/>
          </a:xfrm>
          <a:prstGeom prst="rect">
            <a:avLst/>
          </a:prstGeom>
          <a:noFill/>
        </p:spPr>
        <p:txBody>
          <a:bodyPr wrap="square" lIns="0" rIns="0" tIns="0" bIns="0" anchor="ctr">
            <a:spAutoFit/>
          </a:bodyPr>
          <a:lstStyle/>
          <a:p>
            <a:pPr algn="l"/>
            <a:r>
              <a:rPr sz="1100" b="0" i="1">
                <a:solidFill>
                  <a:srgbClr val="4A5058"/>
                </a:solidFill>
              </a:rPr>
              <a:t>A null scenario PV refuses the whole trade (DRS-5206), never zero-filled. Field names are the as-built contracts'; older files are brought to the record with drishti.py convert --set ….</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DATA CONTRACTS · CONTRACT 1.8</a:t>
            </a:r>
          </a:p>
        </p:txBody>
      </p:sp>
      <p:sp>
        <p:nvSpPr>
          <p:cNvPr id="3" name="Title 2"/>
          <p:cNvSpPr>
            <a:spLocks noGrp="1"/>
          </p:cNvSpPr>
          <p:nvPr>
            <p:ph type="title" idx="104"/>
          </p:nvPr>
        </p:nvSpPr>
        <p:spPr/>
        <p:txBody>
          <a:bodyPr/>
          <a:lstStyle/>
          <a:p>
            <a:r>
              <a:t>Six input contracts, JSONL on the wire, every check named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71600"/>
            <a:ext cx="10634472" cy="274320"/>
          </a:xfrm>
          <a:prstGeom prst="rect">
            <a:avLst/>
          </a:prstGeom>
          <a:noFill/>
        </p:spPr>
        <p:txBody>
          <a:bodyPr wrap="square" lIns="0" rIns="0" tIns="0" bIns="0" anchor="ctr">
            <a:spAutoFit/>
          </a:bodyPr>
          <a:lstStyle/>
          <a:p>
            <a:pPr algn="l"/>
            <a:r>
              <a:rPr sz="1200" b="1" i="0">
                <a:solidFill>
                  <a:srgbClr val="A51C30"/>
                </a:solidFill>
              </a:rPr>
              <a:t>JSONL: </a:t>
            </a:r>
            <a:r>
              <a:rPr sz="1150" b="0" i="0">
                <a:solidFill>
                  <a:srgbClr val="4A5058"/>
                </a:solidFill>
              </a:rPr>
              <a:t>one JSON object a line, UTF-8, .jsonl or .jsonl.gz; each line exactly its contract's fields. Key fields of the as-built contracts:</a:t>
            </a:r>
          </a:p>
        </p:txBody>
      </p:sp>
      <p:sp>
        <p:nvSpPr>
          <p:cNvPr id="27" name="Rectangle 26"/>
          <p:cNvSpPr/>
          <p:nvPr/>
        </p:nvSpPr>
        <p:spPr>
          <a:xfrm>
            <a:off x="777240" y="1737360"/>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68680" y="1737360"/>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scenario-pv</a:t>
            </a:r>
            <a:r>
              <a:rPr sz="1050" b="0" i="0">
                <a:solidFill>
                  <a:srgbClr val="F6E6E9"/>
                </a:solidFill>
              </a:rPr>
              <a:t>  SPV · a trade × date × set</a:t>
            </a:r>
          </a:p>
        </p:txBody>
      </p:sp>
      <p:graphicFrame>
        <p:nvGraphicFramePr>
          <p:cNvPr id="29" name="Table 28"/>
          <p:cNvGraphicFramePr>
            <a:graphicFrameLocks noGrp="1"/>
          </p:cNvGraphicFramePr>
          <p:nvPr/>
        </p:nvGraphicFramePr>
        <p:xfrm>
          <a:off x="777240" y="2029967"/>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TRADE_ID … TT_BOOK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trade; LE, desk, book, letter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CURRENCY · BASE_PV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PVs' currency; value today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SCENARIO_PV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per scenario; null = failed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RUN_KIND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FULL or INTRADAY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SCENARIO_SET_ID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and BATCH_ID: the run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0" name="Rectangle 29"/>
          <p:cNvSpPr/>
          <p:nvPr/>
        </p:nvSpPr>
        <p:spPr>
          <a:xfrm>
            <a:off x="4398264" y="1737360"/>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4489703" y="1737360"/>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pnl-vector</a:t>
            </a:r>
            <a:r>
              <a:rPr sz="1050" b="0" i="0">
                <a:solidFill>
                  <a:srgbClr val="F6E6E9"/>
                </a:solidFill>
              </a:rPr>
              <a:t>  PNLV · a trade × date × set</a:t>
            </a:r>
          </a:p>
        </p:txBody>
      </p:sp>
      <p:graphicFrame>
        <p:nvGraphicFramePr>
          <p:cNvPr id="32" name="Table 31"/>
          <p:cNvGraphicFramePr>
            <a:graphicFrameLocks noGrp="1"/>
          </p:cNvGraphicFramePr>
          <p:nvPr/>
        </p:nvGraphicFramePr>
        <p:xfrm>
          <a:off x="4398264" y="2029967"/>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VECTOR_ID · TRADE_ID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PNL-&lt;trade&gt;-HS-509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PNL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USD P&amp;L, gain positive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PV · REPORTING_CCY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USD value today;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STATUS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ok, proxied or failed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RUN_KIND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as scenario-pv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3" name="Rectangle 32"/>
          <p:cNvSpPr/>
          <p:nvPr/>
        </p:nvSpPr>
        <p:spPr>
          <a:xfrm>
            <a:off x="8019288" y="1737360"/>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8110727" y="1737360"/>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fx-scenario</a:t>
            </a:r>
            <a:r>
              <a:rPr sz="1050" b="0" i="0">
                <a:solidFill>
                  <a:srgbClr val="F6E6E9"/>
                </a:solidFill>
              </a:rPr>
              <a:t>  FXS · a currency × date</a:t>
            </a:r>
          </a:p>
        </p:txBody>
      </p:sp>
      <p:graphicFrame>
        <p:nvGraphicFramePr>
          <p:cNvPr id="35" name="Table 34"/>
          <p:cNvGraphicFramePr>
            <a:graphicFrameLocks noGrp="1"/>
          </p:cNvGraphicFramePr>
          <p:nvPr/>
        </p:nvGraphicFramePr>
        <p:xfrm>
          <a:off x="8019288" y="2029967"/>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FX_SCENARIO_ID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FXS-&lt;CCY&gt;-HS-509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CURRENCY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AUD, CAD, EUR, JPY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RATE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today, USD per one unit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RATES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per scenario, the set's order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not sent?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derived from the FX history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6" name="Rectangle 35"/>
          <p:cNvSpPr/>
          <p:nvPr/>
        </p:nvSpPr>
        <p:spPr>
          <a:xfrm>
            <a:off x="777240" y="3374136"/>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868680" y="3374136"/>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scenario-set</a:t>
            </a:r>
            <a:r>
              <a:rPr sz="1050" b="0" i="0">
                <a:solidFill>
                  <a:srgbClr val="F6E6E9"/>
                </a:solidFill>
              </a:rPr>
              <a:t>  SSET · one row a date</a:t>
            </a:r>
          </a:p>
        </p:txBody>
      </p:sp>
      <p:graphicFrame>
        <p:nvGraphicFramePr>
          <p:cNvPr id="38" name="Table 37"/>
          <p:cNvGraphicFramePr>
            <a:graphicFrameLocks noGrp="1"/>
          </p:cNvGraphicFramePr>
          <p:nvPr/>
        </p:nvGraphicFramePr>
        <p:xfrm>
          <a:off x="777240" y="3666744"/>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SCENARIO_SET_ID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SCENARIO_DATES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509 days, oldest first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WINDOW_START … END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2024-09-17 … 2026-09-29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HORIZON_DAYS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REVALUATION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full or sensitivities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9" name="Rectangle 38"/>
          <p:cNvSpPr/>
          <p:nvPr/>
        </p:nvSpPr>
        <p:spPr>
          <a:xfrm>
            <a:off x="4398264" y="3374136"/>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4489703" y="3374136"/>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risk-hierarchy</a:t>
            </a:r>
            <a:r>
              <a:rPr sz="1050" b="0" i="0">
                <a:solidFill>
                  <a:srgbClr val="F6E6E9"/>
                </a:solidFill>
              </a:rPr>
              <a:t>  HIER · a node × date</a:t>
            </a:r>
          </a:p>
        </p:txBody>
      </p:sp>
      <p:graphicFrame>
        <p:nvGraphicFramePr>
          <p:cNvPr id="41" name="Table 40"/>
          <p:cNvGraphicFramePr>
            <a:graphicFrameLocks noGrp="1"/>
          </p:cNvGraphicFramePr>
          <p:nvPr/>
        </p:nvGraphicFramePr>
        <p:xfrm>
          <a:off x="4398264" y="3666744"/>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NODE_ID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MGMT~&lt;id&gt; or LEGAL~&lt;id&gt;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HIERARCHY · LEVEL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MGMT, LEGAL…; open values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PARENT_ID · NAME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the tree; display name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BOOKS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every book beneath</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LIMIT_VAR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1-day 99% limit,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42" name="Rectangle 41"/>
          <p:cNvSpPr/>
          <p:nvPr/>
        </p:nvSpPr>
        <p:spPr>
          <a:xfrm>
            <a:off x="8019288" y="3374136"/>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8110727" y="3374136"/>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portfolio</a:t>
            </a:r>
            <a:r>
              <a:rPr sz="1050" b="0" i="0">
                <a:solidFill>
                  <a:srgbClr val="F6E6E9"/>
                </a:solidFill>
              </a:rPr>
              <a:t>  PORT · a portfolio × date</a:t>
            </a:r>
          </a:p>
        </p:txBody>
      </p:sp>
      <p:graphicFrame>
        <p:nvGraphicFramePr>
          <p:cNvPr id="44" name="Table 43"/>
          <p:cNvGraphicFramePr>
            <a:graphicFrameLocks noGrp="1"/>
          </p:cNvGraphicFramePr>
          <p:nvPr/>
        </p:nvGraphicFramePr>
        <p:xfrm>
          <a:off x="8019288" y="3666744"/>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PORTFOLIO_ID · NAME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PF-…; scope PORT:&lt;id&gt;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TYPE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HIERARCHY, RULE or BASKET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DEFINITION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NODE, RULE or MEMBERS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OWNER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 user or a team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LIMIT_VAR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the portfolio's limit,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45" name="Rectangle 44"/>
          <p:cNvSpPr/>
          <p:nvPr/>
        </p:nvSpPr>
        <p:spPr>
          <a:xfrm>
            <a:off x="777240" y="5102352"/>
            <a:ext cx="10634472" cy="5486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Rounded Rectangle 45"/>
          <p:cNvSpPr/>
          <p:nvPr/>
        </p:nvSpPr>
        <p:spPr>
          <a:xfrm>
            <a:off x="886968" y="5276088"/>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7" name="TextBox 46"/>
          <p:cNvSpPr txBox="1"/>
          <p:nvPr/>
        </p:nvSpPr>
        <p:spPr>
          <a:xfrm>
            <a:off x="1572768" y="5102352"/>
            <a:ext cx="9747504" cy="548640"/>
          </a:xfrm>
          <a:prstGeom prst="rect">
            <a:avLst/>
          </a:prstGeom>
          <a:noFill/>
        </p:spPr>
        <p:txBody>
          <a:bodyPr wrap="square" lIns="0" rIns="0" tIns="0" bIns="0" anchor="ctr">
            <a:spAutoFit/>
          </a:bodyPr>
          <a:lstStyle/>
          <a:p>
            <a:pPr algn="l"/>
            <a:r>
              <a:rPr sz="1150" b="1" i="0">
                <a:solidFill>
                  <a:srgbClr val="8A1626"/>
                </a:solidFill>
              </a:rPr>
              <a:t>Required on every record (2.9.4): </a:t>
            </a:r>
            <a:r>
              <a:rPr sz="1050" b="0" i="0">
                <a:solidFill>
                  <a:srgbClr val="1A1A1A"/>
                </a:solidFill>
                <a:latin typeface="Courier New"/>
              </a:rPr>
              <a:t>VALUE_TYPE</a:t>
            </a:r>
            <a:r>
              <a:rPr sz="1150" b="0" i="0">
                <a:solidFill>
                  <a:srgbClr val="1A1A1A"/>
                </a:solidFill>
              </a:rPr>
              <a:t>, </a:t>
            </a:r>
            <a:r>
              <a:rPr sz="1050" b="0" i="0">
                <a:solidFill>
                  <a:srgbClr val="1A1A1A"/>
                </a:solidFill>
                <a:latin typeface="Courier New"/>
              </a:rPr>
              <a:t>GRAIN</a:t>
            </a:r>
            <a:r>
              <a:rPr sz="1150" b="0" i="0">
                <a:solidFill>
                  <a:srgbClr val="1A1A1A"/>
                </a:solidFill>
              </a:rPr>
              <a:t> with its id, </a:t>
            </a:r>
            <a:r>
              <a:rPr sz="1050" b="0" i="0">
                <a:solidFill>
                  <a:srgbClr val="1A1A1A"/>
                </a:solidFill>
                <a:latin typeface="Courier New"/>
              </a:rPr>
              <a:t>CURRENCY</a:t>
            </a:r>
            <a:r>
              <a:rPr sz="1150" b="0" i="0">
                <a:solidFill>
                  <a:srgbClr val="1A1A1A"/>
                </a:solidFill>
              </a:rPr>
              <a:t>, </a:t>
            </a:r>
            <a:r>
              <a:rPr sz="1050" b="0" i="0">
                <a:solidFill>
                  <a:srgbClr val="1A1A1A"/>
                </a:solidFill>
                <a:latin typeface="Courier New"/>
              </a:rPr>
              <a:t>SOURCE_SYSTEM</a:t>
            </a:r>
            <a:r>
              <a:rPr sz="1150" b="0" i="0">
                <a:solidFill>
                  <a:srgbClr val="1A1A1A"/>
                </a:solidFill>
              </a:rPr>
              <a:t>; GRAIN matches the id. Old files: </a:t>
            </a:r>
            <a:r>
              <a:rPr sz="1050" b="0" i="0">
                <a:solidFill>
                  <a:srgbClr val="1A1A1A"/>
                </a:solidFill>
                <a:latin typeface="Courier New"/>
              </a:rPr>
              <a:t>convert --set</a:t>
            </a:r>
          </a:p>
        </p:txBody>
      </p:sp>
      <p:sp>
        <p:nvSpPr>
          <p:cNvPr id="48" name="Rectangle 47"/>
          <p:cNvSpPr/>
          <p:nvPr/>
        </p:nvSpPr>
        <p:spPr>
          <a:xfrm>
            <a:off x="77724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85039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DRS-5201</a:t>
            </a:r>
          </a:p>
          <a:p>
            <a:pPr algn="l"/>
            <a:r>
              <a:rPr sz="1000" b="0" i="0">
                <a:solidFill>
                  <a:srgbClr val="1A1A1A"/>
                </a:solidFill>
              </a:rPr>
              <a:t>length, null, NaN</a:t>
            </a:r>
          </a:p>
        </p:txBody>
      </p:sp>
      <p:sp>
        <p:nvSpPr>
          <p:cNvPr id="50" name="Rectangle 49"/>
          <p:cNvSpPr/>
          <p:nvPr/>
        </p:nvSpPr>
        <p:spPr>
          <a:xfrm>
            <a:off x="211455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218770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DRS-5206</a:t>
            </a:r>
          </a:p>
          <a:p>
            <a:pPr algn="l"/>
            <a:r>
              <a:rPr sz="1000" b="0" i="0">
                <a:solidFill>
                  <a:srgbClr val="1A1A1A"/>
                </a:solidFill>
              </a:rPr>
              <a:t>a PV failed</a:t>
            </a:r>
          </a:p>
        </p:txBody>
      </p:sp>
      <p:sp>
        <p:nvSpPr>
          <p:cNvPr id="52" name="Rectangle 51"/>
          <p:cNvSpPr/>
          <p:nvPr/>
        </p:nvSpPr>
        <p:spPr>
          <a:xfrm>
            <a:off x="345186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352501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DRS-5207</a:t>
            </a:r>
          </a:p>
          <a:p>
            <a:pPr algn="l"/>
            <a:r>
              <a:rPr sz="1000" b="0" i="0">
                <a:solidFill>
                  <a:srgbClr val="1A1A1A"/>
                </a:solidFill>
              </a:rPr>
              <a:t>no scenario FX</a:t>
            </a:r>
          </a:p>
        </p:txBody>
      </p:sp>
      <p:sp>
        <p:nvSpPr>
          <p:cNvPr id="54" name="Rectangle 53"/>
          <p:cNvSpPr/>
          <p:nvPr/>
        </p:nvSpPr>
        <p:spPr>
          <a:xfrm>
            <a:off x="478917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486232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DRS-5208</a:t>
            </a:r>
          </a:p>
          <a:p>
            <a:pPr algn="l"/>
            <a:r>
              <a:rPr sz="1000" b="0" i="0">
                <a:solidFill>
                  <a:srgbClr val="1A1A1A"/>
                </a:solidFill>
              </a:rPr>
              <a:t>record fields wrong</a:t>
            </a:r>
          </a:p>
        </p:txBody>
      </p:sp>
      <p:sp>
        <p:nvSpPr>
          <p:cNvPr id="56" name="Rectangle 55"/>
          <p:cNvSpPr/>
          <p:nvPr/>
        </p:nvSpPr>
        <p:spPr>
          <a:xfrm>
            <a:off x="612648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xtBox 56"/>
          <p:cNvSpPr txBox="1"/>
          <p:nvPr/>
        </p:nvSpPr>
        <p:spPr>
          <a:xfrm>
            <a:off x="619963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DRS-5209</a:t>
            </a:r>
          </a:p>
          <a:p>
            <a:pPr algn="l"/>
            <a:r>
              <a:rPr sz="1000" b="0" i="0">
                <a:solidFill>
                  <a:srgbClr val="1A1A1A"/>
                </a:solidFill>
              </a:rPr>
              <a:t>against the pin</a:t>
            </a:r>
          </a:p>
        </p:txBody>
      </p:sp>
      <p:sp>
        <p:nvSpPr>
          <p:cNvPr id="58" name="Rectangle 57"/>
          <p:cNvSpPr/>
          <p:nvPr/>
        </p:nvSpPr>
        <p:spPr>
          <a:xfrm>
            <a:off x="746379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753694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DRS-5210</a:t>
            </a:r>
          </a:p>
          <a:p>
            <a:pPr algn="l"/>
            <a:r>
              <a:rPr sz="1000" b="0" i="0">
                <a:solidFill>
                  <a:srgbClr val="1A1A1A"/>
                </a:solidFill>
              </a:rPr>
              <a:t>2nd form or grain</a:t>
            </a:r>
          </a:p>
        </p:txBody>
      </p:sp>
      <p:sp>
        <p:nvSpPr>
          <p:cNvPr id="60" name="Rectangle 59"/>
          <p:cNvSpPr/>
          <p:nvPr/>
        </p:nvSpPr>
        <p:spPr>
          <a:xfrm>
            <a:off x="880110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1" name="TextBox 60"/>
          <p:cNvSpPr txBox="1"/>
          <p:nvPr/>
        </p:nvSpPr>
        <p:spPr>
          <a:xfrm>
            <a:off x="887425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DRS-5202</a:t>
            </a:r>
          </a:p>
          <a:p>
            <a:pPr algn="l"/>
            <a:r>
              <a:rPr sz="1000" b="0" i="0">
                <a:solidFill>
                  <a:srgbClr val="1A1A1A"/>
                </a:solidFill>
              </a:rPr>
              <a:t>trade twice</a:t>
            </a:r>
          </a:p>
        </p:txBody>
      </p:sp>
      <p:sp>
        <p:nvSpPr>
          <p:cNvPr id="62" name="Rectangle 61"/>
          <p:cNvSpPr/>
          <p:nvPr/>
        </p:nvSpPr>
        <p:spPr>
          <a:xfrm>
            <a:off x="1013841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1021156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DRS-5203</a:t>
            </a:r>
          </a:p>
          <a:p>
            <a:pPr algn="l"/>
            <a:r>
              <a:rPr sz="1000" b="0" i="0">
                <a:solidFill>
                  <a:srgbClr val="1A1A1A"/>
                </a:solidFill>
              </a:rPr>
              <a:t>two runs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ONBOARDING A PRICING SYSTEM</a:t>
            </a:r>
          </a:p>
        </p:txBody>
      </p:sp>
      <p:sp>
        <p:nvSpPr>
          <p:cNvPr id="3" name="Title 2"/>
          <p:cNvSpPr>
            <a:spLocks noGrp="1"/>
          </p:cNvSpPr>
          <p:nvPr>
            <p:ph type="title" idx="104"/>
          </p:nvPr>
        </p:nvSpPr>
        <p:spPr/>
        <p:txBody>
          <a:bodyPr/>
          <a:lstStyle/>
          <a:p>
            <a:r>
              <a:t>A checklist for each pricing system</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44752"/>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Oval 26"/>
          <p:cNvSpPr/>
          <p:nvPr/>
        </p:nvSpPr>
        <p:spPr>
          <a:xfrm>
            <a:off x="914400" y="1664208"/>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1</a:t>
            </a:r>
          </a:p>
        </p:txBody>
      </p:sp>
      <p:sp>
        <p:nvSpPr>
          <p:cNvPr id="28" name="TextBox 27"/>
          <p:cNvSpPr txBox="1"/>
          <p:nvPr/>
        </p:nvSpPr>
        <p:spPr>
          <a:xfrm>
            <a:off x="1490472" y="1499616"/>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Choose form and grain</a:t>
            </a:r>
          </a:p>
          <a:p>
            <a:pPr algn="l"/>
            <a:r>
              <a:rPr sz="1150" b="0" i="0">
                <a:solidFill>
                  <a:srgbClr val="4A5058"/>
                </a:solidFill>
              </a:rPr>
              <a:t>PVs or P&amp;L, by trade or by position: one form and one grain per system per date</a:t>
            </a:r>
          </a:p>
        </p:txBody>
      </p:sp>
      <p:sp>
        <p:nvSpPr>
          <p:cNvPr id="29" name="Rectangle 28"/>
          <p:cNvSpPr/>
          <p:nvPr/>
        </p:nvSpPr>
        <p:spPr>
          <a:xfrm>
            <a:off x="777240" y="2432304"/>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Oval 29"/>
          <p:cNvSpPr/>
          <p:nvPr/>
        </p:nvSpPr>
        <p:spPr>
          <a:xfrm>
            <a:off x="914400" y="2651760"/>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2</a:t>
            </a:r>
          </a:p>
        </p:txBody>
      </p:sp>
      <p:sp>
        <p:nvSpPr>
          <p:cNvPr id="31" name="TextBox 30"/>
          <p:cNvSpPr txBox="1"/>
          <p:nvPr/>
        </p:nvSpPr>
        <p:spPr>
          <a:xfrm>
            <a:off x="1490472" y="2487168"/>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Map the record's fields</a:t>
            </a:r>
          </a:p>
          <a:p>
            <a:pPr algn="l"/>
            <a:r>
              <a:rPr sz="1150" b="0" i="0">
                <a:solidFill>
                  <a:srgbClr val="4A5058"/>
                </a:solidFill>
              </a:rPr>
              <a:t>VALUE_TYPE, GRAIN + id, CURRENCY, SOURCE_SYSTEM; LEGAL_ENTITY, DESK, TT_BOOK; status, maturity</a:t>
            </a:r>
          </a:p>
        </p:txBody>
      </p:sp>
      <p:sp>
        <p:nvSpPr>
          <p:cNvPr id="32" name="Rectangle 31"/>
          <p:cNvSpPr/>
          <p:nvPr/>
        </p:nvSpPr>
        <p:spPr>
          <a:xfrm>
            <a:off x="777240" y="3419856"/>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Oval 32"/>
          <p:cNvSpPr/>
          <p:nvPr/>
        </p:nvSpPr>
        <p:spPr>
          <a:xfrm>
            <a:off x="914400" y="3639312"/>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3</a:t>
            </a:r>
          </a:p>
        </p:txBody>
      </p:sp>
      <p:sp>
        <p:nvSpPr>
          <p:cNvPr id="34" name="TextBox 33"/>
          <p:cNvSpPr txBox="1"/>
          <p:nvPr/>
        </p:nvSpPr>
        <p:spPr>
          <a:xfrm>
            <a:off x="1490472" y="3474720"/>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Price over the date's scenario set</a:t>
            </a:r>
          </a:p>
          <a:p>
            <a:pPr algn="l"/>
            <a:r>
              <a:rPr sz="1150" b="0" i="0">
                <a:solidFill>
                  <a:srgbClr val="4A5058"/>
                </a:solidFill>
              </a:rPr>
              <a:t>every scenario in the set's order; a failed one null, never zero</a:t>
            </a:r>
          </a:p>
        </p:txBody>
      </p:sp>
      <p:sp>
        <p:nvSpPr>
          <p:cNvPr id="35" name="Rectangle 34"/>
          <p:cNvSpPr/>
          <p:nvPr/>
        </p:nvSpPr>
        <p:spPr>
          <a:xfrm>
            <a:off x="777240" y="4407408"/>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Oval 35"/>
          <p:cNvSpPr/>
          <p:nvPr/>
        </p:nvSpPr>
        <p:spPr>
          <a:xfrm>
            <a:off x="914400" y="4626864"/>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4</a:t>
            </a:r>
          </a:p>
        </p:txBody>
      </p:sp>
      <p:sp>
        <p:nvSpPr>
          <p:cNvPr id="37" name="TextBox 36"/>
          <p:cNvSpPr txBox="1"/>
          <p:nvPr/>
        </p:nvSpPr>
        <p:spPr>
          <a:xfrm>
            <a:off x="1490472" y="4462272"/>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Scenario FX for its currencies</a:t>
            </a:r>
          </a:p>
          <a:p>
            <a:pPr algn="l"/>
            <a:r>
              <a:rPr sz="1150" b="0" i="0">
                <a:solidFill>
                  <a:srgbClr val="4A5058"/>
                </a:solidFill>
              </a:rPr>
              <a:t>send fx-scenario, or let Drishti derive it from the FX history</a:t>
            </a:r>
          </a:p>
        </p:txBody>
      </p:sp>
      <p:sp>
        <p:nvSpPr>
          <p:cNvPr id="38" name="Rectangle 37"/>
          <p:cNvSpPr/>
          <p:nvPr/>
        </p:nvSpPr>
        <p:spPr>
          <a:xfrm>
            <a:off x="6231636" y="1444752"/>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Oval 38"/>
          <p:cNvSpPr/>
          <p:nvPr/>
        </p:nvSpPr>
        <p:spPr>
          <a:xfrm>
            <a:off x="6368796" y="1664208"/>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5</a:t>
            </a:r>
          </a:p>
        </p:txBody>
      </p:sp>
      <p:sp>
        <p:nvSpPr>
          <p:cNvPr id="40" name="TextBox 39"/>
          <p:cNvSpPr txBox="1"/>
          <p:nvPr/>
        </p:nvSpPr>
        <p:spPr>
          <a:xfrm>
            <a:off x="6944868" y="1499616"/>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Pick the route</a:t>
            </a:r>
          </a:p>
          <a:p>
            <a:pPr algn="l"/>
            <a:r>
              <a:rPr sz="1150" b="0" i="0">
                <a:solidFill>
                  <a:srgbClr val="4A5058"/>
                </a:solidFill>
              </a:rPr>
              <a:t>JSONL files for the full run; files or a Kafka topic for intraday</a:t>
            </a:r>
          </a:p>
        </p:txBody>
      </p:sp>
      <p:sp>
        <p:nvSpPr>
          <p:cNvPr id="41" name="Rectangle 40"/>
          <p:cNvSpPr/>
          <p:nvPr/>
        </p:nvSpPr>
        <p:spPr>
          <a:xfrm>
            <a:off x="6231636" y="2432304"/>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Oval 41"/>
          <p:cNvSpPr/>
          <p:nvPr/>
        </p:nvSpPr>
        <p:spPr>
          <a:xfrm>
            <a:off x="6368796" y="2651760"/>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6</a:t>
            </a:r>
          </a:p>
        </p:txBody>
      </p:sp>
      <p:sp>
        <p:nvSpPr>
          <p:cNvPr id="43" name="TextBox 42"/>
          <p:cNvSpPr txBox="1"/>
          <p:nvPr/>
        </p:nvSpPr>
        <p:spPr>
          <a:xfrm>
            <a:off x="6944868" y="2487168"/>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Set the optional pin</a:t>
            </a:r>
          </a:p>
          <a:p>
            <a:pPr algn="l"/>
            <a:r>
              <a:rPr sz="1150" b="0" i="0">
                <a:solidFill>
                  <a:srgbClr val="4A5058"/>
                </a:solidFill>
              </a:rPr>
              <a:t>drishti.var.inputs: a record that disagrees is refused (DRS-5209)</a:t>
            </a:r>
          </a:p>
        </p:txBody>
      </p:sp>
      <p:sp>
        <p:nvSpPr>
          <p:cNvPr id="44" name="Rectangle 43"/>
          <p:cNvSpPr/>
          <p:nvPr/>
        </p:nvSpPr>
        <p:spPr>
          <a:xfrm>
            <a:off x="6231636" y="3419856"/>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Oval 44"/>
          <p:cNvSpPr/>
          <p:nvPr/>
        </p:nvSpPr>
        <p:spPr>
          <a:xfrm>
            <a:off x="6368796" y="3639312"/>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7</a:t>
            </a:r>
          </a:p>
        </p:txBody>
      </p:sp>
      <p:sp>
        <p:nvSpPr>
          <p:cNvPr id="46" name="TextBox 45"/>
          <p:cNvSpPr txBox="1"/>
          <p:nvPr/>
        </p:nvSpPr>
        <p:spPr>
          <a:xfrm>
            <a:off x="6944868" y="3474720"/>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Recompute independently</a:t>
            </a:r>
          </a:p>
          <a:p>
            <a:pPr algn="l"/>
            <a:r>
              <a:rPr sz="1150" b="0" i="0">
                <a:solidFill>
                  <a:srgbClr val="4A5058"/>
                </a:solidFill>
              </a:rPr>
              <a:t>from the sent files, compare bank and desk VaR and ES with the engine</a:t>
            </a:r>
          </a:p>
        </p:txBody>
      </p:sp>
      <p:sp>
        <p:nvSpPr>
          <p:cNvPr id="47" name="Rectangle 46"/>
          <p:cNvSpPr/>
          <p:nvPr/>
        </p:nvSpPr>
        <p:spPr>
          <a:xfrm>
            <a:off x="6231636" y="4407408"/>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Oval 47"/>
          <p:cNvSpPr/>
          <p:nvPr/>
        </p:nvSpPr>
        <p:spPr>
          <a:xfrm>
            <a:off x="6368796" y="4626864"/>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8</a:t>
            </a:r>
          </a:p>
        </p:txBody>
      </p:sp>
      <p:sp>
        <p:nvSpPr>
          <p:cNvPr id="49" name="TextBox 48"/>
          <p:cNvSpPr txBox="1"/>
          <p:nvPr/>
        </p:nvSpPr>
        <p:spPr>
          <a:xfrm>
            <a:off x="6944868" y="4462272"/>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Clear the refusals</a:t>
            </a:r>
          </a:p>
          <a:p>
            <a:pPr algn="l"/>
            <a:r>
              <a:rPr sz="1150" b="0" i="0">
                <a:solidFill>
                  <a:srgbClr val="4A5058"/>
                </a:solidFill>
              </a:rPr>
              <a:t>provenance lists every refused row by code; aim for none before go-live</a:t>
            </a:r>
          </a:p>
        </p:txBody>
      </p:sp>
      <p:sp>
        <p:nvSpPr>
          <p:cNvPr id="50" name="Rectangle 49"/>
          <p:cNvSpPr/>
          <p:nvPr/>
        </p:nvSpPr>
        <p:spPr>
          <a:xfrm>
            <a:off x="777240" y="5486400"/>
            <a:ext cx="10634472" cy="73152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Rectangle 50"/>
          <p:cNvSpPr/>
          <p:nvPr/>
        </p:nvSpPr>
        <p:spPr>
          <a:xfrm>
            <a:off x="777240" y="5486400"/>
            <a:ext cx="54864"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Rounded Rectangle 51"/>
          <p:cNvSpPr/>
          <p:nvPr/>
        </p:nvSpPr>
        <p:spPr>
          <a:xfrm>
            <a:off x="1005840" y="5751576"/>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53" name="TextBox 52"/>
          <p:cNvSpPr txBox="1"/>
          <p:nvPr/>
        </p:nvSpPr>
        <p:spPr>
          <a:xfrm>
            <a:off x="1810512" y="5486400"/>
            <a:ext cx="9464040" cy="731520"/>
          </a:xfrm>
          <a:prstGeom prst="rect">
            <a:avLst/>
          </a:prstGeom>
          <a:noFill/>
        </p:spPr>
        <p:txBody>
          <a:bodyPr wrap="square" lIns="0" rIns="0" tIns="0" bIns="0" anchor="ctr">
            <a:spAutoFit/>
          </a:bodyPr>
          <a:lstStyle/>
          <a:p>
            <a:pPr algn="l"/>
            <a:r>
              <a:rPr sz="1250" b="1" i="0">
                <a:solidFill>
                  <a:srgbClr val="A51C30"/>
                </a:solidFill>
              </a:rPr>
              <a:t>Ready when  </a:t>
            </a:r>
            <a:r>
              <a:rPr sz="1200" b="0" i="0">
                <a:solidFill>
                  <a:srgbClr val="8A1626"/>
                </a:solidFill>
              </a:rPr>
              <a:t>the system's records load with no refusals, the independent recomputation agrees to the cent, and How this number was built shows the system with its form and grain.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04</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Scale and capacity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HOW IT SCALES</a:t>
            </a:r>
          </a:p>
        </p:txBody>
      </p:sp>
      <p:sp>
        <p:nvSpPr>
          <p:cNvPr id="3" name="Title 2"/>
          <p:cNvSpPr>
            <a:spLocks noGrp="1"/>
          </p:cNvSpPr>
          <p:nvPr>
            <p:ph type="title" idx="104"/>
          </p:nvPr>
        </p:nvSpPr>
        <p:spPr/>
        <p:txBody>
          <a:bodyPr/>
          <a:lstStyle/>
          <a:p>
            <a:r>
              <a:t>Why it is fast: vectors add, one date stays hot, sums run on every core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3703320" cy="786384"/>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05256" y="1508760"/>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Consumers</a:t>
            </a:r>
          </a:p>
          <a:p>
            <a:pPr algn="l"/>
            <a:r>
              <a:rPr sz="1100" b="0" i="0">
                <a:solidFill>
                  <a:srgbClr val="4A5058"/>
                </a:solidFill>
              </a:rPr>
              <a:t>console · CLI · REST · BI · computed kinds</a:t>
            </a:r>
          </a:p>
        </p:txBody>
      </p:sp>
      <p:cxnSp>
        <p:nvCxnSpPr>
          <p:cNvPr id="28" name="Connector 27"/>
          <p:cNvCxnSpPr/>
          <p:nvPr/>
        </p:nvCxnSpPr>
        <p:spPr>
          <a:xfrm flipV="1">
            <a:off x="2628900" y="2258568"/>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777240" y="2432304"/>
            <a:ext cx="3703320" cy="786384"/>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905256" y="2478024"/>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drishti-server · VarService</a:t>
            </a:r>
          </a:p>
          <a:p>
            <a:pPr algn="l"/>
            <a:r>
              <a:rPr sz="1100" b="0" i="0">
                <a:solidFill>
                  <a:srgbClr val="1A1A1A"/>
                </a:solidFill>
              </a:rPr>
              <a:t>scopes, entitlements, a cache of 512 answers, captures, official records</a:t>
            </a:r>
          </a:p>
        </p:txBody>
      </p:sp>
      <p:cxnSp>
        <p:nvCxnSpPr>
          <p:cNvPr id="31" name="Connector 30"/>
          <p:cNvCxnSpPr/>
          <p:nvPr/>
        </p:nvCxnSpPr>
        <p:spPr>
          <a:xfrm flipV="1">
            <a:off x="2628900" y="3227832"/>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777240" y="3401568"/>
            <a:ext cx="3703320" cy="786384"/>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905256" y="3447288"/>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drishti-compute · the engine</a:t>
            </a:r>
          </a:p>
          <a:p>
            <a:pPr algn="l"/>
            <a:r>
              <a:rPr sz="1100" b="0" i="0">
                <a:solidFill>
                  <a:srgbClr val="1A1A1A"/>
                </a:solidFill>
              </a:rPr>
              <a:t>VarBook, planner, parallel sums, VarMath (Java); Python for what-if</a:t>
            </a:r>
          </a:p>
        </p:txBody>
      </p:sp>
      <p:cxnSp>
        <p:nvCxnSpPr>
          <p:cNvPr id="34" name="Connector 33"/>
          <p:cNvCxnSpPr/>
          <p:nvPr/>
        </p:nvCxnSpPr>
        <p:spPr>
          <a:xfrm flipV="1">
            <a:off x="2628900" y="4197096"/>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777240" y="4370832"/>
            <a:ext cx="3703320" cy="786384"/>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905256" y="4416552"/>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Tiered memory</a:t>
            </a:r>
          </a:p>
          <a:p>
            <a:pPr algn="l"/>
            <a:r>
              <a:rPr sz="1100" b="0" i="0">
                <a:solidFill>
                  <a:srgbClr val="1A1A1A"/>
                </a:solidFill>
              </a:rPr>
              <a:t>heap: aggregates, columns · hot file: mapped float32 rows · page cache</a:t>
            </a:r>
          </a:p>
        </p:txBody>
      </p:sp>
      <p:cxnSp>
        <p:nvCxnSpPr>
          <p:cNvPr id="37" name="Connector 36"/>
          <p:cNvCxnSpPr/>
          <p:nvPr/>
        </p:nvCxnSpPr>
        <p:spPr>
          <a:xfrm flipV="1">
            <a:off x="2628900" y="5166360"/>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777240" y="5340096"/>
            <a:ext cx="3703320" cy="786384"/>
          </a:xfrm>
          <a:prstGeom prst="rect">
            <a:avLst/>
          </a:prstGeom>
          <a:solidFill>
            <a:srgbClr val="8A1626"/>
          </a:solidFill>
          <a:ln w="12700">
            <a:solidFill>
              <a:srgbClr val="8A162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05256" y="5385816"/>
            <a:ext cx="3474720" cy="713232"/>
          </a:xfrm>
          <a:prstGeom prst="rect">
            <a:avLst/>
          </a:prstGeom>
          <a:noFill/>
        </p:spPr>
        <p:txBody>
          <a:bodyPr wrap="square" lIns="0" rIns="0" tIns="0" bIns="0" anchor="ctr">
            <a:spAutoFit/>
          </a:bodyPr>
          <a:lstStyle/>
          <a:p>
            <a:pPr algn="l">
              <a:spcAft>
                <a:spcPts val="200"/>
              </a:spcAft>
            </a:pPr>
            <a:r>
              <a:rPr sz="1250" b="1" i="0">
                <a:solidFill>
                  <a:srgbClr val="FFFFFF"/>
                </a:solidFill>
              </a:rPr>
              <a:t>Lake · Delta</a:t>
            </a:r>
          </a:p>
          <a:p>
            <a:pPr algn="l"/>
            <a:r>
              <a:rPr sz="1100" b="0" i="0">
                <a:solidFill>
                  <a:srgbClr val="F6E6E9"/>
                </a:solidFill>
              </a:rPr>
              <a:t>float64 vectors, every date, 7 years of time travel</a:t>
            </a:r>
          </a:p>
        </p:txBody>
      </p:sp>
      <p:sp>
        <p:nvSpPr>
          <p:cNvPr id="40" name="Rectangle 39"/>
          <p:cNvSpPr/>
          <p:nvPr/>
        </p:nvSpPr>
        <p:spPr>
          <a:xfrm>
            <a:off x="4754879" y="1463040"/>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4864607" y="1499616"/>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Vector math</a:t>
            </a:r>
          </a:p>
          <a:p>
            <a:pPr algn="l"/>
            <a:r>
              <a:rPr sz="1100" b="0" i="0">
                <a:solidFill>
                  <a:srgbClr val="4A5058"/>
                </a:solidFill>
              </a:rPr>
              <a:t>509 doubles = 4,072 B a trade or position; hot rows float32 (2,036 B); sums in float64</a:t>
            </a:r>
          </a:p>
        </p:txBody>
      </p:sp>
      <p:sp>
        <p:nvSpPr>
          <p:cNvPr id="42" name="Rectangle 41"/>
          <p:cNvSpPr/>
          <p:nvPr/>
        </p:nvSpPr>
        <p:spPr>
          <a:xfrm>
            <a:off x="8151875" y="1463040"/>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8261603" y="1499616"/>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Memory-mapped hot file</a:t>
            </a:r>
          </a:p>
          <a:p>
            <a:pPr algn="l"/>
            <a:r>
              <a:rPr sz="1100" b="0" i="0">
                <a:solidFill>
                  <a:srgbClr val="4A5058"/>
                </a:solidFill>
              </a:rPr>
              <a:t>one file a date; only touched pages resident; 2 dates open, 60 kept on disk</a:t>
            </a:r>
          </a:p>
        </p:txBody>
      </p:sp>
      <p:sp>
        <p:nvSpPr>
          <p:cNvPr id="44" name="Rectangle 43"/>
          <p:cNvSpPr/>
          <p:nvPr/>
        </p:nvSpPr>
        <p:spPr>
          <a:xfrm>
            <a:off x="4754879" y="2249424"/>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4864607" y="2286000"/>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Planner over aggregates</a:t>
            </a:r>
          </a:p>
          <a:p>
            <a:pPr algn="l"/>
            <a:r>
              <a:rPr sz="1100" b="0" i="0">
                <a:solidFill>
                  <a:srgbClr val="4A5058"/>
                </a:solidFill>
              </a:rPr>
              <a:t>a node is its aggregate; Markets minus three trades = 4 vector operations</a:t>
            </a:r>
          </a:p>
        </p:txBody>
      </p:sp>
      <p:sp>
        <p:nvSpPr>
          <p:cNvPr id="46" name="Rectangle 45"/>
          <p:cNvSpPr/>
          <p:nvPr/>
        </p:nvSpPr>
        <p:spPr>
          <a:xfrm>
            <a:off x="8151875" y="2249424"/>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xtBox 46"/>
          <p:cNvSpPr txBox="1"/>
          <p:nvPr/>
        </p:nvSpPr>
        <p:spPr>
          <a:xfrm>
            <a:off x="8261603" y="2286000"/>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Parallel sums</a:t>
            </a:r>
          </a:p>
          <a:p>
            <a:pPr algn="l"/>
            <a:r>
              <a:rPr sz="1100" b="0" i="0">
                <a:solidFill>
                  <a:srgbClr val="4A5058"/>
                </a:solidFill>
              </a:rPr>
              <a:t>slices on every core, added in a fixed order: the same bits every time</a:t>
            </a:r>
          </a:p>
        </p:txBody>
      </p:sp>
      <p:sp>
        <p:nvSpPr>
          <p:cNvPr id="48" name="Rectangle 47"/>
          <p:cNvSpPr/>
          <p:nvPr/>
        </p:nvSpPr>
        <p:spPr>
          <a:xfrm>
            <a:off x="4754879" y="3035808"/>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4864607" y="3072384"/>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Currencies built ahead</a:t>
            </a:r>
          </a:p>
          <a:p>
            <a:pPr algn="l"/>
            <a:r>
              <a:rPr sz="1100" b="0" i="0">
                <a:solidFill>
                  <a:srgbClr val="4A5058"/>
                </a:solidFill>
              </a:rPr>
              <a:t>five books in the background; 21.4 MB a currency a date on the demo</a:t>
            </a:r>
          </a:p>
        </p:txBody>
      </p:sp>
      <p:sp>
        <p:nvSpPr>
          <p:cNvPr id="50" name="Rectangle 49"/>
          <p:cNvSpPr/>
          <p:nvPr/>
        </p:nvSpPr>
        <p:spPr>
          <a:xfrm>
            <a:off x="8151875" y="3035808"/>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8261603" y="3072384"/>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Per-trade-currency totals</a:t>
            </a:r>
          </a:p>
          <a:p>
            <a:pPr algn="l"/>
            <a:r>
              <a:rPr sz="1100" b="0" i="0">
                <a:solidFill>
                  <a:srgbClr val="4A5058"/>
                </a:solidFill>
              </a:rPr>
              <a:t>a headline in any currency from a node's few currency sums, exact</a:t>
            </a:r>
          </a:p>
        </p:txBody>
      </p:sp>
      <p:sp>
        <p:nvSpPr>
          <p:cNvPr id="52" name="Rectangle 51"/>
          <p:cNvSpPr/>
          <p:nvPr/>
        </p:nvSpPr>
        <p:spPr>
          <a:xfrm>
            <a:off x="4754879" y="3822191"/>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4864607" y="3858768"/>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Intraday increments</a:t>
            </a:r>
          </a:p>
          <a:p>
            <a:pPr algn="l"/>
            <a:r>
              <a:rPr sz="1100" b="0" i="0">
                <a:solidFill>
                  <a:srgbClr val="4A5058"/>
                </a:solidFill>
              </a:rPr>
              <a:t>cost ∝ rows changed; Kafka: one commit and one apply per window</a:t>
            </a:r>
          </a:p>
        </p:txBody>
      </p:sp>
      <p:sp>
        <p:nvSpPr>
          <p:cNvPr id="54" name="Rectangle 53"/>
          <p:cNvSpPr/>
          <p:nvPr/>
        </p:nvSpPr>
        <p:spPr>
          <a:xfrm>
            <a:off x="8151875" y="3822191"/>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8261603" y="3858768"/>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Cluster and history</a:t>
            </a:r>
          </a:p>
          <a:p>
            <a:pPr algn="l"/>
            <a:r>
              <a:rPr sz="1100" b="0" i="0">
                <a:solidFill>
                  <a:srgbClr val="4A5058"/>
                </a:solidFill>
              </a:rPr>
              <a:t>Drishti*net replicas; VaR sharding designed; Delta history</a:t>
            </a:r>
          </a:p>
        </p:txBody>
      </p:sp>
      <p:graphicFrame>
        <p:nvGraphicFramePr>
          <p:cNvPr id="56" name="Table 55"/>
          <p:cNvGraphicFramePr>
            <a:graphicFrameLocks noGrp="1"/>
          </p:cNvGraphicFramePr>
          <p:nvPr/>
        </p:nvGraphicFramePr>
        <p:xfrm>
          <a:off x="4754879" y="4645152"/>
          <a:ext cx="6656832" cy="1632204"/>
        </p:xfrm>
        <a:graphic>
          <a:graphicData uri="http://schemas.openxmlformats.org/drawingml/2006/table">
            <a:tbl>
              <a:tblPr firstRow="0" bandRow="0">
                <a:tableStyleId>{5940675A-B579-460E-94D1-54222C63F5DA}</a:tableStyleId>
              </a:tblPr>
              <a:tblGrid>
                <a:gridCol w="3063240"/>
                <a:gridCol w="1600200"/>
                <a:gridCol w="1993392"/>
              </a:tblGrid>
              <a:tr h="233172">
                <a:tc>
                  <a:txBody>
                    <a:bodyPr wrap="square"/>
                    <a:lstStyle/>
                    <a:p>
                      <a:r>
                        <a:rPr sz="1100" b="1" i="0">
                          <a:solidFill>
                            <a:srgbClr val="FFFFFF"/>
                          </a:solidFill>
                        </a:rPr>
                        <a:t>Measured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Time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33172">
                <a:tc>
                  <a:txBody>
                    <a:bodyPr wrap="square"/>
                    <a:lstStyle/>
                    <a:p>
                      <a:r>
                        <a:rPr sz="1100" b="0" i="0">
                          <a:solidFill>
                            <a:srgbClr val="1A1A1A"/>
                          </a:solidFill>
                        </a:rPr>
                        <a:t>A node's VaR and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0.48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33172">
                <a:tc>
                  <a:txBody>
                    <a:bodyPr wrap="square"/>
                    <a:lstStyle/>
                    <a:p>
                      <a:r>
                        <a:rPr sz="1100" b="0" i="0">
                          <a:solidFill>
                            <a:srgbClr val="1A1A1A"/>
                          </a:solidFill>
                        </a:rPr>
                        <a:t>The whole bank from float32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3.4 ms (≈ 60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33172">
                <a:tc>
                  <a:txBody>
                    <a:bodyPr wrap="square"/>
                    <a:lstStyle/>
                    <a:p>
                      <a:r>
                        <a:rPr sz="1100" b="0" i="0">
                          <a:solidFill>
                            <a:srgbClr val="1A1A1A"/>
                          </a:solidFill>
                        </a:rPr>
                        <a:t>The whole bank from float64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58 ms (≈ 70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heap tier, 1,000,000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33172">
                <a:tc>
                  <a:txBody>
                    <a:bodyPr wrap="square"/>
                    <a:lstStyle/>
                    <a:p>
                      <a:r>
                        <a:rPr sz="1100" b="0" i="0">
                          <a:solidFill>
                            <a:srgbClr val="1A1A1A"/>
                          </a:solidFill>
                        </a:rPr>
                        <a:t>A basket of 50,000 scattered positions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 ms + ≈ 45 ms ids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33172">
                <a:tc>
                  <a:txBody>
                    <a:bodyPr wrap="square"/>
                    <a:lstStyle/>
                    <a:p>
                      <a:r>
                        <a:rPr sz="1100" b="0" i="0">
                          <a:solidFill>
                            <a:srgbClr val="1A1A1A"/>
                          </a:solidFill>
                        </a:rPr>
                        <a:t>First load of a date (after the lake read)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0.8–1.2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33172">
                <a:tc>
                  <a:txBody>
                    <a:bodyPr wrap="square"/>
                    <a:lstStyle/>
                    <a:p>
                      <a:r>
                        <a:rPr sz="1100" b="0" i="0">
                          <a:solidFill>
                            <a:srgbClr val="1A1A1A"/>
                          </a:solidFill>
                        </a:rPr>
                        <a:t>Loading the demo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572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9,572 trades, the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SIZING · A LARGE BANK: E.G. 2.3M POSITIONS, 15,000 PORTFOLIOS, ≈ 700 LIMIT LETTERS</a:t>
            </a:r>
          </a:p>
        </p:txBody>
      </p:sp>
      <p:sp>
        <p:nvSpPr>
          <p:cNvPr id="3" name="Title 2"/>
          <p:cNvSpPr>
            <a:spLocks noGrp="1"/>
          </p:cNvSpPr>
          <p:nvPr>
            <p:ph type="title" idx="104"/>
          </p:nvPr>
        </p:nvSpPr>
        <p:spPr/>
        <p:txBody>
          <a:bodyPr/>
          <a:lstStyle/>
          <a:p>
            <a:r>
              <a:t>Bank scale, from first principles and the measured figures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17320"/>
          <a:ext cx="6903720" cy="4096512"/>
        </p:xfrm>
        <a:graphic>
          <a:graphicData uri="http://schemas.openxmlformats.org/drawingml/2006/table">
            <a:tbl>
              <a:tblPr firstRow="0" bandRow="0">
                <a:tableStyleId>{5940675A-B579-460E-94D1-54222C63F5DA}</a:tableStyleId>
              </a:tblPr>
              <a:tblGrid>
                <a:gridCol w="2286000"/>
                <a:gridCol w="2194560"/>
                <a:gridCol w="1508760"/>
                <a:gridCol w="914400"/>
              </a:tblGrid>
              <a:tr h="292608">
                <a:tc>
                  <a:txBody>
                    <a:bodyPr wrap="square"/>
                    <a:lstStyle/>
                    <a:p>
                      <a:r>
                        <a:rPr sz="1100" b="1" i="0">
                          <a:solidFill>
                            <a:srgbClr val="FFFFFF"/>
                          </a:solidFill>
                        </a:rPr>
                        <a:t>Per business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Arithmetic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Result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Basis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92608">
                <a:tc>
                  <a:txBody>
                    <a:bodyPr wrap="square"/>
                    <a:lstStyle/>
                    <a:p>
                      <a:r>
                        <a:rPr sz="1100" b="1" i="0">
                          <a:solidFill>
                            <a:srgbClr val="8A1626"/>
                          </a:solidFill>
                        </a:rPr>
                        <a:t>Vectors, float64 (the lake)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2.3M × 509 × 8 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9.37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4A5058"/>
                          </a:solidFill>
                        </a:rPr>
                        <a:t>arithmetic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Vectors, float32 (hot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2.3M × 509 × 4 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4.68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4A5058"/>
                          </a:solidFill>
                        </a:rPr>
                        <a:t>arithmetic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Hot file, USD 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237.7 MB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5.5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Heap, one open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80 MB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1.8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First load, after the lake read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0.8–1.2 s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18–28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Reopen a date from its file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23 ms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0.5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Whole bank from rows, resident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4.68 GB at ≈ 60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80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  … cold, from NVMe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4.68 GB at ≈ 3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1.6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A node, any size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its float64 aggregate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0.5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1" i="0">
                          <a:solidFill>
                            <a:srgbClr val="8A1626"/>
                          </a:solidFill>
                        </a:rPr>
                        <a:t>measured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4 extra currencies, disk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250 MB × 4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23 GB a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  … 5 retained dates; build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23 GB × 5; 4.3 s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115 GB; ≈ 99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USD hot files, 60 dates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5.5 GB × 60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330 GB disk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Lake, a year (Parquet ≈ 0.75×)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9.37 GB × 0.75 × 252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1.8 TB; ≈ 12 TB in 7 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7" name="Rectangle 26"/>
          <p:cNvSpPr/>
          <p:nvPr/>
        </p:nvSpPr>
        <p:spPr>
          <a:xfrm>
            <a:off x="7955280" y="1417320"/>
            <a:ext cx="3456432" cy="260604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074152" y="1463040"/>
            <a:ext cx="3255264" cy="2560320"/>
          </a:xfrm>
          <a:prstGeom prst="rect">
            <a:avLst/>
          </a:prstGeom>
          <a:noFill/>
        </p:spPr>
        <p:txBody>
          <a:bodyPr wrap="square" lIns="0" rIns="0" tIns="0" bIns="0" anchor="t">
            <a:spAutoFit/>
          </a:bodyPr>
          <a:lstStyle/>
          <a:p>
            <a:pPr algn="l">
              <a:spcAft>
                <a:spcPts val="300"/>
              </a:spcAft>
            </a:pPr>
            <a:r>
              <a:rPr sz="1300" b="1" i="0">
                <a:solidFill>
                  <a:srgbClr val="A51C30"/>
                </a:solidFill>
              </a:rPr>
              <a:t>15,000 portfolios</a:t>
            </a:r>
          </a:p>
          <a:p>
            <a:pPr algn="l" marL="146304" indent="-146304">
              <a:spcAft>
                <a:spcPts val="300"/>
              </a:spcAft>
              <a:buClr>
                <a:srgbClr val="A51C30"/>
              </a:buClr>
              <a:buSzPct val="100000"/>
              <a:buFont typeface="Arial"/>
              <a:buChar char="▪"/>
            </a:pPr>
            <a:r>
              <a:rPr sz="1150" b="0" i="0">
                <a:solidFill>
                  <a:srgbClr val="1A1A1A"/>
                </a:solidFill>
              </a:rPr>
              <a:t>A portfolio is the sum of its positions: the cost is all portfolios' positions together × 509 additions.</a:t>
            </a:r>
          </a:p>
          <a:p>
            <a:pPr algn="l" marL="146304" indent="-146304">
              <a:spcAft>
                <a:spcPts val="300"/>
              </a:spcAft>
              <a:buClr>
                <a:srgbClr val="A51C30"/>
              </a:buClr>
              <a:buSzPct val="100000"/>
              <a:buFont typeface="Arial"/>
              <a:buChar char="▪"/>
            </a:pPr>
            <a:r>
              <a:rPr sz="1150" b="0" i="0">
                <a:solidFill>
                  <a:srgbClr val="1A1A1A"/>
                </a:solidFill>
              </a:rPr>
              <a:t>Assumed 130 positions each: 1.95M rows, 3.97 GB of float32 → ≈ 0.07 s at 60 GB/s, ≈ 0.8 s scattered; per currency, estimated.</a:t>
            </a:r>
          </a:p>
          <a:p>
            <a:pPr algn="l" marL="146304" indent="-146304">
              <a:spcAft>
                <a:spcPts val="300"/>
              </a:spcAft>
              <a:buClr>
                <a:srgbClr val="A51C30"/>
              </a:buClr>
              <a:buSzPct val="100000"/>
              <a:buFont typeface="Arial"/>
              <a:buChar char="▪"/>
            </a:pPr>
            <a:r>
              <a:rPr sz="1150" b="0" i="0">
                <a:solidFill>
                  <a:srgbClr val="1A1A1A"/>
                </a:solidFill>
              </a:rPr>
              <a:t>Roll-ups: a HIERARCHY portfolio is a node aggregate; whole books cost one add each; a node minus a few rows is aggregate − rows (built).</a:t>
            </a:r>
          </a:p>
          <a:p>
            <a:pPr algn="l" marL="146304" indent="-146304">
              <a:buClr>
                <a:srgbClr val="A51C30"/>
              </a:buClr>
              <a:buSzPct val="100000"/>
              <a:buFont typeface="Arial"/>
              <a:buChar char="▪"/>
            </a:pPr>
            <a:r>
              <a:rPr sz="1150" b="0" i="0">
                <a:solidFill>
                  <a:srgbClr val="1A1A1A"/>
                </a:solidFill>
              </a:rPr>
              <a:t>Store them: 15k × 509 × 8 B ≈ 61 MB a date a currency; float32 halves it (proposed).</a:t>
            </a:r>
          </a:p>
        </p:txBody>
      </p:sp>
      <p:sp>
        <p:nvSpPr>
          <p:cNvPr id="29" name="Rectangle 28"/>
          <p:cNvSpPr/>
          <p:nvPr/>
        </p:nvSpPr>
        <p:spPr>
          <a:xfrm>
            <a:off x="7955280" y="4160520"/>
            <a:ext cx="3456432" cy="2084831"/>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8074152" y="4224528"/>
            <a:ext cx="3255264" cy="1993392"/>
          </a:xfrm>
          <a:prstGeom prst="rect">
            <a:avLst/>
          </a:prstGeom>
          <a:noFill/>
        </p:spPr>
        <p:txBody>
          <a:bodyPr wrap="square" lIns="0" rIns="0" tIns="0" bIns="0" anchor="t">
            <a:spAutoFit/>
          </a:bodyPr>
          <a:lstStyle/>
          <a:p>
            <a:pPr algn="l">
              <a:spcAft>
                <a:spcPts val="300"/>
              </a:spcAft>
            </a:pPr>
            <a:r>
              <a:rPr sz="1300" b="1" i="0">
                <a:solidFill>
                  <a:srgbClr val="A51C30"/>
                </a:solidFill>
              </a:rPr>
              <a:t>Totals and intraday</a:t>
            </a:r>
          </a:p>
          <a:p>
            <a:pPr algn="l" marL="146304" indent="-146304">
              <a:spcAft>
                <a:spcPts val="300"/>
              </a:spcAft>
              <a:buClr>
                <a:srgbClr val="A51C30"/>
              </a:buClr>
              <a:buSzPct val="100000"/>
              <a:buFont typeface="Arial"/>
              <a:buChar char="▪"/>
            </a:pPr>
            <a:r>
              <a:rPr sz="1150" b="0" i="0">
                <a:solidFill>
                  <a:srgbClr val="1A1A1A"/>
                </a:solidFill>
              </a:rPr>
              <a:t>Currency totals: 510 × 8 B per node per trade currency; (5,000 MGMT and LEGAL + ≈ 700 limit-letter nodes) × 10 ≈ 233 MB (assumed shape).</a:t>
            </a:r>
          </a:p>
          <a:p>
            <a:pPr algn="l" marL="146304" indent="-146304">
              <a:spcAft>
                <a:spcPts val="300"/>
              </a:spcAft>
              <a:buClr>
                <a:srgbClr val="A51C30"/>
              </a:buClr>
              <a:buSzPct val="100000"/>
              <a:buFont typeface="Arial"/>
              <a:buChar char="▪"/>
            </a:pPr>
            <a:r>
              <a:rPr sz="1150" b="0" i="0">
                <a:solidFill>
                  <a:srgbClr val="1A1A1A"/>
                </a:solidFill>
              </a:rPr>
              <a:t>Per changed trade or position: ≈ 11 node vectors (three trees) × 5 currency books ≈ 55 additions of 509: microseconds; the lake append dominates (≈ 1 s a batch).</a:t>
            </a:r>
          </a:p>
          <a:p>
            <a:pPr algn="l" marL="146304" indent="-146304">
              <a:buClr>
                <a:srgbClr val="A51C30"/>
              </a:buClr>
              <a:buSzPct val="100000"/>
              <a:buFont typeface="Arial"/>
              <a:buChar char="▪"/>
            </a:pPr>
            <a:r>
              <a:rPr sz="1150" b="0" i="0">
                <a:solidFill>
                  <a:srgbClr val="1A1A1A"/>
                </a:solidFill>
              </a:rPr>
              <a:t>A headline in any currency: a node's few trade-currency sums, converted: microseconds.</a:t>
            </a:r>
          </a:p>
        </p:txBody>
      </p:sp>
      <p:sp>
        <p:nvSpPr>
          <p:cNvPr id="31" name="TextBox 30"/>
          <p:cNvSpPr txBox="1"/>
          <p:nvPr/>
        </p:nvSpPr>
        <p:spPr>
          <a:xfrm>
            <a:off x="777240" y="5577840"/>
            <a:ext cx="6903720" cy="685800"/>
          </a:xfrm>
          <a:prstGeom prst="rect">
            <a:avLst/>
          </a:prstGeom>
          <a:noFill/>
        </p:spPr>
        <p:txBody>
          <a:bodyPr wrap="square" lIns="0" rIns="0" tIns="0" bIns="0" anchor="ctr">
            <a:spAutoFit/>
          </a:bodyPr>
          <a:lstStyle/>
          <a:p>
            <a:pPr algn="l"/>
            <a:r>
              <a:rPr sz="1100" b="1" i="0">
                <a:solidFill>
                  <a:srgbClr val="1A1A1A"/>
                </a:solidFill>
              </a:rPr>
              <a:t>Position grain (2.9.4) keeps rows = positions: no trade matrix in the hot file. </a:t>
            </a:r>
            <a:r>
              <a:rPr sz="1100" b="0" i="1">
                <a:solidFill>
                  <a:srgbClr val="4A5058"/>
                </a:solidFill>
              </a:rPr>
              <a:t>Estimated = scaled linearly (× 23) from the measured 100,000-trade figures (VAR_GUIDE 27.3, 15.11); not measured at 2.3M.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CAPACITY · 10-DAY AND STRESSED VAR</a:t>
            </a:r>
          </a:p>
        </p:txBody>
      </p:sp>
      <p:sp>
        <p:nvSpPr>
          <p:cNvPr id="3" name="Title 2"/>
          <p:cNvSpPr>
            <a:spLocks noGrp="1"/>
          </p:cNvSpPr>
          <p:nvPr>
            <p:ph type="title" idx="104"/>
          </p:nvPr>
        </p:nvSpPr>
        <p:spPr/>
        <p:txBody>
          <a:bodyPr/>
          <a:lstStyle/>
          <a:p>
            <a:r>
              <a:t>10-day and stressed VaR: the added workload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ounded Rectangle 25"/>
          <p:cNvSpPr/>
          <p:nvPr/>
        </p:nvSpPr>
        <p:spPr>
          <a:xfrm>
            <a:off x="10844784" y="941832"/>
            <a:ext cx="461772" cy="201168"/>
          </a:xfrm>
          <a:prstGeom prst="roundRect">
            <a:avLst>
              <a:gd name="adj" fmla="val 50000"/>
            </a:avLst>
          </a:prstGeom>
          <a:solidFill>
            <a:srgbClr val="293352"/>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2.9.6</a:t>
            </a:r>
          </a:p>
        </p:txBody>
      </p:sp>
      <p:graphicFrame>
        <p:nvGraphicFramePr>
          <p:cNvPr id="27" name="Table 26"/>
          <p:cNvGraphicFramePr>
            <a:graphicFrameLocks noGrp="1"/>
          </p:cNvGraphicFramePr>
          <p:nvPr/>
        </p:nvGraphicFramePr>
        <p:xfrm>
          <a:off x="777240" y="1417320"/>
          <a:ext cx="4937759" cy="1865376"/>
        </p:xfrm>
        <a:graphic>
          <a:graphicData uri="http://schemas.openxmlformats.org/drawingml/2006/table">
            <a:tbl>
              <a:tblPr firstRow="0" bandRow="0">
                <a:tableStyleId>{5940675A-B579-460E-94D1-54222C63F5DA}</a:tableStyleId>
              </a:tblPr>
              <a:tblGrid>
                <a:gridCol w="1874519"/>
                <a:gridCol w="2331720"/>
                <a:gridCol w="731520"/>
              </a:tblGrid>
              <a:tr h="310896">
                <a:tc>
                  <a:txBody>
                    <a:bodyPr wrap="square"/>
                    <a:lstStyle/>
                    <a:p>
                      <a:r>
                        <a:rPr sz="1100" b="1" i="0">
                          <a:solidFill>
                            <a:srgbClr val="FFFFFF"/>
                          </a:solidFill>
                        </a:rPr>
                        <a:t>Measure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Vector a position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 1-day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10896">
                <a:tc>
                  <a:txBody>
                    <a:bodyPr wrap="square"/>
                    <a:lstStyle/>
                    <a:p>
                      <a:r>
                        <a:rPr sz="1100" b="1" i="0">
                          <a:solidFill>
                            <a:srgbClr val="8A1626"/>
                          </a:solidFill>
                        </a:rPr>
                        <a:t>1-day VaR and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509 scenarios (2 years)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10896">
                <a:tc>
                  <a:txBody>
                    <a:bodyPr wrap="square"/>
                    <a:lstStyle/>
                    <a:p>
                      <a:r>
                        <a:rPr sz="1100" b="1" i="0">
                          <a:solidFill>
                            <a:srgbClr val="8A1626"/>
                          </a:solidFill>
                        </a:rPr>
                        <a:t>10-day (b), overlapping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500 (509 − 9), sized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+ 1.00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10896">
                <a:tc>
                  <a:txBody>
                    <a:bodyPr wrap="square"/>
                    <a:lstStyle/>
                    <a:p>
                      <a:r>
                        <a:rPr sz="1100" b="1" i="0">
                          <a:solidFill>
                            <a:srgbClr val="8A1626"/>
                          </a:solidFill>
                        </a:rPr>
                        <a:t>Stressed 1-day VaR,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250 (12 months, e.g. 2008–09)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+ 0.49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10896">
                <a:tc>
                  <a:txBody>
                    <a:bodyPr wrap="square"/>
                    <a:lstStyle/>
                    <a:p>
                      <a:r>
                        <a:rPr sz="1100" b="1" i="0">
                          <a:solidFill>
                            <a:srgbClr val="8A1626"/>
                          </a:solidFill>
                        </a:rPr>
                        <a:t>Stressed 10-day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250 overlapping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+ 0.49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10896">
                <a:tc>
                  <a:txBody>
                    <a:bodyPr wrap="square"/>
                    <a:lstStyle/>
                    <a:p>
                      <a:r>
                        <a:rPr sz="1100" b="1" i="0">
                          <a:solidFill>
                            <a:srgbClr val="8A1626"/>
                          </a:solidFill>
                        </a:rPr>
                        <a:t>Total, sized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1,518 values a position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2.98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graphicFrame>
        <p:nvGraphicFramePr>
          <p:cNvPr id="28" name="Chart 27"/>
          <p:cNvGraphicFramePr>
            <a:graphicFrameLocks noGrp="1"/>
          </p:cNvGraphicFramePr>
          <p:nvPr/>
        </p:nvGraphicFramePr>
        <p:xfrm>
          <a:off x="777240" y="3429000"/>
          <a:ext cx="4937760" cy="1828800"/>
        </p:xfrm>
        <a:graphic>
          <a:graphicData uri="http://schemas.openxmlformats.org/drawingml/2006/chart">
            <c:chart xmlns:c="http://schemas.openxmlformats.org/drawingml/2006/chart" r:id="rId2"/>
          </a:graphicData>
        </a:graphic>
      </p:graphicFrame>
      <p:graphicFrame>
        <p:nvGraphicFramePr>
          <p:cNvPr id="29" name="Table 28"/>
          <p:cNvGraphicFramePr>
            <a:graphicFrameLocks noGrp="1"/>
          </p:cNvGraphicFramePr>
          <p:nvPr/>
        </p:nvGraphicFramePr>
        <p:xfrm>
          <a:off x="5943600" y="1417320"/>
          <a:ext cx="5468112" cy="3017520"/>
        </p:xfrm>
        <a:graphic>
          <a:graphicData uri="http://schemas.openxmlformats.org/drawingml/2006/table">
            <a:tbl>
              <a:tblPr firstRow="0" bandRow="0">
                <a:tableStyleId>{5940675A-B579-460E-94D1-54222C63F5DA}</a:tableStyleId>
              </a:tblPr>
              <a:tblGrid>
                <a:gridCol w="1965960"/>
                <a:gridCol w="1051560"/>
                <a:gridCol w="1051560"/>
                <a:gridCol w="1399032"/>
              </a:tblGrid>
              <a:tr h="274320">
                <a:tc>
                  <a:txBody>
                    <a:bodyPr wrap="square"/>
                    <a:lstStyle/>
                    <a:p>
                      <a:r>
                        <a:rPr sz="1050" b="1" i="0">
                          <a:solidFill>
                            <a:srgbClr val="FFFFFF"/>
                          </a:solidFill>
                        </a:rPr>
                        <a:t>Per date and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1-day only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All four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Label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050" b="1" i="0">
                          <a:solidFill>
                            <a:srgbClr val="8A1626"/>
                          </a:solidFill>
                        </a:rPr>
                        <a:t>Vectors, float64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9.37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27.9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Rows, float32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4.68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14.0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050" b="1" i="0">
                          <a:solidFill>
                            <a:srgbClr val="8A1626"/>
                          </a:solidFill>
                        </a:rPr>
                        <a:t>USD hot file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5.47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16.3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Heap, an open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1.84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2.23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050" b="1" i="0">
                          <a:solidFill>
                            <a:srgbClr val="8A1626"/>
                          </a:solidFill>
                        </a:rPr>
                        <a:t>First open: lake read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18–70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54–209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First open: build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18–28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55–82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050" b="1" i="0">
                          <a:solidFill>
                            <a:srgbClr val="8A1626"/>
                          </a:solidFill>
                        </a:rPr>
                        <a:t>Other currency, asked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5.75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+ 11.4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ASSUMPTION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Local NVMe a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458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1,183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050" b="1" i="0">
                          <a:solidFill>
                            <a:srgbClr val="8A1626"/>
                          </a:solidFill>
                        </a:rPr>
                        <a:t>RAM a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76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151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Lake, 7 years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16.1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48.2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0" name="TextBox 29"/>
          <p:cNvSpPr txBox="1"/>
          <p:nvPr/>
        </p:nvSpPr>
        <p:spPr>
          <a:xfrm>
            <a:off x="5943600" y="4572000"/>
            <a:ext cx="5468112" cy="777240"/>
          </a:xfrm>
          <a:prstGeom prst="rect">
            <a:avLst/>
          </a:prstGeom>
          <a:noFill/>
        </p:spPr>
        <p:txBody>
          <a:bodyPr wrap="square" lIns="0" rIns="0" tIns="0" bIns="0" anchor="t">
            <a:spAutoFit/>
          </a:bodyPr>
          <a:lstStyle/>
          <a:p>
            <a:pPr algn="l">
              <a:spcAft>
                <a:spcPts val="200"/>
              </a:spcAft>
            </a:pPr>
            <a:r>
              <a:rPr sz="1100" b="1" i="0">
                <a:solidFill>
                  <a:srgbClr val="8A1626"/>
                </a:solidFill>
              </a:rPr>
              <a:t>Method (ASSUMPTION): </a:t>
            </a:r>
            <a:r>
              <a:rPr sz="1100" b="0" i="0">
                <a:solidFill>
                  <a:srgbClr val="1A1A1A"/>
                </a:solidFill>
              </a:rPr>
              <a:t>10-day by (b), overlapping returns, the conservative case; (a) √10 × 1-day adds no data, × 1.49 only.</a:t>
            </a:r>
          </a:p>
          <a:p>
            <a:pPr algn="l"/>
            <a:r>
              <a:rPr sz="1100" b="1" i="0">
                <a:solidFill>
                  <a:srgbClr val="8A1626"/>
                </a:solidFill>
              </a:rPr>
              <a:t>Currencies (ASSUMPTION): </a:t>
            </a:r>
            <a:r>
              <a:rPr sz="1100" b="0" i="0">
                <a:solidFill>
                  <a:srgbClr val="1A1A1A"/>
                </a:solidFill>
              </a:rPr>
              <a:t>USD builds all four sets with the date; the others build 1-day ahead and the rest on first ask.</a:t>
            </a:r>
          </a:p>
        </p:txBody>
      </p:sp>
      <p:sp>
        <p:nvSpPr>
          <p:cNvPr id="31" name="Rectangle 30"/>
          <p:cNvSpPr/>
          <p:nvPr/>
        </p:nvSpPr>
        <p:spPr>
          <a:xfrm>
            <a:off x="777240" y="5440680"/>
            <a:ext cx="10634472" cy="7772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Rectangle 31"/>
          <p:cNvSpPr/>
          <p:nvPr/>
        </p:nvSpPr>
        <p:spPr>
          <a:xfrm>
            <a:off x="777240" y="5440680"/>
            <a:ext cx="54864"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1005840" y="5440680"/>
            <a:ext cx="10314432" cy="777240"/>
          </a:xfrm>
          <a:prstGeom prst="rect">
            <a:avLst/>
          </a:prstGeom>
          <a:noFill/>
        </p:spPr>
        <p:txBody>
          <a:bodyPr wrap="square" lIns="0" rIns="0" tIns="0" bIns="0" anchor="ctr">
            <a:spAutoFit/>
          </a:bodyPr>
          <a:lstStyle/>
          <a:p>
            <a:pPr algn="l"/>
            <a:r>
              <a:rPr sz="1250" b="1" i="0">
                <a:solidFill>
                  <a:srgbClr val="A51C30"/>
                </a:solidFill>
              </a:rPr>
              <a:t>About 3× the 1-day footprint per date.  </a:t>
            </a:r>
            <a:r>
              <a:rPr sz="1150" b="0" i="0">
                <a:solidFill>
                  <a:srgbClr val="1A1A1A"/>
                </a:solidFill>
              </a:rPr>
              <a:t>With (a) √10 instead: × 1.49, vectors 18.5 TB over 7 years. Sums per measure are unchanged: a node 0.5 ms, the whole bank ≈ 80 ms for a 509-wide set, ≈ 40 ms for a stressed one (estimated).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CAPACITY · 39% HEADROOM</a:t>
            </a:r>
          </a:p>
        </p:txBody>
      </p:sp>
      <p:sp>
        <p:nvSpPr>
          <p:cNvPr id="3" name="Title 2"/>
          <p:cNvSpPr>
            <a:spLocks noGrp="1"/>
          </p:cNvSpPr>
          <p:nvPr>
            <p:ph type="title" idx="104"/>
          </p:nvPr>
        </p:nvSpPr>
        <p:spPr/>
        <p:txBody>
          <a:bodyPr/>
          <a:lstStyle/>
          <a:p>
            <a:r>
              <a:t>Capacity: processes and memory, 1-day, 10-day and stressed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71600"/>
            <a:ext cx="6675120" cy="274320"/>
          </a:xfrm>
          <a:prstGeom prst="rect">
            <a:avLst/>
          </a:prstGeom>
          <a:noFill/>
        </p:spPr>
        <p:txBody>
          <a:bodyPr wrap="square" lIns="0" rIns="0" tIns="0" bIns="0" anchor="ctr">
            <a:spAutoFit/>
          </a:bodyPr>
          <a:lstStyle/>
          <a:p>
            <a:pPr algn="l"/>
            <a:r>
              <a:rPr sz="1250" b="1" i="0">
                <a:solidFill>
                  <a:srgbClr val="A51C30"/>
                </a:solidFill>
              </a:rPr>
              <a:t>Processes, recommended  </a:t>
            </a:r>
            <a:r>
              <a:rPr sz="1100" b="0" i="0">
                <a:solidFill>
                  <a:srgbClr val="4A5058"/>
                </a:solidFill>
              </a:rPr>
              <a:t>one server holds each date's whole VaR</a:t>
            </a:r>
          </a:p>
        </p:txBody>
      </p:sp>
      <p:graphicFrame>
        <p:nvGraphicFramePr>
          <p:cNvPr id="27" name="Table 26"/>
          <p:cNvGraphicFramePr>
            <a:graphicFrameLocks noGrp="1"/>
          </p:cNvGraphicFramePr>
          <p:nvPr/>
        </p:nvGraphicFramePr>
        <p:xfrm>
          <a:off x="777240" y="1691640"/>
          <a:ext cx="6675120" cy="2194560"/>
        </p:xfrm>
        <a:graphic>
          <a:graphicData uri="http://schemas.openxmlformats.org/drawingml/2006/table">
            <a:tbl>
              <a:tblPr firstRow="0" bandRow="0">
                <a:tableStyleId>{5940675A-B579-460E-94D1-54222C63F5DA}</a:tableStyleId>
              </a:tblPr>
              <a:tblGrid>
                <a:gridCol w="1600200"/>
                <a:gridCol w="411480"/>
                <a:gridCol w="3794760"/>
                <a:gridCol w="868680"/>
              </a:tblGrid>
              <a:tr h="365760">
                <a:tc>
                  <a:txBody>
                    <a:bodyPr wrap="square"/>
                    <a:lstStyle/>
                    <a:p>
                      <a:r>
                        <a:rPr sz="1050" b="1" i="0">
                          <a:solidFill>
                            <a:srgbClr val="FFFFFF"/>
                          </a:solidFill>
                        </a:rPr>
                        <a:t>Role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No.</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Holds and does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Status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65760">
                <a:tc>
                  <a:txBody>
                    <a:bodyPr wrap="square"/>
                    <a:lstStyle/>
                    <a:p>
                      <a:r>
                        <a:rPr sz="1050" b="1" i="0">
                          <a:solidFill>
                            <a:srgbClr val="8A1626"/>
                          </a:solidFill>
                        </a:rPr>
                        <a:t>Official EOD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captures every node of every tree and measure; publishes (DRISHTI_VAR_OFFICIAL here only)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050" b="1" i="0">
                          <a:solidFill>
                            <a:srgbClr val="8A1626"/>
                          </a:solidFill>
                        </a:rPr>
                        <a:t>Intraday writer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Kafka PV topic, one lake batch a 5-minute window, and files (DRISHTI_VAR_PV_STREAM here only)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050" b="1" i="0">
                          <a:solidFill>
                            <a:srgbClr val="8A1626"/>
                          </a:solidFill>
                        </a:rPr>
                        <a:t>UI/API VaR replicas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each maps today and yesterday whole, applies intraday; Drishti*net failover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050" b="1" i="0">
                          <a:solidFill>
                            <a:srgbClr val="8A1626"/>
                          </a:solidFill>
                        </a:rPr>
                        <a:t>Console hosts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4 workers each; load balancer, sticky sessions; one session secret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050" b="1" i="0">
                          <a:solidFill>
                            <a:srgbClr val="8A1626"/>
                          </a:solidFill>
                        </a:rPr>
                        <a:t>Cluster, sharding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servers as one; a date's VaR split; consoles without stickiness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8" name="Rounded Rectangle 27"/>
          <p:cNvSpPr/>
          <p:nvPr/>
        </p:nvSpPr>
        <p:spPr>
          <a:xfrm>
            <a:off x="6611112" y="2139696"/>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00" b="1" i="0">
                <a:solidFill>
                  <a:srgbClr val="FFFFFF"/>
                </a:solidFill>
              </a:rPr>
              <a:t>BUILT</a:t>
            </a:r>
          </a:p>
        </p:txBody>
      </p:sp>
      <p:sp>
        <p:nvSpPr>
          <p:cNvPr id="29" name="Rounded Rectangle 28"/>
          <p:cNvSpPr/>
          <p:nvPr/>
        </p:nvSpPr>
        <p:spPr>
          <a:xfrm>
            <a:off x="6611112" y="2505456"/>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00" b="1" i="0">
                <a:solidFill>
                  <a:srgbClr val="FFFFFF"/>
                </a:solidFill>
              </a:rPr>
              <a:t>BUILT</a:t>
            </a:r>
          </a:p>
        </p:txBody>
      </p:sp>
      <p:sp>
        <p:nvSpPr>
          <p:cNvPr id="30" name="Rounded Rectangle 29"/>
          <p:cNvSpPr/>
          <p:nvPr/>
        </p:nvSpPr>
        <p:spPr>
          <a:xfrm>
            <a:off x="6611112" y="2871216"/>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00" b="1" i="0">
                <a:solidFill>
                  <a:srgbClr val="FFFFFF"/>
                </a:solidFill>
              </a:rPr>
              <a:t>BUILT</a:t>
            </a:r>
          </a:p>
        </p:txBody>
      </p:sp>
      <p:sp>
        <p:nvSpPr>
          <p:cNvPr id="31" name="Rounded Rectangle 30"/>
          <p:cNvSpPr/>
          <p:nvPr/>
        </p:nvSpPr>
        <p:spPr>
          <a:xfrm>
            <a:off x="6611112" y="3236976"/>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00" b="1" i="0">
                <a:solidFill>
                  <a:srgbClr val="FFFFFF"/>
                </a:solidFill>
              </a:rPr>
              <a:t>BUILT</a:t>
            </a:r>
          </a:p>
        </p:txBody>
      </p:sp>
      <p:sp>
        <p:nvSpPr>
          <p:cNvPr id="32" name="Rounded Rectangle 31"/>
          <p:cNvSpPr/>
          <p:nvPr/>
        </p:nvSpPr>
        <p:spPr>
          <a:xfrm>
            <a:off x="6537959" y="3602736"/>
            <a:ext cx="667512" cy="201168"/>
          </a:xfrm>
          <a:prstGeom prst="roundRect">
            <a:avLst>
              <a:gd name="adj" fmla="val 50000"/>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00" b="1" i="0">
                <a:solidFill>
                  <a:srgbClr val="A51C30"/>
                </a:solidFill>
              </a:rPr>
              <a:t>DESIGNED</a:t>
            </a:r>
          </a:p>
        </p:txBody>
      </p:sp>
      <p:graphicFrame>
        <p:nvGraphicFramePr>
          <p:cNvPr id="33" name="Table 32"/>
          <p:cNvGraphicFramePr>
            <a:graphicFrameLocks noGrp="1"/>
          </p:cNvGraphicFramePr>
          <p:nvPr/>
        </p:nvGraphicFramePr>
        <p:xfrm>
          <a:off x="777240" y="3950208"/>
          <a:ext cx="6675120" cy="1536192"/>
        </p:xfrm>
        <a:graphic>
          <a:graphicData uri="http://schemas.openxmlformats.org/drawingml/2006/table">
            <a:tbl>
              <a:tblPr firstRow="0" bandRow="0">
                <a:tableStyleId>{5940675A-B579-460E-94D1-54222C63F5DA}</a:tableStyleId>
              </a:tblPr>
              <a:tblGrid>
                <a:gridCol w="2286000"/>
                <a:gridCol w="1371600"/>
                <a:gridCol w="1508760"/>
                <a:gridCol w="1508760"/>
              </a:tblGrid>
              <a:tr h="256032">
                <a:tc>
                  <a:txBody>
                    <a:bodyPr wrap="square"/>
                    <a:lstStyle/>
                    <a:p>
                      <a:r>
                        <a:rPr sz="1050" b="1" i="0">
                          <a:solidFill>
                            <a:srgbClr val="FFFFFF"/>
                          </a:solidFill>
                        </a:rPr>
                        <a:t>Per VaR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Need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Provisioned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Large (2×)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56032">
                <a:tc>
                  <a:txBody>
                    <a:bodyPr wrap="square"/>
                    <a:lstStyle/>
                    <a:p>
                      <a:r>
                        <a:rPr sz="1050" b="1" i="0">
                          <a:solidFill>
                            <a:srgbClr val="8A1626"/>
                          </a:solidFill>
                        </a:rPr>
                        <a:t>vCPU</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64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96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56032">
                <a:tc>
                  <a:txBody>
                    <a:bodyPr wrap="square"/>
                    <a:lstStyle/>
                    <a:p>
                      <a:r>
                        <a:rPr sz="1050" b="1" i="0">
                          <a:solidFill>
                            <a:srgbClr val="8A1626"/>
                          </a:solidFill>
                        </a:rPr>
                        <a:t>-Xmx</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21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36g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60g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56032">
                <a:tc>
                  <a:txBody>
                    <a:bodyPr wrap="square"/>
                    <a:lstStyle/>
                    <a:p>
                      <a:r>
                        <a:rPr sz="1050" b="1" i="0">
                          <a:solidFill>
                            <a:srgbClr val="8A1626"/>
                          </a:solidFill>
                        </a:rPr>
                        <a:t>Memory budget,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14,300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23,000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46,000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56032">
                <a:tc>
                  <a:txBody>
                    <a:bodyPr wrap="square"/>
                    <a:lstStyle/>
                    <a:p>
                      <a:r>
                        <a:rPr sz="1050" b="1" i="0">
                          <a:solidFill>
                            <a:srgbClr val="8A1626"/>
                          </a:solidFill>
                        </a:rPr>
                        <a:t>RAM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151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256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512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56032">
                <a:tc>
                  <a:txBody>
                    <a:bodyPr wrap="square"/>
                    <a:lstStyle/>
                    <a:p>
                      <a:r>
                        <a:rPr sz="1050" b="1" i="0">
                          <a:solidFill>
                            <a:srgbClr val="8A1626"/>
                          </a:solidFill>
                        </a:rPr>
                        <a:t>Local NVMe (tier.dir)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1.18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3.8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5.7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graphicFrame>
        <p:nvGraphicFramePr>
          <p:cNvPr id="34" name="Chart 33"/>
          <p:cNvGraphicFramePr>
            <a:graphicFrameLocks noGrp="1"/>
          </p:cNvGraphicFramePr>
          <p:nvPr/>
        </p:nvGraphicFramePr>
        <p:xfrm>
          <a:off x="7680960" y="1417320"/>
          <a:ext cx="3730752" cy="2514600"/>
        </p:xfrm>
        <a:graphic>
          <a:graphicData uri="http://schemas.openxmlformats.org/drawingml/2006/chart">
            <c:chart xmlns:c="http://schemas.openxmlformats.org/drawingml/2006/chart" r:id="rId2"/>
          </a:graphicData>
        </a:graphic>
      </p:graphicFrame>
      <p:sp>
        <p:nvSpPr>
          <p:cNvPr id="35" name="Rectangle 34"/>
          <p:cNvSpPr/>
          <p:nvPr/>
        </p:nvSpPr>
        <p:spPr>
          <a:xfrm>
            <a:off x="7680960" y="4023360"/>
            <a:ext cx="3730752" cy="13258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Rectangle 35"/>
          <p:cNvSpPr/>
          <p:nvPr/>
        </p:nvSpPr>
        <p:spPr>
          <a:xfrm>
            <a:off x="7680960" y="4023360"/>
            <a:ext cx="45720"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7845552" y="4096512"/>
            <a:ext cx="3474720" cy="1216152"/>
          </a:xfrm>
          <a:prstGeom prst="rect">
            <a:avLst/>
          </a:prstGeom>
          <a:noFill/>
        </p:spPr>
        <p:txBody>
          <a:bodyPr wrap="square" lIns="0" rIns="0" tIns="0" bIns="0" anchor="t">
            <a:spAutoFit/>
          </a:bodyPr>
          <a:lstStyle/>
          <a:p>
            <a:pPr algn="l">
              <a:spcAft>
                <a:spcPts val="400"/>
              </a:spcAft>
            </a:pPr>
            <a:r>
              <a:rPr sz="1300" b="1" i="0">
                <a:solidFill>
                  <a:srgbClr val="8A1626"/>
                </a:solidFill>
              </a:rPr>
              <a:t>CPU: 32 vCPU needed → 64</a:t>
            </a:r>
          </a:p>
          <a:p>
            <a:pPr algn="l" marL="146304" indent="-146304">
              <a:spcAft>
                <a:spcPts val="300"/>
              </a:spcAft>
              <a:buClr>
                <a:srgbClr val="A51C30"/>
              </a:buClr>
              <a:buSzPct val="100000"/>
              <a:buFont typeface="Arial"/>
              <a:buChar char="▪"/>
            </a:pPr>
            <a:r>
              <a:rPr sz="1050" b="0" i="0">
                <a:solidFill>
                  <a:srgbClr val="1A1A1A"/>
                </a:solidFill>
              </a:rPr>
              <a:t>Sums are bandwidth-bound: 24 threads gave ≈ 60 GB/s (MEASURED); all four sets of the bank ≈ 233 ms</a:t>
            </a:r>
          </a:p>
          <a:p>
            <a:pPr algn="l" marL="146304" indent="-146304">
              <a:spcAft>
                <a:spcPts val="300"/>
              </a:spcAft>
              <a:buClr>
                <a:srgbClr val="A51C30"/>
              </a:buClr>
              <a:buSzPct val="100000"/>
              <a:buFont typeface="Arial"/>
              <a:buChar char="▪"/>
            </a:pPr>
            <a:r>
              <a:rPr sz="1050" b="0" i="0">
                <a:solidFill>
                  <a:srgbClr val="1A1A1A"/>
                </a:solidFill>
              </a:rPr>
              <a:t>+ 8 vCPU for a load, currency builds, intraday, requests; 32 ÷ 0.61 = 52 → 64</a:t>
            </a:r>
          </a:p>
        </p:txBody>
      </p:sp>
      <p:sp>
        <p:nvSpPr>
          <p:cNvPr id="38" name="Rectangle 37"/>
          <p:cNvSpPr/>
          <p:nvPr/>
        </p:nvSpPr>
        <p:spPr>
          <a:xfrm>
            <a:off x="777240" y="5577840"/>
            <a:ext cx="10634472" cy="68580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Rectangle 38"/>
          <p:cNvSpPr/>
          <p:nvPr/>
        </p:nvSpPr>
        <p:spPr>
          <a:xfrm>
            <a:off x="777240" y="5577840"/>
            <a:ext cx="54864" cy="6858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1005840" y="5577840"/>
            <a:ext cx="10314432" cy="685800"/>
          </a:xfrm>
          <a:prstGeom prst="rect">
            <a:avLst/>
          </a:prstGeom>
          <a:noFill/>
        </p:spPr>
        <p:txBody>
          <a:bodyPr wrap="square" lIns="0" rIns="0" tIns="0" bIns="0" anchor="ctr">
            <a:spAutoFit/>
          </a:bodyPr>
          <a:lstStyle/>
          <a:p>
            <a:pPr algn="l">
              <a:spcAft>
                <a:spcPts val="200"/>
              </a:spcAft>
            </a:pPr>
            <a:r>
              <a:rPr sz="1200" b="1" i="0">
                <a:solidFill>
                  <a:srgbClr val="A51C30"/>
                </a:solidFill>
              </a:rPr>
              <a:t>39% headroom: </a:t>
            </a:r>
            <a:r>
              <a:rPr sz="1150" b="0" i="0">
                <a:solidFill>
                  <a:srgbClr val="1A1A1A"/>
                </a:solidFill>
              </a:rPr>
              <a:t>the projected peak uses at most 61% of what is provisioned: need ÷ 0.61 (× 1.64). Set DRISHTI_VAR_MEMORY_MB: the default ¼ of the heap (9 GB at 36g) refuses a 14 GB date.</a:t>
            </a:r>
          </a:p>
          <a:p>
            <a:pPr algn="l"/>
            <a:r>
              <a:rPr sz="1200" b="1" i="0">
                <a:solidFill>
                  <a:srgbClr val="A51C30"/>
                </a:solidFill>
              </a:rPr>
              <a:t>Consoles: </a:t>
            </a:r>
            <a:r>
              <a:rPr sz="1150" b="0" i="0">
                <a:solidFill>
                  <a:srgbClr val="1A1A1A"/>
                </a:solidFill>
              </a:rPr>
              <a:t>2 hosts × 4 workers; 40 pages/s a worker (MEASURED); 50 users at once (ASSUMPTION): peak 25 pages/s ÷ 0.61 = 41 against one host's 160.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CAPACITY · 7 YEARS = 1,764 BUSINESS DATES</a:t>
            </a:r>
          </a:p>
        </p:txBody>
      </p:sp>
      <p:sp>
        <p:nvSpPr>
          <p:cNvPr id="3" name="Title 2"/>
          <p:cNvSpPr>
            <a:spLocks noGrp="1"/>
          </p:cNvSpPr>
          <p:nvPr>
            <p:ph type="title" idx="104"/>
          </p:nvPr>
        </p:nvSpPr>
        <p:spPr/>
        <p:txBody>
          <a:bodyPr/>
          <a:lstStyle/>
          <a:p>
            <a:r>
              <a:t>Capacity: storage over 7 years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17320"/>
          <a:ext cx="7315200" cy="3922776"/>
        </p:xfrm>
        <a:graphic>
          <a:graphicData uri="http://schemas.openxmlformats.org/drawingml/2006/table">
            <a:tbl>
              <a:tblPr firstRow="0" bandRow="0">
                <a:tableStyleId>{5940675A-B579-460E-94D1-54222C63F5DA}</a:tableStyleId>
              </a:tblPr>
              <a:tblGrid>
                <a:gridCol w="1920240"/>
                <a:gridCol w="2743200"/>
                <a:gridCol w="822960"/>
                <a:gridCol w="822960"/>
                <a:gridCol w="1005840"/>
              </a:tblGrid>
              <a:tr h="301752">
                <a:tc>
                  <a:txBody>
                    <a:bodyPr wrap="square"/>
                    <a:lstStyle/>
                    <a:p>
                      <a:r>
                        <a:rPr sz="1050" b="1" i="0">
                          <a:solidFill>
                            <a:srgbClr val="FFFFFF"/>
                          </a:solidFill>
                        </a:rPr>
                        <a:t>Item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Arithmetic (all four sets)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1-day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All four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Label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01752">
                <a:tc>
                  <a:txBody>
                    <a:bodyPr wrap="square"/>
                    <a:lstStyle/>
                    <a:p>
                      <a:r>
                        <a:rPr sz="1050" b="1" i="0">
                          <a:solidFill>
                            <a:srgbClr val="8A1626"/>
                          </a:solidFill>
                        </a:rPr>
                        <a:t>P&amp;L vectors, float64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27.9 GB × 0.75 × 1,764 dates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12.4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37.0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050" b="1" i="0">
                          <a:solidFill>
                            <a:srgbClr val="8A1626"/>
                          </a:solidFill>
                        </a:rPr>
                        <a:t>Row columns (terms)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2.3M × ≈ 100 B × 1,764 × 4 sets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0.4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1.6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ASSUMPTION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050" b="1" i="0">
                          <a:solidFill>
                            <a:srgbClr val="8A1626"/>
                          </a:solidFill>
                        </a:rPr>
                        <a:t>Scenario PVs as well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the vectors again, if both kept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+ 12.4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+ 37.0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ASSUMPTION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050" b="1" i="0">
                          <a:solidFill>
                            <a:srgbClr val="8A1626"/>
                          </a:solidFill>
                        </a:rPr>
                        <a:t>Trades, if held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1.5 KB × 2.3M × 1,764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6.1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6.1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050" b="1" i="0">
                          <a:solidFill>
                            <a:srgbClr val="8A1626"/>
                          </a:solidFill>
                        </a:rPr>
                        <a:t>Positions (membership)</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41 B × 2.3M × 1,764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0.17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0.17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050" b="1" i="0">
                          <a:solidFill>
                            <a:srgbClr val="8A1626"/>
                          </a:solidFill>
                        </a:rPr>
                        <a:t>Official results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 29 KB × 5,700 nodes × 1,764 × 2.98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0.29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0.88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050" b="1" i="0">
                          <a:solidFill>
                            <a:srgbClr val="8A1626"/>
                          </a:solidFill>
                        </a:rPr>
                        <a:t>Intraday batches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230k × 9.1 KB × 1,764 × 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2.5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7.4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ASSUMPTION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050" b="1" i="0">
                          <a:solidFill>
                            <a:srgbClr val="8A1626"/>
                          </a:solidFill>
                        </a:rPr>
                        <a:t>Restatements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 of dates × 20.9 GB × 1,764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0.25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0.74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ASSUMPTION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050" b="1" i="0">
                          <a:solidFill>
                            <a:srgbClr val="8A1626"/>
                          </a:solidFill>
                        </a:rPr>
                        <a:t>Delta log, checkpoints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daily 0.14 × 2.98 (often: 4.9)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0.14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0.42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050" b="1" i="0">
                          <a:solidFill>
                            <a:srgbClr val="8A1626"/>
                          </a:solidFill>
                        </a:rPr>
                        <a:t>Need, base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37.0 + 1.6 + 7.4 + 0.9 + 0.2 + 0.7 + 0.4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16.1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48.2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050" b="1" i="0">
                          <a:solidFill>
                            <a:srgbClr val="8A1626"/>
                          </a:solidFill>
                        </a:rPr>
                        <a:t>Provisioned (÷ 0.61)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39% headroom; DR doubles 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26.4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79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050" b="1" i="0">
                          <a:solidFill>
                            <a:srgbClr val="8A1626"/>
                          </a:solidFill>
                        </a:rPr>
                        <a:t>Need, upper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 PVs, trades, frequent checkpoints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36.1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95.7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graphicFrame>
        <p:nvGraphicFramePr>
          <p:cNvPr id="27" name="Chart 26"/>
          <p:cNvGraphicFramePr>
            <a:graphicFrameLocks noGrp="1"/>
          </p:cNvGraphicFramePr>
          <p:nvPr/>
        </p:nvGraphicFramePr>
        <p:xfrm>
          <a:off x="8321040" y="1417320"/>
          <a:ext cx="3090672" cy="2331720"/>
        </p:xfrm>
        <a:graphic>
          <a:graphicData uri="http://schemas.openxmlformats.org/drawingml/2006/chart">
            <c:chart xmlns:c="http://schemas.openxmlformats.org/drawingml/2006/chart" r:id="rId2"/>
          </a:graphicData>
        </a:graphic>
      </p:graphicFrame>
      <p:sp>
        <p:nvSpPr>
          <p:cNvPr id="28" name="Rectangle 27"/>
          <p:cNvSpPr/>
          <p:nvPr/>
        </p:nvSpPr>
        <p:spPr>
          <a:xfrm>
            <a:off x="8321040" y="3858768"/>
            <a:ext cx="3090672"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Rectangle 28"/>
          <p:cNvSpPr/>
          <p:nvPr/>
        </p:nvSpPr>
        <p:spPr>
          <a:xfrm>
            <a:off x="8321040" y="3858768"/>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8485632" y="3931920"/>
            <a:ext cx="2834640" cy="987552"/>
          </a:xfrm>
          <a:prstGeom prst="rect">
            <a:avLst/>
          </a:prstGeom>
          <a:noFill/>
        </p:spPr>
        <p:txBody>
          <a:bodyPr wrap="square" lIns="0" rIns="0" tIns="0" bIns="0" anchor="t">
            <a:spAutoFit/>
          </a:bodyPr>
          <a:lstStyle/>
          <a:p>
            <a:pPr algn="l">
              <a:spcAft>
                <a:spcPts val="400"/>
              </a:spcAft>
            </a:pPr>
            <a:r>
              <a:rPr sz="1300" b="1" i="0">
                <a:solidFill>
                  <a:srgbClr val="8A1626"/>
                </a:solidFill>
              </a:rPr>
              <a:t>Local NVMe, per server</a:t>
            </a:r>
          </a:p>
          <a:p>
            <a:pPr algn="l" marL="146304" indent="-146304">
              <a:spcAft>
                <a:spcPts val="300"/>
              </a:spcAft>
              <a:buClr>
                <a:srgbClr val="A51C30"/>
              </a:buClr>
              <a:buSzPct val="100000"/>
              <a:buFont typeface="Arial"/>
              <a:buChar char="▪"/>
            </a:pPr>
            <a:r>
              <a:rPr sz="1050" b="0" i="0">
                <a:solidFill>
                  <a:srgbClr val="1A1A1A"/>
                </a:solidFill>
              </a:rPr>
              <a:t>USD 16.3 GB × 60 dates 978 + currencies 161 + a load 44 = 1,183 GB ÷ 0.61 → 3.8 TB; rebuilt from the lake, never on EFS</a:t>
            </a:r>
          </a:p>
        </p:txBody>
      </p:sp>
      <p:sp>
        <p:nvSpPr>
          <p:cNvPr id="31" name="Rectangle 30"/>
          <p:cNvSpPr/>
          <p:nvPr/>
        </p:nvSpPr>
        <p:spPr>
          <a:xfrm>
            <a:off x="8321040" y="5047488"/>
            <a:ext cx="3090672" cy="1188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Rectangle 31"/>
          <p:cNvSpPr/>
          <p:nvPr/>
        </p:nvSpPr>
        <p:spPr>
          <a:xfrm>
            <a:off x="8321040" y="5047488"/>
            <a:ext cx="45720"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8485632" y="5120640"/>
            <a:ext cx="2834640" cy="1078992"/>
          </a:xfrm>
          <a:prstGeom prst="rect">
            <a:avLst/>
          </a:prstGeom>
          <a:noFill/>
        </p:spPr>
        <p:txBody>
          <a:bodyPr wrap="square" lIns="0" rIns="0" tIns="0" bIns="0" anchor="t">
            <a:spAutoFit/>
          </a:bodyPr>
          <a:lstStyle/>
          <a:p>
            <a:pPr algn="l">
              <a:spcAft>
                <a:spcPts val="400"/>
              </a:spcAft>
            </a:pPr>
            <a:r>
              <a:rPr sz="1300" b="1" i="0">
                <a:solidFill>
                  <a:srgbClr val="8A1626"/>
                </a:solidFill>
              </a:rPr>
              <a:t>The 250-day window</a:t>
            </a:r>
          </a:p>
          <a:p>
            <a:pPr algn="l" marL="146304" indent="-146304">
              <a:spcAft>
                <a:spcPts val="300"/>
              </a:spcAft>
              <a:buClr>
                <a:srgbClr val="A51C30"/>
              </a:buClr>
              <a:buSzPct val="100000"/>
              <a:buFont typeface="Arial"/>
              <a:buChar char="▪"/>
            </a:pPr>
            <a:r>
              <a:rPr sz="1050" b="0" i="0">
                <a:solidFill>
                  <a:srgbClr val="1A1A1A"/>
                </a:solidFill>
              </a:rPr>
              <a:t>1-day and 10-day cut to 250: 1,518 → 1,000 values (× 0.66); float32 14.0 → 9.2 GB; NVMe ≈ 780 GB</a:t>
            </a:r>
          </a:p>
          <a:p>
            <a:pPr algn="l" marL="146304" indent="-146304">
              <a:spcAft>
                <a:spcPts val="300"/>
              </a:spcAft>
              <a:buClr>
                <a:srgbClr val="A51C30"/>
              </a:buClr>
              <a:buSzPct val="100000"/>
              <a:buFont typeface="Arial"/>
              <a:buChar char="▪"/>
            </a:pPr>
            <a:r>
              <a:rPr sz="1050" b="0" i="0">
                <a:solidFill>
                  <a:srgbClr val="1A1A1A"/>
                </a:solidFill>
              </a:rPr>
              <a:t>The lake shrinks (37.0 → 24.3 TB) only if the bank sends 250-day sets</a:t>
            </a:r>
          </a:p>
        </p:txBody>
      </p:sp>
      <p:sp>
        <p:nvSpPr>
          <p:cNvPr id="34" name="TextBox 33"/>
          <p:cNvSpPr txBox="1"/>
          <p:nvPr/>
        </p:nvSpPr>
        <p:spPr>
          <a:xfrm>
            <a:off x="777240" y="5486400"/>
            <a:ext cx="7315200" cy="731520"/>
          </a:xfrm>
          <a:prstGeom prst="rect">
            <a:avLst/>
          </a:prstGeom>
          <a:noFill/>
        </p:spPr>
        <p:txBody>
          <a:bodyPr wrap="square" lIns="0" rIns="0" tIns="0" bIns="0" anchor="ctr">
            <a:spAutoFit/>
          </a:bodyPr>
          <a:lstStyle/>
          <a:p>
            <a:pPr algn="l"/>
            <a:r>
              <a:rPr sz="1100" b="0" i="1">
                <a:solidFill>
                  <a:srgbClr val="4A5058"/>
                </a:solidFill>
              </a:rPr>
              <a:t>With a DR copy: 158 TB provisioned (base), 314 TB (upper). Delta or Iceberg, not both. 7 × 252 = 1,764 dates; Parquet ≈ 0.75 × raw; × 2.98 = all four sets.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CAPACITY · TO HAND TO INFRASTRUCTURE</a:t>
            </a:r>
          </a:p>
        </p:txBody>
      </p:sp>
      <p:sp>
        <p:nvSpPr>
          <p:cNvPr id="3" name="Title 2"/>
          <p:cNvSpPr>
            <a:spLocks noGrp="1"/>
          </p:cNvSpPr>
          <p:nvPr>
            <p:ph type="title" idx="104"/>
          </p:nvPr>
        </p:nvSpPr>
        <p:spPr/>
        <p:txBody>
          <a:bodyPr/>
          <a:lstStyle/>
          <a:p>
            <a:r>
              <a:t>Hardware plan with 39% headroom</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71600"/>
            <a:ext cx="7498079" cy="274320"/>
          </a:xfrm>
          <a:prstGeom prst="rect">
            <a:avLst/>
          </a:prstGeom>
          <a:noFill/>
        </p:spPr>
        <p:txBody>
          <a:bodyPr wrap="square" lIns="0" rIns="0" tIns="0" bIns="0" anchor="ctr">
            <a:spAutoFit/>
          </a:bodyPr>
          <a:lstStyle/>
          <a:p>
            <a:pPr algn="l"/>
            <a:r>
              <a:rPr sz="1200" b="1" i="0">
                <a:solidFill>
                  <a:srgbClr val="A51C30"/>
                </a:solidFill>
              </a:rPr>
              <a:t>1-day, 10-day and stressed VaR at 2.3M positions  </a:t>
            </a:r>
            <a:r>
              <a:rPr sz="1100" b="0" i="0">
                <a:solidFill>
                  <a:srgbClr val="4A5058"/>
                </a:solidFill>
              </a:rPr>
              <a:t>provisioned = need ÷ 0.61</a:t>
            </a:r>
          </a:p>
        </p:txBody>
      </p:sp>
      <p:graphicFrame>
        <p:nvGraphicFramePr>
          <p:cNvPr id="27" name="Table 26"/>
          <p:cNvGraphicFramePr>
            <a:graphicFrameLocks noGrp="1"/>
          </p:cNvGraphicFramePr>
          <p:nvPr/>
        </p:nvGraphicFramePr>
        <p:xfrm>
          <a:off x="777240" y="1691640"/>
          <a:ext cx="7498080" cy="3447288"/>
        </p:xfrm>
        <a:graphic>
          <a:graphicData uri="http://schemas.openxmlformats.org/drawingml/2006/table">
            <a:tbl>
              <a:tblPr firstRow="0" bandRow="0">
                <a:tableStyleId>{5940675A-B579-460E-94D1-54222C63F5DA}</a:tableStyleId>
              </a:tblPr>
              <a:tblGrid>
                <a:gridCol w="2331720"/>
                <a:gridCol w="457200"/>
                <a:gridCol w="1508760"/>
                <a:gridCol w="1783080"/>
                <a:gridCol w="1417320"/>
              </a:tblGrid>
              <a:tr h="265176">
                <a:tc>
                  <a:txBody>
                    <a:bodyPr wrap="square"/>
                    <a:lstStyle/>
                    <a:p>
                      <a:r>
                        <a:rPr sz="1000" b="1" i="0">
                          <a:solidFill>
                            <a:srgbClr val="FFFFFF"/>
                          </a:solidFill>
                        </a:rPr>
                        <a:t>Item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00" b="1" i="0">
                          <a:solidFill>
                            <a:srgbClr val="FFFFFF"/>
                          </a:solidFill>
                        </a:rPr>
                        <a:t>No.</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00" b="1" i="0">
                          <a:solidFill>
                            <a:srgbClr val="FFFFFF"/>
                          </a:solidFill>
                        </a:rPr>
                        <a:t>Need, each</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00" b="1" i="0">
                          <a:solidFill>
                            <a:srgbClr val="FFFFFF"/>
                          </a:solidFill>
                        </a:rPr>
                        <a:t>Provisioned, each</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00" b="1" i="0">
                          <a:solidFill>
                            <a:srgbClr val="FFFFFF"/>
                          </a:solidFill>
                        </a:rPr>
                        <a:t>Large (2×)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65176">
                <a:tc>
                  <a:txBody>
                    <a:bodyPr wrap="square"/>
                    <a:lstStyle/>
                    <a:p>
                      <a:r>
                        <a:rPr sz="1000" b="1" i="0">
                          <a:solidFill>
                            <a:srgbClr val="8A1626"/>
                          </a:solidFill>
                        </a:rPr>
                        <a:t>VaR servers (EOD, intraday, 2 UI)</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one machine type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identical, any role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5 (+ history)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000" b="1" i="0">
                          <a:solidFill>
                            <a:srgbClr val="8A1626"/>
                          </a:solidFill>
                        </a:rPr>
                        <a:t>vCPU</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32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64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96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000" b="1" i="0">
                          <a:solidFill>
                            <a:srgbClr val="8A1626"/>
                          </a:solidFill>
                        </a:rPr>
                        <a:t>RAM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151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256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512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000" b="1" i="0">
                          <a:solidFill>
                            <a:srgbClr val="8A1626"/>
                          </a:solidFill>
                        </a:rPr>
                        <a:t>Heap (-Xmx)</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21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36g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60g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000" b="1" i="0">
                          <a:solidFill>
                            <a:srgbClr val="8A1626"/>
                          </a:solidFill>
                        </a:rPr>
                        <a:t>VaR memory budget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14,300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23,000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46,000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000" b="1" i="0">
                          <a:solidFill>
                            <a:srgbClr val="8A1626"/>
                          </a:solidFill>
                        </a:rPr>
                        <a:t>Local NVMe (tier.dir)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1.18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2 × 1.9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4 × 1.425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000" b="1" i="0">
                          <a:solidFill>
                            <a:srgbClr val="8A1626"/>
                          </a:solidFill>
                        </a:rPr>
                        <a:t>Console hosts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25 pages/s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4 vCPU, 8 GB, 4 workers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the same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000" b="1" i="0">
                          <a:solidFill>
                            <a:srgbClr val="8A1626"/>
                          </a:solidFill>
                        </a:rPr>
                        <a:t>Lake, 7 years (object store)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48.2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79 TB; 158 with DR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158; 316 with DR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000" b="1" i="0">
                          <a:solidFill>
                            <a:srgbClr val="8A1626"/>
                          </a:solidFill>
                        </a:rPr>
                        <a:t>Shared state (EFS or NFS)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0.3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0.5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0.5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000" b="1" i="0">
                          <a:solidFill>
                            <a:srgbClr val="8A1626"/>
                          </a:solidFill>
                        </a:rPr>
                        <a:t>Network, a date's first open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20.9 GB, ≤ 0.4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 10 Gbit/s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25 Gbit/s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000" b="1" i="0">
                          <a:solidFill>
                            <a:srgbClr val="8A1626"/>
                          </a:solidFill>
                        </a:rPr>
                        <a:t>Intraday traffic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17.5 MB a window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&lt; 1 MB/s a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&lt; 2 MB/s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000" b="1" i="0">
                          <a:solidFill>
                            <a:srgbClr val="8A1626"/>
                          </a:solidFill>
                        </a:rPr>
                        <a:t>Kafka PV topic, 7 days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5.5 GB a day; 39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64 GB a replica</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128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28" name="Rectangle 27"/>
          <p:cNvSpPr/>
          <p:nvPr/>
        </p:nvSpPr>
        <p:spPr>
          <a:xfrm>
            <a:off x="8503919" y="1417320"/>
            <a:ext cx="2907792" cy="18288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Rectangle 28"/>
          <p:cNvSpPr/>
          <p:nvPr/>
        </p:nvSpPr>
        <p:spPr>
          <a:xfrm>
            <a:off x="8503919" y="1417320"/>
            <a:ext cx="45720" cy="18288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8668511" y="1490472"/>
            <a:ext cx="2651760" cy="1719072"/>
          </a:xfrm>
          <a:prstGeom prst="rect">
            <a:avLst/>
          </a:prstGeom>
          <a:noFill/>
        </p:spPr>
        <p:txBody>
          <a:bodyPr wrap="square" lIns="0" rIns="0" tIns="0" bIns="0" anchor="t">
            <a:spAutoFit/>
          </a:bodyPr>
          <a:lstStyle/>
          <a:p>
            <a:pPr algn="l">
              <a:spcAft>
                <a:spcPts val="400"/>
              </a:spcAft>
            </a:pPr>
            <a:r>
              <a:rPr sz="1300" b="1" i="0">
                <a:solidFill>
                  <a:srgbClr val="8A1626"/>
                </a:solidFill>
              </a:rPr>
              <a:t>Does one server hold a date?</a:t>
            </a:r>
          </a:p>
          <a:p>
            <a:pPr algn="l">
              <a:spcAft>
                <a:spcPts val="400"/>
              </a:spcAft>
            </a:pPr>
            <a:r>
              <a:rPr sz="1100" b="0" i="0">
                <a:solidFill>
                  <a:srgbClr val="1A1A1A"/>
                </a:solidFill>
              </a:rPr>
              <a:t>Yes. All four sets need 151 GB: one 256 GB server per role, 512 GB at 2×.</a:t>
            </a:r>
          </a:p>
          <a:p>
            <a:pPr algn="l"/>
            <a:r>
              <a:rPr sz="1100" b="0" i="0">
                <a:solidFill>
                  <a:srgbClr val="1A1A1A"/>
                </a:solidFill>
              </a:rPr>
              <a:t>Sharding (DESIGNED) is needed beyond ≈ 5M positions (a date takes 4–10 min to open) or ≈ 10M (over 1 TB of RAM).</a:t>
            </a:r>
          </a:p>
        </p:txBody>
      </p:sp>
      <p:sp>
        <p:nvSpPr>
          <p:cNvPr id="31" name="Rectangle 30"/>
          <p:cNvSpPr/>
          <p:nvPr/>
        </p:nvSpPr>
        <p:spPr>
          <a:xfrm>
            <a:off x="8503919" y="3337560"/>
            <a:ext cx="2907792" cy="1828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Rectangle 31"/>
          <p:cNvSpPr/>
          <p:nvPr/>
        </p:nvSpPr>
        <p:spPr>
          <a:xfrm>
            <a:off x="8503919" y="3337560"/>
            <a:ext cx="45720" cy="18288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8668511" y="3410712"/>
            <a:ext cx="2651760" cy="1719072"/>
          </a:xfrm>
          <a:prstGeom prst="rect">
            <a:avLst/>
          </a:prstGeom>
          <a:noFill/>
        </p:spPr>
        <p:txBody>
          <a:bodyPr wrap="square" lIns="0" rIns="0" tIns="0" bIns="0" anchor="t">
            <a:spAutoFit/>
          </a:bodyPr>
          <a:lstStyle/>
          <a:p>
            <a:pPr algn="l">
              <a:spcAft>
                <a:spcPts val="400"/>
              </a:spcAft>
            </a:pPr>
            <a:r>
              <a:rPr sz="1300" b="1" i="0">
                <a:solidFill>
                  <a:srgbClr val="8A1626"/>
                </a:solidFill>
              </a:rPr>
              <a:t>Assumptions to confirm</a:t>
            </a:r>
          </a:p>
          <a:p>
            <a:pPr algn="l" marL="146304" indent="-146304">
              <a:spcAft>
                <a:spcPts val="100"/>
              </a:spcAft>
              <a:buClr>
                <a:srgbClr val="A51C30"/>
              </a:buClr>
              <a:buSzPct val="100000"/>
              <a:buFont typeface="Arial"/>
              <a:buChar char="▪"/>
            </a:pPr>
            <a:r>
              <a:rPr sz="1050" b="0" i="0">
                <a:solidFill>
                  <a:srgbClr val="1A1A1A"/>
                </a:solidFill>
              </a:rPr>
              <a:t>50 of 200 users at once; peaks 5×</a:t>
            </a:r>
          </a:p>
          <a:p>
            <a:pPr algn="l" marL="146304" indent="-146304">
              <a:spcAft>
                <a:spcPts val="100"/>
              </a:spcAft>
              <a:buClr>
                <a:srgbClr val="A51C30"/>
              </a:buClr>
              <a:buSzPct val="100000"/>
              <a:buFont typeface="Arial"/>
              <a:buChar char="▪"/>
            </a:pPr>
            <a:r>
              <a:rPr sz="1050" b="0" i="0">
                <a:solidFill>
                  <a:srgbClr val="1A1A1A"/>
                </a:solidFill>
              </a:rPr>
              <a:t>10-day by overlapping returns; stressed 1- and 10-day</a:t>
            </a:r>
          </a:p>
          <a:p>
            <a:pPr algn="l" marL="146304" indent="-146304">
              <a:spcAft>
                <a:spcPts val="100"/>
              </a:spcAft>
              <a:buClr>
                <a:srgbClr val="A51C30"/>
              </a:buClr>
              <a:buSzPct val="100000"/>
              <a:buFont typeface="Arial"/>
              <a:buChar char="▪"/>
            </a:pPr>
            <a:r>
              <a:rPr sz="1050" b="0" i="0">
                <a:solidFill>
                  <a:srgbClr val="1A1A1A"/>
                </a:solidFill>
              </a:rPr>
              <a:t>Intraday 230k rows a day, 120 windows</a:t>
            </a:r>
          </a:p>
          <a:p>
            <a:pPr algn="l" marL="146304" indent="-146304">
              <a:spcAft>
                <a:spcPts val="100"/>
              </a:spcAft>
              <a:buClr>
                <a:srgbClr val="A51C30"/>
              </a:buClr>
              <a:buSzPct val="100000"/>
              <a:buFont typeface="Arial"/>
              <a:buChar char="▪"/>
            </a:pPr>
            <a:r>
              <a:rPr sz="1050" b="0" i="0">
                <a:solidFill>
                  <a:srgbClr val="1A1A1A"/>
                </a:solidFill>
              </a:rPr>
              <a:t>5,700 nodes; 2% restated; a DR copy</a:t>
            </a:r>
          </a:p>
          <a:p>
            <a:pPr algn="l" marL="146304" indent="-146304">
              <a:spcAft>
                <a:spcPts val="100"/>
              </a:spcAft>
              <a:buClr>
                <a:srgbClr val="A51C30"/>
              </a:buClr>
              <a:buSzPct val="100000"/>
              <a:buFont typeface="Arial"/>
              <a:buChar char="▪"/>
            </a:pPr>
            <a:r>
              <a:rPr sz="1050" b="0" i="0">
                <a:solidFill>
                  <a:srgbClr val="1A1A1A"/>
                </a:solidFill>
              </a:rPr>
              <a:t>Kafka 24 KB a record, kept 7 days</a:t>
            </a:r>
          </a:p>
        </p:txBody>
      </p:sp>
      <p:sp>
        <p:nvSpPr>
          <p:cNvPr id="34" name="Rounded Rectangle 33"/>
          <p:cNvSpPr/>
          <p:nvPr/>
        </p:nvSpPr>
        <p:spPr>
          <a:xfrm>
            <a:off x="10451592" y="3401568"/>
            <a:ext cx="804672" cy="201168"/>
          </a:xfrm>
          <a:prstGeom prst="roundRect">
            <a:avLst>
              <a:gd name="adj" fmla="val 50000"/>
            </a:avLst>
          </a:prstGeom>
          <a:solidFill>
            <a:srgbClr val="F3EBD9"/>
          </a:solidFill>
          <a:ln w="12700">
            <a:solidFill>
              <a:srgbClr val="C9A55A"/>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00" b="1" i="0">
                <a:solidFill>
                  <a:srgbClr val="7A5A12"/>
                </a:solidFill>
              </a:rPr>
              <a:t>ASSUMPTION</a:t>
            </a:r>
          </a:p>
        </p:txBody>
      </p:sp>
      <p:sp>
        <p:nvSpPr>
          <p:cNvPr id="35" name="Rectangle 34"/>
          <p:cNvSpPr/>
          <p:nvPr/>
        </p:nvSpPr>
        <p:spPr>
          <a:xfrm>
            <a:off x="777240" y="5532120"/>
            <a:ext cx="10634472" cy="71323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Rectangle 35"/>
          <p:cNvSpPr/>
          <p:nvPr/>
        </p:nvSpPr>
        <p:spPr>
          <a:xfrm>
            <a:off x="777240" y="5532120"/>
            <a:ext cx="54864" cy="7132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1005840" y="5532120"/>
            <a:ext cx="10314432" cy="713232"/>
          </a:xfrm>
          <a:prstGeom prst="rect">
            <a:avLst/>
          </a:prstGeom>
          <a:noFill/>
        </p:spPr>
        <p:txBody>
          <a:bodyPr wrap="square" lIns="0" rIns="0" tIns="0" bIns="0" anchor="ctr">
            <a:spAutoFit/>
          </a:bodyPr>
          <a:lstStyle/>
          <a:p>
            <a:pPr algn="l">
              <a:spcAft>
                <a:spcPts val="200"/>
              </a:spcAft>
            </a:pPr>
            <a:r>
              <a:rPr sz="1150" b="1" i="0">
                <a:solidFill>
                  <a:srgbClr val="A51C30"/>
                </a:solidFill>
              </a:rPr>
              <a:t>AWS example: </a:t>
            </a:r>
            <a:r>
              <a:rPr sz="1150" b="0" i="0">
                <a:solidFill>
                  <a:srgbClr val="1A1A1A"/>
                </a:solidFill>
              </a:rPr>
              <a:t>m6id.16xlarge (64 vCPU, 256 GiB, 2 × 1.9 TB NVMe, 25 Gbit/s); large r6id.24xlarge; Fargate consoles; S3.</a:t>
            </a:r>
          </a:p>
          <a:p>
            <a:pPr algn="l"/>
            <a:r>
              <a:rPr sz="1150" b="1" i="0">
                <a:solidFill>
                  <a:srgbClr val="A51C30"/>
                </a:solidFill>
              </a:rPr>
              <a:t>On premises: </a:t>
            </a:r>
            <a:r>
              <a:rPr sz="1150" b="0" i="0">
                <a:solidFill>
                  <a:srgbClr val="1A1A1A"/>
                </a:solidFill>
              </a:rPr>
              <a:t>2 × 16 cores (64 threads), 256 GB on every memory channel, 2 × 1.92 TB NVMe, 25 GbE; an S3-compatible object store.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05</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Storage: Delta Lake or Iceberg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DELTA LAKE AND SCALE-OUT</a:t>
            </a:r>
          </a:p>
        </p:txBody>
      </p:sp>
      <p:sp>
        <p:nvSpPr>
          <p:cNvPr id="3" name="Title 2"/>
          <p:cNvSpPr>
            <a:spLocks noGrp="1"/>
          </p:cNvSpPr>
          <p:nvPr>
            <p:ph type="title" idx="104"/>
          </p:nvPr>
        </p:nvSpPr>
        <p:spPr/>
        <p:txBody>
          <a:bodyPr/>
          <a:lstStyle/>
          <a:p>
            <a:r>
              <a:t>Delta for history and reproducibility, Drishti*net for scale-out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68680" y="1417320"/>
            <a:ext cx="4800600" cy="342900"/>
          </a:xfrm>
          <a:prstGeom prst="rect">
            <a:avLst/>
          </a:prstGeom>
          <a:noFill/>
        </p:spPr>
        <p:txBody>
          <a:bodyPr wrap="square" lIns="0" rIns="0" tIns="0" bIns="0" anchor="ctr">
            <a:spAutoFit/>
          </a:bodyPr>
          <a:lstStyle/>
          <a:p>
            <a:pPr algn="l"/>
            <a:r>
              <a:rPr sz="1150" b="1" i="0">
                <a:solidFill>
                  <a:srgbClr val="8A1626"/>
                </a:solidFill>
              </a:rPr>
              <a:t>Partition by business_date; 7 years of time travel</a:t>
            </a:r>
          </a:p>
          <a:p>
            <a:pPr algn="l"/>
            <a:r>
              <a:rPr sz="1050" b="0" i="0">
                <a:solidFill>
                  <a:srgbClr val="4A5058"/>
                </a:solidFill>
              </a:rPr>
              <a:t>full run replaces a date; restatement = new commit</a:t>
            </a:r>
          </a:p>
        </p:txBody>
      </p:sp>
      <p:sp>
        <p:nvSpPr>
          <p:cNvPr id="28" name="Rounded Rectangle 27"/>
          <p:cNvSpPr/>
          <p:nvPr/>
        </p:nvSpPr>
        <p:spPr>
          <a:xfrm>
            <a:off x="6213348" y="1488186"/>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29" name="Rectangle 28"/>
          <p:cNvSpPr/>
          <p:nvPr/>
        </p:nvSpPr>
        <p:spPr>
          <a:xfrm>
            <a:off x="777240" y="1787652"/>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868680" y="1787652"/>
            <a:ext cx="4800600" cy="342900"/>
          </a:xfrm>
          <a:prstGeom prst="rect">
            <a:avLst/>
          </a:prstGeom>
          <a:noFill/>
        </p:spPr>
        <p:txBody>
          <a:bodyPr wrap="square" lIns="0" rIns="0" tIns="0" bIns="0" anchor="ctr">
            <a:spAutoFit/>
          </a:bodyPr>
          <a:lstStyle/>
          <a:p>
            <a:pPr algn="l"/>
            <a:r>
              <a:rPr sz="1150" b="1" i="0">
                <a:solidFill>
                  <a:srgbClr val="8A1626"/>
                </a:solidFill>
              </a:rPr>
              <a:t>Vector column list&lt;double&gt;, float64</a:t>
            </a:r>
          </a:p>
          <a:p>
            <a:pPr algn="l"/>
            <a:r>
              <a:rPr sz="1050" b="0" i="0">
                <a:solidFill>
                  <a:srgbClr val="4A5058"/>
                </a:solidFill>
              </a:rPr>
              <a:t>standard Parquet; a sum reads one column</a:t>
            </a:r>
          </a:p>
        </p:txBody>
      </p:sp>
      <p:sp>
        <p:nvSpPr>
          <p:cNvPr id="31" name="Rounded Rectangle 30"/>
          <p:cNvSpPr/>
          <p:nvPr/>
        </p:nvSpPr>
        <p:spPr>
          <a:xfrm>
            <a:off x="6213348" y="1858518"/>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2" name="Rectangle 31"/>
          <p:cNvSpPr/>
          <p:nvPr/>
        </p:nvSpPr>
        <p:spPr>
          <a:xfrm>
            <a:off x="777240" y="2157984"/>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868680" y="2157984"/>
            <a:ext cx="4800600" cy="342900"/>
          </a:xfrm>
          <a:prstGeom prst="rect">
            <a:avLst/>
          </a:prstGeom>
          <a:noFill/>
        </p:spPr>
        <p:txBody>
          <a:bodyPr wrap="square" lIns="0" rIns="0" tIns="0" bIns="0" anchor="ctr">
            <a:spAutoFit/>
          </a:bodyPr>
          <a:lstStyle/>
          <a:p>
            <a:pPr algn="l"/>
            <a:r>
              <a:rPr sz="1150" b="1" i="0">
                <a:solidFill>
                  <a:srgbClr val="8A1626"/>
                </a:solidFill>
              </a:rPr>
              <a:t>Compaction + checkpoints (lake maintain)</a:t>
            </a:r>
          </a:p>
          <a:p>
            <a:pPr algn="l"/>
            <a:r>
              <a:rPr sz="1050" b="0" i="0">
                <a:solidFill>
                  <a:srgbClr val="4A5058"/>
                </a:solidFill>
              </a:rPr>
              <a:t>many small intraday commits stay fast</a:t>
            </a:r>
          </a:p>
        </p:txBody>
      </p:sp>
      <p:sp>
        <p:nvSpPr>
          <p:cNvPr id="34" name="Rounded Rectangle 33"/>
          <p:cNvSpPr/>
          <p:nvPr/>
        </p:nvSpPr>
        <p:spPr>
          <a:xfrm>
            <a:off x="6213348" y="2228850"/>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5" name="Rectangle 34"/>
          <p:cNvSpPr/>
          <p:nvPr/>
        </p:nvSpPr>
        <p:spPr>
          <a:xfrm>
            <a:off x="777240" y="2528316"/>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868680" y="2528316"/>
            <a:ext cx="4800600" cy="342900"/>
          </a:xfrm>
          <a:prstGeom prst="rect">
            <a:avLst/>
          </a:prstGeom>
          <a:noFill/>
        </p:spPr>
        <p:txBody>
          <a:bodyPr wrap="square" lIns="0" rIns="0" tIns="0" bIns="0" anchor="ctr">
            <a:spAutoFit/>
          </a:bodyPr>
          <a:lstStyle/>
          <a:p>
            <a:pPr algn="l"/>
            <a:r>
              <a:rPr sz="1150" b="1" i="0">
                <a:solidFill>
                  <a:srgbClr val="8A1626"/>
                </a:solidFill>
              </a:rPr>
              <a:t>Sort by LE, desk, book; ZSTD + byte-stream split</a:t>
            </a:r>
          </a:p>
          <a:p>
            <a:pPr algn="l"/>
            <a:r>
              <a:rPr sz="1050" b="0" i="0">
                <a:solidFill>
                  <a:srgbClr val="4A5058"/>
                </a:solidFill>
              </a:rPr>
              <a:t>a node is a contiguous run of rows</a:t>
            </a:r>
          </a:p>
        </p:txBody>
      </p:sp>
      <p:sp>
        <p:nvSpPr>
          <p:cNvPr id="37" name="Rounded Rectangle 36"/>
          <p:cNvSpPr/>
          <p:nvPr/>
        </p:nvSpPr>
        <p:spPr>
          <a:xfrm>
            <a:off x="6007608" y="2599182"/>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38" name="Rectangle 37"/>
          <p:cNvSpPr/>
          <p:nvPr/>
        </p:nvSpPr>
        <p:spPr>
          <a:xfrm>
            <a:off x="777240" y="2898648"/>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868680" y="2898648"/>
            <a:ext cx="4800600" cy="342900"/>
          </a:xfrm>
          <a:prstGeom prst="rect">
            <a:avLst/>
          </a:prstGeom>
          <a:noFill/>
        </p:spPr>
        <p:txBody>
          <a:bodyPr wrap="square" lIns="0" rIns="0" tIns="0" bIns="0" anchor="ctr">
            <a:spAutoFit/>
          </a:bodyPr>
          <a:lstStyle/>
          <a:p>
            <a:pPr algn="l"/>
            <a:r>
              <a:rPr sz="1150" b="1" i="0">
                <a:solidFill>
                  <a:srgbClr val="8A1626"/>
                </a:solidFill>
              </a:rPr>
              <a:t>Z-order or liquid clustering by book and portfolio</a:t>
            </a:r>
          </a:p>
          <a:p>
            <a:pPr algn="l"/>
            <a:r>
              <a:rPr sz="1050" b="0" i="0">
                <a:solidFill>
                  <a:srgbClr val="4A5058"/>
                </a:solidFill>
              </a:rPr>
              <a:t>skip files for a desk's or portfolio's read</a:t>
            </a:r>
          </a:p>
        </p:txBody>
      </p:sp>
      <p:sp>
        <p:nvSpPr>
          <p:cNvPr id="40" name="Rounded Rectangle 39"/>
          <p:cNvSpPr/>
          <p:nvPr/>
        </p:nvSpPr>
        <p:spPr>
          <a:xfrm>
            <a:off x="6007608" y="2969514"/>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41" name="Rectangle 40"/>
          <p:cNvSpPr/>
          <p:nvPr/>
        </p:nvSpPr>
        <p:spPr>
          <a:xfrm>
            <a:off x="777240" y="3268980"/>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868680" y="3268980"/>
            <a:ext cx="4800600" cy="342900"/>
          </a:xfrm>
          <a:prstGeom prst="rect">
            <a:avLst/>
          </a:prstGeom>
          <a:noFill/>
        </p:spPr>
        <p:txBody>
          <a:bodyPr wrap="square" lIns="0" rIns="0" tIns="0" bIns="0" anchor="ctr">
            <a:spAutoFit/>
          </a:bodyPr>
          <a:lstStyle/>
          <a:p>
            <a:pPr algn="l"/>
            <a:r>
              <a:rPr sz="1150" b="1" i="0">
                <a:solidFill>
                  <a:srgbClr val="8A1626"/>
                </a:solidFill>
              </a:rPr>
              <a:t>Published node and portfolio vector table</a:t>
            </a:r>
          </a:p>
          <a:p>
            <a:pPr algn="l"/>
            <a:r>
              <a:rPr sz="1050" b="0" i="0">
                <a:solidFill>
                  <a:srgbClr val="4A5058"/>
                </a:solidFill>
              </a:rPr>
              <a:t>BI and peers read sums, not 2.3M rows</a:t>
            </a:r>
          </a:p>
        </p:txBody>
      </p:sp>
      <p:sp>
        <p:nvSpPr>
          <p:cNvPr id="43" name="Rounded Rectangle 42"/>
          <p:cNvSpPr/>
          <p:nvPr/>
        </p:nvSpPr>
        <p:spPr>
          <a:xfrm>
            <a:off x="6007608" y="3339846"/>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44" name="Rectangle 43"/>
          <p:cNvSpPr/>
          <p:nvPr/>
        </p:nvSpPr>
        <p:spPr>
          <a:xfrm>
            <a:off x="777240" y="3639312"/>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868680" y="3639312"/>
            <a:ext cx="4800600" cy="342900"/>
          </a:xfrm>
          <a:prstGeom prst="rect">
            <a:avLst/>
          </a:prstGeom>
          <a:noFill/>
        </p:spPr>
        <p:txBody>
          <a:bodyPr wrap="square" lIns="0" rIns="0" tIns="0" bIns="0" anchor="ctr">
            <a:spAutoFit/>
          </a:bodyPr>
          <a:lstStyle/>
          <a:p>
            <a:pPr algn="l"/>
            <a:r>
              <a:rPr sz="1150" b="1" i="0">
                <a:solidFill>
                  <a:srgbClr val="8A1626"/>
                </a:solidFill>
              </a:rPr>
              <a:t>Change data feed on the input tables</a:t>
            </a:r>
          </a:p>
          <a:p>
            <a:pPr algn="l"/>
            <a:r>
              <a:rPr sz="1050" b="0" i="0">
                <a:solidFill>
                  <a:srgbClr val="4A5058"/>
                </a:solidFill>
              </a:rPr>
              <a:t>follow intraday deltas downstream</a:t>
            </a:r>
          </a:p>
        </p:txBody>
      </p:sp>
      <p:sp>
        <p:nvSpPr>
          <p:cNvPr id="46" name="Rounded Rectangle 45"/>
          <p:cNvSpPr/>
          <p:nvPr/>
        </p:nvSpPr>
        <p:spPr>
          <a:xfrm>
            <a:off x="6007608" y="3710178"/>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47" name="Rectangle 46"/>
          <p:cNvSpPr/>
          <p:nvPr/>
        </p:nvSpPr>
        <p:spPr>
          <a:xfrm>
            <a:off x="777240" y="4009644"/>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868680" y="4009644"/>
            <a:ext cx="4800600" cy="342900"/>
          </a:xfrm>
          <a:prstGeom prst="rect">
            <a:avLst/>
          </a:prstGeom>
          <a:noFill/>
        </p:spPr>
        <p:txBody>
          <a:bodyPr wrap="square" lIns="0" rIns="0" tIns="0" bIns="0" anchor="ctr">
            <a:spAutoFit/>
          </a:bodyPr>
          <a:lstStyle/>
          <a:p>
            <a:pPr algn="l"/>
            <a:r>
              <a:rPr sz="1150" b="1" i="0">
                <a:solidFill>
                  <a:srgbClr val="8A1626"/>
                </a:solidFill>
              </a:rPr>
              <a:t>Delta inputs on S3 (reading)</a:t>
            </a:r>
          </a:p>
          <a:p>
            <a:pPr algn="l"/>
            <a:r>
              <a:rPr sz="1050" b="0" i="0">
                <a:solidFill>
                  <a:srgbClr val="4A5058"/>
                </a:solidFill>
              </a:rPr>
              <a:t>the Delta plugin reads s3:// tables</a:t>
            </a:r>
          </a:p>
        </p:txBody>
      </p:sp>
      <p:sp>
        <p:nvSpPr>
          <p:cNvPr id="49" name="Rounded Rectangle 48"/>
          <p:cNvSpPr/>
          <p:nvPr/>
        </p:nvSpPr>
        <p:spPr>
          <a:xfrm>
            <a:off x="6213348" y="4080509"/>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0" name="Rectangle 49"/>
          <p:cNvSpPr/>
          <p:nvPr/>
        </p:nvSpPr>
        <p:spPr>
          <a:xfrm>
            <a:off x="777240" y="4379976"/>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868680" y="4379976"/>
            <a:ext cx="4800600" cy="342900"/>
          </a:xfrm>
          <a:prstGeom prst="rect">
            <a:avLst/>
          </a:prstGeom>
          <a:noFill/>
        </p:spPr>
        <p:txBody>
          <a:bodyPr wrap="square" lIns="0" rIns="0" tIns="0" bIns="0" anchor="ctr">
            <a:spAutoFit/>
          </a:bodyPr>
          <a:lstStyle/>
          <a:p>
            <a:pPr algn="l"/>
            <a:r>
              <a:rPr sz="1150" b="1" i="0">
                <a:solidFill>
                  <a:srgbClr val="8A1626"/>
                </a:solidFill>
              </a:rPr>
              <a:t>Iceberg for VaR, intraday and exposure (2.9.5)</a:t>
            </a:r>
          </a:p>
          <a:p>
            <a:pPr algn="l"/>
            <a:r>
              <a:rPr sz="1050" b="0" i="0">
                <a:solidFill>
                  <a:srgbClr val="4A5058"/>
                </a:solidFill>
              </a:rPr>
              <a:t>equal to Delta to the cent; Delta the default</a:t>
            </a:r>
          </a:p>
        </p:txBody>
      </p:sp>
      <p:sp>
        <p:nvSpPr>
          <p:cNvPr id="52" name="Rounded Rectangle 51"/>
          <p:cNvSpPr/>
          <p:nvPr/>
        </p:nvSpPr>
        <p:spPr>
          <a:xfrm>
            <a:off x="6213348" y="4450842"/>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3" name="Rectangle 52"/>
          <p:cNvSpPr/>
          <p:nvPr/>
        </p:nvSpPr>
        <p:spPr>
          <a:xfrm>
            <a:off x="777240" y="4750308"/>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xtBox 53"/>
          <p:cNvSpPr txBox="1"/>
          <p:nvPr/>
        </p:nvSpPr>
        <p:spPr>
          <a:xfrm>
            <a:off x="868680" y="4750308"/>
            <a:ext cx="4800600" cy="342900"/>
          </a:xfrm>
          <a:prstGeom prst="rect">
            <a:avLst/>
          </a:prstGeom>
          <a:noFill/>
        </p:spPr>
        <p:txBody>
          <a:bodyPr wrap="square" lIns="0" rIns="0" tIns="0" bIns="0" anchor="ctr">
            <a:spAutoFit/>
          </a:bodyPr>
          <a:lstStyle/>
          <a:p>
            <a:pPr algn="l"/>
            <a:r>
              <a:rPr sz="1150" b="1" i="0">
                <a:solidFill>
                  <a:srgbClr val="8A1626"/>
                </a:solidFill>
              </a:rPr>
              <a:t>Official results to Delta or Iceberg, folder or S3 (2.9.5)</a:t>
            </a:r>
          </a:p>
          <a:p>
            <a:pPr algn="l"/>
            <a:r>
              <a:rPr sz="1050" b="0" i="0">
                <a:solidFill>
                  <a:srgbClr val="4A5058"/>
                </a:solidFill>
              </a:rPr>
              <a:t>append-only; BI's readers follow the format</a:t>
            </a:r>
          </a:p>
        </p:txBody>
      </p:sp>
      <p:sp>
        <p:nvSpPr>
          <p:cNvPr id="55" name="Rounded Rectangle 54"/>
          <p:cNvSpPr/>
          <p:nvPr/>
        </p:nvSpPr>
        <p:spPr>
          <a:xfrm>
            <a:off x="6213348" y="4821174"/>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6" name="Rectangle 55"/>
          <p:cNvSpPr/>
          <p:nvPr/>
        </p:nvSpPr>
        <p:spPr>
          <a:xfrm>
            <a:off x="8403336" y="1417320"/>
            <a:ext cx="1645920" cy="310896"/>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00" b="1" i="0">
                <a:solidFill>
                  <a:srgbClr val="4A5058"/>
                </a:solidFill>
              </a:rPr>
              <a:t>Load balancer</a:t>
            </a:r>
          </a:p>
        </p:txBody>
      </p:sp>
      <p:cxnSp>
        <p:nvCxnSpPr>
          <p:cNvPr id="57" name="Connector 56"/>
          <p:cNvCxnSpPr/>
          <p:nvPr/>
        </p:nvCxnSpPr>
        <p:spPr>
          <a:xfrm>
            <a:off x="9226296" y="1728216"/>
            <a:ext cx="0" cy="1371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7040879" y="1865376"/>
            <a:ext cx="4370832" cy="640080"/>
          </a:xfrm>
          <a:prstGeom prst="rect">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7132319" y="1883664"/>
            <a:ext cx="3456432" cy="603504"/>
          </a:xfrm>
          <a:prstGeom prst="rect">
            <a:avLst/>
          </a:prstGeom>
          <a:noFill/>
        </p:spPr>
        <p:txBody>
          <a:bodyPr wrap="square" lIns="0" rIns="0" tIns="0" bIns="0" anchor="ctr">
            <a:spAutoFit/>
          </a:bodyPr>
          <a:lstStyle/>
          <a:p>
            <a:pPr algn="l"/>
            <a:r>
              <a:rPr sz="1200" b="1" i="0">
                <a:solidFill>
                  <a:srgbClr val="8A1626"/>
                </a:solidFill>
              </a:rPr>
              <a:t>Consoles × N</a:t>
            </a:r>
          </a:p>
          <a:p>
            <a:pPr algn="l"/>
            <a:r>
              <a:rPr sz="1000" b="0" i="0">
                <a:solidFill>
                  <a:srgbClr val="4A5058"/>
                </a:solidFill>
              </a:rPr>
              <a:t>worker processes relay a tab's channel; sticky sessions across consoles; one DRISHTI_SESSION_SECRET; servers discovered</a:t>
            </a:r>
          </a:p>
        </p:txBody>
      </p:sp>
      <p:sp>
        <p:nvSpPr>
          <p:cNvPr id="60" name="Rounded Rectangle 59"/>
          <p:cNvSpPr/>
          <p:nvPr/>
        </p:nvSpPr>
        <p:spPr>
          <a:xfrm>
            <a:off x="10753344" y="1938528"/>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cxnSp>
        <p:nvCxnSpPr>
          <p:cNvPr id="61" name="Connector 60"/>
          <p:cNvCxnSpPr/>
          <p:nvPr/>
        </p:nvCxnSpPr>
        <p:spPr>
          <a:xfrm>
            <a:off x="9226296" y="2505456"/>
            <a:ext cx="0" cy="164592"/>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7040879" y="2670048"/>
            <a:ext cx="4370832" cy="1938528"/>
          </a:xfrm>
          <a:prstGeom prst="roundRect">
            <a:avLst>
              <a:gd name="adj" fmla="val 6000"/>
            </a:avLst>
          </a:prstGeom>
          <a:no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7150607" y="2697480"/>
            <a:ext cx="2194560" cy="237744"/>
          </a:xfrm>
          <a:prstGeom prst="rect">
            <a:avLst/>
          </a:prstGeom>
          <a:noFill/>
        </p:spPr>
        <p:txBody>
          <a:bodyPr wrap="square" lIns="0" rIns="0" tIns="0" bIns="0" anchor="ctr">
            <a:spAutoFit/>
          </a:bodyPr>
          <a:lstStyle/>
          <a:p>
            <a:pPr algn="l"/>
            <a:r>
              <a:rPr sz="1100" b="1" i="0">
                <a:solidFill>
                  <a:srgbClr val="A51C30"/>
                </a:solidFill>
              </a:rPr>
              <a:t>Drishti*net servers</a:t>
            </a:r>
          </a:p>
        </p:txBody>
      </p:sp>
      <p:sp>
        <p:nvSpPr>
          <p:cNvPr id="64" name="Rectangle 63"/>
          <p:cNvSpPr/>
          <p:nvPr/>
        </p:nvSpPr>
        <p:spPr>
          <a:xfrm>
            <a:off x="7150607" y="3017520"/>
            <a:ext cx="1325880" cy="914400"/>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5" name="TextBox 64"/>
          <p:cNvSpPr txBox="1"/>
          <p:nvPr/>
        </p:nvSpPr>
        <p:spPr>
          <a:xfrm>
            <a:off x="7205471" y="3035808"/>
            <a:ext cx="1234440" cy="877824"/>
          </a:xfrm>
          <a:prstGeom prst="rect">
            <a:avLst/>
          </a:prstGeom>
          <a:noFill/>
        </p:spPr>
        <p:txBody>
          <a:bodyPr wrap="square" lIns="0" rIns="0" tIns="0" bIns="0" anchor="ctr">
            <a:spAutoFit/>
          </a:bodyPr>
          <a:lstStyle/>
          <a:p>
            <a:pPr algn="l"/>
            <a:r>
              <a:rPr sz="1150" b="1" i="0">
                <a:solidFill>
                  <a:srgbClr val="8A1626"/>
                </a:solidFill>
              </a:rPr>
              <a:t>Coordinator</a:t>
            </a:r>
          </a:p>
          <a:p>
            <a:pPr algn="l"/>
            <a:r>
              <a:rPr sz="1000" b="0" i="0">
                <a:solidFill>
                  <a:srgbClr val="4A5058"/>
                </a:solidFill>
              </a:rPr>
              <a:t>adds partial vectors (4 KB each) in a fixed order</a:t>
            </a:r>
          </a:p>
        </p:txBody>
      </p:sp>
      <p:sp>
        <p:nvSpPr>
          <p:cNvPr id="66" name="Rectangle 65"/>
          <p:cNvSpPr/>
          <p:nvPr/>
        </p:nvSpPr>
        <p:spPr>
          <a:xfrm>
            <a:off x="8732519" y="2990088"/>
            <a:ext cx="1481328" cy="283464"/>
          </a:xfrm>
          <a:prstGeom prst="rect">
            <a:avLst/>
          </a:prstGeom>
          <a:solidFill>
            <a:srgbClr val="F7F5F2"/>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54864" rIns="36576" tIns="0" bIns="0" wrap="square"/>
          <a:lstStyle/>
          <a:p>
            <a:pPr algn="l"/>
            <a:r>
              <a:rPr sz="1000" b="0" i="0">
                <a:solidFill>
                  <a:srgbClr val="1A1A1A"/>
                </a:solidFill>
              </a:rPr>
              <a:t>Shard · LE / desk range A</a:t>
            </a:r>
          </a:p>
        </p:txBody>
      </p:sp>
      <p:cxnSp>
        <p:nvCxnSpPr>
          <p:cNvPr id="67" name="Connector 66"/>
          <p:cNvCxnSpPr/>
          <p:nvPr/>
        </p:nvCxnSpPr>
        <p:spPr>
          <a:xfrm flipV="1">
            <a:off x="8476488" y="3131820"/>
            <a:ext cx="256031" cy="342900"/>
          </a:xfrm>
          <a:prstGeom prst="line">
            <a:avLst/>
          </a:prstGeom>
          <a:ln w="127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Rectangle 67"/>
          <p:cNvSpPr/>
          <p:nvPr/>
        </p:nvSpPr>
        <p:spPr>
          <a:xfrm>
            <a:off x="8732519" y="3328416"/>
            <a:ext cx="1481328" cy="283464"/>
          </a:xfrm>
          <a:prstGeom prst="rect">
            <a:avLst/>
          </a:prstGeom>
          <a:solidFill>
            <a:srgbClr val="F7F5F2"/>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54864" rIns="36576" tIns="0" bIns="0" wrap="square"/>
          <a:lstStyle/>
          <a:p>
            <a:pPr algn="l"/>
            <a:r>
              <a:rPr sz="1000" b="0" i="0">
                <a:solidFill>
                  <a:srgbClr val="1A1A1A"/>
                </a:solidFill>
              </a:rPr>
              <a:t>Shard · range B</a:t>
            </a:r>
          </a:p>
        </p:txBody>
      </p:sp>
      <p:cxnSp>
        <p:nvCxnSpPr>
          <p:cNvPr id="69" name="Connector 68"/>
          <p:cNvCxnSpPr/>
          <p:nvPr/>
        </p:nvCxnSpPr>
        <p:spPr>
          <a:xfrm flipV="1">
            <a:off x="8476488" y="3470148"/>
            <a:ext cx="256031" cy="4572"/>
          </a:xfrm>
          <a:prstGeom prst="line">
            <a:avLst/>
          </a:prstGeom>
          <a:ln w="127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0" name="Rectangle 69"/>
          <p:cNvSpPr/>
          <p:nvPr/>
        </p:nvSpPr>
        <p:spPr>
          <a:xfrm>
            <a:off x="8732519" y="3666744"/>
            <a:ext cx="1481328" cy="283464"/>
          </a:xfrm>
          <a:prstGeom prst="rect">
            <a:avLst/>
          </a:prstGeom>
          <a:solidFill>
            <a:srgbClr val="F7F5F2"/>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54864" rIns="36576" tIns="0" bIns="0" wrap="square"/>
          <a:lstStyle/>
          <a:p>
            <a:pPr algn="l"/>
            <a:r>
              <a:rPr sz="1000" b="0" i="0">
                <a:solidFill>
                  <a:srgbClr val="1A1A1A"/>
                </a:solidFill>
              </a:rPr>
              <a:t>Shard · range C</a:t>
            </a:r>
          </a:p>
        </p:txBody>
      </p:sp>
      <p:cxnSp>
        <p:nvCxnSpPr>
          <p:cNvPr id="71" name="Connector 70"/>
          <p:cNvCxnSpPr/>
          <p:nvPr/>
        </p:nvCxnSpPr>
        <p:spPr>
          <a:xfrm>
            <a:off x="8476488" y="3474720"/>
            <a:ext cx="256031" cy="333756"/>
          </a:xfrm>
          <a:prstGeom prst="line">
            <a:avLst/>
          </a:prstGeom>
          <a:ln w="127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Rounded Rectangle 71"/>
          <p:cNvSpPr/>
          <p:nvPr/>
        </p:nvSpPr>
        <p:spPr>
          <a:xfrm>
            <a:off x="7150607" y="4005072"/>
            <a:ext cx="667512" cy="201168"/>
          </a:xfrm>
          <a:prstGeom prst="roundRect">
            <a:avLst>
              <a:gd name="adj" fmla="val 50000"/>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A51C30"/>
                </a:solidFill>
              </a:rPr>
              <a:t>DESIGNED</a:t>
            </a:r>
          </a:p>
        </p:txBody>
      </p:sp>
      <p:sp>
        <p:nvSpPr>
          <p:cNvPr id="73" name="TextBox 72"/>
          <p:cNvSpPr txBox="1"/>
          <p:nvPr/>
        </p:nvSpPr>
        <p:spPr>
          <a:xfrm>
            <a:off x="8065008" y="3986784"/>
            <a:ext cx="2194560" cy="237744"/>
          </a:xfrm>
          <a:prstGeom prst="rect">
            <a:avLst/>
          </a:prstGeom>
          <a:noFill/>
        </p:spPr>
        <p:txBody>
          <a:bodyPr wrap="square" lIns="0" rIns="0" tIns="0" bIns="0" anchor="ctr">
            <a:spAutoFit/>
          </a:bodyPr>
          <a:lstStyle/>
          <a:p>
            <a:pPr algn="l"/>
            <a:r>
              <a:rPr sz="1000" b="0" i="1">
                <a:solidFill>
                  <a:srgbClr val="4A5058"/>
                </a:solidFill>
              </a:rPr>
              <a:t>map-reduce over vectors</a:t>
            </a:r>
          </a:p>
        </p:txBody>
      </p:sp>
      <p:sp>
        <p:nvSpPr>
          <p:cNvPr id="74" name="Rectangle 73"/>
          <p:cNvSpPr/>
          <p:nvPr/>
        </p:nvSpPr>
        <p:spPr>
          <a:xfrm>
            <a:off x="10351008" y="2990088"/>
            <a:ext cx="950976" cy="713232"/>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5" name="TextBox 74"/>
          <p:cNvSpPr txBox="1"/>
          <p:nvPr/>
        </p:nvSpPr>
        <p:spPr>
          <a:xfrm>
            <a:off x="10415016" y="3017520"/>
            <a:ext cx="859536" cy="457200"/>
          </a:xfrm>
          <a:prstGeom prst="rect">
            <a:avLst/>
          </a:prstGeom>
          <a:noFill/>
        </p:spPr>
        <p:txBody>
          <a:bodyPr wrap="square" lIns="0" rIns="0" tIns="0" bIns="0" anchor="t">
            <a:spAutoFit/>
          </a:bodyPr>
          <a:lstStyle/>
          <a:p>
            <a:pPr algn="l"/>
            <a:r>
              <a:rPr sz="1100" b="1" i="0">
                <a:solidFill>
                  <a:srgbClr val="8A1626"/>
                </a:solidFill>
              </a:rPr>
              <a:t>Read replicas</a:t>
            </a:r>
          </a:p>
          <a:p>
            <a:pPr algn="l"/>
            <a:r>
              <a:rPr sz="1000" b="0" i="0">
                <a:solidFill>
                  <a:srgbClr val="4A5058"/>
                </a:solidFill>
              </a:rPr>
              <a:t>whole dates</a:t>
            </a:r>
          </a:p>
        </p:txBody>
      </p:sp>
      <p:sp>
        <p:nvSpPr>
          <p:cNvPr id="76" name="Rounded Rectangle 75"/>
          <p:cNvSpPr/>
          <p:nvPr/>
        </p:nvSpPr>
        <p:spPr>
          <a:xfrm>
            <a:off x="10415016" y="3474720"/>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77" name="Rectangle 76"/>
          <p:cNvSpPr/>
          <p:nvPr/>
        </p:nvSpPr>
        <p:spPr>
          <a:xfrm>
            <a:off x="10351008" y="3776472"/>
            <a:ext cx="950976" cy="749808"/>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8" name="TextBox 77"/>
          <p:cNvSpPr txBox="1"/>
          <p:nvPr/>
        </p:nvSpPr>
        <p:spPr>
          <a:xfrm>
            <a:off x="10415016" y="3803904"/>
            <a:ext cx="859536" cy="457200"/>
          </a:xfrm>
          <a:prstGeom prst="rect">
            <a:avLst/>
          </a:prstGeom>
          <a:noFill/>
        </p:spPr>
        <p:txBody>
          <a:bodyPr wrap="square" lIns="0" rIns="0" tIns="0" bIns="0" anchor="t">
            <a:spAutoFit/>
          </a:bodyPr>
          <a:lstStyle/>
          <a:p>
            <a:pPr algn="l"/>
            <a:r>
              <a:rPr sz="1100" b="1" i="0">
                <a:solidFill>
                  <a:srgbClr val="8A1626"/>
                </a:solidFill>
              </a:rPr>
              <a:t>Official EOD</a:t>
            </a:r>
          </a:p>
          <a:p>
            <a:pPr algn="l"/>
            <a:r>
              <a:rPr sz="1000" b="0" i="0">
                <a:solidFill>
                  <a:srgbClr val="4A5058"/>
                </a:solidFill>
              </a:rPr>
              <a:t>one node writes</a:t>
            </a:r>
          </a:p>
        </p:txBody>
      </p:sp>
      <p:sp>
        <p:nvSpPr>
          <p:cNvPr id="79" name="Rounded Rectangle 78"/>
          <p:cNvSpPr/>
          <p:nvPr/>
        </p:nvSpPr>
        <p:spPr>
          <a:xfrm>
            <a:off x="10415016" y="4279392"/>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cxnSp>
        <p:nvCxnSpPr>
          <p:cNvPr id="80" name="Connector 79"/>
          <p:cNvCxnSpPr/>
          <p:nvPr/>
        </p:nvCxnSpPr>
        <p:spPr>
          <a:xfrm flipV="1">
            <a:off x="9226296" y="4608576"/>
            <a:ext cx="0" cy="146304"/>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1" name="Rectangle 80"/>
          <p:cNvSpPr/>
          <p:nvPr/>
        </p:nvSpPr>
        <p:spPr>
          <a:xfrm>
            <a:off x="7040879" y="4754880"/>
            <a:ext cx="4370832"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50" b="1" i="0">
                <a:solidFill>
                  <a:srgbClr val="FFFFFF"/>
                </a:solidFill>
              </a:rPr>
              <a:t>One lake: Delta or Iceberg (local, EFS or S3) · 7 years</a:t>
            </a:r>
          </a:p>
        </p:txBody>
      </p:sp>
      <p:sp>
        <p:nvSpPr>
          <p:cNvPr id="82" name="Rectangle 81"/>
          <p:cNvSpPr/>
          <p:nvPr/>
        </p:nvSpPr>
        <p:spPr>
          <a:xfrm>
            <a:off x="777240" y="5230368"/>
            <a:ext cx="10634472" cy="1033271"/>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3" name="Rectangle 82"/>
          <p:cNvSpPr/>
          <p:nvPr/>
        </p:nvSpPr>
        <p:spPr>
          <a:xfrm>
            <a:off x="777240" y="5230368"/>
            <a:ext cx="54864" cy="10332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4" name="TextBox 83"/>
          <p:cNvSpPr txBox="1"/>
          <p:nvPr/>
        </p:nvSpPr>
        <p:spPr>
          <a:xfrm>
            <a:off x="978408" y="5248656"/>
            <a:ext cx="10360152" cy="274320"/>
          </a:xfrm>
          <a:prstGeom prst="rect">
            <a:avLst/>
          </a:prstGeom>
          <a:noFill/>
        </p:spPr>
        <p:txBody>
          <a:bodyPr wrap="square" lIns="0" rIns="0" tIns="0" bIns="0" anchor="ctr">
            <a:spAutoFit/>
          </a:bodyPr>
          <a:lstStyle/>
          <a:p>
            <a:pPr algn="l"/>
            <a:r>
              <a:rPr sz="1250" b="1" i="0">
                <a:solidFill>
                  <a:srgbClr val="A51C30"/>
                </a:solidFill>
              </a:rPr>
              <a:t>To reach 2.3M positions and 15,000 portfolios, still to build</a:t>
            </a:r>
          </a:p>
        </p:txBody>
      </p:sp>
      <p:sp>
        <p:nvSpPr>
          <p:cNvPr id="85" name="TextBox 84"/>
          <p:cNvSpPr txBox="1"/>
          <p:nvPr/>
        </p:nvSpPr>
        <p:spPr>
          <a:xfrm>
            <a:off x="978408" y="5486400"/>
            <a:ext cx="5120640" cy="768096"/>
          </a:xfrm>
          <a:prstGeom prst="rect">
            <a:avLst/>
          </a:prstGeom>
          <a:noFill/>
        </p:spPr>
        <p:txBody>
          <a:bodyPr wrap="square" lIns="0" rIns="0" tIns="0" bIns="0" anchor="t">
            <a:spAutoFit/>
          </a:bodyPr>
          <a:lstStyle/>
          <a:p>
            <a:pPr algn="l">
              <a:spcAft>
                <a:spcPts val="0"/>
              </a:spcAft>
            </a:pPr>
            <a:r>
              <a:rPr sz="1100" b="0" i="0">
                <a:solidFill>
                  <a:srgbClr val="1A1A1A"/>
                </a:solidFill>
              </a:rPr>
              <a:t>1  The 2.3M benchmark on a server, both formats (2.9.6)</a:t>
            </a:r>
          </a:p>
          <a:p>
            <a:pPr algn="l">
              <a:spcAft>
                <a:spcPts val="0"/>
              </a:spcAft>
            </a:pPr>
            <a:r>
              <a:rPr sz="1100" b="0" i="0">
                <a:solidFill>
                  <a:srgbClr val="1A1A1A"/>
                </a:solidFill>
              </a:rPr>
              <a:t>2  VaR sharding across Drishti*net, scatter-gather (2.9.6)</a:t>
            </a:r>
          </a:p>
          <a:p>
            <a:pPr algn="l">
              <a:spcAft>
                <a:spcPts val="0"/>
              </a:spcAft>
            </a:pPr>
            <a:r>
              <a:rPr sz="1100" b="0" i="0">
                <a:solidFill>
                  <a:srgbClr val="1A1A1A"/>
                </a:solidFill>
              </a:rPr>
              <a:t>3  The lake layout at scale: sort, ZSTD, file sizes</a:t>
            </a:r>
          </a:p>
          <a:p>
            <a:pPr algn="l">
              <a:spcAft>
                <a:spcPts val="0"/>
              </a:spcAft>
            </a:pPr>
            <a:r>
              <a:rPr sz="1100" b="0" i="0">
                <a:solidFill>
                  <a:srgbClr val="1A1A1A"/>
                </a:solidFill>
              </a:rPr>
              <a:t>4  The 15,000 portfolio vectors built in a batch</a:t>
            </a:r>
          </a:p>
        </p:txBody>
      </p:sp>
      <p:sp>
        <p:nvSpPr>
          <p:cNvPr id="86" name="TextBox 85"/>
          <p:cNvSpPr txBox="1"/>
          <p:nvPr/>
        </p:nvSpPr>
        <p:spPr>
          <a:xfrm>
            <a:off x="6236208" y="5486400"/>
            <a:ext cx="5120640" cy="768096"/>
          </a:xfrm>
          <a:prstGeom prst="rect">
            <a:avLst/>
          </a:prstGeom>
          <a:noFill/>
        </p:spPr>
        <p:txBody>
          <a:bodyPr wrap="square" lIns="0" rIns="0" tIns="0" bIns="0" anchor="t">
            <a:spAutoFit/>
          </a:bodyPr>
          <a:lstStyle/>
          <a:p>
            <a:pPr algn="l">
              <a:spcAft>
                <a:spcPts val="0"/>
              </a:spcAft>
            </a:pPr>
            <a:r>
              <a:rPr sz="1100" b="0" i="0">
                <a:solidFill>
                  <a:srgbClr val="1A1A1A"/>
                </a:solidFill>
              </a:rPr>
              <a:t>5  Several consoles without sticky sessions</a:t>
            </a:r>
          </a:p>
          <a:p>
            <a:pPr algn="l">
              <a:spcAft>
                <a:spcPts val="0"/>
              </a:spcAft>
            </a:pPr>
            <a:r>
              <a:rPr sz="1100" b="0" i="0">
                <a:solidFill>
                  <a:srgbClr val="1A1A1A"/>
                </a:solidFill>
              </a:rPr>
              <a:t>6  The Glue and S3 Tables runs on AWS (2.9.6)</a:t>
            </a:r>
          </a:p>
          <a:p>
            <a:pPr algn="l">
              <a:spcAft>
                <a:spcPts val="0"/>
              </a:spcAft>
            </a:pPr>
            <a:r>
              <a:rPr sz="1100" b="0" i="0">
                <a:solidFill>
                  <a:srgbClr val="1A1A1A"/>
                </a:solidFill>
              </a:rPr>
              <a:t>Done in 2.9.5: Iceberg for VaR; official results to S3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DELTA LAKE OR ICEBERG</a:t>
            </a:r>
          </a:p>
        </p:txBody>
      </p:sp>
      <p:sp>
        <p:nvSpPr>
          <p:cNvPr id="3" name="Title 2"/>
          <p:cNvSpPr>
            <a:spLocks noGrp="1"/>
          </p:cNvSpPr>
          <p:nvPr>
            <p:ph type="title" idx="104"/>
          </p:nvPr>
        </p:nvSpPr>
        <p:spPr/>
        <p:txBody>
          <a:bodyPr/>
          <a:lstStyle/>
          <a:p>
            <a:r>
              <a:t>Delta Lake or Iceberg for VaR: performance and recommendation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6035040" cy="80467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17320"/>
            <a:ext cx="54864" cy="8046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78408" y="1417320"/>
            <a:ext cx="5760720" cy="804672"/>
          </a:xfrm>
          <a:prstGeom prst="rect">
            <a:avLst/>
          </a:prstGeom>
          <a:noFill/>
        </p:spPr>
        <p:txBody>
          <a:bodyPr wrap="square" lIns="0" rIns="0" tIns="0" bIns="0" anchor="ctr">
            <a:spAutoFit/>
          </a:bodyPr>
          <a:lstStyle/>
          <a:p>
            <a:pPr algn="l"/>
            <a:r>
              <a:rPr sz="1250" b="1" i="0">
                <a:solidFill>
                  <a:srgbClr val="A51C30"/>
                </a:solidFill>
              </a:rPr>
              <a:t>VaR answers are format-independent.  </a:t>
            </a:r>
            <a:r>
              <a:rPr sz="1150" b="0" i="0">
                <a:solidFill>
                  <a:srgbClr val="1A1A1A"/>
                </a:solidFill>
              </a:rPr>
              <a:t>Once a date is loaded, the engine computes from its memory-mapped hot files; the lake format matters only for loading, intraday commits, history and other engines.</a:t>
            </a:r>
          </a:p>
        </p:txBody>
      </p:sp>
      <p:sp>
        <p:nvSpPr>
          <p:cNvPr id="29" name="Rectangle 28"/>
          <p:cNvSpPr/>
          <p:nvPr/>
        </p:nvSpPr>
        <p:spPr>
          <a:xfrm>
            <a:off x="6995159" y="1417320"/>
            <a:ext cx="2116836" cy="80467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Rectangle 29"/>
          <p:cNvSpPr/>
          <p:nvPr/>
        </p:nvSpPr>
        <p:spPr>
          <a:xfrm>
            <a:off x="6995159" y="1417320"/>
            <a:ext cx="45720" cy="8046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7159751" y="1444752"/>
            <a:ext cx="1888236" cy="384048"/>
          </a:xfrm>
          <a:prstGeom prst="rect">
            <a:avLst/>
          </a:prstGeom>
          <a:noFill/>
        </p:spPr>
        <p:txBody>
          <a:bodyPr wrap="square" lIns="0" rIns="0" tIns="0" bIns="0" anchor="ctr">
            <a:spAutoFit/>
          </a:bodyPr>
          <a:lstStyle/>
          <a:p>
            <a:pPr algn="l"/>
            <a:r>
              <a:rPr sz="2000" b="1" i="0">
                <a:solidFill>
                  <a:srgbClr val="8A1626"/>
                </a:solidFill>
              </a:rPr>
              <a:t>≈ 0.5 ms</a:t>
            </a:r>
          </a:p>
        </p:txBody>
      </p:sp>
      <p:sp>
        <p:nvSpPr>
          <p:cNvPr id="32" name="TextBox 31"/>
          <p:cNvSpPr txBox="1"/>
          <p:nvPr/>
        </p:nvSpPr>
        <p:spPr>
          <a:xfrm>
            <a:off x="7159751" y="1828800"/>
            <a:ext cx="1888236" cy="365760"/>
          </a:xfrm>
          <a:prstGeom prst="rect">
            <a:avLst/>
          </a:prstGeom>
          <a:noFill/>
        </p:spPr>
        <p:txBody>
          <a:bodyPr wrap="square" lIns="0" rIns="0" tIns="0" bIns="0" anchor="t">
            <a:spAutoFit/>
          </a:bodyPr>
          <a:lstStyle/>
          <a:p>
            <a:pPr algn="l"/>
            <a:r>
              <a:rPr sz="1050" b="0" i="0">
                <a:solidFill>
                  <a:srgbClr val="4A5058"/>
                </a:solidFill>
              </a:rPr>
              <a:t>a node's VaR and ES · measured</a:t>
            </a:r>
          </a:p>
        </p:txBody>
      </p:sp>
      <p:sp>
        <p:nvSpPr>
          <p:cNvPr id="33" name="Rectangle 32"/>
          <p:cNvSpPr/>
          <p:nvPr/>
        </p:nvSpPr>
        <p:spPr>
          <a:xfrm>
            <a:off x="9294876" y="1417320"/>
            <a:ext cx="2116836" cy="80467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Rectangle 33"/>
          <p:cNvSpPr/>
          <p:nvPr/>
        </p:nvSpPr>
        <p:spPr>
          <a:xfrm>
            <a:off x="9294876" y="1417320"/>
            <a:ext cx="45720" cy="8046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9459467" y="1444752"/>
            <a:ext cx="1888236" cy="384048"/>
          </a:xfrm>
          <a:prstGeom prst="rect">
            <a:avLst/>
          </a:prstGeom>
          <a:noFill/>
        </p:spPr>
        <p:txBody>
          <a:bodyPr wrap="square" lIns="0" rIns="0" tIns="0" bIns="0" anchor="ctr">
            <a:spAutoFit/>
          </a:bodyPr>
          <a:lstStyle/>
          <a:p>
            <a:pPr algn="l"/>
            <a:r>
              <a:rPr sz="2000" b="1" i="0">
                <a:solidFill>
                  <a:srgbClr val="8A1626"/>
                </a:solidFill>
              </a:rPr>
              <a:t>≈ 80 ms</a:t>
            </a:r>
          </a:p>
        </p:txBody>
      </p:sp>
      <p:sp>
        <p:nvSpPr>
          <p:cNvPr id="36" name="TextBox 35"/>
          <p:cNvSpPr txBox="1"/>
          <p:nvPr/>
        </p:nvSpPr>
        <p:spPr>
          <a:xfrm>
            <a:off x="9459467" y="1828800"/>
            <a:ext cx="1888236" cy="365760"/>
          </a:xfrm>
          <a:prstGeom prst="rect">
            <a:avLst/>
          </a:prstGeom>
          <a:noFill/>
        </p:spPr>
        <p:txBody>
          <a:bodyPr wrap="square" lIns="0" rIns="0" tIns="0" bIns="0" anchor="t">
            <a:spAutoFit/>
          </a:bodyPr>
          <a:lstStyle/>
          <a:p>
            <a:pPr algn="l"/>
            <a:r>
              <a:rPr sz="1050" b="0" i="0">
                <a:solidFill>
                  <a:srgbClr val="4A5058"/>
                </a:solidFill>
              </a:rPr>
              <a:t>the whole bank at 2.3M positions · estimated</a:t>
            </a:r>
          </a:p>
        </p:txBody>
      </p:sp>
      <p:graphicFrame>
        <p:nvGraphicFramePr>
          <p:cNvPr id="37" name="Table 36"/>
          <p:cNvGraphicFramePr>
            <a:graphicFrameLocks noGrp="1"/>
          </p:cNvGraphicFramePr>
          <p:nvPr/>
        </p:nvGraphicFramePr>
        <p:xfrm>
          <a:off x="777240" y="2331720"/>
          <a:ext cx="10634472" cy="2688336"/>
        </p:xfrm>
        <a:graphic>
          <a:graphicData uri="http://schemas.openxmlformats.org/drawingml/2006/table">
            <a:tbl>
              <a:tblPr firstRow="0" bandRow="0">
                <a:tableStyleId>{5940675A-B579-460E-94D1-54222C63F5DA}</a:tableStyleId>
              </a:tblPr>
              <a:tblGrid>
                <a:gridCol w="2788920"/>
                <a:gridCol w="2926080"/>
                <a:gridCol w="3291840"/>
                <a:gridCol w="1627632"/>
              </a:tblGrid>
              <a:tr h="384048">
                <a:tc>
                  <a:txBody>
                    <a:bodyPr wrap="square"/>
                    <a:lstStyle/>
                    <a:p>
                      <a:r>
                        <a:rPr sz="1050" b="1" i="0">
                          <a:solidFill>
                            <a:srgbClr val="FFFFFF"/>
                          </a:solidFill>
                        </a:rPr>
                        <a:t>Where they differ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Delta Lake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Iceberg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Edge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84048">
                <a:tc>
                  <a:txBody>
                    <a:bodyPr wrap="square"/>
                    <a:lstStyle/>
                    <a:p>
                      <a:r>
                        <a:rPr sz="1050" b="1" i="0">
                          <a:solidFill>
                            <a:srgbClr val="8A1626"/>
                          </a:solidFill>
                        </a:rPr>
                        <a:t>First load of a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replays its log from the last checkpoint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plans from manifests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4A5058"/>
                          </a:solidFill>
                        </a:rPr>
                        <a:t>about the same: both Parquet, Drishti's own readers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84048">
                <a:tc>
                  <a:txBody>
                    <a:bodyPr wrap="square"/>
                    <a:lstStyle/>
                    <a:p>
                      <a:r>
                        <a:rPr sz="1050" b="1" i="0">
                          <a:solidFill>
                            <a:srgbClr val="8A1626"/>
                          </a:solidFill>
                        </a:rPr>
                        <a:t>Intraday micro-batches (Kafka every 5 min, ≈ 120 commits a 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 small log entry per commit, then checkpoints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rewrites its metadata file each commit; ≈ 0.2 GB by year 7 (estimated): needs snapshot and metadata management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1" i="0">
                          <a:solidFill>
                            <a:srgbClr val="8A1626"/>
                          </a:solidFill>
                        </a:rPr>
                        <a:t>Delta</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84048">
                <a:tc>
                  <a:txBody>
                    <a:bodyPr wrap="square"/>
                    <a:lstStyle/>
                    <a:p>
                      <a:r>
                        <a:rPr sz="1050" b="1" i="0">
                          <a:solidFill>
                            <a:srgbClr val="8A1626"/>
                          </a:solidFill>
                        </a:rPr>
                        <a:t>Time travel and restatements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rebuilds a version from its log and checkpoints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jumps to a snapshot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1" i="0">
                          <a:solidFill>
                            <a:srgbClr val="293352"/>
                          </a:solidFill>
                        </a:rPr>
                        <a:t>Iceberg, slightly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84048">
                <a:tc>
                  <a:txBody>
                    <a:bodyPr wrap="square"/>
                    <a:lstStyle/>
                    <a:p>
                      <a:r>
                        <a:rPr sz="1050" b="1" i="0">
                          <a:solidFill>
                            <a:srgbClr val="8A1626"/>
                          </a:solidFill>
                        </a:rPr>
                        <a:t>Caches after another day's commit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equivalent proposed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built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1" i="0">
                          <a:solidFill>
                            <a:srgbClr val="293352"/>
                          </a:solidFill>
                        </a:rPr>
                        <a:t>Iceberg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84048">
                <a:tc>
                  <a:txBody>
                    <a:bodyPr wrap="square"/>
                    <a:lstStyle/>
                    <a:p>
                      <a:r>
                        <a:rPr sz="1050" b="1" i="0">
                          <a:solidFill>
                            <a:srgbClr val="8A1626"/>
                          </a:solidFill>
                        </a:rPr>
                        <a:t>Other engines (Spark, Athena, Trino, Snowflake, Databricks)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strongest with Spark and Databricks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broader multi-engine support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4A5058"/>
                          </a:solidFill>
                        </a:rPr>
                        <a:t>depends on the platform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84048">
                <a:tc>
                  <a:txBody>
                    <a:bodyPr wrap="square"/>
                    <a:lstStyle/>
                    <a:p>
                      <a:r>
                        <a:rPr sz="1050" b="1" i="0">
                          <a:solidFill>
                            <a:srgbClr val="8A1626"/>
                          </a:solidFill>
                        </a:rPr>
                        <a:t>Correctness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identical: the 2.9.5 equality tests prove Delta = Iceberg to the cent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4A5058"/>
                          </a:solidFill>
                        </a:rPr>
                        <a:t>same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8" name="Rectangle 37"/>
          <p:cNvSpPr/>
          <p:nvPr/>
        </p:nvSpPr>
        <p:spPr>
          <a:xfrm>
            <a:off x="777240" y="5230368"/>
            <a:ext cx="5989320" cy="1033271"/>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14400" y="5266944"/>
            <a:ext cx="5760720" cy="969264"/>
          </a:xfrm>
          <a:prstGeom prst="rect">
            <a:avLst/>
          </a:prstGeom>
          <a:noFill/>
        </p:spPr>
        <p:txBody>
          <a:bodyPr wrap="square" lIns="0" rIns="0" tIns="0" bIns="0" anchor="ctr">
            <a:spAutoFit/>
          </a:bodyPr>
          <a:lstStyle/>
          <a:p>
            <a:pPr algn="l">
              <a:spcAft>
                <a:spcPts val="200"/>
              </a:spcAft>
            </a:pPr>
            <a:r>
              <a:rPr sz="1250" b="1" i="0">
                <a:solidFill>
                  <a:srgbClr val="A51C30"/>
                </a:solidFill>
              </a:rPr>
              <a:t>Recommendation</a:t>
            </a:r>
          </a:p>
          <a:p>
            <a:pPr algn="l"/>
            <a:r>
              <a:rPr sz="1150" b="1" i="0">
                <a:solidFill>
                  <a:srgbClr val="8A1626"/>
                </a:solidFill>
              </a:rPr>
              <a:t>Delta is the default (product decision), above all with Kafka intraday. </a:t>
            </a:r>
            <a:r>
              <a:rPr sz="1150" b="0" i="0">
                <a:solidFill>
                  <a:srgbClr val="1A1A1A"/>
                </a:solidFill>
              </a:rPr>
              <a:t>Choose Iceberg where the data platform standardises on it, or for heavy time travel and multi-engine access. Either is a configuration switch.</a:t>
            </a:r>
          </a:p>
        </p:txBody>
      </p:sp>
      <p:sp>
        <p:nvSpPr>
          <p:cNvPr id="40" name="Rectangle 39"/>
          <p:cNvSpPr/>
          <p:nvPr/>
        </p:nvSpPr>
        <p:spPr>
          <a:xfrm>
            <a:off x="6949440" y="5230368"/>
            <a:ext cx="4462272" cy="1033271"/>
          </a:xfrm>
          <a:prstGeom prst="rect">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7059168" y="5257800"/>
            <a:ext cx="4297680" cy="978408"/>
          </a:xfrm>
          <a:prstGeom prst="rect">
            <a:avLst/>
          </a:prstGeom>
          <a:noFill/>
        </p:spPr>
        <p:txBody>
          <a:bodyPr wrap="square" lIns="0" rIns="0" tIns="0" bIns="0" anchor="ctr">
            <a:spAutoFit/>
          </a:bodyPr>
          <a:lstStyle/>
          <a:p>
            <a:pPr algn="l">
              <a:spcAft>
                <a:spcPts val="200"/>
              </a:spcAft>
            </a:pPr>
            <a:r>
              <a:rPr sz="1050" b="1" i="0">
                <a:solidFill>
                  <a:srgbClr val="A51C30"/>
                </a:solidFill>
              </a:rPr>
              <a:t>Built · 2.9.5  </a:t>
            </a:r>
            <a:r>
              <a:rPr sz="1050" b="0" i="0">
                <a:solidFill>
                  <a:srgbClr val="1A1A1A"/>
                </a:solidFill>
              </a:rPr>
              <a:t>VaR, intraday and exposure on Iceberg; official results to Iceberg and S3; equal to Delta to the cent</a:t>
            </a:r>
          </a:p>
          <a:p>
            <a:pPr algn="l">
              <a:spcAft>
                <a:spcPts val="200"/>
              </a:spcAft>
            </a:pPr>
            <a:r>
              <a:rPr sz="1050" b="1" i="0">
                <a:solidFill>
                  <a:srgbClr val="4A5058"/>
                </a:solidFill>
              </a:rPr>
              <a:t>Measured (demo)  </a:t>
            </a:r>
            <a:r>
              <a:rPr sz="1050" b="0" i="0">
                <a:solidFill>
                  <a:srgbClr val="1A1A1A"/>
                </a:solidFill>
              </a:rPr>
              <a:t>14 risk tables, 955,124 rows moved to Iceberg in 579 s</a:t>
            </a:r>
          </a:p>
          <a:p>
            <a:pPr algn="l"/>
            <a:r>
              <a:rPr sz="1050" b="1" i="0">
                <a:solidFill>
                  <a:srgbClr val="293352"/>
                </a:solidFill>
              </a:rPr>
              <a:t>2.9.6  </a:t>
            </a:r>
            <a:r>
              <a:rPr sz="1050" b="0" i="0">
                <a:solidFill>
                  <a:srgbClr val="1A1A1A"/>
                </a:solidFill>
              </a:rPr>
              <a:t>the 2.3M benchmark on both formats; Delta↔Iceberg conversion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SCHEMA CHANGES</a:t>
            </a:r>
          </a:p>
        </p:txBody>
      </p:sp>
      <p:sp>
        <p:nvSpPr>
          <p:cNvPr id="3" name="Title 2"/>
          <p:cNvSpPr>
            <a:spLocks noGrp="1"/>
          </p:cNvSpPr>
          <p:nvPr>
            <p:ph type="title" idx="104"/>
          </p:nvPr>
        </p:nvSpPr>
        <p:spPr/>
        <p:txBody>
          <a:bodyPr/>
          <a:lstStyle/>
          <a:p>
            <a:r>
              <a:t>When the data's structure changes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44752"/>
            <a:ext cx="3422904" cy="32004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44752"/>
            <a:ext cx="45720" cy="3200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536192"/>
            <a:ext cx="3148584" cy="3063240"/>
          </a:xfrm>
          <a:prstGeom prst="rect">
            <a:avLst/>
          </a:prstGeom>
          <a:noFill/>
        </p:spPr>
        <p:txBody>
          <a:bodyPr wrap="square" lIns="0" rIns="0" tIns="0" bIns="0" anchor="t">
            <a:spAutoFit/>
          </a:bodyPr>
          <a:lstStyle/>
          <a:p>
            <a:pPr algn="l">
              <a:spcAft>
                <a:spcPts val="600"/>
              </a:spcAft>
            </a:pPr>
            <a:r>
              <a:rPr sz="1400" b="1" i="0">
                <a:solidFill>
                  <a:srgbClr val="8A1626"/>
                </a:solidFill>
              </a:rPr>
              <a:t>A new field in the source data</a:t>
            </a:r>
          </a:p>
          <a:p>
            <a:pPr algn="l">
              <a:spcAft>
                <a:spcPts val="600"/>
              </a:spcAft>
            </a:pPr>
            <a:r>
              <a:rPr sz="1200" b="0" i="0">
                <a:solidFill>
                  <a:srgbClr val="1A1A1A"/>
                </a:solidFill>
              </a:rPr>
              <a:t>No schema change. Each record's full JSON document is kept in the </a:t>
            </a:r>
            <a:r>
              <a:rPr sz="1100" b="0" i="0">
                <a:solidFill>
                  <a:srgbClr val="1A1A1A"/>
                </a:solidFill>
                <a:latin typeface="Courier New"/>
              </a:rPr>
              <a:t>doc</a:t>
            </a:r>
            <a:r>
              <a:rPr sz="1200" b="0" i="0">
                <a:solidFill>
                  <a:srgbClr val="1A1A1A"/>
                </a:solidFill>
              </a:rPr>
              <a:t> column, so a new field is readable at once; older rows simply lack it.</a:t>
            </a:r>
          </a:p>
        </p:txBody>
      </p:sp>
      <p:sp>
        <p:nvSpPr>
          <p:cNvPr id="29" name="Rounded Rectangle 28"/>
          <p:cNvSpPr/>
          <p:nvPr/>
        </p:nvSpPr>
        <p:spPr>
          <a:xfrm>
            <a:off x="960120" y="4279392"/>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0" name="Rectangle 29"/>
          <p:cNvSpPr/>
          <p:nvPr/>
        </p:nvSpPr>
        <p:spPr>
          <a:xfrm>
            <a:off x="4383024" y="1444752"/>
            <a:ext cx="3422904" cy="32004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4383024" y="1444752"/>
            <a:ext cx="45720" cy="3200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4565904" y="1536192"/>
            <a:ext cx="3148584" cy="3063240"/>
          </a:xfrm>
          <a:prstGeom prst="rect">
            <a:avLst/>
          </a:prstGeom>
          <a:noFill/>
        </p:spPr>
        <p:txBody>
          <a:bodyPr wrap="square" lIns="0" rIns="0" tIns="0" bIns="0" anchor="t">
            <a:spAutoFit/>
          </a:bodyPr>
          <a:lstStyle/>
          <a:p>
            <a:pPr algn="l">
              <a:spcAft>
                <a:spcPts val="600"/>
              </a:spcAft>
            </a:pPr>
            <a:r>
              <a:rPr sz="1400" b="1" i="0">
                <a:solidFill>
                  <a:srgbClr val="8A1626"/>
                </a:solidFill>
              </a:rPr>
              <a:t>A new promoted column</a:t>
            </a:r>
          </a:p>
          <a:p>
            <a:pPr algn="l">
              <a:spcAft>
                <a:spcPts val="500"/>
              </a:spcAft>
            </a:pPr>
            <a:r>
              <a:rPr sz="1200" b="1" i="0">
                <a:solidFill>
                  <a:srgbClr val="293352"/>
                </a:solidFill>
              </a:rPr>
              <a:t>Iceberg: </a:t>
            </a:r>
            <a:r>
              <a:rPr sz="1200" b="0" i="0">
                <a:solidFill>
                  <a:srgbClr val="1A1A1A"/>
                </a:solidFill>
              </a:rPr>
              <a:t>in-place schema evolution by field id: add, rename, reorder, widen.</a:t>
            </a:r>
          </a:p>
          <a:p>
            <a:pPr algn="l">
              <a:spcAft>
                <a:spcPts val="500"/>
              </a:spcAft>
            </a:pPr>
            <a:r>
              <a:rPr sz="1200" b="1" i="0">
                <a:solidFill>
                  <a:srgbClr val="8A1626"/>
                </a:solidFill>
              </a:rPr>
              <a:t>Delta: </a:t>
            </a:r>
            <a:r>
              <a:rPr sz="1200" b="0" i="0">
                <a:solidFill>
                  <a:srgbClr val="1A1A1A"/>
                </a:solidFill>
              </a:rPr>
              <a:t>in-place add of a nullable column, old files read as empty, optional backfill from the documents. Until then, adding one to an existing table rewrites the affected dates.</a:t>
            </a:r>
          </a:p>
          <a:p>
            <a:pPr algn="l"/>
            <a:r>
              <a:rPr sz="1150" b="0" i="0">
                <a:solidFill>
                  <a:srgbClr val="4A5058"/>
                </a:solidFill>
              </a:rPr>
              <a:t>On upgrade (2.9.5): unedited connector files follow the pack; edited ones gain its new keys and columns, edits kept.</a:t>
            </a:r>
          </a:p>
        </p:txBody>
      </p:sp>
      <p:sp>
        <p:nvSpPr>
          <p:cNvPr id="33" name="Rounded Rectangle 32"/>
          <p:cNvSpPr/>
          <p:nvPr/>
        </p:nvSpPr>
        <p:spPr>
          <a:xfrm>
            <a:off x="4565904" y="4279392"/>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4" name="TextBox 33"/>
          <p:cNvSpPr txBox="1"/>
          <p:nvPr/>
        </p:nvSpPr>
        <p:spPr>
          <a:xfrm>
            <a:off x="5100828" y="4261104"/>
            <a:ext cx="822960" cy="237744"/>
          </a:xfrm>
          <a:prstGeom prst="rect">
            <a:avLst/>
          </a:prstGeom>
          <a:noFill/>
        </p:spPr>
        <p:txBody>
          <a:bodyPr wrap="square" lIns="0" rIns="0" tIns="0" bIns="0" anchor="ctr">
            <a:spAutoFit/>
          </a:bodyPr>
          <a:lstStyle/>
          <a:p>
            <a:pPr algn="l"/>
            <a:r>
              <a:rPr sz="1050" b="0" i="0">
                <a:solidFill>
                  <a:srgbClr val="4A5058"/>
                </a:solidFill>
              </a:rPr>
              <a:t>Iceberg</a:t>
            </a:r>
          </a:p>
        </p:txBody>
      </p:sp>
      <p:sp>
        <p:nvSpPr>
          <p:cNvPr id="35" name="Rounded Rectangle 34"/>
          <p:cNvSpPr/>
          <p:nvPr/>
        </p:nvSpPr>
        <p:spPr>
          <a:xfrm>
            <a:off x="5708904" y="4279392"/>
            <a:ext cx="461772" cy="201168"/>
          </a:xfrm>
          <a:prstGeom prst="roundRect">
            <a:avLst>
              <a:gd name="adj" fmla="val 50000"/>
            </a:avLst>
          </a:prstGeom>
          <a:solidFill>
            <a:srgbClr val="293352"/>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2.9.6</a:t>
            </a:r>
          </a:p>
        </p:txBody>
      </p:sp>
      <p:sp>
        <p:nvSpPr>
          <p:cNvPr id="36" name="TextBox 35"/>
          <p:cNvSpPr txBox="1"/>
          <p:nvPr/>
        </p:nvSpPr>
        <p:spPr>
          <a:xfrm>
            <a:off x="6239256" y="4261104"/>
            <a:ext cx="1097280" cy="237744"/>
          </a:xfrm>
          <a:prstGeom prst="rect">
            <a:avLst/>
          </a:prstGeom>
          <a:noFill/>
        </p:spPr>
        <p:txBody>
          <a:bodyPr wrap="square" lIns="0" rIns="0" tIns="0" bIns="0" anchor="ctr">
            <a:spAutoFit/>
          </a:bodyPr>
          <a:lstStyle/>
          <a:p>
            <a:pPr algn="l"/>
            <a:r>
              <a:rPr sz="1050" b="0" i="0">
                <a:solidFill>
                  <a:srgbClr val="4A5058"/>
                </a:solidFill>
              </a:rPr>
              <a:t>Delta add</a:t>
            </a:r>
          </a:p>
        </p:txBody>
      </p:sp>
      <p:sp>
        <p:nvSpPr>
          <p:cNvPr id="37" name="Rectangle 36"/>
          <p:cNvSpPr/>
          <p:nvPr/>
        </p:nvSpPr>
        <p:spPr>
          <a:xfrm>
            <a:off x="7988808" y="1444752"/>
            <a:ext cx="3422904" cy="32004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Rectangle 37"/>
          <p:cNvSpPr/>
          <p:nvPr/>
        </p:nvSpPr>
        <p:spPr>
          <a:xfrm>
            <a:off x="7988808" y="1444752"/>
            <a:ext cx="45720" cy="3200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8171688" y="1536192"/>
            <a:ext cx="3148584" cy="3063240"/>
          </a:xfrm>
          <a:prstGeom prst="rect">
            <a:avLst/>
          </a:prstGeom>
          <a:noFill/>
        </p:spPr>
        <p:txBody>
          <a:bodyPr wrap="square" lIns="0" rIns="0" tIns="0" bIns="0" anchor="t">
            <a:spAutoFit/>
          </a:bodyPr>
          <a:lstStyle/>
          <a:p>
            <a:pPr algn="l">
              <a:spcAft>
                <a:spcPts val="600"/>
              </a:spcAft>
            </a:pPr>
            <a:r>
              <a:rPr sz="1400" b="1" i="0">
                <a:solidFill>
                  <a:srgbClr val="8A1626"/>
                </a:solidFill>
              </a:rPr>
              <a:t>History is never rewritten</a:t>
            </a:r>
          </a:p>
          <a:p>
            <a:pPr algn="l"/>
            <a:r>
              <a:rPr sz="1200" b="0" i="0">
                <a:solidFill>
                  <a:srgbClr val="1A1A1A"/>
                </a:solidFill>
              </a:rPr>
              <a:t>Time travel shows each version as it was; official records are append-only. Adding a field never invalidates the lake, and a figure of record can still be recomputed from its inputs.</a:t>
            </a:r>
          </a:p>
        </p:txBody>
      </p:sp>
      <p:sp>
        <p:nvSpPr>
          <p:cNvPr id="40" name="Rounded Rectangle 39"/>
          <p:cNvSpPr/>
          <p:nvPr/>
        </p:nvSpPr>
        <p:spPr>
          <a:xfrm>
            <a:off x="8171688" y="4279392"/>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1" name="Rectangle 40"/>
          <p:cNvSpPr/>
          <p:nvPr/>
        </p:nvSpPr>
        <p:spPr>
          <a:xfrm>
            <a:off x="777240" y="4828032"/>
            <a:ext cx="10634472" cy="1435607"/>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941832" y="4901184"/>
            <a:ext cx="10360152" cy="1344167"/>
          </a:xfrm>
          <a:prstGeom prst="rect">
            <a:avLst/>
          </a:prstGeom>
          <a:noFill/>
        </p:spPr>
        <p:txBody>
          <a:bodyPr wrap="square" lIns="0" rIns="0" tIns="0" bIns="0" anchor="ctr">
            <a:spAutoFit/>
          </a:bodyPr>
          <a:lstStyle/>
          <a:p>
            <a:pPr algn="l">
              <a:spcAft>
                <a:spcPts val="100"/>
              </a:spcAft>
            </a:pPr>
            <a:r>
              <a:rPr sz="1100" b="0" i="0">
                <a:solidFill>
                  <a:srgbClr val="9AA0A8"/>
                </a:solidFill>
                <a:latin typeface="Courier New"/>
              </a:rPr>
              <a:t># before: the source sends A and B</a:t>
            </a:r>
          </a:p>
          <a:p>
            <a:pPr algn="l">
              <a:spcAft>
                <a:spcPts val="100"/>
              </a:spcAft>
            </a:pPr>
            <a:r>
              <a:rPr sz="1100" b="0" i="0">
                <a:solidFill>
                  <a:srgbClr val="F1EEE9"/>
                </a:solidFill>
                <a:latin typeface="Courier New"/>
              </a:rPr>
              <a:t>{"id":"T1", "doc":{"A":1,"B":2}, "A":1}</a:t>
            </a:r>
          </a:p>
          <a:p>
            <a:pPr algn="l">
              <a:spcAft>
                <a:spcPts val="100"/>
              </a:spcAft>
            </a:pPr>
            <a:r>
              <a:rPr sz="1100" b="0" i="0">
                <a:solidFill>
                  <a:srgbClr val="9AA0A8"/>
                </a:solidFill>
                <a:latin typeface="Courier New"/>
              </a:rPr>
              <a:t># after: the source adds C; nothing to migrate, C is in doc at once</a:t>
            </a:r>
          </a:p>
          <a:p>
            <a:pPr algn="l">
              <a:spcAft>
                <a:spcPts val="100"/>
              </a:spcAft>
            </a:pPr>
            <a:r>
              <a:rPr sz="1100" b="0" i="0">
                <a:solidFill>
                  <a:srgbClr val="F1EEE9"/>
                </a:solidFill>
                <a:latin typeface="Courier New"/>
              </a:rPr>
              <a:t>{"id":"T2", "doc":{"A":3,"B":4,"C":5}, "A":3}</a:t>
            </a:r>
          </a:p>
          <a:p>
            <a:pPr algn="l">
              <a:spcAft>
                <a:spcPts val="100"/>
              </a:spcAft>
            </a:pPr>
            <a:r>
              <a:rPr sz="1100" b="0" i="0">
                <a:solidFill>
                  <a:srgbClr val="9AA0A8"/>
                </a:solidFill>
                <a:latin typeface="Courier New"/>
              </a:rPr>
              <a:t># C promoted to a column: new rows carry it, old files read it as empty (null)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06</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Deployment and AWS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DEPLOYMENT OPTIONS</a:t>
            </a:r>
          </a:p>
        </p:txBody>
      </p:sp>
      <p:sp>
        <p:nvSpPr>
          <p:cNvPr id="3" name="Title 2"/>
          <p:cNvSpPr>
            <a:spLocks noGrp="1"/>
          </p:cNvSpPr>
          <p:nvPr>
            <p:ph type="title" idx="104"/>
          </p:nvPr>
        </p:nvSpPr>
        <p:spPr/>
        <p:txBody>
          <a:bodyPr/>
          <a:lstStyle/>
          <a:p>
            <a:r>
              <a:t>Delta or Iceberg, on premises or on AWS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2423160" y="1417320"/>
            <a:ext cx="4448556"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300" b="1" i="0">
                <a:solidFill>
                  <a:srgbClr val="FFFFFF"/>
                </a:solidFill>
              </a:rPr>
              <a:t>Delta Lake</a:t>
            </a:r>
          </a:p>
        </p:txBody>
      </p:sp>
      <p:sp>
        <p:nvSpPr>
          <p:cNvPr id="27" name="Rectangle 26"/>
          <p:cNvSpPr/>
          <p:nvPr/>
        </p:nvSpPr>
        <p:spPr>
          <a:xfrm>
            <a:off x="6963156" y="1417320"/>
            <a:ext cx="4448556"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300" b="1" i="0">
                <a:solidFill>
                  <a:srgbClr val="FFFFFF"/>
                </a:solidFill>
              </a:rPr>
              <a:t>Iceberg</a:t>
            </a:r>
          </a:p>
        </p:txBody>
      </p:sp>
      <p:sp>
        <p:nvSpPr>
          <p:cNvPr id="28" name="Rectangle 27"/>
          <p:cNvSpPr/>
          <p:nvPr/>
        </p:nvSpPr>
        <p:spPr>
          <a:xfrm>
            <a:off x="777240" y="1874519"/>
            <a:ext cx="1554480" cy="150876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tIns="0" bIns="0" wrap="square"/>
          <a:lstStyle/>
          <a:p>
            <a:pPr algn="l"/>
            <a:r>
              <a:rPr sz="1300" b="1" i="0">
                <a:solidFill>
                  <a:srgbClr val="8A1626"/>
                </a:solidFill>
              </a:rPr>
              <a:t>On premises</a:t>
            </a:r>
          </a:p>
        </p:txBody>
      </p:sp>
      <p:sp>
        <p:nvSpPr>
          <p:cNvPr id="29" name="Rectangle 28"/>
          <p:cNvSpPr/>
          <p:nvPr/>
        </p:nvSpPr>
        <p:spPr>
          <a:xfrm>
            <a:off x="2423160" y="1874519"/>
            <a:ext cx="4448556" cy="15087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Rounded Rectangle 29"/>
          <p:cNvSpPr/>
          <p:nvPr/>
        </p:nvSpPr>
        <p:spPr>
          <a:xfrm>
            <a:off x="2560320" y="2048255"/>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1" name="TextBox 30"/>
          <p:cNvSpPr txBox="1"/>
          <p:nvPr/>
        </p:nvSpPr>
        <p:spPr>
          <a:xfrm>
            <a:off x="3246120" y="2011679"/>
            <a:ext cx="3534156" cy="292608"/>
          </a:xfrm>
          <a:prstGeom prst="rect">
            <a:avLst/>
          </a:prstGeom>
          <a:noFill/>
        </p:spPr>
        <p:txBody>
          <a:bodyPr wrap="square" lIns="0" rIns="0" tIns="0" bIns="0" anchor="ctr">
            <a:spAutoFit/>
          </a:bodyPr>
          <a:lstStyle/>
          <a:p>
            <a:pPr algn="l"/>
            <a:r>
              <a:rPr sz="1200" b="0" i="0">
                <a:solidFill>
                  <a:srgbClr val="1A1A1A"/>
                </a:solidFill>
              </a:rPr>
              <a:t>VaR inputs from Delta tables</a:t>
            </a:r>
          </a:p>
        </p:txBody>
      </p:sp>
      <p:sp>
        <p:nvSpPr>
          <p:cNvPr id="32" name="Rounded Rectangle 31"/>
          <p:cNvSpPr/>
          <p:nvPr/>
        </p:nvSpPr>
        <p:spPr>
          <a:xfrm>
            <a:off x="2560320" y="2505456"/>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3" name="TextBox 32"/>
          <p:cNvSpPr txBox="1"/>
          <p:nvPr/>
        </p:nvSpPr>
        <p:spPr>
          <a:xfrm>
            <a:off x="3246120" y="2468879"/>
            <a:ext cx="3534156" cy="292608"/>
          </a:xfrm>
          <a:prstGeom prst="rect">
            <a:avLst/>
          </a:prstGeom>
          <a:noFill/>
        </p:spPr>
        <p:txBody>
          <a:bodyPr wrap="square" lIns="0" rIns="0" tIns="0" bIns="0" anchor="ctr">
            <a:spAutoFit/>
          </a:bodyPr>
          <a:lstStyle/>
          <a:p>
            <a:pPr algn="l"/>
            <a:r>
              <a:rPr sz="1200" b="0" i="0">
                <a:solidFill>
                  <a:srgbClr val="1A1A1A"/>
                </a:solidFill>
              </a:rPr>
              <a:t>Official results: append-only Delta + JSONL</a:t>
            </a:r>
          </a:p>
        </p:txBody>
      </p:sp>
      <p:sp>
        <p:nvSpPr>
          <p:cNvPr id="34" name="Rounded Rectangle 33"/>
          <p:cNvSpPr/>
          <p:nvPr/>
        </p:nvSpPr>
        <p:spPr>
          <a:xfrm>
            <a:off x="2560320" y="2962656"/>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5" name="TextBox 34"/>
          <p:cNvSpPr txBox="1"/>
          <p:nvPr/>
        </p:nvSpPr>
        <p:spPr>
          <a:xfrm>
            <a:off x="3246120" y="2926079"/>
            <a:ext cx="3534156" cy="292608"/>
          </a:xfrm>
          <a:prstGeom prst="rect">
            <a:avLst/>
          </a:prstGeom>
          <a:noFill/>
        </p:spPr>
        <p:txBody>
          <a:bodyPr wrap="square" lIns="0" rIns="0" tIns="0" bIns="0" anchor="ctr">
            <a:spAutoFit/>
          </a:bodyPr>
          <a:lstStyle/>
          <a:p>
            <a:pPr algn="l"/>
            <a:r>
              <a:rPr sz="1200" b="0" i="0">
                <a:solidFill>
                  <a:srgbClr val="1A1A1A"/>
                </a:solidFill>
              </a:rPr>
              <a:t>Lake maintenance; 7-year floor for risk</a:t>
            </a:r>
          </a:p>
        </p:txBody>
      </p:sp>
      <p:sp>
        <p:nvSpPr>
          <p:cNvPr id="36" name="Rectangle 35"/>
          <p:cNvSpPr/>
          <p:nvPr/>
        </p:nvSpPr>
        <p:spPr>
          <a:xfrm>
            <a:off x="6963156" y="1874519"/>
            <a:ext cx="4448556" cy="15087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Rounded Rectangle 36"/>
          <p:cNvSpPr/>
          <p:nvPr/>
        </p:nvSpPr>
        <p:spPr>
          <a:xfrm>
            <a:off x="7100316" y="2048255"/>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8" name="TextBox 37"/>
          <p:cNvSpPr txBox="1"/>
          <p:nvPr/>
        </p:nvSpPr>
        <p:spPr>
          <a:xfrm>
            <a:off x="7786116" y="2011679"/>
            <a:ext cx="3534156" cy="292608"/>
          </a:xfrm>
          <a:prstGeom prst="rect">
            <a:avLst/>
          </a:prstGeom>
          <a:noFill/>
        </p:spPr>
        <p:txBody>
          <a:bodyPr wrap="square" lIns="0" rIns="0" tIns="0" bIns="0" anchor="ctr">
            <a:spAutoFit/>
          </a:bodyPr>
          <a:lstStyle/>
          <a:p>
            <a:pPr algn="l"/>
            <a:r>
              <a:rPr sz="1200" b="0" i="0">
                <a:solidFill>
                  <a:srgbClr val="1A1A1A"/>
                </a:solidFill>
              </a:rPr>
              <a:t>VaR, intraday, exposure on Iceberg (2.9.5)</a:t>
            </a:r>
          </a:p>
        </p:txBody>
      </p:sp>
      <p:sp>
        <p:nvSpPr>
          <p:cNvPr id="39" name="Rounded Rectangle 38"/>
          <p:cNvSpPr/>
          <p:nvPr/>
        </p:nvSpPr>
        <p:spPr>
          <a:xfrm>
            <a:off x="7100316" y="2505456"/>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0" name="TextBox 39"/>
          <p:cNvSpPr txBox="1"/>
          <p:nvPr/>
        </p:nvSpPr>
        <p:spPr>
          <a:xfrm>
            <a:off x="7786116" y="2468879"/>
            <a:ext cx="3534156" cy="292608"/>
          </a:xfrm>
          <a:prstGeom prst="rect">
            <a:avLst/>
          </a:prstGeom>
          <a:noFill/>
        </p:spPr>
        <p:txBody>
          <a:bodyPr wrap="square" lIns="0" rIns="0" tIns="0" bIns="0" anchor="ctr">
            <a:spAutoFit/>
          </a:bodyPr>
          <a:lstStyle/>
          <a:p>
            <a:pPr algn="l"/>
            <a:r>
              <a:rPr sz="1200" b="0" i="0">
                <a:solidFill>
                  <a:srgbClr val="1A1A1A"/>
                </a:solidFill>
              </a:rPr>
              <a:t>Official results to Iceberg (2.9.5)</a:t>
            </a:r>
          </a:p>
        </p:txBody>
      </p:sp>
      <p:sp>
        <p:nvSpPr>
          <p:cNvPr id="41" name="Rounded Rectangle 40"/>
          <p:cNvSpPr/>
          <p:nvPr/>
        </p:nvSpPr>
        <p:spPr>
          <a:xfrm>
            <a:off x="7100316" y="2962656"/>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2" name="TextBox 41"/>
          <p:cNvSpPr txBox="1"/>
          <p:nvPr/>
        </p:nvSpPr>
        <p:spPr>
          <a:xfrm>
            <a:off x="7786116" y="2926079"/>
            <a:ext cx="3534156" cy="292608"/>
          </a:xfrm>
          <a:prstGeom prst="rect">
            <a:avLst/>
          </a:prstGeom>
          <a:noFill/>
        </p:spPr>
        <p:txBody>
          <a:bodyPr wrap="square" lIns="0" rIns="0" tIns="0" bIns="0" anchor="ctr">
            <a:spAutoFit/>
          </a:bodyPr>
          <a:lstStyle/>
          <a:p>
            <a:pPr algn="l"/>
            <a:r>
              <a:rPr sz="1200" b="0" i="0">
                <a:solidFill>
                  <a:srgbClr val="1A1A1A"/>
                </a:solidFill>
              </a:rPr>
              <a:t>Maintenance, orphans, 7-year floor (2.9.5)</a:t>
            </a:r>
          </a:p>
        </p:txBody>
      </p:sp>
      <p:sp>
        <p:nvSpPr>
          <p:cNvPr id="43" name="Rectangle 42"/>
          <p:cNvSpPr/>
          <p:nvPr/>
        </p:nvSpPr>
        <p:spPr>
          <a:xfrm>
            <a:off x="777240" y="3474720"/>
            <a:ext cx="1554480" cy="150876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tIns="0" bIns="0" wrap="square"/>
          <a:lstStyle/>
          <a:p>
            <a:pPr algn="l"/>
            <a:r>
              <a:rPr sz="1300" b="1" i="0">
                <a:solidFill>
                  <a:srgbClr val="8A1626"/>
                </a:solidFill>
              </a:rPr>
              <a:t>AWS</a:t>
            </a:r>
          </a:p>
        </p:txBody>
      </p:sp>
      <p:sp>
        <p:nvSpPr>
          <p:cNvPr id="44" name="Rectangle 43"/>
          <p:cNvSpPr/>
          <p:nvPr/>
        </p:nvSpPr>
        <p:spPr>
          <a:xfrm>
            <a:off x="2423160" y="3474720"/>
            <a:ext cx="4448556" cy="15087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Rounded Rectangle 44"/>
          <p:cNvSpPr/>
          <p:nvPr/>
        </p:nvSpPr>
        <p:spPr>
          <a:xfrm>
            <a:off x="2560320" y="3648456"/>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6" name="TextBox 45"/>
          <p:cNvSpPr txBox="1"/>
          <p:nvPr/>
        </p:nvSpPr>
        <p:spPr>
          <a:xfrm>
            <a:off x="3246120" y="3611879"/>
            <a:ext cx="3534156" cy="292608"/>
          </a:xfrm>
          <a:prstGeom prst="rect">
            <a:avLst/>
          </a:prstGeom>
          <a:noFill/>
        </p:spPr>
        <p:txBody>
          <a:bodyPr wrap="square" lIns="0" rIns="0" tIns="0" bIns="0" anchor="ctr">
            <a:spAutoFit/>
          </a:bodyPr>
          <a:lstStyle/>
          <a:p>
            <a:pPr algn="l"/>
            <a:r>
              <a:rPr sz="1200" b="0" i="0">
                <a:solidFill>
                  <a:srgbClr val="1A1A1A"/>
                </a:solidFill>
              </a:rPr>
              <a:t>Reading Delta tables in S3</a:t>
            </a:r>
          </a:p>
        </p:txBody>
      </p:sp>
      <p:sp>
        <p:nvSpPr>
          <p:cNvPr id="47" name="Rounded Rectangle 46"/>
          <p:cNvSpPr/>
          <p:nvPr/>
        </p:nvSpPr>
        <p:spPr>
          <a:xfrm>
            <a:off x="2560320" y="4105655"/>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8" name="TextBox 47"/>
          <p:cNvSpPr txBox="1"/>
          <p:nvPr/>
        </p:nvSpPr>
        <p:spPr>
          <a:xfrm>
            <a:off x="3246120" y="4069079"/>
            <a:ext cx="3534156" cy="292608"/>
          </a:xfrm>
          <a:prstGeom prst="rect">
            <a:avLst/>
          </a:prstGeom>
          <a:noFill/>
        </p:spPr>
        <p:txBody>
          <a:bodyPr wrap="square" lIns="0" rIns="0" tIns="0" bIns="0" anchor="ctr">
            <a:spAutoFit/>
          </a:bodyPr>
          <a:lstStyle/>
          <a:p>
            <a:pPr algn="l"/>
            <a:r>
              <a:rPr sz="1200" b="0" i="0">
                <a:solidFill>
                  <a:srgbClr val="1A1A1A"/>
                </a:solidFill>
              </a:rPr>
              <a:t>Official publish to an EFS Delta root</a:t>
            </a:r>
          </a:p>
        </p:txBody>
      </p:sp>
      <p:sp>
        <p:nvSpPr>
          <p:cNvPr id="49" name="Rounded Rectangle 48"/>
          <p:cNvSpPr/>
          <p:nvPr/>
        </p:nvSpPr>
        <p:spPr>
          <a:xfrm>
            <a:off x="2560320" y="4562855"/>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0" name="TextBox 49"/>
          <p:cNvSpPr txBox="1"/>
          <p:nvPr/>
        </p:nvSpPr>
        <p:spPr>
          <a:xfrm>
            <a:off x="3246120" y="4526279"/>
            <a:ext cx="3534156" cy="292608"/>
          </a:xfrm>
          <a:prstGeom prst="rect">
            <a:avLst/>
          </a:prstGeom>
          <a:noFill/>
        </p:spPr>
        <p:txBody>
          <a:bodyPr wrap="square" lIns="0" rIns="0" tIns="0" bIns="0" anchor="ctr">
            <a:spAutoFit/>
          </a:bodyPr>
          <a:lstStyle/>
          <a:p>
            <a:pPr algn="l"/>
            <a:r>
              <a:rPr sz="1200" b="0" i="0">
                <a:solidFill>
                  <a:srgbClr val="1A1A1A"/>
                </a:solidFill>
              </a:rPr>
              <a:t>Official results to s3:// (2.9.5)</a:t>
            </a:r>
          </a:p>
        </p:txBody>
      </p:sp>
      <p:sp>
        <p:nvSpPr>
          <p:cNvPr id="51" name="Rectangle 50"/>
          <p:cNvSpPr/>
          <p:nvPr/>
        </p:nvSpPr>
        <p:spPr>
          <a:xfrm>
            <a:off x="6963156" y="3474720"/>
            <a:ext cx="4448556" cy="15087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Rounded Rectangle 51"/>
          <p:cNvSpPr/>
          <p:nvPr/>
        </p:nvSpPr>
        <p:spPr>
          <a:xfrm>
            <a:off x="7100316" y="3648456"/>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3" name="TextBox 52"/>
          <p:cNvSpPr txBox="1"/>
          <p:nvPr/>
        </p:nvSpPr>
        <p:spPr>
          <a:xfrm>
            <a:off x="7786116" y="3611879"/>
            <a:ext cx="3534156" cy="292608"/>
          </a:xfrm>
          <a:prstGeom prst="rect">
            <a:avLst/>
          </a:prstGeom>
          <a:noFill/>
        </p:spPr>
        <p:txBody>
          <a:bodyPr wrap="square" lIns="0" rIns="0" tIns="0" bIns="0" anchor="ctr">
            <a:spAutoFit/>
          </a:bodyPr>
          <a:lstStyle/>
          <a:p>
            <a:pPr algn="l"/>
            <a:r>
              <a:rPr sz="1200" b="0" i="0">
                <a:solidFill>
                  <a:srgbClr val="1A1A1A"/>
                </a:solidFill>
              </a:rPr>
              <a:t>Iceberg on S3; AWS scripts (2.9.5)</a:t>
            </a:r>
          </a:p>
        </p:txBody>
      </p:sp>
      <p:sp>
        <p:nvSpPr>
          <p:cNvPr id="54" name="Rounded Rectangle 53"/>
          <p:cNvSpPr/>
          <p:nvPr/>
        </p:nvSpPr>
        <p:spPr>
          <a:xfrm>
            <a:off x="7100316" y="4105655"/>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5" name="TextBox 54"/>
          <p:cNvSpPr txBox="1"/>
          <p:nvPr/>
        </p:nvSpPr>
        <p:spPr>
          <a:xfrm>
            <a:off x="7786116" y="4069079"/>
            <a:ext cx="3534156" cy="292608"/>
          </a:xfrm>
          <a:prstGeom prst="rect">
            <a:avLst/>
          </a:prstGeom>
          <a:noFill/>
        </p:spPr>
        <p:txBody>
          <a:bodyPr wrap="square" lIns="0" rIns="0" tIns="0" bIns="0" anchor="ctr">
            <a:spAutoFit/>
          </a:bodyPr>
          <a:lstStyle/>
          <a:p>
            <a:pPr algn="l"/>
            <a:r>
              <a:rPr sz="1200" b="0" i="0">
                <a:solidFill>
                  <a:srgbClr val="1A1A1A"/>
                </a:solidFill>
              </a:rPr>
              <a:t>Admin → Lakes, disk caches (2.9.5)</a:t>
            </a:r>
          </a:p>
        </p:txBody>
      </p:sp>
      <p:sp>
        <p:nvSpPr>
          <p:cNvPr id="56" name="Rounded Rectangle 55"/>
          <p:cNvSpPr/>
          <p:nvPr/>
        </p:nvSpPr>
        <p:spPr>
          <a:xfrm>
            <a:off x="7100316" y="4562855"/>
            <a:ext cx="548640" cy="201168"/>
          </a:xfrm>
          <a:prstGeom prst="roundRect">
            <a:avLst>
              <a:gd name="adj" fmla="val 50000"/>
            </a:avLst>
          </a:prstGeom>
          <a:solidFill>
            <a:srgbClr val="293352"/>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2.9.6</a:t>
            </a:r>
          </a:p>
        </p:txBody>
      </p:sp>
      <p:sp>
        <p:nvSpPr>
          <p:cNvPr id="57" name="TextBox 56"/>
          <p:cNvSpPr txBox="1"/>
          <p:nvPr/>
        </p:nvSpPr>
        <p:spPr>
          <a:xfrm>
            <a:off x="7786116" y="4526279"/>
            <a:ext cx="3534156" cy="292608"/>
          </a:xfrm>
          <a:prstGeom prst="rect">
            <a:avLst/>
          </a:prstGeom>
          <a:noFill/>
        </p:spPr>
        <p:txBody>
          <a:bodyPr wrap="square" lIns="0" rIns="0" tIns="0" bIns="0" anchor="ctr">
            <a:spAutoFit/>
          </a:bodyPr>
          <a:lstStyle/>
          <a:p>
            <a:pPr algn="l"/>
            <a:r>
              <a:rPr sz="1200" b="0" i="0">
                <a:solidFill>
                  <a:srgbClr val="1A1A1A"/>
                </a:solidFill>
              </a:rPr>
              <a:t>Glue and S3 Tables: built; first AWS run</a:t>
            </a:r>
          </a:p>
        </p:txBody>
      </p:sp>
      <p:sp>
        <p:nvSpPr>
          <p:cNvPr id="58" name="Rectangle 57"/>
          <p:cNvSpPr/>
          <p:nvPr/>
        </p:nvSpPr>
        <p:spPr>
          <a:xfrm>
            <a:off x="777240" y="5166360"/>
            <a:ext cx="10634472" cy="105156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Rectangle 58"/>
          <p:cNvSpPr/>
          <p:nvPr/>
        </p:nvSpPr>
        <p:spPr>
          <a:xfrm>
            <a:off x="777240" y="5166360"/>
            <a:ext cx="54864"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xtBox 59"/>
          <p:cNvSpPr txBox="1"/>
          <p:nvPr/>
        </p:nvSpPr>
        <p:spPr>
          <a:xfrm>
            <a:off x="1005840" y="5166360"/>
            <a:ext cx="10314432" cy="1051560"/>
          </a:xfrm>
          <a:prstGeom prst="rect">
            <a:avLst/>
          </a:prstGeom>
          <a:noFill/>
        </p:spPr>
        <p:txBody>
          <a:bodyPr wrap="square" lIns="0" rIns="0" tIns="0" bIns="0" anchor="ctr">
            <a:spAutoFit/>
          </a:bodyPr>
          <a:lstStyle/>
          <a:p>
            <a:pPr algn="l">
              <a:spcAft>
                <a:spcPts val="300"/>
              </a:spcAft>
            </a:pPr>
            <a:r>
              <a:rPr sz="1250" b="1" i="0">
                <a:solidFill>
                  <a:srgbClr val="A51C30"/>
                </a:solidFill>
              </a:rPr>
              <a:t>Above the storage plugins, one product  </a:t>
            </a:r>
            <a:r>
              <a:rPr sz="1200" b="0" i="0">
                <a:solidFill>
                  <a:srgbClr val="1A1A1A"/>
                </a:solidFill>
              </a:rPr>
              <a:t>packs, data contracts, connector names, engines, BI, UI and Drishti*net are the same on Delta and Iceberg; VaR and exposure are equal to the cent on both (VAR BANK USD 112,041,646 on the demo data). Delta is the default.</a:t>
            </a:r>
          </a:p>
          <a:p>
            <a:pPr algn="l"/>
            <a:r>
              <a:rPr sz="1150" b="0" i="1">
                <a:solidFill>
                  <a:srgbClr val="4A5058"/>
                </a:solidFill>
              </a:rPr>
              <a:t>See the companion decks: Drishti on AWS with Delta Lake, and Drishti on AWS with Iceberg.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AWS · EXAMPLE REGION CA-CENTRAL-1</a:t>
            </a:r>
          </a:p>
        </p:txBody>
      </p:sp>
      <p:sp>
        <p:nvSpPr>
          <p:cNvPr id="3" name="Title 2"/>
          <p:cNvSpPr>
            <a:spLocks noGrp="1"/>
          </p:cNvSpPr>
          <p:nvPr>
            <p:ph type="title" idx="104"/>
          </p:nvPr>
        </p:nvSpPr>
        <p:spPr/>
        <p:txBody>
          <a:bodyPr/>
          <a:lstStyle/>
          <a:p>
            <a:r>
              <a:t>Drishti on AWS: ECS, Fargate, S3 first, as little EFS as possible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ounded Rectangle 25"/>
          <p:cNvSpPr/>
          <p:nvPr/>
        </p:nvSpPr>
        <p:spPr>
          <a:xfrm>
            <a:off x="777240" y="1600200"/>
            <a:ext cx="1188720" cy="566928"/>
          </a:xfrm>
          <a:prstGeom prst="roundRect">
            <a:avLst>
              <a:gd name="adj" fmla="val 10000"/>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50" b="1" i="0">
                <a:solidFill>
                  <a:srgbClr val="FFFFFF"/>
                </a:solidFill>
              </a:rPr>
              <a:t>Users</a:t>
            </a:r>
          </a:p>
          <a:p>
            <a:pPr algn="ctr"/>
            <a:r>
              <a:rPr sz="950" b="0" i="0">
                <a:solidFill>
                  <a:srgbClr val="FFFFFF"/>
                </a:solidFill>
              </a:rPr>
              <a:t>bank network</a:t>
            </a:r>
          </a:p>
        </p:txBody>
      </p:sp>
      <p:sp>
        <p:nvSpPr>
          <p:cNvPr id="27" name="Rounded Rectangle 26"/>
          <p:cNvSpPr/>
          <p:nvPr/>
        </p:nvSpPr>
        <p:spPr>
          <a:xfrm>
            <a:off x="777240" y="3154680"/>
            <a:ext cx="1188720" cy="640080"/>
          </a:xfrm>
          <a:prstGeom prst="roundRect">
            <a:avLst>
              <a:gd name="adj" fmla="val 10000"/>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50" b="1" i="0">
                <a:solidFill>
                  <a:srgbClr val="FFFFFF"/>
                </a:solidFill>
              </a:rPr>
              <a:t>Pricing systems</a:t>
            </a:r>
          </a:p>
          <a:p>
            <a:pPr algn="ctr"/>
            <a:r>
              <a:rPr sz="950" b="0" i="0">
                <a:solidFill>
                  <a:srgbClr val="FFFFFF"/>
                </a:solidFill>
              </a:rPr>
              <a:t>PVs, P&amp;L</a:t>
            </a:r>
          </a:p>
        </p:txBody>
      </p:sp>
      <p:sp>
        <p:nvSpPr>
          <p:cNvPr id="28" name="Rounded Rectangle 27"/>
          <p:cNvSpPr/>
          <p:nvPr/>
        </p:nvSpPr>
        <p:spPr>
          <a:xfrm>
            <a:off x="2148840" y="1389888"/>
            <a:ext cx="9262872" cy="2944368"/>
          </a:xfrm>
          <a:prstGeom prst="roundRect">
            <a:avLst>
              <a:gd name="adj" fmla="val 3000"/>
            </a:avLst>
          </a:prstGeom>
          <a:no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2258568" y="1399032"/>
            <a:ext cx="4572000" cy="219456"/>
          </a:xfrm>
          <a:prstGeom prst="rect">
            <a:avLst/>
          </a:prstGeom>
          <a:noFill/>
        </p:spPr>
        <p:txBody>
          <a:bodyPr wrap="square" lIns="0" rIns="0" tIns="0" bIns="0" anchor="ctr">
            <a:spAutoFit/>
          </a:bodyPr>
          <a:lstStyle/>
          <a:p>
            <a:pPr algn="l"/>
            <a:r>
              <a:rPr sz="1000" b="1" i="0">
                <a:solidFill>
                  <a:srgbClr val="A51C30"/>
                </a:solidFill>
              </a:rPr>
              <a:t>Region (example): ca-central-1 · VPC, private subnets in two AZs</a:t>
            </a:r>
          </a:p>
        </p:txBody>
      </p:sp>
      <p:sp>
        <p:nvSpPr>
          <p:cNvPr id="30" name="Rounded Rectangle 29"/>
          <p:cNvSpPr/>
          <p:nvPr/>
        </p:nvSpPr>
        <p:spPr>
          <a:xfrm>
            <a:off x="2286000" y="1691640"/>
            <a:ext cx="914400" cy="502920"/>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50" b="1" i="0">
                <a:solidFill>
                  <a:srgbClr val="8A1626"/>
                </a:solidFill>
              </a:rPr>
              <a:t>ALB</a:t>
            </a:r>
          </a:p>
          <a:p>
            <a:pPr algn="ctr"/>
            <a:r>
              <a:rPr sz="950" b="0" i="0">
                <a:solidFill>
                  <a:srgbClr val="4A5058"/>
                </a:solidFill>
              </a:rPr>
              <a:t>HTTPS</a:t>
            </a:r>
          </a:p>
        </p:txBody>
      </p:sp>
      <p:sp>
        <p:nvSpPr>
          <p:cNvPr id="31" name="Rounded Rectangle 30"/>
          <p:cNvSpPr/>
          <p:nvPr/>
        </p:nvSpPr>
        <p:spPr>
          <a:xfrm>
            <a:off x="3383280" y="1664208"/>
            <a:ext cx="1463040" cy="566928"/>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50" b="1" i="0">
                <a:solidFill>
                  <a:srgbClr val="8A1626"/>
                </a:solidFill>
              </a:rPr>
              <a:t>Consoles · 2+</a:t>
            </a:r>
          </a:p>
          <a:p>
            <a:pPr algn="ctr"/>
            <a:r>
              <a:rPr sz="950" b="0" i="0">
                <a:solidFill>
                  <a:srgbClr val="4A5058"/>
                </a:solidFill>
              </a:rPr>
              <a:t>ECS Fargate</a:t>
            </a:r>
          </a:p>
        </p:txBody>
      </p:sp>
      <p:sp>
        <p:nvSpPr>
          <p:cNvPr id="32" name="Rounded Rectangle 31"/>
          <p:cNvSpPr/>
          <p:nvPr/>
        </p:nvSpPr>
        <p:spPr>
          <a:xfrm>
            <a:off x="3383280" y="2514600"/>
            <a:ext cx="1463040" cy="566928"/>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50" b="1" i="0">
                <a:solidFill>
                  <a:srgbClr val="8A1626"/>
                </a:solidFill>
              </a:rPr>
              <a:t>Kafka</a:t>
            </a:r>
          </a:p>
          <a:p>
            <a:pPr algn="ctr"/>
            <a:r>
              <a:rPr sz="950" b="0" i="0">
                <a:solidFill>
                  <a:srgbClr val="4A5058"/>
                </a:solidFill>
              </a:rPr>
              <a:t>MSK or the bank's own</a:t>
            </a:r>
          </a:p>
        </p:txBody>
      </p:sp>
      <p:sp>
        <p:nvSpPr>
          <p:cNvPr id="33" name="Rounded Rectangle 32"/>
          <p:cNvSpPr/>
          <p:nvPr/>
        </p:nvSpPr>
        <p:spPr>
          <a:xfrm>
            <a:off x="2286000" y="3383280"/>
            <a:ext cx="2560320" cy="749808"/>
          </a:xfrm>
          <a:prstGeom prst="roundRect">
            <a:avLst>
              <a:gd name="adj" fmla="val 10000"/>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50" b="1" i="0">
                <a:solidFill>
                  <a:srgbClr val="8A1626"/>
                </a:solidFill>
              </a:rPr>
              <a:t>EFS, small (≈ 0.5 TB)</a:t>
            </a:r>
          </a:p>
          <a:p>
            <a:pPr algn="ctr"/>
            <a:r>
              <a:rPr sz="950" b="0" i="0">
                <a:solidFill>
                  <a:srgbClr val="4A5058"/>
                </a:solidFill>
              </a:rPr>
              <a:t>config, Sutras, each node's data folder</a:t>
            </a:r>
          </a:p>
        </p:txBody>
      </p:sp>
      <p:sp>
        <p:nvSpPr>
          <p:cNvPr id="34" name="Rounded Rectangle 33"/>
          <p:cNvSpPr/>
          <p:nvPr/>
        </p:nvSpPr>
        <p:spPr>
          <a:xfrm>
            <a:off x="5029200" y="1664208"/>
            <a:ext cx="3520440" cy="2514600"/>
          </a:xfrm>
          <a:prstGeom prst="roundRect">
            <a:avLst>
              <a:gd name="adj" fmla="val 5000"/>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5102352" y="1682496"/>
            <a:ext cx="3374136" cy="384048"/>
          </a:xfrm>
          <a:prstGeom prst="rect">
            <a:avLst/>
          </a:prstGeom>
          <a:noFill/>
        </p:spPr>
        <p:txBody>
          <a:bodyPr wrap="square" lIns="0" rIns="0" tIns="0" bIns="0" anchor="t">
            <a:spAutoFit/>
          </a:bodyPr>
          <a:lstStyle/>
          <a:p>
            <a:pPr algn="ctr"/>
            <a:r>
              <a:rPr sz="1050" b="1" i="0">
                <a:solidFill>
                  <a:srgbClr val="8A1626"/>
                </a:solidFill>
              </a:rPr>
              <a:t>A: VaR server tasks · ECS on EC2 capacity</a:t>
            </a:r>
          </a:p>
          <a:p>
            <a:pPr algn="ctr"/>
            <a:r>
              <a:rPr sz="950" b="0" i="0">
                <a:solidFill>
                  <a:srgbClr val="4A5058"/>
                </a:solidFill>
              </a:rPr>
              <a:t>(or ECS Managed Instances) until sharding</a:t>
            </a:r>
          </a:p>
        </p:txBody>
      </p:sp>
      <p:sp>
        <p:nvSpPr>
          <p:cNvPr id="36" name="Rounded Rectangle 35"/>
          <p:cNvSpPr/>
          <p:nvPr/>
        </p:nvSpPr>
        <p:spPr>
          <a:xfrm>
            <a:off x="5138928" y="2121408"/>
            <a:ext cx="1143000" cy="566928"/>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00" b="1" i="0">
                <a:solidFill>
                  <a:srgbClr val="8A1626"/>
                </a:solidFill>
              </a:rPr>
              <a:t>Intraday writer</a:t>
            </a:r>
          </a:p>
          <a:p>
            <a:pPr algn="ctr"/>
            <a:r>
              <a:rPr sz="950" b="0" i="0">
                <a:solidFill>
                  <a:srgbClr val="4A5058"/>
                </a:solidFill>
              </a:rPr>
              <a:t>AZ a</a:t>
            </a:r>
          </a:p>
        </p:txBody>
      </p:sp>
      <p:sp>
        <p:nvSpPr>
          <p:cNvPr id="37" name="Can 36"/>
          <p:cNvSpPr/>
          <p:nvPr/>
        </p:nvSpPr>
        <p:spPr>
          <a:xfrm>
            <a:off x="6327648" y="2212848"/>
            <a:ext cx="384048" cy="411480"/>
          </a:xfrm>
          <a:prstGeom prst="can">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54864" bIns="0" wrap="square"/>
          <a:lstStyle/>
          <a:p>
            <a:pPr algn="ctr"/>
            <a:r>
              <a:rPr sz="850" b="1" i="0">
                <a:solidFill>
                  <a:srgbClr val="FFFFFF"/>
                </a:solidFill>
              </a:rPr>
              <a:t>EBS</a:t>
            </a:r>
          </a:p>
        </p:txBody>
      </p:sp>
      <p:sp>
        <p:nvSpPr>
          <p:cNvPr id="38" name="Rounded Rectangle 37"/>
          <p:cNvSpPr/>
          <p:nvPr/>
        </p:nvSpPr>
        <p:spPr>
          <a:xfrm>
            <a:off x="6858000" y="2121408"/>
            <a:ext cx="1143000" cy="566928"/>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00" b="1" i="0">
                <a:solidFill>
                  <a:srgbClr val="8A1626"/>
                </a:solidFill>
              </a:rPr>
              <a:t>Official EOD</a:t>
            </a:r>
          </a:p>
          <a:p>
            <a:pPr algn="ctr"/>
            <a:r>
              <a:rPr sz="950" b="0" i="0">
                <a:solidFill>
                  <a:srgbClr val="4A5058"/>
                </a:solidFill>
              </a:rPr>
              <a:t>AZ b</a:t>
            </a:r>
          </a:p>
        </p:txBody>
      </p:sp>
      <p:sp>
        <p:nvSpPr>
          <p:cNvPr id="39" name="Can 38"/>
          <p:cNvSpPr/>
          <p:nvPr/>
        </p:nvSpPr>
        <p:spPr>
          <a:xfrm>
            <a:off x="8046720" y="2212848"/>
            <a:ext cx="384048" cy="411480"/>
          </a:xfrm>
          <a:prstGeom prst="can">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54864" bIns="0" wrap="square"/>
          <a:lstStyle/>
          <a:p>
            <a:pPr algn="ctr"/>
            <a:r>
              <a:rPr sz="850" b="1" i="0">
                <a:solidFill>
                  <a:srgbClr val="FFFFFF"/>
                </a:solidFill>
              </a:rPr>
              <a:t>EBS</a:t>
            </a:r>
          </a:p>
        </p:txBody>
      </p:sp>
      <p:sp>
        <p:nvSpPr>
          <p:cNvPr id="40" name="Rounded Rectangle 39"/>
          <p:cNvSpPr/>
          <p:nvPr/>
        </p:nvSpPr>
        <p:spPr>
          <a:xfrm>
            <a:off x="5138928" y="2779776"/>
            <a:ext cx="1143000" cy="566928"/>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00" b="1" i="0">
                <a:solidFill>
                  <a:srgbClr val="8A1626"/>
                </a:solidFill>
              </a:rPr>
              <a:t>UI/API replica</a:t>
            </a:r>
          </a:p>
          <a:p>
            <a:pPr algn="ctr"/>
            <a:r>
              <a:rPr sz="950" b="0" i="0">
                <a:solidFill>
                  <a:srgbClr val="4A5058"/>
                </a:solidFill>
              </a:rPr>
              <a:t>AZ a</a:t>
            </a:r>
          </a:p>
        </p:txBody>
      </p:sp>
      <p:sp>
        <p:nvSpPr>
          <p:cNvPr id="41" name="Can 40"/>
          <p:cNvSpPr/>
          <p:nvPr/>
        </p:nvSpPr>
        <p:spPr>
          <a:xfrm>
            <a:off x="6327648" y="2871216"/>
            <a:ext cx="384048" cy="411480"/>
          </a:xfrm>
          <a:prstGeom prst="can">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54864" bIns="0" wrap="square"/>
          <a:lstStyle/>
          <a:p>
            <a:pPr algn="ctr"/>
            <a:r>
              <a:rPr sz="850" b="1" i="0">
                <a:solidFill>
                  <a:srgbClr val="FFFFFF"/>
                </a:solidFill>
              </a:rPr>
              <a:t>EBS</a:t>
            </a:r>
          </a:p>
        </p:txBody>
      </p:sp>
      <p:sp>
        <p:nvSpPr>
          <p:cNvPr id="42" name="Rounded Rectangle 41"/>
          <p:cNvSpPr/>
          <p:nvPr/>
        </p:nvSpPr>
        <p:spPr>
          <a:xfrm>
            <a:off x="6858000" y="2779776"/>
            <a:ext cx="1143000" cy="566928"/>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00" b="1" i="0">
                <a:solidFill>
                  <a:srgbClr val="8A1626"/>
                </a:solidFill>
              </a:rPr>
              <a:t>UI/API replica</a:t>
            </a:r>
          </a:p>
          <a:p>
            <a:pPr algn="ctr"/>
            <a:r>
              <a:rPr sz="950" b="0" i="0">
                <a:solidFill>
                  <a:srgbClr val="4A5058"/>
                </a:solidFill>
              </a:rPr>
              <a:t>AZ b</a:t>
            </a:r>
          </a:p>
        </p:txBody>
      </p:sp>
      <p:sp>
        <p:nvSpPr>
          <p:cNvPr id="43" name="Can 42"/>
          <p:cNvSpPr/>
          <p:nvPr/>
        </p:nvSpPr>
        <p:spPr>
          <a:xfrm>
            <a:off x="8046720" y="2871216"/>
            <a:ext cx="384048" cy="411480"/>
          </a:xfrm>
          <a:prstGeom prst="can">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54864" bIns="0" wrap="square"/>
          <a:lstStyle/>
          <a:p>
            <a:pPr algn="ctr"/>
            <a:r>
              <a:rPr sz="850" b="1" i="0">
                <a:solidFill>
                  <a:srgbClr val="FFFFFF"/>
                </a:solidFill>
              </a:rPr>
              <a:t>EBS</a:t>
            </a:r>
          </a:p>
        </p:txBody>
      </p:sp>
      <p:sp>
        <p:nvSpPr>
          <p:cNvPr id="44" name="Rounded Rectangle 43"/>
          <p:cNvSpPr/>
          <p:nvPr/>
        </p:nvSpPr>
        <p:spPr>
          <a:xfrm>
            <a:off x="5120640" y="3493008"/>
            <a:ext cx="3337560" cy="594360"/>
          </a:xfrm>
          <a:prstGeom prst="roundRect">
            <a:avLst>
              <a:gd name="adj" fmla="val 10000"/>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5193792" y="3493008"/>
            <a:ext cx="2377440" cy="594360"/>
          </a:xfrm>
          <a:prstGeom prst="rect">
            <a:avLst/>
          </a:prstGeom>
          <a:noFill/>
        </p:spPr>
        <p:txBody>
          <a:bodyPr wrap="square" lIns="0" rIns="0" tIns="0" bIns="0" anchor="ctr">
            <a:spAutoFit/>
          </a:bodyPr>
          <a:lstStyle/>
          <a:p>
            <a:pPr algn="l"/>
            <a:r>
              <a:rPr sz="950" b="1" i="0">
                <a:solidFill>
                  <a:srgbClr val="8A1626"/>
                </a:solidFill>
              </a:rPr>
              <a:t>C (2.9.6): 8 shards × 2 Fargate tasks, each with its own EBS; any task coordinates</a:t>
            </a:r>
          </a:p>
        </p:txBody>
      </p:sp>
      <p:sp>
        <p:nvSpPr>
          <p:cNvPr id="46" name="Rounded Rectangle 45"/>
          <p:cNvSpPr/>
          <p:nvPr/>
        </p:nvSpPr>
        <p:spPr>
          <a:xfrm>
            <a:off x="7635240" y="3685032"/>
            <a:ext cx="667512" cy="201168"/>
          </a:xfrm>
          <a:prstGeom prst="roundRect">
            <a:avLst>
              <a:gd name="adj" fmla="val 50000"/>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00" b="1" i="0">
                <a:solidFill>
                  <a:srgbClr val="A51C30"/>
                </a:solidFill>
              </a:rPr>
              <a:t>DESIGNED</a:t>
            </a:r>
          </a:p>
        </p:txBody>
      </p:sp>
      <p:sp>
        <p:nvSpPr>
          <p:cNvPr id="47" name="Rounded Rectangle 46"/>
          <p:cNvSpPr/>
          <p:nvPr/>
        </p:nvSpPr>
        <p:spPr>
          <a:xfrm>
            <a:off x="8714232" y="1664208"/>
            <a:ext cx="2587752" cy="2514600"/>
          </a:xfrm>
          <a:prstGeom prst="roundRect">
            <a:avLst>
              <a:gd name="adj" fmla="val 5000"/>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8759952" y="1682496"/>
            <a:ext cx="2496312" cy="365760"/>
          </a:xfrm>
          <a:prstGeom prst="rect">
            <a:avLst/>
          </a:prstGeom>
          <a:noFill/>
        </p:spPr>
        <p:txBody>
          <a:bodyPr wrap="square" lIns="0" rIns="0" tIns="0" bIns="0" anchor="t">
            <a:spAutoFit/>
          </a:bodyPr>
          <a:lstStyle/>
          <a:p>
            <a:pPr algn="ctr"/>
            <a:r>
              <a:rPr sz="1050" b="1" i="0">
                <a:solidFill>
                  <a:srgbClr val="8A1626"/>
                </a:solidFill>
              </a:rPr>
              <a:t>Amazon S3</a:t>
            </a:r>
          </a:p>
          <a:p>
            <a:pPr algn="ctr"/>
            <a:r>
              <a:rPr sz="950" b="0" i="0">
                <a:solidFill>
                  <a:srgbClr val="4A5058"/>
                </a:solidFill>
              </a:rPr>
              <a:t>gateway endpoint</a:t>
            </a:r>
          </a:p>
        </p:txBody>
      </p:sp>
      <p:sp>
        <p:nvSpPr>
          <p:cNvPr id="49" name="Rounded Rectangle 48"/>
          <p:cNvSpPr/>
          <p:nvPr/>
        </p:nvSpPr>
        <p:spPr>
          <a:xfrm>
            <a:off x="8787384" y="2103120"/>
            <a:ext cx="2441448" cy="457200"/>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950" b="1" i="0">
                <a:solidFill>
                  <a:srgbClr val="8A1626"/>
                </a:solidFill>
              </a:rPr>
              <a:t>Lake</a:t>
            </a:r>
          </a:p>
          <a:p>
            <a:pPr algn="ctr"/>
            <a:r>
              <a:rPr sz="950" b="0" i="0">
                <a:solidFill>
                  <a:srgbClr val="4A5058"/>
                </a:solidFill>
              </a:rPr>
              <a:t>Delta or Iceberg; 7 years</a:t>
            </a:r>
          </a:p>
        </p:txBody>
      </p:sp>
      <p:sp>
        <p:nvSpPr>
          <p:cNvPr id="50" name="Rounded Rectangle 49"/>
          <p:cNvSpPr/>
          <p:nvPr/>
        </p:nvSpPr>
        <p:spPr>
          <a:xfrm>
            <a:off x="8787384" y="2615184"/>
            <a:ext cx="2441448" cy="457200"/>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950" b="1" i="0">
                <a:solidFill>
                  <a:srgbClr val="8A1626"/>
                </a:solidFill>
              </a:rPr>
              <a:t>Official results</a:t>
            </a:r>
          </a:p>
          <a:p>
            <a:pPr algn="ctr"/>
            <a:r>
              <a:rPr sz="950" b="0" i="0">
                <a:solidFill>
                  <a:srgbClr val="4A5058"/>
                </a:solidFill>
              </a:rPr>
              <a:t>Delta or Iceberg; JSONL</a:t>
            </a:r>
          </a:p>
        </p:txBody>
      </p:sp>
      <p:sp>
        <p:nvSpPr>
          <p:cNvPr id="51" name="Rounded Rectangle 50"/>
          <p:cNvSpPr/>
          <p:nvPr/>
        </p:nvSpPr>
        <p:spPr>
          <a:xfrm>
            <a:off x="8787384" y="3127248"/>
            <a:ext cx="2441448" cy="457200"/>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950" b="1" i="0">
                <a:solidFill>
                  <a:srgbClr val="8A1626"/>
                </a:solidFill>
              </a:rPr>
              <a:t>Content store</a:t>
            </a:r>
          </a:p>
          <a:p>
            <a:pPr algn="ctr"/>
            <a:r>
              <a:rPr sz="950" b="0" i="0">
                <a:solidFill>
                  <a:srgbClr val="4A5058"/>
                </a:solidFill>
              </a:rPr>
              <a:t>S3 backend</a:t>
            </a:r>
          </a:p>
        </p:txBody>
      </p:sp>
      <p:sp>
        <p:nvSpPr>
          <p:cNvPr id="52" name="Rounded Rectangle 51"/>
          <p:cNvSpPr/>
          <p:nvPr/>
        </p:nvSpPr>
        <p:spPr>
          <a:xfrm>
            <a:off x="8787384" y="3639312"/>
            <a:ext cx="2441448" cy="457200"/>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950" b="1" i="0">
                <a:solidFill>
                  <a:srgbClr val="8A1626"/>
                </a:solidFill>
              </a:rPr>
              <a:t>Landing, backups, DR</a:t>
            </a:r>
          </a:p>
          <a:p>
            <a:pPr algn="ctr"/>
            <a:r>
              <a:rPr sz="950" b="0" i="0">
                <a:solidFill>
                  <a:srgbClr val="4A5058"/>
                </a:solidFill>
              </a:rPr>
              <a:t>JSONL; replicated</a:t>
            </a:r>
          </a:p>
        </p:txBody>
      </p:sp>
      <p:cxnSp>
        <p:nvCxnSpPr>
          <p:cNvPr id="53" name="Connector 52"/>
          <p:cNvCxnSpPr/>
          <p:nvPr/>
        </p:nvCxnSpPr>
        <p:spPr>
          <a:xfrm>
            <a:off x="1965960" y="1883664"/>
            <a:ext cx="320040" cy="54864"/>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3200400" y="1938528"/>
            <a:ext cx="182880"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4846320" y="1938528"/>
            <a:ext cx="182880"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1965960" y="2834640"/>
            <a:ext cx="1417320" cy="5943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4846320" y="2560320"/>
            <a:ext cx="292608" cy="237744"/>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8549640" y="2926080"/>
            <a:ext cx="164592" cy="0"/>
          </a:xfrm>
          <a:prstGeom prst="line">
            <a:avLst/>
          </a:prstGeom>
          <a:ln w="15875">
            <a:solidFill>
              <a:srgbClr val="A51C30"/>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graphicFrame>
        <p:nvGraphicFramePr>
          <p:cNvPr id="59" name="Table 58"/>
          <p:cNvGraphicFramePr>
            <a:graphicFrameLocks noGrp="1"/>
          </p:cNvGraphicFramePr>
          <p:nvPr/>
        </p:nvGraphicFramePr>
        <p:xfrm>
          <a:off x="777240" y="4443984"/>
          <a:ext cx="10634472" cy="1097280"/>
        </p:xfrm>
        <a:graphic>
          <a:graphicData uri="http://schemas.openxmlformats.org/drawingml/2006/table">
            <a:tbl>
              <a:tblPr firstRow="0" bandRow="0">
                <a:tableStyleId>{5940675A-B579-460E-94D1-54222C63F5DA}</a:tableStyleId>
              </a:tblPr>
              <a:tblGrid>
                <a:gridCol w="2103120"/>
                <a:gridCol w="4434840"/>
                <a:gridCol w="2834640"/>
                <a:gridCol w="1261872"/>
              </a:tblGrid>
              <a:tr h="274320">
                <a:tc>
                  <a:txBody>
                    <a:bodyPr wrap="square"/>
                    <a:lstStyle/>
                    <a:p>
                      <a:r>
                        <a:rPr sz="1050" b="1" i="0">
                          <a:solidFill>
                            <a:srgbClr val="FFFFFF"/>
                          </a:solidFill>
                        </a:rPr>
                        <a:t>VaR tier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Shape (full case: 1-day, 10-day, stressed)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Fits, with 39% headroom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Status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050" b="1" i="0">
                          <a:solidFill>
                            <a:srgbClr val="8A1626"/>
                          </a:solidFill>
                        </a:rPr>
                        <a:t>A · ECS on EC2 capacity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4 × m7i.16xlarge (64 vCPU, 256 GiB), 2 TB EBS gp3 each; the rest on Fargate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151 GB need → 256 GB machine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1" i="0">
                          <a:solidFill>
                            <a:srgbClr val="A51C30"/>
                          </a:solidFill>
                        </a:rPr>
                        <a:t>BUILT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B · √10 10-day on Fargate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4 Fargate tasks of 32 vCPU · 244 GB (the largest), 1.1 TB gp3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94 GB → 155 GB: memory yes; CPU to measure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1" i="0">
                          <a:solidFill>
                            <a:srgbClr val="293352"/>
                          </a:solidFill>
                        </a:rPr>
                        <a:t>2.9.6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050" b="1" i="0">
                          <a:solidFill>
                            <a:srgbClr val="8A1626"/>
                          </a:solidFill>
                        </a:rPr>
                        <a:t>C · sharded on Fargate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8 shards × 2 tasks of 8 vCPU · 44 GB, 250 GB gp3 each, one S3 lake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26 GB a task → 43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1" i="0">
                          <a:solidFill>
                            <a:srgbClr val="A51C30"/>
                          </a:solidFill>
                        </a:rPr>
                        <a:t>DESIGNED · 2.9.6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60" name="TextBox 59"/>
          <p:cNvSpPr txBox="1"/>
          <p:nvPr/>
        </p:nvSpPr>
        <p:spPr>
          <a:xfrm>
            <a:off x="777240" y="5715000"/>
            <a:ext cx="9582912" cy="548640"/>
          </a:xfrm>
          <a:prstGeom prst="rect">
            <a:avLst/>
          </a:prstGeom>
          <a:noFill/>
        </p:spPr>
        <p:txBody>
          <a:bodyPr wrap="square" lIns="0" rIns="0" tIns="0" bIns="0" anchor="ctr">
            <a:spAutoFit/>
          </a:bodyPr>
          <a:lstStyle/>
          <a:p>
            <a:pPr algn="l"/>
            <a:r>
              <a:rPr sz="1150" b="1" i="0">
                <a:solidFill>
                  <a:srgbClr val="A51C30"/>
                </a:solidFill>
              </a:rPr>
              <a:t>Recommendation: </a:t>
            </a:r>
            <a:r>
              <a:rPr sz="1150" b="0" i="0">
                <a:solidFill>
                  <a:srgbClr val="1A1A1A"/>
                </a:solidFill>
              </a:rPr>
              <a:t>Fargate for the consoles and lake tasks; A for the VaR servers until sharding (buildable today on Delta or Iceberg); C, Fargate everywhere, once sharding ships (2.9.6). Hot files on an EBS gp3 volume per task: disposable, rebuilt from the lake. EFS only for what must be shared.</a:t>
            </a:r>
          </a:p>
        </p:txBody>
      </p:sp>
      <p:sp>
        <p:nvSpPr>
          <p:cNvPr id="61" name="Rounded Rectangle 60"/>
          <p:cNvSpPr/>
          <p:nvPr/>
        </p:nvSpPr>
        <p:spPr>
          <a:xfrm>
            <a:off x="10543032" y="5870448"/>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00" b="1" i="0">
                <a:solidFill>
                  <a:srgbClr val="4A5058"/>
                </a:solidFill>
              </a:rPr>
              <a:t>PROPOSED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AWS · EXAMPLE REGION CA-CENTRAL-1 · ON-DEMAND, USD</a:t>
            </a:r>
          </a:p>
        </p:txBody>
      </p:sp>
      <p:sp>
        <p:nvSpPr>
          <p:cNvPr id="3" name="Title 2"/>
          <p:cNvSpPr>
            <a:spLocks noGrp="1"/>
          </p:cNvSpPr>
          <p:nvPr>
            <p:ph type="title" idx="104"/>
          </p:nvPr>
        </p:nvSpPr>
        <p:spPr/>
        <p:txBody>
          <a:bodyPr/>
          <a:lstStyle/>
          <a:p>
            <a:r>
              <a:t>AWS cost estimate for a large bank</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ounded Rectangle 25"/>
          <p:cNvSpPr/>
          <p:nvPr/>
        </p:nvSpPr>
        <p:spPr>
          <a:xfrm>
            <a:off x="10451592" y="941832"/>
            <a:ext cx="804672" cy="201168"/>
          </a:xfrm>
          <a:prstGeom prst="roundRect">
            <a:avLst>
              <a:gd name="adj" fmla="val 50000"/>
            </a:avLst>
          </a:prstGeom>
          <a:solidFill>
            <a:srgbClr val="F3EBD9"/>
          </a:solidFill>
          <a:ln w="12700">
            <a:solidFill>
              <a:srgbClr val="C9A55A"/>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7A5A12"/>
                </a:solidFill>
              </a:rPr>
              <a:t>ASSUMPTION</a:t>
            </a:r>
          </a:p>
        </p:txBody>
      </p:sp>
      <p:graphicFrame>
        <p:nvGraphicFramePr>
          <p:cNvPr id="27" name="Table 26"/>
          <p:cNvGraphicFramePr>
            <a:graphicFrameLocks noGrp="1"/>
          </p:cNvGraphicFramePr>
          <p:nvPr/>
        </p:nvGraphicFramePr>
        <p:xfrm>
          <a:off x="777240" y="1417320"/>
          <a:ext cx="6400800" cy="4462272"/>
        </p:xfrm>
        <a:graphic>
          <a:graphicData uri="http://schemas.openxmlformats.org/drawingml/2006/table">
            <a:tbl>
              <a:tblPr firstRow="0" bandRow="0">
                <a:tableStyleId>{5940675A-B579-460E-94D1-54222C63F5DA}</a:tableStyleId>
              </a:tblPr>
              <a:tblGrid>
                <a:gridCol w="2834640"/>
                <a:gridCol w="1097280"/>
                <a:gridCol w="1097280"/>
                <a:gridCol w="1371600"/>
              </a:tblGrid>
              <a:tr h="278892">
                <a:tc>
                  <a:txBody>
                    <a:bodyPr wrap="square"/>
                    <a:lstStyle/>
                    <a:p>
                      <a:r>
                        <a:rPr sz="1050" b="1" i="0">
                          <a:solidFill>
                            <a:srgbClr val="FFFFFF"/>
                          </a:solidFill>
                        </a:rPr>
                        <a:t>Monthly, year 7, 39% headroom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1-day only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Full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Full, a year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8892">
                <a:tc>
                  <a:txBody>
                    <a:bodyPr wrap="square"/>
                    <a:lstStyle/>
                    <a:p>
                      <a:r>
                        <a:rPr sz="1050" b="0" i="0">
                          <a:solidFill>
                            <a:srgbClr val="1A1A1A"/>
                          </a:solidFill>
                        </a:rPr>
                        <a:t>VaR servers (4, EC2 capacity)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$9,124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$10,498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$125,976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8892">
                <a:tc>
                  <a:txBody>
                    <a:bodyPr wrap="square"/>
                    <a:lstStyle/>
                    <a:p>
                      <a:r>
                        <a:rPr sz="1050" b="0" i="0">
                          <a:solidFill>
                            <a:srgbClr val="1A1A1A"/>
                          </a:solidFill>
                        </a:rPr>
                        <a:t>EBS gp3 for hot files (4)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$898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$1,320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$15,840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8892">
                <a:tc>
                  <a:txBody>
                    <a:bodyPr wrap="square"/>
                    <a:lstStyle/>
                    <a:p>
                      <a:r>
                        <a:rPr sz="1050" b="0" i="0">
                          <a:solidFill>
                            <a:srgbClr val="1A1A1A"/>
                          </a:solidFill>
                        </a:rPr>
                        <a:t>Consoles (2, Fargate)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$317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$317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$3,805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8892">
                <a:tc>
                  <a:txBody>
                    <a:bodyPr wrap="square"/>
                    <a:lstStyle/>
                    <a:p>
                      <a:r>
                        <a:rPr sz="1050" b="0" i="0">
                          <a:solidFill>
                            <a:srgbClr val="1A1A1A"/>
                          </a:solidFill>
                        </a:rPr>
                        <a:t>Lake loads, maintenance (Fargate)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$31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$31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$369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8892">
                <a:tc>
                  <a:txBody>
                    <a:bodyPr wrap="square"/>
                    <a:lstStyle/>
                    <a:p>
                      <a:r>
                        <a:rPr sz="1050" b="0" i="0">
                          <a:solidFill>
                            <a:srgbClr val="1A1A1A"/>
                          </a:solidFill>
                        </a:rPr>
                        <a:t>S3: lake, results, content store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$258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$752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$9,021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8892">
                <a:tc>
                  <a:txBody>
                    <a:bodyPr wrap="square"/>
                    <a:lstStyle/>
                    <a:p>
                      <a:r>
                        <a:rPr sz="1050" b="0" i="0">
                          <a:solidFill>
                            <a:srgbClr val="1A1A1A"/>
                          </a:solidFill>
                        </a:rPr>
                        <a:t>DR copy (S3 replication)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$252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$753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$9,038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8892">
                <a:tc>
                  <a:txBody>
                    <a:bodyPr wrap="square"/>
                    <a:lstStyle/>
                    <a:p>
                      <a:r>
                        <a:rPr sz="1050" b="0" i="0">
                          <a:solidFill>
                            <a:srgbClr val="1A1A1A"/>
                          </a:solidFill>
                        </a:rPr>
                        <a:t>EFS and its backup</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$190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$190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$2,280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8892">
                <a:tc>
                  <a:txBody>
                    <a:bodyPr wrap="square"/>
                    <a:lstStyle/>
                    <a:p>
                      <a:r>
                        <a:rPr sz="1050" b="0" i="0">
                          <a:solidFill>
                            <a:srgbClr val="1A1A1A"/>
                          </a:solidFill>
                        </a:rPr>
                        <a:t>Amazon MSK (3 brokers)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$531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$531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$6,375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8892">
                <a:tc>
                  <a:txBody>
                    <a:bodyPr wrap="square"/>
                    <a:lstStyle/>
                    <a:p>
                      <a:r>
                        <a:rPr sz="1050" b="0" i="0">
                          <a:solidFill>
                            <a:srgbClr val="1A1A1A"/>
                          </a:solidFill>
                        </a:rPr>
                        <a:t>Load balancer (ALB)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$371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8892">
                <a:tc>
                  <a:txBody>
                    <a:bodyPr wrap="square"/>
                    <a:lstStyle/>
                    <a:p>
                      <a:r>
                        <a:rPr sz="1050" b="0" i="0">
                          <a:solidFill>
                            <a:srgbClr val="1A1A1A"/>
                          </a:solidFill>
                        </a:rPr>
                        <a:t>NAT and interface endpoints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$173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$173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$2,074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8892">
                <a:tc>
                  <a:txBody>
                    <a:bodyPr wrap="square"/>
                    <a:lstStyle/>
                    <a:p>
                      <a:r>
                        <a:rPr sz="1050" b="0" i="0">
                          <a:solidFill>
                            <a:srgbClr val="1A1A1A"/>
                          </a:solidFill>
                        </a:rPr>
                        <a:t>Data transfer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$92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$92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$1,104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8892">
                <a:tc>
                  <a:txBody>
                    <a:bodyPr wrap="square"/>
                    <a:lstStyle/>
                    <a:p>
                      <a:r>
                        <a:rPr sz="1050" b="0" i="0">
                          <a:solidFill>
                            <a:srgbClr val="1A1A1A"/>
                          </a:solidFill>
                        </a:rPr>
                        <a:t>CloudWatch logs and metrics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$217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$217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$2,609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8892">
                <a:tc>
                  <a:txBody>
                    <a:bodyPr wrap="square"/>
                    <a:lstStyle/>
                    <a:p>
                      <a:r>
                        <a:rPr sz="1050" b="1" i="0">
                          <a:solidFill>
                            <a:srgbClr val="8A1626"/>
                          </a:solidFill>
                        </a:rPr>
                        <a:t>Total, on-demand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$12,119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1" i="0">
                          <a:solidFill>
                            <a:srgbClr val="A51C30"/>
                          </a:solidFill>
                        </a:rPr>
                        <a:t>$14,910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1" i="0">
                          <a:solidFill>
                            <a:srgbClr val="A51C30"/>
                          </a:solidFill>
                        </a:rPr>
                        <a:t>$178,914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8892">
                <a:tc>
                  <a:txBody>
                    <a:bodyPr wrap="square"/>
                    <a:lstStyle/>
                    <a:p>
                      <a:r>
                        <a:rPr sz="1050" b="0" i="0">
                          <a:solidFill>
                            <a:srgbClr val="1A1A1A"/>
                          </a:solidFill>
                        </a:rPr>
                        <a:t>  with a 1-year Savings Plan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$9,596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$12,017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$144,201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8892">
                <a:tc>
                  <a:txBody>
                    <a:bodyPr wrap="square"/>
                    <a:lstStyle/>
                    <a:p>
                      <a:r>
                        <a:rPr sz="1050" b="0" i="0">
                          <a:solidFill>
                            <a:srgbClr val="1A1A1A"/>
                          </a:solidFill>
                        </a:rPr>
                        <a:t>  with a 3-year Savings Plan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$7,443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$9,553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$114,637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8" name="TextBox 27"/>
          <p:cNvSpPr txBox="1"/>
          <p:nvPr/>
        </p:nvSpPr>
        <p:spPr>
          <a:xfrm>
            <a:off x="7406640" y="1371600"/>
            <a:ext cx="4005072" cy="274320"/>
          </a:xfrm>
          <a:prstGeom prst="rect">
            <a:avLst/>
          </a:prstGeom>
          <a:noFill/>
        </p:spPr>
        <p:txBody>
          <a:bodyPr wrap="square" lIns="0" rIns="0" tIns="0" bIns="0" anchor="ctr">
            <a:spAutoFit/>
          </a:bodyPr>
          <a:lstStyle/>
          <a:p>
            <a:pPr algn="l"/>
            <a:r>
              <a:rPr sz="1250" b="1" i="0">
                <a:solidFill>
                  <a:srgbClr val="A51C30"/>
                </a:solidFill>
              </a:rPr>
              <a:t>The VaR tier: A, B or C  </a:t>
            </a:r>
            <a:r>
              <a:rPr sz="1050" b="0" i="0">
                <a:solidFill>
                  <a:srgbClr val="4A5058"/>
                </a:solidFill>
              </a:rPr>
              <a:t>servers and EBS, $ a month</a:t>
            </a:r>
          </a:p>
        </p:txBody>
      </p:sp>
      <p:graphicFrame>
        <p:nvGraphicFramePr>
          <p:cNvPr id="29" name="Table 28"/>
          <p:cNvGraphicFramePr>
            <a:graphicFrameLocks noGrp="1"/>
          </p:cNvGraphicFramePr>
          <p:nvPr/>
        </p:nvGraphicFramePr>
        <p:xfrm>
          <a:off x="7406640" y="1691640"/>
          <a:ext cx="4005072" cy="1463040"/>
        </p:xfrm>
        <a:graphic>
          <a:graphicData uri="http://schemas.openxmlformats.org/drawingml/2006/table">
            <a:tbl>
              <a:tblPr firstRow="0" bandRow="0">
                <a:tableStyleId>{5940675A-B579-460E-94D1-54222C63F5DA}</a:tableStyleId>
              </a:tblPr>
              <a:tblGrid>
                <a:gridCol w="1691640"/>
                <a:gridCol w="868680"/>
                <a:gridCol w="777240"/>
                <a:gridCol w="667512"/>
              </a:tblGrid>
              <a:tr h="292608">
                <a:tc>
                  <a:txBody>
                    <a:bodyPr wrap="square"/>
                    <a:lstStyle/>
                    <a:p>
                      <a:r>
                        <a:rPr sz="1050" b="1" i="0">
                          <a:solidFill>
                            <a:srgbClr val="FFFFFF"/>
                          </a:solidFill>
                        </a:rPr>
                        <a:t>Option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On-demand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3-yr plan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 Spot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92608">
                <a:tc>
                  <a:txBody>
                    <a:bodyPr wrap="square"/>
                    <a:lstStyle/>
                    <a:p>
                      <a:r>
                        <a:rPr sz="1050" b="0" i="0">
                          <a:solidFill>
                            <a:srgbClr val="1A1A1A"/>
                          </a:solidFill>
                        </a:rPr>
                        <a:t>A: EC2 capacity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$11,818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$6,618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050" b="0" i="0">
                          <a:solidFill>
                            <a:srgbClr val="1A1A1A"/>
                          </a:solidFill>
                        </a:rPr>
                        <a:t>B: √10 on Fargate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$8,633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$5,200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050" b="0" i="0">
                          <a:solidFill>
                            <a:srgbClr val="1A1A1A"/>
                          </a:solidFill>
                        </a:rPr>
                        <a:t>C: sharded, 24 × 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$7,373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050" b="1" i="0">
                          <a:solidFill>
                            <a:srgbClr val="8A1626"/>
                          </a:solidFill>
                        </a:rPr>
                        <a:t>C: scale-in off-hours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$5,050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$2,966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1" i="0">
                          <a:solidFill>
                            <a:srgbClr val="A51C30"/>
                          </a:solidFill>
                        </a:rPr>
                        <a:t>$2,785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0" name="Rectangle 29"/>
          <p:cNvSpPr/>
          <p:nvPr/>
        </p:nvSpPr>
        <p:spPr>
          <a:xfrm>
            <a:off x="7406640" y="3291840"/>
            <a:ext cx="4005072" cy="16002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7406640" y="3291840"/>
            <a:ext cx="45720"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7571231" y="3364992"/>
            <a:ext cx="3749040" cy="1490472"/>
          </a:xfrm>
          <a:prstGeom prst="rect">
            <a:avLst/>
          </a:prstGeom>
          <a:noFill/>
        </p:spPr>
        <p:txBody>
          <a:bodyPr wrap="square" lIns="0" rIns="0" tIns="0" bIns="0" anchor="t">
            <a:spAutoFit/>
          </a:bodyPr>
          <a:lstStyle/>
          <a:p>
            <a:pPr algn="l">
              <a:spcAft>
                <a:spcPts val="400"/>
              </a:spcAft>
            </a:pPr>
            <a:r>
              <a:rPr sz="1300" b="1" i="0">
                <a:solidFill>
                  <a:srgbClr val="8A1626"/>
                </a:solidFill>
              </a:rPr>
              <a:t>Honest on both sides</a:t>
            </a:r>
          </a:p>
          <a:p>
            <a:pPr algn="l" marL="146304" indent="-146304">
              <a:spcAft>
                <a:spcPts val="200"/>
              </a:spcAft>
              <a:buClr>
                <a:srgbClr val="A51C30"/>
              </a:buClr>
              <a:buSzPct val="100000"/>
              <a:buFont typeface="Arial"/>
              <a:buChar char="▪"/>
            </a:pPr>
            <a:r>
              <a:rPr sz="1050" b="0" i="0">
                <a:solidFill>
                  <a:srgbClr val="1A1A1A"/>
                </a:solidFill>
              </a:rPr>
              <a:t>One full copy costs more on Fargate: 8 tasks $3,640 against one EC2 server $2,954 a month</a:t>
            </a:r>
          </a:p>
          <a:p>
            <a:pPr algn="l" marL="146304" indent="-146304">
              <a:spcAft>
                <a:spcPts val="200"/>
              </a:spcAft>
              <a:buClr>
                <a:srgbClr val="A51C30"/>
              </a:buClr>
              <a:buSzPct val="100000"/>
              <a:buFont typeface="Arial"/>
              <a:buChar char="▪"/>
            </a:pPr>
            <a:r>
              <a:rPr sz="1050" b="0" i="0">
                <a:solidFill>
                  <a:srgbClr val="1A1A1A"/>
                </a:solidFill>
              </a:rPr>
              <a:t>C wins by needing 2 copies, not 4, scaling replicas in off-hours, Spot for second replicas, growing by adding tasks</a:t>
            </a:r>
          </a:p>
          <a:p>
            <a:pPr algn="l" marL="146304" indent="-146304">
              <a:spcAft>
                <a:spcPts val="200"/>
              </a:spcAft>
              <a:buClr>
                <a:srgbClr val="A51C30"/>
              </a:buClr>
              <a:buSzPct val="100000"/>
              <a:buFont typeface="Arial"/>
              <a:buChar char="▪"/>
            </a:pPr>
            <a:r>
              <a:rPr sz="1050" b="0" i="0">
                <a:solidFill>
                  <a:srgbClr val="1A1A1A"/>
                </a:solidFill>
              </a:rPr>
              <a:t>C beats A once A needs more than 2.5 full copies; A needs 4</a:t>
            </a:r>
          </a:p>
        </p:txBody>
      </p:sp>
      <p:sp>
        <p:nvSpPr>
          <p:cNvPr id="33" name="Rectangle 32"/>
          <p:cNvSpPr/>
          <p:nvPr/>
        </p:nvSpPr>
        <p:spPr>
          <a:xfrm>
            <a:off x="7406640" y="4983480"/>
            <a:ext cx="4005072" cy="126187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Rectangle 33"/>
          <p:cNvSpPr/>
          <p:nvPr/>
        </p:nvSpPr>
        <p:spPr>
          <a:xfrm>
            <a:off x="7406640" y="4983480"/>
            <a:ext cx="45720" cy="12618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7571231" y="5056632"/>
            <a:ext cx="3749040" cy="1152143"/>
          </a:xfrm>
          <a:prstGeom prst="rect">
            <a:avLst/>
          </a:prstGeom>
          <a:noFill/>
        </p:spPr>
        <p:txBody>
          <a:bodyPr wrap="square" lIns="0" rIns="0" tIns="0" bIns="0" anchor="t">
            <a:spAutoFit/>
          </a:bodyPr>
          <a:lstStyle/>
          <a:p>
            <a:pPr algn="l">
              <a:spcAft>
                <a:spcPts val="400"/>
              </a:spcAft>
            </a:pPr>
            <a:r>
              <a:rPr sz="1300" b="1" i="0">
                <a:solidFill>
                  <a:srgbClr val="8A1626"/>
                </a:solidFill>
              </a:rPr>
              <a:t>Recommendation</a:t>
            </a:r>
          </a:p>
          <a:p>
            <a:pPr algn="l"/>
            <a:r>
              <a:rPr sz="1100" b="1" i="0">
                <a:solidFill>
                  <a:srgbClr val="8A1626"/>
                </a:solidFill>
              </a:rPr>
              <a:t>A now, until sharding ships; C from 2.9.6: </a:t>
            </a:r>
            <a:r>
              <a:rPr sz="1100" b="0" i="0">
                <a:solidFill>
                  <a:srgbClr val="1A1A1A"/>
                </a:solidFill>
              </a:rPr>
              <a:t>the cheapest ($2,785 against $6,618 a month with 3-year plans) and fully ECS-native.</a:t>
            </a:r>
          </a:p>
        </p:txBody>
      </p:sp>
      <p:sp>
        <p:nvSpPr>
          <p:cNvPr id="36" name="TextBox 35"/>
          <p:cNvSpPr txBox="1"/>
          <p:nvPr/>
        </p:nvSpPr>
        <p:spPr>
          <a:xfrm>
            <a:off x="777240" y="5897880"/>
            <a:ext cx="6400800" cy="365760"/>
          </a:xfrm>
          <a:prstGeom prst="rect">
            <a:avLst/>
          </a:prstGeom>
          <a:noFill/>
        </p:spPr>
        <p:txBody>
          <a:bodyPr wrap="square" lIns="0" rIns="0" tIns="0" bIns="0" anchor="ctr">
            <a:spAutoFit/>
          </a:bodyPr>
          <a:lstStyle/>
          <a:p>
            <a:pPr algn="l"/>
            <a:r>
              <a:rPr sz="1000" b="0" i="1">
                <a:solidFill>
                  <a:srgbClr val="4A5058"/>
                </a:solidFill>
              </a:rPr>
              <a:t>Prices: AWS public on-demand list prices for the example Region, read 2026-10-27 (ASSUMPTION); quantities from the capacity slides (ESTIMATED). Verify before quoting.</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07</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Operations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OPERATIONS · THE DAILY CYCLE</a:t>
            </a:r>
          </a:p>
        </p:txBody>
      </p:sp>
      <p:sp>
        <p:nvSpPr>
          <p:cNvPr id="3" name="Title 2"/>
          <p:cNvSpPr>
            <a:spLocks noGrp="1"/>
          </p:cNvSpPr>
          <p:nvPr>
            <p:ph type="title" idx="104"/>
          </p:nvPr>
        </p:nvSpPr>
        <p:spPr/>
        <p:txBody>
          <a:bodyPr/>
          <a:lstStyle/>
          <a:p>
            <a:r>
              <a:t>From the full run to intraday, every business date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2452878" cy="13258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Oval 26"/>
          <p:cNvSpPr/>
          <p:nvPr/>
        </p:nvSpPr>
        <p:spPr>
          <a:xfrm>
            <a:off x="886968"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1</a:t>
            </a:r>
          </a:p>
        </p:txBody>
      </p:sp>
      <p:sp>
        <p:nvSpPr>
          <p:cNvPr id="28" name="TextBox 27"/>
          <p:cNvSpPr txBox="1"/>
          <p:nvPr/>
        </p:nvSpPr>
        <p:spPr>
          <a:xfrm>
            <a:off x="1344168" y="1508760"/>
            <a:ext cx="1812798" cy="365760"/>
          </a:xfrm>
          <a:prstGeom prst="rect">
            <a:avLst/>
          </a:prstGeom>
          <a:noFill/>
        </p:spPr>
        <p:txBody>
          <a:bodyPr wrap="square" lIns="0" rIns="0" tIns="0" bIns="0" anchor="ctr">
            <a:spAutoFit/>
          </a:bodyPr>
          <a:lstStyle/>
          <a:p>
            <a:pPr algn="l"/>
            <a:r>
              <a:rPr sz="1300" b="1" i="0">
                <a:solidFill>
                  <a:srgbClr val="8A1626"/>
                </a:solidFill>
              </a:rPr>
              <a:t>Full run lands</a:t>
            </a:r>
          </a:p>
        </p:txBody>
      </p:sp>
      <p:sp>
        <p:nvSpPr>
          <p:cNvPr id="29" name="TextBox 28"/>
          <p:cNvSpPr txBox="1"/>
          <p:nvPr/>
        </p:nvSpPr>
        <p:spPr>
          <a:xfrm>
            <a:off x="905256" y="1920240"/>
            <a:ext cx="2233422" cy="804672"/>
          </a:xfrm>
          <a:prstGeom prst="rect">
            <a:avLst/>
          </a:prstGeom>
          <a:noFill/>
        </p:spPr>
        <p:txBody>
          <a:bodyPr wrap="square" lIns="0" rIns="0" tIns="0" bIns="0" anchor="t">
            <a:spAutoFit/>
          </a:bodyPr>
          <a:lstStyle/>
          <a:p>
            <a:pPr algn="l"/>
            <a:r>
              <a:rPr sz="1050" b="0" i="0">
                <a:solidFill>
                  <a:srgbClr val="4A5058"/>
                </a:solidFill>
              </a:rPr>
              <a:t>after the close: scenario set, every live trade, hierarchies, portfolios; JSONL into the lake, then the load signal</a:t>
            </a:r>
          </a:p>
        </p:txBody>
      </p:sp>
      <p:cxnSp>
        <p:nvCxnSpPr>
          <p:cNvPr id="30" name="Connector 29"/>
          <p:cNvCxnSpPr/>
          <p:nvPr/>
        </p:nvCxnSpPr>
        <p:spPr>
          <a:xfrm>
            <a:off x="3257550" y="2075688"/>
            <a:ext cx="219456"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3504438" y="1417320"/>
            <a:ext cx="2452878" cy="13258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Oval 31"/>
          <p:cNvSpPr/>
          <p:nvPr/>
        </p:nvSpPr>
        <p:spPr>
          <a:xfrm>
            <a:off x="3614166"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2</a:t>
            </a:r>
          </a:p>
        </p:txBody>
      </p:sp>
      <p:sp>
        <p:nvSpPr>
          <p:cNvPr id="33" name="TextBox 32"/>
          <p:cNvSpPr txBox="1"/>
          <p:nvPr/>
        </p:nvSpPr>
        <p:spPr>
          <a:xfrm>
            <a:off x="4071365" y="1508760"/>
            <a:ext cx="1812798" cy="365760"/>
          </a:xfrm>
          <a:prstGeom prst="rect">
            <a:avLst/>
          </a:prstGeom>
          <a:noFill/>
        </p:spPr>
        <p:txBody>
          <a:bodyPr wrap="square" lIns="0" rIns="0" tIns="0" bIns="0" anchor="ctr">
            <a:spAutoFit/>
          </a:bodyPr>
          <a:lstStyle/>
          <a:p>
            <a:pPr algn="l"/>
            <a:r>
              <a:rPr sz="1300" b="1" i="0">
                <a:solidFill>
                  <a:srgbClr val="8A1626"/>
                </a:solidFill>
              </a:rPr>
              <a:t>Date loads</a:t>
            </a:r>
          </a:p>
        </p:txBody>
      </p:sp>
      <p:sp>
        <p:nvSpPr>
          <p:cNvPr id="34" name="TextBox 33"/>
          <p:cNvSpPr txBox="1"/>
          <p:nvPr/>
        </p:nvSpPr>
        <p:spPr>
          <a:xfrm>
            <a:off x="3632454" y="1920240"/>
            <a:ext cx="2233422" cy="804672"/>
          </a:xfrm>
          <a:prstGeom prst="rect">
            <a:avLst/>
          </a:prstGeom>
          <a:noFill/>
        </p:spPr>
        <p:txBody>
          <a:bodyPr wrap="square" lIns="0" rIns="0" tIns="0" bIns="0" anchor="t">
            <a:spAutoFit/>
          </a:bodyPr>
          <a:lstStyle/>
          <a:p>
            <a:pPr algn="l"/>
            <a:r>
              <a:rPr sz="1050" b="0" i="0">
                <a:solidFill>
                  <a:srgbClr val="4A5058"/>
                </a:solidFill>
              </a:rPr>
              <a:t>every row checked; positions derived; nodes summed; the hot file built; currencies built ahead</a:t>
            </a:r>
          </a:p>
        </p:txBody>
      </p:sp>
      <p:cxnSp>
        <p:nvCxnSpPr>
          <p:cNvPr id="35" name="Connector 34"/>
          <p:cNvCxnSpPr/>
          <p:nvPr/>
        </p:nvCxnSpPr>
        <p:spPr>
          <a:xfrm>
            <a:off x="5984748" y="2075688"/>
            <a:ext cx="219456"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6231636" y="1417320"/>
            <a:ext cx="2452878" cy="13258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Oval 36"/>
          <p:cNvSpPr/>
          <p:nvPr/>
        </p:nvSpPr>
        <p:spPr>
          <a:xfrm>
            <a:off x="6341364"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3</a:t>
            </a:r>
          </a:p>
        </p:txBody>
      </p:sp>
      <p:sp>
        <p:nvSpPr>
          <p:cNvPr id="38" name="TextBox 37"/>
          <p:cNvSpPr txBox="1"/>
          <p:nvPr/>
        </p:nvSpPr>
        <p:spPr>
          <a:xfrm>
            <a:off x="6798564" y="1508760"/>
            <a:ext cx="1812798" cy="365760"/>
          </a:xfrm>
          <a:prstGeom prst="rect">
            <a:avLst/>
          </a:prstGeom>
          <a:noFill/>
        </p:spPr>
        <p:txBody>
          <a:bodyPr wrap="square" lIns="0" rIns="0" tIns="0" bIns="0" anchor="ctr">
            <a:spAutoFit/>
          </a:bodyPr>
          <a:lstStyle/>
          <a:p>
            <a:pPr algn="l"/>
            <a:r>
              <a:rPr sz="1300" b="1" i="0">
                <a:solidFill>
                  <a:srgbClr val="8A1626"/>
                </a:solidFill>
              </a:rPr>
              <a:t>Official record</a:t>
            </a:r>
          </a:p>
        </p:txBody>
      </p:sp>
      <p:sp>
        <p:nvSpPr>
          <p:cNvPr id="39" name="TextBox 38"/>
          <p:cNvSpPr txBox="1"/>
          <p:nvPr/>
        </p:nvSpPr>
        <p:spPr>
          <a:xfrm>
            <a:off x="6359651" y="1920240"/>
            <a:ext cx="2233422" cy="804672"/>
          </a:xfrm>
          <a:prstGeom prst="rect">
            <a:avLst/>
          </a:prstGeom>
          <a:noFill/>
        </p:spPr>
        <p:txBody>
          <a:bodyPr wrap="square" lIns="0" rIns="0" tIns="0" bIns="0" anchor="t">
            <a:spAutoFit/>
          </a:bodyPr>
          <a:lstStyle/>
          <a:p>
            <a:pPr algn="l"/>
            <a:r>
              <a:rPr sz="1050" b="0" i="0">
                <a:solidFill>
                  <a:srgbClr val="4A5058"/>
                </a:solidFill>
              </a:rPr>
              <a:t>every node of every tree captured from the full run, published append-only, with JSONL</a:t>
            </a:r>
          </a:p>
        </p:txBody>
      </p:sp>
      <p:cxnSp>
        <p:nvCxnSpPr>
          <p:cNvPr id="40" name="Connector 39"/>
          <p:cNvCxnSpPr/>
          <p:nvPr/>
        </p:nvCxnSpPr>
        <p:spPr>
          <a:xfrm>
            <a:off x="8711945" y="2075688"/>
            <a:ext cx="219456"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8958834" y="1417320"/>
            <a:ext cx="2452878" cy="13258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Oval 41"/>
          <p:cNvSpPr/>
          <p:nvPr/>
        </p:nvSpPr>
        <p:spPr>
          <a:xfrm>
            <a:off x="9068561"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4</a:t>
            </a:r>
          </a:p>
        </p:txBody>
      </p:sp>
      <p:sp>
        <p:nvSpPr>
          <p:cNvPr id="43" name="TextBox 42"/>
          <p:cNvSpPr txBox="1"/>
          <p:nvPr/>
        </p:nvSpPr>
        <p:spPr>
          <a:xfrm>
            <a:off x="9525761" y="1508760"/>
            <a:ext cx="1812798" cy="365760"/>
          </a:xfrm>
          <a:prstGeom prst="rect">
            <a:avLst/>
          </a:prstGeom>
          <a:noFill/>
        </p:spPr>
        <p:txBody>
          <a:bodyPr wrap="square" lIns="0" rIns="0" tIns="0" bIns="0" anchor="ctr">
            <a:spAutoFit/>
          </a:bodyPr>
          <a:lstStyle/>
          <a:p>
            <a:pPr algn="l"/>
            <a:r>
              <a:rPr sz="1300" b="1" i="0">
                <a:solidFill>
                  <a:srgbClr val="8A1626"/>
                </a:solidFill>
              </a:rPr>
              <a:t>Intraday</a:t>
            </a:r>
          </a:p>
        </p:txBody>
      </p:sp>
      <p:sp>
        <p:nvSpPr>
          <p:cNvPr id="44" name="TextBox 43"/>
          <p:cNvSpPr txBox="1"/>
          <p:nvPr/>
        </p:nvSpPr>
        <p:spPr>
          <a:xfrm>
            <a:off x="9086850" y="1920240"/>
            <a:ext cx="2233422" cy="804672"/>
          </a:xfrm>
          <a:prstGeom prst="rect">
            <a:avLst/>
          </a:prstGeom>
          <a:noFill/>
        </p:spPr>
        <p:txBody>
          <a:bodyPr wrap="square" lIns="0" rIns="0" tIns="0" bIns="0" anchor="t">
            <a:spAutoFit/>
          </a:bodyPr>
          <a:lstStyle/>
          <a:p>
            <a:pPr algn="l"/>
            <a:r>
              <a:rPr sz="1050" b="0" i="0">
                <a:solidFill>
                  <a:srgbClr val="4A5058"/>
                </a:solidFill>
              </a:rPr>
              <a:t>changed trades or positions only, files or 5-minute Kafka windows; answers say intraday; the record stays</a:t>
            </a:r>
          </a:p>
        </p:txBody>
      </p:sp>
      <p:graphicFrame>
        <p:nvGraphicFramePr>
          <p:cNvPr id="45" name="Table 44"/>
          <p:cNvGraphicFramePr>
            <a:graphicFrameLocks noGrp="1"/>
          </p:cNvGraphicFramePr>
          <p:nvPr/>
        </p:nvGraphicFramePr>
        <p:xfrm>
          <a:off x="777240" y="2880360"/>
          <a:ext cx="6309360" cy="2304288"/>
        </p:xfrm>
        <a:graphic>
          <a:graphicData uri="http://schemas.openxmlformats.org/drawingml/2006/table">
            <a:tbl>
              <a:tblPr firstRow="0" bandRow="0">
                <a:tableStyleId>{5940675A-B579-460E-94D1-54222C63F5DA}</a:tableStyleId>
              </a:tblPr>
              <a:tblGrid>
                <a:gridCol w="2103120"/>
                <a:gridCol w="4206240"/>
              </a:tblGrid>
              <a:tr h="384048">
                <a:tc>
                  <a:txBody>
                    <a:bodyPr wrap="square"/>
                    <a:lstStyle/>
                    <a:p>
                      <a:r>
                        <a:rPr sz="1050" b="1" i="0">
                          <a:solidFill>
                            <a:srgbClr val="FFFFFF"/>
                          </a:solidFill>
                        </a:rPr>
                        <a:t>Monitoring, as built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What it shows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84048">
                <a:tc>
                  <a:txBody>
                    <a:bodyPr wrap="square"/>
                    <a:lstStyle/>
                    <a:p>
                      <a:r>
                        <a:rPr sz="1050" b="1" i="0">
                          <a:solidFill>
                            <a:srgbClr val="8A1626"/>
                          </a:solidFill>
                        </a:rPr>
                        <a:t>GET /api/v1/var/status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loaded dates, trades, positions, nodes, load time, rejected, excluded, batch ids, refused dates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84048">
                <a:tc>
                  <a:txBody>
                    <a:bodyPr wrap="square"/>
                    <a:lstStyle/>
                    <a:p>
                      <a:r>
                        <a:rPr sz="1050" b="1" i="0">
                          <a:solidFill>
                            <a:srgbClr val="8A1626"/>
                          </a:solidFill>
                        </a:rPr>
                        <a:t>GET …/var/intraday/streams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topic, state, waiting trades, offsets, last ten windows, newest rejections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84048">
                <a:tc>
                  <a:txBody>
                    <a:bodyPr wrap="square"/>
                    <a:lstStyle/>
                    <a:p>
                      <a:r>
                        <a:rPr sz="1050" b="1" i="0">
                          <a:solidFill>
                            <a:srgbClr val="8A1626"/>
                          </a:solidFill>
                        </a:rPr>
                        <a:t>Provenance on every answer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inputs by system, rejections by code, intraday batches applied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84048">
                <a:tc>
                  <a:txBody>
                    <a:bodyPr wrap="square"/>
                    <a:lstStyle/>
                    <a:p>
                      <a:r>
                        <a:rPr sz="1050" b="1" i="0">
                          <a:solidFill>
                            <a:srgbClr val="8A1626"/>
                          </a:solidFill>
                        </a:rPr>
                        <a:t>Admin pages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Audit, Lakes (maintenance), the connector's Apply now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84048">
                <a:tc>
                  <a:txBody>
                    <a:bodyPr wrap="square"/>
                    <a:lstStyle/>
                    <a:p>
                      <a:r>
                        <a:rPr sz="1050" b="1" i="0">
                          <a:solidFill>
                            <a:srgbClr val="8A1626"/>
                          </a:solidFill>
                        </a:rPr>
                        <a:t>drishti.py var status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the same status from the command line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6" name="Rectangle 45"/>
          <p:cNvSpPr/>
          <p:nvPr/>
        </p:nvSpPr>
        <p:spPr>
          <a:xfrm>
            <a:off x="7315200" y="2880360"/>
            <a:ext cx="4096512" cy="23317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Rectangle 46"/>
          <p:cNvSpPr/>
          <p:nvPr/>
        </p:nvSpPr>
        <p:spPr>
          <a:xfrm>
            <a:off x="7315200" y="2880360"/>
            <a:ext cx="45720" cy="2331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7479792" y="2953512"/>
            <a:ext cx="3840480" cy="2221991"/>
          </a:xfrm>
          <a:prstGeom prst="rect">
            <a:avLst/>
          </a:prstGeom>
          <a:noFill/>
        </p:spPr>
        <p:txBody>
          <a:bodyPr wrap="square" lIns="0" rIns="0" tIns="0" bIns="0" anchor="t">
            <a:spAutoFit/>
          </a:bodyPr>
          <a:lstStyle/>
          <a:p>
            <a:pPr algn="l">
              <a:spcAft>
                <a:spcPts val="400"/>
              </a:spcAft>
            </a:pPr>
            <a:r>
              <a:rPr sz="1300" b="1" i="0">
                <a:solidFill>
                  <a:srgbClr val="8A1626"/>
                </a:solidFill>
              </a:rPr>
              <a:t>What to check each morning</a:t>
            </a:r>
          </a:p>
          <a:p>
            <a:pPr algn="l" marL="146304" indent="-146304">
              <a:spcAft>
                <a:spcPts val="150"/>
              </a:spcAft>
              <a:buClr>
                <a:srgbClr val="A51C30"/>
              </a:buClr>
              <a:buSzPct val="100000"/>
              <a:buFont typeface="Arial"/>
              <a:buChar char="▪"/>
            </a:pPr>
            <a:r>
              <a:rPr sz="1050" b="0" i="0">
                <a:solidFill>
                  <a:srgbClr val="1A1A1A"/>
                </a:solidFill>
              </a:rPr>
              <a:t>The newest date is loaded, from one run (one BATCH_ID)</a:t>
            </a:r>
          </a:p>
          <a:p>
            <a:pPr algn="l" marL="146304" indent="-146304">
              <a:spcAft>
                <a:spcPts val="150"/>
              </a:spcAft>
              <a:buClr>
                <a:srgbClr val="A51C30"/>
              </a:buClr>
              <a:buSzPct val="100000"/>
              <a:buFont typeface="Arial"/>
              <a:buChar char="▪"/>
            </a:pPr>
            <a:r>
              <a:rPr sz="1050" b="0" i="0">
                <a:solidFill>
                  <a:srgbClr val="1A1A1A"/>
                </a:solidFill>
              </a:rPr>
              <a:t>Refused rows and refused dates are zero, or explained</a:t>
            </a:r>
          </a:p>
          <a:p>
            <a:pPr algn="l" marL="146304" indent="-146304">
              <a:spcAft>
                <a:spcPts val="150"/>
              </a:spcAft>
              <a:buClr>
                <a:srgbClr val="A51C30"/>
              </a:buClr>
              <a:buSzPct val="100000"/>
              <a:buFont typeface="Arial"/>
              <a:buChar char="▪"/>
            </a:pPr>
            <a:r>
              <a:rPr sz="1050" b="0" i="0">
                <a:solidFill>
                  <a:srgbClr val="1A1A1A"/>
                </a:solidFill>
              </a:rPr>
              <a:t>The official record exists; no publishError</a:t>
            </a:r>
          </a:p>
          <a:p>
            <a:pPr algn="l" marL="146304" indent="-146304">
              <a:spcAft>
                <a:spcPts val="150"/>
              </a:spcAft>
              <a:buClr>
                <a:srgbClr val="A51C30"/>
              </a:buClr>
              <a:buSzPct val="100000"/>
              <a:buFont typeface="Arial"/>
              <a:buChar char="▪"/>
            </a:pPr>
            <a:r>
              <a:rPr sz="1050" b="0" i="0">
                <a:solidFill>
                  <a:srgbClr val="1A1A1A"/>
                </a:solidFill>
              </a:rPr>
              <a:t>Each system arrived in its expected form and grain</a:t>
            </a:r>
          </a:p>
          <a:p>
            <a:pPr algn="l" marL="146304" indent="-146304">
              <a:spcAft>
                <a:spcPts val="150"/>
              </a:spcAft>
              <a:buClr>
                <a:srgbClr val="A51C30"/>
              </a:buClr>
              <a:buSzPct val="100000"/>
              <a:buFont typeface="Arial"/>
              <a:buChar char="▪"/>
            </a:pPr>
            <a:r>
              <a:rPr sz="1050" b="0" i="0">
                <a:solidFill>
                  <a:srgbClr val="1A1A1A"/>
                </a:solidFill>
              </a:rPr>
              <a:t>Limit use: amber 75%, red 90%; the backtest light</a:t>
            </a:r>
          </a:p>
          <a:p>
            <a:pPr algn="l" marL="146304" indent="-146304">
              <a:spcAft>
                <a:spcPts val="150"/>
              </a:spcAft>
              <a:buClr>
                <a:srgbClr val="A51C30"/>
              </a:buClr>
              <a:buSzPct val="100000"/>
              <a:buFont typeface="Arial"/>
              <a:buChar char="▪"/>
            </a:pPr>
            <a:r>
              <a:rPr sz="1050" b="0" i="0">
                <a:solidFill>
                  <a:srgbClr val="1A1A1A"/>
                </a:solidFill>
              </a:rPr>
              <a:t>Intraday streams: nothing waiting long; no rejections</a:t>
            </a:r>
          </a:p>
        </p:txBody>
      </p:sp>
      <p:sp>
        <p:nvSpPr>
          <p:cNvPr id="49" name="TextBox 48"/>
          <p:cNvSpPr txBox="1"/>
          <p:nvPr/>
        </p:nvSpPr>
        <p:spPr>
          <a:xfrm>
            <a:off x="777240" y="5440680"/>
            <a:ext cx="10634472" cy="777240"/>
          </a:xfrm>
          <a:prstGeom prst="rect">
            <a:avLst/>
          </a:prstGeom>
          <a:noFill/>
        </p:spPr>
        <p:txBody>
          <a:bodyPr wrap="square" lIns="0" rIns="0" tIns="0" bIns="0" anchor="ctr">
            <a:spAutoFit/>
          </a:bodyPr>
          <a:lstStyle/>
          <a:p>
            <a:pPr algn="l"/>
            <a:r>
              <a:rPr sz="1150" b="1" i="0">
                <a:solidFill>
                  <a:srgbClr val="8A1626"/>
                </a:solidFill>
              </a:rPr>
              <a:t>Not checked by the engine today: </a:t>
            </a:r>
            <a:r>
              <a:rPr sz="1150" b="0" i="0">
                <a:solidFill>
                  <a:srgbClr val="4A5058"/>
                </a:solidFill>
              </a:rPr>
              <a:t>the batch's due time and its completeness against the trades booked (planned in the VaR guide); agree them with the pricing-system teams.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OPERATIONS · FAILURE HANDLING</a:t>
            </a:r>
          </a:p>
        </p:txBody>
      </p:sp>
      <p:sp>
        <p:nvSpPr>
          <p:cNvPr id="3" name="Title 2"/>
          <p:cNvSpPr>
            <a:spLocks noGrp="1"/>
          </p:cNvSpPr>
          <p:nvPr>
            <p:ph type="title" idx="104"/>
          </p:nvPr>
        </p:nvSpPr>
        <p:spPr/>
        <p:txBody>
          <a:bodyPr/>
          <a:lstStyle/>
          <a:p>
            <a:r>
              <a:t>When something goes wrong, and the runbook</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17320"/>
          <a:ext cx="10634472" cy="3474720"/>
        </p:xfrm>
        <a:graphic>
          <a:graphicData uri="http://schemas.openxmlformats.org/drawingml/2006/table">
            <a:tbl>
              <a:tblPr firstRow="0" bandRow="0">
                <a:tableStyleId>{5940675A-B579-460E-94D1-54222C63F5DA}</a:tableStyleId>
              </a:tblPr>
              <a:tblGrid>
                <a:gridCol w="3657600"/>
                <a:gridCol w="3566160"/>
                <a:gridCol w="3410712"/>
              </a:tblGrid>
              <a:tr h="347472">
                <a:tc>
                  <a:txBody>
                    <a:bodyPr wrap="square"/>
                    <a:lstStyle/>
                    <a:p>
                      <a:r>
                        <a:rPr sz="1100" b="1" i="0">
                          <a:solidFill>
                            <a:srgbClr val="FFFFFF"/>
                          </a:solidFill>
                        </a:rPr>
                        <a:t>Situation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What the engine does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What the operator does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47472">
                <a:tc>
                  <a:txBody>
                    <a:bodyPr wrap="square"/>
                    <a:lstStyle/>
                    <a:p>
                      <a:r>
                        <a:rPr sz="1100" b="1" i="0">
                          <a:solidFill>
                            <a:srgbClr val="8A1626"/>
                          </a:solidFill>
                        </a:rPr>
                        <a:t>Bad rows (DRS-5201, 5206, 5207, 5208, 5209)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refuses each row, names it; never zero-fills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fix the rows, restate the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47472">
                <a:tc>
                  <a:txBody>
                    <a:bodyPr wrap="square"/>
                    <a:lstStyle/>
                    <a:p>
                      <a:r>
                        <a:rPr sz="1100" b="1" i="0">
                          <a:solidFill>
                            <a:srgbClr val="8A1626"/>
                          </a:solidFill>
                        </a:rPr>
                        <a:t>A trade twice on a date (DRS-5202)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does not load the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restate with one row per trade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47472">
                <a:tc>
                  <a:txBody>
                    <a:bodyPr wrap="square"/>
                    <a:lstStyle/>
                    <a:p>
                      <a:r>
                        <a:rPr sz="1100" b="1" i="0">
                          <a:solidFill>
                            <a:srgbClr val="8A1626"/>
                          </a:solidFill>
                        </a:rPr>
                        <a:t>Two runs or sets on a date (DRS-5203)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answers the date before, with a warning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restate as one run; signal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47472">
                <a:tc>
                  <a:txBody>
                    <a:bodyPr wrap="square"/>
                    <a:lstStyle/>
                    <a:p>
                      <a:r>
                        <a:rPr sz="1100" b="1" i="0">
                          <a:solidFill>
                            <a:srgbClr val="8A1626"/>
                          </a:solidFill>
                        </a:rPr>
                        <a:t>Second form or grain from a system (DRS-5210)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refuses: never a double count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fix the system's output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47472">
                <a:tc>
                  <a:txBody>
                    <a:bodyPr wrap="square"/>
                    <a:lstStyle/>
                    <a:p>
                      <a:r>
                        <a:rPr sz="1100" b="1" i="0">
                          <a:solidFill>
                            <a:srgbClr val="8A1626"/>
                          </a:solidFill>
                        </a:rPr>
                        <a:t>A date over the memory budget (DRS-5204)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503; never loads part of a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raise memory-budget-mb or heap</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47472">
                <a:tc>
                  <a:txBody>
                    <a:bodyPr wrap="square"/>
                    <a:lstStyle/>
                    <a:p>
                      <a:r>
                        <a:rPr sz="1100" b="1" i="0">
                          <a:solidFill>
                            <a:srgbClr val="8A1626"/>
                          </a:solidFill>
                        </a:rPr>
                        <a:t>Restatement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reloads; next result version; old kept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rewrite the whole date, new BATCH_ID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47472">
                <a:tc>
                  <a:txBody>
                    <a:bodyPr wrap="square"/>
                    <a:lstStyle/>
                    <a:p>
                      <a:r>
                        <a:rPr sz="1100" b="1" i="0">
                          <a:solidFill>
                            <a:srgbClr val="8A1626"/>
                          </a:solidFill>
                        </a:rPr>
                        <a:t>Publish fails (disk, root)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records publishError; capture stands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fix the root; capture again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47472">
                <a:tc>
                  <a:txBody>
                    <a:bodyPr wrap="square"/>
                    <a:lstStyle/>
                    <a:p>
                      <a:r>
                        <a:rPr sz="1100" b="1" i="0">
                          <a:solidFill>
                            <a:srgbClr val="8A1626"/>
                          </a:solidFill>
                        </a:rPr>
                        <a:t>Damaged or old hot file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reads the lake, rebuilds the file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nothing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47472">
                <a:tc>
                  <a:txBody>
                    <a:bodyPr wrap="square"/>
                    <a:lstStyle/>
                    <a:p>
                      <a:r>
                        <a:rPr sz="1100" b="1" i="0">
                          <a:solidFill>
                            <a:srgbClr val="8A1626"/>
                          </a:solidFill>
                        </a:rPr>
                        <a:t>Restart, or a Kafka replay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rebuilds from the lake; writes nothing twice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nothing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7" name="TextBox 26"/>
          <p:cNvSpPr txBox="1"/>
          <p:nvPr/>
        </p:nvSpPr>
        <p:spPr>
          <a:xfrm>
            <a:off x="777240" y="5230368"/>
            <a:ext cx="1280160" cy="365760"/>
          </a:xfrm>
          <a:prstGeom prst="rect">
            <a:avLst/>
          </a:prstGeom>
          <a:noFill/>
        </p:spPr>
        <p:txBody>
          <a:bodyPr wrap="square" lIns="0" rIns="0" tIns="0" bIns="0" anchor="ctr">
            <a:spAutoFit/>
          </a:bodyPr>
          <a:lstStyle/>
          <a:p>
            <a:pPr algn="l"/>
            <a:r>
              <a:rPr sz="1300" b="1" i="0">
                <a:solidFill>
                  <a:srgbClr val="A51C30"/>
                </a:solidFill>
              </a:rPr>
              <a:t>Runbook</a:t>
            </a:r>
          </a:p>
        </p:txBody>
      </p:sp>
      <p:sp>
        <p:nvSpPr>
          <p:cNvPr id="28" name="Rectangle 27"/>
          <p:cNvSpPr/>
          <p:nvPr/>
        </p:nvSpPr>
        <p:spPr>
          <a:xfrm>
            <a:off x="2057400" y="5193792"/>
            <a:ext cx="1687982" cy="4572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i="0">
                <a:solidFill>
                  <a:srgbClr val="8A1626"/>
                </a:solidFill>
              </a:rPr>
              <a:t>1  Check status and provenance</a:t>
            </a:r>
          </a:p>
        </p:txBody>
      </p:sp>
      <p:cxnSp>
        <p:nvCxnSpPr>
          <p:cNvPr id="29" name="Connector 28"/>
          <p:cNvCxnSpPr/>
          <p:nvPr/>
        </p:nvCxnSpPr>
        <p:spPr>
          <a:xfrm>
            <a:off x="3763670" y="5422392"/>
            <a:ext cx="19202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3973982" y="5193792"/>
            <a:ext cx="1687982" cy="457200"/>
          </a:xfrm>
          <a:prstGeom prst="rect">
            <a:avLst/>
          </a:prstGeom>
          <a:solidFill>
            <a:srgbClr val="F6E6E9"/>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i="0">
                <a:solidFill>
                  <a:srgbClr val="8A1626"/>
                </a:solidFill>
              </a:rPr>
              <a:t>2  Name the code</a:t>
            </a:r>
          </a:p>
        </p:txBody>
      </p:sp>
      <p:cxnSp>
        <p:nvCxnSpPr>
          <p:cNvPr id="31" name="Connector 30"/>
          <p:cNvCxnSpPr/>
          <p:nvPr/>
        </p:nvCxnSpPr>
        <p:spPr>
          <a:xfrm>
            <a:off x="5680252" y="5422392"/>
            <a:ext cx="19202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890564" y="5193792"/>
            <a:ext cx="1687982" cy="4572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i="0">
                <a:solidFill>
                  <a:srgbClr val="8A1626"/>
                </a:solidFill>
              </a:rPr>
              <a:t>3  Fix at source</a:t>
            </a:r>
          </a:p>
        </p:txBody>
      </p:sp>
      <p:cxnSp>
        <p:nvCxnSpPr>
          <p:cNvPr id="33" name="Connector 32"/>
          <p:cNvCxnSpPr/>
          <p:nvPr/>
        </p:nvCxnSpPr>
        <p:spPr>
          <a:xfrm>
            <a:off x="7596835" y="5422392"/>
            <a:ext cx="19202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807147" y="5193792"/>
            <a:ext cx="1687982" cy="457200"/>
          </a:xfrm>
          <a:prstGeom prst="rect">
            <a:avLst/>
          </a:prstGeom>
          <a:solidFill>
            <a:srgbClr val="F6E6E9"/>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i="0">
                <a:solidFill>
                  <a:srgbClr val="8A1626"/>
                </a:solidFill>
              </a:rPr>
              <a:t>4  Restate the whole date</a:t>
            </a:r>
          </a:p>
        </p:txBody>
      </p:sp>
      <p:cxnSp>
        <p:nvCxnSpPr>
          <p:cNvPr id="35" name="Connector 34"/>
          <p:cNvCxnSpPr/>
          <p:nvPr/>
        </p:nvCxnSpPr>
        <p:spPr>
          <a:xfrm>
            <a:off x="9513417" y="5422392"/>
            <a:ext cx="19202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9723729" y="5193792"/>
            <a:ext cx="1687982" cy="4572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i="0">
                <a:solidFill>
                  <a:srgbClr val="8A1626"/>
                </a:solidFill>
              </a:rPr>
              <a:t>5  Signal; verify the version</a:t>
            </a:r>
          </a:p>
        </p:txBody>
      </p:sp>
      <p:sp>
        <p:nvSpPr>
          <p:cNvPr id="37" name="TextBox 36"/>
          <p:cNvSpPr txBox="1"/>
          <p:nvPr/>
        </p:nvSpPr>
        <p:spPr>
          <a:xfrm>
            <a:off x="777240" y="5760720"/>
            <a:ext cx="10634472" cy="457200"/>
          </a:xfrm>
          <a:prstGeom prst="rect">
            <a:avLst/>
          </a:prstGeom>
          <a:noFill/>
        </p:spPr>
        <p:txBody>
          <a:bodyPr wrap="square" lIns="0" rIns="0" tIns="0" bIns="0" anchor="ctr">
            <a:spAutoFit/>
          </a:bodyPr>
          <a:lstStyle/>
          <a:p>
            <a:pPr algn="l"/>
            <a:r>
              <a:rPr sz="1150" b="0" i="1">
                <a:solidFill>
                  <a:srgbClr val="4A5058"/>
                </a:solidFill>
              </a:rPr>
              <a:t>The engine never guesses: a bad row is refused and named; a date that cannot load as one run is not loaded, and the day before is answered with a warning rather than a wrong number.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08</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Model risk and controls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MODEL RISK · REPRODUCIBILITY AND BACKTESTING</a:t>
            </a:r>
          </a:p>
        </p:txBody>
      </p:sp>
      <p:sp>
        <p:nvSpPr>
          <p:cNvPr id="3" name="Title 2"/>
          <p:cNvSpPr>
            <a:spLocks noGrp="1"/>
          </p:cNvSpPr>
          <p:nvPr>
            <p:ph type="title" idx="104"/>
          </p:nvPr>
        </p:nvSpPr>
        <p:spPr/>
        <p:txBody>
          <a:bodyPr/>
          <a:lstStyle/>
          <a:p>
            <a:r>
              <a:t>Every number reproducible, every day backtested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71600"/>
            <a:ext cx="5120640" cy="274320"/>
          </a:xfrm>
          <a:prstGeom prst="rect">
            <a:avLst/>
          </a:prstGeom>
          <a:noFill/>
        </p:spPr>
        <p:txBody>
          <a:bodyPr wrap="square" lIns="0" rIns="0" tIns="0" bIns="0" anchor="ctr">
            <a:spAutoFit/>
          </a:bodyPr>
          <a:lstStyle/>
          <a:p>
            <a:pPr algn="l"/>
            <a:r>
              <a:rPr sz="1300" b="1" i="0">
                <a:solidFill>
                  <a:srgbClr val="A51C30"/>
                </a:solidFill>
              </a:rPr>
              <a:t>Reproducibility, as built</a:t>
            </a:r>
          </a:p>
        </p:txBody>
      </p:sp>
      <p:sp>
        <p:nvSpPr>
          <p:cNvPr id="27" name="Rectangle 26"/>
          <p:cNvSpPr/>
          <p:nvPr/>
        </p:nvSpPr>
        <p:spPr>
          <a:xfrm>
            <a:off x="777240" y="1719072"/>
            <a:ext cx="5120640" cy="493776"/>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86968" y="1719072"/>
            <a:ext cx="4937759" cy="493776"/>
          </a:xfrm>
          <a:prstGeom prst="rect">
            <a:avLst/>
          </a:prstGeom>
          <a:noFill/>
        </p:spPr>
        <p:txBody>
          <a:bodyPr wrap="square" lIns="0" rIns="0" tIns="0" bIns="0" anchor="ctr">
            <a:spAutoFit/>
          </a:bodyPr>
          <a:lstStyle/>
          <a:p>
            <a:pPr algn="l"/>
            <a:r>
              <a:rPr sz="1150" b="1" i="0">
                <a:solidFill>
                  <a:srgbClr val="8A1626"/>
                </a:solidFill>
              </a:rPr>
              <a:t>Versions on every answer</a:t>
            </a:r>
          </a:p>
          <a:p>
            <a:pPr algn="l"/>
            <a:r>
              <a:rPr sz="1050" b="0" i="0">
                <a:solidFill>
                  <a:srgbClr val="4A5058"/>
                </a:solidFill>
              </a:rPr>
              <a:t>inputs' data versions, batch ids, scenario set, method, engine version</a:t>
            </a:r>
          </a:p>
        </p:txBody>
      </p:sp>
      <p:sp>
        <p:nvSpPr>
          <p:cNvPr id="29" name="Rectangle 28"/>
          <p:cNvSpPr/>
          <p:nvPr/>
        </p:nvSpPr>
        <p:spPr>
          <a:xfrm>
            <a:off x="777240" y="2267712"/>
            <a:ext cx="5120640" cy="493776"/>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886968" y="2267712"/>
            <a:ext cx="4937759" cy="493776"/>
          </a:xfrm>
          <a:prstGeom prst="rect">
            <a:avLst/>
          </a:prstGeom>
          <a:noFill/>
        </p:spPr>
        <p:txBody>
          <a:bodyPr wrap="square" lIns="0" rIns="0" tIns="0" bIns="0" anchor="ctr">
            <a:spAutoFit/>
          </a:bodyPr>
          <a:lstStyle/>
          <a:p>
            <a:pPr algn="l"/>
            <a:r>
              <a:rPr sz="1150" b="1" i="0">
                <a:solidFill>
                  <a:srgbClr val="8A1626"/>
                </a:solidFill>
              </a:rPr>
              <a:t>Digests</a:t>
            </a:r>
          </a:p>
          <a:p>
            <a:pPr algn="l"/>
            <a:r>
              <a:rPr sz="1050" b="0" i="0">
                <a:solidFill>
                  <a:srgbClr val="4A5058"/>
                </a:solidFill>
              </a:rPr>
              <a:t>the position rules' text and digest, the membership hash</a:t>
            </a:r>
          </a:p>
        </p:txBody>
      </p:sp>
      <p:sp>
        <p:nvSpPr>
          <p:cNvPr id="31" name="Rectangle 30"/>
          <p:cNvSpPr/>
          <p:nvPr/>
        </p:nvSpPr>
        <p:spPr>
          <a:xfrm>
            <a:off x="777240" y="2816352"/>
            <a:ext cx="5120640" cy="493776"/>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886968" y="2816352"/>
            <a:ext cx="4937759" cy="493776"/>
          </a:xfrm>
          <a:prstGeom prst="rect">
            <a:avLst/>
          </a:prstGeom>
          <a:noFill/>
        </p:spPr>
        <p:txBody>
          <a:bodyPr wrap="square" lIns="0" rIns="0" tIns="0" bIns="0" anchor="ctr">
            <a:spAutoFit/>
          </a:bodyPr>
          <a:lstStyle/>
          <a:p>
            <a:pPr algn="l"/>
            <a:r>
              <a:rPr sz="1150" b="1" i="0">
                <a:solidFill>
                  <a:srgbClr val="8A1626"/>
                </a:solidFill>
              </a:rPr>
              <a:t>Append-only official records</a:t>
            </a:r>
          </a:p>
          <a:p>
            <a:pPr algn="l"/>
            <a:r>
              <a:rPr sz="1050" b="0" i="0">
                <a:solidFill>
                  <a:srgbClr val="4A5058"/>
                </a:solidFill>
              </a:rPr>
              <a:t>a restatement adds a result version; the earlier is kept</a:t>
            </a:r>
          </a:p>
        </p:txBody>
      </p:sp>
      <p:sp>
        <p:nvSpPr>
          <p:cNvPr id="33" name="Rectangle 32"/>
          <p:cNvSpPr/>
          <p:nvPr/>
        </p:nvSpPr>
        <p:spPr>
          <a:xfrm>
            <a:off x="777240" y="3364991"/>
            <a:ext cx="5120640" cy="493776"/>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886968" y="3364991"/>
            <a:ext cx="4937759" cy="493776"/>
          </a:xfrm>
          <a:prstGeom prst="rect">
            <a:avLst/>
          </a:prstGeom>
          <a:noFill/>
        </p:spPr>
        <p:txBody>
          <a:bodyPr wrap="square" lIns="0" rIns="0" tIns="0" bIns="0" anchor="ctr">
            <a:spAutoFit/>
          </a:bodyPr>
          <a:lstStyle/>
          <a:p>
            <a:pPr algn="l"/>
            <a:r>
              <a:rPr sz="1150" b="1" i="0">
                <a:solidFill>
                  <a:srgbClr val="8A1626"/>
                </a:solidFill>
              </a:rPr>
              <a:t>7-year retention</a:t>
            </a:r>
          </a:p>
          <a:p>
            <a:pPr algn="l"/>
            <a:r>
              <a:rPr sz="1050" b="0" i="0">
                <a:solidFill>
                  <a:srgbClr val="4A5058"/>
                </a:solidFill>
              </a:rPr>
              <a:t>vectors with time travel, captures and records; maintenance never goes below</a:t>
            </a:r>
          </a:p>
        </p:txBody>
      </p:sp>
      <p:sp>
        <p:nvSpPr>
          <p:cNvPr id="35" name="Rectangle 34"/>
          <p:cNvSpPr/>
          <p:nvPr/>
        </p:nvSpPr>
        <p:spPr>
          <a:xfrm>
            <a:off x="777240" y="3913631"/>
            <a:ext cx="5120640" cy="493776"/>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886968" y="3913631"/>
            <a:ext cx="4937759" cy="493776"/>
          </a:xfrm>
          <a:prstGeom prst="rect">
            <a:avLst/>
          </a:prstGeom>
          <a:noFill/>
        </p:spPr>
        <p:txBody>
          <a:bodyPr wrap="square" lIns="0" rIns="0" tIns="0" bIns="0" anchor="ctr">
            <a:spAutoFit/>
          </a:bodyPr>
          <a:lstStyle/>
          <a:p>
            <a:pPr algn="l"/>
            <a:r>
              <a:rPr sz="1150" b="1" i="0">
                <a:solidFill>
                  <a:srgbClr val="8A1626"/>
                </a:solidFill>
              </a:rPr>
              <a:t>Recomputable</a:t>
            </a:r>
          </a:p>
          <a:p>
            <a:pPr algn="l"/>
            <a:r>
              <a:rPr sz="1050" b="0" i="0">
                <a:solidFill>
                  <a:srgbClr val="4A5058"/>
                </a:solidFill>
              </a:rPr>
              <a:t>the same vectors and engine version give the same number years later</a:t>
            </a:r>
          </a:p>
        </p:txBody>
      </p:sp>
      <p:sp>
        <p:nvSpPr>
          <p:cNvPr id="37" name="Rectangle 36"/>
          <p:cNvSpPr/>
          <p:nvPr/>
        </p:nvSpPr>
        <p:spPr>
          <a:xfrm>
            <a:off x="777240" y="4462272"/>
            <a:ext cx="5120640" cy="493776"/>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86968" y="4462272"/>
            <a:ext cx="4937759" cy="493776"/>
          </a:xfrm>
          <a:prstGeom prst="rect">
            <a:avLst/>
          </a:prstGeom>
          <a:noFill/>
        </p:spPr>
        <p:txBody>
          <a:bodyPr wrap="square" lIns="0" rIns="0" tIns="0" bIns="0" anchor="ctr">
            <a:spAutoFit/>
          </a:bodyPr>
          <a:lstStyle/>
          <a:p>
            <a:pPr algn="l"/>
            <a:r>
              <a:rPr sz="1150" b="1" i="0">
                <a:solidFill>
                  <a:srgbClr val="8A1626"/>
                </a:solidFill>
              </a:rPr>
              <a:t>Exact arithmetic</a:t>
            </a:r>
          </a:p>
          <a:p>
            <a:pPr algn="l"/>
            <a:r>
              <a:rPr sz="1050" b="0" i="0">
                <a:solidFill>
                  <a:srgbClr val="4A5058"/>
                </a:solidFill>
              </a:rPr>
              <a:t>a node's figures equal the lake's to the bit; components add up to VaR</a:t>
            </a:r>
          </a:p>
        </p:txBody>
      </p:sp>
      <p:sp>
        <p:nvSpPr>
          <p:cNvPr id="39" name="TextBox 38"/>
          <p:cNvSpPr txBox="1"/>
          <p:nvPr/>
        </p:nvSpPr>
        <p:spPr>
          <a:xfrm>
            <a:off x="6172199" y="1371600"/>
            <a:ext cx="5239512" cy="274320"/>
          </a:xfrm>
          <a:prstGeom prst="rect">
            <a:avLst/>
          </a:prstGeom>
          <a:noFill/>
        </p:spPr>
        <p:txBody>
          <a:bodyPr wrap="square" lIns="0" rIns="0" tIns="0" bIns="0" anchor="ctr">
            <a:spAutoFit/>
          </a:bodyPr>
          <a:lstStyle/>
          <a:p>
            <a:pPr algn="l"/>
            <a:r>
              <a:rPr sz="1300" b="1" i="0">
                <a:solidFill>
                  <a:srgbClr val="A51C30"/>
                </a:solidFill>
              </a:rPr>
              <a:t>Backtesting at 99%  </a:t>
            </a:r>
            <a:r>
              <a:rPr sz="1100" b="0" i="0">
                <a:solidFill>
                  <a:srgbClr val="4A5058"/>
                </a:solidFill>
              </a:rPr>
              <a:t>losses bigger than VaR are breaches</a:t>
            </a:r>
          </a:p>
        </p:txBody>
      </p:sp>
      <p:sp>
        <p:nvSpPr>
          <p:cNvPr id="40" name="Rectangle 39"/>
          <p:cNvSpPr/>
          <p:nvPr/>
        </p:nvSpPr>
        <p:spPr>
          <a:xfrm>
            <a:off x="6172199" y="1719072"/>
            <a:ext cx="1685544" cy="566928"/>
          </a:xfrm>
          <a:prstGeom prst="rect">
            <a:avLst/>
          </a:prstGeom>
          <a:solidFill>
            <a:srgbClr val="3E8E5A"/>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300" b="1" i="0">
                <a:solidFill>
                  <a:srgbClr val="FFFFFF"/>
                </a:solidFill>
              </a:rPr>
              <a:t>Green  0–4</a:t>
            </a:r>
          </a:p>
        </p:txBody>
      </p:sp>
      <p:sp>
        <p:nvSpPr>
          <p:cNvPr id="41" name="Rectangle 40"/>
          <p:cNvSpPr/>
          <p:nvPr/>
        </p:nvSpPr>
        <p:spPr>
          <a:xfrm>
            <a:off x="7949184" y="1719072"/>
            <a:ext cx="1685544" cy="566928"/>
          </a:xfrm>
          <a:prstGeom prst="rect">
            <a:avLst/>
          </a:prstGeom>
          <a:solidFill>
            <a:srgbClr val="D49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300" b="1" i="0">
                <a:solidFill>
                  <a:srgbClr val="FFFFFF"/>
                </a:solidFill>
              </a:rPr>
              <a:t>Amber  5–9</a:t>
            </a:r>
          </a:p>
        </p:txBody>
      </p:sp>
      <p:sp>
        <p:nvSpPr>
          <p:cNvPr id="42" name="Rectangle 41"/>
          <p:cNvSpPr/>
          <p:nvPr/>
        </p:nvSpPr>
        <p:spPr>
          <a:xfrm>
            <a:off x="9726168" y="1719072"/>
            <a:ext cx="1685544" cy="566928"/>
          </a:xfrm>
          <a:prstGeom prst="rect">
            <a:avLst/>
          </a:prstGeom>
          <a:solidFill>
            <a:srgbClr val="B0302F"/>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300" b="1" i="0">
                <a:solidFill>
                  <a:srgbClr val="FFFFFF"/>
                </a:solidFill>
              </a:rPr>
              <a:t>Red  10+</a:t>
            </a:r>
          </a:p>
        </p:txBody>
      </p:sp>
      <p:sp>
        <p:nvSpPr>
          <p:cNvPr id="43" name="TextBox 42"/>
          <p:cNvSpPr txBox="1"/>
          <p:nvPr/>
        </p:nvSpPr>
        <p:spPr>
          <a:xfrm>
            <a:off x="6172199" y="2395728"/>
            <a:ext cx="5239512" cy="384048"/>
          </a:xfrm>
          <a:prstGeom prst="rect">
            <a:avLst/>
          </a:prstGeom>
          <a:noFill/>
        </p:spPr>
        <p:txBody>
          <a:bodyPr wrap="square" lIns="0" rIns="0" tIns="0" bIns="0" anchor="ctr">
            <a:spAutoFit/>
          </a:bodyPr>
          <a:lstStyle/>
          <a:p>
            <a:pPr algn="l"/>
            <a:r>
              <a:rPr sz="1150" b="1" i="0">
                <a:solidFill>
                  <a:srgbClr val="8A1626"/>
                </a:solidFill>
              </a:rPr>
              <a:t>Kupiec test  </a:t>
            </a:r>
            <a:r>
              <a:rPr sz="1100" b="0" i="0">
                <a:solidFill>
                  <a:srgbClr val="1A1A1A"/>
                </a:solidFill>
              </a:rPr>
              <a:t>too many or too few breaches?</a:t>
            </a:r>
          </a:p>
        </p:txBody>
      </p:sp>
      <p:sp>
        <p:nvSpPr>
          <p:cNvPr id="44" name="TextBox 43"/>
          <p:cNvSpPr txBox="1"/>
          <p:nvPr/>
        </p:nvSpPr>
        <p:spPr>
          <a:xfrm>
            <a:off x="6172199" y="2798064"/>
            <a:ext cx="5239512" cy="384048"/>
          </a:xfrm>
          <a:prstGeom prst="rect">
            <a:avLst/>
          </a:prstGeom>
          <a:noFill/>
        </p:spPr>
        <p:txBody>
          <a:bodyPr wrap="square" lIns="0" rIns="0" tIns="0" bIns="0" anchor="ctr">
            <a:spAutoFit/>
          </a:bodyPr>
          <a:lstStyle/>
          <a:p>
            <a:pPr algn="l"/>
            <a:r>
              <a:rPr sz="1150" b="1" i="0">
                <a:solidFill>
                  <a:srgbClr val="8A1626"/>
                </a:solidFill>
              </a:rPr>
              <a:t>Christoffersen test  </a:t>
            </a:r>
            <a:r>
              <a:rPr sz="1100" b="0" i="0">
                <a:solidFill>
                  <a:srgbClr val="1A1A1A"/>
                </a:solidFill>
              </a:rPr>
              <a:t>do breaches cluster?</a:t>
            </a:r>
          </a:p>
        </p:txBody>
      </p:sp>
      <p:sp>
        <p:nvSpPr>
          <p:cNvPr id="45" name="TextBox 44"/>
          <p:cNvSpPr txBox="1"/>
          <p:nvPr/>
        </p:nvSpPr>
        <p:spPr>
          <a:xfrm>
            <a:off x="6172199" y="3200400"/>
            <a:ext cx="5239512" cy="384048"/>
          </a:xfrm>
          <a:prstGeom prst="rect">
            <a:avLst/>
          </a:prstGeom>
          <a:noFill/>
        </p:spPr>
        <p:txBody>
          <a:bodyPr wrap="square" lIns="0" rIns="0" tIns="0" bIns="0" anchor="ctr">
            <a:spAutoFit/>
          </a:bodyPr>
          <a:lstStyle/>
          <a:p>
            <a:pPr algn="l"/>
            <a:r>
              <a:rPr sz="1150" b="1" i="0">
                <a:solidFill>
                  <a:srgbClr val="8A1626"/>
                </a:solidFill>
              </a:rPr>
              <a:t>Official mode  </a:t>
            </a:r>
            <a:r>
              <a:rPr sz="1100" b="0" i="0">
                <a:solidFill>
                  <a:srgbClr val="1A1A1A"/>
                </a:solidFill>
              </a:rPr>
              <a:t>a node's official history: each day's hypothetical P&amp;L against the day before's VaR</a:t>
            </a:r>
          </a:p>
        </p:txBody>
      </p:sp>
      <p:sp>
        <p:nvSpPr>
          <p:cNvPr id="46" name="TextBox 45"/>
          <p:cNvSpPr txBox="1"/>
          <p:nvPr/>
        </p:nvSpPr>
        <p:spPr>
          <a:xfrm>
            <a:off x="6172199" y="3602736"/>
            <a:ext cx="5239512" cy="384048"/>
          </a:xfrm>
          <a:prstGeom prst="rect">
            <a:avLst/>
          </a:prstGeom>
          <a:noFill/>
        </p:spPr>
        <p:txBody>
          <a:bodyPr wrap="square" lIns="0" rIns="0" tIns="0" bIns="0" anchor="ctr">
            <a:spAutoFit/>
          </a:bodyPr>
          <a:lstStyle/>
          <a:p>
            <a:pPr algn="l"/>
            <a:r>
              <a:rPr sz="1150" b="1" i="0">
                <a:solidFill>
                  <a:srgbClr val="8A1626"/>
                </a:solidFill>
              </a:rPr>
              <a:t>Replay  </a:t>
            </a:r>
            <a:r>
              <a:rPr sz="1100" b="0" i="0">
                <a:solidFill>
                  <a:srgbClr val="1A1A1A"/>
                </a:solidFill>
              </a:rPr>
              <a:t>today's members over past scenario days: in-sample, labelled not a regulatory backtest</a:t>
            </a:r>
          </a:p>
        </p:txBody>
      </p:sp>
      <p:sp>
        <p:nvSpPr>
          <p:cNvPr id="47" name="TextBox 46"/>
          <p:cNvSpPr txBox="1"/>
          <p:nvPr/>
        </p:nvSpPr>
        <p:spPr>
          <a:xfrm>
            <a:off x="6172199" y="4005072"/>
            <a:ext cx="5239512" cy="384048"/>
          </a:xfrm>
          <a:prstGeom prst="rect">
            <a:avLst/>
          </a:prstGeom>
          <a:noFill/>
        </p:spPr>
        <p:txBody>
          <a:bodyPr wrap="square" lIns="0" rIns="0" tIns="0" bIns="0" anchor="ctr">
            <a:spAutoFit/>
          </a:bodyPr>
          <a:lstStyle/>
          <a:p>
            <a:pPr algn="l"/>
            <a:r>
              <a:rPr sz="1150" b="1" i="0">
                <a:solidFill>
                  <a:srgbClr val="8A1626"/>
                </a:solidFill>
              </a:rPr>
              <a:t>Demo, replayed  </a:t>
            </a:r>
            <a:r>
              <a:rPr sz="1100" b="0" i="0">
                <a:solidFill>
                  <a:srgbClr val="1A1A1A"/>
                </a:solidFill>
              </a:rPr>
              <a:t>FX desk: 3 breaches in 249 days, green; the bank: 5, amber</a:t>
            </a:r>
          </a:p>
        </p:txBody>
      </p:sp>
      <p:sp>
        <p:nvSpPr>
          <p:cNvPr id="48" name="TextBox 47"/>
          <p:cNvSpPr txBox="1"/>
          <p:nvPr/>
        </p:nvSpPr>
        <p:spPr>
          <a:xfrm>
            <a:off x="6172199" y="4407408"/>
            <a:ext cx="5239512" cy="384048"/>
          </a:xfrm>
          <a:prstGeom prst="rect">
            <a:avLst/>
          </a:prstGeom>
          <a:noFill/>
        </p:spPr>
        <p:txBody>
          <a:bodyPr wrap="square" lIns="0" rIns="0" tIns="0" bIns="0" anchor="ctr">
            <a:spAutoFit/>
          </a:bodyPr>
          <a:lstStyle/>
          <a:p>
            <a:pPr algn="l"/>
            <a:r>
              <a:rPr sz="1150" b="1" i="0">
                <a:solidFill>
                  <a:srgbClr val="8A1626"/>
                </a:solidFill>
              </a:rPr>
              <a:t>Short histories  </a:t>
            </a:r>
            <a:r>
              <a:rPr sz="1100" b="0" i="0">
                <a:solidFill>
                  <a:srgbClr val="1A1A1A"/>
                </a:solidFill>
              </a:rPr>
              <a:t>limits scale with the days; not a regulatory zone before 250</a:t>
            </a:r>
          </a:p>
        </p:txBody>
      </p:sp>
      <p:sp>
        <p:nvSpPr>
          <p:cNvPr id="49" name="Rectangle 48"/>
          <p:cNvSpPr/>
          <p:nvPr/>
        </p:nvSpPr>
        <p:spPr>
          <a:xfrm>
            <a:off x="777240" y="5074920"/>
            <a:ext cx="10634472" cy="71323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Rectangle 49"/>
          <p:cNvSpPr/>
          <p:nvPr/>
        </p:nvSpPr>
        <p:spPr>
          <a:xfrm>
            <a:off x="777240" y="5074920"/>
            <a:ext cx="54864" cy="7132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1005840" y="5074920"/>
            <a:ext cx="10314432" cy="713232"/>
          </a:xfrm>
          <a:prstGeom prst="rect">
            <a:avLst/>
          </a:prstGeom>
          <a:noFill/>
        </p:spPr>
        <p:txBody>
          <a:bodyPr wrap="square" lIns="0" rIns="0" tIns="0" bIns="0" anchor="ctr">
            <a:spAutoFit/>
          </a:bodyPr>
          <a:lstStyle/>
          <a:p>
            <a:pPr algn="l"/>
            <a:r>
              <a:rPr sz="1150" b="1" i="0">
                <a:solidFill>
                  <a:srgbClr val="A51C30"/>
                </a:solidFill>
              </a:rPr>
              <a:t>Not built, to disclose  </a:t>
            </a:r>
            <a:r>
              <a:rPr sz="1100" b="0" i="0">
                <a:solidFill>
                  <a:srgbClr val="1A1A1A"/>
                </a:solidFill>
              </a:rPr>
              <a:t>age-weighted and filtered methods, ES backtests; 10-day and stressed VaR ship in 2.9.6. The hypothetical P&amp;L is the engine's own; a bank's own hypothetical P&amp;L table replacing it is planned.</a:t>
            </a:r>
          </a:p>
        </p:txBody>
      </p:sp>
      <p:sp>
        <p:nvSpPr>
          <p:cNvPr id="52" name="TextBox 51"/>
          <p:cNvSpPr txBox="1"/>
          <p:nvPr/>
        </p:nvSpPr>
        <p:spPr>
          <a:xfrm>
            <a:off x="777240" y="5815584"/>
            <a:ext cx="10634472" cy="512063"/>
          </a:xfrm>
          <a:prstGeom prst="rect">
            <a:avLst/>
          </a:prstGeom>
          <a:noFill/>
        </p:spPr>
        <p:txBody>
          <a:bodyPr wrap="square" lIns="0" rIns="0" tIns="0" bIns="0" anchor="b">
            <a:spAutoFit/>
          </a:bodyPr>
          <a:lstStyle/>
          <a:p>
            <a:pPr algn="l"/>
            <a:r>
              <a:rPr sz="1000" b="0" i="0">
                <a:solidFill>
                  <a:srgbClr val="4A5058"/>
                </a:solidFill>
              </a:rPr>
              <a:t>Kupiec test (Paul Kupiec, 1995): is the number of VaR breaches (losses bigger than VaR) consistent with 99%, about 2–3 in 250 days?</a:t>
            </a:r>
          </a:p>
          <a:p>
            <a:pPr algn="l"/>
            <a:r>
              <a:rPr sz="1000" b="0" i="0">
                <a:solidFill>
                  <a:srgbClr val="4A5058"/>
                </a:solidFill>
              </a:rPr>
              <a:t>Christoffersen test (Peter Christoffersen, 1998): do breaches cluster together, a sign the model reacts too slowly when markets turn?</a:t>
            </a:r>
          </a:p>
          <a:p>
            <a:pPr algn="l"/>
            <a:r>
              <a:rPr sz="1000" b="0" i="0">
                <a:solidFill>
                  <a:srgbClr val="4A5058"/>
                </a:solidFill>
              </a:rPr>
              <a:t>Basel traffic light: breaches in 250 days at 99%: 0–4 green, 5–9 amber, 10+ red.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MODEL RISK · CONTROLS</a:t>
            </a:r>
          </a:p>
        </p:txBody>
      </p:sp>
      <p:sp>
        <p:nvSpPr>
          <p:cNvPr id="3" name="Title 2"/>
          <p:cNvSpPr>
            <a:spLocks noGrp="1"/>
          </p:cNvSpPr>
          <p:nvPr>
            <p:ph type="title" idx="104"/>
          </p:nvPr>
        </p:nvSpPr>
        <p:spPr/>
        <p:txBody>
          <a:bodyPr/>
          <a:lstStyle/>
          <a:p>
            <a:r>
              <a:t>Independent checks, entitlements, audit, change control</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5202936" cy="21031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17320"/>
            <a:ext cx="45720" cy="2103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41832" y="1490472"/>
            <a:ext cx="4946904" cy="1993391"/>
          </a:xfrm>
          <a:prstGeom prst="rect">
            <a:avLst/>
          </a:prstGeom>
          <a:noFill/>
        </p:spPr>
        <p:txBody>
          <a:bodyPr wrap="square" lIns="0" rIns="0" tIns="0" bIns="0" anchor="t">
            <a:spAutoFit/>
          </a:bodyPr>
          <a:lstStyle/>
          <a:p>
            <a:pPr algn="l">
              <a:spcAft>
                <a:spcPts val="400"/>
              </a:spcAft>
            </a:pPr>
            <a:r>
              <a:rPr sz="1300" b="1" i="0">
                <a:solidFill>
                  <a:srgbClr val="8A1626"/>
                </a:solidFill>
              </a:rPr>
              <a:t>Independent recomputation</a:t>
            </a:r>
          </a:p>
          <a:p>
            <a:pPr algn="l" marL="146304" indent="-146304">
              <a:spcAft>
                <a:spcPts val="200"/>
              </a:spcAft>
              <a:buClr>
                <a:srgbClr val="A51C30"/>
              </a:buClr>
              <a:buSzPct val="100000"/>
              <a:buFont typeface="Arial"/>
              <a:buChar char="▪"/>
            </a:pPr>
            <a:r>
              <a:rPr sz="1150" b="0" i="0">
                <a:solidFill>
                  <a:srgbClr val="1A1A1A"/>
                </a:solidFill>
              </a:rPr>
              <a:t>A checker recomputes the VaR and ES of the bank and every desk from the files sent, and compares with the engine</a:t>
            </a:r>
          </a:p>
          <a:p>
            <a:pPr algn="l" marL="146304" indent="-146304">
              <a:spcAft>
                <a:spcPts val="200"/>
              </a:spcAft>
              <a:buClr>
                <a:srgbClr val="A51C30"/>
              </a:buClr>
              <a:buSzPct val="100000"/>
              <a:buFont typeface="Arial"/>
              <a:buChar char="▪"/>
            </a:pPr>
            <a:r>
              <a:rPr sz="1150" b="0" i="0">
                <a:solidFill>
                  <a:srgbClr val="1A1A1A"/>
                </a:solidFill>
              </a:rPr>
              <a:t>Exits non-zero on any difference: fit for a daily job</a:t>
            </a:r>
          </a:p>
          <a:p>
            <a:pPr algn="l" marL="146304" indent="-146304">
              <a:spcAft>
                <a:spcPts val="200"/>
              </a:spcAft>
              <a:buClr>
                <a:srgbClr val="A51C30"/>
              </a:buClr>
              <a:buSzPct val="100000"/>
              <a:buFont typeface="Arial"/>
              <a:buChar char="▪"/>
            </a:pPr>
            <a:r>
              <a:rPr sz="1150" b="0" i="0">
                <a:solidFill>
                  <a:srgbClr val="1A1A1A"/>
                </a:solidFill>
              </a:rPr>
              <a:t>The official record names its inputs' versions and batch ids: a recomputation reads exactly that data</a:t>
            </a:r>
          </a:p>
        </p:txBody>
      </p:sp>
      <p:sp>
        <p:nvSpPr>
          <p:cNvPr id="29" name="Rectangle 28"/>
          <p:cNvSpPr/>
          <p:nvPr/>
        </p:nvSpPr>
        <p:spPr>
          <a:xfrm>
            <a:off x="6208776" y="1417320"/>
            <a:ext cx="5202936" cy="21031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Rectangle 29"/>
          <p:cNvSpPr/>
          <p:nvPr/>
        </p:nvSpPr>
        <p:spPr>
          <a:xfrm>
            <a:off x="6208776" y="1417320"/>
            <a:ext cx="45720" cy="2103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6373368" y="1490472"/>
            <a:ext cx="4946904" cy="1993391"/>
          </a:xfrm>
          <a:prstGeom prst="rect">
            <a:avLst/>
          </a:prstGeom>
          <a:noFill/>
        </p:spPr>
        <p:txBody>
          <a:bodyPr wrap="square" lIns="0" rIns="0" tIns="0" bIns="0" anchor="t">
            <a:spAutoFit/>
          </a:bodyPr>
          <a:lstStyle/>
          <a:p>
            <a:pPr algn="l">
              <a:spcAft>
                <a:spcPts val="400"/>
              </a:spcAft>
            </a:pPr>
            <a:r>
              <a:rPr sz="1300" b="1" i="0">
                <a:solidFill>
                  <a:srgbClr val="8A1626"/>
                </a:solidFill>
              </a:rPr>
              <a:t>Entitlements</a:t>
            </a:r>
          </a:p>
          <a:p>
            <a:pPr algn="l" marL="146304" indent="-146304">
              <a:spcAft>
                <a:spcPts val="200"/>
              </a:spcAft>
              <a:buClr>
                <a:srgbClr val="A51C30"/>
              </a:buClr>
              <a:buSzPct val="100000"/>
              <a:buFont typeface="Arial"/>
              <a:buChar char="▪"/>
            </a:pPr>
            <a:r>
              <a:rPr sz="1150" b="0" i="0">
                <a:solidFill>
                  <a:srgbClr val="1A1A1A"/>
                </a:solidFill>
              </a:rPr>
              <a:t>Per role and node: positions, or aggregate only (drishti.var.access)</a:t>
            </a:r>
          </a:p>
          <a:p>
            <a:pPr algn="l" marL="146304" indent="-146304">
              <a:spcAft>
                <a:spcPts val="200"/>
              </a:spcAft>
              <a:buClr>
                <a:srgbClr val="A51C30"/>
              </a:buClr>
              <a:buSzPct val="100000"/>
              <a:buFont typeface="Arial"/>
              <a:buChar char="▪"/>
            </a:pPr>
            <a:r>
              <a:rPr sz="1150" b="0" i="0">
                <a:solidFill>
                  <a:srgbClr val="1A1A1A"/>
                </a:solidFill>
              </a:rPr>
              <a:t>A scope is computed over the trades you may see; the rest counted</a:t>
            </a:r>
          </a:p>
          <a:p>
            <a:pPr algn="l" marL="146304" indent="-146304">
              <a:spcAft>
                <a:spcPts val="200"/>
              </a:spcAft>
              <a:buClr>
                <a:srgbClr val="A51C30"/>
              </a:buClr>
              <a:buSzPct val="100000"/>
              <a:buFont typeface="Arial"/>
              <a:buChar char="▪"/>
            </a:pPr>
            <a:r>
              <a:rPr sz="1150" b="0" i="0">
                <a:solidFill>
                  <a:srgbClr val="1A1A1A"/>
                </a:solidFill>
              </a:rPr>
              <a:t>Masks apply; answers cached per view, never shared across rights</a:t>
            </a:r>
          </a:p>
          <a:p>
            <a:pPr algn="l" marL="146304" indent="-146304">
              <a:spcAft>
                <a:spcPts val="200"/>
              </a:spcAft>
              <a:buClr>
                <a:srgbClr val="A51C30"/>
              </a:buClr>
              <a:buSzPct val="100000"/>
              <a:buFont typeface="Arial"/>
              <a:buChar char="▪"/>
            </a:pPr>
            <a:r>
              <a:rPr sz="1150" b="0" i="0">
                <a:solidFill>
                  <a:srgbClr val="1A1A1A"/>
                </a:solidFill>
              </a:rPr>
              <a:t>Saving baskets and captures needs the token scope risk:write</a:t>
            </a:r>
          </a:p>
        </p:txBody>
      </p:sp>
      <p:sp>
        <p:nvSpPr>
          <p:cNvPr id="32" name="Rectangle 31"/>
          <p:cNvSpPr/>
          <p:nvPr/>
        </p:nvSpPr>
        <p:spPr>
          <a:xfrm>
            <a:off x="777240" y="3630168"/>
            <a:ext cx="5202936" cy="21031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777240" y="3630168"/>
            <a:ext cx="45720" cy="2103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941832" y="3703320"/>
            <a:ext cx="4946904" cy="1993391"/>
          </a:xfrm>
          <a:prstGeom prst="rect">
            <a:avLst/>
          </a:prstGeom>
          <a:noFill/>
        </p:spPr>
        <p:txBody>
          <a:bodyPr wrap="square" lIns="0" rIns="0" tIns="0" bIns="0" anchor="t">
            <a:spAutoFit/>
          </a:bodyPr>
          <a:lstStyle/>
          <a:p>
            <a:pPr algn="l">
              <a:spcAft>
                <a:spcPts val="400"/>
              </a:spcAft>
            </a:pPr>
            <a:r>
              <a:rPr sz="1300" b="1" i="0">
                <a:solidFill>
                  <a:srgbClr val="8A1626"/>
                </a:solidFill>
              </a:rPr>
              <a:t>Audit</a:t>
            </a:r>
          </a:p>
          <a:p>
            <a:pPr algn="l" marL="146304" indent="-146304">
              <a:spcAft>
                <a:spcPts val="200"/>
              </a:spcAft>
              <a:buClr>
                <a:srgbClr val="A51C30"/>
              </a:buClr>
              <a:buSzPct val="100000"/>
              <a:buFont typeface="Arial"/>
              <a:buChar char="▪"/>
            </a:pPr>
            <a:r>
              <a:rPr sz="1150" b="0" i="0">
                <a:solidFill>
                  <a:srgbClr val="1A1A1A"/>
                </a:solidFill>
              </a:rPr>
              <a:t>Every headline, capture, basket change, reload and official run (Admin → Audit)</a:t>
            </a:r>
          </a:p>
          <a:p>
            <a:pPr algn="l" marL="146304" indent="-146304">
              <a:spcAft>
                <a:spcPts val="200"/>
              </a:spcAft>
              <a:buClr>
                <a:srgbClr val="A51C30"/>
              </a:buClr>
              <a:buSzPct val="100000"/>
              <a:buFont typeface="Arial"/>
              <a:buChar char="▪"/>
            </a:pPr>
            <a:r>
              <a:rPr sz="1150" b="0" i="0">
                <a:solidFill>
                  <a:srgbClr val="1A1A1A"/>
                </a:solidFill>
              </a:rPr>
              <a:t>A headline's entry: date, data version, view, VaR, ES, trades, hidden, members' digest, time</a:t>
            </a:r>
          </a:p>
          <a:p>
            <a:pPr algn="l" marL="146304" indent="-146304">
              <a:spcAft>
                <a:spcPts val="200"/>
              </a:spcAft>
              <a:buClr>
                <a:srgbClr val="A51C30"/>
              </a:buClr>
              <a:buSzPct val="100000"/>
              <a:buFont typeface="Arial"/>
              <a:buChar char="▪"/>
            </a:pPr>
            <a:r>
              <a:rPr sz="1150" b="0" i="0">
                <a:solidFill>
                  <a:srgbClr val="1A1A1A"/>
                </a:solidFill>
              </a:rPr>
              <a:t>Reloads and official captures: administrators only; official numbers kept 7 years</a:t>
            </a:r>
          </a:p>
        </p:txBody>
      </p:sp>
      <p:sp>
        <p:nvSpPr>
          <p:cNvPr id="35" name="Rectangle 34"/>
          <p:cNvSpPr/>
          <p:nvPr/>
        </p:nvSpPr>
        <p:spPr>
          <a:xfrm>
            <a:off x="6208776" y="3630168"/>
            <a:ext cx="5202936" cy="21031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Rectangle 35"/>
          <p:cNvSpPr/>
          <p:nvPr/>
        </p:nvSpPr>
        <p:spPr>
          <a:xfrm>
            <a:off x="6208776" y="3630168"/>
            <a:ext cx="45720" cy="2103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6373368" y="3703320"/>
            <a:ext cx="4946904" cy="1993391"/>
          </a:xfrm>
          <a:prstGeom prst="rect">
            <a:avLst/>
          </a:prstGeom>
          <a:noFill/>
        </p:spPr>
        <p:txBody>
          <a:bodyPr wrap="square" lIns="0" rIns="0" tIns="0" bIns="0" anchor="t">
            <a:spAutoFit/>
          </a:bodyPr>
          <a:lstStyle/>
          <a:p>
            <a:pPr algn="l">
              <a:spcAft>
                <a:spcPts val="400"/>
              </a:spcAft>
            </a:pPr>
            <a:r>
              <a:rPr sz="1300" b="1" i="0">
                <a:solidFill>
                  <a:srgbClr val="8A1626"/>
                </a:solidFill>
              </a:rPr>
              <a:t>Change control of settings</a:t>
            </a:r>
          </a:p>
          <a:p>
            <a:pPr algn="l" marL="146304" indent="-146304">
              <a:spcAft>
                <a:spcPts val="200"/>
              </a:spcAft>
              <a:buClr>
                <a:srgbClr val="A51C30"/>
              </a:buClr>
              <a:buSzPct val="100000"/>
              <a:buFont typeface="Arial"/>
              <a:buChar char="▪"/>
            </a:pPr>
            <a:r>
              <a:rPr sz="1150" b="0" i="0">
                <a:solidFill>
                  <a:srgbClr val="1A1A1A"/>
                </a:solidFill>
              </a:rPr>
              <a:t>Window, confidence, rank rule, currencies, pins: in application.yaml, shown by GET /status</a:t>
            </a:r>
          </a:p>
          <a:p>
            <a:pPr algn="l" marL="146304" indent="-146304">
              <a:spcAft>
                <a:spcPts val="200"/>
              </a:spcAft>
              <a:buClr>
                <a:srgbClr val="A51C30"/>
              </a:buClr>
              <a:buSzPct val="100000"/>
              <a:buFont typeface="Arial"/>
              <a:buChar char="▪"/>
            </a:pPr>
            <a:r>
              <a:rPr sz="1150" b="0" i="0">
                <a:solidFill>
                  <a:srgbClr val="1A1A1A"/>
                </a:solidFill>
              </a:rPr>
              <a:t>Every answer is labelled with its confidence and window; per-request windows are never official</a:t>
            </a:r>
          </a:p>
          <a:p>
            <a:pPr algn="l" marL="146304" indent="-146304">
              <a:spcAft>
                <a:spcPts val="200"/>
              </a:spcAft>
              <a:buClr>
                <a:srgbClr val="A51C30"/>
              </a:buClr>
              <a:buSzPct val="100000"/>
              <a:buFont typeface="Arial"/>
              <a:buChar char="▪"/>
            </a:pPr>
            <a:r>
              <a:rPr sz="1150" b="0" i="0">
                <a:solidFill>
                  <a:srgbClr val="1A1A1A"/>
                </a:solidFill>
              </a:rPr>
              <a:t>Pins read at start: apply from the next date loaded; provenance records them</a:t>
            </a:r>
          </a:p>
        </p:txBody>
      </p:sp>
      <p:sp>
        <p:nvSpPr>
          <p:cNvPr id="38" name="Rounded Rectangle 37"/>
          <p:cNvSpPr/>
          <p:nvPr/>
        </p:nvSpPr>
        <p:spPr>
          <a:xfrm>
            <a:off x="5111496" y="1481328"/>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39" name="Rounded Rectangle 38"/>
          <p:cNvSpPr/>
          <p:nvPr/>
        </p:nvSpPr>
        <p:spPr>
          <a:xfrm>
            <a:off x="10543032" y="3694176"/>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40" name="TextBox 39"/>
          <p:cNvSpPr txBox="1"/>
          <p:nvPr/>
        </p:nvSpPr>
        <p:spPr>
          <a:xfrm>
            <a:off x="777240" y="5897880"/>
            <a:ext cx="10634472" cy="347472"/>
          </a:xfrm>
          <a:prstGeom prst="rect">
            <a:avLst/>
          </a:prstGeom>
          <a:noFill/>
        </p:spPr>
        <p:txBody>
          <a:bodyPr wrap="square" lIns="0" rIns="0" tIns="0" bIns="0" anchor="ctr">
            <a:spAutoFit/>
          </a:bodyPr>
          <a:lstStyle/>
          <a:p>
            <a:pPr algn="l"/>
            <a:r>
              <a:rPr sz="1050" b="0" i="1">
                <a:solidFill>
                  <a:srgbClr val="4A5058"/>
                </a:solidFill>
              </a:rPr>
              <a:t>PROPOSED marks the practice: a daily independent job, and comparing a setting change per request before making it; the mechanisms are built.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09</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Roadmap and rollout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GOVERNANCE AND ROADMAP</a:t>
            </a:r>
          </a:p>
        </p:txBody>
      </p:sp>
      <p:sp>
        <p:nvSpPr>
          <p:cNvPr id="3" name="Title 2"/>
          <p:cNvSpPr>
            <a:spLocks noGrp="1"/>
          </p:cNvSpPr>
          <p:nvPr>
            <p:ph type="title" idx="104"/>
          </p:nvPr>
        </p:nvSpPr>
        <p:spPr/>
        <p:txBody>
          <a:bodyPr/>
          <a:lstStyle/>
          <a:p>
            <a:r>
              <a:t>Numbers of record you can reproduce, and what comes next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44752"/>
            <a:ext cx="2926079" cy="187451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44752"/>
            <a:ext cx="45720"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554480"/>
            <a:ext cx="2633472" cy="1691639"/>
          </a:xfrm>
          <a:prstGeom prst="rect">
            <a:avLst/>
          </a:prstGeom>
          <a:noFill/>
        </p:spPr>
        <p:txBody>
          <a:bodyPr wrap="square" lIns="0" rIns="0" tIns="0" bIns="0" anchor="t">
            <a:spAutoFit/>
          </a:bodyPr>
          <a:lstStyle/>
          <a:p>
            <a:pPr algn="l">
              <a:spcAft>
                <a:spcPts val="500"/>
              </a:spcAft>
            </a:pPr>
            <a:r>
              <a:rPr sz="1400" b="1" i="0">
                <a:solidFill>
                  <a:srgbClr val="8A1626"/>
                </a:solidFill>
              </a:rPr>
              <a:t>Official, append-only</a:t>
            </a:r>
          </a:p>
          <a:p>
            <a:pPr algn="l"/>
            <a:r>
              <a:rPr sz="1200" b="0" i="0">
                <a:solidFill>
                  <a:srgbClr val="1A1A1A"/>
                </a:solidFill>
              </a:rPr>
              <a:t>Every node of every hierarchy, every date, from the morning run; a restatement adds a result version. Published to var-official (Delta or Iceberg, folder or S3) with JSONL beside it.</a:t>
            </a:r>
          </a:p>
        </p:txBody>
      </p:sp>
      <p:sp>
        <p:nvSpPr>
          <p:cNvPr id="29" name="Rectangle 28"/>
          <p:cNvSpPr/>
          <p:nvPr/>
        </p:nvSpPr>
        <p:spPr>
          <a:xfrm>
            <a:off x="3886200" y="1444752"/>
            <a:ext cx="2926079" cy="187451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Rectangle 29"/>
          <p:cNvSpPr/>
          <p:nvPr/>
        </p:nvSpPr>
        <p:spPr>
          <a:xfrm>
            <a:off x="3886200" y="1444752"/>
            <a:ext cx="45720"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4069080" y="1554480"/>
            <a:ext cx="2633472" cy="1691639"/>
          </a:xfrm>
          <a:prstGeom prst="rect">
            <a:avLst/>
          </a:prstGeom>
          <a:noFill/>
        </p:spPr>
        <p:txBody>
          <a:bodyPr wrap="square" lIns="0" rIns="0" tIns="0" bIns="0" anchor="t">
            <a:spAutoFit/>
          </a:bodyPr>
          <a:lstStyle/>
          <a:p>
            <a:pPr algn="l">
              <a:spcAft>
                <a:spcPts val="500"/>
              </a:spcAft>
            </a:pPr>
            <a:r>
              <a:rPr sz="1400" b="1" i="0">
                <a:solidFill>
                  <a:srgbClr val="8A1626"/>
                </a:solidFill>
              </a:rPr>
              <a:t>Reproducible</a:t>
            </a:r>
          </a:p>
          <a:p>
            <a:pPr algn="l"/>
            <a:r>
              <a:rPr sz="1200" b="0" i="0">
                <a:solidFill>
                  <a:srgbClr val="1A1A1A"/>
                </a:solidFill>
              </a:rPr>
              <a:t>Each answer names its inputs' data versions, batch ids, scenario set, position rules' digest, membership hash and engine version; a capture keeps the vector itself.</a:t>
            </a:r>
          </a:p>
        </p:txBody>
      </p:sp>
      <p:sp>
        <p:nvSpPr>
          <p:cNvPr id="32" name="Rectangle 31"/>
          <p:cNvSpPr/>
          <p:nvPr/>
        </p:nvSpPr>
        <p:spPr>
          <a:xfrm>
            <a:off x="777240" y="3502152"/>
            <a:ext cx="2926079" cy="187451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777240" y="3502152"/>
            <a:ext cx="45720"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960120" y="3611880"/>
            <a:ext cx="2633472" cy="1691639"/>
          </a:xfrm>
          <a:prstGeom prst="rect">
            <a:avLst/>
          </a:prstGeom>
          <a:noFill/>
        </p:spPr>
        <p:txBody>
          <a:bodyPr wrap="square" lIns="0" rIns="0" tIns="0" bIns="0" anchor="t">
            <a:spAutoFit/>
          </a:bodyPr>
          <a:lstStyle/>
          <a:p>
            <a:pPr algn="l">
              <a:spcAft>
                <a:spcPts val="500"/>
              </a:spcAft>
            </a:pPr>
            <a:r>
              <a:rPr sz="1400" b="1" i="0">
                <a:solidFill>
                  <a:srgbClr val="8A1626"/>
                </a:solidFill>
              </a:rPr>
              <a:t>Kept 7 years</a:t>
            </a:r>
          </a:p>
          <a:p>
            <a:pPr algn="l"/>
            <a:r>
              <a:rPr sz="1200" b="0" i="0">
                <a:solidFill>
                  <a:srgbClr val="1A1A1A"/>
                </a:solidFill>
              </a:rPr>
              <a:t>Vectors and their time travel, official captures and records; lake maintenance never vacuums the risk domains below 7 years.</a:t>
            </a:r>
          </a:p>
        </p:txBody>
      </p:sp>
      <p:sp>
        <p:nvSpPr>
          <p:cNvPr id="35" name="Rectangle 34"/>
          <p:cNvSpPr/>
          <p:nvPr/>
        </p:nvSpPr>
        <p:spPr>
          <a:xfrm>
            <a:off x="3886200" y="3502152"/>
            <a:ext cx="2926079" cy="187451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Rectangle 35"/>
          <p:cNvSpPr/>
          <p:nvPr/>
        </p:nvSpPr>
        <p:spPr>
          <a:xfrm>
            <a:off x="3886200" y="3502152"/>
            <a:ext cx="45720"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4069080" y="3611880"/>
            <a:ext cx="2633472" cy="1691639"/>
          </a:xfrm>
          <a:prstGeom prst="rect">
            <a:avLst/>
          </a:prstGeom>
          <a:noFill/>
        </p:spPr>
        <p:txBody>
          <a:bodyPr wrap="square" lIns="0" rIns="0" tIns="0" bIns="0" anchor="t">
            <a:spAutoFit/>
          </a:bodyPr>
          <a:lstStyle/>
          <a:p>
            <a:pPr algn="l">
              <a:spcAft>
                <a:spcPts val="500"/>
              </a:spcAft>
            </a:pPr>
            <a:r>
              <a:rPr sz="1400" b="1" i="0">
                <a:solidFill>
                  <a:srgbClr val="8A1626"/>
                </a:solidFill>
              </a:rPr>
              <a:t>Entitled and audited</a:t>
            </a:r>
          </a:p>
          <a:p>
            <a:pPr algn="l"/>
            <a:r>
              <a:rPr sz="1200" b="0" i="0">
                <a:solidFill>
                  <a:srgbClr val="1A1A1A"/>
                </a:solidFill>
              </a:rPr>
              <a:t>Per role and node: positions or aggregate; masks on rows; every headline, capture, basket, reload and official run audited.</a:t>
            </a:r>
          </a:p>
        </p:txBody>
      </p:sp>
      <p:sp>
        <p:nvSpPr>
          <p:cNvPr id="38" name="Rounded Rectangle 37"/>
          <p:cNvSpPr/>
          <p:nvPr/>
        </p:nvSpPr>
        <p:spPr>
          <a:xfrm>
            <a:off x="7132319" y="1463040"/>
            <a:ext cx="101041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FFFFFF"/>
                </a:solidFill>
              </a:rPr>
              <a:t>BUILT · 2.9.5</a:t>
            </a:r>
          </a:p>
        </p:txBody>
      </p:sp>
      <p:sp>
        <p:nvSpPr>
          <p:cNvPr id="39" name="TextBox 38"/>
          <p:cNvSpPr txBox="1"/>
          <p:nvPr/>
        </p:nvSpPr>
        <p:spPr>
          <a:xfrm>
            <a:off x="8234171" y="1417320"/>
            <a:ext cx="3177540" cy="292608"/>
          </a:xfrm>
          <a:prstGeom prst="rect">
            <a:avLst/>
          </a:prstGeom>
          <a:noFill/>
        </p:spPr>
        <p:txBody>
          <a:bodyPr wrap="square" lIns="0" rIns="0" tIns="0" bIns="0" anchor="ctr">
            <a:spAutoFit/>
          </a:bodyPr>
          <a:lstStyle/>
          <a:p>
            <a:pPr algn="l"/>
            <a:r>
              <a:rPr sz="1300" b="1" i="0">
                <a:solidFill>
                  <a:srgbClr val="A51C30"/>
                </a:solidFill>
              </a:rPr>
              <a:t>New in 2.9.5</a:t>
            </a:r>
          </a:p>
        </p:txBody>
      </p:sp>
      <p:sp>
        <p:nvSpPr>
          <p:cNvPr id="40" name="TextBox 39"/>
          <p:cNvSpPr txBox="1"/>
          <p:nvPr/>
        </p:nvSpPr>
        <p:spPr>
          <a:xfrm>
            <a:off x="7132319" y="1737360"/>
            <a:ext cx="4279392" cy="1371600"/>
          </a:xfrm>
          <a:prstGeom prst="rect">
            <a:avLst/>
          </a:prstGeom>
          <a:noFill/>
        </p:spPr>
        <p:txBody>
          <a:bodyPr wrap="square" lIns="0" rIns="0" tIns="0" bIns="0" anchor="t">
            <a:spAutoFit/>
          </a:bodyPr>
          <a:lstStyle/>
          <a:p>
            <a:pPr algn="l" marL="146304" indent="-146304">
              <a:spcAft>
                <a:spcPts val="100"/>
              </a:spcAft>
              <a:buClr>
                <a:srgbClr val="A51C30"/>
              </a:buClr>
              <a:buSzPct val="100000"/>
              <a:buFont typeface="Arial"/>
              <a:buChar char="▪"/>
            </a:pPr>
            <a:r>
              <a:rPr sz="1100" b="0" i="0">
                <a:solidFill>
                  <a:srgbClr val="1A1A1A"/>
                </a:solidFill>
              </a:rPr>
              <a:t>Hierarchies by columns: limit letters, var-limit, the picker</a:t>
            </a:r>
          </a:p>
          <a:p>
            <a:pPr algn="l" marL="146304" indent="-146304">
              <a:spcAft>
                <a:spcPts val="100"/>
              </a:spcAft>
              <a:buClr>
                <a:srgbClr val="A51C30"/>
              </a:buClr>
              <a:buSzPct val="100000"/>
              <a:buFont typeface="Arial"/>
              <a:buChar char="▪"/>
            </a:pPr>
            <a:r>
              <a:rPr sz="1100" b="0" i="0">
                <a:solidFill>
                  <a:srgbClr val="1A1A1A"/>
                </a:solidFill>
              </a:rPr>
              <a:t>Iceberg a full alternative: VaR, intraday, exposure</a:t>
            </a:r>
          </a:p>
          <a:p>
            <a:pPr algn="l" marL="146304" indent="-146304">
              <a:spcAft>
                <a:spcPts val="100"/>
              </a:spcAft>
              <a:buClr>
                <a:srgbClr val="A51C30"/>
              </a:buClr>
              <a:buSzPct val="100000"/>
              <a:buFont typeface="Arial"/>
              <a:buChar char="▪"/>
            </a:pPr>
            <a:r>
              <a:rPr sz="1100" b="0" i="0">
                <a:solidFill>
                  <a:srgbClr val="1A1A1A"/>
                </a:solidFill>
              </a:rPr>
              <a:t>Official results to Delta or Iceberg, folder or S3</a:t>
            </a:r>
          </a:p>
          <a:p>
            <a:pPr algn="l" marL="146304" indent="-146304">
              <a:spcAft>
                <a:spcPts val="100"/>
              </a:spcAft>
              <a:buClr>
                <a:srgbClr val="A51C30"/>
              </a:buClr>
              <a:buSzPct val="100000"/>
              <a:buFont typeface="Arial"/>
              <a:buChar char="▪"/>
            </a:pPr>
            <a:r>
              <a:rPr sz="1100" b="0" i="0">
                <a:solidFill>
                  <a:srgbClr val="1A1A1A"/>
                </a:solidFill>
              </a:rPr>
              <a:t>PNL-&lt;trade&gt;-&lt;set&gt; ids; airtight connector upgrades</a:t>
            </a:r>
          </a:p>
          <a:p>
            <a:pPr algn="l" marL="146304" indent="-146304">
              <a:spcAft>
                <a:spcPts val="100"/>
              </a:spcAft>
              <a:buClr>
                <a:srgbClr val="A51C30"/>
              </a:buClr>
              <a:buSzPct val="100000"/>
              <a:buFont typeface="Arial"/>
              <a:buChar char="▪"/>
            </a:pPr>
            <a:r>
              <a:rPr sz="1100" b="0" i="0">
                <a:solidFill>
                  <a:srgbClr val="1A1A1A"/>
                </a:solidFill>
              </a:rPr>
              <a:t>One download button per panel (CSV, JSON Lines)</a:t>
            </a:r>
          </a:p>
        </p:txBody>
      </p:sp>
      <p:sp>
        <p:nvSpPr>
          <p:cNvPr id="41" name="TextBox 40"/>
          <p:cNvSpPr txBox="1"/>
          <p:nvPr/>
        </p:nvSpPr>
        <p:spPr>
          <a:xfrm>
            <a:off x="7132319" y="3108960"/>
            <a:ext cx="4279392" cy="274320"/>
          </a:xfrm>
          <a:prstGeom prst="rect">
            <a:avLst/>
          </a:prstGeom>
          <a:noFill/>
        </p:spPr>
        <p:txBody>
          <a:bodyPr wrap="square" lIns="0" rIns="0" tIns="0" bIns="0" anchor="t">
            <a:spAutoFit/>
          </a:bodyPr>
          <a:lstStyle/>
          <a:p>
            <a:pPr algn="l"/>
            <a:r>
              <a:rPr sz="1300" b="1" i="0">
                <a:solidFill>
                  <a:srgbClr val="293352"/>
                </a:solidFill>
              </a:rPr>
              <a:t>Next</a:t>
            </a:r>
          </a:p>
        </p:txBody>
      </p:sp>
      <p:sp>
        <p:nvSpPr>
          <p:cNvPr id="42" name="TextBox 41"/>
          <p:cNvSpPr txBox="1"/>
          <p:nvPr/>
        </p:nvSpPr>
        <p:spPr>
          <a:xfrm>
            <a:off x="7132319" y="3401568"/>
            <a:ext cx="4279392" cy="2286000"/>
          </a:xfrm>
          <a:prstGeom prst="rect">
            <a:avLst/>
          </a:prstGeom>
          <a:noFill/>
        </p:spPr>
        <p:txBody>
          <a:bodyPr wrap="square" lIns="0" rIns="0" tIns="0" bIns="0" anchor="t">
            <a:spAutoFit/>
          </a:bodyPr>
          <a:lstStyle/>
          <a:p>
            <a:pPr algn="l" marL="146304" indent="-146304">
              <a:spcAft>
                <a:spcPts val="200"/>
              </a:spcAft>
              <a:buClr>
                <a:srgbClr val="293352"/>
              </a:buClr>
              <a:buSzPct val="100000"/>
              <a:buFont typeface="Arial"/>
              <a:buChar char="▪"/>
            </a:pPr>
            <a:r>
              <a:rPr sz="1100" b="0" i="0">
                <a:solidFill>
                  <a:srgbClr val="1A1A1A"/>
                </a:solidFill>
              </a:rPr>
              <a:t>2.9.6: 10-day and stressed VaR; editions; the 2.3M benchmark</a:t>
            </a:r>
          </a:p>
          <a:p>
            <a:pPr algn="l" marL="146304" indent="-146304">
              <a:spcAft>
                <a:spcPts val="200"/>
              </a:spcAft>
              <a:buClr>
                <a:srgbClr val="293352"/>
              </a:buClr>
              <a:buSzPct val="100000"/>
              <a:buFont typeface="Arial"/>
              <a:buChar char="▪"/>
            </a:pPr>
            <a:r>
              <a:rPr sz="1100" b="0" i="0">
                <a:solidFill>
                  <a:srgbClr val="1A1A1A"/>
                </a:solidFill>
              </a:rPr>
              <a:t>2.9.6: sharding; Delta in-place schema evolution; Delta↔Iceberg conversion; the Glue and S3 Tables runs</a:t>
            </a:r>
          </a:p>
          <a:p>
            <a:pPr algn="l" marL="146304" indent="-146304">
              <a:spcAft>
                <a:spcPts val="200"/>
              </a:spcAft>
              <a:buClr>
                <a:srgbClr val="293352"/>
              </a:buClr>
              <a:buSzPct val="100000"/>
              <a:buFont typeface="Arial"/>
              <a:buChar char="▪"/>
            </a:pPr>
            <a:r>
              <a:rPr sz="1100" b="0" i="0">
                <a:solidFill>
                  <a:srgbClr val="1A1A1A"/>
                </a:solidFill>
              </a:rPr>
              <a:t>Designed: cluster scale-out and sharding. Proposed: the lake layout at scale</a:t>
            </a:r>
          </a:p>
          <a:p>
            <a:pPr algn="l" marL="146304" indent="-146304">
              <a:spcAft>
                <a:spcPts val="200"/>
              </a:spcAft>
              <a:buClr>
                <a:srgbClr val="293352"/>
              </a:buClr>
              <a:buSzPct val="100000"/>
              <a:buFont typeface="Arial"/>
              <a:buChar char="▪"/>
            </a:pPr>
            <a:r>
              <a:rPr sz="1100" b="0" i="0">
                <a:solidFill>
                  <a:srgbClr val="1A1A1A"/>
                </a:solidFill>
              </a:rPr>
              <a:t>Later: QLRisk what-if pricing; age-weighted methods; ES backtests; cubes</a:t>
            </a:r>
          </a:p>
        </p:txBody>
      </p:sp>
      <p:sp>
        <p:nvSpPr>
          <p:cNvPr id="43" name="Rectangle 42"/>
          <p:cNvSpPr/>
          <p:nvPr/>
        </p:nvSpPr>
        <p:spPr>
          <a:xfrm>
            <a:off x="777240" y="5760720"/>
            <a:ext cx="1063447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Rectangle 43"/>
          <p:cNvSpPr/>
          <p:nvPr/>
        </p:nvSpPr>
        <p:spPr>
          <a:xfrm>
            <a:off x="777240" y="5760720"/>
            <a:ext cx="54864" cy="4754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1033271" y="5760720"/>
            <a:ext cx="10268712" cy="475488"/>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Official numbers come only from full runs, and each can be recomputed from its inputs years later.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IMPLEMENTATION AND ROLLOUT</a:t>
            </a:r>
          </a:p>
        </p:txBody>
      </p:sp>
      <p:sp>
        <p:nvSpPr>
          <p:cNvPr id="3" name="Title 2"/>
          <p:cNvSpPr>
            <a:spLocks noGrp="1"/>
          </p:cNvSpPr>
          <p:nvPr>
            <p:ph type="title" idx="104"/>
          </p:nvPr>
        </p:nvSpPr>
        <p:spPr/>
        <p:txBody>
          <a:bodyPr/>
          <a:lstStyle/>
          <a:p>
            <a:r>
              <a:t>A phased rollout with a parallel run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1995220" cy="1874519"/>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Oval 26"/>
          <p:cNvSpPr/>
          <p:nvPr/>
        </p:nvSpPr>
        <p:spPr>
          <a:xfrm>
            <a:off x="886968"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0</a:t>
            </a:r>
          </a:p>
        </p:txBody>
      </p:sp>
      <p:sp>
        <p:nvSpPr>
          <p:cNvPr id="28" name="TextBox 27"/>
          <p:cNvSpPr txBox="1"/>
          <p:nvPr/>
        </p:nvSpPr>
        <p:spPr>
          <a:xfrm>
            <a:off x="1325880" y="1508760"/>
            <a:ext cx="1400860" cy="365760"/>
          </a:xfrm>
          <a:prstGeom prst="rect">
            <a:avLst/>
          </a:prstGeom>
          <a:noFill/>
        </p:spPr>
        <p:txBody>
          <a:bodyPr wrap="square" lIns="0" rIns="0" tIns="0" bIns="0" anchor="ctr">
            <a:spAutoFit/>
          </a:bodyPr>
          <a:lstStyle/>
          <a:p>
            <a:pPr algn="l"/>
            <a:r>
              <a:rPr sz="1300" b="1" i="0">
                <a:solidFill>
                  <a:srgbClr val="8A1626"/>
                </a:solidFill>
              </a:rPr>
              <a:t>Prepare</a:t>
            </a:r>
          </a:p>
        </p:txBody>
      </p:sp>
      <p:sp>
        <p:nvSpPr>
          <p:cNvPr id="29" name="TextBox 28"/>
          <p:cNvSpPr txBox="1"/>
          <p:nvPr/>
        </p:nvSpPr>
        <p:spPr>
          <a:xfrm>
            <a:off x="886968" y="1938528"/>
            <a:ext cx="1812340" cy="1325880"/>
          </a:xfrm>
          <a:prstGeom prst="rect">
            <a:avLst/>
          </a:prstGeom>
          <a:noFill/>
        </p:spPr>
        <p:txBody>
          <a:bodyPr wrap="square" lIns="0" rIns="0" tIns="0" bIns="0" anchor="t">
            <a:spAutoFit/>
          </a:bodyPr>
          <a:lstStyle/>
          <a:p>
            <a:pPr algn="l" marL="146304" indent="-146304">
              <a:spcAft>
                <a:spcPts val="200"/>
              </a:spcAft>
              <a:buClr>
                <a:srgbClr val="A51C30"/>
              </a:buClr>
              <a:buSzPct val="100000"/>
              <a:buFont typeface="Arial"/>
              <a:buChar char="▪"/>
            </a:pPr>
            <a:r>
              <a:rPr sz="1050" b="0" i="0">
                <a:solidFill>
                  <a:srgbClr val="1A1A1A"/>
                </a:solidFill>
              </a:rPr>
              <a:t>Environment: Delta or Iceberg, on premises or AWS</a:t>
            </a:r>
          </a:p>
          <a:p>
            <a:pPr algn="l" marL="146304" indent="-146304">
              <a:spcAft>
                <a:spcPts val="200"/>
              </a:spcAft>
              <a:buClr>
                <a:srgbClr val="A51C30"/>
              </a:buClr>
              <a:buSzPct val="100000"/>
              <a:buFont typeface="Arial"/>
              <a:buChar char="▪"/>
            </a:pPr>
            <a:r>
              <a:rPr sz="1050" b="0" i="0">
                <a:solidFill>
                  <a:srgbClr val="1A1A1A"/>
                </a:solidFill>
              </a:rPr>
              <a:t>Settings and entitlements agreed</a:t>
            </a:r>
          </a:p>
          <a:p>
            <a:pPr algn="l" marL="146304" indent="-146304">
              <a:spcAft>
                <a:spcPts val="200"/>
              </a:spcAft>
              <a:buClr>
                <a:srgbClr val="A51C30"/>
              </a:buClr>
              <a:buSzPct val="100000"/>
              <a:buFont typeface="Arial"/>
              <a:buChar char="▪"/>
            </a:pPr>
            <a:r>
              <a:rPr sz="1050" b="0" i="0">
                <a:solidFill>
                  <a:srgbClr val="1A1A1A"/>
                </a:solidFill>
              </a:rPr>
              <a:t>The 2.3M benchmark on the target server</a:t>
            </a:r>
          </a:p>
        </p:txBody>
      </p:sp>
      <p:sp>
        <p:nvSpPr>
          <p:cNvPr id="30" name="Rectangle 29"/>
          <p:cNvSpPr/>
          <p:nvPr/>
        </p:nvSpPr>
        <p:spPr>
          <a:xfrm>
            <a:off x="2937052" y="1417320"/>
            <a:ext cx="1995220" cy="1874519"/>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Oval 30"/>
          <p:cNvSpPr/>
          <p:nvPr/>
        </p:nvSpPr>
        <p:spPr>
          <a:xfrm>
            <a:off x="3046780"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1</a:t>
            </a:r>
          </a:p>
        </p:txBody>
      </p:sp>
      <p:sp>
        <p:nvSpPr>
          <p:cNvPr id="32" name="TextBox 31"/>
          <p:cNvSpPr txBox="1"/>
          <p:nvPr/>
        </p:nvSpPr>
        <p:spPr>
          <a:xfrm>
            <a:off x="3485692" y="1508760"/>
            <a:ext cx="1400860" cy="365760"/>
          </a:xfrm>
          <a:prstGeom prst="rect">
            <a:avLst/>
          </a:prstGeom>
          <a:noFill/>
        </p:spPr>
        <p:txBody>
          <a:bodyPr wrap="square" lIns="0" rIns="0" tIns="0" bIns="0" anchor="ctr">
            <a:spAutoFit/>
          </a:bodyPr>
          <a:lstStyle/>
          <a:p>
            <a:pPr algn="l"/>
            <a:r>
              <a:rPr sz="1300" b="1" i="0">
                <a:solidFill>
                  <a:srgbClr val="8A1626"/>
                </a:solidFill>
              </a:rPr>
              <a:t>Pilot desk</a:t>
            </a:r>
          </a:p>
        </p:txBody>
      </p:sp>
      <p:sp>
        <p:nvSpPr>
          <p:cNvPr id="33" name="TextBox 32"/>
          <p:cNvSpPr txBox="1"/>
          <p:nvPr/>
        </p:nvSpPr>
        <p:spPr>
          <a:xfrm>
            <a:off x="3046780" y="1938528"/>
            <a:ext cx="1812340" cy="1325880"/>
          </a:xfrm>
          <a:prstGeom prst="rect">
            <a:avLst/>
          </a:prstGeom>
          <a:noFill/>
        </p:spPr>
        <p:txBody>
          <a:bodyPr wrap="square" lIns="0" rIns="0" tIns="0" bIns="0" anchor="t">
            <a:spAutoFit/>
          </a:bodyPr>
          <a:lstStyle/>
          <a:p>
            <a:pPr algn="l" marL="146304" indent="-146304">
              <a:spcAft>
                <a:spcPts val="200"/>
              </a:spcAft>
              <a:buClr>
                <a:srgbClr val="A51C30"/>
              </a:buClr>
              <a:buSzPct val="100000"/>
              <a:buFont typeface="Arial"/>
              <a:buChar char="▪"/>
            </a:pPr>
            <a:r>
              <a:rPr sz="1050" b="0" i="0">
                <a:solidFill>
                  <a:srgbClr val="1A1A1A"/>
                </a:solidFill>
              </a:rPr>
              <a:t>The desk's systems onboarded</a:t>
            </a:r>
          </a:p>
          <a:p>
            <a:pPr algn="l" marL="146304" indent="-146304">
              <a:spcAft>
                <a:spcPts val="200"/>
              </a:spcAft>
              <a:buClr>
                <a:srgbClr val="A51C30"/>
              </a:buClr>
              <a:buSzPct val="100000"/>
              <a:buFont typeface="Arial"/>
              <a:buChar char="▪"/>
            </a:pPr>
            <a:r>
              <a:rPr sz="1050" b="0" i="0">
                <a:solidFill>
                  <a:srgbClr val="1A1A1A"/>
                </a:solidFill>
              </a:rPr>
              <a:t>Daily full runs and official records</a:t>
            </a:r>
          </a:p>
          <a:p>
            <a:pPr algn="l" marL="146304" indent="-146304">
              <a:spcAft>
                <a:spcPts val="200"/>
              </a:spcAft>
              <a:buClr>
                <a:srgbClr val="A51C30"/>
              </a:buClr>
              <a:buSzPct val="100000"/>
              <a:buFont typeface="Arial"/>
              <a:buChar char="▪"/>
            </a:pPr>
            <a:r>
              <a:rPr sz="1050" b="0" i="0">
                <a:solidFill>
                  <a:srgbClr val="1A1A1A"/>
                </a:solidFill>
              </a:rPr>
              <a:t>Parallel run against the existing VaR</a:t>
            </a:r>
          </a:p>
        </p:txBody>
      </p:sp>
      <p:sp>
        <p:nvSpPr>
          <p:cNvPr id="34" name="Rectangle 33"/>
          <p:cNvSpPr/>
          <p:nvPr/>
        </p:nvSpPr>
        <p:spPr>
          <a:xfrm>
            <a:off x="5096865" y="1417320"/>
            <a:ext cx="1995220" cy="1874519"/>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Oval 34"/>
          <p:cNvSpPr/>
          <p:nvPr/>
        </p:nvSpPr>
        <p:spPr>
          <a:xfrm>
            <a:off x="5206593"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2</a:t>
            </a:r>
          </a:p>
        </p:txBody>
      </p:sp>
      <p:sp>
        <p:nvSpPr>
          <p:cNvPr id="36" name="TextBox 35"/>
          <p:cNvSpPr txBox="1"/>
          <p:nvPr/>
        </p:nvSpPr>
        <p:spPr>
          <a:xfrm>
            <a:off x="5645505" y="1508760"/>
            <a:ext cx="1400860" cy="365760"/>
          </a:xfrm>
          <a:prstGeom prst="rect">
            <a:avLst/>
          </a:prstGeom>
          <a:noFill/>
        </p:spPr>
        <p:txBody>
          <a:bodyPr wrap="square" lIns="0" rIns="0" tIns="0" bIns="0" anchor="ctr">
            <a:spAutoFit/>
          </a:bodyPr>
          <a:lstStyle/>
          <a:p>
            <a:pPr algn="l"/>
            <a:r>
              <a:rPr sz="1300" b="1" i="0">
                <a:solidFill>
                  <a:srgbClr val="8A1626"/>
                </a:solidFill>
              </a:rPr>
              <a:t>A legal entity</a:t>
            </a:r>
          </a:p>
        </p:txBody>
      </p:sp>
      <p:sp>
        <p:nvSpPr>
          <p:cNvPr id="37" name="TextBox 36"/>
          <p:cNvSpPr txBox="1"/>
          <p:nvPr/>
        </p:nvSpPr>
        <p:spPr>
          <a:xfrm>
            <a:off x="5206593" y="1938528"/>
            <a:ext cx="1812340" cy="1325880"/>
          </a:xfrm>
          <a:prstGeom prst="rect">
            <a:avLst/>
          </a:prstGeom>
          <a:noFill/>
        </p:spPr>
        <p:txBody>
          <a:bodyPr wrap="square" lIns="0" rIns="0" tIns="0" bIns="0" anchor="t">
            <a:spAutoFit/>
          </a:bodyPr>
          <a:lstStyle/>
          <a:p>
            <a:pPr algn="l" marL="146304" indent="-146304">
              <a:spcAft>
                <a:spcPts val="200"/>
              </a:spcAft>
              <a:buClr>
                <a:srgbClr val="A51C30"/>
              </a:buClr>
              <a:buSzPct val="100000"/>
              <a:buFont typeface="Arial"/>
              <a:buChar char="▪"/>
            </a:pPr>
            <a:r>
              <a:rPr sz="1050" b="0" i="0">
                <a:solidFill>
                  <a:srgbClr val="1A1A1A"/>
                </a:solidFill>
              </a:rPr>
              <a:t>All its desks and systems</a:t>
            </a:r>
          </a:p>
          <a:p>
            <a:pPr algn="l" marL="146304" indent="-146304">
              <a:spcAft>
                <a:spcPts val="200"/>
              </a:spcAft>
              <a:buClr>
                <a:srgbClr val="A51C30"/>
              </a:buClr>
              <a:buSzPct val="100000"/>
              <a:buFont typeface="Arial"/>
              <a:buChar char="▪"/>
            </a:pPr>
            <a:r>
              <a:rPr sz="1050" b="0" i="0">
                <a:solidFill>
                  <a:srgbClr val="1A1A1A"/>
                </a:solidFill>
              </a:rPr>
              <a:t>LEGAL tree and limits</a:t>
            </a:r>
          </a:p>
          <a:p>
            <a:pPr algn="l" marL="146304" indent="-146304">
              <a:spcAft>
                <a:spcPts val="200"/>
              </a:spcAft>
              <a:buClr>
                <a:srgbClr val="A51C30"/>
              </a:buClr>
              <a:buSzPct val="100000"/>
              <a:buFont typeface="Arial"/>
              <a:buChar char="▪"/>
            </a:pPr>
            <a:r>
              <a:rPr sz="1050" b="0" i="0">
                <a:solidFill>
                  <a:srgbClr val="1A1A1A"/>
                </a:solidFill>
              </a:rPr>
              <a:t>Intraday switched on</a:t>
            </a:r>
          </a:p>
        </p:txBody>
      </p:sp>
      <p:sp>
        <p:nvSpPr>
          <p:cNvPr id="38" name="Rectangle 37"/>
          <p:cNvSpPr/>
          <p:nvPr/>
        </p:nvSpPr>
        <p:spPr>
          <a:xfrm>
            <a:off x="7256678" y="1417320"/>
            <a:ext cx="1995220" cy="1874519"/>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Oval 38"/>
          <p:cNvSpPr/>
          <p:nvPr/>
        </p:nvSpPr>
        <p:spPr>
          <a:xfrm>
            <a:off x="7366406"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3</a:t>
            </a:r>
          </a:p>
        </p:txBody>
      </p:sp>
      <p:sp>
        <p:nvSpPr>
          <p:cNvPr id="40" name="TextBox 39"/>
          <p:cNvSpPr txBox="1"/>
          <p:nvPr/>
        </p:nvSpPr>
        <p:spPr>
          <a:xfrm>
            <a:off x="7805318" y="1508760"/>
            <a:ext cx="1400860" cy="365760"/>
          </a:xfrm>
          <a:prstGeom prst="rect">
            <a:avLst/>
          </a:prstGeom>
          <a:noFill/>
        </p:spPr>
        <p:txBody>
          <a:bodyPr wrap="square" lIns="0" rIns="0" tIns="0" bIns="0" anchor="ctr">
            <a:spAutoFit/>
          </a:bodyPr>
          <a:lstStyle/>
          <a:p>
            <a:pPr algn="l"/>
            <a:r>
              <a:rPr sz="1300" b="1" i="0">
                <a:solidFill>
                  <a:srgbClr val="8A1626"/>
                </a:solidFill>
              </a:rPr>
              <a:t>The bank</a:t>
            </a:r>
          </a:p>
        </p:txBody>
      </p:sp>
      <p:sp>
        <p:nvSpPr>
          <p:cNvPr id="41" name="TextBox 40"/>
          <p:cNvSpPr txBox="1"/>
          <p:nvPr/>
        </p:nvSpPr>
        <p:spPr>
          <a:xfrm>
            <a:off x="7366406" y="1938528"/>
            <a:ext cx="1812340" cy="1325880"/>
          </a:xfrm>
          <a:prstGeom prst="rect">
            <a:avLst/>
          </a:prstGeom>
          <a:noFill/>
        </p:spPr>
        <p:txBody>
          <a:bodyPr wrap="square" lIns="0" rIns="0" tIns="0" bIns="0" anchor="t">
            <a:spAutoFit/>
          </a:bodyPr>
          <a:lstStyle/>
          <a:p>
            <a:pPr algn="l" marL="146304" indent="-146304">
              <a:spcAft>
                <a:spcPts val="200"/>
              </a:spcAft>
              <a:buClr>
                <a:srgbClr val="A51C30"/>
              </a:buClr>
              <a:buSzPct val="100000"/>
              <a:buFont typeface="Arial"/>
              <a:buChar char="▪"/>
            </a:pPr>
            <a:r>
              <a:rPr sz="1050" b="0" i="0">
                <a:solidFill>
                  <a:srgbClr val="1A1A1A"/>
                </a:solidFill>
              </a:rPr>
              <a:t>Every system, every tree</a:t>
            </a:r>
          </a:p>
          <a:p>
            <a:pPr algn="l" marL="146304" indent="-146304">
              <a:spcAft>
                <a:spcPts val="200"/>
              </a:spcAft>
              <a:buClr>
                <a:srgbClr val="A51C30"/>
              </a:buClr>
              <a:buSzPct val="100000"/>
              <a:buFont typeface="Arial"/>
              <a:buChar char="▪"/>
            </a:pPr>
            <a:r>
              <a:rPr sz="1050" b="0" i="0">
                <a:solidFill>
                  <a:srgbClr val="1A1A1A"/>
                </a:solidFill>
              </a:rPr>
              <a:t>≈ 15,000 portfolios; ≈ 700 limit letters</a:t>
            </a:r>
          </a:p>
          <a:p>
            <a:pPr algn="l" marL="146304" indent="-146304">
              <a:spcAft>
                <a:spcPts val="200"/>
              </a:spcAft>
              <a:buClr>
                <a:srgbClr val="A51C30"/>
              </a:buClr>
              <a:buSzPct val="100000"/>
              <a:buFont typeface="Arial"/>
              <a:buChar char="▪"/>
            </a:pPr>
            <a:r>
              <a:rPr sz="1050" b="0" i="0">
                <a:solidFill>
                  <a:srgbClr val="1A1A1A"/>
                </a:solidFill>
              </a:rPr>
              <a:t>BI reads the official results</a:t>
            </a:r>
          </a:p>
        </p:txBody>
      </p:sp>
      <p:sp>
        <p:nvSpPr>
          <p:cNvPr id="42" name="Rectangle 41"/>
          <p:cNvSpPr/>
          <p:nvPr/>
        </p:nvSpPr>
        <p:spPr>
          <a:xfrm>
            <a:off x="9416491" y="1417320"/>
            <a:ext cx="1995220" cy="1874519"/>
          </a:xfrm>
          <a:prstGeom prst="rect">
            <a:avLst/>
          </a:prstGeom>
          <a:solidFill>
            <a:srgbClr val="F6E6E9"/>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Oval 42"/>
          <p:cNvSpPr/>
          <p:nvPr/>
        </p:nvSpPr>
        <p:spPr>
          <a:xfrm>
            <a:off x="9526219"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4</a:t>
            </a:r>
          </a:p>
        </p:txBody>
      </p:sp>
      <p:sp>
        <p:nvSpPr>
          <p:cNvPr id="44" name="TextBox 43"/>
          <p:cNvSpPr txBox="1"/>
          <p:nvPr/>
        </p:nvSpPr>
        <p:spPr>
          <a:xfrm>
            <a:off x="9965131" y="1508760"/>
            <a:ext cx="1400860" cy="365760"/>
          </a:xfrm>
          <a:prstGeom prst="rect">
            <a:avLst/>
          </a:prstGeom>
          <a:noFill/>
        </p:spPr>
        <p:txBody>
          <a:bodyPr wrap="square" lIns="0" rIns="0" tIns="0" bIns="0" anchor="ctr">
            <a:spAutoFit/>
          </a:bodyPr>
          <a:lstStyle/>
          <a:p>
            <a:pPr algn="l"/>
            <a:r>
              <a:rPr sz="1300" b="1" i="0">
                <a:solidFill>
                  <a:srgbClr val="8A1626"/>
                </a:solidFill>
              </a:rPr>
              <a:t>Cutover</a:t>
            </a:r>
          </a:p>
        </p:txBody>
      </p:sp>
      <p:sp>
        <p:nvSpPr>
          <p:cNvPr id="45" name="TextBox 44"/>
          <p:cNvSpPr txBox="1"/>
          <p:nvPr/>
        </p:nvSpPr>
        <p:spPr>
          <a:xfrm>
            <a:off x="9526219" y="1938528"/>
            <a:ext cx="1812340" cy="1325880"/>
          </a:xfrm>
          <a:prstGeom prst="rect">
            <a:avLst/>
          </a:prstGeom>
          <a:noFill/>
        </p:spPr>
        <p:txBody>
          <a:bodyPr wrap="square" lIns="0" rIns="0" tIns="0" bIns="0" anchor="t">
            <a:spAutoFit/>
          </a:bodyPr>
          <a:lstStyle/>
          <a:p>
            <a:pPr algn="l" marL="146304" indent="-146304">
              <a:spcAft>
                <a:spcPts val="200"/>
              </a:spcAft>
              <a:buClr>
                <a:srgbClr val="A51C30"/>
              </a:buClr>
              <a:buSzPct val="100000"/>
              <a:buFont typeface="Arial"/>
              <a:buChar char="▪"/>
            </a:pPr>
            <a:r>
              <a:rPr sz="1050" b="0" i="0">
                <a:solidFill>
                  <a:srgbClr val="1A1A1A"/>
                </a:solidFill>
              </a:rPr>
              <a:t>Sign-off</a:t>
            </a:r>
          </a:p>
          <a:p>
            <a:pPr algn="l" marL="146304" indent="-146304">
              <a:spcAft>
                <a:spcPts val="200"/>
              </a:spcAft>
              <a:buClr>
                <a:srgbClr val="A51C30"/>
              </a:buClr>
              <a:buSzPct val="100000"/>
              <a:buFont typeface="Arial"/>
              <a:buChar char="▪"/>
            </a:pPr>
            <a:r>
              <a:rPr sz="1050" b="0" i="0">
                <a:solidFill>
                  <a:srgbClr val="1A1A1A"/>
                </a:solidFill>
              </a:rPr>
              <a:t>Drishti's records become the numbers of record</a:t>
            </a:r>
          </a:p>
          <a:p>
            <a:pPr algn="l" marL="146304" indent="-146304">
              <a:spcAft>
                <a:spcPts val="200"/>
              </a:spcAft>
              <a:buClr>
                <a:srgbClr val="A51C30"/>
              </a:buClr>
              <a:buSzPct val="100000"/>
              <a:buFont typeface="Arial"/>
              <a:buChar char="▪"/>
            </a:pPr>
            <a:r>
              <a:rPr sz="1050" b="0" i="0">
                <a:solidFill>
                  <a:srgbClr val="1A1A1A"/>
                </a:solidFill>
              </a:rPr>
              <a:t>The existing VaR retired</a:t>
            </a:r>
          </a:p>
        </p:txBody>
      </p:sp>
      <p:sp>
        <p:nvSpPr>
          <p:cNvPr id="46" name="Rectangle 45"/>
          <p:cNvSpPr/>
          <p:nvPr/>
        </p:nvSpPr>
        <p:spPr>
          <a:xfrm>
            <a:off x="777240" y="3429000"/>
            <a:ext cx="5669280" cy="21945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Rectangle 46"/>
          <p:cNvSpPr/>
          <p:nvPr/>
        </p:nvSpPr>
        <p:spPr>
          <a:xfrm>
            <a:off x="777240" y="3429000"/>
            <a:ext cx="45720" cy="2194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941832" y="3502152"/>
            <a:ext cx="5413248" cy="2084831"/>
          </a:xfrm>
          <a:prstGeom prst="rect">
            <a:avLst/>
          </a:prstGeom>
          <a:noFill/>
        </p:spPr>
        <p:txBody>
          <a:bodyPr wrap="square" lIns="0" rIns="0" tIns="0" bIns="0" anchor="t">
            <a:spAutoFit/>
          </a:bodyPr>
          <a:lstStyle/>
          <a:p>
            <a:pPr algn="l">
              <a:spcAft>
                <a:spcPts val="400"/>
              </a:spcAft>
            </a:pPr>
            <a:r>
              <a:rPr sz="1300" b="1" i="0">
                <a:solidFill>
                  <a:srgbClr val="8A1626"/>
                </a:solidFill>
              </a:rPr>
              <a:t>Parallel run and reconciliation</a:t>
            </a:r>
          </a:p>
          <a:p>
            <a:pPr algn="l" marL="146304" indent="-146304">
              <a:spcAft>
                <a:spcPts val="300"/>
              </a:spcAft>
              <a:buClr>
                <a:srgbClr val="A51C30"/>
              </a:buClr>
              <a:buSzPct val="100000"/>
              <a:buFont typeface="Arial"/>
              <a:buChar char="▪"/>
            </a:pPr>
            <a:r>
              <a:rPr sz="1100" b="0" i="0">
                <a:solidFill>
                  <a:srgbClr val="1A1A1A"/>
                </a:solidFill>
              </a:rPr>
              <a:t>Each node, each date: the existing VaR beside Drishti's official record (the var-official table)</a:t>
            </a:r>
          </a:p>
          <a:p>
            <a:pPr algn="l" marL="146304" indent="-146304">
              <a:spcAft>
                <a:spcPts val="300"/>
              </a:spcAft>
              <a:buClr>
                <a:srgbClr val="A51C30"/>
              </a:buClr>
              <a:buSzPct val="100000"/>
              <a:buFont typeface="Arial"/>
              <a:buChar char="▪"/>
            </a:pPr>
            <a:r>
              <a:rPr sz="1100" b="0" i="0">
                <a:solidFill>
                  <a:srgbClr val="1A1A1A"/>
                </a:solidFill>
              </a:rPr>
              <a:t>Explain every difference by its cause: inputs (refused, excluded, unknown ids), method (window, confidence, rank rule), FX (scenario FX, not today's rate), membership (overlaps counted once), model</a:t>
            </a:r>
          </a:p>
          <a:p>
            <a:pPr algn="l" marL="146304" indent="-146304">
              <a:spcAft>
                <a:spcPts val="300"/>
              </a:spcAft>
              <a:buClr>
                <a:srgbClr val="A51C30"/>
              </a:buClr>
              <a:buSzPct val="100000"/>
              <a:buFont typeface="Arial"/>
              <a:buChar char="▪"/>
            </a:pPr>
            <a:r>
              <a:rPr sz="1100" b="0" i="0">
                <a:solidFill>
                  <a:srgbClr val="1A1A1A"/>
                </a:solidFill>
              </a:rPr>
              <a:t>Track the backtest light on the official history as it builds up</a:t>
            </a:r>
          </a:p>
        </p:txBody>
      </p:sp>
      <p:sp>
        <p:nvSpPr>
          <p:cNvPr id="49" name="Rectangle 48"/>
          <p:cNvSpPr/>
          <p:nvPr/>
        </p:nvSpPr>
        <p:spPr>
          <a:xfrm>
            <a:off x="6675120" y="3429000"/>
            <a:ext cx="4736592" cy="219456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Rectangle 49"/>
          <p:cNvSpPr/>
          <p:nvPr/>
        </p:nvSpPr>
        <p:spPr>
          <a:xfrm>
            <a:off x="6675120" y="3429000"/>
            <a:ext cx="45720" cy="2194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6839712" y="3502152"/>
            <a:ext cx="4480560" cy="2084831"/>
          </a:xfrm>
          <a:prstGeom prst="rect">
            <a:avLst/>
          </a:prstGeom>
          <a:noFill/>
        </p:spPr>
        <p:txBody>
          <a:bodyPr wrap="square" lIns="0" rIns="0" tIns="0" bIns="0" anchor="t">
            <a:spAutoFit/>
          </a:bodyPr>
          <a:lstStyle/>
          <a:p>
            <a:pPr algn="l">
              <a:spcAft>
                <a:spcPts val="400"/>
              </a:spcAft>
            </a:pPr>
            <a:r>
              <a:rPr sz="1300" b="1" i="0">
                <a:solidFill>
                  <a:srgbClr val="8A1626"/>
                </a:solidFill>
              </a:rPr>
              <a:t>Sign-off criteria</a:t>
            </a:r>
          </a:p>
          <a:p>
            <a:pPr algn="l" marL="146304" indent="-146304">
              <a:spcAft>
                <a:spcPts val="150"/>
              </a:spcAft>
              <a:buClr>
                <a:srgbClr val="A51C30"/>
              </a:buClr>
              <a:buSzPct val="100000"/>
              <a:buFont typeface="Arial"/>
              <a:buChar char="▪"/>
            </a:pPr>
            <a:r>
              <a:rPr sz="1100" b="0" i="0">
                <a:solidFill>
                  <a:srgbClr val="1A1A1A"/>
                </a:solidFill>
              </a:rPr>
              <a:t>Agreed tolerance per node; every difference explained</a:t>
            </a:r>
          </a:p>
          <a:p>
            <a:pPr algn="l" marL="146304" indent="-146304">
              <a:spcAft>
                <a:spcPts val="150"/>
              </a:spcAft>
              <a:buClr>
                <a:srgbClr val="A51C30"/>
              </a:buClr>
              <a:buSzPct val="100000"/>
              <a:buFont typeface="Arial"/>
              <a:buChar char="▪"/>
            </a:pPr>
            <a:r>
              <a:rPr sz="1100" b="0" i="0">
                <a:solidFill>
                  <a:srgbClr val="1A1A1A"/>
                </a:solidFill>
              </a:rPr>
              <a:t>No unexplained refusals over an agreed run of days</a:t>
            </a:r>
          </a:p>
          <a:p>
            <a:pPr algn="l" marL="146304" indent="-146304">
              <a:spcAft>
                <a:spcPts val="150"/>
              </a:spcAft>
              <a:buClr>
                <a:srgbClr val="A51C30"/>
              </a:buClr>
              <a:buSzPct val="100000"/>
              <a:buFont typeface="Arial"/>
              <a:buChar char="▪"/>
            </a:pPr>
            <a:r>
              <a:rPr sz="1100" b="0" i="0">
                <a:solidFill>
                  <a:srgbClr val="1A1A1A"/>
                </a:solidFill>
              </a:rPr>
              <a:t>Model validation of the method settings and the controls</a:t>
            </a:r>
          </a:p>
          <a:p>
            <a:pPr algn="l" marL="146304" indent="-146304">
              <a:spcAft>
                <a:spcPts val="150"/>
              </a:spcAft>
              <a:buClr>
                <a:srgbClr val="A51C30"/>
              </a:buClr>
              <a:buSzPct val="100000"/>
              <a:buFont typeface="Arial"/>
              <a:buChar char="▪"/>
            </a:pPr>
            <a:r>
              <a:rPr sz="1100" b="0" i="0">
                <a:solidFill>
                  <a:srgbClr val="1A1A1A"/>
                </a:solidFill>
              </a:rPr>
              <a:t>Runbook rehearsed: a restatement, a failed publish, a restart</a:t>
            </a:r>
          </a:p>
          <a:p>
            <a:pPr algn="l" marL="146304" indent="-146304">
              <a:spcAft>
                <a:spcPts val="150"/>
              </a:spcAft>
              <a:buClr>
                <a:srgbClr val="A51C30"/>
              </a:buClr>
              <a:buSzPct val="100000"/>
              <a:buFont typeface="Arial"/>
              <a:buChar char="▪"/>
            </a:pPr>
            <a:r>
              <a:rPr sz="1100" b="0" i="0">
                <a:solidFill>
                  <a:srgbClr val="1A1A1A"/>
                </a:solidFill>
              </a:rPr>
              <a:t>Backtest light not red; entitlements and audit reviewed</a:t>
            </a:r>
          </a:p>
        </p:txBody>
      </p:sp>
      <p:sp>
        <p:nvSpPr>
          <p:cNvPr id="52" name="Rounded Rectangle 51"/>
          <p:cNvSpPr/>
          <p:nvPr/>
        </p:nvSpPr>
        <p:spPr>
          <a:xfrm>
            <a:off x="10543032" y="3493008"/>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53" name="TextBox 52"/>
          <p:cNvSpPr txBox="1"/>
          <p:nvPr/>
        </p:nvSpPr>
        <p:spPr>
          <a:xfrm>
            <a:off x="777240" y="5760720"/>
            <a:ext cx="10634472" cy="457200"/>
          </a:xfrm>
          <a:prstGeom prst="rect">
            <a:avLst/>
          </a:prstGeom>
          <a:noFill/>
        </p:spPr>
        <p:txBody>
          <a:bodyPr wrap="square" lIns="0" rIns="0" tIns="0" bIns="0" anchor="ctr">
            <a:spAutoFit/>
          </a:bodyPr>
          <a:lstStyle/>
          <a:p>
            <a:pPr algn="l"/>
            <a:r>
              <a:rPr sz="1100" b="0" i="1">
                <a:solidFill>
                  <a:srgbClr val="4A5058"/>
                </a:solidFill>
              </a:rPr>
              <a:t>A proposed plan: generic, no dates. Each phase uses built capabilities (limit letters built in 2.9.5); the 10-day and stressed measures ship in 2.9.6.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GLOSSARY</a:t>
            </a:r>
          </a:p>
        </p:txBody>
      </p:sp>
      <p:sp>
        <p:nvSpPr>
          <p:cNvPr id="3" name="Title 2"/>
          <p:cNvSpPr>
            <a:spLocks noGrp="1"/>
          </p:cNvSpPr>
          <p:nvPr>
            <p:ph type="title" idx="104"/>
          </p:nvPr>
        </p:nvSpPr>
        <p:spPr/>
        <p:txBody>
          <a:bodyPr/>
          <a:lstStyle/>
          <a:p>
            <a:r>
              <a:t>The terms used in this deck</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17320"/>
          <a:ext cx="5180075" cy="4636008"/>
        </p:xfrm>
        <a:graphic>
          <a:graphicData uri="http://schemas.openxmlformats.org/drawingml/2006/table">
            <a:tbl>
              <a:tblPr firstRow="0" bandRow="0">
                <a:tableStyleId>{5940675A-B579-460E-94D1-54222C63F5DA}</a:tableStyleId>
              </a:tblPr>
              <a:tblGrid>
                <a:gridCol w="1463040"/>
                <a:gridCol w="3717035"/>
              </a:tblGrid>
              <a:tr h="356616">
                <a:tc>
                  <a:txBody>
                    <a:bodyPr wrap="square"/>
                    <a:lstStyle/>
                    <a:p>
                      <a:r>
                        <a:rPr sz="1100" b="1" i="0">
                          <a:solidFill>
                            <a:srgbClr val="FFFFFF"/>
                          </a:solidFill>
                        </a:rPr>
                        <a:t>Term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Meaning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56616">
                <a:tc>
                  <a:txBody>
                    <a:bodyPr wrap="square"/>
                    <a:lstStyle/>
                    <a:p>
                      <a:r>
                        <a:rPr sz="1100" b="1" i="0">
                          <a:solidFill>
                            <a:srgbClr val="8A1626"/>
                          </a:solidFill>
                        </a:rPr>
                        <a:t>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the loss not exceeded at the confidence: 99% = minus the 6th worst of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expected shortfall: minus the mean of the 13 worst P&amp;Ls at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Scenario</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historical day's market move, applied to today's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Scenario set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scenario days of a date (HS-509), oldest first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Scenario 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trade's or position's value under one scenario, in its own currency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Path P&amp;L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P&amp;L vector: one P&amp;L per scenario (509 numbers)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Form · grain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PV or P&amp;L · one record a trade, or one a position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Scope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any set of trades or positions: bank, LE, desk, book, portfolio, rule, basket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Node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point of a hierarchy; its vector precomputed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Limit letter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a node of LL, a hierarchy by columns; limit from var-limit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Position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trades grouped by the pack's rules, or sent whole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Portfolio</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a stored scope: HIERARCHY, RULE or BASKET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graphicFrame>
        <p:nvGraphicFramePr>
          <p:cNvPr id="27" name="Table 26"/>
          <p:cNvGraphicFramePr>
            <a:graphicFrameLocks noGrp="1"/>
          </p:cNvGraphicFramePr>
          <p:nvPr/>
        </p:nvGraphicFramePr>
        <p:xfrm>
          <a:off x="6231636" y="1417320"/>
          <a:ext cx="5180076" cy="4636008"/>
        </p:xfrm>
        <a:graphic>
          <a:graphicData uri="http://schemas.openxmlformats.org/drawingml/2006/table">
            <a:tbl>
              <a:tblPr firstRow="0" bandRow="0">
                <a:tableStyleId>{5940675A-B579-460E-94D1-54222C63F5DA}</a:tableStyleId>
              </a:tblPr>
              <a:tblGrid>
                <a:gridCol w="1600200"/>
                <a:gridCol w="3579876"/>
              </a:tblGrid>
              <a:tr h="356616">
                <a:tc>
                  <a:txBody>
                    <a:bodyPr wrap="square"/>
                    <a:lstStyle/>
                    <a:p>
                      <a:r>
                        <a:rPr sz="1100" b="1" i="0">
                          <a:solidFill>
                            <a:srgbClr val="FFFFFF"/>
                          </a:solidFill>
                        </a:rPr>
                        <a:t>Term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Meaning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56616">
                <a:tc>
                  <a:txBody>
                    <a:bodyPr wrap="square"/>
                    <a:lstStyle/>
                    <a:p>
                      <a:r>
                        <a:rPr sz="1100" b="1" i="0">
                          <a:solidFill>
                            <a:srgbClr val="8A1626"/>
                          </a:solidFill>
                        </a:rPr>
                        <a:t>Component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part's share of VaR (Euler); parts add up to 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Incremental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VaR(scope) − VaR(scope without the part)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Marginal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component VaR per million of size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Diversification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sum of standalone VaRs minus the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Scenario FX</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each scenario's exchange rates, used to convert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Reporting currency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currency an answer is in; five built ahead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Hot file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date's vectors, memory-mapped from local disk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Official record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a node's end-of-day VaR and ES, append-only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Result version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 2, 3 … as a date is restated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Provenance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how a number was built: inputs, versions, refusals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Breach (exception)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day whose loss exceeds the VaR tested against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Headroom 39%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provisioned = need ÷ 0.61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Shape 0"/>
          <p:cNvSpPr/>
          <p:nvPr/>
        </p:nvSpPr>
        <p:spPr>
          <a:xfrm>
            <a:off x="5586984" y="1463040"/>
            <a:ext cx="1024128" cy="256032"/>
          </a:xfrm>
          <a:prstGeom prst="arc">
            <a:avLst>
              <a:gd name="adj1" fmla="val 12000000"/>
              <a:gd name="adj2" fmla="val 20400000"/>
            </a:avLst>
          </a:prstGeom>
          <a:ln w="25400">
            <a:solidFill>
              <a:srgbClr val="C4384B"/>
            </a:solidFill>
            <a:prstDash val="solid"/>
          </a:ln>
        </p:spPr>
        <p:txBody>
          <a:bodyPr/>
          <a:p/>
        </p:txBody>
      </p:sp>
      <p:sp>
        <p:nvSpPr>
          <p:cNvPr id="3" name="Shape 1"/>
          <p:cNvSpPr/>
          <p:nvPr/>
        </p:nvSpPr>
        <p:spPr>
          <a:xfrm>
            <a:off x="5586984" y="1609344"/>
            <a:ext cx="1024128" cy="256032"/>
          </a:xfrm>
          <a:prstGeom prst="arc">
            <a:avLst>
              <a:gd name="adj1" fmla="val 12000000"/>
              <a:gd name="adj2" fmla="val 20400000"/>
            </a:avLst>
          </a:prstGeom>
          <a:ln w="25400">
            <a:solidFill>
              <a:srgbClr val="C4384B"/>
            </a:solidFill>
            <a:prstDash val="solid"/>
          </a:ln>
        </p:spPr>
        <p:txBody>
          <a:bodyPr/>
          <a:p/>
        </p:txBody>
      </p:sp>
      <p:sp>
        <p:nvSpPr>
          <p:cNvPr id="4" name="Shape 2"/>
          <p:cNvSpPr/>
          <p:nvPr/>
        </p:nvSpPr>
        <p:spPr>
          <a:xfrm>
            <a:off x="5586984" y="1755648"/>
            <a:ext cx="1024128" cy="256032"/>
          </a:xfrm>
          <a:prstGeom prst="arc">
            <a:avLst>
              <a:gd name="adj1" fmla="val 12000000"/>
              <a:gd name="adj2" fmla="val 20400000"/>
            </a:avLst>
          </a:prstGeom>
          <a:ln w="25400">
            <a:solidFill>
              <a:srgbClr val="C4384B"/>
            </a:solidFill>
            <a:prstDash val="solid"/>
          </a:ln>
        </p:spPr>
        <p:txBody>
          <a:bodyPr/>
          <a:p/>
        </p:txBody>
      </p:sp>
      <p:sp>
        <p:nvSpPr>
          <p:cNvPr id="5" name="Text 3"/>
          <p:cNvSpPr txBox="1"/>
          <p:nvPr/>
        </p:nvSpPr>
        <p:spPr>
          <a:xfrm>
            <a:off x="1234440" y="2514600"/>
            <a:ext cx="9720072" cy="914400"/>
          </a:xfrm>
          <a:prstGeom prst="rect">
            <a:avLst/>
          </a:prstGeom>
          <a:noFill/>
          <a:ln/>
        </p:spPr>
        <p:txBody>
          <a:bodyPr wrap="square" lIns="0" tIns="0" rIns="0" bIns="0" rtlCol="0" anchor="ctr"/>
          <a:lstStyle/>
          <a:p>
            <a:pPr algn="ctr" indent="0" marL="0">
              <a:buNone/>
            </a:pPr>
            <a:r>
              <a:rPr lang="en-US" sz="4400" b="1" dirty="0">
                <a:solidFill>
                  <a:srgbClr val="FFFFFF"/>
                </a:solidFill>
              </a:rPr>
              <a:t>Thank you</a:t>
            </a:r>
            <a:endParaRPr lang="en-US" sz="4400" dirty="0"/>
          </a:p>
        </p:txBody>
      </p:sp>
      <p:sp>
        <p:nvSpPr>
          <p:cNvPr id="6" name="Shape 4"/>
          <p:cNvSpPr/>
          <p:nvPr/>
        </p:nvSpPr>
        <p:spPr>
          <a:xfrm>
            <a:off x="5413248" y="3611880"/>
            <a:ext cx="1371600" cy="36576"/>
          </a:xfrm>
          <a:prstGeom prst="rect">
            <a:avLst/>
          </a:prstGeom>
          <a:solidFill>
            <a:srgbClr val="C4384B"/>
          </a:solidFill>
          <a:ln/>
        </p:spPr>
        <p:txBody>
          <a:bodyPr/>
          <a:p/>
        </p:txBody>
      </p:sp>
      <p:sp>
        <p:nvSpPr>
          <p:cNvPr id="7" name="Text 5"/>
          <p:cNvSpPr txBox="1"/>
          <p:nvPr/>
        </p:nvSpPr>
        <p:spPr>
          <a:xfrm>
            <a:off x="1234440" y="3840480"/>
            <a:ext cx="9720072" cy="640080"/>
          </a:xfrm>
          <a:prstGeom prst="rect">
            <a:avLst/>
          </a:prstGeom>
          <a:noFill/>
          <a:ln/>
        </p:spPr>
        <p:txBody>
          <a:bodyPr wrap="square" lIns="0" tIns="0" rIns="0" bIns="0" rtlCol="0" anchor="ctr"/>
          <a:lstStyle/>
          <a:p>
            <a:pPr algn="ctr" indent="0" marL="0">
              <a:buNone/>
            </a:pPr>
            <a:r>
              <a:rPr lang="en-US" sz="2400" i="1" dirty="0">
                <a:solidFill>
                  <a:srgbClr val="F6E6E9"/>
                </a:solidFill>
              </a:rPr>
              <a:t>Any data. Any domain. One grammar.</a:t>
            </a:r>
            <a:endParaRPr lang="en-US" sz="2400" dirty="0"/>
          </a:p>
        </p:txBody>
      </p:sp>
      <p:sp>
        <p:nvSpPr>
          <p:cNvPr id="8" name="Text 6"/>
          <p:cNvSpPr txBox="1"/>
          <p:nvPr/>
        </p:nvSpPr>
        <p:spPr>
          <a:xfrm>
            <a:off x="1234440" y="4754880"/>
            <a:ext cx="9720072" cy="365760"/>
          </a:xfrm>
          <a:prstGeom prst="rect">
            <a:avLst/>
          </a:prstGeom>
          <a:noFill/>
          <a:ln/>
        </p:spPr>
        <p:txBody>
          <a:bodyPr wrap="square" lIns="0" tIns="0" rIns="0" bIns="0" rtlCol="0" anchor="ctr"/>
          <a:lstStyle/>
          <a:p>
            <a:pPr algn="ctr" indent="0" marL="0">
              <a:buNone/>
            </a:pPr>
            <a:r>
              <a:rPr lang="en-US" sz="1300" dirty="0">
                <a:solidFill>
                  <a:srgbClr val="F6E6E9"/>
                </a:solidFill>
              </a:rPr>
              <a:t>Drishti • Ashutosh Sinha • October 2026 • VaR engine 2.9.5</a:t>
            </a:r>
            <a:endParaRPr lang="en-US" sz="13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48</a:t>
            </a:fld>
            <a:endParaRPr lang="en-US"/>
          </a:p>
        </p:txBody>
      </p:sp>
      <p:sp>
        <p:nvSpPr>
          <p:cNvPr id="26" name="TextBox 25"/>
          <p:cNvSpPr txBox="1"/>
          <p:nvPr/>
        </p:nvSpPr>
        <p:spPr>
          <a:xfrm>
            <a:off x="1234440" y="4389120"/>
            <a:ext cx="9720072" cy="329184"/>
          </a:xfrm>
          <a:prstGeom prst="rect">
            <a:avLst/>
          </a:prstGeom>
          <a:noFill/>
        </p:spPr>
        <p:txBody>
          <a:bodyPr wrap="square" lIns="0" rIns="0" tIns="0" bIns="0" anchor="ctr">
            <a:spAutoFit/>
          </a:bodyPr>
          <a:lstStyle/>
          <a:p>
            <a:pPr algn="ctr"/>
            <a:r>
              <a:rPr sz="1400" b="1" i="0">
                <a:solidFill>
                  <a:srgbClr val="F6E6E9"/>
                </a:solidFill>
              </a:rPr>
              <a:t>One engine, every input: PVs or P&amp;L, by trade or by position, any currency, files or Kafka.</a:t>
            </a:r>
          </a:p>
        </p:txBody>
      </p:sp>
      <p:sp>
        <p:nvSpPr>
          <p:cNvPr id="27" name="TextBox 26"/>
          <p:cNvSpPr txBox="1"/>
          <p:nvPr/>
        </p:nvSpPr>
        <p:spPr>
          <a:xfrm>
            <a:off x="1234440" y="5257800"/>
            <a:ext cx="9720072" cy="274320"/>
          </a:xfrm>
          <a:prstGeom prst="rect">
            <a:avLst/>
          </a:prstGeom>
          <a:noFill/>
        </p:spPr>
        <p:txBody>
          <a:bodyPr wrap="square" lIns="0" rIns="0" tIns="0" bIns="0" anchor="ctr">
            <a:spAutoFit/>
          </a:bodyPr>
          <a:lstStyle/>
          <a:p>
            <a:pPr algn="ctr"/>
            <a:r>
              <a:rPr sz="1000" b="0" i="0">
                <a:solidFill>
                  <a:srgbClr val="E8C9CF"/>
                </a:solidFill>
              </a:rPr>
              <a:t>Copyright © 2026 Ashutosh Sinha. All rights reserved. Proprietary and confidential.</a:t>
            </a:r>
          </a:p>
        </p:txBody>
      </p:sp>
    </p:spTree>
  </p:cSld>
  <p:clrMapOvr>
    <a:masterClrMapping/>
  </p:clrMapOvr>
</p:sld>
</file>

<file path=ppt/theme/theme1.xml><?xml version="1.0" encoding="utf-8"?>
<a:theme xmlns:a="http://schemas.openxmlformats.org/drawingml/2006/main" name="Drishti Crimson">
  <a:themeElements>
    <a:clrScheme name="Drishti Crimson">
      <a:dk1>
        <a:srgbClr val="1A1A1A"/>
      </a:dk1>
      <a:lt1>
        <a:srgbClr val="FFFFFF"/>
      </a:lt1>
      <a:dk2>
        <a:srgbClr val="8A1626"/>
      </a:dk2>
      <a:lt2>
        <a:srgbClr val="F7F5F2"/>
      </a:lt2>
      <a:accent1>
        <a:srgbClr val="A51C30"/>
      </a:accent1>
      <a:accent2>
        <a:srgbClr val="6E1120"/>
      </a:accent2>
      <a:accent3>
        <a:srgbClr val="C4384B"/>
      </a:accent3>
      <a:accent4>
        <a:srgbClr val="293352"/>
      </a:accent4>
      <a:accent5>
        <a:srgbClr val="4A5058"/>
      </a:accent5>
      <a:accent6>
        <a:srgbClr val="E3DED7"/>
      </a:accent6>
      <a:hlink>
        <a:srgbClr val="A51C30"/>
      </a:hlink>
      <a:folHlink>
        <a:srgbClr val="6E1120"/>
      </a:folHlink>
    </a:clrScheme>
    <a:fontScheme name="Drishti Crims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Drishti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Drishti VaR engine: architecture, data contract and how VaR works</dc:title>
  <dc:subject>Drishti 2.9.5 VaR engine and VaR UI</dc:subject>
  <dc:creator>Ashutosh Sinha</dc:creator>
  <cp:lastModifiedBy>Ashutosh Sinha</cp:lastModifiedBy>
  <cp:revision>1</cp:revision>
  <dcterms:created xsi:type="dcterms:W3CDTF">2026-10-07T03:43:45Z</dcterms:created>
  <dcterms:modified xsi:type="dcterms:W3CDTF">2026-10-07T03:43:45Z</dcterms:modified>
</cp:coreProperties>
</file>
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900.xml" ContentType="application/vnd.openxmlformats-officedocument.presentationml.notesSlide+xml"/>
  <Override PartName="/ppt/notesSlides/notesSlide90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Masters/slideMaster1.xml" ContentType="application/vnd.openxmlformats-officedocument.presentationml.slideMaster+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900.xml" ContentType="application/vnd.openxmlformats-officedocument.presentationml.slide+xml"/>
  <Override PartName="/ppt/slides/slide90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99" r:id="rId9"/>
    <p:sldId id="300" r:id="rId10"/>
    <p:sldId id="301" r:id="rId11"/>
    <p:sldId id="302" r:id="rId12"/>
    <p:sldId id="303" r:id="rId13"/>
    <p:sldId id="304" r:id="rId14"/>
    <p:sldId id="305" r:id="rId15"/>
    <p:sldId id="306" r:id="rId16"/>
    <p:sldId id="307" r:id="rId17"/>
    <p:sldId id="308" r:id="rId18"/>
    <p:sldId id="309" r:id="rId19"/>
    <p:sldId id="310" r:id="rId20"/>
    <p:sldId id="311" r:id="rId21"/>
    <p:sldId id="312" r:id="rId22"/>
    <p:sldId id="313" r:id="rId23"/>
    <p:sldId id="314" r:id="rId24"/>
    <p:sldId id="315" r:id="rId25"/>
    <p:sldId id="316" r:id="rId26"/>
    <p:sldId id="317" r:id="rId27"/>
    <p:sldId id="318" r:id="rId28"/>
    <p:sldId id="319" r:id="rId29"/>
    <p:sldId id="320" r:id="rId30"/>
    <p:sldId id="321" r:id="rId31"/>
    <p:sldId id="322" r:id="rId32"/>
    <p:sldId id="323" r:id="rId33"/>
    <p:sldId id="324" r:id="rId34"/>
    <p:sldId id="325" r:id="rId35"/>
    <p:sldId id="326" r:id="rId36"/>
    <p:sldId id="327" r:id="rId37"/>
    <p:sldId id="328" r:id="rId38"/>
    <p:sldId id="329" r:id="rId39"/>
    <p:sldId id="330" r:id="rId40"/>
    <p:sldId id="331" r:id="rId41"/>
    <p:sldId id="332" r:id="rId42"/>
    <p:sldId id="333" r:id="rId43"/>
    <p:sldId id="334" r:id="rId8"/>
    <p:sldId id="335" r:id="rId7"/>
    <p:sldId id="336" r:id="rId6"/>
    <p:sldId id="337" r:id="rId5"/>
    <p:sldId id="338" r:id="rId4"/>
    <p:sldId id="339" r:id="rId3"/>
    <p:sldId id="340" r:id="rId50"/>
    <p:sldId id="341" r:id="rId51"/>
    <p:sldId id="342" r:id="rId52"/>
    <p:sldId id="343" r:id="rId53"/>
    <p:sldId id="344" r:id="rId54"/>
    <p:sldId id="345" r:id="rId55"/>
    <p:sldId id="346" r:id="rId56"/>
    <p:sldId id="347" r:id="rId57"/>
    <p:sldId id="348" r:id="rId58"/>
    <p:sldId id="349" r:id="rId59"/>
    <p:sldId id="350" r:id="rId60"/>
    <p:sldId id="351" r:id="rId61"/>
    <p:sldId id="352" r:id="rId62"/>
    <p:sldId id="353" r:id="rId63"/>
    <p:sldId id="354" r:id="rId64"/>
    <p:sldId id="355" r:id="rId65"/>
    <p:sldId id="356" r:id="rId66"/>
    <p:sldId id="357" r:id="rId67"/>
    <p:sldId id="358" r:id="rId68"/>
    <p:sldId id="359" r:id="rId69"/>
    <p:sldId id="360" r:id="rId70"/>
    <p:sldId id="361" r:id="rId71"/>
    <p:sldId id="362" r:id="rId72"/>
    <p:sldId id="363" r:id="rId73"/>
    <p:sldId id="364" r:id="rId74"/>
    <p:sldId id="298" r:id="rId44"/>
  </p:sldIdLst>
  <p:notesMasterIdLst>
    <p:notesMasterId r:id="rId4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8fff05ea-7e3f-edc1-6e4c-b237f484a65c}">
          <p14:sldIdLst>
            <p14:sldId id="256"/>
            <p14:sldId id="257"/>
          </p14:sldIdLst>
        </p14:section>
        <p14:section name="1 The idea" id="{ca601b58-0b8b-3761-3239-43cfc2554691}">
          <p14:sldIdLst>
            <p14:sldId id="258"/>
            <p14:sldId id="259"/>
            <p14:sldId id="260"/>
            <p14:sldId id="261"/>
            <p14:sldId id="262"/>
            <p14:sldId id="263"/>
            <p14:sldId id="264"/>
            <p14:sldId id="265"/>
            <p14:sldId id="266"/>
            <p14:sldId id="267"/>
            <p14:sldId id="268"/>
            <p14:sldId id="269"/>
          </p14:sldIdLst>
        </p14:section>
        <p14:section name="2 The product" id="{426419ec-ae60-8af7-70b6-913aa38d3bca}">
          <p14:sldIdLst>
            <p14:sldId id="270"/>
            <p14:sldId id="271"/>
            <p14:sldId id="272"/>
            <p14:sldId id="273"/>
            <p14:sldId id="274"/>
            <p14:sldId id="275"/>
            <p14:sldId id="276"/>
            <p14:sldId id="277"/>
            <p14:sldId id="278"/>
            <p14:sldId id="279"/>
            <p14:sldId id="280"/>
            <p14:sldId id="281"/>
          </p14:sldIdLst>
        </p14:section>
        <p14:section name="3 Security" id="{31e90070-bf08-f842-13da-c475a1110454}">
          <p14:sldIdLst>
            <p14:sldId id="282"/>
            <p14:sldId id="283"/>
            <p14:sldId id="284"/>
            <p14:sldId id="285"/>
            <p14:sldId id="286"/>
            <p14:sldId id="287"/>
          </p14:sldIdLst>
        </p14:section>
        <p14:section name="4 Evidence" id="{c3cbb4b4-ca8c-870f-e402-1568eefc4f50}">
          <p14:sldIdLst>
            <p14:sldId id="288"/>
            <p14:sldId id="289"/>
            <p14:sldId id="290"/>
            <p14:sldId id="291"/>
            <p14:sldId id="292"/>
            <p14:sldId id="293"/>
            <p14:sldId id="294"/>
          </p14:sldIdLst>
        </p14:section>
        <p14:section name="5 Where it is going" id="{40493725-4708-b045-208a-8e178f7cb474}">
          <p14:sldIdLst>
            <p14:sldId id="295"/>
            <p14:sldId id="296"/>
            <p14:sldId id="297"/>
            <p14:sldId id="29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900.xml"/><Relationship Id="rId3" Type="http://schemas.openxmlformats.org/officeDocument/2006/relationships/slide" Target="slides/slide43.xml"/><Relationship Id="rId4" Type="http://schemas.openxmlformats.org/officeDocument/2006/relationships/slide" Target="slides/slide42.xml"/><Relationship Id="rId5" Type="http://schemas.openxmlformats.org/officeDocument/2006/relationships/slide" Target="slides/slide41.xml"/><Relationship Id="rId6" Type="http://schemas.openxmlformats.org/officeDocument/2006/relationships/slide" Target="slides/slide40.xml"/><Relationship Id="rId7" Type="http://schemas.openxmlformats.org/officeDocument/2006/relationships/slide" Target="slides/slide39.xml"/><Relationship Id="rId8" Type="http://schemas.openxmlformats.org/officeDocument/2006/relationships/slide" Target="slides/slide38.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901.xml"/><Relationship Id="rId45" Type="http://schemas.openxmlformats.org/officeDocument/2006/relationships/notesMaster" Target="notesMasters/notesMaster1.xml"/><Relationship Id="rId46" Type="http://schemas.openxmlformats.org/officeDocument/2006/relationships/presProps" Target="presProps.xml"/><Relationship Id="rId47" Type="http://schemas.openxmlformats.org/officeDocument/2006/relationships/viewProps" Target="viewProps.xml"/><Relationship Id="rId48" Type="http://schemas.openxmlformats.org/officeDocument/2006/relationships/theme" Target="theme/theme1.xml"/><Relationship Id="rId49" Type="http://schemas.openxmlformats.org/officeDocument/2006/relationships/tableStyles" Target="tableStyles.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Bank VaR 99%, EUR m</c:v>
                </c:pt>
              </c:strCache>
            </c:strRef>
          </c:tx>
          <c:dPt>
            <c:idx val="0"/>
            <c:spPr>
              <a:solidFill>
                <a:srgbClr val="8A1626"/>
              </a:solidFill>
            </c:spPr>
          </c:dPt>
          <c:dPt>
            <c:idx val="1"/>
            <c:spPr>
              <a:solidFill>
                <a:srgbClr val="B9AFA5"/>
              </a:solidFill>
            </c:spPr>
          </c:dPt>
          <c:cat>
            <c:strRef>
              <c:f>Sheet1!$A$2:$A$3</c:f>
              <c:strCache>
                <c:ptCount val="2"/>
                <c:pt idx="0">
                  <c:v>EUR VaR, scenario FX</c:v>
                </c:pt>
                <c:pt idx="1">
                  <c:v>USD VaR × today's rate</c:v>
                </c:pt>
              </c:strCache>
            </c:strRef>
          </c:cat>
          <c:val>
            <c:numRef>
              <c:f>Sheet1!$B$2:$B$3</c:f>
              <c:numCache>
                <c:formatCode>General</c:formatCode>
                <c:ptCount val="2"/>
                <c:pt idx="0">
                  <c:v>111.84</c:v>
                </c:pt>
                <c:pt idx="1">
                  <c:v>95.4</c:v>
                </c:pt>
              </c:numCache>
            </c:numRef>
          </c:val>
        </c:ser>
        <c:dLbls>
          <c:numFmt formatCode="0.0" sourceLinked="0"/>
          <c:txPr>
            <a:bodyPr/>
            <a:lstStyle/>
            <a:p>
              <a:pPr>
                <a:defRPr sz="1200" b="1">
                  <a:solidFill>
                    <a:srgbClr val="8A1626"/>
                  </a:solidFill>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axMin"/>
        </c:scaling>
        <c:delete val="0"/>
        <c:axPos val="l"/>
        <c:majorTickMark val="out"/>
        <c:minorTickMark val="none"/>
        <c:tickLblPos val="nextTo"/>
        <c:spPr>
          <a:ln>
            <a:solidFill>
              <a:srgbClr val="E3DED7"/>
            </a:solidFill>
          </a:ln>
        </c:spPr>
        <c:txPr>
          <a:bodyPr/>
          <a:lstStyle/>
          <a:p>
            <a:pPr>
              <a:defRPr sz="1100">
                <a:solidFill>
                  <a:srgbClr val="4A5058"/>
                </a:solidFill>
              </a:defRPr>
            </a:pPr>
          </a:p>
        </c:txPr>
        <c:crossAx val="-2113994440"/>
        <c:crosses val="autoZero"/>
        <c:auto val="1"/>
        <c:lblAlgn val="ctr"/>
        <c:lblOffset val="100"/>
        <c:noMultiLvlLbl val="0"/>
      </c:catAx>
      <c:valAx>
        <c:axId val="-2113994440"/>
        <c:scaling>
          <c:max val="175.0"/>
          <c:min val="0.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100" b="1"/>
              <a:t>Values a position (sized)</a:t>
            </a:r>
          </a:p>
        </c:rich>
      </c:tx>
      <c:layout/>
      <c:overlay val="0"/>
    </c:title>
    <c:autoTitleDeleted val="0"/>
    <c:plotArea>
      <c:barChart>
        <c:barDir val="col"/>
        <c:grouping val="clustered"/>
        <c:ser>
          <c:idx val="0"/>
          <c:order val="0"/>
          <c:tx>
            <c:strRef>
              <c:f>Sheet1!$B$1</c:f>
              <c:strCache>
                <c:ptCount val="1"/>
                <c:pt idx="0">
                  <c:v>Values a position</c:v>
                </c:pt>
              </c:strCache>
            </c:strRef>
          </c:tx>
          <c:spPr>
            <a:solidFill>
              <a:srgbClr val="8A1626"/>
            </a:solidFill>
          </c:spPr>
          <c:cat>
            <c:strRef>
              <c:f>Sheet1!$A$2:$A$5</c:f>
              <c:strCache>
                <c:ptCount val="4"/>
                <c:pt idx="0">
                  <c:v>1-day</c:v>
                </c:pt>
                <c:pt idx="1">
                  <c:v>10-day</c:v>
                </c:pt>
                <c:pt idx="2">
                  <c:v>Stressed 1-day</c:v>
                </c:pt>
                <c:pt idx="3">
                  <c:v>Stressed 10-day</c:v>
                </c:pt>
              </c:strCache>
            </c:strRef>
          </c:cat>
          <c:val>
            <c:numRef>
              <c:f>Sheet1!$B$2:$B$5</c:f>
              <c:numCache>
                <c:formatCode>General</c:formatCode>
                <c:ptCount val="4"/>
                <c:pt idx="0">
                  <c:v>509</c:v>
                </c:pt>
                <c:pt idx="1">
                  <c:v>509</c:v>
                </c:pt>
                <c:pt idx="2">
                  <c:v>250</c:v>
                </c:pt>
                <c:pt idx="3">
                  <c:v>250</c:v>
                </c:pt>
              </c:numCache>
            </c:numRef>
          </c:val>
        </c:ser>
        <c:dLbls>
          <c:txPr>
            <a:bodyPr/>
            <a:lstStyle/>
            <a:p>
              <a:pPr>
                <a:defRPr sz="105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spPr>
          <a:ln>
            <a:solidFill>
              <a:srgbClr val="E3DED7"/>
            </a:solidFill>
          </a:ln>
        </c:spPr>
        <c:crossAx val="-2113994440"/>
        <c:crosses val="autoZero"/>
        <c:auto val="1"/>
        <c:lblAlgn val="ctr"/>
        <c:lblOffset val="100"/>
        <c:noMultiLvlLbl val="0"/>
      </c:catAx>
      <c:valAx>
        <c:axId val="-2113994440"/>
        <c:scaling>
          <c:max val="620.0"/>
        </c:scaling>
        <c:delete/>
        <c:axPos val="l"/>
        <c:majorTickMark val="out"/>
        <c:minorTickMark val="none"/>
        <c:tickLblPos val="nextTo"/>
        <c:crossAx val="-2068027336"/>
        <c:crosses val="autoZero"/>
      </c:valAx>
    </c:plotArea>
    <c:dispBlanksAs val="gap"/>
  </c:chart>
  <c:txPr>
    <a:bodyPr/>
    <a:lstStyle/>
    <a:p>
      <a:pPr>
        <a:defRPr sz="1050">
          <a:solidFill>
            <a:srgbClr val="4A5058"/>
          </a:solidFill>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100" b="1"/>
              <a:t>RAM per VaR server, GB (estimated)³,⁴</a:t>
            </a:r>
          </a:p>
        </c:rich>
      </c:tx>
      <c:layout/>
      <c:overlay val="0"/>
    </c:title>
    <c:autoTitleDeleted val="0"/>
    <c:plotArea>
      <c:barChart>
        <c:barDir val="bar"/>
        <c:grouping val="stacked"/>
        <c:ser>
          <c:idx val="0"/>
          <c:order val="0"/>
          <c:tx>
            <c:strRef>
              <c:f>Sheet1!$B$1</c:f>
              <c:strCache>
                <c:ptCount val="1"/>
                <c:pt idx="0">
                  <c:v>Heap</c:v>
                </c:pt>
              </c:strCache>
            </c:strRef>
          </c:tx>
          <c:spPr>
            <a:solidFill>
              <a:srgbClr val="8A1626"/>
            </a:solidFill>
          </c:spPr>
          <c:cat>
            <c:strRef>
              <c:f>Sheet1!$A$2:$A$4</c:f>
              <c:strCache>
                <c:ptCount val="3"/>
                <c:pt idx="0">
                  <c:v>1-day need · 76</c:v>
                </c:pt>
                <c:pt idx="1">
                  <c:v>All four need · 151</c:v>
                </c:pt>
                <c:pt idx="2">
                  <c:v>Provisioned · 256</c:v>
                </c:pt>
              </c:strCache>
            </c:strRef>
          </c:cat>
          <c:val>
            <c:numRef>
              <c:f>Sheet1!$B$2:$B$4</c:f>
              <c:numCache>
                <c:formatCode>General</c:formatCode>
                <c:ptCount val="3"/>
                <c:pt idx="0">
                  <c:v>20</c:v>
                </c:pt>
                <c:pt idx="1">
                  <c:v>21</c:v>
                </c:pt>
                <c:pt idx="2">
                  <c:v>36</c:v>
                </c:pt>
              </c:numCache>
            </c:numRef>
          </c:val>
        </c:ser>
        <c:ser>
          <c:idx val="1"/>
          <c:order val="1"/>
          <c:tx>
            <c:strRef>
              <c:f>Sheet1!$C$1</c:f>
              <c:strCache>
                <c:ptCount val="1"/>
                <c:pt idx="0">
                  <c:v>Page cache</c:v>
                </c:pt>
              </c:strCache>
            </c:strRef>
          </c:tx>
          <c:spPr>
            <a:solidFill>
              <a:srgbClr val="C4384B"/>
            </a:solidFill>
          </c:spPr>
          <c:cat>
            <c:strRef>
              <c:f>Sheet1!$A$2:$A$4</c:f>
              <c:strCache>
                <c:ptCount val="3"/>
                <c:pt idx="0">
                  <c:v>1-day need · 76</c:v>
                </c:pt>
                <c:pt idx="1">
                  <c:v>All four need · 151</c:v>
                </c:pt>
                <c:pt idx="2">
                  <c:v>Provisioned · 256</c:v>
                </c:pt>
              </c:strCache>
            </c:strRef>
          </c:cat>
          <c:val>
            <c:numRef>
              <c:f>Sheet1!$C$2:$C$4</c:f>
              <c:numCache>
                <c:formatCode>General</c:formatCode>
                <c:ptCount val="3"/>
                <c:pt idx="0">
                  <c:v>34</c:v>
                </c:pt>
                <c:pt idx="1">
                  <c:v>78</c:v>
                </c:pt>
                <c:pt idx="2">
                  <c:v>78</c:v>
                </c:pt>
              </c:numCache>
            </c:numRef>
          </c:val>
        </c:ser>
        <c:ser>
          <c:idx val="2"/>
          <c:order val="2"/>
          <c:tx>
            <c:strRef>
              <c:f>Sheet1!$D$1</c:f>
              <c:strCache>
                <c:ptCount val="1"/>
                <c:pt idx="0">
                  <c:v>Load</c:v>
                </c:pt>
              </c:strCache>
            </c:strRef>
          </c:tx>
          <c:spPr>
            <a:solidFill>
              <a:srgbClr val="B9AFA5"/>
            </a:solidFill>
          </c:spPr>
          <c:cat>
            <c:strRef>
              <c:f>Sheet1!$A$2:$A$4</c:f>
              <c:strCache>
                <c:ptCount val="3"/>
                <c:pt idx="0">
                  <c:v>1-day need · 76</c:v>
                </c:pt>
                <c:pt idx="1">
                  <c:v>All four need · 151</c:v>
                </c:pt>
                <c:pt idx="2">
                  <c:v>Provisioned · 256</c:v>
                </c:pt>
              </c:strCache>
            </c:strRef>
          </c:cat>
          <c:val>
            <c:numRef>
              <c:f>Sheet1!$D$2:$D$4</c:f>
              <c:numCache>
                <c:formatCode>General</c:formatCode>
                <c:ptCount val="3"/>
                <c:pt idx="0">
                  <c:v>15</c:v>
                </c:pt>
                <c:pt idx="1">
                  <c:v>44</c:v>
                </c:pt>
                <c:pt idx="2">
                  <c:v>44</c:v>
                </c:pt>
              </c:numCache>
            </c:numRef>
          </c:val>
        </c:ser>
        <c:ser>
          <c:idx val="3"/>
          <c:order val="3"/>
          <c:tx>
            <c:strRef>
              <c:f>Sheet1!$E$1</c:f>
              <c:strCache>
                <c:ptCount val="1"/>
                <c:pt idx="0">
                  <c:v>OS</c:v>
                </c:pt>
              </c:strCache>
            </c:strRef>
          </c:tx>
          <c:spPr>
            <a:solidFill>
              <a:srgbClr val="4A5058"/>
            </a:solidFill>
          </c:spPr>
          <c:cat>
            <c:strRef>
              <c:f>Sheet1!$A$2:$A$4</c:f>
              <c:strCache>
                <c:ptCount val="3"/>
                <c:pt idx="0">
                  <c:v>1-day need · 76</c:v>
                </c:pt>
                <c:pt idx="1">
                  <c:v>All four need · 151</c:v>
                </c:pt>
                <c:pt idx="2">
                  <c:v>Provisioned · 256</c:v>
                </c:pt>
              </c:strCache>
            </c:strRef>
          </c:cat>
          <c:val>
            <c:numRef>
              <c:f>Sheet1!$E$2:$E$4</c:f>
              <c:numCache>
                <c:formatCode>General</c:formatCode>
                <c:ptCount val="3"/>
                <c:pt idx="0">
                  <c:v>7</c:v>
                </c:pt>
                <c:pt idx="1">
                  <c:v>7</c:v>
                </c:pt>
                <c:pt idx="2">
                  <c:v>7</c:v>
                </c:pt>
              </c:numCache>
            </c:numRef>
          </c:val>
        </c:ser>
        <c:ser>
          <c:idx val="4"/>
          <c:order val="4"/>
          <c:tx>
            <c:strRef>
              <c:f>Sheet1!$F$1</c:f>
              <c:strCache>
                <c:ptCount val="1"/>
                <c:pt idx="0">
                  <c:v>Headroom</c:v>
                </c:pt>
              </c:strCache>
            </c:strRef>
          </c:tx>
          <c:spPr>
            <a:solidFill>
              <a:srgbClr val="E3DED7"/>
            </a:solidFill>
          </c:spPr>
          <c:cat>
            <c:strRef>
              <c:f>Sheet1!$A$2:$A$4</c:f>
              <c:strCache>
                <c:ptCount val="3"/>
                <c:pt idx="0">
                  <c:v>1-day need · 76</c:v>
                </c:pt>
                <c:pt idx="1">
                  <c:v>All four need · 151</c:v>
                </c:pt>
                <c:pt idx="2">
                  <c:v>Provisioned · 256</c:v>
                </c:pt>
              </c:strCache>
            </c:strRef>
          </c:cat>
          <c:val>
            <c:numRef>
              <c:f>Sheet1!$F$2:$F$4</c:f>
              <c:numCache>
                <c:formatCode>General</c:formatCode>
                <c:ptCount val="3"/>
                <c:pt idx="0">
                  <c:v>0</c:v>
                </c:pt>
                <c:pt idx="1">
                  <c:v>0</c:v>
                </c:pt>
                <c:pt idx="2">
                  <c:v>91</c:v>
                </c:pt>
              </c:numCache>
            </c:numRef>
          </c:val>
        </c:ser>
        <c:gapWidth val="50"/>
        <c:overlap val="100"/>
        <c:axId val="-2068027336"/>
        <c:axId val="-2113994440"/>
      </c:barChart>
      <c:catAx>
        <c:axId val="-2068027336"/>
        <c:scaling>
          <c:orientation val="maxMin"/>
        </c:scaling>
        <c:delete val="0"/>
        <c:axPos val="l"/>
        <c:majorTickMark val="out"/>
        <c:minorTickMark val="none"/>
        <c:tickLblPos val="nextTo"/>
        <c:spPr>
          <a:ln>
            <a:solidFill>
              <a:srgbClr val="E3DED7"/>
            </a:solidFill>
          </a:ln>
        </c:spPr>
        <c:crossAx val="-2113994440"/>
        <c:crosses val="autoZero"/>
        <c:auto val="1"/>
        <c:lblAlgn val="ctr"/>
        <c:lblOffset val="100"/>
        <c:noMultiLvlLbl val="0"/>
      </c:catAx>
      <c:valAx>
        <c:axId val="-2113994440"/>
        <c:scaling>
          <c:max val="260.0"/>
          <c:min val="0.0"/>
        </c:scaling>
        <c:delete val="0"/>
        <c:axPos val="b"/>
        <c:majorTickMark val="out"/>
        <c:minorTickMark val="none"/>
        <c:tickLblPos val="nextTo"/>
        <c:txPr>
          <a:bodyPr/>
          <a:lstStyle/>
          <a:p>
            <a:pPr>
              <a:defRPr sz="900"/>
            </a:pPr>
          </a:p>
        </c:txPr>
        <c:crossAx val="-2068027336"/>
        <c:crosses val="autoZero"/>
      </c:valAx>
    </c:plotArea>
    <c:legend>
      <c:legendPos val="b"/>
      <c:overlay val="0"/>
      <c:txPr>
        <a:bodyPr/>
        <a:lstStyle/>
        <a:p>
          <a:pPr>
            <a:defRPr sz="950"/>
          </a:pPr>
        </a:p>
      </c:txPr>
    </c:legend>
    <c:dispBlanksAs val="gap"/>
  </c:chart>
  <c:txPr>
    <a:bodyPr/>
    <a:lstStyle/>
    <a:p>
      <a:pPr>
        <a:defRPr sz="1000">
          <a:solidFill>
            <a:srgbClr val="4A5058"/>
          </a:solidFill>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100" b="1"/>
              <a:t>Lake over 7 years, TB (base)</a:t>
            </a:r>
          </a:p>
        </c:rich>
      </c:tx>
      <c:layout/>
      <c:overlay val="0"/>
    </c:title>
    <c:autoTitleDeleted val="0"/>
    <c:plotArea>
      <c:barChart>
        <c:barDir val="col"/>
        <c:grouping val="clustered"/>
        <c:ser>
          <c:idx val="0"/>
          <c:order val="0"/>
          <c:tx>
            <c:strRef>
              <c:f>Sheet1!$B$1</c:f>
              <c:strCache>
                <c:ptCount val="1"/>
                <c:pt idx="0">
                  <c:v>TB</c:v>
                </c:pt>
              </c:strCache>
            </c:strRef>
          </c:tx>
          <c:dPt>
            <c:idx val="0"/>
            <c:spPr>
              <a:solidFill>
                <a:srgbClr val="4A5058"/>
              </a:solidFill>
            </c:spPr>
          </c:dPt>
          <c:dPt>
            <c:idx val="1"/>
            <c:spPr>
              <a:solidFill>
                <a:srgbClr val="8A1626"/>
              </a:solidFill>
            </c:spPr>
          </c:dPt>
          <c:dPt>
            <c:idx val="2"/>
            <c:spPr>
              <a:solidFill>
                <a:srgbClr val="C4384B"/>
              </a:solidFill>
            </c:spPr>
          </c:dPt>
          <c:dPt>
            <c:idx val="3"/>
            <c:spPr>
              <a:solidFill>
                <a:srgbClr val="B9AFA5"/>
              </a:solidFill>
            </c:spPr>
          </c:dPt>
          <c:cat>
            <c:strRef>
              <c:f>Sheet1!$A$2:$A$5</c:f>
              <c:strCache>
                <c:ptCount val="4"/>
                <c:pt idx="0">
                  <c:v>1-day</c:v>
                </c:pt>
                <c:pt idx="1">
                  <c:v>All four</c:v>
                </c:pt>
                <c:pt idx="2">
                  <c:v>÷ 0.61</c:v>
                </c:pt>
                <c:pt idx="3">
                  <c:v>+ DR</c:v>
                </c:pt>
              </c:strCache>
            </c:strRef>
          </c:cat>
          <c:val>
            <c:numRef>
              <c:f>Sheet1!$B$2:$B$5</c:f>
              <c:numCache>
                <c:formatCode>General</c:formatCode>
                <c:ptCount val="4"/>
                <c:pt idx="0">
                  <c:v>16.1</c:v>
                </c:pt>
                <c:pt idx="1">
                  <c:v>48.2</c:v>
                </c:pt>
                <c:pt idx="2">
                  <c:v>79</c:v>
                </c:pt>
                <c:pt idx="3">
                  <c:v>158</c:v>
                </c:pt>
              </c:numCache>
            </c:numRef>
          </c:val>
        </c:ser>
        <c:dLbls>
          <c:numFmt formatCode="0.#" sourceLinked="0"/>
          <c:txPr>
            <a:bodyPr/>
            <a:lstStyle/>
            <a:p>
              <a:pPr>
                <a:defRPr sz="1000"/>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inMax"/>
        </c:scaling>
        <c:delete val="0"/>
        <c:axPos val="b"/>
        <c:majorTickMark val="out"/>
        <c:minorTickMark val="none"/>
        <c:tickLblPos val="nextTo"/>
        <c:spPr>
          <a:ln>
            <a:solidFill>
              <a:srgbClr val="E3DED7"/>
            </a:solidFill>
          </a:ln>
        </c:spPr>
        <c:crossAx val="-2113994440"/>
        <c:crosses val="autoZero"/>
        <c:auto val="1"/>
        <c:lblAlgn val="ctr"/>
        <c:lblOffset val="100"/>
        <c:noMultiLvlLbl val="0"/>
      </c:catAx>
      <c:valAx>
        <c:axId val="-2113994440"/>
        <c:scaling>
          <c:max val="190.0"/>
        </c:scaling>
        <c:delete/>
        <c:axPos val="l"/>
        <c:majorTickMark val="out"/>
        <c:minorTickMark val="none"/>
        <c:tickLblPos val="nextTo"/>
        <c:crossAx val="-2068027336"/>
        <c:crosses val="autoZero"/>
      </c:valAx>
    </c:plotArea>
    <c:dispBlanksAs val="gap"/>
  </c:chart>
  <c:txPr>
    <a:bodyPr/>
    <a:lstStyle/>
    <a:p>
      <a:pPr>
        <a:defRPr sz="1050">
          <a:solidFill>
            <a:srgbClr val="4A5058"/>
          </a:solidFill>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100" b="1"/>
              <a:t>RAM need a server, GB (estimated)³</a:t>
            </a:r>
          </a:p>
        </c:rich>
      </c:tx>
      <c:layout/>
      <c:overlay val="0"/>
    </c:title>
    <c:autoTitleDeleted val="0"/>
    <c:plotArea>
      <c:barChart>
        <c:barDir val="bar"/>
        <c:grouping val="stacked"/>
        <c:ser>
          <c:idx val="0"/>
          <c:order val="0"/>
          <c:tx>
            <c:strRef>
              <c:f>Sheet1!$B$1</c:f>
              <c:strCache>
                <c:ptCount val="1"/>
                <c:pt idx="0">
                  <c:v>Heap</c:v>
                </c:pt>
              </c:strCache>
            </c:strRef>
          </c:tx>
          <c:spPr>
            <a:solidFill>
              <a:srgbClr val="8A1626"/>
            </a:solidFill>
          </c:spPr>
          <c:cat>
            <c:strRef>
              <c:f>Sheet1!$A$2:$A$3</c:f>
              <c:strCache>
                <c:ptCount val="2"/>
                <c:pt idx="0">
                  <c:v>One server · 151</c:v>
                </c:pt>
                <c:pt idx="1">
                  <c:v>A shard owner · 69</c:v>
                </c:pt>
              </c:strCache>
            </c:strRef>
          </c:cat>
          <c:val>
            <c:numRef>
              <c:f>Sheet1!$B$2:$B$3</c:f>
              <c:numCache>
                <c:formatCode>General</c:formatCode>
                <c:ptCount val="2"/>
                <c:pt idx="0">
                  <c:v>21.2</c:v>
                </c:pt>
                <c:pt idx="1">
                  <c:v>21.2</c:v>
                </c:pt>
              </c:numCache>
            </c:numRef>
          </c:val>
        </c:ser>
        <c:ser>
          <c:idx val="1"/>
          <c:order val="1"/>
          <c:tx>
            <c:strRef>
              <c:f>Sheet1!$C$1</c:f>
              <c:strCache>
                <c:ptCount val="1"/>
                <c:pt idx="0">
                  <c:v>Page cache</c:v>
                </c:pt>
              </c:strCache>
            </c:strRef>
          </c:tx>
          <c:spPr>
            <a:solidFill>
              <a:srgbClr val="C4384B"/>
            </a:solidFill>
          </c:spPr>
          <c:cat>
            <c:strRef>
              <c:f>Sheet1!$A$2:$A$3</c:f>
              <c:strCache>
                <c:ptCount val="2"/>
                <c:pt idx="0">
                  <c:v>One server · 151</c:v>
                </c:pt>
                <c:pt idx="1">
                  <c:v>A shard owner · 69</c:v>
                </c:pt>
              </c:strCache>
            </c:strRef>
          </c:cat>
          <c:val>
            <c:numRef>
              <c:f>Sheet1!$C$2:$C$3</c:f>
              <c:numCache>
                <c:formatCode>General</c:formatCode>
                <c:ptCount val="2"/>
                <c:pt idx="0">
                  <c:v>78.4</c:v>
                </c:pt>
                <c:pt idx="1">
                  <c:v>26.1</c:v>
                </c:pt>
              </c:numCache>
            </c:numRef>
          </c:val>
        </c:ser>
        <c:ser>
          <c:idx val="2"/>
          <c:order val="2"/>
          <c:tx>
            <c:strRef>
              <c:f>Sheet1!$D$1</c:f>
              <c:strCache>
                <c:ptCount val="1"/>
                <c:pt idx="0">
                  <c:v>Load</c:v>
                </c:pt>
              </c:strCache>
            </c:strRef>
          </c:tx>
          <c:spPr>
            <a:solidFill>
              <a:srgbClr val="B9AFA5"/>
            </a:solidFill>
          </c:spPr>
          <c:cat>
            <c:strRef>
              <c:f>Sheet1!$A$2:$A$3</c:f>
              <c:strCache>
                <c:ptCount val="2"/>
                <c:pt idx="0">
                  <c:v>One server · 151</c:v>
                </c:pt>
                <c:pt idx="1">
                  <c:v>A shard owner · 69</c:v>
                </c:pt>
              </c:strCache>
            </c:strRef>
          </c:cat>
          <c:val>
            <c:numRef>
              <c:f>Sheet1!$D$2:$D$3</c:f>
              <c:numCache>
                <c:formatCode>General</c:formatCode>
                <c:ptCount val="2"/>
                <c:pt idx="0">
                  <c:v>44.2</c:v>
                </c:pt>
                <c:pt idx="1">
                  <c:v>14.7</c:v>
                </c:pt>
              </c:numCache>
            </c:numRef>
          </c:val>
        </c:ser>
        <c:ser>
          <c:idx val="3"/>
          <c:order val="3"/>
          <c:tx>
            <c:strRef>
              <c:f>Sheet1!$E$1</c:f>
              <c:strCache>
                <c:ptCount val="1"/>
                <c:pt idx="0">
                  <c:v>OS</c:v>
                </c:pt>
              </c:strCache>
            </c:strRef>
          </c:tx>
          <c:spPr>
            <a:solidFill>
              <a:srgbClr val="4A5058"/>
            </a:solidFill>
          </c:spPr>
          <c:cat>
            <c:strRef>
              <c:f>Sheet1!$A$2:$A$3</c:f>
              <c:strCache>
                <c:ptCount val="2"/>
                <c:pt idx="0">
                  <c:v>One server · 151</c:v>
                </c:pt>
                <c:pt idx="1">
                  <c:v>A shard owner · 69</c:v>
                </c:pt>
              </c:strCache>
            </c:strRef>
          </c:cat>
          <c:val>
            <c:numRef>
              <c:f>Sheet1!$E$2:$E$3</c:f>
              <c:numCache>
                <c:formatCode>General</c:formatCode>
                <c:ptCount val="2"/>
                <c:pt idx="0">
                  <c:v>7</c:v>
                </c:pt>
                <c:pt idx="1">
                  <c:v>7</c:v>
                </c:pt>
              </c:numCache>
            </c:numRef>
          </c:val>
        </c:ser>
        <c:gapWidth val="45"/>
        <c:overlap val="100"/>
        <c:axId val="-2068027336"/>
        <c:axId val="-2113994440"/>
      </c:barChart>
      <c:catAx>
        <c:axId val="-2068027336"/>
        <c:scaling>
          <c:orientation val="maxMin"/>
        </c:scaling>
        <c:delete val="0"/>
        <c:axPos val="l"/>
        <c:majorTickMark val="out"/>
        <c:minorTickMark val="none"/>
        <c:tickLblPos val="nextTo"/>
        <c:txPr>
          <a:bodyPr/>
          <a:lstStyle/>
          <a:p>
            <a:pPr>
              <a:defRPr sz="1050"/>
            </a:pPr>
          </a:p>
        </c:txPr>
        <c:crossAx val="-2113994440"/>
        <c:crosses val="autoZero"/>
        <c:auto val="1"/>
        <c:lblAlgn val="ctr"/>
        <c:lblOffset val="100"/>
        <c:noMultiLvlLbl val="0"/>
      </c:catAx>
      <c:valAx>
        <c:axId val="-2113994440"/>
        <c:scaling>
          <c:max val="160.0"/>
          <c:min val="0.0"/>
        </c:scaling>
        <c:delete val="0"/>
        <c:axPos val="b"/>
        <c:majorTickMark val="out"/>
        <c:minorTickMark val="none"/>
        <c:tickLblPos val="nextTo"/>
        <c:txPr>
          <a:bodyPr/>
          <a:lstStyle/>
          <a:p>
            <a:pPr>
              <a:defRPr sz="950"/>
            </a:pPr>
          </a:p>
        </c:txPr>
        <c:crossAx val="-2068027336"/>
        <c:crosses val="autoZero"/>
      </c:valAx>
    </c:plotArea>
    <c:legend>
      <c:legendPos val="b"/>
      <c:overlay val="0"/>
      <c:txPr>
        <a:bodyPr/>
        <a:lstStyle/>
        <a:p>
          <a:pPr>
            <a:defRPr sz="1000"/>
          </a:pPr>
        </a:p>
      </c:txPr>
    </c:legend>
    <c:dispBlanksAs val="gap"/>
  </c:chart>
  <c:txPr>
    <a:bodyPr/>
    <a:lstStyle/>
    <a:p>
      <a:pPr>
        <a:defRPr sz="1050">
          <a:solidFill>
            <a:srgbClr val="4A5058"/>
          </a:solidFill>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9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0.xml"/></Relationships>
</file>

<file path=ppt/notesSlides/_rels/notesSlide9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1.xml"/></Relationship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Headline figures of the demo bank, for reference (the figure tiles were removed from the slide): VaR 99% 1-day 112,041,646 USD and ES 97.5% 160,143,809 USD on 2026-09-30; 509 scenario days (2024-09-17 to 2026-09-29); 9,572 live trades in 7,984 derived positions, 88 hierarchy nodes, 28 portfolios; a node's VaR in under 1 ms from its float64 aggregate; the date loads in 572 ms.</a:t>
            </a:r>
          </a:p>
          <a:p/>
          <a:p>
            <a:r>
              <a:t>Sources: VAR_GUIDE.md section 2.2 (the bank on 2026-09-30: VaR 112,041,646, ES 160,143,809, 9,572 trades in 7,984 positions); section 15.3 (HS-509, 2024-09-17 to 2026-09-29); section 15.4 (88 nodes), 15.5 (28 portfolios); section 26.7 (loadMs 572 for the test date); section 26.2 and 27.3 (a node under 1 ms, 0.48 ms measured); section 27.2 (VarScaleBenchmark: the whole bank of 1 million trades summed in 58 ms on 24 threads); section 27.3 (VarTierBenchmark: 100,000 trades × 5 dates).</a:t>
            </a:r>
          </a:p>
          <a:p/>
          <a:p>
            <a:r>
              <a:t>The input message (product owner): Drishti handles every input contract: scenario PVs or P&amp;L vectors, at trade or position grain, in any native currency, from files or Kafka, mixed across source systems on one date and switchable day to day, with optional per-system pins as a check. Status: all of it is built.</a:t>
            </a:r>
          </a:p>
          <a:p/>
          <a:p>
            <a:r>
              <a:t>Talk track: if you remember one slide, make it this one. The engine is generic: a hierarchy node is just a scope that happens to be precomputed. Additive where it can be (P&amp;L vectors and ES contributions add up), honest where it cannot (VaR does not add: the screens show diversification instead of summing VaRs).</a:t>
            </a:r>
          </a:p>
          <a:p/>
          <a:p>
            <a:r>
              <a:t>Status: the VaR engine itself is built and released. The work on scenario PVs (with reporting currencies, the currency picker, intraday from files and Kafka, any input contract, the configurable window, confidence and root name, JSONL) is built and released. The work on hierarchies (configured by columns with the limit letters and the var-limit feed, PNL-&lt;trade&gt;-&lt;set&gt; ids, Iceberg as a full alternative to Delta for VaR, intraday and exposure, official results to Delta or Iceberg on a folder or S3, airtight connector upgrades) is built. Scaling one date out across a cluster of servers (VaR sharding) and the parallel Java lake loader are built, and so are the editions and the computed attributes; 10-day and stressed VaR and the 200K benchmark are not built yet.</a:t>
            </a:r>
          </a:p>
          <a:p/>
          <a:p>
            <a:r>
              <a:t>Measured (ColumnHierarchyBenchmark, 10,000 trades, 700 letters): the hierarchies build in 65-99 ms against 53-197 ms without the letters, and the VaR of every node (1,412) takes about 30 ms.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Framing. The scale figures (about 2.3 million positions, about 15,000 portfolios, about 700 limit letters) are an illustrative large bank, the volumes the product owner asked this deck to be sized for; they are not any client's data. Everything else is Drishti's: figures from the committed synthetic test data or measured on one workstation.</a:t>
            </a:r>
          </a:p>
          <a:p/>
          <a:p>
            <a:r>
              <a:t>Talk track: four things make VaR hard at a large bank. Scale: millions of positions a day and thousands of portfolios and limit letters, any of which someone may ask about at any moment. Pricing systems: they cannot be made to change, so the engine adapts to what each sends (scenario PVs or path P&amp;L, by trade or by position, files or Kafka). Currencies: a EUR- or CAD-based owner carries currency risk that a USD view hides, so the engine converts with each scenario's FX, not today's rate. Intraday: positions change during the day, and the VaR should follow without a full rerun, while the official record stays the morning run's.</a:t>
            </a:r>
          </a:p>
          <a:p/>
          <a:p>
            <a:r>
              <a:t>Sources: VAR_GUIDE.md sections 26-27 (a node from its float64 aggregate: 0.48 ms measured), 15.13 (any form, any grain), 15.9-15.11 (scenario PVs, scenario FX, currencies built ahead), 8.4 (intraday as built, official records the morning run's). Limit letters are a hierarchy configured by columns, built (VAR_GUIDE.md section 15.14).</a:t>
            </a:r>
          </a:p>
          <a:p/>
          <a:p>
            <a:r>
              <a:t>The legend explains the labels used on every later slide. Nothing built is labelled: VaR sharding, the cluster, Iceberg, the parallel Java lake loader, the editions and the computed attributes are built. Only what is not built carries a status: PLANNED (stressed VaR, 10-day VaR, ES backtests, the 200K benchmark), NOT RUN (written but not yet run on AWS: Glue and S3 Tables), PROPOSED for this deck's recommendations. MEASURED, ESTIMATED and ASSUMPTION say how a figure was obtained.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VAR_GUIDE.md section 1 (the question, methodology: historical simulation, equal weights, 1-day; ES at 97.5% as in FRTB IMA without liquidity horizons), section 2 (the measures table), section 2.1 (the worked example: every number on this slide), section 18 (formulas: k = clamp(ceil(N(1−α) − 1e-9), 1, N); component tail = ranks k−h..k+h with window 5; scale c = VaR / smoothed VaR), section 7 (backtest: the Basel traffic light counts breaches, losses bigger than VaR, in 250 days at 99%: 0–4 green, 5–9 amber, 10+ red; the Kupiec test (Paul Kupiec, 1995) asks whether the number of breaches is consistent with 99%, about 2–3 in 250 days; the Christoffersen test (Peter Christoffersen, 1998) asks whether breaches cluster together, a sign the model reacts too slowly when markets turn. Both are standard statistical tests named after the researchers who published them. Drishti reports their p-values), section 3.2 (limit bars: amber at 75%, red at 90%).</a:t>
            </a:r>
          </a:p>
          <a:p/>
          <a:p>
            <a:r>
              <a:t>Talk track: the whole engine is in these four steps. Step 2 is where scope matters: any scope (bank, legal entity, desk, book, position, trade, stored portfolio, a rule such as every short EUR position, a basket, or unions, differences and intersections of these) resolves to a set of trades, so a trade in two parts of a scope counts once, and a long and a short of one instrument cancel before the quantile is taken. That is why a desk's VaR is never the sum of its books' VaRs.</a:t>
            </a:r>
          </a:p>
          <a:p/>
          <a:p>
            <a:r>
              <a:t>The worked example uses α = 80% so that k = 2 on ten scenarios and every step can be checked by hand. The book's sorted P&amp;Ls are −7 (scenario 3), −6 (4), −6 (9), so VaR = 6 and ES = 6.5. Component VaR averages the scope's scenarios ranked 1 to 3 (window 3), scaled by c = 6 / 6.3333 so that P1 (1.2632) and P2 (4.7368) add up to the VaR. P1's incremental VaR is −1: it hedges, and removing it would raise the book's VaR from 6 to 7.</a:t>
            </a:r>
          </a:p>
          <a:p/>
          <a:p>
            <a:r>
              <a:t>On the test data (section 2.2): the ten desks' VaRs add up to 367.9 million against the bank's 112.0 million; the credit desk alone (130.7 million) has a larger VaR than the bank, because other desks gain on its worst days.</a:t>
            </a:r>
          </a:p>
          <a:p/>
          <a:p>
            <a:r>
              <a:t>Not built (stated in the guide): age-weighted or filtered methods, ES backtests, 10-day and stressed VaR (the capacity slides size the last two).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on this slide is built.</a:t>
            </a:r>
          </a:p>
          <a:p/>
          <a:p>
            <a:r>
              <a:t>Scenario window: drishti.var.scenario-window takes all (the whole set, 509 days in the demo) or N, the newest N scenarios of the set. A request may pass window= to compare, for example, a 1-year (250) and a 2-year (all) view of the same scope; such answers are labelled with their window and are never official. Ranks follow the guide's rule k = ⌈N(1 − α)⌉ (VAR_GUIDE.md section 18.1): at N = 509 VaR 99% is the 6th worst and ES 97.5% the mean of the 13 worst; at N = 250 the 3rd worst and the mean of the 7 worst (250 × 2.5% = 6.25, rounded up); at 95% the 26th worst of 509 (25.45 rounded up) and the 13th worst of 250 (12.5 rounded up).</a:t>
            </a:r>
          </a:p>
          <a:p/>
          <a:p>
            <a:r>
              <a:t>Choosing the window: banks typically use one year (about 250 business days, the regulatory minimum for internal-model VaR) or two years (about 500). One year reacts faster when volatility changes; two years is steadier and keeps more stress days in the tail. The per-request window lets a risk manager see both before changing the bank's setting.</a:t>
            </a:r>
          </a:p>
          <a:p/>
          <a:p>
            <a:r>
              <a:t>Confidence: VaR 99% by default, 95% by configuration (DRISHTI_VAR_CONFIDENCE, the setting drishti.var.confidence); ES 97.5% by default (DRISHTI_VAR_ES_CONFIDENCE); both may also be set per request, and every label on the screens follows the answer. The backtest stays at 99%: the Basel traffic light (breaches in 250 days at 99%: 0–4 green, 5–9 amber, 10+ red), the Kupiec test (Paul Kupiec, 1995: is the number of breaches consistent with 99%, about 2–3 in 250 days?) and the Christoffersen test (Peter Christoffersen, 1998: do breaches cluster together, a sign the model reacts too slowly when markets turn?). Both are standard statistical tests named after the researchers who published them. Drishti reports their p-values.</a:t>
            </a:r>
          </a:p>
          <a:p/>
          <a:p>
            <a:r>
              <a:t>Currencies built ahead (VAR_GUIDE.md section 15.11): drishti.var.currencies (default USD, EUR, CAD, JPY, GBP) are built in the background after a date's USD book, each into its own hot file; drishti.var.currency-retention-dates (5) keeps the newest five business dates; older dates' currency files are deleted and built again on first ask. Measured on the demo lake: 21.4 MB a currency a date, 58 to 148 ms to build each; extrapolated 250 MB a currency per 100,000 trades.</a:t>
            </a:r>
          </a:p>
          <a:p/>
          <a:p>
            <a:r>
              <a:t>Names: drishti.var.root-name (DRISHTI_VAR_ROOT_NAME; blank keeps the hierarchy data's NAME) names the top of every hierarchy when a date loads, drishti.var.root-names one hierarchy's; the tree, breadcrumbs, headline, CLI, var-result, captures and new official records follow. The demo's bank, short name, legal entities and branches come from config/demo/names.yaml (lake demo and build_demo_lakes.py --names FILE; LEIs and BICs kept).</a:t>
            </a:r>
          </a:p>
          <a:p/>
          <a:p>
            <a:r>
              <a:t>Inputs and intraday: drishti.var.inputs pins a source system's form and grain (optional cross-check, DRS-5209 when a record disagrees); drishti.var.intraday.kafka.window (DRISHTI_VAR_INTRADAY_KAFKA_WINDOW, 5m) and max-trades (500). Official records are captured in drishti.var.official.currencies (default USD).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VAR_GUIDE.md section 15.9 (scenario-pv: the product owner's decisions of 2026-10-27, the conversion P&amp;L_USD(s) = PV(s) × FX_c(s) − PV(base) × FX_c(base), FX supplied by fx-scenario or derived from fx-spot as FX(s) = FX(base) × H(d_s) / H(d_s − 1), crosses through USD, DRS-5206 and DRS-5207, the demo's 1,339 Endur trades and the figures that moved); section 15.10 (reporting currency: P&amp;L_r(s) = (p + P&amp;L_USD(s)) / FX_r(s) − p / FX_r(base); the table of the bank in seven currencies; 'At today's rates the USD VaR would be 95.4 million EUR or 155.6 million CAD ... the bank's net value (3.65 billion USD)'); section 15.11 (per-trade-currency totals, exact to the cent; Trade currency on the trade pages); section 20.3 (the load checks). Input form and grain: all four combinations are accepted. Every record is self-describing: VALUE_TYPE (PV or PNL), GRAIN (TRADE or POSITION) with the matching TRADE_ID or POSITION_ID, CURRENCY and SOURCE_SYSTEM are required. The per-system pin in drishti.var.inputs is an optional cross-check: a record that disagrees with it is refused. A pin makes an unexpected upstream change refused and visible; switching a system's input is a configuration change effective from the next date loaded. Within one system and date there is exactly one form and grain (no double counting); intraday updates follow that day's form and grain; the provenance shows the form and grain per system. Today a bank can already send one row per position by using the position id as TRADE_ID (VAR_GUIDE section 15.2).</a:t>
            </a:r>
          </a:p>
          <a:p/>
          <a:p>
            <a:r>
              <a:t>Talk track: pricing systems always send PVs in the trade's native currency, kept as received. Drishti makes the P&amp;L itself, which means it controls the FX: the scenario's own exchange rate, not today's, so a EUR bond's USD P&amp;L carries both the bond's move and the euro's move on that scenario day. Using today's rate for every scenario would silently drop the currency risk.</a:t>
            </a:r>
          </a:p>
          <a:p/>
          <a:p>
            <a:r>
              <a:t>The chart is the key point for a non-USD reader: the same bank has a VaR of 111.8 million EUR, not the 95.4 million that a simple conversion of the USD VaR gives, because the bank's net 3.65 billion USD of value moves against the euro on the scenario days. Which currency is right is the owner's question, not the model's. The engine answers in any currency with scenario FX on the date; USD, EUR, CAD, JPY and GBP are built ahead.</a:t>
            </a:r>
          </a:p>
          <a:p/>
          <a:p>
            <a:r>
              <a:t>A scenario that failed to price is never treated as zero (a zero would claim the trade neither gains nor loses on that day, quietly lowering the VaR): the whole trade is left out and named in every answer's provenance.</a:t>
            </a:r>
          </a:p>
          <a:p/>
          <a:p>
            <a:r>
              <a:t>At position grain: rows carry POSITION_ID, LEGAL_ENTITY, DESK, TT_BOOK, CURRENCY, the security or product identifiers and optionally TRADE_IDS; everything that adds up still works (tree, portfolios, scopes, baskets, captures, official records, currencies, intraday keyed by POSITION_ID); trade-level drill-down degrades cleanly.</a:t>
            </a:r>
          </a:p>
          <a:p/>
          <a:p>
            <a:r>
              <a:t>(The form × grain grid and the caveat are on the Any input contract slide.) The form × grain grid: P&amp;L vectors at trade grain are built; scenario PVs at trade grain and position grain for either form are built. The forms and grains can mix per source system and per date (each system uses exactly one grain).</a:t>
            </a:r>
          </a:p>
          <a:p/>
          <a:p>
            <a:r>
              <a:t>The caveat, precisely (VAR_GUIDE section 15.10): converting to a reporting currency r uses each trade's USD value today p (its PV): P&amp;L_r(s) = (p + P&amp;L_USD(s)) / FX_r(s) − p / FX_r(base). A P&amp;L-vector row that carries its optional PV column converts exactly by this formula; a trade with no PV converts its P&amp;L alone, which misses the FX translation of its base value, and is counted in the provenance as fx.rates.&lt;CCY&gt;.tradesWithoutPv. Scenario PVs always carry the base PV, so they give exact multi-currency VaR, and they also feed the per-trade-currency totals in their own currency.</a:t>
            </a:r>
          </a:p>
          <a:p/>
          <a:p>
            <a:r>
              <a:t>The refusals at load (DRS-5201, 5206, 5207) are listed on the data-contracts slide.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VAR_GUIDE.md section 8.4 'Intraday updates, as built' (the marker RUN_KIND INTRADAY, own BATCH_ID, later COMPUTED_AT, appended with lake build --mode append or drishti.py var intraday --load; the rules table; applying incrementally with VarIntraday; labels; 'the official records are the morning run's'; measured with VarIntradayApiTest: 200 batches of 3 trades, equal to the cent to the same final data loaded as one run, on every node; a restart equal too; batch time not growing); section 15.8 (cadence); 'Intraday updates from Kafka, as built' (commit 295cba961). Intraday works on an Iceberg risk lake too: a file batch appended to an Iceberg table is applied live after its data-load signal, and each Kafka window is one Iceberg append (LakeAppends; VarFormatEqualityTest applies intraday file batches live from Iceberg, equal to Delta).</a:t>
            </a:r>
          </a:p>
          <a:p/>
          <a:p>
            <a:r>
              <a:t>Kafka as built: the market-risk pack's connector pv-updates (plugin var-pv-stream, off by default: DRISHTI_VAR_PV_STREAM=true) reads the PV topic; each message's value is JSONL text, one or more records of the scenario-pv or pnl-vector contract a line (both forms and cancels may share a message; the key is not read; a tombstone carries no record and is ignored; a malformed line is rejected, DRS-5201, with its partition, offset and line number, without dropping the others). Everything received in drishti.var.intraday.kafka.window (5m) keeps the latest COMPUTED_AT per trade and is appended to the lake as one intraday batch (BATCH_ID K-&lt;date&gt;-&lt;time&gt;-&lt;n&gt;), then applied after one data-load signal; earlier at max-trades (500) or an administrator's Apply now (POST /api/v1/var/intraday/streams/{connector}/apply). Sizing from the guide: a record is 4–8 KB, so 10,000 updates a day are 40–80 MB on the topic; a window of a few hundred trades is written and applied in about a second. Tested with VarPvStreamTest (in-process Kafka): files and windows mixed equal one run to the cent in USD, EUR and CAD; a replay writes nothing.</a:t>
            </a:r>
          </a:p>
          <a:p/>
          <a:p>
            <a:r>
              <a:t>Talk track: before intraday was built, a second BATCH_ID on a date refused the date and the engine answered yesterday, silently turning today's VaR into yesterday's at the first intraday update. Now the pricing systems send only what changed, priced over the same scenario set as the morning. The engine keeps only the current P&amp;L per trade, never the batches, so the work of a batch does not grow with the batches before it. The old P&amp;L subtracted is the morning row exactly as received (with the tiered memory its float32 copy is not exact, so the row is read back from the lake by its id): that is what makes the incremental result equal a full reload to the cent.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VAR_GUIDE.md section 3 (the explorer: commands, the three columns, the six tiles, drill-down, the tabs, Construct your basket, How this number was built, the portfolio and position pages, the trade page's Risk group, the phone), section 15.11 (the Reporting currency picker, the tab In other currencies, Trade currency), section 5 (scopes, portfolios and baskets), section 6 (captures and compare), section 7 (history and backtesting), section 8 (VRES var-result, VWIF var-whatif, the pre-deal what-if in the basket tray), section 9 (entitlements and audit), section 10 (CLI), section 11 (API), section 12 (drishti.var.root-name, drishti.var.root-names), section 27.2 (painted in 9 to 14 ms with answers fetched ahead, 30 to 35 ms without; the product owner's target 300 ms click to painted); config/demo/names.yaml  (the demo's bank and legal-entity names); USER_GUIDE.md (Home facts); the screenshot docs/guides/img/var/15-reporting-currency.jpg.</a:t>
            </a:r>
          </a:p>
          <a:p/>
          <a:p>
            <a:r>
              <a:t>Talk track: the explorer is a console page over /api/v1/var. Type VAR BANK, VAR DESK RATES, VAR TRD &lt;id&gt;, VAR PORT &lt;id&gt; or any scope in the grammar, optionally ending IN EUR. The left column is the hierarchy with each node's VaR, ES and limit bar; the middle has the breadcrumb, six tiles and the tabs; the right column says exactly how the number was built. The basket tray computes the VaR of any mix live, flags anything that matches nothing in words (never a VaR of 0 that looks computed), and offers a pre-deal what-if: a copy of a booked trade's vector scaled by a factor (−1 is its unwind), answered by the Python VaR engine in the compute pool (off by default; without it the tray says so, 503 DRS-5205).</a:t>
            </a:r>
          </a:p>
          <a:p/>
          <a:p>
            <a:r>
              <a:t>The same engine answers everywhere: trade pages show Trade currency and a Risk group (P&amp;L vector, VaR of this trade); position, portfolio, desk and legal-entity pages show the engine's figures computed as the viewer; the command line takes --ccy; var-result and var-whatif are ordinary computed kinds; BI's Market risk: VaR report reads the published official results; Home's facts (for example a book over its VaR limit inside a desk within its own) are computed from the engine's answers.</a:t>
            </a:r>
          </a:p>
          <a:p/>
          <a:p>
            <a:r>
              <a:t>Governance in the UI: the top of the tree is named by drishti.var.root-name (blank keeps the hierarchy data's NAME), the demo's bank and legal-entity names come from config/demo/names.yaml; access is per role and node at positions or aggregate level; masks apply to contribution rows; every headline, capture, basket change, reload and official run is an audit entry.</a:t>
            </a:r>
          </a:p>
          <a:p/>
          <a:p>
            <a:r>
              <a:t>Not built: pricing a new or amended trade from its terms (QLRisk, parked until its API is stable); the copy of a booked trade's vector stands in for 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VAR_GUIDE.md section 15.1 (the risk lake layout: risk/pnl-vector, scenario-pv, fx-scenario, scenario-set, risk-hierarchy, portfolio, all partitioned by business_date; risk-results/var-official), 15.8 (cadence, delivery and the load signal), 15.9 (scenario PVs, the conversion at load in VarIntake / ScenarioFx.pnlFromPv, FX supplied or derived, crosses through USD), 15.11 (currencies built ahead, per-trade-currency totals in the hot file's CTOT section), section 8.4 'Intraday updates, as built' (VarIntraday), section 19 (official end-of-day captures, published append-only to risk-results/var-official), section 25 (VarBook), section 26 (tiered memory and the hot file); DATA_FORMATS.md section 4 (official results also written as JSON Lines beside the Delta tables, risk-results/jsonl/&lt;table&gt;/&lt;date&gt;/); USER_GUIDE.md (Home facts computed from the VaR engine's answers); config/bi (the Market risk: VaR report reads var-official).</a:t>
            </a:r>
          </a:p>
          <a:p/>
          <a:p>
            <a:r>
              <a:t>Talk track, left to right. (1) Pricing systems run once in the morning over every live trade and send either form: scenario PVs with the base PV in the trade's own currency, or a finished P&amp;L vector in USD. During the day they send only the trades that changed. (2) Everything lands in Delta tables, one per kind, partitioned by business date; a full run replaces the date, an intraday batch is appended with its own BATCH_ID. (3) The data-load signal makes the engine load the date: every row is checked (a failed scenario is refused, never zero-filled), scenario PVs are converted to USD P&amp;L with the scenario FX, positions are derived by the pack's rules, the trades are sorted into hierarchy order and every book and node is summed once in float64. (4) The date lives in a memory-mapped hot file: float32 position rows, float64 aggregates and, per node, the PVs summed per trade currency, so a headline in any currency is exact and cheap. The listed reporting currencies (USD, EUR, CAD, JPY, GBP by default) are built ahead in the background. Intraday batches are applied as an overlay: each changed trade's new minus old into its book and every node above it, without reloading. (5) Everyone reads the same answers: the VaR explorer, the trade, position, portfolio, desk and legal-entity pages and Home's facts, the command line, the REST API and the computed kinds (VRES var-result, VWIF var-whatif), and BI through the published official results.</a:t>
            </a:r>
          </a:p>
          <a:p/>
          <a:p>
            <a:r>
              <a:t>Official records are taken from the morning run only, for every node of every configured hierarchy (MGMT, LEGAL and the limit letters: 131 nodes on the test data), and published to risk-results/var-official, append-only, in Delta (the default) or Iceberg, under a folder or an s3:// root (drishti.var.official.format and .storage), with a JSONL copy beside it. The lake of inputs is Delta by default or Iceberg; VaR, intraday and exposure read either, equal to the cent. No engine reads risk-results back (a guard test).</a:t>
            </a:r>
          </a:p>
          <a:p/>
          <a:p>
            <a:r>
              <a:t>Status: everything on this slide is built.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trees, all built. MGMT (bank, division, desk, book) and LEGAL (bank, legal entity, desk, book) arrive as risk-hierarchy rows (VAR_GUIDE.md section 15.4: NODE_ID = &lt;HIERARCHY&gt;~&lt;node&gt;, LIMIT_VAR per node, BOOKS listing every book beneath a node). The limit letters (LL) are a hierarchy configured by columns, built (VAR_GUIDE.md sections 15.14 and 15.15; CHANGELOG 'Hierarchies').</a:t>
            </a:r>
          </a:p>
          <a:p/>
          <a:p>
            <a:r>
              <a:t>Configuration: the market-risk pack's hierarchies: block (the code on the slide, as built); drishti.var.hierarchies in the server's settings wins over it; neither: MGMT and LEGAL from the rows, as before. Keys: title, source (risk-hierarchy or columns), levels (top first), level-names, root, ids (path, the default, or leaf), word (the scope word: LL:LL-0003, LL:LL-0003/DESK-RATES), limits (the var-limit kind). A configuration error is DRS-5213.</a:t>
            </a:r>
          </a:p>
          <a:p/>
          <a:p>
            <a:r>
              <a:t>Members are rows, not books: a column node's members are the trades whose values start with its path, so a letter may hold part of a book (two of the demo's books are split between two letters). The engine sums every cell once when the date loads (a run of one book's trades with the same level values), so a letter's VaR costs what a desk's does. A position whose trades sit under two letters is split (&lt;position&gt;@&lt;letter&gt;) and the provenance says how many were split.</a:t>
            </a:r>
          </a:p>
          <a:p/>
          <a:p>
            <a:r>
              <a:t>Data without the column (product owner, 2026-10-28): a source that does not keep a level column (P&amp;L vectors or exposure paths written before the letters) skips that hierarchy alone: the date, MGMT, LEGAL, exposure and the official captures answer as before, and a DRS-5211 warning names the hierarchy, the column, the kind and the fix, in the provenance, Admin → Health (Hierarchy skipped) and the log; its tree answers DRS-5214 and the explorer lists it disabled. A row that leaves the column empty, in a table that keeps it, is refused and listed. Tests: HierarchyColumnMissingTest, HierarchyUpgradeWithoutLettersTest.</a:t>
            </a:r>
          </a:p>
          <a:p/>
          <a:p>
            <a:r>
              <a:t>Limits: the dated kind var-limit (VLIM, JSONL: HIERARCHY, NODE_ID, LIMIT_VAR in USD); a node without a row shows no limit, never zero; a row naming no node is said (DRS-5212). The tree shows each node's VaR, ES and limit bar (amber at 75%, red at 90%); the official records carry LIMIT and LIMIT_USE per node, date and result version (section 19). Official records are taken for every configured hierarchy (131 nodes on the test data: 88 MGMT and LEGAL + 43 LL); exposure builds the same hierarchies.</a:t>
            </a:r>
          </a:p>
          <a:p/>
          <a:p>
            <a:r>
              <a:t>Evidence: HierarchyEquivalenceTest rebuilds MGMT and LEGAL from columns and gets the rows' trees exactly (ids, parents, levels, members, aggregates to the bit; VaR, ES, components and worst scenarios to the cent in USD and EUR; limits); every letter is the sum of its rows. ColumnHierarchyBenchmark (MEASURED, one workstation): 10,000 trades, 100 books, 10 desks, 700 letters: the build 65-99 ms against 53-197 ms without the letters; the VaR of every node (1,412) about 30 ms.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product owner's message: Drishti handles every input contract. The four combinations (scenario PVs or P&amp;L vectors, by trade or by position) work in any native currency, from files or Kafka, mixed across source systems on one date, switchable day to day, with optional per-system pins as a check. We adapt to the source systems; they do not have to adapt to us.</a:t>
            </a:r>
          </a:p>
          <a:p/>
          <a:p>
            <a:r>
              <a:t>Status: P&amp;L vectors by trade are built; so is everything else on this slide: scenario PVs (VAR_GUIDE.md section 15.9), position grain for both forms, the canonical record, the per-system pin, intraday files (section 8.4) and Kafka micro-batches ('Intraday updates from Kafka, as built'), and the PV scripts (tools/pvgen: morning run, intraday files, Kafka publisher, checker). Old files are brought to the canonical record with drishti.py convert --set ….</a:t>
            </a:r>
          </a:p>
          <a:p/>
          <a:p>
            <a:r>
              <a:t>The record (verbatim as endorsed): VALUE_TYPE (PV or PNL), GRAIN (TRADE or POSITION) with the matching TRADE_ID or POSITION_ID, CURRENCY (native for PVs) and SOURCE_SYSTEM are required on every record, in files and on Kafka. The per-system pin, drishti.var.inputs, is an optional cross-check: a record that contradicts its system's pin is refused (DRS-5209); a record missing a field or contradicting its payload or id is refused (DRS-5208); a second form or grain from one system on one date is DRS-5210. Switching a system's input is a configuration change effective from the next date loaded and recorded in the provenance. Within one system and date there is exactly one form and grain, which prevents double counting; intraday updates follow that day's form and grain. Field names: the endorsed record says PVS and BOOK; the as-built contracts say SCENARIO_PV and TT_BOOK.</a:t>
            </a:r>
          </a:p>
          <a:p/>
          <a:p>
            <a:r>
              <a:t>Whatever the input, the engine keeps one internal representation: a USD P&amp;L vector per row (converted at load from PVs with the scenario FX, crosses via USD), plus, per node, the PVs summed per trade currency. Every scope, currency, capture and official record works the same whichever form a trade came in.</a:t>
            </a:r>
          </a:p>
          <a:p/>
          <a:p>
            <a:r>
              <a:t>The caveat, precisely (VAR_GUIDE section 15.10): converting to a reporting currency r uses each trade's USD value today p: P&amp;L_r(s) = (p + P&amp;L_USD(s)) / FX_r(s) − p / FX_r(base). A P&amp;L-vector row that carries its optional PV converts exactly by this formula; a trade with no PV converts its P&amp;L alone, missing the FX move of its base value, and is counted in the provenance (fx.rates.&lt;CCY&gt;.tradesWithoutPv). Scenario PVs always carry the base PV, so they give exact multi-currency VaR.</a:t>
            </a:r>
          </a:p>
          <a:p/>
          <a:p>
            <a:r>
              <a:t>Kafka (built): JSONL payloads with one or more records per message, a 5-minute window (configurable), an early flush, an administrator's Apply now, one intraday batch per window in the lake, the latest COMPUTED_AT per trade winning.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VAR_GUIDE.md Part II (contract version 1.8 on the newest branch's working tree; 1.7 committed): section 15.2 pnl-vector (every column, type and rule), 15.3 scenario-set, 15.4 risk-hierarchy, 15.5 portfolio, 15.9 scenario-pv and fx-scenario, 15.12 'Producing P&amp;L vectors and scenario PVs' (JSONL, one row of the contract a line), section 20 (validation and the DRS codes); the contract files config/packs/market-risk/contracts/{scenario-pv,pnl-vector,fx-scenario,scenario-set,risk-hierarchy,portfolio}.contract.yaml; DATA_FORMATS.md (JSON Lines is Drishti's data standard).</a:t>
            </a:r>
          </a:p>
          <a:p/>
          <a:p>
            <a:r>
              <a:t>The tables show the as-built contracts' key fields. Every trade-level row also carries LEGAL_ENTITY, DESK and TT_BOOK promoted (the load fails otherwise), the keys a position rule names (SECURITY_ID …), PRODUCT_GROUP and PRODUCT_TYPE, COUNTERPARTY, DIRECTION, signed QUANTITY, TRADE_STATUS and MATURITY_DATE (only live trades count), SCENARIO_SET_ID and BATCH_ID (one run per date), STATUS, and RUN_KIND and COMPUTED_AT. The self-describing fields of the endorsed record (VALUE_TYPE, GRAIN with TRADE_ID or POSITION_ID, CURRENCY, SOURCE_SYSTEM, all required) are built; GRAIN is always present and must match TRADE_ID or POSITION_ID; old files are brought to the format with drishti.py convert --set …. The canonical record names the scenario PVs PVS and the book BOOK where the earlier contract columns say SCENARIO_PV and TT_BOOK. The four canonical lines are on the Any input contract slide.</a:t>
            </a:r>
          </a:p>
          <a:p/>
          <a:p>
            <a:r>
              <a:t>Built: P&amp;L-vector ids are PNL-&lt;trade or position&gt;-&lt;set&gt; (PNL-MX-20000274-HS-509; the earlier PV- ids are still read from lakes and captures written before); every P&amp;L-vector, scenario-PV and exposure-path row carries LIMIT_LETTER, the level column of the limit letters (a source without the column skips that hierarchy alone with a DRS-5211 warning); the new dated kind var-limit (VLIM: HIERARCHY, NODE_ID, LIMIT_VAR in USD) holds the nodes' limits (VAR_GUIDE.md sections 15.14 and 15.15).</a:t>
            </a:r>
          </a:p>
          <a:p/>
          <a:p>
            <a:r>
              <a:t>Talk track: the engine reads no master data; everything it needs is on the rows. Positions are not an input unless a system sends position grain: Drishti derives them with the pack's configured rules (securities by book and security, listed by book and contract, OTC one per trade). JSONL is the delivery standard: one object a line, no array around the lines; every generator writes it, every loader reads it, every export offers it, and a drill test guards the rule.</a:t>
            </a:r>
          </a:p>
          <a:p/>
          <a:p>
            <a:r>
              <a:t>Refusals are never silent and never padded: DRS-5201, 5206, 5207, 5208 (record fields missing or contradicting the payload or id), 5209 (against the system's pin) and 5210 (a second form or grain from one system on one date) reject a row or a trade and are listed in every answer's provenance (the first 20 reasons); DRS-5202 and 5203 refuse the date (the date before is answered, with a warning); DRS-5204 is a capacity refusal (503). Still not checked (planned): a TRADE_ID live in the trade master, a book in exactly one leaf of each hierarchy, a portfolio's members existing, completeness of the batch against the trades booked.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docs/architecture/COMPUTED_ATTRIBUTES.md section 13 'As built'. Q1 nset-mtm (NSMTM): one page per netting set from the trade valuations of a live status: NET_MTM, TRADE_COUNT, GROSS_POSITIVE_MTM, GROSS_NEGATIVE_MTM, CE_UNCOLLATERALISED, NETTING_BENEFIT, NET_TO_GROSS, BY_PRODUCT_GROUP, the members, past-maturity count and MtM, SUM_CURRENCY. Q2 cpty-mtm (CPMTM): one page per counterparty, with its netting sets and CE uncollateralised = Σ max(set net, 0). Q3: Checks panels on the collateral balance (held, posted and net after haircut, from the positions), the credit limit (headroom; utilisation = used ÷ limit and its difference from the stored one), SA-CCR (EAD = α(RC + multiplier × add-on) and its difference) and the stress result (limit use, OK or BREACH). Q4 stress-scenario-pnl (SSPNL): the bank's P&amp;L under a scenario and every desk's (Drishti Risk leaves stress out). E0: the exposure engine reads a netting set's members and MtM from trade-valuation, the collateral after haircut and the counterparty's credit-limit.</a:t>
            </a:r>
          </a:p>
          <a:p/>
          <a:p>
            <a:r>
              <a:t>Visible to everyone (decision 6): derived pages are built once per business date and data version and shared; every user who may open the kind sees them. Sum currency: every derived total is in USD and says so; a set whose members are not all USD says not converted. Pictures: docs/guides/img/computed (tools/docs/shots/computed.py over the packs' samples).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COMPUTED_ATTRIBUTES.md 13.4 (reconciliation): on the test data's 2026-09-30, the derived net MtM against the stored netting-set.NET_MTM: 55 of 76 sets equal; the 21 others hold 827 trades of a live status past their maturity date (MtM 16.7m in total), which Live leaves out and the stored total counts; with them added back all 76 of 76 agree to the dollar. CP-ALDERSHOT: stored 520,405,666, derived 518,314,005 (18 trades past maturity in NS-ALDERSHOT-NY), uncollateralised CE 680,037,675.</a:t>
            </a:r>
          </a:p>
          <a:p/>
          <a:p>
            <a:r>
              <a:t>13.3 (the exposure engine re-pointed, E0): the members and their MtM are the same on the test data, so every change comes from the collateral after haircut: BANK (the demo run, 74 sets) peak PFE 95% 2,858,060,180 → 2,897,620,439, EPE 945,577,981 → 947,202,991, CE 1,532,007,701 → 1,586,811,699; CPTY:CP-ALDERSHOT CE 217,565,006 → 220,250,163; NS-ALDERSHOT-NY CE 212,580,686 → 214,706,654. 13.2: across the 76 balances the holdings' market value is 6,304.4m and their value after haircut 6,229.6m. Trades, valuations, P&amp;L vectors, scenario PVs, FX scenarios and scenario sets are byte for byte as before, so VAR BANK on 2026-09-30 stays USD 112,041,646.</a:t>
            </a:r>
          </a:p>
          <a:p/>
          <a:p>
            <a:r>
              <a:t>The retirement guard (tools/contracts.policy.yaml removed:) fails the build if netting-set.UTILISATION, risk-hierarchy.LIMIT_VAR or portfolio.LIMIT_VAR return. 13.5 still open: retire the stored figures with the NSET engine; convert: on derived fields and the sums: configuration; BI's Open MTM filtered to Live; SA-CCR's stored RC before haircut.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Pictures from docs/guides/img/computed (EXPOSURE_GUIDE.md section 22 and VAR_GUIDE.md section 21.4), made by tools/docs/shots/computed.py over the packs' samples. The counterparty: Computed from the trade valuations (net MtM, trades, gross parts, netting sets, CE uncollateralised, past maturity). The stress scenario (COVID 2020 on the samples): Bank P&amp;L under this scenario (the desks' results added) and Desks under this scenario (P&amp;L, the positive limit, limit use and status).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VAR_GUIDE.md section 24 (where the engine lives: Java in drishti-compute and drishti-server, Python in the compute pool for what does not add), section 25 (VarBook, the planner: 'Markets minus three trades costs four vector operations', ParallelSums: slices summed into their own float64 accumulators and added in slice order, the answer cache of 512 entries), section 26 (the tiers, the life of a date: hot-dates 2, disk-dates 60, the hot file format, float32 rows and float64 aggregates, precision bound), section 27.1 (bytes per date: 509 × 8 = 4,072 bytes a trade; mapped about 0.8 MB of heap and 2.1 MB of hot file per 1,000 trades), section 27.2 (VarScaleBenchmark: 1,000,000 trades in memory, the whole bank in 58 ms, about 70 GB/s on 24 threads), section 27.3 (VarTierBenchmark at 100,000 trades × 5 dates: node 0.48 ms, bank minus a desk 1.1 ms, whole bank 3.4 ms at about 60 GB/s, basket of 50,000 positions 2.6 ms plus about 45 ms resolving ids, reopening a date 23 ms, first load 0.8 to 1.2 s, heap about 80 MB per open date), section 26.7 (loadMs 572 for the test date), section 15.11 (currencies built ahead: 21.4 MB a currency a date on the demo lake, 5 dates retained), section 28 (sharding, built; VAR_SHARDING.md).</a:t>
            </a:r>
          </a:p>
          <a:p/>
          <a:p>
            <a:r>
              <a:t>Talk track: base VaR is additions and sorts. A row is 509 numbers; a node's vector is summed once when the date loads and kept in float64, so any node's VaR is answered from its aggregate in under a millisecond whatever its size. Anything else (a rule, a basket, the bank minus a few trades) is planned over the aggregates: cover what is whole with aggregates, add or subtract the few rows left. A filter that cuts across every node sums position rows on every core at memory bandwidth.</a:t>
            </a:r>
          </a:p>
          <a:p/>
          <a:p>
            <a:r>
              <a:t>The tiered memory keeps the heap small: the vectors are never on the heap when mapped; the operating system's page cache holds only the pages in use. Precision is proven: a node's figures are the lake's to the bit; any other scope is within 2^-24 of the gross P&amp;L (measured 0 USD on the test data, 5.86 × 10^-8 of the VaR on data scaled 1,000×).</a:t>
            </a:r>
          </a:p>
          <a:p/>
          <a:p>
            <a:r>
              <a:t>All benchmark figures were measured on one workstation (24 hardware threads, 61 GB, JDK 25, NVMe); the full million-trade × 50-date run is for a server and has not been run (a million-trade run once took the workstation down).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Arithmetic and bases (all decimal GB; scale factor 2,300,000 / 100,000 = 23). Vectors: 2,300,000 × 509 × 8 bytes = 9,365,600,000 B = 9.37 GB per date per currency in float64; float32 halves it to 4.68 GB. Hot file: VarTierBenchmark measured 237.7 MB per date for 100,000 trades (203.6 MB of float32 rows plus aggregates of 2,100 books and nodes, columns and ids), × 23 ≈ 5,467 MB ≈ 5.5 GB. Heap: about 80 MB per open date per 100,000 trades measured, × 23 ≈ 1.8 GB; with hot-dates 2 about 3.7 GB. First load: 0.8–1.2 s per 100,000 measured, × 23 ≈ 18–28 s (the sort is n log n, so slightly more than linear), plus the lake read: the guide estimates 10 to 40 s for a cold whole-bank read of about 4 GB of Parquet on one server, so about 18 to 70 s for the 7 GB here. Reopening: 23 ms per 100,000, × 23 ≈ 0.5 s. Whole bank resident: 3.4 ms for 203.6 MB measured (≈ 60 GB/s), so 4.68 GB ≈ 78 ms; cold from NVMe at about 3 GB/s ≈ 1.6 s (the guide's own basis). A node: 0.48 ms measured, independent of size.</a:t>
            </a:r>
          </a:p>
          <a:p/>
          <a:p>
            <a:r>
              <a:t>Currencies built ahead (VAR_GUIDE 15.11, measured on the demo lake 2026-10-27): 21.4 MB a currency a date for 8,566 trades; the guide's linear extrapolation is 250 MB a currency per 100,000 trades, 1.0 GB for four, 5.0 GB for the 5 retained dates, and about 4.3 s to build the four in the background. × 23: ≈ 5.75 GB a currency, ≈ 23 GB a date for four, ≈ 115 GB for the five retained dates, ≈ 99 s background build. USD hot files: disk-dates 60 × ≈ 5.5 GB ≈ 330 GB of local disk (lower disk-dates to need less). Lake: Parquet ≈ 0.75 × raw (the design's estimate): 9.37 GB × 0.75 ≈ 7.0 GB a date, × 252 business dates ≈ 1.8 TB a year, ≈ 12.4 TB for the 7 years kept.</a:t>
            </a:r>
          </a:p>
          <a:p/>
          <a:p>
            <a:r>
              <a:t>15,000 portfolios: the cost of computing every portfolio's vector is the sum over portfolios of their position counts × 509. The average size is not known: 130 positions per portfolio is an assumption (it roughly matches 2.3M positions each sitting in about one portfolio, and the same assumption as the companion deck): 15,000 × 130 = 1.95 million row reads, 1.95M × 2,036 B ≈ 3.97 GB of float32 rows. Sequential reads at the measured 60 GB/s give ≈ 0.07 s; scattered reads at the design's 5 GB/s effective give ≈ 0.8 s; both per currency, both estimated. Roll-ups save most of it: a HIERARCHY portfolio is a node, answered from its aggregate; a portfolio covering whole books costs one addition per book; the planner takes a node's aggregate minus the missing rows when at most max(16, covered/8) are missing (built). Sharing sub-sums across portfolios (sum each book or common sleeve once and reuse it) beyond the hierarchy aggregates is a proposal. Storing every portfolio vector: 15,000 × 509 × 8 B ≈ 61 MB a date a currency, ≈ 305 MB for five currencies, about 31 MB a currency in float32 (proposed; today only captures keep a vector). 15,000 portfolio rows are within the loader's 100,000-row read limit for a connector that cannot list a date whole.</a:t>
            </a:r>
          </a:p>
          <a:p/>
          <a:p>
            <a:r>
              <a:t>Per-trade-currency totals: each node keeps, per trade currency, the 509 scenario PV sums and today's sum (510 float64 = 4 KB). Nodes now span three trees: an assumed 5,000 MGMT and LEGAL nodes plus about 700 limit letters (≈ 5,700 nodes) × 10 trade currencies on average × 4,080 B ≈ 233 MB, independent of the position count. A headline in any currency is then a sum over the node's trade currencies of 509 multiply-adds: microseconds.</a:t>
            </a:r>
          </a:p>
          <a:p/>
          <a:p>
            <a:r>
              <a:t>Intraday per changed trade or position, in a four-level tree: its book aggregate and the nodes above it in MGMT and LEGAL (about 9 vectors, plus about 2 for its limit letter and that tree's root: ≈ 11), in USD and the 4 built currencies (≈ 55 vector additions of 509 numbers, plus the trade-currency totals): microseconds. The measured cost of a batch is dominated by the lake (its 1-second refresh in VarIntradayApiTest); with tiered memory the old row is read back from the lake by its id for an exact subtraction.</a:t>
            </a:r>
          </a:p>
          <a:p/>
          <a:p>
            <a:r>
              <a:t>Position grain: if the bank sends 2.3M positions, rows equal positions, so no trade matrix (TMAT) is needed and the vector count is bounded by positions, not trades.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10-day VaR and stressed VaR are not built yet. This slide sizes what they add for a large bank: e.g. 2.3M positions, 15,000 portfolios, about 700 limit letters (509 scenarios, five reporting currencies, 7 years). The methods are ASSUMPTIONS for the bank to confirm.</a:t>
            </a:r>
          </a:p>
          <a:p/>
          <a:p>
            <a:r>
              <a:t>10-day VaR. (a) Square-root-of-time: 10-day VaR = √10 × 1-day VaR; no extra data or memory. (b) Overlapping 10-day historical returns: each position gets a second vector of 10-day P&amp;L over the window; 509 daily scenario dates give 509 − 9 = 500 overlapping 10-day windows; sized as 509 (+1.00× the 1-day), conservative. Whether the 10-day vector is built at load from the daily vectors (exact only for linear positions) or delivered (full revaluation over 10-day moves) is for the bank to settle when they are built; sized here as delivered and stored.</a:t>
            </a:r>
          </a:p>
          <a:p/>
          <a:p>
            <a:r>
              <a:t>Stressed VaR: a second scenario set over a 12-month stress period (≈250 scenarios, e.g. 2008–09), per position per date: 250 / 509 = 0.49× the 1-day vector, with stressed ES from the same vector. Stressed 10-day: another ≈250: +0.49×. Total width: 509 + 509 + 250 + 250 = 1,518 values a position = 2.98× the 1-day.</a:t>
            </a:r>
          </a:p>
          <a:p/>
          <a:p>
            <a:r>
              <a:t>Per date (decimal GB; scale factor 2,300,000 / 100,000 = 23 on the measured 100,000-trade figures of VAR_GUIDE.md 27.3 and 15.11; none measured at 2.3M): float64 vectors 2.3M × 1,518 × 8 B = 27.93 GB (9.37 GB 1-day only); float32 rows 13.97 GB (4.68 GB); USD hot file 237.7 MB per 100k × 23 = 5.47 GB × 2.98 = 16.30 GB; heap of an open date 1.84 GB (80 MB per 100k × 23), of which aggregates 8.6 MB per 100k × 23 = 0.20 GB grow with the width: 1.84 + 0.20 × 1.98 = 2.23 GB. First open: lake read 18–70 s for 7 GB of Parquet (the guide's 10–40 s for about 4 GB) × 2.98 = 54–209 s; build 0.8–1.2 s per 100k × 23 = 18–28 s × 2.98 = 55–82 s: 2 to 5 minutes in all. Other currencies: 1-day built ahead, 250 MB per 100k × 23 = 5.75 GB a currency a date; the 10-day and stressed sets on first ask, 5.75 × 1.98 = 11.4 GB per currency asked (ASSUMPTION).</a:t>
            </a:r>
          </a:p>
          <a:p/>
          <a:p>
            <a:r>
              <a:t>Per VaR server, need before headroom (next slide): NVMe 16.30 × 60 USD dates = 978 GB + 115 + 45.6 + a load's spill and new file 44.2 GB → 1,183 GB (458 GB 1-day only); RAM 151 GB (76 GB). Lake over 7 years, base: 48.2 TB (16.1 TB), of which vectors 12.39 × 2.98 = 36.95 TB. Option (a): width 509 + 250 = 759, × 1.49; vectors 18.5 TB over 7 years.</a:t>
            </a:r>
          </a:p>
          <a:p/>
          <a:p>
            <a:r>
              <a:t>Computation: a node is its float64 aggregate per measure (0.48 ms MEASURED); a whole-bank sum of a 509-wide set reads 4.68 GB at ≈60 GB/s ≈ 78 ms, a 250-wide stressed set ≈ 38 ms; the four together ≈ 233 ms (ESTIMATED).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Capacity for a large bank: e.g. 2.3M positions, 15,000 portfolios, about 700 limit letters, with 1-day, 10-day and stressed VaR (not built yet)), as the platform stands: one server holds each date's whole VaR. Labels: MEASURED (a Drishti measurement), ESTIMATED (arithmetic on measured figures), ASSUMPTION (for the bank to confirm). Every process shown is built, so none carries a status label; clustering several servers as one and VaR sharding are built.</a:t>
            </a:r>
          </a:p>
          <a:p/>
          <a:p>
            <a:r>
              <a:t>HEADROOM (39%): the projected peak may use at most 61% of the provisioned capacity, so provisioned = need ÷ 0.61 ≈ need × 1.64, applied to RAM, heap, NVMe, CPU and the lake. If a bank means need × 1.39 instead, every provisioned figure is about 15% less: RAM 210 GB (still a 256 GB machine), heap 30g, budget 19.4 GB, NVMe 1.64 TB (one 1.9 TB disk), 48 vCPU, lake 67 TB (134 TB with a DR copy).</a:t>
            </a:r>
          </a:p>
          <a:p/>
          <a:p>
            <a:r>
              <a:t>PROCESSES (built; VAR_GUIDE.md 19, 8.4, 28; NET.md 8; LIVE.md). Every VaR server holds whole dates and is sized for all 2.3M positions and all four sets; the four are the same machine so any can take any role. Official EOD: DRISHTI_VAR_OFFICIAL true on it only. Intraday writer: the pv-updates connector (DRISHTI_VAR_PV_STREAM=true) on one node only; every loaded server applies its batches from the lake. UI/API replicas: 2, so one can fail. Consoles: 2 hosts, 4 workers each, sticky sessions and one DRISHTI_SESSION_SECRET; several consoles without sticky sessions is part of the designed multi-instance work.</a:t>
            </a:r>
          </a:p>
          <a:p/>
          <a:p>
            <a:r>
              <a:t>CPU (ESTIMATED): need 32 vCPU (24 threads reached ≈60 GB/s in the measurement; plus 8 for a concurrent load, currency builds, intraday and requests, ASSUMPTION); 32 ÷ 0.61 = 52.5 → 64. Large (2× positions): 48 → 79 → 96.</a:t>
            </a:r>
          </a:p>
          <a:p/>
          <a:p>
            <a:r>
              <a:t>CONSOLES: one worker ≈ 40 pages/s (MEASURED, SCALE_BENCHMARK.md section 8). ASSUMPTION: 200 named users, 50 at once, a page every 10 s, peaks 5× the mean: 25 pages/s; ÷ 0.61 = 41 pages/s against one host's 160; the second host is for failover.</a:t>
            </a:r>
          </a:p>
          <a:p/>
          <a:p>
            <a:r>
              <a:t>MEMORY per VaR server (ESTIMATED). Heap, live: two USD dates with all four sets 2 × 2.23 = 4.46 GB + two other-currency 1-day books 2 × 1.84 = 3.68 (ASSUMPTION) + a load's sort and columns 2 + the rest of the server 4 (ASSUMPTION) = 14.14 GB; × 1.5 for generational ZGC = 21.2 GB need; ÷ 0.61 = 34.8 → -Xmx36g (1-day only: 20.0 GB). Memory budget (drishti.var.memory-budget-mb, the float32 copy of one date): need 13.97 GB = 13,966 MB → 14,000 MB (corrected 2026-10-30 from 14,300, which took 13.97 as GiB); ÷ 0.61 → 23,000 MB; the default at -Xmx36g would be 9 GB and refuse the date (503 DRS-5204). Page cache: two USD dates 2 × 16.30 = 32.6 GB + four 1-day currency books 23 GB + two currencies' 10-day and stressed books 2 × 11.4 = 22.8 GB (ASSUMPTION) = 78.4 GB (1-day 33.9). A load: spill 27.93 + new hot file 16.30 = 44.2 GB transient (14.8). OS and native 7 GB. Need 21.2 + 78.4 + 44.2 + 7 = 150.9 GB (1-day 75.8); ÷ 0.61 = 247 → 256 GB; the provisioned bar shows the provisioned heap (36), the same cache and load, and 91 GB of headroom. Local NVMe: 1,183 GB ÷ 0.61 = 1,939 GB → 2 × 1.9 TB = 3.8 TB.</a:t>
            </a:r>
          </a:p>
          <a:p/>
          <a:p>
            <a:r>
              <a:t>LARGE (2× positions, 4.6M, all four sets): heap 36.4 → 60g; RAM 291 → 477 → 512 GB; budget 27.9 GB ÷ 0.61 → 46,000 MB; NVMe 2,366 GB → 3.88 TB → 5.7 TB. Exposure is not sized here.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Storage over 7 years for a large bank: e.g. 2.3M positions, 15,000 portfolios, about 700 limit letters, with 1-day, 10-day and stressed VaR (method (b), conservative), beside the 1-day-only figures (VAR_GUIDE.md 15.1 and LAKE_MAINTENANCE.md: the risk and risk-results domains keep 7 years of business dates and of time travel). 7 × 252 = 1,764 dates. Decimal units. The multiplier 2.98 = 1,518 / 509.</a:t>
            </a:r>
          </a:p>
          <a:p/>
          <a:p>
            <a:r>
              <a:t>P&amp;L vectors (ESTIMATED): 2.3M × 1,518 × 8 B = 27.93 GB a date; × 0.75 (Parquet, the design's estimate) = 20.95 GB; × 1,764 = 36.95 TB (1-day only 12.39 TB). Option (a), √10 scaling: 18.5 TB. Row columns (ASSUMPTION): about 100 B a row of dictionary-encoded terms, each set its own rows: 0.41 × 4 = 1.62 TB. Scenario PVs as well (ASSUMPTION, upper case): +37.0 TB. Trades (ESTIMATED, only if Drishti's trading pack holds them): 1.5 KB a trade a day (SCALE_BENCHMARK.md 8, MEASURED), trades ≈ positions: 6.09 TB. Positions: the official membership record MEASURED at 40.8 B a trade on the demo: 0.17 TB.</a:t>
            </a:r>
          </a:p>
          <a:p/>
          <a:p>
            <a:r>
              <a:t>Official results (ESTIMATED from MEASURED demo files): 27,527 B a node capture + 352 B record + 321 B published row + about 1 KB JSONL ≈ 29.2 KB a node; 5,700 nodes (ASSUMPTION: 5,000 MGMT and LEGAL + 700 limit letters) × 1,764 = 0.29 TB; × 2.98 for the new measures (ASSUMPTION) = 0.88 TB.</a:t>
            </a:r>
          </a:p>
          <a:p/>
          <a:p>
            <a:r>
              <a:t>Intraday (ASSUMPTION): 230,000 positions changed a day (10%), each re-sent with all four sets: 1,518 × 8 B × 0.75 = 9.1 KB a row, 2.09 GB a day; × 1,764 × 2 (compaction rewrites the small files; the removed ones are kept 7 years) = 7.39 TB (2.48 TB 1-day). Restatements (ASSUMPTION): 2% of dates rerun in full: 0.74 TB. Delta checkpoints (ESTIMATED): one a day 0.14 TB × 2.98 = 0.42 TB; one every 10 commits at 120 commits a day 4.9 TB (upper case). Iceberg metadata, if Iceberg is chosen: ≈ 12 GB; the metadata file reaches ≈ 0.2 GB by year 7. Scenario FX: under 1 GB.</a:t>
            </a:r>
          </a:p>
          <a:p/>
          <a:p>
            <a:r>
              <a:t>Totals. Need, base: 36.95 + 1.62 + 7.39 + 0.88 + 0.17 + 0.74 + 0.42 = 48.2 TB (1-day 16.1). Provisioned with 39% headroom: ÷ 0.61 = 79 TB (1-day 26.4); with a DR copy 158 TB. Need, upper: base + PVs 36.95 + trades 6.09 + frequent checkpoints 4.5 = 95.7 TB; ÷ 0.61 = 157 TB; with DR 314 TB.</a:t>
            </a:r>
          </a:p>
          <a:p/>
          <a:p>
            <a:r>
              <a:t>Local NVMe per VaR server (ESTIMATED): USD hot files 16.30 GB × tier.disk-dates 60 = 978 GB; four 1-day currency books 23 GB × 5 retained dates = 115 GB; the 10-day and stressed books of four currencies asked on today 45.6 GB (ASSUMPTION); a load 44.2 GB: 1,183 GB need; ÷ 0.61 = 1,939 GB → 2 × 1.9 TB. Rebuilt from the lake, so local NVMe, not EFS.</a:t>
            </a:r>
          </a:p>
          <a:p/>
          <a:p>
            <a:r>
              <a:t>250-day window (drishti.var.scenario-window 250, built): rows cut to the newest 250 at load: 1,000 / 1,518 = 0.66 of everything per date: float32 9.2 GB, NVMe ≈ 780 GB. The lake keeps what the bank sends: 24.3 TB of vectors only if it sends 250-day sets.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Capacity for a sharded cluster (VAR_SHARDING.md; VAR_GUIDE.md section 28; CONFIGURATION.md, drishti.var.sharding.*). The model and constants are the single-server capacity slides' (aws_calc: 2.3M positions, 1,518 values a position, × 23 from the measured 100,000-trade figures of VAR_GUIDE.md 27.3 and 15.11).</a:t>
            </a:r>
          </a:p>
          <a:p/>
          <a:p>
            <a:r>
              <a:t>Owners: 6, replicas 2, so each holds 2/6 = 1/3 of the divided parts: page cache 78.4 × 1/3 = 26.1 GB; a load's spill and new hot file 44.2 × 1/3 = 14.7 GB; NVMe 1,183 × 1/3 = 394 GB (÷ 0.61 = about 650 GB provisioned). The heap is not divided: every member keeps the date's skeleton (ids, columns, book and node aggregates) for all 2.3M positions, so it can answer any scope: 21.2 GB (two dates open with all four sets, two other-currency books, a load's sort, the server, × 1.5 for the collector); ÷ 0.61 = 34.8, so -Xmx36g like the single server. RAM need 21.2 + 26.1 + 14.7 + 7 = 69 GB; ÷ 0.61 = 113: a 128 GB server with the deck's 39% headroom (96 GB for 1-day only).</a:t>
            </a:r>
          </a:p>
          <a:p/>
          <a:p>
            <a:r>
              <a:t>Coordinators: drishti.var.sharding.coordinator-only true; they put dates together from the owners' skeletons and add the partials: the skeleton heap without the rows (16-20 GB), 32 GB RAM, 8 vCPU (ASSUMPTION). Consoles: 2 hosts, 4 workers each (ASSUMPTION).</a:t>
            </a:r>
          </a:p>
          <a:p/>
          <a:p>
            <a:r>
              <a:t>Smaller options. 1-day only: 4 owners, each 2/4 of the 1-day cache and load (17.0 + 7.4 GB), heap (2 × 1.84 + 2 + 4) × 1.5 = 14.5 → 16 GB, OS 7: 47.4 GB; ÷ 0.61 → 96 GB, -Xmx24g. Minimum start: 3 owners with 2 replicas each hold 2/3: 21.2 + (78.4 + 44.2) × 2/3 + 7 = 110 GB; ÷ 0.61 → 192 GB; with replicas 1 each holds a third (69 GB, 128 GB machines), and a lost owner's scopes answer 503 until another owner builds its shards from the lake.</a:t>
            </a:r>
          </a:p>
          <a:p/>
          <a:p>
            <a:r>
              <a:t>Status: VaR sharding is built (off by default); 10-day and stressed VaR are not built yet (PLANNED). Every figure is ESTIMATED from the measured 100K benchmark, not measured at 2.3M; the next steps are the 200K benchmark and a 2.3M load on one real server.</a:t>
            </a:r>
          </a:p>
          <a:p/>
          <a:p>
            <a:r>
              <a:t>Corrected 2026-10-30: the owners' RAM, heap and NVMe now take the deck's 39% headroom (need ÷ 0.61), as the single server and the Fargate shards do; before, they were sized at need. Derivations: the appendix.</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arithmetic, all from the single-server model (aws_calc). One server: heap 21.2 + page cache 78.4 + a load 44.2 + OS 7 = 150.9 GB, 32 vCPU, NVMe 1,183 GB (the processes-and-memory and hardware slides). Six owners with two replicas each hold 1/3 of what can be divided: page cache 26.1 GB, load 14.7 GB, NVMe 394 GB. The heap is not divided (VAR_SHARDING.md section 13: every member holds the date's skeleton, ids, columns, positions, books and nodes with their aggregates, 0.8 KB a trade against 2 KB of rows), so each owner keeps 21.2 GB. An owner: 69.1 GB.</a:t>
            </a:r>
          </a:p>
          <a:p/>
          <a:p>
            <a:r>
              <a:t>Portfolios: 15,000 × 130 positions (assumed) = 1.95M position ids, about 31 MB; a portfolio's VaR is the sum of its rows, summed shard by shard by one ready owner each and added in shard order on the coordinator; the nightly official run over 15,000 portfolios spreads over six owners: expect minutes (ESTIMATED; the benchmark will tell).</a:t>
            </a:r>
          </a:p>
          <a:p/>
          <a:p>
            <a:r>
              <a:t>Failure: replicas 2 put each shard on two members (zones when configured); with one stopped its replica answers; with both stopped a scope that needs the shard answers 503 DRS-5215 and the bank's node still answers its aggregate (VAR_SHARDING.md 12).</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Measured (MEASURED): SCALE_STRATEGY.md section 4.4, round 3 on the extreme lake (1.16M trades a day, -Xmx8g, 24 cores; each user loops 60 s over 80% single trades, 10% counterparty-trades pages, 5% netting sets, 5% searches): 133 / 141 / 122 req/s at 10 / 50 / 100 users, 0 failures; single trade p50/p95 0.03/0.08 s at 10 users, 0.18/1.0 s at 50; beyond about 140 req/s latency grows by queueing, no failures. Section 12, the phase 1 integration test: 50 users, server 146 req/s, console 69 req/s, 0 failures; console search under load about 4 s at 50 users (open item). VAR_GUIDE.md 27.2 (one user at a time): a node under 1 ms from its aggregate; the bank minus a desk 2.6 ms; an ad-hoc 50,000-position scope 52 ms; the whole bank summed from 1M trades 58 ms (about 70 GB/s on 24 threads).</a:t>
            </a:r>
          </a:p>
          <a:p/>
          <a:p>
            <a:r>
              <a:t>Estimated (ESTIMATED) for 6 owners + 2 coordinators + 2 consoles: servers 140 req/s scaled by cores, about 93 for a 16-vCPU and 47 for an 8-vCPU member (× 16/24, × 8/24), 6 × 93 + 2 × 47 ≈ 653, about 650 peak; half kept free, about 330 sustained. VaR: node and hierarchy answers come from totals (thousands a second); a whole-bank ad-hoc filter is bound by memory bandwidth: about 4.7 GB of float32 rows for a 1-day query, split over the owners, so about 10-25 a second across the cluster; the last 512 answers are cached. Consoles: 69 measured a console, so 2 give about 100-140 page loads a second. Users: the consoles bind first: 138 req/s ÷ 0.3-0.5 req/s a busy person (a page every 10 s, 3-5 API calls) = 280-460, so about 300-500 active people; 10-20% active at once gives 1,500-5,000 named users (300 ÷ 0.2 to 500 ÷ 0.1). Corrected 2026-10-30: peak 600 → 650 and sustained 300 → 330 req/s (the arithmetic gives 653), named users 2,000-4,000 → 1,500-5,000 (the range the ratios give).</a:t>
            </a:r>
          </a:p>
          <a:p/>
          <a:p>
            <a:r>
              <a:t>What limits it first: the consoles (add more; live tabs need sticky sessions at the load balancer, LIVE.md; 4 handle about double), many whole-bank filters at once (the morning risk meeting), and live tabs and streams (each open live view holds a connection; part of the soak-proofing work).</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Built (unlabelled) and proposed. Sources: VAR_GUIDE.md section 15.1 (partitioned by business_date only; 7-year log and file retention, time travel; 'Design differs': the partition by scenario set and 512 MB files are a design; the sort by legal entity and desk with BYTE_STREAM_SPLIT and ZSTD is built in the parallel Java loader, PARALLEL_LOADER.md; open question 7), section 29 (the vector grain, the four layouts compared: list&lt;double&gt; chosen; a fixed-length binary blob rejected for interoperability; deletion vectors avoided; the append-only daily snapshot), section 29.3 (the Iceberg plugin implements SourcePlugin.vectors() as the Delta one does, so VaR, intraday and exposure read an Iceberg risk lake, equal to Delta to the cent: VarFormatEqualityTest, ExposureFormatEqualityTest), section 30 (cubes and rule-portfolio vectors designed, kept in memory; the overnight precomputation not built), section 19 ('No vectors and no trade or position rows are published'; the official tables go to Delta or Iceberg under a folder or an s3:// root, each Delta commit on S3 an exclusive create, OfficialS3Test), section 28 (sharding, built: a shard map by legal entity and desk ranges with two owners each, POST /api/v1/var/partial, partial float64 vectors added in a fixed order), section 20.3 (only the first 100,000 hierarchy nodes or portfolios are read from a connector that cannot list a date whole), section 8.4 (intraday appends); LAKE_MAINTENANCE.md (compaction, checkpoint, vacuum; never below 7 years for risk domains); DELTA_CONNECTOR.md (file statistics kept on the id, the date and promoted columns via delta.dataSkippingStatsColumns; OPTIMIZE ZORDER or liquid clustering mentioned only as a Databricks option); the AWS deck and AWS_DELTA_LAKE.md (reading Delta in S3 built; lake publish built; AWS scripts dry-run tested, first real run pending); NET.md (Drishti*net: gossip membership, capability digest, replicas and shards for entity reads, view and data forwarding, the console's backend.urls with discovery and failover, one token secret across nodes); LIVE.md and IMPLEMENTATION_PLAN.md known gaps (the workers of one console relay a channel's calls to the worker that holds it; several console processes behind a load balancer need sticky sessions); CONFIGURATION.md (DRISHTI_SESSION_SECRET).</a:t>
            </a:r>
          </a:p>
          <a:p/>
          <a:p>
            <a:r>
              <a:t>What is built for scale-out today: several servers form one cluster; each server that reads the risk lake loads whole dates and answers VaR on its own (a console session stays on one server, falls over to another, and returns); several consoles can share the servers with one session secret and sticky sessions at the load balancer.</a:t>
            </a:r>
          </a:p>
          <a:p/>
          <a:p>
            <a:r>
              <a:t>Built: VaR sharding. Each member maps only its ranges of position rows (a desk never split, two owners each), and a sum over the bank is a scatter-gather: the coordinator sends each owner its part of the set and adds the partial vectors (509 doubles, 4 KB each). Because vectors add, this is map-reduce over vectors, exact in any order in float64. The hot file already keeps rows contiguous by legal entity and desk, so a shard is a byte range.</a:t>
            </a:r>
          </a:p>
          <a:p/>
          <a:p>
            <a:r>
              <a:t>Proposed by this deck (not in the docs): Z-order or liquid clustering by book and portfolio; a published Delta table of node and portfolio vectors per currency (BI and other servers read sums instead of 2.3M rows); the change data feed on the input tables for downstream followers; one designated node computing the official end-of-day records (drishti.var.official.enabled true there, DRISHTI_VAR_OFFICIAL=false elsewhere) while read replicas serve the UI.</a:t>
            </a:r>
          </a:p>
          <a:p/>
          <a:p>
            <a:r>
              <a:t>The gap list in full: (1) the 200K-position benchmark (single server against a three-node sharded cluster), then a 2.3M load on a real server, including a cold first touch of a history date; (2) clustering the lake by book and portfolio (Z-order or liquid clustering; the parallel loader already sorts by legal entity and desk with BYTE_STREAM_SPLIT + ZSTD); (3) a batch that builds every portfolio vector (the designed overnight precomputation), 15,000 portfolios are within the 100,000-row read limit; size max-parts (5,000) for contribution tables; (4) several consoles without sticky sessions; (5) the Glue and S3 Tables runs on a real AWS account (the code is built; not yet run: no AWS account). Position grain and Kafka micro-batching, Iceberg for VaR and exposure inputs, official results to Iceberg and S3, VaR sharding and the sorted parallel loader are built and no longer gaps.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ICEBERG_CONNECTOR.md section 7 (how the connector reads: a snapshot's data files planned once from the manifests and grouped by business date, kept per snapshot), section 9 (retention and maintenance: snapshot expiry), section 17 (engines: native and library); DRISHTI_ICEBERG.md (the native engine: Parquet by field id, schema evolution, deletes, time travel); AWS_DELTA_LAKE.md and DELTA_CONNECTOR.md (the Delta log, checkpoints, lake maintain, statistics); VAR_GUIDE.md sections 26-27 (the hot file; a node's VaR in 0.48 ms measured; the whole bank from its float32 rows at about 60 GB/s, so about 80 ms for 4.68 GB at 2.3M positions, estimated). The comparison rows, the 0.2 GB metadata estimate and the release plan are the product owner's. Built (CHANGELOG, Iceberg; ICEBERG_CONNECTOR.md section 18): the Iceberg connector answers as the Delta one on the same rows (vector columns read in bulk, documents of a date in one pass, disk caches); VaR, intraday (files and Kafka, one Iceberg append a window) and exposure read an Iceberg risk lake; official results go to Delta or Iceberg under a folder or s3://, and BI's readers follow the format. VarFormatEqualityTest and ExposureFormatEqualityTest prove Delta = Iceberg to the cent (USD and EUR); on the demo data VAR BANK is USD 112,041,646 in both. A real run on the demo data moved 14 risk tables (955,124 rows) into Iceberg in 579 s (MEASURED, demo). Not built yet: the 200K benchmark on both formats, Delta↔Iceberg conversion, Delta in-place schema evolution, and the Glue and S3 Tables runs.</a:t>
            </a:r>
          </a:p>
          <a:p/>
          <a:p>
            <a:r>
              <a:t>Talk track: the format never touches an answer. VaR, ES, contributions and paths come from the date's memory-mapped hot file, built once when the date loads; after that Delta and Iceberg are equally fast because neither is read. The format matters in four places. First load: about the same; both are Parquet read by Drishti's own engines, Iceberg planning from its manifests, Delta replaying its log from the last checkpoint. Intraday: with Kafka micro-batches every 5 minutes a date sees about 120 commits; Delta appends a small JSON log entry per commit and checkpoints, while Iceberg writes a new metadata file per commit, and with 7 years of snapshots kept that file grows (about 0.2 GB by year 7, estimated), so Iceberg needs snapshot expiry and metadata management. History: Iceberg jumps to a snapshot, Delta rebuilds a version from its log and checkpoints, so Iceberg is slightly ahead for heavy time travel and restatements. Other engines: Iceberg has the broader multi-engine support (Athena, Trino, Snowflake, Spark); Delta is strongest with Spark and Databricks. Correctness is identical, proven by the equality tests to the cent.</a:t>
            </a:r>
          </a:p>
          <a:p/>
          <a:p>
            <a:r>
              <a:t>Recommendation: Delta is the default, especially with Kafka intraday; choose Iceberg where the bank's data platform standardises on it, or where heavy time travel and multi-engine access matter more. Switching is configuration. Nothing here has been measured at 2.3M positions yet: the 200K benchmark will run on both formats.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IMPLEMENTATION_PLAN.md, section 'Iceberg as a full production alternative to Delta': above the storage plugins Drishti is identical for both (packs, data contracts, connector names, engines, BI, UI, Drishti*net); Iceberg parity adds SourcePlugin.vectors() and the other Delta-only methods to the Iceberg plugin (VaR and exposure load from Iceberg exactly as from Delta), official VaR and exposure results published to Iceberg as well as Delta and to s3:// roots in either format, Iceberg versions of the deploy/aws scripts, the AWS Glue catalog, Iceberg in Admin → Lakes, disk caches, and lake build --format iceberg. VAR_GUIDE.md section 19 (official results published append-only, JSONL beside them), section 15.1 and LAKE_MAINTENANCE.md (never vacuums the risk domains below 7 years), section 12 (tier.dir: hot files on fast local disk); the AWS deck (reading Delta in S3 built; the AWS scripts dry-run tested, first real run pending). The Iceberg connector for other data is drishti-iceberg (Iceberg without Hadoop).</a:t>
            </a:r>
          </a:p>
          <a:p/>
          <a:p>
            <a:r>
              <a:t>As built (CHANGELOG, Iceberg; ICEBERG_CONNECTOR.md sections 18-19; AWS_DEPLOYMENT.md section 22): every item above is built and tested except the live AWS runs. VarFormatEqualityTest and ExposureFormatEqualityTest write the same lines to Delta and to Iceberg and get VaR, ES, component and incremental VaR, limit letters, intraday, EE, PFE and EPE equal to the cent in USD and EUR; on the demo data VAR BANK is USD 112,041,646 on both. Official results: drishti.var.official.format and drishti.ccr.exposure.official.format (delta, the default, or iceberg) with .storage (s3.*); on S3 a Delta commit is an exclusive create (conditional PUT), so two servers publishing at once both land (OfficialSinkTest, OfficialS3Test); BI's readers follow the format by themselves (OfficialReadersTest). Glue (GlueLiveTest via check-glue.sh) and S3 Tables (check-glue.sh --s3-tables) are written but NOT YET RUN: no AWS account; the product owner's run is planned.</a:t>
            </a:r>
          </a:p>
          <a:p/>
          <a:p>
            <a:r>
              <a:t>The companion deck Drishti on AWS (the lake, Delta or Iceberg; docs/publications) covers the AWS architecture in detail; this deck's appendix has the AWS deployment and cost estimate.</a:t>
            </a:r>
          </a:p>
          <a:p/>
          <a:p>
            <a:r>
              <a:t>Talk track: VaR runs on Delta or Iceberg, on premises or on AWS; official results go to a local, EFS or s3:// root in either format. Above the storage plugins it is one product, so deployment option A can be built on Iceberg as fully as on Delta.</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VAR_GUIDE.md section 15.8 (cadence: once per business date after the close; the sequence: scenario set, vectors, hierarchy and portfolios, then POST /api/v1/packs/market-risk/loads; a ready load drops the date and captures it officially in the background; at start the server captures the newest date without a record; at most hot-dates (2) stay loaded), section 20.3 (what the load checks), section 15.11 (currencies built ahead in the background), section 19 (official end-of-day captures of every node; published append-only with JSONL beside; publishError recorded when a publish fails), section 8.4 (intraday: the official records are the morning run's), 'Intraday updates from Kafka, as built' (GET /api/v1/var/intraday/streams; POST …/apply and the connector's Apply now button), section 11.4 (GET /status fields), section 11.2 (provenance), section 9 (Admin → Audit), section 3.2 (limit bars), section 7 (the backtest light).</a:t>
            </a:r>
          </a:p>
          <a:p/>
          <a:p>
            <a:r>
              <a:t>Not built and open: the batch's due time is 'to be agreed' (open question 4); completeness of the batch against the trades booked is not checked (planned, section 20.3).</a:t>
            </a:r>
          </a:p>
          <a:p/>
          <a:p>
            <a:r>
              <a:t>Talk track: the day starts with the full run of the business date, priced after the close. The load signal makes the engine load the date and take the official record of every node, which is published for BI and other systems. During the day only changed trades arrive and are applied on top; the official record is never restated by intraday updates. A restatement is a new full run of the date, which produces the next result version (next slide).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VAR_GUIDE.md section 11.2 (provenance: inputs, batchIds, positionRules, membershipHash, engine), section 4 and 15.6 (each official capture records the membership and the rules' text and digest), section 19 (append-only official records, result versions, 7 years, 'each can be recomputed from its inputs (the same vectors, the same engine version) at any later date'), section 15.1 and LAKE_MAINTENANCE.md (7 years of time travel), section 26.6 (a node's figures are the lake's to the bit; any other scope within 2^-24 of the gross P&amp;L), section 18.3 (components add up to VaR exactly), sections 7 and 18.4 (backtesting: exception = a loss larger than the VaR tested against; official mode and replay mode; the FX desk replayed: 3 exceptions in 249 days, green, Kupiec p 0.753, Christoffersen p 0.786; the bank replayed: 5 exceptions, amber, Kupiec p 0.160, Christoffersen p 0.076; HYPO_PNL is the node's P&amp;L under the newest scenario day, and a bank delivering its own hypothetical P&amp;L table replaces it, planned; short histories scale the light's limits), section 12 (the backtest stays at 99% whatever the configured VaR confidence), section 18.4 (not built: ES backtests).</a:t>
            </a:r>
          </a:p>
          <a:p/>
          <a:p>
            <a:r>
              <a:t>What the backtesting lines mean: Basel traffic light: breaches in 250 days at 99%: 0–4 green, 5–9 amber, 10+ red. Kupiec test (Paul Kupiec, 1995): is the number of VaR breaches (losses bigger than VaR) consistent with 99%, about 2–3 in 250 days? Christoffersen test (Peter Christoffersen, 1998): do breaches cluster together, a sign the model reacts too slowly when markets turn? Both are standard statistical tests named after the researchers who published them. Drishti reports their p-values.</a:t>
            </a:r>
          </a:p>
          <a:p/>
          <a:p>
            <a:r>
              <a:t>The demo figures are from Drishti's synthetic test data.</a:t>
            </a:r>
          </a:p>
          <a:p/>
          <a:p>
            <a:r>
              <a:t>Talk track: model risk asks two questions: can you reproduce the number, and does the model work? For the first, every answer carries what it was built from, and the official records are append-only and kept seven years. For the second, every node with an official history is backtested each day against the Basel traffic light at 99%, with the Kupiec and Christoffersen tests.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VAR_GUIDE.md section 15.12 (tools/pvgen/check.py: recomputes from the files what the engine should show and compares the bank's and every desk's VaR and ES with GET /api/v1/var/scope; exit 1 on a difference); section 18.3 (component VaR and component ES add up exactly); section 9 (entitlements: drishti.var.access per role and node, positions or aggregate; a scope is computed over the trades the viewer may see and the rest counted as hidden; masks; answers cached per date, data version, view and scope; tokens need risk:write for baskets and captures; reloads and official captures for administrators only; every headline, capture, basket change, reload and official run is an audit entry; official numbers kept 7 years; the per-node levels are kept in Drishti, not read from the bank's entitlement system, decided), section 12 (settings in application.yaml; GET /api/v1/var/status shows the effective values), section 15.13 (the pins are read at start: a change applies after a restart, from the next date loaded).</a:t>
            </a:r>
          </a:p>
          <a:p/>
          <a:p>
            <a:r>
              <a:t>The checker is part of the stand-in pricing system (tools/pvgen); at a bank an equivalent independent job would recompute from the files its systems send. That use, and the change-control practice, are this deck's recommendations (PROPOSED).</a:t>
            </a:r>
          </a:p>
          <a:p/>
          <a:p>
            <a:r>
              <a:t>Talk track: four controls a model risk function will ask for: an independent recomputation from the very files delivered; entitlements that never leak a position to someone entitled to aggregates only; a complete audit trail; and change control, where every method setting is configuration, visible in the status, and every answer is labelled with the settings it was computed with.</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docs/architecture/EDITIONS.md (the design as built: sections 1-8, 12, 13) and docs/admin/EDITIONS_GUIDE.md (how to run one).</a:t>
            </a:r>
          </a:p>
          <a:p/>
          <a:p>
            <a:r>
              <a:t>An edition is a named bundle of settings in config/editions/&lt;name&gt;.yaml: the packs (allow-only refuses others, DRS-1017), the commands and console words people may use (hidden ones answer 404 DRS-4023; the engines still read every kind), the menus and footer, the features, BI reduced to the edition's datasets and models, Home's sections and landings, help and Knowledge, the Admin pages and the branding. Set drishti.edition (DRISHTI_EDITION) on every server and restart; the console learns it from the server's about answer. The site's configuration wins key by key, so a bank adjusts one item without forking the file.</a:t>
            </a:r>
          </a:p>
          <a:p/>
          <a:p>
            <a:r>
              <a:t>A lens is the same file opened by one person on a full instance: drishti.lenses (DRISHTI_LENSES: risk,world,market) offers Open Drishti Risk in Views and on Home; the person's lens is kept in their settings and sent to the server on each call (X-Drishti-Lens), so the command line, FUNC, the type-ahead and BI follow it. Leave … clears it; Switch to … opens another in one step. A lens hides; it does not secure: data access stays with roles, entitlements and masks.</a:t>
            </a:r>
          </a:p>
          <a:p/>
          <a:p>
            <a:r>
              <a:t>Landings: Risk desk (default), command and map; Market desk, explorer and quality; World desk, explorer and map. This chapter takes them in that order: Drishti Risk, then Drishti Market (the market data that feeds VaR), then Drishti World (the macro context for risk). home.landing-by-role {role: landing} is read and wins over a person's choice when configured: the hook for role-based access later; lens.roles is documented, not wired (PLANNED).</a:t>
            </a:r>
          </a:p>
          <a:p/>
          <a:p>
            <a:r>
              <a:t>Drishti Risk's commands: VaR (VAR, VRES, VWIF, VOFF, VLIM, HIER, PORT, POS, PNLV, SPV, FXS, SSET), exposure (EXP, XRUN, XPATH, XWIF, XOFC, AGR, CSA, NSET, LIM, COLL, MC), the derived totals NSMTM and CPMTM, reference data and trades; stress (STR, SCN, SSPNL) is left out by the product owner's decision.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Drishti Risk's Home (EDITIONS.md section 7). The product owner chose all three mock-ups: A desk (headline tiles: VaR and ES of BANK, the backtest, exposure EPE and peak PFE, limits in breach, counterparties and netting sets; VaR by desk with limit use; exposure by counterparty against its credit limit; quick cards), the default; B command (a big command line, the edition's command chips, a status strip, the person's VaR baskets, their monitors, links to learn); C map (the hierarchy with VaR and limit use per node and a switch between the hierarchies the engine holds, a limit-use heat map, a Today feed of intraday batches, official records and breaches). One template, home/risk_landing.html; every figure is the engines' own answer.</a:t>
            </a:r>
          </a:p>
          <a:p/>
          <a:p>
            <a:r>
              <a:t>The pictures were taken from the console of the browser tests (test_edition_browser.py) with its stand-in server: the bank's VaR 112,041,646 and ES 160,143,809 (VAR_GUIDE.md 2.2) and EPE 947.20m (COMPUTED_ATTRIBUTES.md 13.3) are the demo's; the desk and counterparty rows, the backtest and the counts are the test's stand-ins.</a:t>
            </a:r>
          </a:p>
          <a:p/>
          <a:p>
            <a:r>
              <a:t>Not served yet (left out): exposure per node of a VaR hierarchy, credit-limit use per desk, recent commands, the time of an official capture.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EDITIONS.md section 13 and EDITIONS_GUIDE.md section 11. Drishti Market (edition market, config/editions/market.yaml) is the bank's own market data: the curves, surfaces and fixings that feed risk and valuations. Packs: market-data and core (market-data extends it: issuers and holiday calendars), allow-only; trading, counterparty-risk, market-risk, the public-data packs and the example packs are refused (DRS-1017). Commands: the pack's 22 (CRV, REPO, IRV, CPV, FIX, INF, INFC; FX, FXF, FXV; CDS, BND; EQ, EQX, DIV, EQV, CMD, CMDC, CMDV; CORR, CORRC, EQB) and the words BI, FORM, FUNC, WHAT, DATAMAP; VAR, EXP and every risk and trade command are hidden (404 DRS-4023). BI: the market-data datasets and model (the pack ships none yet, so BI offers its themes only). Nothing in the engines changed.</a:t>
            </a:r>
          </a:p>
          <a:p/>
          <a:p>
            <a:r>
              <a:t>Framing for VaR users: Drishti never reprices; the pricing systems send scenario PVs or P&amp;L, built from the bank's market data. Drishti Market shows that market data and its quality checks (next slide), so a risk manager can see whether the inputs behind a VaR move were sound. Lenses: drishti.lenses risk,world,market (EDITIONS_GUIDE.md section 5); a lens hides, it does not secure.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EDITIONS.md section 13, 'C quality, Quality': the checks the data supports today, by severity, worst first, each item opening its command. 1 Stale (warning): a document's AS_OF (curves and repo curves), or the date its source holds it for, older than the business date by more than quality.stale-days business days (2; weekends and the server's holidays skipped); curves and surfaces one by one, every other kind by its latest load. 2 Gaps (warning): a curve missing a tenor every other curve of its type has (IR curves by CURVE_TYPE; repo, credit, FX forward and inflation curves by kind; a type of three or more). 3 Discount factors and forwards: a discount factor that does not fall with maturity or is outside (0, 1] (critical); a negative forward rate in FORWARDS (warning). 4 Vol surfaces (critical): a vol at or below zero (risk reversals and butterflies may be negative), and ATM total variance falling with expiry on the FX and equity surfaces (the commodity, cap and swaption grids have a different underlying per row, so calendar spreads are not checked there).</a:t>
            </a:r>
          </a:p>
          <a:p/>
          <a:p>
            <a:r>
              <a:t>Not built (PLANNED, IMPLEMENTATION_PLAN.md): the Impact card (who uses each flagged point, VaR at stake), jumps over n σ as a quality check, and two sources disagreeing. The mock-up's 'VaR at stake' tile is not built: the landing shows the note 'Impact on VaR and valuations comes in a later release' instead. On the committed demo data every check is clean.</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EDITIONS.md section 13, 'Its Home: three landings'. Drawn in the terminal look with a violet accent. The figures are worked out in the console by core/market_landing.py from the pack's own answers (search, raw documents, the business date and one field's history), with the person's identity, lens and date box, read-only and cached for two minutes per person, served by /api/home/market/desk, /moves and /quality (404 DRS-4023 unless the person's edition or lens shows CRV).</a:t>
            </a:r>
          </a:p>
          <a:p/>
          <a:p>
            <a:r>
              <a:t>A Market desk: tiles USD OIS 10Y (CRV-USD-OIS TEN_Y), USD 2s10s (CRV-USD-PROJ SLOPE_2S_10S), EUR/USD 1M ATM vol (FXV-EURUSD ATM_1M), CDS 5Y median (every credit curve's SPREAD_5Y) and Data exceptions (opening C). A change is shown only when the history holds real data for the latest day and the business day before it. USD curves: OIS today against five business days before (dashed) and projection. Biggest moves: each curve's TEN_Y, credit curve's SPREAD_5Y, FX spot's MID, commodity's FRONT and index's LEVEL over 21 business days, the latest move in standard deviations of the item's own daily moves when ten or more are held (a jump at 3σ or more). B Explorer: command line, chips, counts by asset class, the commands grouped by asset class, recently opened, Knowledge, Data map and Learn. C Quality: the previous slide.</a:t>
            </a:r>
          </a:p>
          <a:p/>
          <a:p>
            <a:r>
              <a:t>Pictures: the console of test_edition_market_browser.py with its stand-in server (seeded stale, gap, discount-factor, forward and surface problems). The Quality picture is the built landing: its Impact tile carries the 'later release' note, not the mock-up's VaR at stake.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EDITIONS.md section 12 and EDITIONS_GUIDE.md section 10. Drishti World (edition world, config/editions/world.yaml) is the public-data packs in one product: world-economy, news-and-markets, us-equities, gleif and funds, allow-only (none of their links leads into core or market-data); core, market-data, trading, counterparty-risk, market-risk and the example packs are refused (DRS-1017). Commands: the packs' own 32 (ECON, MACRO, FCST, LABR, FISC, ECG, REGE, JUR, PARTY, OFFC, ELEC, REGN, SOCI; TOPIC, NEWS, CO, QUOTE; USEQ, IDX, SIC, EDGAR, FILING, FACT, PXH; LEI, LEIG, LEIR, LEIC, LEIM; FUND, HELD, TRACK) and the words BI, FORM, FUNC, WHAT, DATAMAP; VAR, EXP and every risk command are hidden. BI: world-economics-economies and region-economics-regions with their models and reports. Nothing in the engines changed.</a:t>
            </a:r>
          </a:p>
          <a:p/>
          <a:p>
            <a:r>
              <a:t>Framing for risk users: context, not risk figures. The IMF figures and the Yahoo prices in these packs are shown inside the bank (product owner, 2026-10-29); showing the edition outside it still needs a decision.</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EDITIONS.md section 12, 'Its Home: three landings' (the product owner approved all three mock-ups, 2026-10-29). One template, home/world_landing.html. A World desk: tiles (World GDP growth from the World country group, GDP-weighted; quotes up and down in the market snapshot; the biggest mover; new SEC filings on the feed's latest day; funds and ETFs with the largest); economies that moved (the twelve largest, this year's growth against the year before); today's news by topic; quick cards for ECON, USEQ, LEIG and FUND. B Explorer: a big command line, chips, a counts strip, recently opened (the edition's commands only), Knowledge, Data map and Learn cards. C World map: by region, income group, G7 or G20, and by growth, inflation or debt to GDP, each group weighted by GDP from its economies' own figures; US sectors (revenue by SIC division), the largest funds, what changed (the IMF outlook's vintage, the latest filings, the annual report, the market snapshot, GLEIF on file).</a:t>
            </a:r>
          </a:p>
          <a:p/>
          <a:p>
            <a:r>
              <a:t>How it reads: one thin read-only route, /api/home/search, the server's own search grammar, refused with 404 DRS-4023 for a command the person's edition or lens does not show. Pictures: the console of test_edition_world_browser.py with its stand-in server.</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docs/architecture/REGULATORY_VAR_REPORTING.md sections 2 to 4, each row with its link there.</a:t>
            </a:r>
          </a:p>
          <a:p/>
          <a:p>
            <a:r>
              <a:t>Canada: OSFI's November 2021 letter set market risk and CVA for Q1 of fiscal 2024 (1 November 2023 for October year-ends). CAR 2026 chapter 9 is current; CAR 2027 (final, 10 September 2026) takes effect November 2026 / January 2027. BCAR schedule 90.010 sections A to G: section A carries ES at 97.5% (reporting date and 60-day average, total and per risk class) and SES (12-week average) for approved desks only; no VaR. Pillar 3: MR1 and MR2 quarterly, MRA and MRB annual, effective Q4 2024; MR2 has the backtesting exception count against 99% VaR. The annual-report VaR table is IFRS 7 and bank practice, not an OSFI template; two D-SIBs' FY2025 tables show VaR by risk type and no stressed VaR. Risk.net reported at go-live that no Canadian bank used internal models (secondary, not confirmed).</a:t>
            </a:r>
          </a:p>
          <a:p/>
          <a:p>
            <a:r>
              <a:t>US: 12 CFR 217 subpart F (VaR 99% 10-day; stressed VaR at least weekly, 12-week average; backtest 250 days at 1-day 99%, multiplier 3.00 to 4.00). FFIEC 102: VaR and stressed VaR sections plus memoranda, public, extended without revision in 2025. FR Y-9C HC-R Part II item 27: standardized market-risk weighted assets. §217.212: high, low, mean and period-end VaR and stressed VaR, by risk category, and a comparison with actual gains and losses. Volcker appendix A: five metrics since the 2019 amendments (limits and usage, VaR, comprehensive P&amp;L attribution, positions, transaction volumes); stressed VaR and risk-factor sensitivities were removed. Re-proposal: Federal Register 2026-05959 (27 March 2026), comments closed 18 June 2026, no final rule found on 2026-10-30.</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docs/architecture/REGULATORY_VAR_REPORTING.md sections 5 (the matrix) and 6 (coverage, with evidence).</a:t>
            </a:r>
          </a:p>
          <a:p/>
          <a:p>
            <a:r>
              <a:t>Built: VaR and ES at any scope (VAR_GUIDE sections 18.1, 18.2, 18.5); MGMT, LEGAL and limit-letter hierarchies with diversification (sections 15.14, 18.3, 19); var-limit and LIMIT_USE (15.15); official captures of every node, result versions, append-only Delta or Iceberg kept 7 years (19); backtesting in official mode against the derived hypothetical P&amp;L with the traffic light, Kupiec and Christoffersen (7, 18.4).</a:t>
            </a:r>
          </a:p>
          <a:p/>
          <a:p>
            <a:r>
              <a:t>Caution: Drishti's derived HYPO_PNL is the risk model's P&amp;L for the newest scenario day, closer to a risk-theoretical P&amp;L than to the front-office hypothetical P&amp;L a regulatory backtest needs; the bank's own feed replaces it.</a:t>
            </a:r>
          </a:p>
          <a:p/>
          <a:p>
            <a:r>
              <a:t>Not built: actual P&amp;L, the 97.5% desk backtest and the multiplier tables; period statistics and averages (the official history is there to compute them); VaR by risk class (PNL_BY_RISK_CLASS designed, VAR_GUIDE 15.2); Volcker's other limits, comprehensive P&amp;L attribution (PNL.md proposed), transaction volumes; the FRTB standardised approach (FRTB.md proposed); liquidity horizons, stressed ES calibration, PLA, RFET, SES, DRC. Planned: 10-day and stressed VaR (in the implementation plan).</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docs/architecture/REGULATORY_VAR_REPORTING.md sections 6 (the report layer, retention and reproducibility) and 7 (G3, G5, G7); VAR_GUIDE.md section 19 (official end-of-day results: captures of every node, the date's record with inputs, versions and batch ids, the membership record, result versions on restatement, the append-only published table kept 7 years in Delta or Iceberg, read by BI). Exports: BI to PDF, PNG, Excel and CSV (DISTRIBUTION.md); paginated reports (REPORTS.md).</a:t>
            </a:r>
          </a:p>
          <a:p/>
          <a:p>
            <a:r>
              <a:t>Not built: the daily P&amp;L feed from product control (G3) and period statistics and averages (G5). Planned: 10-day and stressed VaR. Drishti computes and lays out the figures; the filing and its sign-off stay with the bank.</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roadmap for the deck, merging the earlier governance roadmap, the build-status list and the regulatory phases (next slide). Built things carry no label (product owner's rule); only what is not built, or not yet run, carries a status.</a:t>
            </a:r>
          </a:p>
          <a:p/>
          <a:p>
            <a:r>
              <a:t>Built (IMPLEMENTATION_PLAN.md, CHANGELOG.md, VAR_GUIDE.md): any input contract (15.13); intraday from files and Kafka (8.4, equal to the same data loaded as one run, to the cent); reporting currencies built ahead (15.10, 15.11); official end-of-day records, append-only, 7 years, JSONL beside them (19); Iceberg as a full alternative to Delta (VarFormatEqualityTest, ExposureFormatEqualityTest); hierarchies configured by columns (15.14); VaR sharded across a cluster (VAR_SHARDING.md) and the parallel Java lake loader (PARALLEL_LOADER.md); the editions Drishti Risk, Market and World with lenses (EDITIONS.md); computed attributes (COMPUTED_ATTRIBUTES.md 13).</a:t>
            </a:r>
          </a:p>
          <a:p/>
          <a:p>
            <a:r>
              <a:t>PLANNED (IMPLEMENTATION_PLAN.md, the items carried forward and the next release's list): stressed and 10-day VaR with ES backtests; the scale benchmark at 200K positions and 1,500 portfolios (single server against a three-node sharded cluster, Python against Java loader), then 2.3M on a real server; Arrow where it pays (server to console to browser for large tables and charts; hot files, lake and shard partials stay as they are); a client-side renderer (a JS/CSS library that paints Drishti screens from the server's ViewModel JSON); Delta and Iceberg conversion; in-place Delta schema evolution; plain tables and Unity Catalog. NOT RUN: AWS Glue and S3 Tables (written; the live runs need an AWS account). PROPOSED by this deck: clustering by book and portfolio; a published node and portfolio vector table; every portfolio's vector in an overnight batch (VAR_GUIDE.md section 30). Later (the earlier roadmap): QLRisk what-if pricing, age-weighted methods, cubes. Known gap (IMPLEMENTATION_PLAN.md): several consoles behind a load balancer need sticky sessions for live tabs.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docs/architecture/REGULATORY_VAR_REPORTING.md sections 7 (gaps G1 to G15 with designs and sizes), 8 (roadmap) and 9 (data the bank supplies).</a:t>
            </a:r>
          </a:p>
          <a:p/>
          <a:p>
            <a:r>
              <a:t>Phase 1 (next): G1 10-day VaR (a second, 10-day scenario set or √10 scaling, which the US rule allows when justified), G2 stressed VaR (an SVAR scenario set over the bank's 12-month stress window, at least weekly), G3 a daily-pnl input kind (actual and hypothetical P&amp;L with fees, commissions, reserves, net interest and intraday separated), G4 the regulatory backtest (per node, 99% and 97.5%, actual and hypothetical counted separately, the US 3.00-4.00 and OSFI 1.50-2.00 tables as configuration), G5 period statistics computed from the official records, G15 CAD official records.</a:t>
            </a:r>
          </a:p>
          <a:p>
            <a:r>
              <a:t>Phase 2 (later): G6 PNL_BY_RISK_CLASS vectors and VaR by class with the diversification line; G7 report packs as BI datasets, paginated reports and extracts; G8 Volcker metrics.</a:t>
            </a:r>
          </a:p>
          <a:p>
            <a:r>
              <a:t>Phase 3a: G9 the FRTB standardised approach of FRTB.md. Phase 3b, only for a bank seeking model approval: G10 ES by liquidity horizon, G11 stressed calibration, G12 PLA (Spearman switchable off for the US re-proposal), G13 RFET and SES, G14 DRC.</a:t>
            </a:r>
          </a:p>
          <a:p/>
          <a:p>
            <a:r>
              <a:t>No release is assigned: listed in the implementation plan as a candidate, not started.</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proposed plan (PROPOSED): generic, with no dates and nothing assumed about a bank's organisation beyond the illustrative volumes. Phase 0, prepare: Delta or Iceberg (Iceberg a full alternative, built); settings (window, confidence, currencies, root name; VAR_GUIDE.md section 12) and entitlements per role and node (section 9) agreed; the million-trade × 50-date benchmark has not been run on a server, so running it (and 2.3M) on the target hardware comes first (section 27; the 200K benchmark is planned, then a 2.3M load on a real server). Phase 1, pilot desk: onboarding by the checklist; daily full runs; official records every day (section 19). Phase 2, a legal entity: the LEGAL hierarchy and its limits (section 15.4), intraday from files or Kafka (section 8.4); the official history starts the official-mode backtest (section 7). Phase 3, the bank: every system; ≈15,000 portfolios and ≈700 limit letters (a hierarchy configured by columns, built, with the var-limit feed); currencies built ahead; BI's Market risk: VaR report reads var-official. If one server is not enough, VaR scale-out across a cluster is built (section 28). Cutover: sign-off, after which Drishti's official records are the numbers of record.</a:t>
            </a:r>
          </a:p>
          <a:p/>
          <a:p>
            <a:r>
              <a:t>Reconciliation: risk-results/var-official has one row per node per date and result version with VAR, ES, CONFIDENCE, ES_CONFIDENCE, SCENARIO_SET_ID, TRADE_COUNT and POSITION_COUNT (section 19), which a reconciliation job can read beside the existing figures. Causes of difference: refused, excluded and unknown ids in the provenance (sections 20.3, 11.2); the window, confidence and rank rule (section 18.1); scenario FX against today's rate (section 15.10: the demo bank's EUR VaR is 111.8 million against 95.4 million at today's rate); membership (section 5.3); and the model itself. The guide's own reconciliation of a retired stored figure (section 21.2) found a different model, different trades and a different date: explain each difference by its cause rather than fit a factor.</a:t>
            </a:r>
          </a:p>
          <a:p/>
          <a:p>
            <a:r>
              <a:t>The sign-off criteria are this deck's proposal, for the bank's model risk and risk management functions to set.</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one-page specification of what a pricing system sends. System names in the pin are placeholders (SYS_A, SYS_B).</a:t>
            </a:r>
          </a:p>
          <a:p/>
          <a:p>
            <a:r>
              <a:t>Sources: VAR_GUIDE.md section 15.13 (every record says what it is: VALUE_TYPE, GRAIN, its id TRADE_ID or POSITION_ID, CURRENCY and SOURCE_SYSTEM, in files and Kafka lines alike; refusals DRS-5208, 5209, 5210; the pin is optional and read at start), section 15.14 (a hierarchy's level columns, such as LIMIT_LETTER, on every row; a source whose table does not keep the column skips that hierarchy alone with a DRS-5211 warning, while a row that leaves it empty is refused), section 15.12 (JSONL, one row of the contract a line), sections 15.2 and 15.9 (the as-built contracts: LEGAL_ENTITY, DESK and TT_BOOK promoted, the load fails otherwise; TRADE_STATUS and MATURITY_DATE: only live trades count; STATUS; BATCH_ID; RUN_KIND and COMPUTED_AT), section 15.8 (one run per date; restatement rewrites the whole date), section 8.4 (intraday: RUN_KIND INTRADAY, own BATCH_ID, later COMPUTED_AT, the morning run's scenario set; a cancel is TRADE_STATUS CANCELLED with the vector null), section 20.3 (a null or NaN scenario PV is a scenario that failed to price: DRS-5206, never zero-filled), 'Intraday updates from Kafka, as built'.</a:t>
            </a:r>
          </a:p>
          <a:p/>
          <a:p>
            <a:r>
              <a:t>Details for the pricing-system teams: a P&amp;L vector is in USD (REPORTING_CCY) with CURRENCY the trade's own; the optional PV column makes conversion to other reporting currencies exact (else the trade is counted as tradesWithoutPv). A position record carries what places it without a trade master: LEGAL_ENTITY, DESK, TT_BOOK, COUNTERPARTY when it has one, CURRENCY, the identifiers the position rules use, and optionally TRADE_IDS. The endorsed canonical record names the scenario PVs PVS and the book BOOK; the as-built contracts say SCENARIO_PV and TT_BOOK, which this slide uses.</a:t>
            </a:r>
          </a:p>
          <a:p/>
          <a:p>
            <a:r>
              <a:t>Files: the full run replaces the date in the lake (lake build), an intraday batch is appended (lake build --mode append or drishti.py var intraday --load), then the data-load signal POST /api/v1/packs/market-risk/loads. Kafka: each message's value is JSONL text, one or more records (both forms and cancels may share a message); a window every 5 minutes, an early flush at 500 trades, an administrator's Apply now; each window is written to the lake as one intraday batch.</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checklist for bringing one pricing system onto the engine. Steps 1 to 6 are the contract as built; step 7 uses the approach of the stand-in pricing system's checker; the 'ready when' line is this deck's recommendation.</a:t>
            </a:r>
          </a:p>
          <a:p/>
          <a:p>
            <a:r>
              <a:t>Sources: VAR_GUIDE.md section 15.13 (forms and grains; one system, one form and one grain on one date, DRS-5210; the pin, DRS-5209; the record fields, DRS-5208; provenance.inputsBySystem per system: form, grain, rows, decidedBy, tradesWithoutPv, shown in How this number was built), section 15.9 (fx-scenario supplied, or derived from the FX history as FX(s) = FX(base) × H(d_s) / H(d_s − 1); crosses through USD; DRS-5207 when a currency has no scenario FX), section 20.3 (what the load checks), section 15.12 (tools/pvgen/check.py recomputes from the files what the engine should show and compares the bank's and every desk's VaR and ES with GET /api/v1/var/scope; exit 1 on a difference).</a:t>
            </a:r>
          </a:p>
          <a:p/>
          <a:p>
            <a:r>
              <a:t>Talk track: onboarding is a data exercise, not a code change. The system team decides what it can send, maps its fields to the record, prices over the agreed scenario set, and chooses files or Kafka. The pin is a safety net: if the system suddenly sends something else, the records are refused and visible rather than silently mixed in. Before go-live, an independent recomputation from the very files sent should agree with the engine, and the refusal list should be empty. Older files are brought to the record with drishti.py convert --set … .</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DELTA_CONNECTOR.md (the physical table: id, doc with the whole document as JSON, business_date and the promoted columns; a field not promoted lives only inside doc); VAR_GUIDE.md section 15.1 (the same table layout for the risk kinds); ICEBERG_CONNECTOR.md and DRISHTI_ICEBERG.md (schema evolution by field id: add, drop, rename, reorder, int to long, float to double, decimal widening; columns added after a file was written read as null); the product owner's plan (Delta, not built yet: an in-place add of a nullable column, old files reading as empty, with an optional backfill from the documents); the connector upgrades (CHANGELOG, Connector upgrades; CONNECTOR_FILES.md, Upgrades): a file Drishti wrote from a pack template carries the template's fingerprint; never edited, it is replaced in full by the new template (the old one kept beside it as .before-upgrade-....bak and in the history); edited, it gains every key the template has at any depth, its values never overwritten, lists keeping their order and gaining the missing items (an edited layout list gains LIMIT_LETTER after its own columns); conflicts are listed in Admin → Connectors → Template updates with Use the pack's value per key. ConnectorUpgradeTest starts a server on an earlier release's generated files and proves it.</a:t>
            </a:r>
          </a:p>
          <a:p/>
          <a:p>
            <a:r>
              <a:t>Talk track: three cases. A new field in the source data is the common one and costs nothing: every row keeps its full JSON document, so the field is readable the moment it arrives (by the pages, search and any kind that reads it), and older rows simply do not have it. A new promoted column (a field the engine reads as a column, for speed) is a schema change: Iceberg evolves in place by field id; Delta's in-place nullable add is planned (not built yet); until then adding a promoted column to an existing Delta table means rewriting the affected dates. Either way, history is not rewritten: time travel still shows each version as it was, the official records are append-only, and every figure of record can be recomputed from the inputs it was computed from.</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hardware plan to hand to infrastructure, for 1-day, 10-day and stressed VaR (not built yet), the conservative case) for a large bank: e.g. 2.3M positions, 15,000 portfolios, about 700 limit letters, with 39% headroom. Every figure ESTIMATED (or ASSUMPTION where marked); the arithmetic is in the notes of the three previous slides. Headroom: the projected peak uses at most 61% of the provisioned capacity, provisioned = need ÷ 0.61 (× 1.64).</a:t>
            </a:r>
          </a:p>
          <a:p/>
          <a:p>
            <a:r>
              <a:t>VaR servers: 4, identical, so any can take any role (official EOD, intraday writer, two UI/API replicas); each holds whole dates and is sized for all 2.3M positions and all four sets. vCPU 32 need → 64; RAM 151 GB need → 247 → 256 GB; heap 21.2 GB need → 34.8 → -Xmx36g with generational ZGC and MALLOC_ARENA_MAX=2; drishti.var.memory-budget-mb (DRISHTI_VAR_MEMORY_MB) 14,000 → 23,000 MB; local NVMe for drishti.var.tier.dir 1,183 GB → 1,939 GB → 2 × 1.9 TB. Large (2× positions): 5 servers (adding a history and backtest node so the UI replicas keep today resident), 96 vCPU, 512 GB, -Xmx60g, 46,000 MB, 5.7 TB NVMe.</a:t>
            </a:r>
          </a:p>
          <a:p/>
          <a:p>
            <a:r>
              <a:t>Consoles: 2 hosts, 4 vCPU and 8 GB, 4 workers: the assumed peak of 25 pages/s ÷ 0.61 = 41 pages/s against 160 per host (40 a worker, MEASURED). Lake: need 48.2 TB base over 7 years → ÷ 0.61 = 79 TB → 158 TB with a DR copy; upper 95.7 → 157 → 314 TB. Shared state on EFS or NFS: ≈ 300 GB ÷ 0.61 ≈ 0.5 TB.</a:t>
            </a:r>
          </a:p>
          <a:p/>
          <a:p>
            <a:r>
              <a:t>Network (ESTIMATED): a date's first open reads 27.93 GB × 0.75 = 20.9 GB of Parquet; decoding, not the network, limits it (0.1–0.4 GB/s on one server: 54–209 s); 0.4 GB/s = 3.2 Gbit/s ÷ 0.61 = 5.2 Gbit/s, so 10 Gbit/s at least. Intraday: 2.09 GB a day in about 120 windows = 17.5 MB a window; about 35 MB per server per 5 minutes, under 1 MB/s.</a:t>
            </a:r>
          </a:p>
          <a:p/>
          <a:p>
            <a:r>
              <a:t>Kafka (ASSUMPTION): a record of 1,518 numbers as JSON ≈ 12–24 KB (the guide: 4–8 KB for 509); 230,000 × 24 KB = 5.5 GB a day; kept 7 days = 38.6 GB; ÷ 0.61 → 64 GB per replica.</a:t>
            </a:r>
          </a:p>
          <a:p/>
          <a:p>
            <a:r>
              <a:t>Example instances, to price and confirm: m6id.16xlarge (64 vCPU, 256 GiB, 2 × 1,900 GB NVMe instance store, up to 25 Gbit/s); r6id.24xlarge (96 vCPU, 768 GiB, 4 × 1,425 GB NVMe) for the large size. Instance store is lost when the instance stops: acceptable for hot files, which are rebuilt from the lake. Fargate suits the consoles, not a VaR server. On premises: two-socket servers, 2 × 16 cores, 256 GB with every memory channel populated (bandwidth decides the sums), 2 × 1.92 TB NVMe, 25 GbE; an S3-compatible object store for the lake.</a:t>
            </a:r>
          </a:p>
          <a:p/>
          <a:p>
            <a:r>
              <a:t>One server per date: per million positions the provisioned RAM is about (151 − 13 fixed) / 2.3 ÷ 0.61 ≈ 98 GB, so a 512 GB machine reaches its limit near 5M positions; the time to open a date also grows (2–5 minutes at 2.3M, 4–10 at 5M). Beyond about 5M positions VaR sharding (built, VAR_GUIDE.md 28) is needed.</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Drishti on AWS, generic: an example Region, ca-central-1, chosen only to price the example; the same shape works in any commercial Region. Preferences fitted: ECS container images rather than self-managed EC2, Fargate where possible, S3 for as much as possible, EFS only where essential. Status: everything shown is built (Iceberg and official results to S3 are built, so option A can be built on an Iceberg lake as fully as on Delta; the Glue and S3 Tables catalogs are written but not yet run on AWS, a planned run); VaR sharding (option C) is built but not yet run on Fargate, which is why the VaR servers start on EC2 capacity. Option B depends on √10 scaling for 10-day VaR, which comes with the 10-day measures (PLANNED: 10-day and stressed VaR are not built yet).</a:t>
            </a:r>
          </a:p>
          <a:p/>
          <a:p>
            <a:r>
              <a:t>Fargate limits (AWS documentation, read 2026-10-27): Linux tasks up to 16 vCPU with 32–120 GB, and 32 vCPU with 60, 120 or 244 GB (platform 1.4.0 or later); storage: EBS volumes, EFS volumes and bind mounts. EBS on ECS: one new EBS volume per task, on Fargate, EC2 and ECS Managed Instances; volumes of service tasks are deleted when the task ends, which suits hot files (rebuilt from the lake). gp3: up to 64 TiB, 80,000 IOPS and 2,000 MiB/s per volume.</a:t>
            </a:r>
          </a:p>
          <a:p/>
          <a:p>
            <a:r>
              <a:t>Does a VaR server fit one Fargate task? 1-day only: need 75.8 GB and 32 vCPU; with 39% headroom 124 GB and 52 vCPU: the 32 vCPU/244 GB task holds the memory (31%) but CPU keeps the headroom only if the peak is at most 19.5 vCPU busy. Full case (10-day by overlapping returns and stressed): need 151 GB → 62% of 244, over the 61% rule, and CPU short: it does not fit. Option B, √10 scaling for 10-day: width 759 (× 1.49): need 94 GB, ÷ 0.61 = 155 GB: fits on memory. Option C, sharded: 8 shards of ≈ 290,000 positions; per shard (151 − 6 − 7) ÷ 8 + 6 + 3 = 26 GB, ÷ 0.61 = 43 GB → an 8 vCPU, 44 GB task; 250 GB gp3 each.</a:t>
            </a:r>
          </a:p>
          <a:p/>
          <a:p>
            <a:r>
              <a:t>Where each thing lives. S3 (gateway endpoint, no NAT charges): the lake (Delta by default, or Iceberg, built), the official results (Delta or Iceberg with JSONL beside, to s3:// roots, built; each Delta commit an exclusive create), the content store (S3 backend, built), the JSONL landing, backups, and the DR copy by Cross-Region Replication. EBS gp3, one per VaR task: hot files and caches, 0.8–2 TB, 16,000 IOPS, 2,000 MiB/s. EFS, small (≈ 0.3–0.5 TB as built): config and connector files, Sutras, each node's data folder (users, governance, BI store, reports); it cannot be avoided entirely as built. Kafka: Amazon MSK (3 × m7g.large) or the bank's own. Edge: ALB (HTTPS, sticky sessions), NAT, Secrets Manager, KMS, CloudWatch, IAM task roles; Cloud Map for Drishti*net names.</a:t>
            </a:r>
          </a:p>
          <a:p/>
          <a:p>
            <a:r>
              <a:t>The VaR servers: four ECS tasks on EC2 capacity (an Auto Scaling group capacity provider, m7i.16xlarge for the full case, c7i.16xlarge for 1-day only) or ECS Managed Instances, over two Availability Zones: the official end-of-day writer, the intraday writer (reads Kafka, writes one lake batch per 5-minute window), and two UI/API replicas.</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 cost estimate for a large bank (e.g. 2.3M positions, 15,000 portfolios, about 700 limit letters) in an example Region, ca-central-1, 24 × 7, 730 hours a month, on the recommended architecture (Fargate for the consoles and lake tasks; the four VaR servers on ECS with EC2 capacity until sharding; S3 for the lake, results and content store; a small EFS). Two cases, both sized with the 39% headroom: 1-day VaR only, and the full case with 10-day (overlapping returns) and stressed VaR (not built yet). Every quantity ESTIMATED from the capacity slides; every unit price an ASSUMPTION: AWS's public on-demand prices for ca-central-1, read on 2026-10-27 from the AWS Price List bulk files, and the Compute Savings Plans file of the same date. Verify in the AWS Pricing Calculator before quoting; taxes and support plans excluded.</a:t>
            </a:r>
          </a:p>
          <a:p/>
          <a:p>
            <a:r>
              <a:t>Unit prices (ASSUMPTION, USD): Fargate Linux/x86 $0.04456 per vCPU-hour, $0.004865 per GB-hour; EC2 m7i.16xlarge (64 vCPU, 256 GiB) $3.5952 an hour, c7i.16xlarge (64 vCPU, 128 GiB) $3.1248; ECS Managed Instances fee m7i.16xlarge $0.431424, c7i.16xlarge $0.374976 an hour; EBS gp3 $0.088 per GB-month, $0.0055 per IOPS-month above 3,000, $0.044 per MiB/s-month above 125; S3 Standard $0.025 per GB-month, Standard-IA $0.0138; inter-Region transfer $0.02 per GB; EFS $0.33 per GB-month; MSK kafka.m7g.large $0.2275 per broker-hour, storage $0.11 per GB-month; ALB $0.02475 an hour, $0.0088 per LCU-hour; NAT $0.05 an hour and per GB; interface endpoint $0.011 an hour per AZ; inter-AZ $0.01 per GB each way; internet out $0.09 per GB; CloudWatch logs $0.55 per GB ingested, $0.033 per GB-month, $0.30 per metric-month; Secrets Manager $0.40 per secret-month. Compute Savings Plans, no upfront: 1 year −26.9% on EC2, −20.0% on Fargate; 3 years −49.5% and −45.0% (applied to EC2 and Fargate only).</a:t>
            </a:r>
          </a:p>
          <a:p/>
          <a:p>
            <a:r>
              <a:t>Quantities (ESTIMATED): VaR servers 4 × c7i.16xlarge (1-day) or m7i.16xlarge (full) × 730 h; EBS gp3 per task 800 GB (1-day) or 2,000 GB (full), 16,000 IOPS, 2,000 MiB/s; consoles 2 × (4 vCPU, 8 GB); lake loads and maintenance 2 hours a day of an 8 vCPU, 32 GB Fargate task (ASSUMPTION); S3: the lake grows by 2.3 TB (1-day) or 6.9 TB (full) a year, the newest year in Standard and older dates in Standard-IA (ASSUMPTION: a lifecycle rule); DR: the same storage in a second Region plus replication transfer; EFS 500 GB plus backup; MSK 3 brokers (the bank's own Kafka: $0); ALB; NAT and 6 interface endpoints in 2 AZs; 1 TB a month between AZs and 0.8 TB of pages out; CloudWatch 270 GB of logs a month.</a:t>
            </a:r>
          </a:p>
          <a:p/>
          <a:p>
            <a:r>
              <a:t>Totals, year 7 on-demand: 1-day $12,119 a month ($145,428 a year); full $14,910 a month ($178,914 a year). Year 1: $11,738 and $13,770 a month. With a 1-year Compute Savings Plan: $9,596 and $12,017; 3-year: $7,443 and $9,553.</a:t>
            </a:r>
          </a:p>
          <a:p/>
          <a:p>
            <a:r>
              <a:t>The VaR tier (servers and EBS only; the rest of the bill is the same): A, 4 × m7i.16xlarge with 2 TB gp3 each: $11,818 a month, 3-year $6,618. B, √10 scaling on 4 Fargate tasks of 32 vCPU · 244 GB ($2.61 an hour each) with 1.1 TB gp3: $8,633, 3-year $5,200; not like for like (it drops the stored 10-day vectors). C, sharded on Fargate (sharding built): 8 shards × 2 replicas of 8 vCPU · 44 GB plus a 2 vCPU intraday task, 250 GB gp3 each: 24 × 7 $7,373; with second replicas only in business hours (12 h × 22 days, ASSUMPTION) $5,050, 3-year $2,966, and with second replicas on Fargate Spot (ASSUMPTION: 60% off) $2,785. One full copy: C $3,640 against A $2,954 (Fargate is ≈ 14% dearer per resource and each task carries its own JVM); C saves by needing 2 copies rather than A's 4, scaling in off-hours, Spot, and right-sizing. Recommendation (PROPOSED): A to start; C once sharding runs on Fargate.</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VAR_GUIDE.md section 13 (troubleshooting: every row of this table, with the message the user sees), section 20.2 (errors the engine answers: DRS-5202 422, DRS-5203 the date before answered with a warning, DRS-5204 503 capacity), section 20.3 (rows refused and listed in provenance.rejections, never padded; DRS-5201 length, null, NaN, failed rows, currency, valuation dates; DRS-5206 a scenario PV that failed; DRS-5207 no scenario FX), section 15.13 (DRS-5208 record fields, DRS-5209 against the pin, DRS-5210 a second form or grain), section 15.8 (restatement: rewrite the whole date, RESTATEMENT + 1, a new BATCH_ID; the signal reloads the date; the official capture is taken again with the next result version, the earlier kept), section 19 (a publish that fails is recorded as publishError and logged; the capture stands; administrators can capture again with POST /official or drishti.py var official --capture), section 26 (a damaged or old-format hot file: the date is read from the lake and the file rebuilt), 'Intraday updates from Kafka' (replaying the topic after a restart writes nothing twice).</a:t>
            </a:r>
          </a:p>
          <a:p/>
          <a:p>
            <a:r>
              <a:t>Talk track: the fix is always at the source, followed by a restatement of the whole date and the load signal; the new official record gets the next result version, and the old one is kept. The runbook steps are this deck's summary of the guide's troubleshooting.</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Definitions from VAR_GUIDE.md: sections 1 and 2 (VaR, ES, the measures), 17 and 18 (conventions, ranks: k = ceil(N(1 − α)): 6th worst of 509 at 99%, 13 worst at 97.5%; component, incremental and marginal VaR per million of market value or PV; diversification), 15.3 (the scenario set HS-509), 15.9 (scenario PVs and scenario FX), 15.13 (form and grain), 5 (scopes, portfolios: HIERARCHY, RULE and BASKET), 4 and 15.6 (positions derived by the pack's rules, or supplied whole at position grain), 15.10 and 15.11 (reporting currency; five built ahead), 26 (the hot file), 19 (official records and result versions), 11.2 (provenance), 7 (exceptions). Limit letters: a hierarchy configured by columns (built, section 15.14). Headroom: this deck's capacity convention (39%: the peak uses at most 61% of what is provisioned).</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the estimated and derived figures were arrived at: each numbered line explains the figures with the same marker on the slide named in the heading. Every line is computed from the same constants the slides use (the capacity model: 2.3M positions, 509 scenarios, 1,518 values with 10-day and stressed VaR, × 23 from the measured 100,000-trade benchmark of VAR_GUIDE §27.3), so a footnote and its figure cannot disagree. MEASURED figures name their source; ASSUMPTION figures are the bank's to confirm.</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the estimated and derived figures were arrived at: each numbered line explains the figures with the same marker on the slide named in the heading. Every line is computed from the same constants the slides use (the capacity model: 2.3M positions, 509 scenarios, 1,518 values with 10-day and stressed VaR, × 23 from the measured 100,000-trade benchmark of VAR_GUIDE §27.3), so a footnote and its figure cannot disagree. MEASURED figures name their source; ASSUMPTION figures are the bank's to confirm.</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the estimated and derived figures were arrived at: each numbered line explains the figures with the same marker on the slide named in the heading. Every line is computed from the same constants the slides use (the capacity model: 2.3M positions, 509 scenarios, 1,518 values with 10-day and stressed VaR, × 23 from the measured 100,000-trade benchmark of VAR_GUIDE §27.3), so a footnote and its figure cannot disagree. MEASURED figures name their source; ASSUMPTION figures are the bank's to confirm.</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the estimated and derived figures were arrived at: each numbered line explains the figures with the same marker on the slide named in the heading. Every line is computed from the same constants the slides use (the capacity model: 2.3M positions, 509 scenarios, 1,518 values with 10-day and stressed VaR, × 23 from the measured 100,000-trade benchmark of VAR_GUIDE §27.3), so a footnote and its figure cannot disagree. MEASURED figures name their source; ASSUMPTION figures are the bank's to confirm.</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the estimated and derived figures were arrived at: each numbered line explains the figures with the same marker on the slide named in the heading. Every line is computed from the same constants the slides use (the capacity model: 2.3M positions, 509 scenarios, 1,518 values with 10-day and stressed VaR, × 23 from the measured 100,000-trade benchmark of VAR_GUIDE §27.3), so a footnote and its figure cannot disagree. MEASURED figures name their source; ASSUMPTION figures are the bank's to confirm.</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companion decks are in docs/publications. The guides and designs are in the Drishti repository; each slide's notes name the sections it draws on.</a:t>
            </a:r>
          </a:p>
        </p:txBody>
      </p:sp>
      <p:sp>
        <p:nvSpPr>
          <p:cNvPr id="4" name="Slide Number Placeholder 3"/>
          <p:cNvSpPr>
            <a:spLocks noGrp="1"/>
          </p:cNvSpPr>
          <p:nvPr>
            <p:ph type="sldNum" idx="5" sz="quarter"/>
          </p:nvPr>
        </p:nvSpPr>
        <p:spPr/>
      </p:sp>
    </p:spTree>
  </p:cSld>
  <p:clrMapOvr>
    <a:masterClrMapping/>
  </p:clrMapOvr>
</p:notes>
</file>

<file path=ppt/notesSlides/notesSlide9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 docs/guides/VAR_GUIDE.md, docs/architecture/VAR_SHARDING.md, docs/architecture/EDITIONS.md, docs/architecture/COMPUTED_ATTRIBUTES.md section 13, docs/knowledge/market-risk.md, docs/tutorials/25-var-from-the-bank-to-a-trade.md, docs/architecture/IMPLEMENTATION_PLAN.md. Release history: the release notes.</a:t>
            </a:r>
          </a:p>
          <a:p/>
          <a:p>
            <a:r>
              <a:t>Talk track: this deck explains the VaR engine that sits inside the Drishti server: what it computes, how the data reaches it (scenario PVs in each trade's own currency, any reporting currency, intraday updates, JSONL as the delivery standard, hierarchies configured by columns such as limit letters, Delta or Iceberg, official results to S3), what the console shows, and how it scales to a large bank (e.g. 2.3 million positions, 15,000 portfolios, about 700 limit letters).</a:t>
            </a:r>
          </a:p>
          <a:p/>
          <a:p>
            <a:r>
              <a:t>The order: an executive summary, then why, how it works (the method, data in, computed attributes), the evidence (scale, capacity, concurrency), operating it (storage, deployment, operations, model risk and controls), the editions for VaR users (Drishti Risk, Market and World), regulatory reporting, and the roadmap and rollout. The appendix holds the reference material: the record contract, onboarding, schema changes, the hardware plan, the AWS deployment and its cost, the failure runbook, the glossary and the related documents.</a:t>
            </a:r>
          </a:p>
          <a:p/>
          <a:p>
            <a:r>
              <a:t>Status labels: nothing built is labelled (VaR sharding across servers, the parallel Java lake loader, the editions and the computed attributes are built); only what is not built carries a status: PLANNED (stressed VaR, 10-day VaR, ES backtests, Delta's in-place column add), NOT BUILT (open items), NOT RUN (written but not yet run on AWS), PROPOSED (a recommendation of this deck). MEASURED, ESTIMATED and ASSUMPTION label how a figure was obtained.</a:t>
            </a:r>
          </a:p>
          <a:p/>
          <a:p>
            <a:r>
              <a:t>All figures are from the committed synthetic test data (a correlated, fat-tailed factor market), not real prices.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Questions.</a:t>
            </a:r>
          </a:p>
          <a:p/>
          <a:p>
            <a:r>
              <a:t>Where to read more: docs/guides/VAR_GUIDE.md (the complete guide: Part I using VaR, Part II the data contract, Part III how the engine stores data), docs/tutorials/25-var-from-the-bank-to-a-trade.md (twelve hands-on steps), and the Market risk Knowledge page (docs/knowledge/market-risk.md).</a:t>
            </a:r>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66928"/>
            <a:ext cx="274320" cy="54864"/>
          </a:xfrm>
          <a:prstGeom prst="rect">
            <a:avLst/>
          </a:prstGeom>
          <a:solidFill>
            <a:srgbClr val="A51C30"/>
          </a:solidFill>
          <a:ln/>
        </p:spPr>
      </p:sp>
      <p:sp>
        <p:nvSpPr>
          <p:cNvPr id="3" name="Shape 1"/>
          <p:cNvSpPr/>
          <p:nvPr/>
        </p:nvSpPr>
        <p:spPr>
          <a:xfrm>
            <a:off x="777240" y="6355080"/>
            <a:ext cx="10634472" cy="9144"/>
          </a:xfrm>
          <a:prstGeom prst="rect">
            <a:avLst/>
          </a:prstGeom>
          <a:solidFill>
            <a:srgbClr val="E3DED7"/>
          </a:solidFill>
          <a:ln/>
        </p:spPr>
      </p:sp>
      <p:sp>
        <p:nvSpPr>
          <p:cNvPr id="4" name="Text 2"/>
          <p:cNvSpPr/>
          <p:nvPr/>
        </p:nvSpPr>
        <p:spPr>
          <a:xfrm>
            <a:off x="1132141" y="6437376"/>
            <a:ext cx="7443216" cy="219456"/>
          </a:xfrm>
          <a:prstGeom prst="rect">
            <a:avLst/>
          </a:prstGeom>
          <a:noFill/>
          <a:ln/>
        </p:spPr>
        <p:txBody>
          <a:bodyPr wrap="square" lIns="0" tIns="0" rIns="0" bIns="0" rtlCol="0" anchor="ctr"/>
          <a:lstStyle/>
          <a:p>
            <a:pPr indent="0" marL="0">
              <a:buNone/>
            </a:pPr>
            <a:r>
              <a:rPr lang="en-US" sz="850" dirty="0">
                <a:solidFill>
                  <a:srgbClr val="61666E"/>
                </a:solidFill>
              </a:rPr>
              <a:t>Ashutosh Sinha</a:t>
            </a:r>
            <a:endParaRPr lang="en-US" sz="850" dirty="0"/>
          </a:p>
        </p:txBody>
      </p:sp>
      <p:sp>
        <p:nvSpPr>
          <p:cNvPr id="5" name="Text 3"/>
          <p:cNvSpPr/>
          <p:nvPr>
            <p:ph idx="103" type="body" hasCustomPrompt="1"/>
          </p:nvPr>
        </p:nvSpPr>
        <p:spPr>
          <a:xfrm>
            <a:off x="777240" y="457200"/>
            <a:ext cx="10634472" cy="237744"/>
          </a:xfrm>
          <a:prstGeom prst="rect">
            <a:avLst/>
          </a:prstGeom>
          <a:noFill/>
          <a:ln/>
        </p:spPr>
        <p:txBody>
          <a:bodyPr wrap="square" rtlCol="0"/>
          <a:lstStyle>
            <a:lvl1pPr algn="l" indent="0" marL="0">
              <a:buNone/>
              <a:defRPr lang="en-US" sz="1050" b="1" spc="100" kern="0" dirty="0">
                <a:solidFill>
                  <a:srgbClr val="A51C30"/>
                </a:solidFill>
              </a:defRPr>
            </a:lvl1pPr>
          </a:lstStyle>
          <a:p>
            <a:pPr algn="l" indent="0" marL="0">
              <a:buNone/>
            </a:pPr>
            <a:endParaRPr lang="en-US" sz="1050" dirty="0"/>
          </a:p>
        </p:txBody>
      </p:sp>
      <p:sp>
        <p:nvSpPr>
          <p:cNvPr id="6" name="Text 3"/>
          <p:cNvSpPr/>
          <p:nvPr>
            <p:ph idx="104" type="title" hasCustomPrompt="1"/>
          </p:nvPr>
        </p:nvSpPr>
        <p:spPr>
          <a:xfrm>
            <a:off x="777240" y="731520"/>
            <a:ext cx="10634472" cy="502920"/>
          </a:xfrm>
          <a:prstGeom prst="rect">
            <a:avLst/>
          </a:prstGeom>
          <a:noFill/>
          <a:ln/>
        </p:spPr>
        <p:txBody>
          <a:bodyPr wrap="square" rtlCol="0"/>
          <a:lstStyle>
            <a:lvl1pPr algn="l" indent="0" marL="0">
              <a:buNone/>
              <a:defRPr lang="en-US" sz="2600" b="1" dirty="0">
                <a:solidFill>
                  <a:srgbClr val="1A1A1A"/>
                </a:solidFill>
              </a:defRPr>
            </a:lvl1pPr>
          </a:lstStyle>
          <a:p>
            <a:pPr algn="l" indent="0" marL="0">
              <a:buNone/>
            </a:pPr>
            <a:endParaRPr lang="en-US" sz="26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pic>
        <p:nvPicPr>
          <p:cNvPr id="26" name="Drishti mark" descr="Drishti logo: an eye between curly brackets"/>
          <p:cNvPicPr>
            <a:picLocks noChangeAspect="1"/>
          </p:cNvPicPr>
          <p:nvPr/>
        </p:nvPicPr>
        <p:blipFill>
          <a:blip r:embed="rId2"/>
          <a:stretch>
            <a:fillRect/>
          </a:stretch>
        </p:blipFill>
        <p:spPr>
          <a:xfrm>
            <a:off x="777240" y="6469380"/>
            <a:ext cx="281749" cy="155448"/>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8A1626"/>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6E1120"/>
          </a:solidFill>
          <a:ln/>
        </p:spPr>
      </p:sp>
      <p:sp>
        <p:nvSpPr>
          <p:cNvPr id="25" name="Slide Number Placeholder 0"/>
          <p:cNvSpPr>
            <a:spLocks noGrp="1"/>
          </p:cNvSpPr>
          <p:nvPr>
            <p:ph type="sldNum" sz="quarter" idx="4294967295"/>
          </p:nvPr>
        </p:nvSpPr>
        <p:spPr>
          <a:xfrm>
            <a:off x="777240" y="6437376"/>
            <a:ext cx="10634472"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F6E6E9"/>
                </a:solidFill>
              </a:defRPr>
            </a:lvl1pPr>
          </a:lstStyle>
          <a:p>
            <a:pPr algn="r"/>
            <a:fld id="{F7021451-1387-4CA6-816F-3879F97B5CBC}" type="slidenum">
              <a:rPr b="1"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chart" Target="../charts/chart1.xml"/><Relationship Id="rId3"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jpg"/><Relationship Id="rId3"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jpg"/><Relationship Id="rId3" Type="http://schemas.openxmlformats.org/officeDocument/2006/relationships/image" Target="../media/image4.jpg"/><Relationship Id="rId4" Type="http://schemas.openxmlformats.org/officeDocument/2006/relationships/image" Target="../media/image5.jpg"/><Relationship Id="rId5" Type="http://schemas.openxmlformats.org/officeDocument/2006/relationships/notesSlide" Target="../notesSlides/notesSlide1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jpg"/><Relationship Id="rId3" Type="http://schemas.openxmlformats.org/officeDocument/2006/relationships/image" Target="../media/image7.jpg"/><Relationship Id="rId4" Type="http://schemas.openxmlformats.org/officeDocument/2006/relationships/notesSlide" Target="../notesSlides/notesSlide1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chart" Target="../charts/chart2.xml"/><Relationship Id="rId3" Type="http://schemas.openxmlformats.org/officeDocument/2006/relationships/notesSlide" Target="../notesSlides/notesSlide19.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chart" Target="../charts/chart3.xml"/><Relationship Id="rId3" Type="http://schemas.openxmlformats.org/officeDocument/2006/relationships/notesSlide" Target="../notesSlides/notesSlide2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chart" Target="../charts/chart4.xml"/><Relationship Id="rId3" Type="http://schemas.openxmlformats.org/officeDocument/2006/relationships/notesSlide" Target="../notesSlides/notesSlide2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chart" Target="../charts/chart5.xml"/><Relationship Id="rId3" Type="http://schemas.openxmlformats.org/officeDocument/2006/relationships/notesSlide" Target="../notesSlides/notesSlide2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8.jpg"/><Relationship Id="rId3" Type="http://schemas.openxmlformats.org/officeDocument/2006/relationships/image" Target="../media/image9.jpg"/><Relationship Id="rId4" Type="http://schemas.openxmlformats.org/officeDocument/2006/relationships/image" Target="../media/image10.jpg"/><Relationship Id="rId5" Type="http://schemas.openxmlformats.org/officeDocument/2006/relationships/notesSlide" Target="../notesSlides/notesSlide3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1.jpg"/><Relationship Id="rId3" Type="http://schemas.openxmlformats.org/officeDocument/2006/relationships/image" Target="../media/image12.jpg"/><Relationship Id="rId4" Type="http://schemas.openxmlformats.org/officeDocument/2006/relationships/image" Target="../media/image13.jpg"/><Relationship Id="rId5" Type="http://schemas.openxmlformats.org/officeDocument/2006/relationships/notesSlide" Target="../notesSlides/notesSlide35.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4.jpg"/><Relationship Id="rId3" Type="http://schemas.openxmlformats.org/officeDocument/2006/relationships/image" Target="../media/image15.jpg"/><Relationship Id="rId4" Type="http://schemas.openxmlformats.org/officeDocument/2006/relationships/image" Target="../media/image16.jpg"/><Relationship Id="rId5" Type="http://schemas.openxmlformats.org/officeDocument/2006/relationships/notesSlide" Target="../notesSlides/notesSlide3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90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00.xml"/><Relationship Id="rId3" Type="http://schemas.openxmlformats.org/officeDocument/2006/relationships/image" Target="../media/image1.png"/></Relationships>
</file>

<file path=ppt/slides/_rels/slide90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01.xml"/><Relationship Id="rId3" Type="http://schemas.openxmlformats.org/officeDocument/2006/relationships/image" Target="../media/image1.png"/></Relationships>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TL;DR</a:t>
            </a:r>
          </a:p>
        </p:txBody>
      </p:sp>
      <p:sp>
        <p:nvSpPr>
          <p:cNvPr id="3" name="Title 2"/>
          <p:cNvSpPr>
            <a:spLocks noGrp="1"/>
          </p:cNvSpPr>
          <p:nvPr>
            <p:ph type="title" idx="104"/>
          </p:nvPr>
        </p:nvSpPr>
        <p:spPr/>
        <p:txBody>
          <a:bodyPr/>
          <a:lstStyle/>
          <a:p>
            <a:r>
              <a:t>Executive summary</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81328"/>
            <a:ext cx="2331720" cy="786384"/>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TextBox 26"/>
          <p:cNvSpPr txBox="1"/>
          <p:nvPr/>
        </p:nvSpPr>
        <p:spPr>
          <a:xfrm>
            <a:off x="941832" y="1481328"/>
            <a:ext cx="2103120" cy="786384"/>
          </a:xfrm>
          <a:prstGeom prst="rect">
            <a:avLst/>
          </a:prstGeom>
          <a:noFill/>
        </p:spPr>
        <p:txBody>
          <a:bodyPr wrap="square" lIns="0" rIns="0" tIns="0" bIns="0" anchor="ctr">
            <a:spAutoFit/>
          </a:bodyPr>
          <a:lstStyle/>
          <a:p>
            <a:pPr algn="l"/>
            <a:r>
              <a:rPr sz="1400" b="1" i="0">
                <a:solidFill>
                  <a:srgbClr val="8A1626"/>
                </a:solidFill>
              </a:rPr>
              <a:t>What is it?</a:t>
            </a:r>
          </a:p>
        </p:txBody>
      </p:sp>
      <p:sp>
        <p:nvSpPr>
          <p:cNvPr id="28" name="Rectangle 27"/>
          <p:cNvSpPr/>
          <p:nvPr/>
        </p:nvSpPr>
        <p:spPr>
          <a:xfrm>
            <a:off x="3154680" y="1481328"/>
            <a:ext cx="8257032" cy="78638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TextBox 28"/>
          <p:cNvSpPr txBox="1"/>
          <p:nvPr/>
        </p:nvSpPr>
        <p:spPr>
          <a:xfrm>
            <a:off x="3337560" y="1481328"/>
            <a:ext cx="7936992" cy="786384"/>
          </a:xfrm>
          <a:prstGeom prst="rect">
            <a:avLst/>
          </a:prstGeom>
          <a:noFill/>
        </p:spPr>
        <p:txBody>
          <a:bodyPr wrap="square" lIns="0" rIns="0" tIns="0" bIns="0" anchor="ctr">
            <a:spAutoFit/>
          </a:bodyPr>
          <a:lstStyle/>
          <a:p>
            <a:pPr algn="l"/>
            <a:r>
              <a:rPr sz="1300" b="0" i="0">
                <a:solidFill>
                  <a:srgbClr val="1A1A1A"/>
                </a:solidFill>
              </a:rPr>
              <a:t>A VaR engine in the Drishti server: historical simulation over 509 scenario days (or a set window), VaR 99% (95% by setting) and ES 97.5%, 1 day, on demand for any set of trades or positions: the bank, a legal entity, desk, book, a portfolio, a rule or a basket.</a:t>
            </a:r>
          </a:p>
        </p:txBody>
      </p:sp>
      <p:sp>
        <p:nvSpPr>
          <p:cNvPr id="30" name="Rectangle 29"/>
          <p:cNvSpPr/>
          <p:nvPr/>
        </p:nvSpPr>
        <p:spPr>
          <a:xfrm>
            <a:off x="777240" y="2359152"/>
            <a:ext cx="2331720" cy="676656"/>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TextBox 30"/>
          <p:cNvSpPr txBox="1"/>
          <p:nvPr/>
        </p:nvSpPr>
        <p:spPr>
          <a:xfrm>
            <a:off x="941832" y="2359152"/>
            <a:ext cx="2103120" cy="676656"/>
          </a:xfrm>
          <a:prstGeom prst="rect">
            <a:avLst/>
          </a:prstGeom>
          <a:noFill/>
        </p:spPr>
        <p:txBody>
          <a:bodyPr wrap="square" lIns="0" rIns="0" tIns="0" bIns="0" anchor="ctr">
            <a:spAutoFit/>
          </a:bodyPr>
          <a:lstStyle/>
          <a:p>
            <a:pPr algn="l"/>
            <a:r>
              <a:rPr sz="1400" b="1" i="0">
                <a:solidFill>
                  <a:srgbClr val="FFFFFF"/>
                </a:solidFill>
              </a:rPr>
              <a:t>Every input</a:t>
            </a:r>
          </a:p>
        </p:txBody>
      </p:sp>
      <p:sp>
        <p:nvSpPr>
          <p:cNvPr id="32" name="Rectangle 31"/>
          <p:cNvSpPr/>
          <p:nvPr/>
        </p:nvSpPr>
        <p:spPr>
          <a:xfrm>
            <a:off x="3154680" y="2359152"/>
            <a:ext cx="8257032" cy="676656"/>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TextBox 32"/>
          <p:cNvSpPr txBox="1"/>
          <p:nvPr/>
        </p:nvSpPr>
        <p:spPr>
          <a:xfrm>
            <a:off x="3337560" y="2359152"/>
            <a:ext cx="7936992" cy="676656"/>
          </a:xfrm>
          <a:prstGeom prst="rect">
            <a:avLst/>
          </a:prstGeom>
          <a:noFill/>
        </p:spPr>
        <p:txBody>
          <a:bodyPr wrap="square" lIns="0" rIns="0" tIns="0" bIns="0" anchor="ctr">
            <a:spAutoFit/>
          </a:bodyPr>
          <a:lstStyle/>
          <a:p>
            <a:pPr algn="l"/>
            <a:r>
              <a:rPr sz="1350" b="1" i="0">
                <a:solidFill>
                  <a:srgbClr val="8A1626"/>
                </a:solidFill>
              </a:rPr>
              <a:t>One engine, every input: scenario PVs or path P&amp;L, by trade or by position, any currency, files or Kafka. Source systems keep their own formats.</a:t>
            </a:r>
          </a:p>
        </p:txBody>
      </p:sp>
      <p:sp>
        <p:nvSpPr>
          <p:cNvPr id="34" name="Rectangle 33"/>
          <p:cNvSpPr/>
          <p:nvPr/>
        </p:nvSpPr>
        <p:spPr>
          <a:xfrm>
            <a:off x="777240" y="3127248"/>
            <a:ext cx="2331720" cy="118872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TextBox 34"/>
          <p:cNvSpPr txBox="1"/>
          <p:nvPr/>
        </p:nvSpPr>
        <p:spPr>
          <a:xfrm>
            <a:off x="941832" y="3127248"/>
            <a:ext cx="2103120" cy="1188720"/>
          </a:xfrm>
          <a:prstGeom prst="rect">
            <a:avLst/>
          </a:prstGeom>
          <a:noFill/>
        </p:spPr>
        <p:txBody>
          <a:bodyPr wrap="square" lIns="0" rIns="0" tIns="0" bIns="0" anchor="ctr">
            <a:spAutoFit/>
          </a:bodyPr>
          <a:lstStyle/>
          <a:p>
            <a:pPr algn="l"/>
            <a:r>
              <a:rPr sz="1400" b="1" i="0">
                <a:solidFill>
                  <a:srgbClr val="8A1626"/>
                </a:solidFill>
              </a:rPr>
              <a:t>How does it work?</a:t>
            </a:r>
          </a:p>
        </p:txBody>
      </p:sp>
      <p:sp>
        <p:nvSpPr>
          <p:cNvPr id="36" name="Rectangle 35"/>
          <p:cNvSpPr/>
          <p:nvPr/>
        </p:nvSpPr>
        <p:spPr>
          <a:xfrm>
            <a:off x="3154680" y="3127248"/>
            <a:ext cx="8257032" cy="118872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7" name="TextBox 36"/>
          <p:cNvSpPr txBox="1"/>
          <p:nvPr/>
        </p:nvSpPr>
        <p:spPr>
          <a:xfrm>
            <a:off x="3337560" y="3127248"/>
            <a:ext cx="7936992" cy="1188720"/>
          </a:xfrm>
          <a:prstGeom prst="rect">
            <a:avLst/>
          </a:prstGeom>
          <a:noFill/>
        </p:spPr>
        <p:txBody>
          <a:bodyPr wrap="square" lIns="0" rIns="0" tIns="0" bIns="0" anchor="ctr">
            <a:spAutoFit/>
          </a:bodyPr>
          <a:lstStyle/>
          <a:p>
            <a:pPr algn="l"/>
            <a:r>
              <a:rPr sz="1300" b="0" i="0">
                <a:solidFill>
                  <a:srgbClr val="1A1A1A"/>
                </a:solidFill>
              </a:rPr>
              <a:t>It never reprices. The pricing systems send scenario PVs (in each trade's or position's own currency) or path P&amp;L, at trade or position level, through files or Kafka. Drishti turns each into one internal form, a P&amp;L vector per trade or position, converting PVs with scenario FX into any reporting currency. A scope's vector is the sum of its trades' or positions' vectors, and VaR, ES and every contribution are read from that one vector.</a:t>
            </a:r>
          </a:p>
        </p:txBody>
      </p:sp>
      <p:sp>
        <p:nvSpPr>
          <p:cNvPr id="38" name="Rectangle 37"/>
          <p:cNvSpPr/>
          <p:nvPr/>
        </p:nvSpPr>
        <p:spPr>
          <a:xfrm>
            <a:off x="777240" y="4407408"/>
            <a:ext cx="2331720" cy="786384"/>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TextBox 38"/>
          <p:cNvSpPr txBox="1"/>
          <p:nvPr/>
        </p:nvSpPr>
        <p:spPr>
          <a:xfrm>
            <a:off x="941832" y="4407408"/>
            <a:ext cx="2103120" cy="786384"/>
          </a:xfrm>
          <a:prstGeom prst="rect">
            <a:avLst/>
          </a:prstGeom>
          <a:noFill/>
        </p:spPr>
        <p:txBody>
          <a:bodyPr wrap="square" lIns="0" rIns="0" tIns="0" bIns="0" anchor="ctr">
            <a:spAutoFit/>
          </a:bodyPr>
          <a:lstStyle/>
          <a:p>
            <a:pPr algn="l"/>
            <a:r>
              <a:rPr sz="1400" b="1" i="0">
                <a:solidFill>
                  <a:srgbClr val="8A1626"/>
                </a:solidFill>
              </a:rPr>
              <a:t>Can I trust it?</a:t>
            </a:r>
          </a:p>
        </p:txBody>
      </p:sp>
      <p:sp>
        <p:nvSpPr>
          <p:cNvPr id="40" name="Rectangle 39"/>
          <p:cNvSpPr/>
          <p:nvPr/>
        </p:nvSpPr>
        <p:spPr>
          <a:xfrm>
            <a:off x="3154680" y="4407408"/>
            <a:ext cx="8257032" cy="78638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1" name="TextBox 40"/>
          <p:cNvSpPr txBox="1"/>
          <p:nvPr/>
        </p:nvSpPr>
        <p:spPr>
          <a:xfrm>
            <a:off x="3337560" y="4407408"/>
            <a:ext cx="7936992" cy="786384"/>
          </a:xfrm>
          <a:prstGeom prst="rect">
            <a:avLst/>
          </a:prstGeom>
          <a:noFill/>
        </p:spPr>
        <p:txBody>
          <a:bodyPr wrap="square" lIns="0" rIns="0" tIns="0" bIns="0" anchor="ctr">
            <a:spAutoFit/>
          </a:bodyPr>
          <a:lstStyle/>
          <a:p>
            <a:pPr algn="l"/>
            <a:r>
              <a:rPr sz="1300" b="0" i="0">
                <a:solidFill>
                  <a:srgbClr val="1A1A1A"/>
                </a:solidFill>
              </a:rPr>
              <a:t>Every answer names its inputs' versions, batch ids, scenario set, method and memory tier; components add up to the VaR exactly; every node gets an official end-of-day record, append-only, kept 7 years.</a:t>
            </a:r>
          </a:p>
        </p:txBody>
      </p:sp>
      <p:sp>
        <p:nvSpPr>
          <p:cNvPr id="42" name="Rectangle 41"/>
          <p:cNvSpPr/>
          <p:nvPr/>
        </p:nvSpPr>
        <p:spPr>
          <a:xfrm>
            <a:off x="777240" y="5285232"/>
            <a:ext cx="2331720" cy="786384"/>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3" name="TextBox 42"/>
          <p:cNvSpPr txBox="1"/>
          <p:nvPr/>
        </p:nvSpPr>
        <p:spPr>
          <a:xfrm>
            <a:off x="941832" y="5285232"/>
            <a:ext cx="2103120" cy="786384"/>
          </a:xfrm>
          <a:prstGeom prst="rect">
            <a:avLst/>
          </a:prstGeom>
          <a:noFill/>
        </p:spPr>
        <p:txBody>
          <a:bodyPr wrap="square" lIns="0" rIns="0" tIns="0" bIns="0" anchor="ctr">
            <a:spAutoFit/>
          </a:bodyPr>
          <a:lstStyle/>
          <a:p>
            <a:pPr algn="l"/>
            <a:r>
              <a:rPr sz="1400" b="1" i="0">
                <a:solidFill>
                  <a:srgbClr val="8A1626"/>
                </a:solidFill>
              </a:rPr>
              <a:t>Does it scale?</a:t>
            </a:r>
          </a:p>
        </p:txBody>
      </p:sp>
      <p:sp>
        <p:nvSpPr>
          <p:cNvPr id="44" name="Rectangle 43"/>
          <p:cNvSpPr/>
          <p:nvPr/>
        </p:nvSpPr>
        <p:spPr>
          <a:xfrm>
            <a:off x="3154680" y="5285232"/>
            <a:ext cx="8257032" cy="78638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5" name="TextBox 44"/>
          <p:cNvSpPr txBox="1"/>
          <p:nvPr/>
        </p:nvSpPr>
        <p:spPr>
          <a:xfrm>
            <a:off x="3337560" y="5285232"/>
            <a:ext cx="7936992" cy="786384"/>
          </a:xfrm>
          <a:prstGeom prst="rect">
            <a:avLst/>
          </a:prstGeom>
          <a:noFill/>
        </p:spPr>
        <p:txBody>
          <a:bodyPr wrap="square" lIns="0" rIns="0" tIns="0" bIns="0" anchor="ctr">
            <a:spAutoFit/>
          </a:bodyPr>
          <a:lstStyle/>
          <a:p>
            <a:pPr algn="l"/>
            <a:r>
              <a:rPr sz="1300" b="0" i="0">
                <a:solidFill>
                  <a:srgbClr val="1A1A1A"/>
                </a:solidFill>
              </a:rPr>
              <a:t>Measured: 1 million rows summed in 58 ms¹ (heap tier); 100,000 × 5 dates on the tiered store, a node in 0.48 ms²; 700 limit letters build in the same time³. Sized for a large bank (e.g. 2.3M positions, 15,000 portfolios)⁴ on the sizing and capacity slides; VaR sharded across a cluster is built.</a:t>
            </a:r>
          </a:p>
        </p:txBody>
      </p:sp>
      <p:sp>
        <p:nvSpPr>
          <p:cNvPr id="46" name="Footnotes"/>
          <p:cNvSpPr txBox="1"/>
          <p:nvPr/>
        </p:nvSpPr>
        <p:spPr>
          <a:xfrm>
            <a:off x="2468880" y="6419088"/>
            <a:ext cx="8503920" cy="237744"/>
          </a:xfrm>
          <a:prstGeom prst="rect">
            <a:avLst/>
          </a:prstGeom>
          <a:noFill/>
        </p:spPr>
        <p:txBody>
          <a:bodyPr wrap="square" lIns="0" rIns="0" tIns="0" bIns="0" anchor="ctr">
            <a:spAutoFit/>
          </a:bodyPr>
          <a:lstStyle/>
          <a:p>
            <a:pPr algn="l"/>
            <a:r>
              <a:rPr sz="900" b="0" i="0">
                <a:solidFill>
                  <a:srgbClr val="4A5058"/>
                </a:solidFill>
              </a:rPr>
              <a:t>¹ Measured: VarScaleBenchmark, 1M trades (VAR_GUIDE §27.2)   ² VarTierBenchmark, 100,000 × 5 dates (§27.3)   ³ 10,000 trades (§15.14)   ⁴ derivation A-1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hapter background"/>
          <p:cNvSpPr/>
          <p:nvPr/>
        </p:nvSpPr>
        <p:spPr>
          <a:xfrm>
            <a:off x="0" y="0"/>
            <a:ext cx="12191969"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chapter number"/>
          <p:cNvSpPr txBox="1"/>
          <p:nvPr/>
        </p:nvSpPr>
        <p:spPr>
          <a:xfrm>
            <a:off x="4754880" y="-822960"/>
            <a:ext cx="7223760" cy="7863840"/>
          </a:xfrm>
          <a:prstGeom prst="rect">
            <a:avLst/>
          </a:prstGeom>
          <a:noFill/>
        </p:spPr>
        <p:txBody>
          <a:bodyPr wrap="none" lIns="0" rIns="0" tIns="0" bIns="0" anchor="ctr">
            <a:spAutoFit/>
          </a:bodyPr>
          <a:lstStyle/>
          <a:p>
            <a:pPr algn="r"/>
            <a:r>
              <a:rPr sz="42000" b="1" i="0">
                <a:solidFill>
                  <a:srgbClr val="B8394C"/>
                </a:solidFill>
              </a:rPr>
              <a:t>01</a:t>
            </a:r>
          </a:p>
        </p:txBody>
      </p:sp>
      <p:sp>
        <p:nvSpPr>
          <p:cNvPr id="4" name="chapter name"/>
          <p:cNvSpPr txBox="1"/>
          <p:nvPr/>
        </p:nvSpPr>
        <p:spPr>
          <a:xfrm>
            <a:off x="822960" y="2514600"/>
            <a:ext cx="6949440" cy="1828800"/>
          </a:xfrm>
          <a:prstGeom prst="rect">
            <a:avLst/>
          </a:prstGeom>
          <a:noFill/>
        </p:spPr>
        <p:txBody>
          <a:bodyPr wrap="square" lIns="0" rIns="0" tIns="0" bIns="0" anchor="ctr">
            <a:spAutoFit/>
          </a:bodyPr>
          <a:lstStyle/>
          <a:p>
            <a:pPr algn="l"/>
            <a:r>
              <a:rPr sz="4400" b="1" i="0">
                <a:solidFill>
                  <a:srgbClr val="FFFFFF"/>
                </a:solidFill>
              </a:rPr>
              <a:t>Why Drishti VaR</a:t>
            </a:r>
          </a:p>
        </p:txBody>
      </p:sp>
      <p:pic>
        <p:nvPicPr>
          <p:cNvPr id="5" name="Drishti mark" descr="Drishti logo: an eye between curly brackets"/>
          <p:cNvPicPr>
            <a:picLocks noChangeAspect="1"/>
          </p:cNvPicPr>
          <p:nvPr/>
        </p:nvPicPr>
        <p:blipFill>
          <a:blip r:embed="rId2"/>
          <a:stretch>
            <a:fillRect/>
          </a:stretch>
        </p:blipFill>
        <p:spPr>
          <a:xfrm>
            <a:off x="822960" y="6236208"/>
            <a:ext cx="430911" cy="237744"/>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WHY IT MATTERS</a:t>
            </a:r>
          </a:p>
        </p:txBody>
      </p:sp>
      <p:sp>
        <p:nvSpPr>
          <p:cNvPr id="3" name="Title 2"/>
          <p:cNvSpPr>
            <a:spLocks noGrp="1"/>
          </p:cNvSpPr>
          <p:nvPr>
            <p:ph type="title" idx="104"/>
          </p:nvPr>
        </p:nvSpPr>
        <p:spPr/>
        <p:txBody>
          <a:bodyPr/>
          <a:lstStyle/>
          <a:p>
            <a:r>
              <a:t>VaR at a large bank: scale, sources, currencies, intraday</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17320"/>
            <a:ext cx="2521458" cy="109728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Rectangle 26"/>
          <p:cNvSpPr/>
          <p:nvPr/>
        </p:nvSpPr>
        <p:spPr>
          <a:xfrm>
            <a:off x="777240" y="1417320"/>
            <a:ext cx="45720" cy="10972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960120" y="1508760"/>
            <a:ext cx="2247138" cy="457200"/>
          </a:xfrm>
          <a:prstGeom prst="rect">
            <a:avLst/>
          </a:prstGeom>
          <a:noFill/>
        </p:spPr>
        <p:txBody>
          <a:bodyPr wrap="square" lIns="0" rIns="0" tIns="0" bIns="0" anchor="ctr">
            <a:spAutoFit/>
          </a:bodyPr>
          <a:lstStyle/>
          <a:p>
            <a:pPr algn="l"/>
            <a:r>
              <a:rPr sz="2400" b="1" i="0">
                <a:solidFill>
                  <a:srgbClr val="8A1626"/>
                </a:solidFill>
              </a:rPr>
              <a:t>≈ 2.3M¹</a:t>
            </a:r>
          </a:p>
        </p:txBody>
      </p:sp>
      <p:sp>
        <p:nvSpPr>
          <p:cNvPr id="29" name="TextBox 28"/>
          <p:cNvSpPr txBox="1"/>
          <p:nvPr/>
        </p:nvSpPr>
        <p:spPr>
          <a:xfrm>
            <a:off x="960120" y="1984248"/>
            <a:ext cx="2247138" cy="475487"/>
          </a:xfrm>
          <a:prstGeom prst="rect">
            <a:avLst/>
          </a:prstGeom>
          <a:noFill/>
        </p:spPr>
        <p:txBody>
          <a:bodyPr wrap="square" lIns="0" rIns="0" tIns="0" bIns="0" anchor="t">
            <a:spAutoFit/>
          </a:bodyPr>
          <a:lstStyle/>
          <a:p>
            <a:pPr algn="l"/>
            <a:r>
              <a:rPr sz="1150" b="0" i="0">
                <a:solidFill>
                  <a:srgbClr val="4A5058"/>
                </a:solidFill>
              </a:rPr>
              <a:t>positions valued every business date</a:t>
            </a:r>
          </a:p>
        </p:txBody>
      </p:sp>
      <p:sp>
        <p:nvSpPr>
          <p:cNvPr id="30" name="Rectangle 29"/>
          <p:cNvSpPr/>
          <p:nvPr/>
        </p:nvSpPr>
        <p:spPr>
          <a:xfrm>
            <a:off x="3481578" y="1417320"/>
            <a:ext cx="2521458" cy="109728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Rectangle 30"/>
          <p:cNvSpPr/>
          <p:nvPr/>
        </p:nvSpPr>
        <p:spPr>
          <a:xfrm>
            <a:off x="3481578" y="1417320"/>
            <a:ext cx="45720" cy="10972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TextBox 31"/>
          <p:cNvSpPr txBox="1"/>
          <p:nvPr/>
        </p:nvSpPr>
        <p:spPr>
          <a:xfrm>
            <a:off x="3664458" y="1508760"/>
            <a:ext cx="2247138" cy="457200"/>
          </a:xfrm>
          <a:prstGeom prst="rect">
            <a:avLst/>
          </a:prstGeom>
          <a:noFill/>
        </p:spPr>
        <p:txBody>
          <a:bodyPr wrap="square" lIns="0" rIns="0" tIns="0" bIns="0" anchor="ctr">
            <a:spAutoFit/>
          </a:bodyPr>
          <a:lstStyle/>
          <a:p>
            <a:pPr algn="l"/>
            <a:r>
              <a:rPr sz="2400" b="1" i="0">
                <a:solidFill>
                  <a:srgbClr val="8A1626"/>
                </a:solidFill>
              </a:rPr>
              <a:t>≈ 15,000¹</a:t>
            </a:r>
          </a:p>
        </p:txBody>
      </p:sp>
      <p:sp>
        <p:nvSpPr>
          <p:cNvPr id="33" name="TextBox 32"/>
          <p:cNvSpPr txBox="1"/>
          <p:nvPr/>
        </p:nvSpPr>
        <p:spPr>
          <a:xfrm>
            <a:off x="3664458" y="1984248"/>
            <a:ext cx="2247138" cy="475487"/>
          </a:xfrm>
          <a:prstGeom prst="rect">
            <a:avLst/>
          </a:prstGeom>
          <a:noFill/>
        </p:spPr>
        <p:txBody>
          <a:bodyPr wrap="square" lIns="0" rIns="0" tIns="0" bIns="0" anchor="t">
            <a:spAutoFit/>
          </a:bodyPr>
          <a:lstStyle/>
          <a:p>
            <a:pPr algn="l"/>
            <a:r>
              <a:rPr sz="1150" b="0" i="0">
                <a:solidFill>
                  <a:srgbClr val="4A5058"/>
                </a:solidFill>
              </a:rPr>
              <a:t>portfolios, each a VaR on demand</a:t>
            </a:r>
          </a:p>
        </p:txBody>
      </p:sp>
      <p:sp>
        <p:nvSpPr>
          <p:cNvPr id="34" name="Rectangle 33"/>
          <p:cNvSpPr/>
          <p:nvPr/>
        </p:nvSpPr>
        <p:spPr>
          <a:xfrm>
            <a:off x="6185916" y="1417320"/>
            <a:ext cx="2521458" cy="109728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Rectangle 34"/>
          <p:cNvSpPr/>
          <p:nvPr/>
        </p:nvSpPr>
        <p:spPr>
          <a:xfrm>
            <a:off x="6185916" y="1417320"/>
            <a:ext cx="45720" cy="10972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xtBox 35"/>
          <p:cNvSpPr txBox="1"/>
          <p:nvPr/>
        </p:nvSpPr>
        <p:spPr>
          <a:xfrm>
            <a:off x="6368796" y="1508760"/>
            <a:ext cx="2247138" cy="457200"/>
          </a:xfrm>
          <a:prstGeom prst="rect">
            <a:avLst/>
          </a:prstGeom>
          <a:noFill/>
        </p:spPr>
        <p:txBody>
          <a:bodyPr wrap="square" lIns="0" rIns="0" tIns="0" bIns="0" anchor="ctr">
            <a:spAutoFit/>
          </a:bodyPr>
          <a:lstStyle/>
          <a:p>
            <a:pPr algn="l"/>
            <a:r>
              <a:rPr sz="2400" b="1" i="0">
                <a:solidFill>
                  <a:srgbClr val="8A1626"/>
                </a:solidFill>
              </a:rPr>
              <a:t>5²</a:t>
            </a:r>
          </a:p>
        </p:txBody>
      </p:sp>
      <p:sp>
        <p:nvSpPr>
          <p:cNvPr id="37" name="TextBox 36"/>
          <p:cNvSpPr txBox="1"/>
          <p:nvPr/>
        </p:nvSpPr>
        <p:spPr>
          <a:xfrm>
            <a:off x="6368796" y="1984248"/>
            <a:ext cx="2247138" cy="475487"/>
          </a:xfrm>
          <a:prstGeom prst="rect">
            <a:avLst/>
          </a:prstGeom>
          <a:noFill/>
        </p:spPr>
        <p:txBody>
          <a:bodyPr wrap="square" lIns="0" rIns="0" tIns="0" bIns="0" anchor="t">
            <a:spAutoFit/>
          </a:bodyPr>
          <a:lstStyle/>
          <a:p>
            <a:pPr algn="l"/>
            <a:r>
              <a:rPr sz="1150" b="0" i="0">
                <a:solidFill>
                  <a:srgbClr val="4A5058"/>
                </a:solidFill>
              </a:rPr>
              <a:t>reporting currencies built ahead: USD, EUR, CAD, JPY, GBP</a:t>
            </a:r>
          </a:p>
        </p:txBody>
      </p:sp>
      <p:sp>
        <p:nvSpPr>
          <p:cNvPr id="38" name="Rectangle 37"/>
          <p:cNvSpPr/>
          <p:nvPr/>
        </p:nvSpPr>
        <p:spPr>
          <a:xfrm>
            <a:off x="8890254" y="1417320"/>
            <a:ext cx="2521458" cy="109728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Rectangle 38"/>
          <p:cNvSpPr/>
          <p:nvPr/>
        </p:nvSpPr>
        <p:spPr>
          <a:xfrm>
            <a:off x="8890254" y="1417320"/>
            <a:ext cx="45720" cy="10972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0" name="TextBox 39"/>
          <p:cNvSpPr txBox="1"/>
          <p:nvPr/>
        </p:nvSpPr>
        <p:spPr>
          <a:xfrm>
            <a:off x="9073134" y="1508760"/>
            <a:ext cx="2247138" cy="457200"/>
          </a:xfrm>
          <a:prstGeom prst="rect">
            <a:avLst/>
          </a:prstGeom>
          <a:noFill/>
        </p:spPr>
        <p:txBody>
          <a:bodyPr wrap="square" lIns="0" rIns="0" tIns="0" bIns="0" anchor="ctr">
            <a:spAutoFit/>
          </a:bodyPr>
          <a:lstStyle/>
          <a:p>
            <a:pPr algn="l"/>
            <a:r>
              <a:rPr sz="2400" b="1" i="0">
                <a:solidFill>
                  <a:srgbClr val="8A1626"/>
                </a:solidFill>
              </a:rPr>
              <a:t>≈ 700¹</a:t>
            </a:r>
          </a:p>
        </p:txBody>
      </p:sp>
      <p:sp>
        <p:nvSpPr>
          <p:cNvPr id="41" name="TextBox 40"/>
          <p:cNvSpPr txBox="1"/>
          <p:nvPr/>
        </p:nvSpPr>
        <p:spPr>
          <a:xfrm>
            <a:off x="9073134" y="1984248"/>
            <a:ext cx="2247138" cy="475487"/>
          </a:xfrm>
          <a:prstGeom prst="rect">
            <a:avLst/>
          </a:prstGeom>
          <a:noFill/>
        </p:spPr>
        <p:txBody>
          <a:bodyPr wrap="square" lIns="0" rIns="0" tIns="0" bIns="0" anchor="t">
            <a:spAutoFit/>
          </a:bodyPr>
          <a:lstStyle/>
          <a:p>
            <a:pPr algn="l"/>
            <a:r>
              <a:rPr sz="1150" b="0" i="0">
                <a:solidFill>
                  <a:srgbClr val="4A5058"/>
                </a:solidFill>
              </a:rPr>
              <a:t>limit letters: a hierarchy configured by columns</a:t>
            </a:r>
          </a:p>
        </p:txBody>
      </p:sp>
      <p:sp>
        <p:nvSpPr>
          <p:cNvPr id="42" name="TextBox 41"/>
          <p:cNvSpPr txBox="1"/>
          <p:nvPr/>
        </p:nvSpPr>
        <p:spPr>
          <a:xfrm>
            <a:off x="777240" y="2578608"/>
            <a:ext cx="10634472" cy="256032"/>
          </a:xfrm>
          <a:prstGeom prst="rect">
            <a:avLst/>
          </a:prstGeom>
          <a:noFill/>
        </p:spPr>
        <p:txBody>
          <a:bodyPr wrap="square" lIns="0" rIns="0" tIns="0" bIns="0" anchor="t">
            <a:spAutoFit/>
          </a:bodyPr>
          <a:lstStyle/>
          <a:p>
            <a:pPr algn="l"/>
            <a:r>
              <a:rPr sz="1050" b="0" i="1">
                <a:solidFill>
                  <a:srgbClr val="4A5058"/>
                </a:solidFill>
              </a:rPr>
              <a:t>Illustrative volumes of a large bank (an example, not a client's figures); every other figure in this deck is Drishti's.</a:t>
            </a:r>
          </a:p>
        </p:txBody>
      </p:sp>
      <p:sp>
        <p:nvSpPr>
          <p:cNvPr id="43" name="Rectangle 42"/>
          <p:cNvSpPr/>
          <p:nvPr/>
        </p:nvSpPr>
        <p:spPr>
          <a:xfrm>
            <a:off x="777240" y="2907792"/>
            <a:ext cx="5225796" cy="109728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4" name="Rectangle 43"/>
          <p:cNvSpPr/>
          <p:nvPr/>
        </p:nvSpPr>
        <p:spPr>
          <a:xfrm>
            <a:off x="777240" y="2907792"/>
            <a:ext cx="45720" cy="10972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5" name="TextBox 44"/>
          <p:cNvSpPr txBox="1"/>
          <p:nvPr/>
        </p:nvSpPr>
        <p:spPr>
          <a:xfrm>
            <a:off x="941832" y="2980944"/>
            <a:ext cx="4969764" cy="987552"/>
          </a:xfrm>
          <a:prstGeom prst="rect">
            <a:avLst/>
          </a:prstGeom>
          <a:noFill/>
        </p:spPr>
        <p:txBody>
          <a:bodyPr wrap="square" lIns="0" rIns="0" tIns="0" bIns="0" anchor="t">
            <a:spAutoFit/>
          </a:bodyPr>
          <a:lstStyle/>
          <a:p>
            <a:pPr algn="l">
              <a:spcAft>
                <a:spcPts val="400"/>
              </a:spcAft>
            </a:pPr>
            <a:r>
              <a:rPr sz="1300" b="1" i="0">
                <a:solidFill>
                  <a:srgbClr val="8A1626"/>
                </a:solidFill>
              </a:rPr>
              <a:t>Scale</a:t>
            </a:r>
          </a:p>
          <a:p>
            <a:pPr algn="l" marL="146304" indent="-146304">
              <a:spcAft>
                <a:spcPts val="300"/>
              </a:spcAft>
              <a:buClr>
                <a:srgbClr val="A51C30"/>
              </a:buClr>
              <a:buSzPct val="100000"/>
              <a:buFont typeface="Arial"/>
              <a:buChar char="▪"/>
            </a:pPr>
            <a:r>
              <a:rPr sz="1150" b="0" i="0">
                <a:solidFill>
                  <a:srgbClr val="1A1A1A"/>
                </a:solidFill>
              </a:rPr>
              <a:t>A node's VaR from its float64 aggregate in under a millisecond, whatever its size</a:t>
            </a:r>
          </a:p>
          <a:p>
            <a:pPr algn="l" marL="146304" indent="-146304">
              <a:spcAft>
                <a:spcPts val="300"/>
              </a:spcAft>
              <a:buClr>
                <a:srgbClr val="A51C30"/>
              </a:buClr>
              <a:buSzPct val="100000"/>
              <a:buFont typeface="Arial"/>
              <a:buChar char="▪"/>
            </a:pPr>
            <a:r>
              <a:rPr sz="1150" b="0" i="0">
                <a:solidFill>
                  <a:srgbClr val="1A1A1A"/>
                </a:solidFill>
              </a:rPr>
              <a:t>Position grain keeps rows = positions; portfolios are sums of positions</a:t>
            </a:r>
          </a:p>
        </p:txBody>
      </p:sp>
      <p:sp>
        <p:nvSpPr>
          <p:cNvPr id="46" name="Rectangle 45"/>
          <p:cNvSpPr/>
          <p:nvPr/>
        </p:nvSpPr>
        <p:spPr>
          <a:xfrm>
            <a:off x="6185916" y="2907792"/>
            <a:ext cx="5225796" cy="109728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7" name="Rectangle 46"/>
          <p:cNvSpPr/>
          <p:nvPr/>
        </p:nvSpPr>
        <p:spPr>
          <a:xfrm>
            <a:off x="6185916" y="2907792"/>
            <a:ext cx="45720" cy="10972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8" name="TextBox 47"/>
          <p:cNvSpPr txBox="1"/>
          <p:nvPr/>
        </p:nvSpPr>
        <p:spPr>
          <a:xfrm>
            <a:off x="6350508" y="2980944"/>
            <a:ext cx="4969764" cy="987552"/>
          </a:xfrm>
          <a:prstGeom prst="rect">
            <a:avLst/>
          </a:prstGeom>
          <a:noFill/>
        </p:spPr>
        <p:txBody>
          <a:bodyPr wrap="square" lIns="0" rIns="0" tIns="0" bIns="0" anchor="t">
            <a:spAutoFit/>
          </a:bodyPr>
          <a:lstStyle/>
          <a:p>
            <a:pPr algn="l">
              <a:spcAft>
                <a:spcPts val="400"/>
              </a:spcAft>
            </a:pPr>
            <a:r>
              <a:rPr sz="1300" b="1" i="0">
                <a:solidFill>
                  <a:srgbClr val="8A1626"/>
                </a:solidFill>
              </a:rPr>
              <a:t>Pricing systems keep their formats</a:t>
            </a:r>
          </a:p>
          <a:p>
            <a:pPr algn="l" marL="146304" indent="-146304">
              <a:spcAft>
                <a:spcPts val="300"/>
              </a:spcAft>
              <a:buClr>
                <a:srgbClr val="A51C30"/>
              </a:buClr>
              <a:buSzPct val="100000"/>
              <a:buFont typeface="Arial"/>
              <a:buChar char="▪"/>
            </a:pPr>
            <a:r>
              <a:rPr sz="1150" b="0" i="0">
                <a:solidFill>
                  <a:srgbClr val="1A1A1A"/>
                </a:solidFill>
              </a:rPr>
              <a:t>Scenario PVs or P&amp;L, by trade or by position, files or Kafka</a:t>
            </a:r>
          </a:p>
          <a:p>
            <a:pPr algn="l" marL="146304" indent="-146304">
              <a:spcAft>
                <a:spcPts val="300"/>
              </a:spcAft>
              <a:buClr>
                <a:srgbClr val="A51C30"/>
              </a:buClr>
              <a:buSzPct val="100000"/>
              <a:buFont typeface="Arial"/>
              <a:buChar char="▪"/>
            </a:pPr>
            <a:r>
              <a:rPr sz="1150" b="0" i="0">
                <a:solidFill>
                  <a:srgbClr val="1A1A1A"/>
                </a:solidFill>
              </a:rPr>
              <a:t>Each system its own form; systems mix on one date and may switch day to day</a:t>
            </a:r>
          </a:p>
        </p:txBody>
      </p:sp>
      <p:sp>
        <p:nvSpPr>
          <p:cNvPr id="49" name="Rectangle 48"/>
          <p:cNvSpPr/>
          <p:nvPr/>
        </p:nvSpPr>
        <p:spPr>
          <a:xfrm>
            <a:off x="777240" y="4114800"/>
            <a:ext cx="5225796" cy="109728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0" name="Rectangle 49"/>
          <p:cNvSpPr/>
          <p:nvPr/>
        </p:nvSpPr>
        <p:spPr>
          <a:xfrm>
            <a:off x="777240" y="4114800"/>
            <a:ext cx="45720" cy="10972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1" name="TextBox 50"/>
          <p:cNvSpPr txBox="1"/>
          <p:nvPr/>
        </p:nvSpPr>
        <p:spPr>
          <a:xfrm>
            <a:off x="941832" y="4187952"/>
            <a:ext cx="4969764" cy="987552"/>
          </a:xfrm>
          <a:prstGeom prst="rect">
            <a:avLst/>
          </a:prstGeom>
          <a:noFill/>
        </p:spPr>
        <p:txBody>
          <a:bodyPr wrap="square" lIns="0" rIns="0" tIns="0" bIns="0" anchor="t">
            <a:spAutoFit/>
          </a:bodyPr>
          <a:lstStyle/>
          <a:p>
            <a:pPr algn="l">
              <a:spcAft>
                <a:spcPts val="400"/>
              </a:spcAft>
            </a:pPr>
            <a:r>
              <a:rPr sz="1300" b="1" i="0">
                <a:solidFill>
                  <a:srgbClr val="8A1626"/>
                </a:solidFill>
              </a:rPr>
              <a:t>Multi-currency reporting</a:t>
            </a:r>
          </a:p>
          <a:p>
            <a:pPr algn="l" marL="146304" indent="-146304">
              <a:spcAft>
                <a:spcPts val="300"/>
              </a:spcAft>
              <a:buClr>
                <a:srgbClr val="A51C30"/>
              </a:buClr>
              <a:buSzPct val="100000"/>
              <a:buFont typeface="Arial"/>
              <a:buChar char="▪"/>
            </a:pPr>
            <a:r>
              <a:rPr sz="1150" b="0" i="0">
                <a:solidFill>
                  <a:srgbClr val="1A1A1A"/>
                </a:solidFill>
              </a:rPr>
              <a:t>PVs in each trade's or position's own currency, converted with each scenario's FX</a:t>
            </a:r>
          </a:p>
          <a:p>
            <a:pPr algn="l" marL="146304" indent="-146304">
              <a:spcAft>
                <a:spcPts val="300"/>
              </a:spcAft>
              <a:buClr>
                <a:srgbClr val="A51C30"/>
              </a:buClr>
              <a:buSzPct val="100000"/>
              <a:buFont typeface="Arial"/>
              <a:buChar char="▪"/>
            </a:pPr>
            <a:r>
              <a:rPr sz="1150" b="0" i="0">
                <a:solidFill>
                  <a:srgbClr val="1A1A1A"/>
                </a:solidFill>
              </a:rPr>
              <a:t>A EUR or CAD VaR is not the USD VaR × today's rate: it carries the currency risk</a:t>
            </a:r>
          </a:p>
        </p:txBody>
      </p:sp>
      <p:sp>
        <p:nvSpPr>
          <p:cNvPr id="52" name="Rectangle 51"/>
          <p:cNvSpPr/>
          <p:nvPr/>
        </p:nvSpPr>
        <p:spPr>
          <a:xfrm>
            <a:off x="6185916" y="4114800"/>
            <a:ext cx="5225796" cy="109728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3" name="Rectangle 52"/>
          <p:cNvSpPr/>
          <p:nvPr/>
        </p:nvSpPr>
        <p:spPr>
          <a:xfrm>
            <a:off x="6185916" y="4114800"/>
            <a:ext cx="45720" cy="10972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4" name="TextBox 53"/>
          <p:cNvSpPr txBox="1"/>
          <p:nvPr/>
        </p:nvSpPr>
        <p:spPr>
          <a:xfrm>
            <a:off x="6350508" y="4187952"/>
            <a:ext cx="4969764" cy="987552"/>
          </a:xfrm>
          <a:prstGeom prst="rect">
            <a:avLst/>
          </a:prstGeom>
          <a:noFill/>
        </p:spPr>
        <p:txBody>
          <a:bodyPr wrap="square" lIns="0" rIns="0" tIns="0" bIns="0" anchor="t">
            <a:spAutoFit/>
          </a:bodyPr>
          <a:lstStyle/>
          <a:p>
            <a:pPr algn="l">
              <a:spcAft>
                <a:spcPts val="400"/>
              </a:spcAft>
            </a:pPr>
            <a:r>
              <a:rPr sz="1300" b="1" i="0">
                <a:solidFill>
                  <a:srgbClr val="8A1626"/>
                </a:solidFill>
              </a:rPr>
              <a:t>Intraday</a:t>
            </a:r>
          </a:p>
          <a:p>
            <a:pPr algn="l" marL="146304" indent="-146304">
              <a:spcAft>
                <a:spcPts val="300"/>
              </a:spcAft>
              <a:buClr>
                <a:srgbClr val="A51C30"/>
              </a:buClr>
              <a:buSzPct val="100000"/>
              <a:buFont typeface="Arial"/>
              <a:buChar char="▪"/>
            </a:pPr>
            <a:r>
              <a:rPr sz="1150" b="0" i="0">
                <a:solidFill>
                  <a:srgbClr val="1A1A1A"/>
                </a:solidFill>
              </a:rPr>
              <a:t>Only the changed trades or positions, applied as new − old up every tree</a:t>
            </a:r>
          </a:p>
          <a:p>
            <a:pPr algn="l" marL="146304" indent="-146304">
              <a:spcAft>
                <a:spcPts val="300"/>
              </a:spcAft>
              <a:buClr>
                <a:srgbClr val="A51C30"/>
              </a:buClr>
              <a:buSzPct val="100000"/>
              <a:buFont typeface="Arial"/>
              <a:buChar char="▪"/>
            </a:pPr>
            <a:r>
              <a:rPr sz="1150" b="0" i="0">
                <a:solidFill>
                  <a:srgbClr val="1A1A1A"/>
                </a:solidFill>
              </a:rPr>
              <a:t>The official end-of-day record stays the full run's; intraday never restates it</a:t>
            </a:r>
          </a:p>
        </p:txBody>
      </p:sp>
      <p:sp>
        <p:nvSpPr>
          <p:cNvPr id="55" name="Rectangle 54"/>
          <p:cNvSpPr/>
          <p:nvPr/>
        </p:nvSpPr>
        <p:spPr>
          <a:xfrm>
            <a:off x="777240" y="5349240"/>
            <a:ext cx="10634472" cy="914400"/>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6" name="TextBox 55"/>
          <p:cNvSpPr txBox="1"/>
          <p:nvPr/>
        </p:nvSpPr>
        <p:spPr>
          <a:xfrm>
            <a:off x="914400" y="5404103"/>
            <a:ext cx="1463040" cy="274320"/>
          </a:xfrm>
          <a:prstGeom prst="rect">
            <a:avLst/>
          </a:prstGeom>
          <a:noFill/>
        </p:spPr>
        <p:txBody>
          <a:bodyPr wrap="square" lIns="0" rIns="0" tIns="0" bIns="0" anchor="ctr">
            <a:spAutoFit/>
          </a:bodyPr>
          <a:lstStyle/>
          <a:p>
            <a:pPr algn="l"/>
            <a:r>
              <a:rPr sz="1100" b="1" i="0">
                <a:solidFill>
                  <a:srgbClr val="8A1626"/>
                </a:solidFill>
              </a:rPr>
              <a:t>Status words</a:t>
            </a:r>
          </a:p>
        </p:txBody>
      </p:sp>
      <p:sp>
        <p:nvSpPr>
          <p:cNvPr id="57" name="TextBox 56"/>
          <p:cNvSpPr txBox="1"/>
          <p:nvPr/>
        </p:nvSpPr>
        <p:spPr>
          <a:xfrm>
            <a:off x="2377440" y="5404103"/>
            <a:ext cx="8897112" cy="274320"/>
          </a:xfrm>
          <a:prstGeom prst="rect">
            <a:avLst/>
          </a:prstGeom>
          <a:noFill/>
        </p:spPr>
        <p:txBody>
          <a:bodyPr wrap="square" lIns="0" rIns="0" tIns="0" bIns="0" anchor="ctr">
            <a:spAutoFit/>
          </a:bodyPr>
          <a:lstStyle/>
          <a:p>
            <a:pPr algn="l"/>
            <a:r>
              <a:rPr sz="1050" b="0" i="1">
                <a:solidFill>
                  <a:srgbClr val="4A5058"/>
                </a:solidFill>
              </a:rPr>
              <a:t>Built things carry no label; only what is not built yet does.</a:t>
            </a:r>
          </a:p>
        </p:txBody>
      </p:sp>
      <p:sp>
        <p:nvSpPr>
          <p:cNvPr id="58" name="Rounded Rectangle 57"/>
          <p:cNvSpPr/>
          <p:nvPr/>
        </p:nvSpPr>
        <p:spPr>
          <a:xfrm>
            <a:off x="1354944" y="5733288"/>
            <a:ext cx="598932" cy="201168"/>
          </a:xfrm>
          <a:prstGeom prst="roundRect">
            <a:avLst>
              <a:gd name="adj" fmla="val 50000"/>
            </a:avLst>
          </a:prstGeom>
          <a:solidFill>
            <a:srgbClr val="FFFFFF"/>
          </a:solidFill>
          <a:ln w="12700">
            <a:solidFill>
              <a:srgbClr val="293352"/>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850" b="1" i="0">
                <a:solidFill>
                  <a:srgbClr val="293352"/>
                </a:solidFill>
              </a:rPr>
              <a:t>PLANNED</a:t>
            </a:r>
          </a:p>
        </p:txBody>
      </p:sp>
      <p:sp>
        <p:nvSpPr>
          <p:cNvPr id="59" name="TextBox 58"/>
          <p:cNvSpPr txBox="1"/>
          <p:nvPr/>
        </p:nvSpPr>
        <p:spPr>
          <a:xfrm>
            <a:off x="960119" y="5961888"/>
            <a:ext cx="1388581" cy="256032"/>
          </a:xfrm>
          <a:prstGeom prst="rect">
            <a:avLst/>
          </a:prstGeom>
          <a:noFill/>
        </p:spPr>
        <p:txBody>
          <a:bodyPr wrap="square" lIns="0" rIns="0" tIns="0" bIns="0" anchor="ctr">
            <a:spAutoFit/>
          </a:bodyPr>
          <a:lstStyle/>
          <a:p>
            <a:pPr algn="ctr"/>
            <a:r>
              <a:rPr sz="1050" b="0" i="0">
                <a:solidFill>
                  <a:srgbClr val="4A5058"/>
                </a:solidFill>
              </a:rPr>
              <a:t>not built yet</a:t>
            </a:r>
          </a:p>
        </p:txBody>
      </p:sp>
      <p:sp>
        <p:nvSpPr>
          <p:cNvPr id="60" name="Rounded Rectangle 59"/>
          <p:cNvSpPr/>
          <p:nvPr/>
        </p:nvSpPr>
        <p:spPr>
          <a:xfrm>
            <a:off x="2766386" y="5733288"/>
            <a:ext cx="736092" cy="201168"/>
          </a:xfrm>
          <a:prstGeom prst="roundRect">
            <a:avLst>
              <a:gd name="adj" fmla="val 50000"/>
            </a:avLst>
          </a:prstGeom>
          <a:solidFill>
            <a:srgbClr val="E9E6E1"/>
          </a:solidFill>
          <a:ln w="12700">
            <a:solidFill>
              <a:srgbClr val="4A5058"/>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850" b="1" i="0">
                <a:solidFill>
                  <a:srgbClr val="4A5058"/>
                </a:solidFill>
              </a:rPr>
              <a:t>NOT BUILT</a:t>
            </a:r>
          </a:p>
        </p:txBody>
      </p:sp>
      <p:sp>
        <p:nvSpPr>
          <p:cNvPr id="61" name="TextBox 60"/>
          <p:cNvSpPr txBox="1"/>
          <p:nvPr/>
        </p:nvSpPr>
        <p:spPr>
          <a:xfrm>
            <a:off x="2440141" y="5961888"/>
            <a:ext cx="1388581" cy="256032"/>
          </a:xfrm>
          <a:prstGeom prst="rect">
            <a:avLst/>
          </a:prstGeom>
          <a:noFill/>
        </p:spPr>
        <p:txBody>
          <a:bodyPr wrap="square" lIns="0" rIns="0" tIns="0" bIns="0" anchor="ctr">
            <a:spAutoFit/>
          </a:bodyPr>
          <a:lstStyle/>
          <a:p>
            <a:pPr algn="ctr"/>
            <a:r>
              <a:rPr sz="1050" b="0" i="0">
                <a:solidFill>
                  <a:srgbClr val="4A5058"/>
                </a:solidFill>
              </a:rPr>
              <a:t>open, not built</a:t>
            </a:r>
          </a:p>
        </p:txBody>
      </p:sp>
      <p:sp>
        <p:nvSpPr>
          <p:cNvPr id="62" name="Rounded Rectangle 61"/>
          <p:cNvSpPr/>
          <p:nvPr/>
        </p:nvSpPr>
        <p:spPr>
          <a:xfrm>
            <a:off x="4314988" y="5733288"/>
            <a:ext cx="598932" cy="201168"/>
          </a:xfrm>
          <a:prstGeom prst="roundRect">
            <a:avLst>
              <a:gd name="adj" fmla="val 50000"/>
            </a:avLst>
          </a:prstGeom>
          <a:solidFill>
            <a:srgbClr val="E9E6E1"/>
          </a:solidFill>
          <a:ln w="12700">
            <a:solidFill>
              <a:srgbClr val="4A5058"/>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850" b="1" i="0">
                <a:solidFill>
                  <a:srgbClr val="4A5058"/>
                </a:solidFill>
              </a:rPr>
              <a:t>NOT RUN</a:t>
            </a:r>
          </a:p>
        </p:txBody>
      </p:sp>
      <p:sp>
        <p:nvSpPr>
          <p:cNvPr id="63" name="TextBox 62"/>
          <p:cNvSpPr txBox="1"/>
          <p:nvPr/>
        </p:nvSpPr>
        <p:spPr>
          <a:xfrm>
            <a:off x="3920163" y="5961888"/>
            <a:ext cx="1388581" cy="256032"/>
          </a:xfrm>
          <a:prstGeom prst="rect">
            <a:avLst/>
          </a:prstGeom>
          <a:noFill/>
        </p:spPr>
        <p:txBody>
          <a:bodyPr wrap="square" lIns="0" rIns="0" tIns="0" bIns="0" anchor="ctr">
            <a:spAutoFit/>
          </a:bodyPr>
          <a:lstStyle/>
          <a:p>
            <a:pPr algn="ctr"/>
            <a:r>
              <a:rPr sz="1050" b="0" i="0">
                <a:solidFill>
                  <a:srgbClr val="4A5058"/>
                </a:solidFill>
              </a:rPr>
              <a:t>not yet run on AWS</a:t>
            </a:r>
          </a:p>
        </p:txBody>
      </p:sp>
      <p:sp>
        <p:nvSpPr>
          <p:cNvPr id="64" name="Rounded Rectangle 63"/>
          <p:cNvSpPr/>
          <p:nvPr/>
        </p:nvSpPr>
        <p:spPr>
          <a:xfrm>
            <a:off x="5760720" y="5733288"/>
            <a:ext cx="667512" cy="201168"/>
          </a:xfrm>
          <a:prstGeom prst="roundRect">
            <a:avLst>
              <a:gd name="adj" fmla="val 50000"/>
            </a:avLst>
          </a:prstGeom>
          <a:solidFill>
            <a:srgbClr val="FFFFFF"/>
          </a:solidFill>
          <a:ln w="12700">
            <a:solidFill>
              <a:srgbClr val="4A505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850" b="1" i="0">
                <a:solidFill>
                  <a:srgbClr val="4A5058"/>
                </a:solidFill>
              </a:rPr>
              <a:t>PROPOSED</a:t>
            </a:r>
          </a:p>
        </p:txBody>
      </p:sp>
      <p:sp>
        <p:nvSpPr>
          <p:cNvPr id="65" name="TextBox 64"/>
          <p:cNvSpPr txBox="1"/>
          <p:nvPr/>
        </p:nvSpPr>
        <p:spPr>
          <a:xfrm>
            <a:off x="5400185" y="5961888"/>
            <a:ext cx="1388581" cy="256032"/>
          </a:xfrm>
          <a:prstGeom prst="rect">
            <a:avLst/>
          </a:prstGeom>
          <a:noFill/>
        </p:spPr>
        <p:txBody>
          <a:bodyPr wrap="square" lIns="0" rIns="0" tIns="0" bIns="0" anchor="ctr">
            <a:spAutoFit/>
          </a:bodyPr>
          <a:lstStyle/>
          <a:p>
            <a:pPr algn="ctr"/>
            <a:r>
              <a:rPr sz="1050" b="0" i="0">
                <a:solidFill>
                  <a:srgbClr val="4A5058"/>
                </a:solidFill>
              </a:rPr>
              <a:t>this deck's proposal</a:t>
            </a:r>
          </a:p>
        </p:txBody>
      </p:sp>
      <p:sp>
        <p:nvSpPr>
          <p:cNvPr id="66" name="Rounded Rectangle 65"/>
          <p:cNvSpPr/>
          <p:nvPr/>
        </p:nvSpPr>
        <p:spPr>
          <a:xfrm>
            <a:off x="7240741" y="5733288"/>
            <a:ext cx="667512" cy="201168"/>
          </a:xfrm>
          <a:prstGeom prst="roundRect">
            <a:avLst>
              <a:gd name="adj" fmla="val 50000"/>
            </a:avLst>
          </a:prstGeom>
          <a:solidFill>
            <a:srgbClr val="4A5058"/>
          </a:solidFill>
          <a:ln w="12700">
            <a:solidFill>
              <a:srgbClr val="4A5058"/>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850" b="1" i="0">
                <a:solidFill>
                  <a:srgbClr val="FFFFFF"/>
                </a:solidFill>
              </a:rPr>
              <a:t>MEASURED</a:t>
            </a:r>
          </a:p>
        </p:txBody>
      </p:sp>
      <p:sp>
        <p:nvSpPr>
          <p:cNvPr id="67" name="TextBox 66"/>
          <p:cNvSpPr txBox="1"/>
          <p:nvPr/>
        </p:nvSpPr>
        <p:spPr>
          <a:xfrm>
            <a:off x="6880206" y="5961888"/>
            <a:ext cx="1388581" cy="256032"/>
          </a:xfrm>
          <a:prstGeom prst="rect">
            <a:avLst/>
          </a:prstGeom>
          <a:noFill/>
        </p:spPr>
        <p:txBody>
          <a:bodyPr wrap="square" lIns="0" rIns="0" tIns="0" bIns="0" anchor="ctr">
            <a:spAutoFit/>
          </a:bodyPr>
          <a:lstStyle/>
          <a:p>
            <a:pPr algn="ctr"/>
            <a:r>
              <a:rPr sz="1050" b="0" i="0">
                <a:solidFill>
                  <a:srgbClr val="4A5058"/>
                </a:solidFill>
              </a:rPr>
              <a:t>on a workstation</a:t>
            </a:r>
          </a:p>
        </p:txBody>
      </p:sp>
      <p:sp>
        <p:nvSpPr>
          <p:cNvPr id="68" name="Rounded Rectangle 67"/>
          <p:cNvSpPr/>
          <p:nvPr/>
        </p:nvSpPr>
        <p:spPr>
          <a:xfrm>
            <a:off x="8686473" y="5733288"/>
            <a:ext cx="736092" cy="201168"/>
          </a:xfrm>
          <a:prstGeom prst="roundRect">
            <a:avLst>
              <a:gd name="adj" fmla="val 50000"/>
            </a:avLst>
          </a:prstGeom>
          <a:solidFill>
            <a:srgbClr val="FFFFFF"/>
          </a:solidFill>
          <a:ln w="12700">
            <a:solidFill>
              <a:srgbClr val="4A5058"/>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850" b="1" i="0">
                <a:solidFill>
                  <a:srgbClr val="4A5058"/>
                </a:solidFill>
              </a:rPr>
              <a:t>ESTIMATED</a:t>
            </a:r>
          </a:p>
        </p:txBody>
      </p:sp>
      <p:sp>
        <p:nvSpPr>
          <p:cNvPr id="69" name="TextBox 68"/>
          <p:cNvSpPr txBox="1"/>
          <p:nvPr/>
        </p:nvSpPr>
        <p:spPr>
          <a:xfrm>
            <a:off x="8360228" y="5961888"/>
            <a:ext cx="1388581" cy="256032"/>
          </a:xfrm>
          <a:prstGeom prst="rect">
            <a:avLst/>
          </a:prstGeom>
          <a:noFill/>
        </p:spPr>
        <p:txBody>
          <a:bodyPr wrap="square" lIns="0" rIns="0" tIns="0" bIns="0" anchor="ctr">
            <a:spAutoFit/>
          </a:bodyPr>
          <a:lstStyle/>
          <a:p>
            <a:pPr algn="ctr"/>
            <a:r>
              <a:rPr sz="1050" b="0" i="0">
                <a:solidFill>
                  <a:srgbClr val="4A5058"/>
                </a:solidFill>
              </a:rPr>
              <a:t>scaled from measured</a:t>
            </a:r>
          </a:p>
        </p:txBody>
      </p:sp>
      <p:sp>
        <p:nvSpPr>
          <p:cNvPr id="70" name="Rounded Rectangle 69"/>
          <p:cNvSpPr/>
          <p:nvPr/>
        </p:nvSpPr>
        <p:spPr>
          <a:xfrm>
            <a:off x="10132205" y="5733288"/>
            <a:ext cx="804672" cy="201168"/>
          </a:xfrm>
          <a:prstGeom prst="roundRect">
            <a:avLst>
              <a:gd name="adj" fmla="val 50000"/>
            </a:avLst>
          </a:prstGeom>
          <a:solidFill>
            <a:srgbClr val="F3EBD9"/>
          </a:solidFill>
          <a:ln w="12700">
            <a:solidFill>
              <a:srgbClr val="C9A55A"/>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850" b="1" i="0">
                <a:solidFill>
                  <a:srgbClr val="7A5A12"/>
                </a:solidFill>
              </a:rPr>
              <a:t>ASSUMPTION</a:t>
            </a:r>
          </a:p>
        </p:txBody>
      </p:sp>
      <p:sp>
        <p:nvSpPr>
          <p:cNvPr id="71" name="TextBox 70"/>
          <p:cNvSpPr txBox="1"/>
          <p:nvPr/>
        </p:nvSpPr>
        <p:spPr>
          <a:xfrm>
            <a:off x="9840250" y="5961888"/>
            <a:ext cx="1388581" cy="256032"/>
          </a:xfrm>
          <a:prstGeom prst="rect">
            <a:avLst/>
          </a:prstGeom>
          <a:noFill/>
        </p:spPr>
        <p:txBody>
          <a:bodyPr wrap="square" lIns="0" rIns="0" tIns="0" bIns="0" anchor="ctr">
            <a:spAutoFit/>
          </a:bodyPr>
          <a:lstStyle/>
          <a:p>
            <a:pPr algn="ctr"/>
            <a:r>
              <a:rPr sz="1050" b="0" i="0">
                <a:solidFill>
                  <a:srgbClr val="4A5058"/>
                </a:solidFill>
              </a:rPr>
              <a:t>bank to confirm</a:t>
            </a:r>
          </a:p>
        </p:txBody>
      </p:sp>
      <p:sp>
        <p:nvSpPr>
          <p:cNvPr id="72" name="Footnotes"/>
          <p:cNvSpPr txBox="1"/>
          <p:nvPr/>
        </p:nvSpPr>
        <p:spPr>
          <a:xfrm>
            <a:off x="2468880" y="6419088"/>
            <a:ext cx="8503920" cy="237744"/>
          </a:xfrm>
          <a:prstGeom prst="rect">
            <a:avLst/>
          </a:prstGeom>
          <a:noFill/>
        </p:spPr>
        <p:txBody>
          <a:bodyPr wrap="square" lIns="0" rIns="0" tIns="0" bIns="0" anchor="ctr">
            <a:spAutoFit/>
          </a:bodyPr>
          <a:lstStyle/>
          <a:p>
            <a:pPr algn="l"/>
            <a:r>
              <a:rPr sz="900" b="0" i="0">
                <a:solidFill>
                  <a:srgbClr val="4A5058"/>
                </a:solidFill>
              </a:rPr>
              <a:t>¹ Illustrative volumes of a large bank, the product owner's sizing case: ASSUMPTION, for the bank to confirm   ² drishti.var.currencies: the five built ahead by default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hapter background"/>
          <p:cNvSpPr/>
          <p:nvPr/>
        </p:nvSpPr>
        <p:spPr>
          <a:xfrm>
            <a:off x="0" y="0"/>
            <a:ext cx="12191969"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chapter number"/>
          <p:cNvSpPr txBox="1"/>
          <p:nvPr/>
        </p:nvSpPr>
        <p:spPr>
          <a:xfrm>
            <a:off x="4754880" y="-822960"/>
            <a:ext cx="7223760" cy="7863840"/>
          </a:xfrm>
          <a:prstGeom prst="rect">
            <a:avLst/>
          </a:prstGeom>
          <a:noFill/>
        </p:spPr>
        <p:txBody>
          <a:bodyPr wrap="none" lIns="0" rIns="0" tIns="0" bIns="0" anchor="ctr">
            <a:spAutoFit/>
          </a:bodyPr>
          <a:lstStyle/>
          <a:p>
            <a:pPr algn="r"/>
            <a:r>
              <a:rPr sz="42000" b="1" i="0">
                <a:solidFill>
                  <a:srgbClr val="B8394C"/>
                </a:solidFill>
              </a:rPr>
              <a:t>02</a:t>
            </a:r>
          </a:p>
        </p:txBody>
      </p:sp>
      <p:sp>
        <p:nvSpPr>
          <p:cNvPr id="4" name="chapter name"/>
          <p:cNvSpPr txBox="1"/>
          <p:nvPr/>
        </p:nvSpPr>
        <p:spPr>
          <a:xfrm>
            <a:off x="822960" y="2514600"/>
            <a:ext cx="6949440" cy="1828800"/>
          </a:xfrm>
          <a:prstGeom prst="rect">
            <a:avLst/>
          </a:prstGeom>
          <a:noFill/>
        </p:spPr>
        <p:txBody>
          <a:bodyPr wrap="square" lIns="0" rIns="0" tIns="0" bIns="0" anchor="ctr">
            <a:spAutoFit/>
          </a:bodyPr>
          <a:lstStyle/>
          <a:p>
            <a:pPr algn="l"/>
            <a:r>
              <a:rPr sz="4400" b="1" i="0">
                <a:solidFill>
                  <a:srgbClr val="FFFFFF"/>
                </a:solidFill>
              </a:rPr>
              <a:t>How VaR works</a:t>
            </a:r>
          </a:p>
        </p:txBody>
      </p:sp>
      <p:pic>
        <p:nvPicPr>
          <p:cNvPr id="5" name="Drishti mark" descr="Drishti logo: an eye between curly brackets"/>
          <p:cNvPicPr>
            <a:picLocks noChangeAspect="1"/>
          </p:cNvPicPr>
          <p:nvPr/>
        </p:nvPicPr>
        <p:blipFill>
          <a:blip r:embed="rId2"/>
          <a:stretch>
            <a:fillRect/>
          </a:stretch>
        </p:blipFill>
        <p:spPr>
          <a:xfrm>
            <a:off x="822960" y="6236208"/>
            <a:ext cx="430911" cy="237744"/>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THE METHOD</a:t>
            </a:r>
          </a:p>
        </p:txBody>
      </p:sp>
      <p:sp>
        <p:nvSpPr>
          <p:cNvPr id="3" name="Title 2"/>
          <p:cNvSpPr>
            <a:spLocks noGrp="1"/>
          </p:cNvSpPr>
          <p:nvPr>
            <p:ph type="title" idx="104"/>
          </p:nvPr>
        </p:nvSpPr>
        <p:spPr/>
        <p:txBody>
          <a:bodyPr/>
          <a:lstStyle/>
          <a:p>
            <a:r>
              <a:t>How VaR works in Drishti: add vectors, then read the tail</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44752"/>
            <a:ext cx="2432304" cy="1024128"/>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Oval 26"/>
          <p:cNvSpPr/>
          <p:nvPr/>
        </p:nvSpPr>
        <p:spPr>
          <a:xfrm>
            <a:off x="886968" y="1554480"/>
            <a:ext cx="329184" cy="329184"/>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rPr>
              <a:t>1</a:t>
            </a:r>
          </a:p>
        </p:txBody>
      </p:sp>
      <p:sp>
        <p:nvSpPr>
          <p:cNvPr id="28" name="TextBox 27"/>
          <p:cNvSpPr txBox="1"/>
          <p:nvPr/>
        </p:nvSpPr>
        <p:spPr>
          <a:xfrm>
            <a:off x="1307592" y="1499616"/>
            <a:ext cx="1828800" cy="438912"/>
          </a:xfrm>
          <a:prstGeom prst="rect">
            <a:avLst/>
          </a:prstGeom>
          <a:noFill/>
        </p:spPr>
        <p:txBody>
          <a:bodyPr wrap="square" lIns="0" rIns="0" tIns="0" bIns="0" anchor="ctr">
            <a:spAutoFit/>
          </a:bodyPr>
          <a:lstStyle/>
          <a:p>
            <a:pPr algn="l"/>
            <a:r>
              <a:rPr sz="1250" b="1" i="0">
                <a:solidFill>
                  <a:srgbClr val="8A1626"/>
                </a:solidFill>
              </a:rPr>
              <a:t>A P&amp;L vector per trade or position</a:t>
            </a:r>
          </a:p>
        </p:txBody>
      </p:sp>
      <p:sp>
        <p:nvSpPr>
          <p:cNvPr id="29" name="TextBox 28"/>
          <p:cNvSpPr txBox="1"/>
          <p:nvPr/>
        </p:nvSpPr>
        <p:spPr>
          <a:xfrm>
            <a:off x="905256" y="1975104"/>
            <a:ext cx="2231136" cy="475488"/>
          </a:xfrm>
          <a:prstGeom prst="rect">
            <a:avLst/>
          </a:prstGeom>
          <a:noFill/>
        </p:spPr>
        <p:txBody>
          <a:bodyPr wrap="square" lIns="0" rIns="0" tIns="0" bIns="0" anchor="t">
            <a:spAutoFit/>
          </a:bodyPr>
          <a:lstStyle/>
          <a:p>
            <a:pPr algn="l"/>
            <a:r>
              <a:rPr sz="1100" b="0" i="0">
                <a:solidFill>
                  <a:srgbClr val="4A5058"/>
                </a:solidFill>
              </a:rPr>
              <a:t>509 numbers: its P&amp;L if the market moved as on each scenario day</a:t>
            </a:r>
          </a:p>
        </p:txBody>
      </p:sp>
      <p:cxnSp>
        <p:nvCxnSpPr>
          <p:cNvPr id="30" name="Connector 29"/>
          <p:cNvCxnSpPr/>
          <p:nvPr/>
        </p:nvCxnSpPr>
        <p:spPr>
          <a:xfrm>
            <a:off x="3236976" y="1920240"/>
            <a:ext cx="246888" cy="0"/>
          </a:xfrm>
          <a:prstGeom prst="line">
            <a:avLst/>
          </a:prstGeom>
          <a:ln w="2222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Rectangle 30"/>
          <p:cNvSpPr/>
          <p:nvPr/>
        </p:nvSpPr>
        <p:spPr>
          <a:xfrm>
            <a:off x="3511296" y="1444752"/>
            <a:ext cx="2432304" cy="1024128"/>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Oval 31"/>
          <p:cNvSpPr/>
          <p:nvPr/>
        </p:nvSpPr>
        <p:spPr>
          <a:xfrm>
            <a:off x="3621024" y="1554480"/>
            <a:ext cx="329184" cy="329184"/>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rPr>
              <a:t>2</a:t>
            </a:r>
          </a:p>
        </p:txBody>
      </p:sp>
      <p:sp>
        <p:nvSpPr>
          <p:cNvPr id="33" name="TextBox 32"/>
          <p:cNvSpPr txBox="1"/>
          <p:nvPr/>
        </p:nvSpPr>
        <p:spPr>
          <a:xfrm>
            <a:off x="4041648" y="1499616"/>
            <a:ext cx="1828800" cy="438912"/>
          </a:xfrm>
          <a:prstGeom prst="rect">
            <a:avLst/>
          </a:prstGeom>
          <a:noFill/>
        </p:spPr>
        <p:txBody>
          <a:bodyPr wrap="square" lIns="0" rIns="0" tIns="0" bIns="0" anchor="ctr">
            <a:spAutoFit/>
          </a:bodyPr>
          <a:lstStyle/>
          <a:p>
            <a:pPr algn="l"/>
            <a:r>
              <a:rPr sz="1250" b="1" i="0">
                <a:solidFill>
                  <a:srgbClr val="8A1626"/>
                </a:solidFill>
              </a:rPr>
              <a:t>Add the scope's vectors</a:t>
            </a:r>
          </a:p>
        </p:txBody>
      </p:sp>
      <p:sp>
        <p:nvSpPr>
          <p:cNvPr id="34" name="TextBox 33"/>
          <p:cNvSpPr txBox="1"/>
          <p:nvPr/>
        </p:nvSpPr>
        <p:spPr>
          <a:xfrm>
            <a:off x="3639312" y="1975104"/>
            <a:ext cx="2231136" cy="475488"/>
          </a:xfrm>
          <a:prstGeom prst="rect">
            <a:avLst/>
          </a:prstGeom>
          <a:noFill/>
        </p:spPr>
        <p:txBody>
          <a:bodyPr wrap="square" lIns="0" rIns="0" tIns="0" bIns="0" anchor="t">
            <a:spAutoFit/>
          </a:bodyPr>
          <a:lstStyle/>
          <a:p>
            <a:pPr algn="l"/>
            <a:r>
              <a:rPr sz="1100" b="0" i="0">
                <a:solidFill>
                  <a:srgbClr val="4A5058"/>
                </a:solidFill>
              </a:rPr>
              <a:t>a set of trades or positions; overlaps once; longs and shorts net</a:t>
            </a:r>
          </a:p>
        </p:txBody>
      </p:sp>
      <p:cxnSp>
        <p:nvCxnSpPr>
          <p:cNvPr id="35" name="Connector 34"/>
          <p:cNvCxnSpPr/>
          <p:nvPr/>
        </p:nvCxnSpPr>
        <p:spPr>
          <a:xfrm>
            <a:off x="5971032" y="1920240"/>
            <a:ext cx="246888" cy="0"/>
          </a:xfrm>
          <a:prstGeom prst="line">
            <a:avLst/>
          </a:prstGeom>
          <a:ln w="2222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Rectangle 35"/>
          <p:cNvSpPr/>
          <p:nvPr/>
        </p:nvSpPr>
        <p:spPr>
          <a:xfrm>
            <a:off x="6245352" y="1444752"/>
            <a:ext cx="2432304" cy="1024128"/>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7" name="Oval 36"/>
          <p:cNvSpPr/>
          <p:nvPr/>
        </p:nvSpPr>
        <p:spPr>
          <a:xfrm>
            <a:off x="6355080" y="1554480"/>
            <a:ext cx="329184" cy="329184"/>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rPr>
              <a:t>3</a:t>
            </a:r>
          </a:p>
        </p:txBody>
      </p:sp>
      <p:sp>
        <p:nvSpPr>
          <p:cNvPr id="38" name="TextBox 37"/>
          <p:cNvSpPr txBox="1"/>
          <p:nvPr/>
        </p:nvSpPr>
        <p:spPr>
          <a:xfrm>
            <a:off x="6775704" y="1499616"/>
            <a:ext cx="1828800" cy="438912"/>
          </a:xfrm>
          <a:prstGeom prst="rect">
            <a:avLst/>
          </a:prstGeom>
          <a:noFill/>
        </p:spPr>
        <p:txBody>
          <a:bodyPr wrap="square" lIns="0" rIns="0" tIns="0" bIns="0" anchor="ctr">
            <a:spAutoFit/>
          </a:bodyPr>
          <a:lstStyle/>
          <a:p>
            <a:pPr algn="l"/>
            <a:r>
              <a:rPr sz="1250" b="1" i="0">
                <a:solidFill>
                  <a:srgbClr val="8A1626"/>
                </a:solidFill>
              </a:rPr>
              <a:t>Sort the 509 P&amp;Ls</a:t>
            </a:r>
          </a:p>
        </p:txBody>
      </p:sp>
      <p:sp>
        <p:nvSpPr>
          <p:cNvPr id="39" name="TextBox 38"/>
          <p:cNvSpPr txBox="1"/>
          <p:nvPr/>
        </p:nvSpPr>
        <p:spPr>
          <a:xfrm>
            <a:off x="6373368" y="1975104"/>
            <a:ext cx="2231136" cy="475488"/>
          </a:xfrm>
          <a:prstGeom prst="rect">
            <a:avLst/>
          </a:prstGeom>
          <a:noFill/>
        </p:spPr>
        <p:txBody>
          <a:bodyPr wrap="square" lIns="0" rIns="0" tIns="0" bIns="0" anchor="t">
            <a:spAutoFit/>
          </a:bodyPr>
          <a:lstStyle/>
          <a:p>
            <a:pPr algn="l"/>
            <a:r>
              <a:rPr sz="1100" b="0" i="0">
                <a:solidFill>
                  <a:srgbClr val="4A5058"/>
                </a:solidFill>
              </a:rPr>
              <a:t>worst first; equal P&amp;Ls: the older scenario first</a:t>
            </a:r>
          </a:p>
        </p:txBody>
      </p:sp>
      <p:cxnSp>
        <p:nvCxnSpPr>
          <p:cNvPr id="40" name="Connector 39"/>
          <p:cNvCxnSpPr/>
          <p:nvPr/>
        </p:nvCxnSpPr>
        <p:spPr>
          <a:xfrm>
            <a:off x="8705088" y="1920240"/>
            <a:ext cx="246888" cy="0"/>
          </a:xfrm>
          <a:prstGeom prst="line">
            <a:avLst/>
          </a:prstGeom>
          <a:ln w="2222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1" name="Rectangle 40"/>
          <p:cNvSpPr/>
          <p:nvPr/>
        </p:nvSpPr>
        <p:spPr>
          <a:xfrm>
            <a:off x="8979408" y="1444752"/>
            <a:ext cx="2432304" cy="1024128"/>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Oval 41"/>
          <p:cNvSpPr/>
          <p:nvPr/>
        </p:nvSpPr>
        <p:spPr>
          <a:xfrm>
            <a:off x="9089136" y="1554480"/>
            <a:ext cx="329184" cy="329184"/>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rPr>
              <a:t>4</a:t>
            </a:r>
          </a:p>
        </p:txBody>
      </p:sp>
      <p:sp>
        <p:nvSpPr>
          <p:cNvPr id="43" name="TextBox 42"/>
          <p:cNvSpPr txBox="1"/>
          <p:nvPr/>
        </p:nvSpPr>
        <p:spPr>
          <a:xfrm>
            <a:off x="9509760" y="1499616"/>
            <a:ext cx="1828800" cy="438912"/>
          </a:xfrm>
          <a:prstGeom prst="rect">
            <a:avLst/>
          </a:prstGeom>
          <a:noFill/>
        </p:spPr>
        <p:txBody>
          <a:bodyPr wrap="square" lIns="0" rIns="0" tIns="0" bIns="0" anchor="ctr">
            <a:spAutoFit/>
          </a:bodyPr>
          <a:lstStyle/>
          <a:p>
            <a:pPr algn="l"/>
            <a:r>
              <a:rPr sz="1250" b="1" i="0">
                <a:solidFill>
                  <a:srgbClr val="8A1626"/>
                </a:solidFill>
              </a:rPr>
              <a:t>Read the tail</a:t>
            </a:r>
          </a:p>
        </p:txBody>
      </p:sp>
      <p:sp>
        <p:nvSpPr>
          <p:cNvPr id="44" name="TextBox 43"/>
          <p:cNvSpPr txBox="1"/>
          <p:nvPr/>
        </p:nvSpPr>
        <p:spPr>
          <a:xfrm>
            <a:off x="9107424" y="1975104"/>
            <a:ext cx="2231136" cy="475488"/>
          </a:xfrm>
          <a:prstGeom prst="rect">
            <a:avLst/>
          </a:prstGeom>
          <a:noFill/>
        </p:spPr>
        <p:txBody>
          <a:bodyPr wrap="square" lIns="0" rIns="0" tIns="0" bIns="0" anchor="t">
            <a:spAutoFit/>
          </a:bodyPr>
          <a:lstStyle/>
          <a:p>
            <a:pPr algn="l"/>
            <a:r>
              <a:rPr sz="1100" b="0" i="0">
                <a:solidFill>
                  <a:srgbClr val="4A5058"/>
                </a:solidFill>
              </a:rPr>
              <a:t>VaR: minus the 6th worst; ES: minus the mean of the 13 worst</a:t>
            </a:r>
          </a:p>
        </p:txBody>
      </p:sp>
      <p:sp>
        <p:nvSpPr>
          <p:cNvPr id="45" name="TextBox 44"/>
          <p:cNvSpPr txBox="1"/>
          <p:nvPr/>
        </p:nvSpPr>
        <p:spPr>
          <a:xfrm>
            <a:off x="777240" y="2560320"/>
            <a:ext cx="6400800" cy="274320"/>
          </a:xfrm>
          <a:prstGeom prst="rect">
            <a:avLst/>
          </a:prstGeom>
          <a:noFill/>
        </p:spPr>
        <p:txBody>
          <a:bodyPr wrap="square" lIns="0" rIns="0" tIns="0" bIns="0" anchor="t">
            <a:spAutoFit/>
          </a:bodyPr>
          <a:lstStyle/>
          <a:p>
            <a:pPr algn="l"/>
            <a:r>
              <a:rPr sz="1300" b="1" i="0">
                <a:solidFill>
                  <a:srgbClr val="A51C30"/>
                </a:solidFill>
              </a:rPr>
              <a:t>Worked example  </a:t>
            </a:r>
            <a:r>
              <a:rPr sz="1200" b="0" i="0">
                <a:solidFill>
                  <a:srgbClr val="4A5058"/>
                </a:solidFill>
              </a:rPr>
              <a:t>ten scenarios, α = 80% so k = 2; one book holding P1 (T1 long, T2 short) and P2 (T3)</a:t>
            </a:r>
          </a:p>
        </p:txBody>
      </p:sp>
      <p:graphicFrame>
        <p:nvGraphicFramePr>
          <p:cNvPr id="46" name="Table 45"/>
          <p:cNvGraphicFramePr>
            <a:graphicFrameLocks noGrp="1"/>
          </p:cNvGraphicFramePr>
          <p:nvPr/>
        </p:nvGraphicFramePr>
        <p:xfrm>
          <a:off x="777240" y="2862072"/>
          <a:ext cx="6400800" cy="1591056"/>
        </p:xfrm>
        <a:graphic>
          <a:graphicData uri="http://schemas.openxmlformats.org/drawingml/2006/table">
            <a:tbl>
              <a:tblPr firstRow="0" bandRow="0">
                <a:tableStyleId>{5940675A-B579-460E-94D1-54222C63F5DA}</a:tableStyleId>
              </a:tblPr>
              <a:tblGrid>
                <a:gridCol w="1463040"/>
                <a:gridCol w="493776"/>
                <a:gridCol w="493776"/>
                <a:gridCol w="493776"/>
                <a:gridCol w="493776"/>
                <a:gridCol w="493776"/>
                <a:gridCol w="493776"/>
                <a:gridCol w="493776"/>
                <a:gridCol w="493776"/>
                <a:gridCol w="493776"/>
                <a:gridCol w="493776"/>
              </a:tblGrid>
              <a:tr h="265176">
                <a:tc>
                  <a:txBody>
                    <a:bodyPr wrap="square"/>
                    <a:lstStyle/>
                    <a:p>
                      <a:r>
                        <a:rPr sz="1200" b="1" i="0">
                          <a:solidFill>
                            <a:srgbClr val="FFFFFF"/>
                          </a:solidFill>
                        </a:rPr>
                        <a:t>Vector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200" b="1" i="0">
                          <a:solidFill>
                            <a:srgbClr val="FFFFFF"/>
                          </a:solidFill>
                        </a:rPr>
                        <a:t>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200" b="1" i="0">
                          <a:solidFill>
                            <a:srgbClr val="FFFFFF"/>
                          </a:solidFill>
                        </a:rPr>
                        <a:t>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200" b="1" i="0">
                          <a:solidFill>
                            <a:srgbClr val="FFFFFF"/>
                          </a:solidFill>
                        </a:rPr>
                        <a:t>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200" b="1" i="0">
                          <a:solidFill>
                            <a:srgbClr val="FFFFFF"/>
                          </a:solidFill>
                        </a:rPr>
                        <a:t>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200" b="1" i="0">
                          <a:solidFill>
                            <a:srgbClr val="FFFFFF"/>
                          </a:solidFill>
                        </a:rPr>
                        <a:t>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200" b="1" i="0">
                          <a:solidFill>
                            <a:srgbClr val="FFFFFF"/>
                          </a:solidFill>
                        </a:rPr>
                        <a:t>5</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200" b="1" i="0">
                          <a:solidFill>
                            <a:srgbClr val="FFFFFF"/>
                          </a:solidFill>
                        </a:rPr>
                        <a:t>6</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200" b="1" i="0">
                          <a:solidFill>
                            <a:srgbClr val="FFFFFF"/>
                          </a:solidFill>
                        </a:rPr>
                        <a:t>7</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200" b="1" i="0">
                          <a:solidFill>
                            <a:srgbClr val="FFFFFF"/>
                          </a:solidFill>
                        </a:rPr>
                        <a:t>8</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200" b="1" i="0">
                          <a:solidFill>
                            <a:srgbClr val="FFFFFF"/>
                          </a:solidFill>
                        </a:rPr>
                        <a:t>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265176">
                <a:tc>
                  <a:txBody>
                    <a:bodyPr wrap="square"/>
                    <a:lstStyle/>
                    <a:p>
                      <a:r>
                        <a:rPr sz="1200" b="1" i="0">
                          <a:solidFill>
                            <a:srgbClr val="8A1626"/>
                          </a:solidFill>
                        </a:rPr>
                        <a:t>T1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5</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−8</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−12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6</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−5</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7</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65176">
                <a:tc>
                  <a:txBody>
                    <a:bodyPr wrap="square"/>
                    <a:lstStyle/>
                    <a:p>
                      <a:r>
                        <a:rPr sz="1200" b="1" i="0">
                          <a:solidFill>
                            <a:srgbClr val="8A1626"/>
                          </a:solidFill>
                        </a:rPr>
                        <a:t>T2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65176">
                <a:tc>
                  <a:txBody>
                    <a:bodyPr wrap="square"/>
                    <a:lstStyle/>
                    <a:p>
                      <a:r>
                        <a:rPr sz="1200" b="1" i="0">
                          <a:solidFill>
                            <a:srgbClr val="8A1626"/>
                          </a:solidFill>
                        </a:rPr>
                        <a:t>P2 = T3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−6</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−7</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65176">
                <a:tc>
                  <a:txBody>
                    <a:bodyPr wrap="square"/>
                    <a:lstStyle/>
                    <a:p>
                      <a:r>
                        <a:rPr sz="1200" b="1" i="0">
                          <a:solidFill>
                            <a:srgbClr val="8A1626"/>
                          </a:solidFill>
                        </a:rPr>
                        <a:t>P1 = T1 + T2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−5</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−8</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65176">
                <a:tc>
                  <a:txBody>
                    <a:bodyPr wrap="square"/>
                    <a:lstStyle/>
                    <a:p>
                      <a:r>
                        <a:rPr sz="1200" b="1" i="0">
                          <a:solidFill>
                            <a:srgbClr val="8A1626"/>
                          </a:solidFill>
                        </a:rPr>
                        <a:t>Book = P1 + P2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1" i="0">
                          <a:solidFill>
                            <a:srgbClr val="A51C30"/>
                          </a:solidFill>
                        </a:rPr>
                        <a:t>−7</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1" i="0">
                          <a:solidFill>
                            <a:srgbClr val="A51C30"/>
                          </a:solidFill>
                        </a:rPr>
                        <a:t>−6</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6</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1" i="0">
                          <a:solidFill>
                            <a:srgbClr val="A51C30"/>
                          </a:solidFill>
                        </a:rPr>
                        <a:t>−6</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bl>
          </a:graphicData>
        </a:graphic>
      </p:graphicFrame>
      <p:sp>
        <p:nvSpPr>
          <p:cNvPr id="47" name="Rectangle 46"/>
          <p:cNvSpPr/>
          <p:nvPr/>
        </p:nvSpPr>
        <p:spPr>
          <a:xfrm>
            <a:off x="777240" y="4526280"/>
            <a:ext cx="1207008" cy="98755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8" name="TextBox 47"/>
          <p:cNvSpPr txBox="1"/>
          <p:nvPr/>
        </p:nvSpPr>
        <p:spPr>
          <a:xfrm>
            <a:off x="868680" y="4572000"/>
            <a:ext cx="1069848" cy="228600"/>
          </a:xfrm>
          <a:prstGeom prst="rect">
            <a:avLst/>
          </a:prstGeom>
          <a:noFill/>
        </p:spPr>
        <p:txBody>
          <a:bodyPr wrap="square" lIns="0" rIns="0" tIns="0" bIns="0" anchor="t">
            <a:spAutoFit/>
          </a:bodyPr>
          <a:lstStyle/>
          <a:p>
            <a:pPr algn="l"/>
            <a:r>
              <a:rPr sz="1100" b="1" i="0">
                <a:solidFill>
                  <a:srgbClr val="4A5058"/>
                </a:solidFill>
              </a:rPr>
              <a:t>VaR</a:t>
            </a:r>
          </a:p>
        </p:txBody>
      </p:sp>
      <p:sp>
        <p:nvSpPr>
          <p:cNvPr id="49" name="TextBox 48"/>
          <p:cNvSpPr txBox="1"/>
          <p:nvPr/>
        </p:nvSpPr>
        <p:spPr>
          <a:xfrm>
            <a:off x="868680" y="4800600"/>
            <a:ext cx="1069848" cy="320040"/>
          </a:xfrm>
          <a:prstGeom prst="rect">
            <a:avLst/>
          </a:prstGeom>
          <a:noFill/>
        </p:spPr>
        <p:txBody>
          <a:bodyPr wrap="square" lIns="0" rIns="0" tIns="0" bIns="0" anchor="t">
            <a:spAutoFit/>
          </a:bodyPr>
          <a:lstStyle/>
          <a:p>
            <a:pPr algn="l"/>
            <a:r>
              <a:rPr sz="1500" b="1" i="0">
                <a:solidFill>
                  <a:srgbClr val="8A1626"/>
                </a:solidFill>
              </a:rPr>
              <a:t>6</a:t>
            </a:r>
          </a:p>
        </p:txBody>
      </p:sp>
      <p:sp>
        <p:nvSpPr>
          <p:cNvPr id="50" name="TextBox 49"/>
          <p:cNvSpPr txBox="1"/>
          <p:nvPr/>
        </p:nvSpPr>
        <p:spPr>
          <a:xfrm>
            <a:off x="868680" y="5102352"/>
            <a:ext cx="1069848" cy="411480"/>
          </a:xfrm>
          <a:prstGeom prst="rect">
            <a:avLst/>
          </a:prstGeom>
          <a:noFill/>
        </p:spPr>
        <p:txBody>
          <a:bodyPr wrap="square" lIns="0" rIns="0" tIns="0" bIns="0" anchor="t">
            <a:spAutoFit/>
          </a:bodyPr>
          <a:lstStyle/>
          <a:p>
            <a:pPr algn="l"/>
            <a:r>
              <a:rPr sz="1050" b="0" i="0">
                <a:solidFill>
                  <a:srgbClr val="4A5058"/>
                </a:solidFill>
              </a:rPr>
              <a:t>2nd worst of the book: −6</a:t>
            </a:r>
          </a:p>
        </p:txBody>
      </p:sp>
      <p:sp>
        <p:nvSpPr>
          <p:cNvPr id="51" name="Rectangle 50"/>
          <p:cNvSpPr/>
          <p:nvPr/>
        </p:nvSpPr>
        <p:spPr>
          <a:xfrm>
            <a:off x="2066544" y="4526280"/>
            <a:ext cx="1207008" cy="98755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2" name="TextBox 51"/>
          <p:cNvSpPr txBox="1"/>
          <p:nvPr/>
        </p:nvSpPr>
        <p:spPr>
          <a:xfrm>
            <a:off x="2157984" y="4572000"/>
            <a:ext cx="1069848" cy="228600"/>
          </a:xfrm>
          <a:prstGeom prst="rect">
            <a:avLst/>
          </a:prstGeom>
          <a:noFill/>
        </p:spPr>
        <p:txBody>
          <a:bodyPr wrap="square" lIns="0" rIns="0" tIns="0" bIns="0" anchor="t">
            <a:spAutoFit/>
          </a:bodyPr>
          <a:lstStyle/>
          <a:p>
            <a:pPr algn="l"/>
            <a:r>
              <a:rPr sz="1100" b="1" i="0">
                <a:solidFill>
                  <a:srgbClr val="4A5058"/>
                </a:solidFill>
              </a:rPr>
              <a:t>ES</a:t>
            </a:r>
          </a:p>
        </p:txBody>
      </p:sp>
      <p:sp>
        <p:nvSpPr>
          <p:cNvPr id="53" name="TextBox 52"/>
          <p:cNvSpPr txBox="1"/>
          <p:nvPr/>
        </p:nvSpPr>
        <p:spPr>
          <a:xfrm>
            <a:off x="2157984" y="4800600"/>
            <a:ext cx="1069848" cy="320040"/>
          </a:xfrm>
          <a:prstGeom prst="rect">
            <a:avLst/>
          </a:prstGeom>
          <a:noFill/>
        </p:spPr>
        <p:txBody>
          <a:bodyPr wrap="square" lIns="0" rIns="0" tIns="0" bIns="0" anchor="t">
            <a:spAutoFit/>
          </a:bodyPr>
          <a:lstStyle/>
          <a:p>
            <a:pPr algn="l"/>
            <a:r>
              <a:rPr sz="1500" b="1" i="0">
                <a:solidFill>
                  <a:srgbClr val="8A1626"/>
                </a:solidFill>
              </a:rPr>
              <a:t>6.5</a:t>
            </a:r>
          </a:p>
        </p:txBody>
      </p:sp>
      <p:sp>
        <p:nvSpPr>
          <p:cNvPr id="54" name="TextBox 53"/>
          <p:cNvSpPr txBox="1"/>
          <p:nvPr/>
        </p:nvSpPr>
        <p:spPr>
          <a:xfrm>
            <a:off x="2157984" y="5102352"/>
            <a:ext cx="1069848" cy="411480"/>
          </a:xfrm>
          <a:prstGeom prst="rect">
            <a:avLst/>
          </a:prstGeom>
          <a:noFill/>
        </p:spPr>
        <p:txBody>
          <a:bodyPr wrap="square" lIns="0" rIns="0" tIns="0" bIns="0" anchor="t">
            <a:spAutoFit/>
          </a:bodyPr>
          <a:lstStyle/>
          <a:p>
            <a:pPr algn="l"/>
            <a:r>
              <a:rPr sz="1050" b="0" i="0">
                <a:solidFill>
                  <a:srgbClr val="4A5058"/>
                </a:solidFill>
              </a:rPr>
              <a:t>mean of −7 and −6</a:t>
            </a:r>
          </a:p>
        </p:txBody>
      </p:sp>
      <p:sp>
        <p:nvSpPr>
          <p:cNvPr id="55" name="Rectangle 54"/>
          <p:cNvSpPr/>
          <p:nvPr/>
        </p:nvSpPr>
        <p:spPr>
          <a:xfrm>
            <a:off x="3355848" y="4526280"/>
            <a:ext cx="1207008" cy="98755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6" name="TextBox 55"/>
          <p:cNvSpPr txBox="1"/>
          <p:nvPr/>
        </p:nvSpPr>
        <p:spPr>
          <a:xfrm>
            <a:off x="3447288" y="4572000"/>
            <a:ext cx="1069848" cy="228600"/>
          </a:xfrm>
          <a:prstGeom prst="rect">
            <a:avLst/>
          </a:prstGeom>
          <a:noFill/>
        </p:spPr>
        <p:txBody>
          <a:bodyPr wrap="square" lIns="0" rIns="0" tIns="0" bIns="0" anchor="t">
            <a:spAutoFit/>
          </a:bodyPr>
          <a:lstStyle/>
          <a:p>
            <a:pPr algn="l"/>
            <a:r>
              <a:rPr sz="1100" b="1" i="0">
                <a:solidFill>
                  <a:srgbClr val="4A5058"/>
                </a:solidFill>
              </a:rPr>
              <a:t>Component VaR</a:t>
            </a:r>
          </a:p>
        </p:txBody>
      </p:sp>
      <p:sp>
        <p:nvSpPr>
          <p:cNvPr id="57" name="TextBox 56"/>
          <p:cNvSpPr txBox="1"/>
          <p:nvPr/>
        </p:nvSpPr>
        <p:spPr>
          <a:xfrm>
            <a:off x="3447288" y="4800600"/>
            <a:ext cx="1069848" cy="320040"/>
          </a:xfrm>
          <a:prstGeom prst="rect">
            <a:avLst/>
          </a:prstGeom>
          <a:noFill/>
        </p:spPr>
        <p:txBody>
          <a:bodyPr wrap="square" lIns="0" rIns="0" tIns="0" bIns="0" anchor="t">
            <a:spAutoFit/>
          </a:bodyPr>
          <a:lstStyle/>
          <a:p>
            <a:pPr algn="l"/>
            <a:r>
              <a:rPr sz="1500" b="1" i="0">
                <a:solidFill>
                  <a:srgbClr val="8A1626"/>
                </a:solidFill>
              </a:rPr>
              <a:t>1.26 + 4.74</a:t>
            </a:r>
          </a:p>
        </p:txBody>
      </p:sp>
      <p:sp>
        <p:nvSpPr>
          <p:cNvPr id="58" name="TextBox 57"/>
          <p:cNvSpPr txBox="1"/>
          <p:nvPr/>
        </p:nvSpPr>
        <p:spPr>
          <a:xfrm>
            <a:off x="3447288" y="5102352"/>
            <a:ext cx="1069848" cy="411480"/>
          </a:xfrm>
          <a:prstGeom prst="rect">
            <a:avLst/>
          </a:prstGeom>
          <a:noFill/>
        </p:spPr>
        <p:txBody>
          <a:bodyPr wrap="square" lIns="0" rIns="0" tIns="0" bIns="0" anchor="t">
            <a:spAutoFit/>
          </a:bodyPr>
          <a:lstStyle/>
          <a:p>
            <a:pPr algn="l"/>
            <a:r>
              <a:rPr sz="1050" b="0" i="0">
                <a:solidFill>
                  <a:srgbClr val="4A5058"/>
                </a:solidFill>
              </a:rPr>
              <a:t>P1 + P2 = 6: Euler, adds up</a:t>
            </a:r>
          </a:p>
        </p:txBody>
      </p:sp>
      <p:sp>
        <p:nvSpPr>
          <p:cNvPr id="59" name="Rectangle 58"/>
          <p:cNvSpPr/>
          <p:nvPr/>
        </p:nvSpPr>
        <p:spPr>
          <a:xfrm>
            <a:off x="4645152" y="4526280"/>
            <a:ext cx="1207008" cy="98755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0" name="TextBox 59"/>
          <p:cNvSpPr txBox="1"/>
          <p:nvPr/>
        </p:nvSpPr>
        <p:spPr>
          <a:xfrm>
            <a:off x="4736592" y="4572000"/>
            <a:ext cx="1069848" cy="228600"/>
          </a:xfrm>
          <a:prstGeom prst="rect">
            <a:avLst/>
          </a:prstGeom>
          <a:noFill/>
        </p:spPr>
        <p:txBody>
          <a:bodyPr wrap="square" lIns="0" rIns="0" tIns="0" bIns="0" anchor="t">
            <a:spAutoFit/>
          </a:bodyPr>
          <a:lstStyle/>
          <a:p>
            <a:pPr algn="l"/>
            <a:r>
              <a:rPr sz="1100" b="1" i="0">
                <a:solidFill>
                  <a:srgbClr val="4A5058"/>
                </a:solidFill>
              </a:rPr>
              <a:t>Diversification</a:t>
            </a:r>
          </a:p>
        </p:txBody>
      </p:sp>
      <p:sp>
        <p:nvSpPr>
          <p:cNvPr id="61" name="TextBox 60"/>
          <p:cNvSpPr txBox="1"/>
          <p:nvPr/>
        </p:nvSpPr>
        <p:spPr>
          <a:xfrm>
            <a:off x="4736592" y="4800600"/>
            <a:ext cx="1069848" cy="320040"/>
          </a:xfrm>
          <a:prstGeom prst="rect">
            <a:avLst/>
          </a:prstGeom>
          <a:noFill/>
        </p:spPr>
        <p:txBody>
          <a:bodyPr wrap="square" lIns="0" rIns="0" tIns="0" bIns="0" anchor="t">
            <a:spAutoFit/>
          </a:bodyPr>
          <a:lstStyle/>
          <a:p>
            <a:pPr algn="l"/>
            <a:r>
              <a:rPr sz="1500" b="1" i="0">
                <a:solidFill>
                  <a:srgbClr val="8A1626"/>
                </a:solidFill>
              </a:rPr>
              <a:t>6</a:t>
            </a:r>
          </a:p>
        </p:txBody>
      </p:sp>
      <p:sp>
        <p:nvSpPr>
          <p:cNvPr id="62" name="TextBox 61"/>
          <p:cNvSpPr txBox="1"/>
          <p:nvPr/>
        </p:nvSpPr>
        <p:spPr>
          <a:xfrm>
            <a:off x="4736592" y="5102352"/>
            <a:ext cx="1069848" cy="411480"/>
          </a:xfrm>
          <a:prstGeom prst="rect">
            <a:avLst/>
          </a:prstGeom>
          <a:noFill/>
        </p:spPr>
        <p:txBody>
          <a:bodyPr wrap="square" lIns="0" rIns="0" tIns="0" bIns="0" anchor="t">
            <a:spAutoFit/>
          </a:bodyPr>
          <a:lstStyle/>
          <a:p>
            <a:pPr algn="l"/>
            <a:r>
              <a:rPr sz="1050" b="0" i="0">
                <a:solidFill>
                  <a:srgbClr val="4A5058"/>
                </a:solidFill>
              </a:rPr>
              <a:t>standalone 5 + 7 − 6</a:t>
            </a:r>
          </a:p>
        </p:txBody>
      </p:sp>
      <p:sp>
        <p:nvSpPr>
          <p:cNvPr id="63" name="Rectangle 62"/>
          <p:cNvSpPr/>
          <p:nvPr/>
        </p:nvSpPr>
        <p:spPr>
          <a:xfrm>
            <a:off x="5934456" y="4526280"/>
            <a:ext cx="1207008" cy="98755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4" name="TextBox 63"/>
          <p:cNvSpPr txBox="1"/>
          <p:nvPr/>
        </p:nvSpPr>
        <p:spPr>
          <a:xfrm>
            <a:off x="6025896" y="4572000"/>
            <a:ext cx="1069848" cy="228600"/>
          </a:xfrm>
          <a:prstGeom prst="rect">
            <a:avLst/>
          </a:prstGeom>
          <a:noFill/>
        </p:spPr>
        <p:txBody>
          <a:bodyPr wrap="square" lIns="0" rIns="0" tIns="0" bIns="0" anchor="t">
            <a:spAutoFit/>
          </a:bodyPr>
          <a:lstStyle/>
          <a:p>
            <a:pPr algn="l"/>
            <a:r>
              <a:rPr sz="1100" b="1" i="0">
                <a:solidFill>
                  <a:srgbClr val="4A5058"/>
                </a:solidFill>
              </a:rPr>
              <a:t>Incremental, P1</a:t>
            </a:r>
          </a:p>
        </p:txBody>
      </p:sp>
      <p:sp>
        <p:nvSpPr>
          <p:cNvPr id="65" name="TextBox 64"/>
          <p:cNvSpPr txBox="1"/>
          <p:nvPr/>
        </p:nvSpPr>
        <p:spPr>
          <a:xfrm>
            <a:off x="6025896" y="4800600"/>
            <a:ext cx="1069848" cy="320040"/>
          </a:xfrm>
          <a:prstGeom prst="rect">
            <a:avLst/>
          </a:prstGeom>
          <a:noFill/>
        </p:spPr>
        <p:txBody>
          <a:bodyPr wrap="square" lIns="0" rIns="0" tIns="0" bIns="0" anchor="t">
            <a:spAutoFit/>
          </a:bodyPr>
          <a:lstStyle/>
          <a:p>
            <a:pPr algn="l"/>
            <a:r>
              <a:rPr sz="1500" b="1" i="0">
                <a:solidFill>
                  <a:srgbClr val="8A1626"/>
                </a:solidFill>
              </a:rPr>
              <a:t>−1</a:t>
            </a:r>
          </a:p>
        </p:txBody>
      </p:sp>
      <p:sp>
        <p:nvSpPr>
          <p:cNvPr id="66" name="TextBox 65"/>
          <p:cNvSpPr txBox="1"/>
          <p:nvPr/>
        </p:nvSpPr>
        <p:spPr>
          <a:xfrm>
            <a:off x="6025896" y="5102352"/>
            <a:ext cx="1069848" cy="411480"/>
          </a:xfrm>
          <a:prstGeom prst="rect">
            <a:avLst/>
          </a:prstGeom>
          <a:noFill/>
        </p:spPr>
        <p:txBody>
          <a:bodyPr wrap="square" lIns="0" rIns="0" tIns="0" bIns="0" anchor="t">
            <a:spAutoFit/>
          </a:bodyPr>
          <a:lstStyle/>
          <a:p>
            <a:pPr algn="l"/>
            <a:r>
              <a:rPr sz="1050" b="0" i="0">
                <a:solidFill>
                  <a:srgbClr val="4A5058"/>
                </a:solidFill>
              </a:rPr>
              <a:t>a hedge: removing it raises VaR</a:t>
            </a:r>
          </a:p>
        </p:txBody>
      </p:sp>
      <p:sp>
        <p:nvSpPr>
          <p:cNvPr id="67" name="TextBox 66"/>
          <p:cNvSpPr txBox="1"/>
          <p:nvPr/>
        </p:nvSpPr>
        <p:spPr>
          <a:xfrm>
            <a:off x="777240" y="5815584"/>
            <a:ext cx="10634472" cy="493776"/>
          </a:xfrm>
          <a:prstGeom prst="rect">
            <a:avLst/>
          </a:prstGeom>
          <a:noFill/>
        </p:spPr>
        <p:txBody>
          <a:bodyPr wrap="square" lIns="0" rIns="0" tIns="0" bIns="0" anchor="b">
            <a:spAutoFit/>
          </a:bodyPr>
          <a:lstStyle/>
          <a:p>
            <a:pPr algn="l"/>
            <a:r>
              <a:rPr sz="1000" b="0" i="0">
                <a:solidFill>
                  <a:srgbClr val="4A5058"/>
                </a:solidFill>
              </a:rPr>
              <a:t>Kupiec test (Paul Kupiec, 1995): is the number of VaR breaches (losses bigger than VaR) consistent with 99%, about 2–3 in 250 days?</a:t>
            </a:r>
          </a:p>
          <a:p>
            <a:pPr algn="l"/>
            <a:r>
              <a:rPr sz="1000" b="0" i="0">
                <a:solidFill>
                  <a:srgbClr val="4A5058"/>
                </a:solidFill>
              </a:rPr>
              <a:t>Christoffersen test (Peter Christoffersen, 1998): do breaches cluster together, a sign the model reacts too slowly when markets turn?</a:t>
            </a:r>
          </a:p>
          <a:p>
            <a:pPr algn="l"/>
            <a:r>
              <a:rPr sz="1000" b="0" i="0">
                <a:solidFill>
                  <a:srgbClr val="4A5058"/>
                </a:solidFill>
              </a:rPr>
              <a:t>Basel traffic light: breaches in 250 days at 99%: 0–4 green, 5–9 amber, 10+ red.</a:t>
            </a:r>
          </a:p>
        </p:txBody>
      </p:sp>
      <p:sp>
        <p:nvSpPr>
          <p:cNvPr id="68" name="TextBox 67"/>
          <p:cNvSpPr txBox="1"/>
          <p:nvPr/>
        </p:nvSpPr>
        <p:spPr>
          <a:xfrm>
            <a:off x="7452360" y="2560320"/>
            <a:ext cx="3959352" cy="274320"/>
          </a:xfrm>
          <a:prstGeom prst="rect">
            <a:avLst/>
          </a:prstGeom>
          <a:noFill/>
        </p:spPr>
        <p:txBody>
          <a:bodyPr wrap="square" lIns="0" rIns="0" tIns="0" bIns="0" anchor="t">
            <a:spAutoFit/>
          </a:bodyPr>
          <a:lstStyle/>
          <a:p>
            <a:pPr algn="l"/>
            <a:r>
              <a:rPr sz="1300" b="1" i="0">
                <a:solidFill>
                  <a:srgbClr val="A51C30"/>
                </a:solidFill>
              </a:rPr>
              <a:t>The measures at N = 509</a:t>
            </a:r>
          </a:p>
        </p:txBody>
      </p:sp>
      <p:graphicFrame>
        <p:nvGraphicFramePr>
          <p:cNvPr id="69" name="Table 68"/>
          <p:cNvGraphicFramePr>
            <a:graphicFrameLocks noGrp="1"/>
          </p:cNvGraphicFramePr>
          <p:nvPr/>
        </p:nvGraphicFramePr>
        <p:xfrm>
          <a:off x="7452360" y="2862072"/>
          <a:ext cx="3959352" cy="2551176"/>
        </p:xfrm>
        <a:graphic>
          <a:graphicData uri="http://schemas.openxmlformats.org/drawingml/2006/table">
            <a:tbl>
              <a:tblPr firstRow="0" bandRow="0">
                <a:tableStyleId>{5940675A-B579-460E-94D1-54222C63F5DA}</a:tableStyleId>
              </a:tblPr>
              <a:tblGrid>
                <a:gridCol w="1298448"/>
                <a:gridCol w="2660904"/>
              </a:tblGrid>
              <a:tr h="283464">
                <a:tc>
                  <a:txBody>
                    <a:bodyPr wrap="square"/>
                    <a:lstStyle/>
                    <a:p>
                      <a:r>
                        <a:rPr sz="1100" b="1" i="0">
                          <a:solidFill>
                            <a:srgbClr val="FFFFFF"/>
                          </a:solidFill>
                        </a:rPr>
                        <a:t>Measure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Definition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283464">
                <a:tc>
                  <a:txBody>
                    <a:bodyPr wrap="square"/>
                    <a:lstStyle/>
                    <a:p>
                      <a:r>
                        <a:rPr sz="1100" b="1" i="0">
                          <a:solidFill>
                            <a:srgbClr val="8A1626"/>
                          </a:solidFill>
                        </a:rPr>
                        <a:t>VaR 99%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minus the 6th worst P&amp;L</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83464">
                <a:tc>
                  <a:txBody>
                    <a:bodyPr wrap="square"/>
                    <a:lstStyle/>
                    <a:p>
                      <a:r>
                        <a:rPr sz="1100" b="1" i="0">
                          <a:solidFill>
                            <a:srgbClr val="8A1626"/>
                          </a:solidFill>
                        </a:rPr>
                        <a:t>ES 97.5%</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minus the mean of the 13 worst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83464">
                <a:tc>
                  <a:txBody>
                    <a:bodyPr wrap="square"/>
                    <a:lstStyle/>
                    <a:p>
                      <a:r>
                        <a:rPr sz="1100" b="1" i="0">
                          <a:solidFill>
                            <a:srgbClr val="8A1626"/>
                          </a:solidFill>
                        </a:rPr>
                        <a:t>Component VaR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Euler on ranks 4–8; adds up to VaR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83464">
                <a:tc>
                  <a:txBody>
                    <a:bodyPr wrap="square"/>
                    <a:lstStyle/>
                    <a:p>
                      <a:r>
                        <a:rPr sz="1100" b="1" i="0">
                          <a:solidFill>
                            <a:srgbClr val="8A1626"/>
                          </a:solidFill>
                        </a:rPr>
                        <a:t>Component 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mean over the 13 worst; adds up to 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83464">
                <a:tc>
                  <a:txBody>
                    <a:bodyPr wrap="square"/>
                    <a:lstStyle/>
                    <a:p>
                      <a:r>
                        <a:rPr sz="1100" b="1" i="0">
                          <a:solidFill>
                            <a:srgbClr val="8A1626"/>
                          </a:solidFill>
                        </a:rPr>
                        <a:t>Incremental</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VaR(scope) − VaR(scope − part)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83464">
                <a:tc>
                  <a:txBody>
                    <a:bodyPr wrap="square"/>
                    <a:lstStyle/>
                    <a:p>
                      <a:r>
                        <a:rPr sz="1100" b="1" i="0">
                          <a:solidFill>
                            <a:srgbClr val="8A1626"/>
                          </a:solidFill>
                        </a:rPr>
                        <a:t>Marginal</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component ÷ |size| × 1,000,000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83464">
                <a:tc>
                  <a:txBody>
                    <a:bodyPr wrap="square"/>
                    <a:lstStyle/>
                    <a:p>
                      <a:r>
                        <a:rPr sz="1100" b="1" i="0">
                          <a:solidFill>
                            <a:srgbClr val="8A1626"/>
                          </a:solidFill>
                        </a:rPr>
                        <a:t>Diversification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Σ standalone VaR − VaR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83464">
                <a:tc>
                  <a:txBody>
                    <a:bodyPr wrap="square"/>
                    <a:lstStyle/>
                    <a:p>
                      <a:r>
                        <a:rPr sz="1100" b="1" i="0">
                          <a:solidFill>
                            <a:srgbClr val="8A1626"/>
                          </a:solidFill>
                        </a:rPr>
                        <a:t>Limits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per node, portfolio; amber 75%, red 90%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CONFIGURABLE</a:t>
            </a:r>
          </a:p>
        </p:txBody>
      </p:sp>
      <p:sp>
        <p:nvSpPr>
          <p:cNvPr id="3" name="Title 2"/>
          <p:cNvSpPr>
            <a:spLocks noGrp="1"/>
          </p:cNvSpPr>
          <p:nvPr>
            <p:ph type="title" idx="104"/>
          </p:nvPr>
        </p:nvSpPr>
        <p:spPr/>
        <p:txBody>
          <a:bodyPr/>
          <a:lstStyle/>
          <a:p>
            <a:r>
              <a:t>The window, the confidence, the currencies and the names are settings</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17320"/>
            <a:ext cx="5202936" cy="2286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Rectangle 26"/>
          <p:cNvSpPr/>
          <p:nvPr/>
        </p:nvSpPr>
        <p:spPr>
          <a:xfrm>
            <a:off x="777240" y="1417320"/>
            <a:ext cx="45720" cy="2286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960120" y="1490472"/>
            <a:ext cx="4928616" cy="1143000"/>
          </a:xfrm>
          <a:prstGeom prst="rect">
            <a:avLst/>
          </a:prstGeom>
          <a:noFill/>
        </p:spPr>
        <p:txBody>
          <a:bodyPr wrap="square" lIns="0" rIns="0" tIns="0" bIns="0" anchor="t">
            <a:spAutoFit/>
          </a:bodyPr>
          <a:lstStyle/>
          <a:p>
            <a:pPr algn="l">
              <a:spcAft>
                <a:spcPts val="300"/>
              </a:spcAft>
            </a:pPr>
            <a:r>
              <a:rPr sz="1350" b="1" i="0">
                <a:solidFill>
                  <a:srgbClr val="8A1626"/>
                </a:solidFill>
              </a:rPr>
              <a:t>Scenario window</a:t>
            </a:r>
          </a:p>
          <a:p>
            <a:pPr algn="l">
              <a:spcAft>
                <a:spcPts val="400"/>
              </a:spcAft>
            </a:pPr>
            <a:r>
              <a:rPr sz="1050" b="1" i="0">
                <a:solidFill>
                  <a:srgbClr val="A51C30"/>
                </a:solidFill>
                <a:latin typeface="Courier New"/>
              </a:rPr>
              <a:t>drishti.var.scenario-window: all | N</a:t>
            </a:r>
          </a:p>
          <a:p>
            <a:pPr algn="l"/>
            <a:r>
              <a:rPr sz="1150" b="0" i="0">
                <a:solidFill>
                  <a:srgbClr val="1A1A1A"/>
                </a:solidFill>
              </a:rPr>
              <a:t>The newest N scenarios of the set (all: 509). Per request, window=250 shows a 1-year view beside the 2-year one: labelled on every answer, never official.</a:t>
            </a:r>
          </a:p>
        </p:txBody>
      </p:sp>
      <p:graphicFrame>
        <p:nvGraphicFramePr>
          <p:cNvPr id="29" name="Table 28"/>
          <p:cNvGraphicFramePr>
            <a:graphicFrameLocks noGrp="1"/>
          </p:cNvGraphicFramePr>
          <p:nvPr/>
        </p:nvGraphicFramePr>
        <p:xfrm>
          <a:off x="960120" y="2743200"/>
          <a:ext cx="4837176" cy="822960"/>
        </p:xfrm>
        <a:graphic>
          <a:graphicData uri="http://schemas.openxmlformats.org/drawingml/2006/table">
            <a:tbl>
              <a:tblPr firstRow="0" bandRow="0">
                <a:tableStyleId>{5940675A-B579-460E-94D1-54222C63F5DA}</a:tableStyleId>
              </a:tblPr>
              <a:tblGrid>
                <a:gridCol w="1463040"/>
                <a:gridCol w="1687068"/>
                <a:gridCol w="1687068"/>
              </a:tblGrid>
              <a:tr h="274320">
                <a:tc>
                  <a:txBody>
                    <a:bodyPr wrap="square"/>
                    <a:lstStyle/>
                    <a:p>
                      <a:r>
                        <a:rPr sz="1100" b="1" i="0">
                          <a:solidFill>
                            <a:srgbClr val="FFFFFF"/>
                          </a:solidFill>
                        </a:rPr>
                        <a:t>Window</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VaR 99%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ES 97.5%</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274320">
                <a:tc>
                  <a:txBody>
                    <a:bodyPr wrap="square"/>
                    <a:lstStyle/>
                    <a:p>
                      <a:r>
                        <a:rPr sz="1100" b="1" i="0">
                          <a:solidFill>
                            <a:srgbClr val="8A1626"/>
                          </a:solidFill>
                        </a:rPr>
                        <a:t>all (509)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6th worst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mean of 13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74320">
                <a:tc>
                  <a:txBody>
                    <a:bodyPr wrap="square"/>
                    <a:lstStyle/>
                    <a:p>
                      <a:r>
                        <a:rPr sz="1100" b="1" i="0">
                          <a:solidFill>
                            <a:srgbClr val="8A1626"/>
                          </a:solidFill>
                        </a:rPr>
                        <a:t>250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3rd worst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mean of 7</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
        <p:nvSpPr>
          <p:cNvPr id="30" name="Rectangle 29"/>
          <p:cNvSpPr/>
          <p:nvPr/>
        </p:nvSpPr>
        <p:spPr>
          <a:xfrm>
            <a:off x="6208776" y="1417320"/>
            <a:ext cx="5202936" cy="2286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Rectangle 30"/>
          <p:cNvSpPr/>
          <p:nvPr/>
        </p:nvSpPr>
        <p:spPr>
          <a:xfrm>
            <a:off x="6208776" y="1417320"/>
            <a:ext cx="45720" cy="2286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TextBox 31"/>
          <p:cNvSpPr txBox="1"/>
          <p:nvPr/>
        </p:nvSpPr>
        <p:spPr>
          <a:xfrm>
            <a:off x="6391656" y="1490472"/>
            <a:ext cx="4928616" cy="1143000"/>
          </a:xfrm>
          <a:prstGeom prst="rect">
            <a:avLst/>
          </a:prstGeom>
          <a:noFill/>
        </p:spPr>
        <p:txBody>
          <a:bodyPr wrap="square" lIns="0" rIns="0" tIns="0" bIns="0" anchor="t">
            <a:spAutoFit/>
          </a:bodyPr>
          <a:lstStyle/>
          <a:p>
            <a:pPr algn="l">
              <a:spcAft>
                <a:spcPts val="300"/>
              </a:spcAft>
            </a:pPr>
            <a:r>
              <a:rPr sz="1350" b="1" i="0">
                <a:solidFill>
                  <a:srgbClr val="8A1626"/>
                </a:solidFill>
              </a:rPr>
              <a:t>Confidence</a:t>
            </a:r>
          </a:p>
          <a:p>
            <a:pPr algn="l">
              <a:spcAft>
                <a:spcPts val="400"/>
              </a:spcAft>
            </a:pPr>
            <a:r>
              <a:rPr sz="1050" b="1" i="0">
                <a:solidFill>
                  <a:srgbClr val="A51C30"/>
                </a:solidFill>
                <a:latin typeface="Courier New"/>
              </a:rPr>
              <a:t>DRISHTI_VAR_CONFIDENCE · DRISHTI_VAR_ES_CONFIDENCE</a:t>
            </a:r>
          </a:p>
          <a:p>
            <a:pPr algn="l"/>
            <a:r>
              <a:rPr sz="1150" b="0" i="0">
                <a:solidFill>
                  <a:srgbClr val="1A1A1A"/>
                </a:solidFill>
              </a:rPr>
              <a:t>VaR 99% by default, 95% by configuration; ES 97.5% by default; both also per request. Every label follows the answer (VaR 95% · 1 day). Backtesting stays at 99%.</a:t>
            </a:r>
          </a:p>
        </p:txBody>
      </p:sp>
      <p:graphicFrame>
        <p:nvGraphicFramePr>
          <p:cNvPr id="33" name="Table 32"/>
          <p:cNvGraphicFramePr>
            <a:graphicFrameLocks noGrp="1"/>
          </p:cNvGraphicFramePr>
          <p:nvPr/>
        </p:nvGraphicFramePr>
        <p:xfrm>
          <a:off x="6391656" y="2743200"/>
          <a:ext cx="4837176" cy="822960"/>
        </p:xfrm>
        <a:graphic>
          <a:graphicData uri="http://schemas.openxmlformats.org/drawingml/2006/table">
            <a:tbl>
              <a:tblPr firstRow="0" bandRow="0">
                <a:tableStyleId>{5940675A-B579-460E-94D1-54222C63F5DA}</a:tableStyleId>
              </a:tblPr>
              <a:tblGrid>
                <a:gridCol w="1463040"/>
                <a:gridCol w="1687068"/>
                <a:gridCol w="1687068"/>
              </a:tblGrid>
              <a:tr h="274320">
                <a:tc>
                  <a:txBody>
                    <a:bodyPr wrap="square"/>
                    <a:lstStyle/>
                    <a:p>
                      <a:r>
                        <a:rPr sz="1100" b="1" i="0">
                          <a:solidFill>
                            <a:srgbClr val="FFFFFF"/>
                          </a:solidFill>
                        </a:rPr>
                        <a:t>VaR at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509 days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250 days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274320">
                <a:tc>
                  <a:txBody>
                    <a:bodyPr wrap="square"/>
                    <a:lstStyle/>
                    <a:p>
                      <a:r>
                        <a:rPr sz="1100" b="1" i="0">
                          <a:solidFill>
                            <a:srgbClr val="8A1626"/>
                          </a:solidFill>
                        </a:rPr>
                        <a:t>99% (default)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6th worst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3rd worst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74320">
                <a:tc>
                  <a:txBody>
                    <a:bodyPr wrap="square"/>
                    <a:lstStyle/>
                    <a:p>
                      <a:r>
                        <a:rPr sz="1100" b="1" i="0">
                          <a:solidFill>
                            <a:srgbClr val="8A1626"/>
                          </a:solidFill>
                        </a:rPr>
                        <a:t>95%</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26th worst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13th worst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
        <p:nvSpPr>
          <p:cNvPr id="34" name="Rectangle 33"/>
          <p:cNvSpPr/>
          <p:nvPr/>
        </p:nvSpPr>
        <p:spPr>
          <a:xfrm>
            <a:off x="777240" y="3813048"/>
            <a:ext cx="10634472" cy="566928"/>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Rectangle 34"/>
          <p:cNvSpPr/>
          <p:nvPr/>
        </p:nvSpPr>
        <p:spPr>
          <a:xfrm>
            <a:off x="777240" y="3813048"/>
            <a:ext cx="54864" cy="56692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xtBox 35"/>
          <p:cNvSpPr txBox="1"/>
          <p:nvPr/>
        </p:nvSpPr>
        <p:spPr>
          <a:xfrm>
            <a:off x="1005840" y="3813048"/>
            <a:ext cx="10314432" cy="566928"/>
          </a:xfrm>
          <a:prstGeom prst="rect">
            <a:avLst/>
          </a:prstGeom>
          <a:noFill/>
        </p:spPr>
        <p:txBody>
          <a:bodyPr wrap="square" lIns="0" rIns="0" tIns="0" bIns="0" anchor="ctr">
            <a:spAutoFit/>
          </a:bodyPr>
          <a:lstStyle/>
          <a:p>
            <a:pPr algn="l"/>
            <a:r>
              <a:rPr sz="1250" b="1" i="0">
                <a:solidFill>
                  <a:srgbClr val="A51C30"/>
                </a:solidFill>
              </a:rPr>
              <a:t>Choosing the window  </a:t>
            </a:r>
            <a:r>
              <a:rPr sz="1150" b="0" i="0">
                <a:solidFill>
                  <a:srgbClr val="1A1A1A"/>
                </a:solidFill>
              </a:rPr>
              <a:t>banks typically use 1 year (≈ 250 days, the regulatory minimum) or 2 years (≈ 500). A shorter window reacts faster to new volatility; a longer one is steadier and keeps more stress days. Compare both with window= before changing the setting.</a:t>
            </a:r>
          </a:p>
        </p:txBody>
      </p:sp>
      <p:sp>
        <p:nvSpPr>
          <p:cNvPr id="37" name="Rectangle 36"/>
          <p:cNvSpPr/>
          <p:nvPr/>
        </p:nvSpPr>
        <p:spPr>
          <a:xfrm>
            <a:off x="777240" y="4489704"/>
            <a:ext cx="3422904" cy="1773935"/>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TextBox 37"/>
          <p:cNvSpPr txBox="1"/>
          <p:nvPr/>
        </p:nvSpPr>
        <p:spPr>
          <a:xfrm>
            <a:off x="886968" y="4544568"/>
            <a:ext cx="3240024" cy="1682495"/>
          </a:xfrm>
          <a:prstGeom prst="rect">
            <a:avLst/>
          </a:prstGeom>
          <a:noFill/>
        </p:spPr>
        <p:txBody>
          <a:bodyPr wrap="square" lIns="0" rIns="0" tIns="0" bIns="0" anchor="t">
            <a:spAutoFit/>
          </a:bodyPr>
          <a:lstStyle/>
          <a:p>
            <a:pPr algn="l">
              <a:spcAft>
                <a:spcPts val="300"/>
              </a:spcAft>
            </a:pPr>
            <a:r>
              <a:rPr sz="1250" b="1" i="0">
                <a:solidFill>
                  <a:srgbClr val="8A1626"/>
                </a:solidFill>
              </a:rPr>
              <a:t>Currencies, built ahead</a:t>
            </a:r>
          </a:p>
          <a:p>
            <a:pPr algn="l"/>
            <a:r>
              <a:rPr sz="1000" b="1" i="0">
                <a:solidFill>
                  <a:srgbClr val="A51C30"/>
                </a:solidFill>
                <a:latin typeface="Courier New"/>
              </a:rPr>
              <a:t>drishti.var.currencies</a:t>
            </a:r>
          </a:p>
          <a:p>
            <a:pPr algn="l">
              <a:spcAft>
                <a:spcPts val="300"/>
              </a:spcAft>
            </a:pPr>
            <a:r>
              <a:rPr sz="1100" b="0" i="0">
                <a:solidFill>
                  <a:srgbClr val="4A5058"/>
                </a:solidFill>
              </a:rPr>
              <a:t>USD, EUR, CAD, JPY, GBP, built in the background after the USD book</a:t>
            </a:r>
          </a:p>
          <a:p>
            <a:pPr algn="l"/>
            <a:r>
              <a:rPr sz="1000" b="1" i="0">
                <a:solidFill>
                  <a:srgbClr val="A51C30"/>
                </a:solidFill>
                <a:latin typeface="Courier New"/>
              </a:rPr>
              <a:t>currency-retention-dates</a:t>
            </a:r>
          </a:p>
          <a:p>
            <a:pPr algn="l">
              <a:spcAft>
                <a:spcPts val="300"/>
              </a:spcAft>
            </a:pPr>
            <a:r>
              <a:rPr sz="1100" b="0" i="0">
                <a:solidFill>
                  <a:srgbClr val="4A5058"/>
                </a:solidFill>
              </a:rPr>
              <a:t>5: the newest dates kept; older ones built again on first ask</a:t>
            </a:r>
          </a:p>
        </p:txBody>
      </p:sp>
      <p:sp>
        <p:nvSpPr>
          <p:cNvPr id="39" name="Rectangle 38"/>
          <p:cNvSpPr/>
          <p:nvPr/>
        </p:nvSpPr>
        <p:spPr>
          <a:xfrm>
            <a:off x="4383024" y="4489704"/>
            <a:ext cx="3422904" cy="1773935"/>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0" name="TextBox 39"/>
          <p:cNvSpPr txBox="1"/>
          <p:nvPr/>
        </p:nvSpPr>
        <p:spPr>
          <a:xfrm>
            <a:off x="4492752" y="4544568"/>
            <a:ext cx="3240024" cy="1682495"/>
          </a:xfrm>
          <a:prstGeom prst="rect">
            <a:avLst/>
          </a:prstGeom>
          <a:noFill/>
        </p:spPr>
        <p:txBody>
          <a:bodyPr wrap="square" lIns="0" rIns="0" tIns="0" bIns="0" anchor="t">
            <a:spAutoFit/>
          </a:bodyPr>
          <a:lstStyle/>
          <a:p>
            <a:pPr algn="l">
              <a:spcAft>
                <a:spcPts val="300"/>
              </a:spcAft>
            </a:pPr>
            <a:r>
              <a:rPr sz="1250" b="1" i="0">
                <a:solidFill>
                  <a:srgbClr val="8A1626"/>
                </a:solidFill>
              </a:rPr>
              <a:t>Names</a:t>
            </a:r>
          </a:p>
          <a:p>
            <a:pPr algn="l"/>
            <a:r>
              <a:rPr sz="1000" b="1" i="0">
                <a:solidFill>
                  <a:srgbClr val="A51C30"/>
                </a:solidFill>
                <a:latin typeface="Courier New"/>
              </a:rPr>
              <a:t>DRISHTI_VAR_ROOT_NAME</a:t>
            </a:r>
          </a:p>
          <a:p>
            <a:pPr algn="l">
              <a:spcAft>
                <a:spcPts val="300"/>
              </a:spcAft>
            </a:pPr>
            <a:r>
              <a:rPr sz="1100" b="0" i="0">
                <a:solidFill>
                  <a:srgbClr val="4A5058"/>
                </a:solidFill>
              </a:rPr>
              <a:t>the top of every VaR tree (root-names: per hierarchy)</a:t>
            </a:r>
          </a:p>
          <a:p>
            <a:pPr algn="l"/>
            <a:r>
              <a:rPr sz="1000" b="1" i="0">
                <a:solidFill>
                  <a:srgbClr val="A51C30"/>
                </a:solidFill>
                <a:latin typeface="Courier New"/>
              </a:rPr>
              <a:t>config/demo/names.yaml</a:t>
            </a:r>
          </a:p>
          <a:p>
            <a:pPr algn="l">
              <a:spcAft>
                <a:spcPts val="300"/>
              </a:spcAft>
            </a:pPr>
            <a:r>
              <a:rPr sz="1100" b="0" i="0">
                <a:solidFill>
                  <a:srgbClr val="4A5058"/>
                </a:solidFill>
              </a:rPr>
              <a:t>the demo's bank and legal-entity names</a:t>
            </a:r>
          </a:p>
        </p:txBody>
      </p:sp>
      <p:sp>
        <p:nvSpPr>
          <p:cNvPr id="41" name="Rectangle 40"/>
          <p:cNvSpPr/>
          <p:nvPr/>
        </p:nvSpPr>
        <p:spPr>
          <a:xfrm>
            <a:off x="7988808" y="4489704"/>
            <a:ext cx="3422904" cy="1773935"/>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TextBox 41"/>
          <p:cNvSpPr txBox="1"/>
          <p:nvPr/>
        </p:nvSpPr>
        <p:spPr>
          <a:xfrm>
            <a:off x="8098536" y="4544568"/>
            <a:ext cx="3240024" cy="1682495"/>
          </a:xfrm>
          <a:prstGeom prst="rect">
            <a:avLst/>
          </a:prstGeom>
          <a:noFill/>
        </p:spPr>
        <p:txBody>
          <a:bodyPr wrap="square" lIns="0" rIns="0" tIns="0" bIns="0" anchor="t">
            <a:spAutoFit/>
          </a:bodyPr>
          <a:lstStyle/>
          <a:p>
            <a:pPr algn="l">
              <a:spcAft>
                <a:spcPts val="300"/>
              </a:spcAft>
            </a:pPr>
            <a:r>
              <a:rPr sz="1250" b="1" i="0">
                <a:solidFill>
                  <a:srgbClr val="8A1626"/>
                </a:solidFill>
              </a:rPr>
              <a:t>Inputs and intraday</a:t>
            </a:r>
          </a:p>
          <a:p>
            <a:pPr algn="l"/>
            <a:r>
              <a:rPr sz="1000" b="1" i="0">
                <a:solidFill>
                  <a:srgbClr val="A51C30"/>
                </a:solidFill>
                <a:latin typeface="Courier New"/>
              </a:rPr>
              <a:t>drishti.var.inputs</a:t>
            </a:r>
          </a:p>
          <a:p>
            <a:pPr algn="l">
              <a:spcAft>
                <a:spcPts val="300"/>
              </a:spcAft>
            </a:pPr>
            <a:r>
              <a:rPr sz="1100" b="0" i="0">
                <a:solidFill>
                  <a:srgbClr val="4A5058"/>
                </a:solidFill>
              </a:rPr>
              <a:t>optional pin per source system: form and grain</a:t>
            </a:r>
          </a:p>
          <a:p>
            <a:pPr algn="l"/>
            <a:r>
              <a:rPr sz="1000" b="1" i="0">
                <a:solidFill>
                  <a:srgbClr val="A51C30"/>
                </a:solidFill>
                <a:latin typeface="Courier New"/>
              </a:rPr>
              <a:t>intraday.kafka.window</a:t>
            </a:r>
          </a:p>
          <a:p>
            <a:pPr algn="l">
              <a:spcAft>
                <a:spcPts val="300"/>
              </a:spcAft>
            </a:pPr>
            <a:r>
              <a:rPr sz="1100" b="0" i="0">
                <a:solidFill>
                  <a:srgbClr val="4A5058"/>
                </a:solidFill>
              </a:rPr>
              <a:t>5m; early flush at max-trades (500)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THE PV-BASED ENGINE</a:t>
            </a:r>
          </a:p>
        </p:txBody>
      </p:sp>
      <p:sp>
        <p:nvSpPr>
          <p:cNvPr id="3" name="Title 2"/>
          <p:cNvSpPr>
            <a:spLocks noGrp="1"/>
          </p:cNvSpPr>
          <p:nvPr>
            <p:ph type="title" idx="104"/>
          </p:nvPr>
        </p:nvSpPr>
        <p:spPr/>
        <p:txBody>
          <a:bodyPr/>
          <a:lstStyle/>
          <a:p>
            <a:r>
              <a:t>From scenario PVs in their own currency to VaR in any currency</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TextBox 25"/>
          <p:cNvSpPr txBox="1"/>
          <p:nvPr/>
        </p:nvSpPr>
        <p:spPr>
          <a:xfrm>
            <a:off x="777240" y="1417320"/>
            <a:ext cx="5623560" cy="1783080"/>
          </a:xfrm>
          <a:prstGeom prst="rect">
            <a:avLst/>
          </a:prstGeom>
          <a:noFill/>
        </p:spPr>
        <p:txBody>
          <a:bodyPr wrap="square" lIns="0" rIns="0" tIns="0" bIns="0" anchor="t">
            <a:spAutoFit/>
          </a:bodyPr>
          <a:lstStyle/>
          <a:p>
            <a:pPr algn="l">
              <a:spcAft>
                <a:spcPts val="300"/>
              </a:spcAft>
            </a:pPr>
            <a:r>
              <a:rPr sz="1300" b="1" i="0">
                <a:solidFill>
                  <a:srgbClr val="A51C30"/>
                </a:solidFill>
              </a:rPr>
              <a:t>Inputs</a:t>
            </a:r>
          </a:p>
          <a:p>
            <a:pPr algn="l" marL="146304" indent="-146304">
              <a:spcAft>
                <a:spcPts val="300"/>
              </a:spcAft>
              <a:buClr>
                <a:srgbClr val="A51C30"/>
              </a:buClr>
              <a:buSzPct val="100000"/>
              <a:buFont typeface="Arial"/>
              <a:buChar char="▪"/>
            </a:pPr>
            <a:r>
              <a:rPr sz="1200" b="0" i="0">
                <a:solidFill>
                  <a:srgbClr val="1A1A1A"/>
                </a:solidFill>
              </a:rPr>
              <a:t>Pricing systems send each trade's or position's 509 scenario PVs and base PV in its own currency (</a:t>
            </a:r>
            <a:r>
              <a:rPr sz="1100" b="0" i="0">
                <a:solidFill>
                  <a:srgbClr val="1A1A1A"/>
                </a:solidFill>
                <a:latin typeface="Courier New"/>
              </a:rPr>
              <a:t>scenario-pv</a:t>
            </a:r>
            <a:r>
              <a:rPr sz="1200" b="0" i="0">
                <a:solidFill>
                  <a:srgbClr val="1A1A1A"/>
                </a:solidFill>
              </a:rPr>
              <a:t>). The USD P&amp;L-vector form stays supported; a date may mix both, each row in one form.</a:t>
            </a:r>
          </a:p>
          <a:p>
            <a:pPr algn="l" marL="146304" indent="-146304">
              <a:spcAft>
                <a:spcPts val="300"/>
              </a:spcAft>
              <a:buClr>
                <a:srgbClr val="A51C30"/>
              </a:buClr>
              <a:buSzPct val="100000"/>
              <a:buFont typeface="Arial"/>
              <a:buChar char="▪"/>
            </a:pPr>
            <a:r>
              <a:rPr sz="1200" b="0" i="0">
                <a:solidFill>
                  <a:srgbClr val="1A1A1A"/>
                </a:solidFill>
              </a:rPr>
              <a:t>Scenario FX: the batch's own (</a:t>
            </a:r>
            <a:r>
              <a:rPr sz="1100" b="0" i="0">
                <a:solidFill>
                  <a:srgbClr val="1A1A1A"/>
                </a:solidFill>
                <a:latin typeface="Courier New"/>
              </a:rPr>
              <a:t>fx-scenario</a:t>
            </a:r>
            <a:r>
              <a:rPr sz="1200" b="0" i="0">
                <a:solidFill>
                  <a:srgbClr val="1A1A1A"/>
                </a:solidFill>
              </a:rPr>
              <a:t>) when sent, else derived from the FX history. Every cross goes via USD. Horizon: 1 day.</a:t>
            </a:r>
          </a:p>
          <a:p>
            <a:pPr algn="l" marL="146304" indent="-146304">
              <a:buClr>
                <a:srgbClr val="A51C30"/>
              </a:buClr>
              <a:buSzPct val="100000"/>
              <a:buFont typeface="Arial"/>
              <a:buChar char="▪"/>
            </a:pPr>
            <a:r>
              <a:rPr sz="1200" b="0" i="0">
                <a:solidFill>
                  <a:srgbClr val="1A1A1A"/>
                </a:solidFill>
              </a:rPr>
              <a:t>Converted when the date loads; positions, nodes, captures and official records do not know which form a row came in.</a:t>
            </a:r>
          </a:p>
        </p:txBody>
      </p:sp>
      <p:sp>
        <p:nvSpPr>
          <p:cNvPr id="27" name="Rectangle 26"/>
          <p:cNvSpPr/>
          <p:nvPr/>
        </p:nvSpPr>
        <p:spPr>
          <a:xfrm>
            <a:off x="777240" y="3200400"/>
            <a:ext cx="5623560" cy="1170432"/>
          </a:xfrm>
          <a:prstGeom prst="rect">
            <a:avLst/>
          </a:prstGeom>
          <a:solidFill>
            <a:srgbClr val="1E1E2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914400" y="3273552"/>
            <a:ext cx="5394960" cy="1051560"/>
          </a:xfrm>
          <a:prstGeom prst="rect">
            <a:avLst/>
          </a:prstGeom>
          <a:noFill/>
        </p:spPr>
        <p:txBody>
          <a:bodyPr wrap="square" lIns="0" rIns="0" tIns="0" bIns="0" anchor="t">
            <a:spAutoFit/>
          </a:bodyPr>
          <a:lstStyle/>
          <a:p>
            <a:pPr algn="l">
              <a:spcAft>
                <a:spcPts val="200"/>
              </a:spcAft>
            </a:pPr>
            <a:r>
              <a:rPr sz="1100" b="1" i="0">
                <a:solidFill>
                  <a:srgbClr val="E8A0AC"/>
                </a:solidFill>
                <a:latin typeface="Courier New"/>
              </a:rPr>
              <a:t>USD P&amp;L     </a:t>
            </a:r>
            <a:r>
              <a:rPr sz="1100" b="0" i="0">
                <a:solidFill>
                  <a:srgbClr val="F1EEE9"/>
                </a:solidFill>
                <a:latin typeface="Courier New"/>
              </a:rPr>
              <a:t>PV(s)·FX_c(s) − PV(base)·FX_c(base)</a:t>
            </a:r>
          </a:p>
          <a:p>
            <a:pPr algn="l">
              <a:spcAft>
                <a:spcPts val="200"/>
              </a:spcAft>
            </a:pPr>
            <a:r>
              <a:rPr sz="1100" b="1" i="0">
                <a:solidFill>
                  <a:srgbClr val="E8A0AC"/>
                </a:solidFill>
                <a:latin typeface="Courier New"/>
              </a:rPr>
              <a:t>FX derived  </a:t>
            </a:r>
            <a:r>
              <a:rPr sz="1100" b="0" i="0">
                <a:solidFill>
                  <a:srgbClr val="F1EEE9"/>
                </a:solidFill>
                <a:latin typeface="Courier New"/>
              </a:rPr>
              <a:t>FX(s) = FX(base) · H(d_s) / H(d_s − 1)</a:t>
            </a:r>
          </a:p>
          <a:p>
            <a:pPr algn="l">
              <a:spcAft>
                <a:spcPts val="200"/>
              </a:spcAft>
            </a:pPr>
            <a:r>
              <a:rPr sz="1100" b="1" i="0">
                <a:solidFill>
                  <a:srgbClr val="E8A0AC"/>
                </a:solidFill>
                <a:latin typeface="Courier New"/>
              </a:rPr>
              <a:t>In r        </a:t>
            </a:r>
            <a:r>
              <a:rPr sz="1100" b="0" i="0">
                <a:solidFill>
                  <a:srgbClr val="F1EEE9"/>
                </a:solidFill>
                <a:latin typeface="Courier New"/>
              </a:rPr>
              <a:t>(p + P&amp;L_USD(s)) / FX_r(s) − p / FX_r(base)</a:t>
            </a:r>
          </a:p>
          <a:p>
            <a:pPr algn="l">
              <a:spcAft>
                <a:spcPts val="200"/>
              </a:spcAft>
            </a:pPr>
            <a:r>
              <a:rPr sz="1100" b="1" i="0">
                <a:solidFill>
                  <a:srgbClr val="E8A0AC"/>
                </a:solidFill>
                <a:latin typeface="Courier New"/>
              </a:rPr>
              <a:t>Node in X   </a:t>
            </a:r>
            <a:r>
              <a:rPr sz="1100" b="0" i="0">
                <a:solidFill>
                  <a:srgbClr val="F1EEE9"/>
                </a:solidFill>
                <a:latin typeface="Courier New"/>
              </a:rPr>
              <a:t>Σ_c [PVsum_c(s)·FX_c→X(s) − PVbase_c·FX_c→X(base)]</a:t>
            </a:r>
          </a:p>
        </p:txBody>
      </p:sp>
      <p:sp>
        <p:nvSpPr>
          <p:cNvPr id="29" name="Rectangle 28"/>
          <p:cNvSpPr/>
          <p:nvPr/>
        </p:nvSpPr>
        <p:spPr>
          <a:xfrm>
            <a:off x="777240" y="4498848"/>
            <a:ext cx="5623560" cy="173736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xtBox 29"/>
          <p:cNvSpPr txBox="1"/>
          <p:nvPr/>
        </p:nvSpPr>
        <p:spPr>
          <a:xfrm>
            <a:off x="914400" y="4553712"/>
            <a:ext cx="5394960" cy="1645920"/>
          </a:xfrm>
          <a:prstGeom prst="rect">
            <a:avLst/>
          </a:prstGeom>
          <a:noFill/>
        </p:spPr>
        <p:txBody>
          <a:bodyPr wrap="square" lIns="0" rIns="0" tIns="0" bIns="0" anchor="t">
            <a:spAutoFit/>
          </a:bodyPr>
          <a:lstStyle/>
          <a:p>
            <a:pPr algn="l">
              <a:spcAft>
                <a:spcPts val="300"/>
              </a:spcAft>
            </a:pPr>
            <a:r>
              <a:rPr sz="1250" b="1" i="0">
                <a:solidFill>
                  <a:srgbClr val="A51C30"/>
                </a:solidFill>
              </a:rPr>
              <a:t>Reporting currencies</a:t>
            </a:r>
          </a:p>
          <a:p>
            <a:pPr algn="l" marL="146304" indent="-146304">
              <a:spcAft>
                <a:spcPts val="300"/>
              </a:spcAft>
              <a:buClr>
                <a:srgbClr val="A51C30"/>
              </a:buClr>
              <a:buSzPct val="100000"/>
              <a:buFont typeface="Arial"/>
              <a:buChar char="▪"/>
            </a:pPr>
            <a:r>
              <a:rPr sz="1150" b="0" i="0">
                <a:solidFill>
                  <a:srgbClr val="1A1A1A"/>
                </a:solidFill>
              </a:rPr>
              <a:t>Built ahead in the background: USD · EUR · CAD · JPY · GBP (</a:t>
            </a:r>
            <a:r>
              <a:rPr sz="1050" b="0" i="0">
                <a:solidFill>
                  <a:srgbClr val="1A1A1A"/>
                </a:solidFill>
                <a:latin typeface="Courier New"/>
              </a:rPr>
              <a:t>drishti.var.currencies</a:t>
            </a:r>
            <a:r>
              <a:rPr sz="1150" b="0" i="0">
                <a:solidFill>
                  <a:srgbClr val="1A1A1A"/>
                </a:solidFill>
              </a:rPr>
              <a:t>); the newest 5 dates kept; any other currency with FX on first ask.</a:t>
            </a:r>
          </a:p>
          <a:p>
            <a:pPr algn="l" marL="146304" indent="-146304">
              <a:spcAft>
                <a:spcPts val="300"/>
              </a:spcAft>
              <a:buClr>
                <a:srgbClr val="A51C30"/>
              </a:buClr>
              <a:buSzPct val="100000"/>
              <a:buFont typeface="Arial"/>
              <a:buChar char="▪"/>
            </a:pPr>
            <a:r>
              <a:rPr sz="1150" b="0" i="0">
                <a:solidFill>
                  <a:srgbClr val="1A1A1A"/>
                </a:solidFill>
              </a:rPr>
              <a:t>Every node keeps its PVs summed per trade currency: a headline in any currency is exact to the cent.</a:t>
            </a:r>
          </a:p>
          <a:p>
            <a:pPr algn="l" marL="146304" indent="-146304">
              <a:buClr>
                <a:srgbClr val="A51C30"/>
              </a:buClr>
              <a:buSzPct val="100000"/>
              <a:buFont typeface="Arial"/>
              <a:buChar char="▪"/>
            </a:pPr>
            <a:r>
              <a:rPr sz="1150" b="0" i="0">
                <a:solidFill>
                  <a:srgbClr val="1A1A1A"/>
                </a:solidFill>
              </a:rPr>
              <a:t>Trade pages say the Trade currency (EUR · as priced); official records in USD, others per setting.</a:t>
            </a:r>
          </a:p>
        </p:txBody>
      </p:sp>
      <p:sp>
        <p:nvSpPr>
          <p:cNvPr id="31" name="TextBox 30"/>
          <p:cNvSpPr txBox="1"/>
          <p:nvPr/>
        </p:nvSpPr>
        <p:spPr>
          <a:xfrm>
            <a:off x="6720840" y="1417320"/>
            <a:ext cx="4690872" cy="274320"/>
          </a:xfrm>
          <a:prstGeom prst="rect">
            <a:avLst/>
          </a:prstGeom>
          <a:noFill/>
        </p:spPr>
        <p:txBody>
          <a:bodyPr wrap="square" lIns="0" rIns="0" tIns="0" bIns="0" anchor="t">
            <a:spAutoFit/>
          </a:bodyPr>
          <a:lstStyle/>
          <a:p>
            <a:pPr algn="l"/>
            <a:r>
              <a:rPr sz="1300" b="1" i="0">
                <a:solidFill>
                  <a:srgbClr val="A51C30"/>
                </a:solidFill>
              </a:rPr>
              <a:t>Why EUR VaR ≠ USD VaR × today's rate¹,²  </a:t>
            </a:r>
          </a:p>
          <a:p>
            <a:pPr algn="l"/>
            <a:r>
              <a:rPr sz="1100" b="0" i="0">
                <a:solidFill>
                  <a:srgbClr val="4A5058"/>
                </a:solidFill>
              </a:rPr>
              <a:t>the bank, EUR millions</a:t>
            </a:r>
          </a:p>
        </p:txBody>
      </p:sp>
      <p:graphicFrame>
        <p:nvGraphicFramePr>
          <p:cNvPr id="32" name="Chart 31"/>
          <p:cNvGraphicFramePr>
            <a:graphicFrameLocks noGrp="1"/>
          </p:cNvGraphicFramePr>
          <p:nvPr/>
        </p:nvGraphicFramePr>
        <p:xfrm>
          <a:off x="6720840" y="1719072"/>
          <a:ext cx="4690872" cy="1325880"/>
        </p:xfrm>
        <a:graphic>
          <a:graphicData uri="http://schemas.openxmlformats.org/drawingml/2006/chart">
            <c:chart xmlns:c="http://schemas.openxmlformats.org/drawingml/2006/chart" r:id="rId2"/>
          </a:graphicData>
        </a:graphic>
      </p:graphicFrame>
      <p:sp>
        <p:nvSpPr>
          <p:cNvPr id="33" name="TextBox 32"/>
          <p:cNvSpPr txBox="1"/>
          <p:nvPr/>
        </p:nvSpPr>
        <p:spPr>
          <a:xfrm>
            <a:off x="6720840" y="3072384"/>
            <a:ext cx="4690872" cy="566928"/>
          </a:xfrm>
          <a:prstGeom prst="rect">
            <a:avLst/>
          </a:prstGeom>
          <a:noFill/>
        </p:spPr>
        <p:txBody>
          <a:bodyPr wrap="square" lIns="0" rIns="0" tIns="0" bIns="0" anchor="t">
            <a:spAutoFit/>
          </a:bodyPr>
          <a:lstStyle/>
          <a:p>
            <a:pPr algn="l"/>
            <a:r>
              <a:rPr sz="1150" b="0" i="0">
                <a:solidFill>
                  <a:srgbClr val="4A5058"/>
                </a:solidFill>
              </a:rPr>
              <a:t>The bank on 2026-09-30 holds a net 3.65 bn USD of value; on the scenario days it moves against the euro, a risk a euro-based owner carries and a dollar-based one does not.</a:t>
            </a:r>
          </a:p>
        </p:txBody>
      </p:sp>
      <p:graphicFrame>
        <p:nvGraphicFramePr>
          <p:cNvPr id="34" name="Table 33"/>
          <p:cNvGraphicFramePr>
            <a:graphicFrameLocks noGrp="1"/>
          </p:cNvGraphicFramePr>
          <p:nvPr/>
        </p:nvGraphicFramePr>
        <p:xfrm>
          <a:off x="6720840" y="3675887"/>
          <a:ext cx="4690872" cy="1481328"/>
        </p:xfrm>
        <a:graphic>
          <a:graphicData uri="http://schemas.openxmlformats.org/drawingml/2006/table">
            <a:tbl>
              <a:tblPr firstRow="0" bandRow="0">
                <a:tableStyleId>{5940675A-B579-460E-94D1-54222C63F5DA}</a:tableStyleId>
              </a:tblPr>
              <a:tblGrid>
                <a:gridCol w="685800"/>
                <a:gridCol w="2002536"/>
                <a:gridCol w="2002536"/>
              </a:tblGrid>
              <a:tr h="246888">
                <a:tc>
                  <a:txBody>
                    <a:bodyPr wrap="square"/>
                    <a:lstStyle/>
                    <a:p>
                      <a:r>
                        <a:rPr sz="1150" b="1" i="0">
                          <a:solidFill>
                            <a:srgbClr val="FFFFFF"/>
                          </a:solidFill>
                        </a:rPr>
                        <a:t>Ccy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50" b="1" i="0">
                          <a:solidFill>
                            <a:srgbClr val="FFFFFF"/>
                          </a:solidFill>
                        </a:rPr>
                        <a:t>Bank VaR 99%¹</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50" b="1" i="0">
                          <a:solidFill>
                            <a:srgbClr val="FFFFFF"/>
                          </a:solidFill>
                        </a:rPr>
                        <a:t>Bank ES 97.5%¹</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246888">
                <a:tc>
                  <a:txBody>
                    <a:bodyPr wrap="square"/>
                    <a:lstStyle/>
                    <a:p>
                      <a:r>
                        <a:rPr sz="1150" b="1" i="0">
                          <a:solidFill>
                            <a:srgbClr val="8A1626"/>
                          </a:solidFill>
                        </a:rPr>
                        <a:t>USD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112,041,646</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160,143,809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1150" b="1" i="0">
                          <a:solidFill>
                            <a:srgbClr val="8A1626"/>
                          </a:solidFill>
                        </a:rPr>
                        <a:t>EUR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50" b="0" i="0">
                          <a:solidFill>
                            <a:srgbClr val="1A1A1A"/>
                          </a:solidFill>
                        </a:rPr>
                        <a:t>111,837,045</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50" b="0" i="0">
                          <a:solidFill>
                            <a:srgbClr val="1A1A1A"/>
                          </a:solidFill>
                        </a:rPr>
                        <a:t>137,631,546</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1150" b="1" i="0">
                          <a:solidFill>
                            <a:srgbClr val="8A1626"/>
                          </a:solidFill>
                        </a:rPr>
                        <a:t>CAD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189,801,404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230,680,413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1150" b="1" i="0">
                          <a:solidFill>
                            <a:srgbClr val="8A1626"/>
                          </a:solidFill>
                        </a:rPr>
                        <a:t>JPY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50" b="0" i="0">
                          <a:solidFill>
                            <a:srgbClr val="1A1A1A"/>
                          </a:solidFill>
                        </a:rPr>
                        <a:t>20,883,226,318</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50" b="0" i="0">
                          <a:solidFill>
                            <a:srgbClr val="1A1A1A"/>
                          </a:solidFill>
                        </a:rPr>
                        <a:t>23,578,418,999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1150" b="1" i="0">
                          <a:solidFill>
                            <a:srgbClr val="8A1626"/>
                          </a:solidFill>
                        </a:rPr>
                        <a:t>GBP</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104,139,554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125,595,958</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bl>
          </a:graphicData>
        </a:graphic>
      </p:graphicFrame>
      <p:sp>
        <p:nvSpPr>
          <p:cNvPr id="35" name="Rectangle 34"/>
          <p:cNvSpPr/>
          <p:nvPr/>
        </p:nvSpPr>
        <p:spPr>
          <a:xfrm>
            <a:off x="6720840" y="5257800"/>
            <a:ext cx="4690872" cy="96012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xtBox 35"/>
          <p:cNvSpPr txBox="1"/>
          <p:nvPr/>
        </p:nvSpPr>
        <p:spPr>
          <a:xfrm>
            <a:off x="6848855" y="5285232"/>
            <a:ext cx="4462272" cy="914400"/>
          </a:xfrm>
          <a:prstGeom prst="rect">
            <a:avLst/>
          </a:prstGeom>
          <a:noFill/>
        </p:spPr>
        <p:txBody>
          <a:bodyPr wrap="square" lIns="0" rIns="0" tIns="0" bIns="0" anchor="ctr">
            <a:spAutoFit/>
          </a:bodyPr>
          <a:lstStyle/>
          <a:p>
            <a:pPr algn="l"/>
            <a:r>
              <a:rPr sz="1150" b="1" i="0">
                <a:solidFill>
                  <a:srgbClr val="8A1626"/>
                </a:solidFill>
              </a:rPr>
              <a:t>On the demo: </a:t>
            </a:r>
            <a:r>
              <a:rPr sz="1150" b="0" i="0">
                <a:solidFill>
                  <a:srgbClr val="1A1A1A"/>
                </a:solidFill>
              </a:rPr>
              <a:t>the 1,339 Endur trades come as scenario PVs (1,089 USD, 246 EUR, 4 CAD). Bank VaR 112,035,906 → 112,041,646 and ES 160,132,107 → 160,143,809: the FX move of the 250 EUR and CAD trades. A USD trade reproduces its vector exactly.</a:t>
            </a:r>
          </a:p>
        </p:txBody>
      </p:sp>
      <p:sp>
        <p:nvSpPr>
          <p:cNvPr id="37" name="Footnotes"/>
          <p:cNvSpPr txBox="1"/>
          <p:nvPr/>
        </p:nvSpPr>
        <p:spPr>
          <a:xfrm>
            <a:off x="2468880" y="6419088"/>
            <a:ext cx="8503920" cy="237744"/>
          </a:xfrm>
          <a:prstGeom prst="rect">
            <a:avLst/>
          </a:prstGeom>
          <a:noFill/>
        </p:spPr>
        <p:txBody>
          <a:bodyPr wrap="square" lIns="0" rIns="0" tIns="0" bIns="0" anchor="ctr">
            <a:spAutoFit/>
          </a:bodyPr>
          <a:lstStyle/>
          <a:p>
            <a:pPr algn="l"/>
            <a:r>
              <a:rPr sz="900" b="0" i="0">
                <a:solidFill>
                  <a:srgbClr val="4A5058"/>
                </a:solidFill>
              </a:rPr>
              <a:t>¹ Computed by the engine on the committed synthetic demo data, 2026-09-30 (VAR_GUIDE §15.9–15.11)   ² 95.4 = the USD VaR at today's EUR rate, as the guide quotes it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INTRADAY UPDATES</a:t>
            </a:r>
          </a:p>
        </p:txBody>
      </p:sp>
      <p:sp>
        <p:nvSpPr>
          <p:cNvPr id="3" name="Title 2"/>
          <p:cNvSpPr>
            <a:spLocks noGrp="1"/>
          </p:cNvSpPr>
          <p:nvPr>
            <p:ph type="title" idx="104"/>
          </p:nvPr>
        </p:nvSpPr>
        <p:spPr/>
        <p:txBody>
          <a:bodyPr/>
          <a:lstStyle/>
          <a:p>
            <a:r>
              <a:t>Intraday: only what changed, applied as new − old up the tree</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63040"/>
            <a:ext cx="1947672" cy="1298448"/>
          </a:xfrm>
          <a:prstGeom prst="rect">
            <a:avLst/>
          </a:prstGeom>
          <a:solidFill>
            <a:srgbClr val="F7F5F2"/>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TextBox 26"/>
          <p:cNvSpPr txBox="1"/>
          <p:nvPr/>
        </p:nvSpPr>
        <p:spPr>
          <a:xfrm>
            <a:off x="868680" y="1527048"/>
            <a:ext cx="1783080" cy="1207007"/>
          </a:xfrm>
          <a:prstGeom prst="rect">
            <a:avLst/>
          </a:prstGeom>
          <a:noFill/>
        </p:spPr>
        <p:txBody>
          <a:bodyPr wrap="square" lIns="0" rIns="0" tIns="0" bIns="0" anchor="t">
            <a:spAutoFit/>
          </a:bodyPr>
          <a:lstStyle/>
          <a:p>
            <a:pPr algn="l">
              <a:spcAft>
                <a:spcPts val="300"/>
              </a:spcAft>
            </a:pPr>
            <a:r>
              <a:rPr sz="1250" b="1" i="0">
                <a:solidFill>
                  <a:srgbClr val="8A1626"/>
                </a:solidFill>
              </a:rPr>
              <a:t>Morning full run</a:t>
            </a:r>
          </a:p>
          <a:p>
            <a:pPr algn="l"/>
            <a:r>
              <a:rPr sz="1100" b="0" i="0">
                <a:solidFill>
                  <a:srgbClr val="4A5058"/>
                </a:solidFill>
              </a:rPr>
              <a:t>RUN_KIND FULL: every live trade or position; the date loads; official records taken from it</a:t>
            </a:r>
          </a:p>
        </p:txBody>
      </p:sp>
      <p:cxnSp>
        <p:nvCxnSpPr>
          <p:cNvPr id="28" name="Connector 27"/>
          <p:cNvCxnSpPr/>
          <p:nvPr/>
        </p:nvCxnSpPr>
        <p:spPr>
          <a:xfrm>
            <a:off x="2743200" y="2112264"/>
            <a:ext cx="187452" cy="0"/>
          </a:xfrm>
          <a:prstGeom prst="line">
            <a:avLst/>
          </a:prstGeom>
          <a:ln w="2222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ectangle 28"/>
          <p:cNvSpPr/>
          <p:nvPr/>
        </p:nvSpPr>
        <p:spPr>
          <a:xfrm>
            <a:off x="2948940" y="1463040"/>
            <a:ext cx="1947672" cy="1298448"/>
          </a:xfrm>
          <a:prstGeom prst="rect">
            <a:avLst/>
          </a:prstGeom>
          <a:solidFill>
            <a:srgbClr val="F7F5F2"/>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xtBox 29"/>
          <p:cNvSpPr txBox="1"/>
          <p:nvPr/>
        </p:nvSpPr>
        <p:spPr>
          <a:xfrm>
            <a:off x="3040380" y="1527048"/>
            <a:ext cx="1783080" cy="1207007"/>
          </a:xfrm>
          <a:prstGeom prst="rect">
            <a:avLst/>
          </a:prstGeom>
          <a:noFill/>
        </p:spPr>
        <p:txBody>
          <a:bodyPr wrap="square" lIns="0" rIns="0" tIns="0" bIns="0" anchor="t">
            <a:spAutoFit/>
          </a:bodyPr>
          <a:lstStyle/>
          <a:p>
            <a:pPr algn="l">
              <a:spcAft>
                <a:spcPts val="300"/>
              </a:spcAft>
            </a:pPr>
            <a:r>
              <a:rPr sz="1250" b="1" i="0">
                <a:solidFill>
                  <a:srgbClr val="8A1626"/>
                </a:solidFill>
              </a:rPr>
              <a:t>Changed rows</a:t>
            </a:r>
          </a:p>
          <a:p>
            <a:pPr algn="l"/>
            <a:r>
              <a:rPr sz="1100" b="0" i="0">
                <a:solidFill>
                  <a:srgbClr val="4A5058"/>
                </a:solidFill>
              </a:rPr>
              <a:t>Trades or positions amended, new, cancelled; same scenario set; own BATCH_ID, later COMPUTED_AT</a:t>
            </a:r>
          </a:p>
        </p:txBody>
      </p:sp>
      <p:cxnSp>
        <p:nvCxnSpPr>
          <p:cNvPr id="31" name="Connector 30"/>
          <p:cNvCxnSpPr/>
          <p:nvPr/>
        </p:nvCxnSpPr>
        <p:spPr>
          <a:xfrm>
            <a:off x="4914900" y="2112264"/>
            <a:ext cx="187452" cy="0"/>
          </a:xfrm>
          <a:prstGeom prst="line">
            <a:avLst/>
          </a:prstGeom>
          <a:ln w="2222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Rectangle 31"/>
          <p:cNvSpPr/>
          <p:nvPr/>
        </p:nvSpPr>
        <p:spPr>
          <a:xfrm>
            <a:off x="5120640" y="1463040"/>
            <a:ext cx="1947672" cy="1298448"/>
          </a:xfrm>
          <a:prstGeom prst="rect">
            <a:avLst/>
          </a:prstGeom>
          <a:solidFill>
            <a:srgbClr val="F7F5F2"/>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TextBox 32"/>
          <p:cNvSpPr txBox="1"/>
          <p:nvPr/>
        </p:nvSpPr>
        <p:spPr>
          <a:xfrm>
            <a:off x="5212079" y="1527048"/>
            <a:ext cx="1783080" cy="1207007"/>
          </a:xfrm>
          <a:prstGeom prst="rect">
            <a:avLst/>
          </a:prstGeom>
          <a:noFill/>
        </p:spPr>
        <p:txBody>
          <a:bodyPr wrap="square" lIns="0" rIns="0" tIns="0" bIns="0" anchor="t">
            <a:spAutoFit/>
          </a:bodyPr>
          <a:lstStyle/>
          <a:p>
            <a:pPr algn="l">
              <a:spcAft>
                <a:spcPts val="300"/>
              </a:spcAft>
            </a:pPr>
            <a:r>
              <a:rPr sz="1250" b="1" i="0">
                <a:solidFill>
                  <a:srgbClr val="8A1626"/>
                </a:solidFill>
              </a:rPr>
              <a:t>Lake: appended batch</a:t>
            </a:r>
          </a:p>
          <a:p>
            <a:pPr algn="l"/>
            <a:r>
              <a:rPr sz="1100" b="0" i="0">
                <a:solidFill>
                  <a:srgbClr val="4A5058"/>
                </a:solidFill>
              </a:rPr>
              <a:t>Files: drishti.py var intraday --load (lake build --mode append). Kafka: one batch per window</a:t>
            </a:r>
          </a:p>
        </p:txBody>
      </p:sp>
      <p:cxnSp>
        <p:nvCxnSpPr>
          <p:cNvPr id="34" name="Connector 33"/>
          <p:cNvCxnSpPr/>
          <p:nvPr/>
        </p:nvCxnSpPr>
        <p:spPr>
          <a:xfrm>
            <a:off x="7086599" y="2112264"/>
            <a:ext cx="187453" cy="0"/>
          </a:xfrm>
          <a:prstGeom prst="line">
            <a:avLst/>
          </a:prstGeom>
          <a:ln w="2222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ectangle 34"/>
          <p:cNvSpPr/>
          <p:nvPr/>
        </p:nvSpPr>
        <p:spPr>
          <a:xfrm>
            <a:off x="7292340" y="1463040"/>
            <a:ext cx="1947672" cy="1298448"/>
          </a:xfrm>
          <a:prstGeom prst="rect">
            <a:avLst/>
          </a:prstGeom>
          <a:solidFill>
            <a:srgbClr val="F6E6E9"/>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xtBox 35"/>
          <p:cNvSpPr txBox="1"/>
          <p:nvPr/>
        </p:nvSpPr>
        <p:spPr>
          <a:xfrm>
            <a:off x="7383779" y="1527048"/>
            <a:ext cx="1783080" cy="1207007"/>
          </a:xfrm>
          <a:prstGeom prst="rect">
            <a:avLst/>
          </a:prstGeom>
          <a:noFill/>
        </p:spPr>
        <p:txBody>
          <a:bodyPr wrap="square" lIns="0" rIns="0" tIns="0" bIns="0" anchor="t">
            <a:spAutoFit/>
          </a:bodyPr>
          <a:lstStyle/>
          <a:p>
            <a:pPr algn="l">
              <a:spcAft>
                <a:spcPts val="300"/>
              </a:spcAft>
            </a:pPr>
            <a:r>
              <a:rPr sz="1250" b="1" i="0">
                <a:solidFill>
                  <a:srgbClr val="8A1626"/>
                </a:solidFill>
              </a:rPr>
              <a:t>Apply: new − old</a:t>
            </a:r>
          </a:p>
          <a:p>
            <a:pPr algn="l"/>
            <a:r>
              <a:rPr sz="1100" b="0" i="0">
                <a:solidFill>
                  <a:srgbClr val="4A5058"/>
                </a:solidFill>
              </a:rPr>
              <a:t>Into the book, every node above (every hierarchy), the currency totals and built currencies</a:t>
            </a:r>
          </a:p>
        </p:txBody>
      </p:sp>
      <p:cxnSp>
        <p:nvCxnSpPr>
          <p:cNvPr id="37" name="Connector 36"/>
          <p:cNvCxnSpPr/>
          <p:nvPr/>
        </p:nvCxnSpPr>
        <p:spPr>
          <a:xfrm>
            <a:off x="9258300" y="2112264"/>
            <a:ext cx="187452" cy="0"/>
          </a:xfrm>
          <a:prstGeom prst="line">
            <a:avLst/>
          </a:prstGeom>
          <a:ln w="2222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Rectangle 37"/>
          <p:cNvSpPr/>
          <p:nvPr/>
        </p:nvSpPr>
        <p:spPr>
          <a:xfrm>
            <a:off x="9464040" y="1463040"/>
            <a:ext cx="1947672" cy="1298448"/>
          </a:xfrm>
          <a:prstGeom prst="rect">
            <a:avLst/>
          </a:prstGeom>
          <a:solidFill>
            <a:srgbClr val="F7F5F2"/>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TextBox 38"/>
          <p:cNvSpPr txBox="1"/>
          <p:nvPr/>
        </p:nvSpPr>
        <p:spPr>
          <a:xfrm>
            <a:off x="9555480" y="1527048"/>
            <a:ext cx="1783080" cy="1207007"/>
          </a:xfrm>
          <a:prstGeom prst="rect">
            <a:avLst/>
          </a:prstGeom>
          <a:noFill/>
        </p:spPr>
        <p:txBody>
          <a:bodyPr wrap="square" lIns="0" rIns="0" tIns="0" bIns="0" anchor="t">
            <a:spAutoFit/>
          </a:bodyPr>
          <a:lstStyle/>
          <a:p>
            <a:pPr algn="l">
              <a:spcAft>
                <a:spcPts val="300"/>
              </a:spcAft>
            </a:pPr>
            <a:r>
              <a:rPr sz="1250" b="1" i="0">
                <a:solidFill>
                  <a:srgbClr val="8A1626"/>
                </a:solidFill>
              </a:rPr>
              <a:t>Answers say intraday</a:t>
            </a:r>
          </a:p>
          <a:p>
            <a:pPr algn="l"/>
            <a:r>
              <a:rPr sz="1100" b="0" i="0">
                <a:solidFill>
                  <a:srgbClr val="4A5058"/>
                </a:solidFill>
              </a:rPr>
              <a:t>Badge in the status line, intraday on every answer; morning hot file never changed</a:t>
            </a:r>
          </a:p>
        </p:txBody>
      </p:sp>
      <p:sp>
        <p:nvSpPr>
          <p:cNvPr id="40" name="TextBox 39"/>
          <p:cNvSpPr txBox="1"/>
          <p:nvPr/>
        </p:nvSpPr>
        <p:spPr>
          <a:xfrm>
            <a:off x="3040380" y="2816352"/>
            <a:ext cx="1463040" cy="237744"/>
          </a:xfrm>
          <a:prstGeom prst="rect">
            <a:avLst/>
          </a:prstGeom>
          <a:noFill/>
        </p:spPr>
        <p:txBody>
          <a:bodyPr wrap="square" lIns="0" rIns="0" tIns="0" bIns="0" anchor="ctr">
            <a:spAutoFit/>
          </a:bodyPr>
          <a:lstStyle/>
          <a:p>
            <a:pPr algn="l"/>
            <a:r>
              <a:rPr sz="1100" b="1" i="0">
                <a:solidFill>
                  <a:srgbClr val="8A1626"/>
                </a:solidFill>
              </a:rPr>
              <a:t>JSONL files</a:t>
            </a:r>
          </a:p>
        </p:txBody>
      </p:sp>
      <p:sp>
        <p:nvSpPr>
          <p:cNvPr id="41" name="TextBox 40"/>
          <p:cNvSpPr txBox="1"/>
          <p:nvPr/>
        </p:nvSpPr>
        <p:spPr>
          <a:xfrm>
            <a:off x="5216652" y="2816352"/>
            <a:ext cx="1828800" cy="237744"/>
          </a:xfrm>
          <a:prstGeom prst="rect">
            <a:avLst/>
          </a:prstGeom>
          <a:noFill/>
        </p:spPr>
        <p:txBody>
          <a:bodyPr wrap="square" lIns="0" rIns="0" tIns="0" bIns="0" anchor="ctr">
            <a:spAutoFit/>
          </a:bodyPr>
          <a:lstStyle/>
          <a:p>
            <a:pPr algn="l"/>
            <a:r>
              <a:rPr sz="1100" b="1" i="0">
                <a:solidFill>
                  <a:srgbClr val="8A1626"/>
                </a:solidFill>
              </a:rPr>
              <a:t>Kafka micro-batches</a:t>
            </a:r>
          </a:p>
        </p:txBody>
      </p:sp>
      <p:graphicFrame>
        <p:nvGraphicFramePr>
          <p:cNvPr id="42" name="Table 41"/>
          <p:cNvGraphicFramePr>
            <a:graphicFrameLocks noGrp="1"/>
          </p:cNvGraphicFramePr>
          <p:nvPr/>
        </p:nvGraphicFramePr>
        <p:xfrm>
          <a:off x="777240" y="3154680"/>
          <a:ext cx="6172200" cy="2633472"/>
        </p:xfrm>
        <a:graphic>
          <a:graphicData uri="http://schemas.openxmlformats.org/drawingml/2006/table">
            <a:tbl>
              <a:tblPr firstRow="0" bandRow="0">
                <a:tableStyleId>{5940675A-B579-460E-94D1-54222C63F5DA}</a:tableStyleId>
              </a:tblPr>
              <a:tblGrid>
                <a:gridCol w="2697480"/>
                <a:gridCol w="3474720"/>
              </a:tblGrid>
              <a:tr h="329184">
                <a:tc>
                  <a:txBody>
                    <a:bodyPr wrap="square"/>
                    <a:lstStyle/>
                    <a:p>
                      <a:r>
                        <a:rPr sz="1150" b="1" i="0">
                          <a:solidFill>
                            <a:srgbClr val="FFFFFF"/>
                          </a:solidFill>
                        </a:rPr>
                        <a:t>Case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50" b="1" i="0">
                          <a:solidFill>
                            <a:srgbClr val="FFFFFF"/>
                          </a:solidFill>
                        </a:rPr>
                        <a:t>What the engine does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329184">
                <a:tc>
                  <a:txBody>
                    <a:bodyPr wrap="square"/>
                    <a:lstStyle/>
                    <a:p>
                      <a:r>
                        <a:rPr sz="1150" b="1" i="0">
                          <a:solidFill>
                            <a:srgbClr val="8A1626"/>
                          </a:solidFill>
                        </a:rPr>
                        <a:t>Same trade or position, several batches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latest COMPUTED_AT wins across files and Kafka; an equal one keeps the first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29184">
                <a:tc>
                  <a:txBody>
                    <a:bodyPr wrap="square"/>
                    <a:lstStyle/>
                    <a:p>
                      <a:r>
                        <a:rPr sz="1150" b="1" i="0">
                          <a:solidFill>
                            <a:srgbClr val="8A1626"/>
                          </a:solidFill>
                        </a:rPr>
                        <a:t>COMPUTED_AT before the morning run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50" b="0" i="0">
                          <a:solidFill>
                            <a:srgbClr val="1A1A1A"/>
                          </a:solidFill>
                        </a:rPr>
                        <a:t>ignored and counted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29184">
                <a:tc>
                  <a:txBody>
                    <a:bodyPr wrap="square"/>
                    <a:lstStyle/>
                    <a:p>
                      <a:r>
                        <a:rPr sz="1150" b="1" i="0">
                          <a:solidFill>
                            <a:srgbClr val="8A1626"/>
                          </a:solidFill>
                        </a:rPr>
                        <a:t>Cancel (CANCELLED, vector null)</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removed from every scope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29184">
                <a:tc>
                  <a:txBody>
                    <a:bodyPr wrap="square"/>
                    <a:lstStyle/>
                    <a:p>
                      <a:r>
                        <a:rPr sz="1150" b="1" i="0">
                          <a:solidFill>
                            <a:srgbClr val="8A1626"/>
                          </a:solidFill>
                        </a:rPr>
                        <a:t>New trade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50" b="0" i="0">
                          <a:solidFill>
                            <a:srgbClr val="1A1A1A"/>
                          </a:solidFill>
                        </a:rPr>
                        <a:t>book from TT_BOOK, position by the position rules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29184">
                <a:tc>
                  <a:txBody>
                    <a:bodyPr wrap="square"/>
                    <a:lstStyle/>
                    <a:p>
                      <a:r>
                        <a:rPr sz="1150" b="1" i="0">
                          <a:solidFill>
                            <a:srgbClr val="8A1626"/>
                          </a:solidFill>
                        </a:rPr>
                        <a:t>Moved to another book or position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old ordinal cancelled, added in its new place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29184">
                <a:tc>
                  <a:txBody>
                    <a:bodyPr wrap="square"/>
                    <a:lstStyle/>
                    <a:p>
                      <a:r>
                        <a:rPr sz="1150" b="1" i="0">
                          <a:solidFill>
                            <a:srgbClr val="8A1626"/>
                          </a:solidFill>
                        </a:rPr>
                        <a:t>Another scenario set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50" b="0" i="0">
                          <a:solidFill>
                            <a:srgbClr val="1A1A1A"/>
                          </a:solidFill>
                        </a:rPr>
                        <a:t>row refused (DRS-5203); the date stays as it is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29184">
                <a:tc>
                  <a:txBody>
                    <a:bodyPr wrap="square"/>
                    <a:lstStyle/>
                    <a:p>
                      <a:r>
                        <a:rPr sz="1150" b="1" i="0">
                          <a:solidFill>
                            <a:srgbClr val="8A1626"/>
                          </a:solidFill>
                        </a:rPr>
                        <a:t>A full run of the date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date reloads; the intraday layer is dropped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bl>
          </a:graphicData>
        </a:graphic>
      </p:graphicFrame>
      <p:sp>
        <p:nvSpPr>
          <p:cNvPr id="43" name="Rectangle 42"/>
          <p:cNvSpPr/>
          <p:nvPr/>
        </p:nvSpPr>
        <p:spPr>
          <a:xfrm>
            <a:off x="7178040" y="3154680"/>
            <a:ext cx="4233672" cy="1874519"/>
          </a:xfrm>
          <a:prstGeom prst="rect">
            <a:avLst/>
          </a:prstGeom>
          <a:solidFill>
            <a:srgbClr val="F7F5F2"/>
          </a:solidFill>
          <a:ln w="12700">
            <a:solidFill>
              <a:srgbClr val="29335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4" name="TextBox 43"/>
          <p:cNvSpPr txBox="1"/>
          <p:nvPr/>
        </p:nvSpPr>
        <p:spPr>
          <a:xfrm>
            <a:off x="7315200" y="3218688"/>
            <a:ext cx="4005072" cy="1783080"/>
          </a:xfrm>
          <a:prstGeom prst="rect">
            <a:avLst/>
          </a:prstGeom>
          <a:noFill/>
        </p:spPr>
        <p:txBody>
          <a:bodyPr wrap="square" lIns="0" rIns="0" tIns="0" bIns="0" anchor="t">
            <a:spAutoFit/>
          </a:bodyPr>
          <a:lstStyle/>
          <a:p>
            <a:pPr algn="l">
              <a:spcAft>
                <a:spcPts val="300"/>
              </a:spcAft>
            </a:pPr>
            <a:r>
              <a:rPr sz="1250" b="1" i="0">
                <a:solidFill>
                  <a:srgbClr val="293352"/>
                </a:solidFill>
              </a:rPr>
              <a:t>Kafka, as built</a:t>
            </a:r>
          </a:p>
          <a:p>
            <a:pPr algn="l" marL="146304" indent="-146304">
              <a:spcAft>
                <a:spcPts val="200"/>
              </a:spcAft>
              <a:buClr>
                <a:srgbClr val="293352"/>
              </a:buClr>
              <a:buSzPct val="100000"/>
              <a:buFont typeface="Arial"/>
              <a:buChar char="▪"/>
            </a:pPr>
            <a:r>
              <a:rPr sz="1150" b="0" i="0">
                <a:solidFill>
                  <a:srgbClr val="1A1A1A"/>
                </a:solidFill>
              </a:rPr>
              <a:t>A message is JSONL text: one or more records, PVs or P&amp;L, a cancel as a marked line</a:t>
            </a:r>
          </a:p>
          <a:p>
            <a:pPr algn="l" marL="146304" indent="-146304">
              <a:spcAft>
                <a:spcPts val="200"/>
              </a:spcAft>
              <a:buClr>
                <a:srgbClr val="293352"/>
              </a:buClr>
              <a:buSzPct val="100000"/>
              <a:buFont typeface="Arial"/>
              <a:buChar char="▪"/>
            </a:pPr>
            <a:r>
              <a:rPr sz="1150" b="0" i="0">
                <a:solidFill>
                  <a:srgbClr val="1A1A1A"/>
                </a:solidFill>
              </a:rPr>
              <a:t>A window every 5 min (drishti.var.intraday.kafka.window); early flush at 500 trades; admin “Apply now”</a:t>
            </a:r>
          </a:p>
          <a:p>
            <a:pPr algn="l" marL="146304" indent="-146304">
              <a:spcAft>
                <a:spcPts val="200"/>
              </a:spcAft>
              <a:buClr>
                <a:srgbClr val="293352"/>
              </a:buClr>
              <a:buSzPct val="100000"/>
              <a:buFont typeface="Arial"/>
              <a:buChar char="▪"/>
            </a:pPr>
            <a:r>
              <a:rPr sz="1150" b="0" i="0">
                <a:solidFill>
                  <a:srgbClr val="1A1A1A"/>
                </a:solidFill>
              </a:rPr>
              <a:t>Each window written to the lake as ONE intraday batch (on Iceberg, one append), then applied like a file</a:t>
            </a:r>
          </a:p>
          <a:p>
            <a:pPr algn="l" marL="146304" indent="-146304">
              <a:buClr>
                <a:srgbClr val="293352"/>
              </a:buClr>
              <a:buSzPct val="100000"/>
              <a:buFont typeface="Arial"/>
              <a:buChar char="▪"/>
            </a:pPr>
            <a:r>
              <a:rPr sz="1150" b="0" i="0">
                <a:solidFill>
                  <a:srgbClr val="1A1A1A"/>
                </a:solidFill>
              </a:rPr>
              <a:t>Replaying the topic after a restart writes nothing twice</a:t>
            </a:r>
          </a:p>
        </p:txBody>
      </p:sp>
      <p:sp>
        <p:nvSpPr>
          <p:cNvPr id="45" name="Rectangle 44"/>
          <p:cNvSpPr/>
          <p:nvPr/>
        </p:nvSpPr>
        <p:spPr>
          <a:xfrm>
            <a:off x="7178040" y="5138928"/>
            <a:ext cx="4233672" cy="1078992"/>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6" name="Rectangle 45"/>
          <p:cNvSpPr/>
          <p:nvPr/>
        </p:nvSpPr>
        <p:spPr>
          <a:xfrm>
            <a:off x="7178040" y="5138928"/>
            <a:ext cx="54864" cy="10789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7" name="TextBox 46"/>
          <p:cNvSpPr txBox="1"/>
          <p:nvPr/>
        </p:nvSpPr>
        <p:spPr>
          <a:xfrm>
            <a:off x="7360919" y="5166360"/>
            <a:ext cx="3959352" cy="1024128"/>
          </a:xfrm>
          <a:prstGeom prst="rect">
            <a:avLst/>
          </a:prstGeom>
          <a:noFill/>
        </p:spPr>
        <p:txBody>
          <a:bodyPr wrap="square" lIns="0" rIns="0" tIns="0" bIns="0" anchor="ctr">
            <a:spAutoFit/>
          </a:bodyPr>
          <a:lstStyle/>
          <a:p>
            <a:pPr algn="l">
              <a:spcAft>
                <a:spcPts val="300"/>
              </a:spcAft>
            </a:pPr>
            <a:r>
              <a:rPr sz="1250" b="1" i="0">
                <a:solidFill>
                  <a:srgbClr val="A51C30"/>
                </a:solidFill>
              </a:rPr>
              <a:t>The guarantee  </a:t>
            </a:r>
            <a:r>
              <a:rPr sz="1200" b="1" i="0">
                <a:solidFill>
                  <a:srgbClr val="8A1626"/>
                </a:solidFill>
              </a:rPr>
              <a:t>incremental = the same data loaded as one run, to the cent, on every node</a:t>
            </a:r>
          </a:p>
          <a:p>
            <a:pPr algn="l"/>
            <a:r>
              <a:rPr sz="1100" b="0" i="0">
                <a:solidFill>
                  <a:srgbClr val="1A1A1A"/>
                </a:solidFill>
              </a:rPr>
              <a:t>Measured¹: 200 batches of 3 trades on one date; a restart equal too; batch time does not grow. Official numbers come only from full runs.</a:t>
            </a:r>
          </a:p>
        </p:txBody>
      </p:sp>
      <p:sp>
        <p:nvSpPr>
          <p:cNvPr id="48" name="TextBox 47"/>
          <p:cNvSpPr txBox="1"/>
          <p:nvPr/>
        </p:nvSpPr>
        <p:spPr>
          <a:xfrm>
            <a:off x="777240" y="5852160"/>
            <a:ext cx="6172200" cy="365760"/>
          </a:xfrm>
          <a:prstGeom prst="rect">
            <a:avLst/>
          </a:prstGeom>
          <a:noFill/>
        </p:spPr>
        <p:txBody>
          <a:bodyPr wrap="square" lIns="0" rIns="0" tIns="0" bIns="0" anchor="ctr">
            <a:spAutoFit/>
          </a:bodyPr>
          <a:lstStyle/>
          <a:p>
            <a:pPr algn="l"/>
            <a:r>
              <a:rPr sz="1150" b="0" i="1">
                <a:solidFill>
                  <a:srgbClr val="4A5058"/>
                </a:solidFill>
              </a:rPr>
              <a:t>Cost of a batch ∝ rows changed × nodes above × currencies built, never the size of the book.</a:t>
            </a:r>
          </a:p>
        </p:txBody>
      </p:sp>
      <p:sp>
        <p:nvSpPr>
          <p:cNvPr id="49" name="Footnotes"/>
          <p:cNvSpPr txBox="1"/>
          <p:nvPr/>
        </p:nvSpPr>
        <p:spPr>
          <a:xfrm>
            <a:off x="2468880" y="6419088"/>
            <a:ext cx="8503920" cy="237744"/>
          </a:xfrm>
          <a:prstGeom prst="rect">
            <a:avLst/>
          </a:prstGeom>
          <a:noFill/>
        </p:spPr>
        <p:txBody>
          <a:bodyPr wrap="square" lIns="0" rIns="0" tIns="0" bIns="0" anchor="ctr">
            <a:spAutoFit/>
          </a:bodyPr>
          <a:lstStyle/>
          <a:p>
            <a:pPr algn="l"/>
            <a:r>
              <a:rPr sz="900" b="0" i="0">
                <a:solidFill>
                  <a:srgbClr val="4A5058"/>
                </a:solidFill>
              </a:rPr>
              <a:t>¹ VarIntradayApiTest: 200 batches of 3 trades, equal to the cent to the same data loaded as one run, on every node (VAR_GUIDE §8.4)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THE VAR UI AND THE REST</a:t>
            </a:r>
          </a:p>
        </p:txBody>
      </p:sp>
      <p:sp>
        <p:nvSpPr>
          <p:cNvPr id="3" name="Title 2"/>
          <p:cNvSpPr>
            <a:spLocks noGrp="1"/>
          </p:cNvSpPr>
          <p:nvPr>
            <p:ph type="title" idx="104"/>
          </p:nvPr>
        </p:nvSpPr>
        <p:spPr/>
        <p:txBody>
          <a:bodyPr/>
          <a:lstStyle/>
          <a:p>
            <a:r>
              <a:t>One explorer for any scope, and the same answers everywhere else</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pic>
        <p:nvPicPr>
          <p:cNvPr id="26" name="Picture 25" descr="15-reporting-currency.jpg"/>
          <p:cNvPicPr>
            <a:picLocks noChangeAspect="1"/>
          </p:cNvPicPr>
          <p:nvPr/>
        </p:nvPicPr>
        <p:blipFill>
          <a:blip r:embed="rId2"/>
          <a:stretch>
            <a:fillRect/>
          </a:stretch>
        </p:blipFill>
        <p:spPr>
          <a:xfrm>
            <a:off x="777240" y="1444752"/>
            <a:ext cx="5989320" cy="3743325"/>
          </a:xfrm>
          <a:prstGeom prst="rect">
            <a:avLst/>
          </a:prstGeom>
          <a:ln w="9144">
            <a:solidFill>
              <a:srgbClr val="E3DED7"/>
            </a:solidFill>
          </a:ln>
        </p:spPr>
      </p:pic>
      <p:sp>
        <p:nvSpPr>
          <p:cNvPr id="27" name="TextBox 26"/>
          <p:cNvSpPr txBox="1"/>
          <p:nvPr/>
        </p:nvSpPr>
        <p:spPr>
          <a:xfrm>
            <a:off x="777240" y="5242941"/>
            <a:ext cx="5989320" cy="411480"/>
          </a:xfrm>
          <a:prstGeom prst="rect">
            <a:avLst/>
          </a:prstGeom>
          <a:noFill/>
        </p:spPr>
        <p:txBody>
          <a:bodyPr wrap="square" lIns="0" rIns="0" tIns="0" bIns="0" anchor="t">
            <a:spAutoFit/>
          </a:bodyPr>
          <a:lstStyle/>
          <a:p>
            <a:pPr algn="l"/>
            <a:r>
              <a:rPr sz="1050" b="0" i="1">
                <a:solidFill>
                  <a:srgbClr val="4A5058"/>
                </a:solidFill>
              </a:rPr>
              <a:t>VAR DESK DESK-RATES IN EUR: the scope tree and tiles in EUR, the basket tray, the P&amp;L path, and How this number was built naming the reporting currency, the input form, the scenario FX and the crosses via USD (2026-09-30).</a:t>
            </a:r>
          </a:p>
        </p:txBody>
      </p:sp>
      <p:sp>
        <p:nvSpPr>
          <p:cNvPr id="28" name="Rectangle 27"/>
          <p:cNvSpPr/>
          <p:nvPr/>
        </p:nvSpPr>
        <p:spPr>
          <a:xfrm>
            <a:off x="777240" y="5715000"/>
            <a:ext cx="2903220" cy="54864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TextBox 28"/>
          <p:cNvSpPr txBox="1"/>
          <p:nvPr/>
        </p:nvSpPr>
        <p:spPr>
          <a:xfrm>
            <a:off x="886968" y="5715000"/>
            <a:ext cx="960120" cy="548640"/>
          </a:xfrm>
          <a:prstGeom prst="rect">
            <a:avLst/>
          </a:prstGeom>
          <a:noFill/>
        </p:spPr>
        <p:txBody>
          <a:bodyPr wrap="square" lIns="0" rIns="0" tIns="0" bIns="0" anchor="ctr">
            <a:spAutoFit/>
          </a:bodyPr>
          <a:lstStyle/>
          <a:p>
            <a:pPr algn="l"/>
            <a:r>
              <a:rPr sz="1500" b="1" i="0">
                <a:solidFill>
                  <a:srgbClr val="8A1626"/>
                </a:solidFill>
              </a:rPr>
              <a:t>9–14 ms¹</a:t>
            </a:r>
          </a:p>
        </p:txBody>
      </p:sp>
      <p:sp>
        <p:nvSpPr>
          <p:cNvPr id="30" name="TextBox 29"/>
          <p:cNvSpPr txBox="1"/>
          <p:nvPr/>
        </p:nvSpPr>
        <p:spPr>
          <a:xfrm>
            <a:off x="1847088" y="5715000"/>
            <a:ext cx="1760219" cy="548640"/>
          </a:xfrm>
          <a:prstGeom prst="rect">
            <a:avLst/>
          </a:prstGeom>
          <a:noFill/>
        </p:spPr>
        <p:txBody>
          <a:bodyPr wrap="square" lIns="0" rIns="0" tIns="0" bIns="0" anchor="ctr">
            <a:spAutoFit/>
          </a:bodyPr>
          <a:lstStyle/>
          <a:p>
            <a:pPr algn="l"/>
            <a:r>
              <a:rPr sz="1050" b="0" i="0">
                <a:solidFill>
                  <a:srgbClr val="4A5058"/>
                </a:solidFill>
              </a:rPr>
              <a:t>click to painted, a desk, answers fetched ahead (target 300 ms)</a:t>
            </a:r>
          </a:p>
        </p:txBody>
      </p:sp>
      <p:sp>
        <p:nvSpPr>
          <p:cNvPr id="31" name="Rectangle 30"/>
          <p:cNvSpPr/>
          <p:nvPr/>
        </p:nvSpPr>
        <p:spPr>
          <a:xfrm>
            <a:off x="3863339" y="5715000"/>
            <a:ext cx="2903220" cy="54864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TextBox 31"/>
          <p:cNvSpPr txBox="1"/>
          <p:nvPr/>
        </p:nvSpPr>
        <p:spPr>
          <a:xfrm>
            <a:off x="3973068" y="5715000"/>
            <a:ext cx="960120" cy="548640"/>
          </a:xfrm>
          <a:prstGeom prst="rect">
            <a:avLst/>
          </a:prstGeom>
          <a:noFill/>
        </p:spPr>
        <p:txBody>
          <a:bodyPr wrap="square" lIns="0" rIns="0" tIns="0" bIns="0" anchor="ctr">
            <a:spAutoFit/>
          </a:bodyPr>
          <a:lstStyle/>
          <a:p>
            <a:pPr algn="l"/>
            <a:r>
              <a:rPr sz="1500" b="1" i="0">
                <a:solidFill>
                  <a:srgbClr val="8A1626"/>
                </a:solidFill>
              </a:rPr>
              <a:t>390 px</a:t>
            </a:r>
          </a:p>
        </p:txBody>
      </p:sp>
      <p:sp>
        <p:nvSpPr>
          <p:cNvPr id="33" name="TextBox 32"/>
          <p:cNvSpPr txBox="1"/>
          <p:nvPr/>
        </p:nvSpPr>
        <p:spPr>
          <a:xfrm>
            <a:off x="4933188" y="5715000"/>
            <a:ext cx="1760219" cy="548640"/>
          </a:xfrm>
          <a:prstGeom prst="rect">
            <a:avLst/>
          </a:prstGeom>
          <a:noFill/>
        </p:spPr>
        <p:txBody>
          <a:bodyPr wrap="square" lIns="0" rIns="0" tIns="0" bIns="0" anchor="ctr">
            <a:spAutoFit/>
          </a:bodyPr>
          <a:lstStyle/>
          <a:p>
            <a:pPr algn="l"/>
            <a:r>
              <a:rPr sz="1050" b="0" i="0">
                <a:solidFill>
                  <a:srgbClr val="4A5058"/>
                </a:solidFill>
              </a:rPr>
              <a:t>on a phone the three columns stack, no sideways scroll</a:t>
            </a:r>
          </a:p>
        </p:txBody>
      </p:sp>
      <p:sp>
        <p:nvSpPr>
          <p:cNvPr id="34" name="TextBox 33"/>
          <p:cNvSpPr txBox="1"/>
          <p:nvPr/>
        </p:nvSpPr>
        <p:spPr>
          <a:xfrm>
            <a:off x="7040879" y="1417320"/>
            <a:ext cx="4370832" cy="4846320"/>
          </a:xfrm>
          <a:prstGeom prst="rect">
            <a:avLst/>
          </a:prstGeom>
          <a:noFill/>
        </p:spPr>
        <p:txBody>
          <a:bodyPr wrap="square" lIns="0" rIns="0" tIns="0" bIns="0" anchor="t">
            <a:spAutoFit/>
          </a:bodyPr>
          <a:lstStyle/>
          <a:p>
            <a:pPr algn="l" marL="146304" indent="-146304">
              <a:spcAft>
                <a:spcPts val="550"/>
              </a:spcAft>
              <a:buClr>
                <a:srgbClr val="A51C30"/>
              </a:buClr>
              <a:buSzPct val="100000"/>
              <a:buFont typeface="Arial"/>
              <a:buChar char="▪"/>
            </a:pPr>
            <a:r>
              <a:rPr sz="1200" b="1" i="0">
                <a:solidFill>
                  <a:srgbClr val="8A1626"/>
                </a:solidFill>
              </a:rPr>
              <a:t>Scope tree and six tiles  </a:t>
            </a:r>
            <a:r>
              <a:rPr sz="1150" b="0" i="0">
                <a:solidFill>
                  <a:srgbClr val="1A1A1A"/>
                </a:solidFill>
              </a:rPr>
              <a:t>MGMT, LEGAL or the limit letters (a tree by columns) with VaR, ES and limit bars; VaR, ES, sum of standalone, diversification, limit use, backtest exceptions.</a:t>
            </a:r>
          </a:p>
          <a:p>
            <a:pPr algn="l" marL="146304" indent="-146304">
              <a:spcAft>
                <a:spcPts val="550"/>
              </a:spcAft>
              <a:buClr>
                <a:srgbClr val="A51C30"/>
              </a:buClr>
              <a:buSzPct val="100000"/>
              <a:buFont typeface="Arial"/>
              <a:buChar char="▪"/>
            </a:pPr>
            <a:r>
              <a:rPr sz="1200" b="1" i="0">
                <a:solidFill>
                  <a:srgbClr val="8A1626"/>
                </a:solidFill>
              </a:rPr>
              <a:t>Five tabs  </a:t>
            </a:r>
            <a:r>
              <a:rPr sz="1150" b="0" i="0">
                <a:solidFill>
                  <a:srgbClr val="1A1A1A"/>
                </a:solidFill>
              </a:rPr>
              <a:t>P&amp;L path (509 days, worst 25, who lost on a day) · VaR/ES history and backtest · contributions · captured results · In other currencies.</a:t>
            </a:r>
          </a:p>
          <a:p>
            <a:pPr algn="l" marL="146304" indent="-146304">
              <a:spcAft>
                <a:spcPts val="550"/>
              </a:spcAft>
              <a:buClr>
                <a:srgbClr val="A51C30"/>
              </a:buClr>
              <a:buSzPct val="100000"/>
              <a:buFont typeface="Arial"/>
              <a:buChar char="▪"/>
            </a:pPr>
            <a:r>
              <a:rPr sz="1200" b="1" i="0">
                <a:solidFill>
                  <a:srgbClr val="8A1626"/>
                </a:solidFill>
              </a:rPr>
              <a:t>Reporting currency picker  </a:t>
            </a:r>
            <a:r>
              <a:rPr sz="1150" b="0" i="0">
                <a:solidFill>
                  <a:srgbClr val="1A1A1A"/>
                </a:solidFill>
              </a:rPr>
              <a:t>USD, EUR, CAD, JPY, GBP and More…; every panel follows; kept in the link; VAR … IN EUR.</a:t>
            </a:r>
          </a:p>
          <a:p>
            <a:pPr algn="l" marL="146304" indent="-146304">
              <a:spcAft>
                <a:spcPts val="550"/>
              </a:spcAft>
              <a:buClr>
                <a:srgbClr val="A51C30"/>
              </a:buClr>
              <a:buSzPct val="100000"/>
              <a:buFont typeface="Arial"/>
              <a:buChar char="▪"/>
            </a:pPr>
            <a:r>
              <a:rPr sz="1200" b="1" i="0">
                <a:solidFill>
                  <a:srgbClr val="8A1626"/>
                </a:solidFill>
              </a:rPr>
              <a:t>How this number was built  </a:t>
            </a:r>
            <a:r>
              <a:rPr sz="1150" b="0" i="0">
                <a:solidFill>
                  <a:srgbClr val="1A1A1A"/>
                </a:solidFill>
              </a:rPr>
              <a:t>the scope as resolved, its trades and positions, hidden and unknown ids, batch, data versions, method, tier, timing.</a:t>
            </a:r>
          </a:p>
          <a:p>
            <a:pPr algn="l" marL="146304" indent="-146304">
              <a:spcAft>
                <a:spcPts val="550"/>
              </a:spcAft>
              <a:buClr>
                <a:srgbClr val="A51C30"/>
              </a:buClr>
              <a:buSzPct val="100000"/>
              <a:buFont typeface="Arial"/>
              <a:buChar char="▪"/>
            </a:pPr>
            <a:r>
              <a:rPr sz="1200" b="1" i="0">
                <a:solidFill>
                  <a:srgbClr val="8A1626"/>
                </a:solidFill>
              </a:rPr>
              <a:t>Baskets and pre-deal what-if  </a:t>
            </a:r>
            <a:r>
              <a:rPr sz="1150" b="0" i="0">
                <a:solidFill>
                  <a:srgbClr val="1A1A1A"/>
                </a:solidFill>
              </a:rPr>
              <a:t>any mix of portfolios, positions, trades, counterparties and rules, live; a booked trade's vector × a factor through the Python engine.</a:t>
            </a:r>
          </a:p>
          <a:p>
            <a:pPr algn="l" marL="146304" indent="-146304">
              <a:spcAft>
                <a:spcPts val="550"/>
              </a:spcAft>
              <a:buClr>
                <a:srgbClr val="A51C30"/>
              </a:buClr>
              <a:buSzPct val="100000"/>
              <a:buFont typeface="Arial"/>
              <a:buChar char="▪"/>
            </a:pPr>
            <a:r>
              <a:rPr sz="1200" b="1" i="0">
                <a:solidFill>
                  <a:srgbClr val="8A1626"/>
                </a:solidFill>
              </a:rPr>
              <a:t>Captures, official records  </a:t>
            </a:r>
            <a:r>
              <a:rPr sz="1150" b="0" i="0">
                <a:solidFill>
                  <a:srgbClr val="1A1A1A"/>
                </a:solidFill>
              </a:rPr>
              <a:t>immutable captures, compare with now; each node's official history.</a:t>
            </a:r>
          </a:p>
          <a:p>
            <a:pPr algn="l" marL="146304" indent="-146304">
              <a:spcAft>
                <a:spcPts val="550"/>
              </a:spcAft>
              <a:buClr>
                <a:srgbClr val="A51C30"/>
              </a:buClr>
              <a:buSzPct val="100000"/>
              <a:buFont typeface="Arial"/>
              <a:buChar char="▪"/>
            </a:pPr>
            <a:r>
              <a:rPr sz="1200" b="1" i="0">
                <a:solidFill>
                  <a:srgbClr val="8A1626"/>
                </a:solidFill>
              </a:rPr>
              <a:t>Everywhere else  </a:t>
            </a:r>
            <a:r>
              <a:rPr sz="1150" b="0" i="0">
                <a:solidFill>
                  <a:srgbClr val="1A1A1A"/>
                </a:solidFill>
              </a:rPr>
              <a:t>trade (Trade currency), position, portfolio, desk and LE pages; drishti.py var … --ccy; /api/v1/var; VRES and VWIF; the BI VaR report; Home facts.</a:t>
            </a:r>
          </a:p>
          <a:p>
            <a:pPr algn="l" marL="146304" indent="-146304">
              <a:spcAft>
                <a:spcPts val="550"/>
              </a:spcAft>
              <a:buClr>
                <a:srgbClr val="A51C30"/>
              </a:buClr>
              <a:buSzPct val="100000"/>
              <a:buFont typeface="Arial"/>
              <a:buChar char="▪"/>
            </a:pPr>
            <a:r>
              <a:rPr sz="1200" b="1" i="0">
                <a:solidFill>
                  <a:srgbClr val="8A1626"/>
                </a:solidFill>
              </a:rPr>
              <a:t>Governed  </a:t>
            </a:r>
            <a:r>
              <a:rPr sz="1150" b="0" i="0">
                <a:solidFill>
                  <a:srgbClr val="1A1A1A"/>
                </a:solidFill>
              </a:rPr>
              <a:t>root name drishti.var.root-name; per-node positions or aggregate access; masks; every answer audited.</a:t>
            </a:r>
          </a:p>
        </p:txBody>
      </p:sp>
      <p:sp>
        <p:nvSpPr>
          <p:cNvPr id="35" name="Footnotes"/>
          <p:cNvSpPr txBox="1"/>
          <p:nvPr/>
        </p:nvSpPr>
        <p:spPr>
          <a:xfrm>
            <a:off x="2468880" y="6419088"/>
            <a:ext cx="8503920" cy="237744"/>
          </a:xfrm>
          <a:prstGeom prst="rect">
            <a:avLst/>
          </a:prstGeom>
          <a:noFill/>
        </p:spPr>
        <p:txBody>
          <a:bodyPr wrap="square" lIns="0" rIns="0" tIns="0" bIns="0" anchor="ctr">
            <a:spAutoFit/>
          </a:bodyPr>
          <a:lstStyle/>
          <a:p>
            <a:pPr algn="l"/>
            <a:r>
              <a:rPr sz="900" b="0" i="0">
                <a:solidFill>
                  <a:srgbClr val="4A5058"/>
                </a:solidFill>
              </a:rPr>
              <a:t>¹ Measured: painted in 9–14 ms with answers fetched ahead, 30–35 ms without (VAR_GUIDE §27.2); the 300 ms target is the product owner's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hapter background"/>
          <p:cNvSpPr/>
          <p:nvPr/>
        </p:nvSpPr>
        <p:spPr>
          <a:xfrm>
            <a:off x="0" y="0"/>
            <a:ext cx="12191969"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chapter number"/>
          <p:cNvSpPr txBox="1"/>
          <p:nvPr/>
        </p:nvSpPr>
        <p:spPr>
          <a:xfrm>
            <a:off x="4754880" y="-822960"/>
            <a:ext cx="7223760" cy="7863840"/>
          </a:xfrm>
          <a:prstGeom prst="rect">
            <a:avLst/>
          </a:prstGeom>
          <a:noFill/>
        </p:spPr>
        <p:txBody>
          <a:bodyPr wrap="none" lIns="0" rIns="0" tIns="0" bIns="0" anchor="ctr">
            <a:spAutoFit/>
          </a:bodyPr>
          <a:lstStyle/>
          <a:p>
            <a:pPr algn="r"/>
            <a:r>
              <a:rPr sz="42000" b="1" i="0">
                <a:solidFill>
                  <a:srgbClr val="B8394C"/>
                </a:solidFill>
              </a:rPr>
              <a:t>03</a:t>
            </a:r>
          </a:p>
        </p:txBody>
      </p:sp>
      <p:sp>
        <p:nvSpPr>
          <p:cNvPr id="4" name="chapter name"/>
          <p:cNvSpPr txBox="1"/>
          <p:nvPr/>
        </p:nvSpPr>
        <p:spPr>
          <a:xfrm>
            <a:off x="822960" y="2514600"/>
            <a:ext cx="6949440" cy="1828800"/>
          </a:xfrm>
          <a:prstGeom prst="rect">
            <a:avLst/>
          </a:prstGeom>
          <a:noFill/>
        </p:spPr>
        <p:txBody>
          <a:bodyPr wrap="square" lIns="0" rIns="0" tIns="0" bIns="0" anchor="ctr">
            <a:spAutoFit/>
          </a:bodyPr>
          <a:lstStyle/>
          <a:p>
            <a:pPr algn="l"/>
            <a:r>
              <a:rPr sz="4400" b="1" i="0">
                <a:solidFill>
                  <a:srgbClr val="FFFFFF"/>
                </a:solidFill>
              </a:rPr>
              <a:t>Data in</a:t>
            </a:r>
          </a:p>
        </p:txBody>
      </p:sp>
      <p:pic>
        <p:nvPicPr>
          <p:cNvPr id="5" name="Drishti mark" descr="Drishti logo: an eye between curly brackets"/>
          <p:cNvPicPr>
            <a:picLocks noChangeAspect="1"/>
          </p:cNvPicPr>
          <p:nvPr/>
        </p:nvPicPr>
        <p:blipFill>
          <a:blip r:embed="rId2"/>
          <a:stretch>
            <a:fillRect/>
          </a:stretch>
        </p:blipFill>
        <p:spPr>
          <a:xfrm>
            <a:off x="822960" y="6236208"/>
            <a:ext cx="430911" cy="237744"/>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ARCHITECTURE AND DATA FLOW</a:t>
            </a:r>
          </a:p>
        </p:txBody>
      </p:sp>
      <p:sp>
        <p:nvSpPr>
          <p:cNvPr id="3" name="Title 2"/>
          <p:cNvSpPr>
            <a:spLocks noGrp="1"/>
          </p:cNvSpPr>
          <p:nvPr>
            <p:ph type="title" idx="104"/>
          </p:nvPr>
        </p:nvSpPr>
        <p:spPr/>
        <p:txBody>
          <a:bodyPr/>
          <a:lstStyle/>
          <a:p>
            <a:r>
              <a:t>From the pricing systems to every screen, in one direction</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TextBox 25"/>
          <p:cNvSpPr txBox="1"/>
          <p:nvPr/>
        </p:nvSpPr>
        <p:spPr>
          <a:xfrm>
            <a:off x="777240" y="1389888"/>
            <a:ext cx="1920240" cy="237744"/>
          </a:xfrm>
          <a:prstGeom prst="rect">
            <a:avLst/>
          </a:prstGeom>
          <a:noFill/>
        </p:spPr>
        <p:txBody>
          <a:bodyPr wrap="square" lIns="0" rIns="0" tIns="0" bIns="0" anchor="ctr">
            <a:spAutoFit/>
          </a:bodyPr>
          <a:lstStyle/>
          <a:p>
            <a:pPr algn="l"/>
            <a:r>
              <a:rPr sz="1050" b="1" i="0">
                <a:solidFill>
                  <a:srgbClr val="A51C30"/>
                </a:solidFill>
              </a:rPr>
              <a:t>1 · SOURCES</a:t>
            </a:r>
          </a:p>
        </p:txBody>
      </p:sp>
      <p:sp>
        <p:nvSpPr>
          <p:cNvPr id="27" name="TextBox 26"/>
          <p:cNvSpPr txBox="1"/>
          <p:nvPr/>
        </p:nvSpPr>
        <p:spPr>
          <a:xfrm>
            <a:off x="2990088" y="1389888"/>
            <a:ext cx="1920240" cy="237744"/>
          </a:xfrm>
          <a:prstGeom prst="rect">
            <a:avLst/>
          </a:prstGeom>
          <a:noFill/>
        </p:spPr>
        <p:txBody>
          <a:bodyPr wrap="square" lIns="0" rIns="0" tIns="0" bIns="0" anchor="ctr">
            <a:spAutoFit/>
          </a:bodyPr>
          <a:lstStyle/>
          <a:p>
            <a:pPr algn="l"/>
            <a:r>
              <a:rPr sz="1050" b="1" i="0">
                <a:solidFill>
                  <a:srgbClr val="A51C30"/>
                </a:solidFill>
              </a:rPr>
              <a:t>2 · THE LAKE</a:t>
            </a:r>
          </a:p>
        </p:txBody>
      </p:sp>
      <p:sp>
        <p:nvSpPr>
          <p:cNvPr id="28" name="TextBox 27"/>
          <p:cNvSpPr txBox="1"/>
          <p:nvPr/>
        </p:nvSpPr>
        <p:spPr>
          <a:xfrm>
            <a:off x="5202936" y="1389888"/>
            <a:ext cx="2011680" cy="237744"/>
          </a:xfrm>
          <a:prstGeom prst="rect">
            <a:avLst/>
          </a:prstGeom>
          <a:noFill/>
        </p:spPr>
        <p:txBody>
          <a:bodyPr wrap="square" lIns="0" rIns="0" tIns="0" bIns="0" anchor="ctr">
            <a:spAutoFit/>
          </a:bodyPr>
          <a:lstStyle/>
          <a:p>
            <a:pPr algn="l"/>
            <a:r>
              <a:rPr sz="1050" b="1" i="0">
                <a:solidFill>
                  <a:srgbClr val="A51C30"/>
                </a:solidFill>
              </a:rPr>
              <a:t>3 · LOAD AND CONVERT</a:t>
            </a:r>
          </a:p>
        </p:txBody>
      </p:sp>
      <p:sp>
        <p:nvSpPr>
          <p:cNvPr id="29" name="TextBox 28"/>
          <p:cNvSpPr txBox="1"/>
          <p:nvPr/>
        </p:nvSpPr>
        <p:spPr>
          <a:xfrm>
            <a:off x="7507224" y="1389888"/>
            <a:ext cx="2011680" cy="237744"/>
          </a:xfrm>
          <a:prstGeom prst="rect">
            <a:avLst/>
          </a:prstGeom>
          <a:noFill/>
        </p:spPr>
        <p:txBody>
          <a:bodyPr wrap="square" lIns="0" rIns="0" tIns="0" bIns="0" anchor="ctr">
            <a:spAutoFit/>
          </a:bodyPr>
          <a:lstStyle/>
          <a:p>
            <a:pPr algn="l"/>
            <a:r>
              <a:rPr sz="1050" b="1" i="0">
                <a:solidFill>
                  <a:srgbClr val="A51C30"/>
                </a:solidFill>
              </a:rPr>
              <a:t>4 · THE ENGINE, ONE DATE</a:t>
            </a:r>
          </a:p>
        </p:txBody>
      </p:sp>
      <p:sp>
        <p:nvSpPr>
          <p:cNvPr id="30" name="TextBox 29"/>
          <p:cNvSpPr txBox="1"/>
          <p:nvPr/>
        </p:nvSpPr>
        <p:spPr>
          <a:xfrm>
            <a:off x="9811512" y="1389888"/>
            <a:ext cx="1600200" cy="237744"/>
          </a:xfrm>
          <a:prstGeom prst="rect">
            <a:avLst/>
          </a:prstGeom>
          <a:noFill/>
        </p:spPr>
        <p:txBody>
          <a:bodyPr wrap="square" lIns="0" rIns="0" tIns="0" bIns="0" anchor="ctr">
            <a:spAutoFit/>
          </a:bodyPr>
          <a:lstStyle/>
          <a:p>
            <a:pPr algn="l"/>
            <a:r>
              <a:rPr sz="1050" b="1" i="0">
                <a:solidFill>
                  <a:srgbClr val="A51C30"/>
                </a:solidFill>
              </a:rPr>
              <a:t>5 · WHO READS IT</a:t>
            </a:r>
          </a:p>
        </p:txBody>
      </p:sp>
      <p:sp>
        <p:nvSpPr>
          <p:cNvPr id="31" name="Rectangle 30"/>
          <p:cNvSpPr/>
          <p:nvPr/>
        </p:nvSpPr>
        <p:spPr>
          <a:xfrm>
            <a:off x="777240" y="1691640"/>
            <a:ext cx="1920240" cy="1280160"/>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TextBox 31"/>
          <p:cNvSpPr txBox="1"/>
          <p:nvPr/>
        </p:nvSpPr>
        <p:spPr>
          <a:xfrm>
            <a:off x="868680" y="1755648"/>
            <a:ext cx="1755648" cy="1188719"/>
          </a:xfrm>
          <a:prstGeom prst="rect">
            <a:avLst/>
          </a:prstGeom>
          <a:noFill/>
        </p:spPr>
        <p:txBody>
          <a:bodyPr wrap="square" lIns="0" rIns="0" tIns="0" bIns="0" anchor="t">
            <a:spAutoFit/>
          </a:bodyPr>
          <a:lstStyle/>
          <a:p>
            <a:pPr algn="l">
              <a:spcAft>
                <a:spcPts val="200"/>
              </a:spcAft>
            </a:pPr>
            <a:r>
              <a:rPr sz="1200" b="1" i="0">
                <a:solidFill>
                  <a:srgbClr val="8A1626"/>
                </a:solidFill>
              </a:rPr>
              <a:t>Morning run · full</a:t>
            </a:r>
          </a:p>
          <a:p>
            <a:pPr algn="l">
              <a:spcAft>
                <a:spcPts val="100"/>
              </a:spcAft>
            </a:pPr>
            <a:r>
              <a:rPr sz="1000" b="0" i="0">
                <a:solidFill>
                  <a:srgbClr val="4A5058"/>
                </a:solidFill>
              </a:rPr>
              <a:t>Any native currency, JSONL:</a:t>
            </a:r>
          </a:p>
        </p:txBody>
      </p:sp>
      <p:sp>
        <p:nvSpPr>
          <p:cNvPr id="33" name="Rectangle 32"/>
          <p:cNvSpPr/>
          <p:nvPr/>
        </p:nvSpPr>
        <p:spPr>
          <a:xfrm>
            <a:off x="850392" y="2331720"/>
            <a:ext cx="868680" cy="246888"/>
          </a:xfrm>
          <a:prstGeom prst="rect">
            <a:avLst/>
          </a:prstGeom>
          <a:solidFill>
            <a:srgbClr val="F6E6E9"/>
          </a:solidFill>
          <a:ln w="952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50" b="1" i="0">
                <a:solidFill>
                  <a:srgbClr val="8A1626"/>
                </a:solidFill>
              </a:rPr>
              <a:t>PV · trade</a:t>
            </a:r>
          </a:p>
        </p:txBody>
      </p:sp>
      <p:sp>
        <p:nvSpPr>
          <p:cNvPr id="34" name="Rectangle 33"/>
          <p:cNvSpPr/>
          <p:nvPr/>
        </p:nvSpPr>
        <p:spPr>
          <a:xfrm>
            <a:off x="1755648" y="2331720"/>
            <a:ext cx="868680" cy="246888"/>
          </a:xfrm>
          <a:prstGeom prst="rect">
            <a:avLst/>
          </a:prstGeom>
          <a:solidFill>
            <a:srgbClr val="F6E6E9"/>
          </a:solidFill>
          <a:ln w="952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50" b="1" i="0">
                <a:solidFill>
                  <a:srgbClr val="8A1626"/>
                </a:solidFill>
              </a:rPr>
              <a:t>PV · position</a:t>
            </a:r>
          </a:p>
        </p:txBody>
      </p:sp>
      <p:sp>
        <p:nvSpPr>
          <p:cNvPr id="35" name="Rectangle 34"/>
          <p:cNvSpPr/>
          <p:nvPr/>
        </p:nvSpPr>
        <p:spPr>
          <a:xfrm>
            <a:off x="850392" y="2633472"/>
            <a:ext cx="868680" cy="246888"/>
          </a:xfrm>
          <a:prstGeom prst="rect">
            <a:avLst/>
          </a:prstGeom>
          <a:solidFill>
            <a:srgbClr val="F6E6E9"/>
          </a:solidFill>
          <a:ln w="952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50" b="1" i="0">
                <a:solidFill>
                  <a:srgbClr val="8A1626"/>
                </a:solidFill>
              </a:rPr>
              <a:t>P&amp;L · trade</a:t>
            </a:r>
          </a:p>
        </p:txBody>
      </p:sp>
      <p:sp>
        <p:nvSpPr>
          <p:cNvPr id="36" name="Rectangle 35"/>
          <p:cNvSpPr/>
          <p:nvPr/>
        </p:nvSpPr>
        <p:spPr>
          <a:xfrm>
            <a:off x="1755648" y="2633472"/>
            <a:ext cx="868680" cy="246888"/>
          </a:xfrm>
          <a:prstGeom prst="rect">
            <a:avLst/>
          </a:prstGeom>
          <a:solidFill>
            <a:srgbClr val="F6E6E9"/>
          </a:solidFill>
          <a:ln w="952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50" b="1" i="0">
                <a:solidFill>
                  <a:srgbClr val="8A1626"/>
                </a:solidFill>
              </a:rPr>
              <a:t>P&amp;L · position</a:t>
            </a:r>
          </a:p>
        </p:txBody>
      </p:sp>
      <p:sp>
        <p:nvSpPr>
          <p:cNvPr id="37" name="Rectangle 36"/>
          <p:cNvSpPr/>
          <p:nvPr/>
        </p:nvSpPr>
        <p:spPr>
          <a:xfrm>
            <a:off x="777240" y="3081528"/>
            <a:ext cx="1920240" cy="868680"/>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TextBox 37"/>
          <p:cNvSpPr txBox="1"/>
          <p:nvPr/>
        </p:nvSpPr>
        <p:spPr>
          <a:xfrm>
            <a:off x="868680" y="3145536"/>
            <a:ext cx="1755648" cy="777240"/>
          </a:xfrm>
          <a:prstGeom prst="rect">
            <a:avLst/>
          </a:prstGeom>
          <a:noFill/>
        </p:spPr>
        <p:txBody>
          <a:bodyPr wrap="square" lIns="0" rIns="0" tIns="0" bIns="0" anchor="t">
            <a:spAutoFit/>
          </a:bodyPr>
          <a:lstStyle/>
          <a:p>
            <a:pPr algn="l">
              <a:spcAft>
                <a:spcPts val="200"/>
              </a:spcAft>
            </a:pPr>
            <a:r>
              <a:rPr sz="1200" b="1" i="0">
                <a:solidFill>
                  <a:srgbClr val="8A1626"/>
                </a:solidFill>
              </a:rPr>
              <a:t>Reference inputs</a:t>
            </a:r>
          </a:p>
          <a:p>
            <a:pPr algn="l">
              <a:spcAft>
                <a:spcPts val="100"/>
              </a:spcAft>
            </a:pPr>
            <a:r>
              <a:rPr sz="1050" b="0" i="0">
                <a:solidFill>
                  <a:srgbClr val="4A5058"/>
                </a:solidFill>
              </a:rPr>
              <a:t>Scenario set · hierarchies and limits · portfolios · scenario FX</a:t>
            </a:r>
          </a:p>
        </p:txBody>
      </p:sp>
      <p:sp>
        <p:nvSpPr>
          <p:cNvPr id="39" name="Rectangle 38"/>
          <p:cNvSpPr/>
          <p:nvPr/>
        </p:nvSpPr>
        <p:spPr>
          <a:xfrm>
            <a:off x="777240" y="4059936"/>
            <a:ext cx="1920240" cy="1197864"/>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0" name="TextBox 39"/>
          <p:cNvSpPr txBox="1"/>
          <p:nvPr/>
        </p:nvSpPr>
        <p:spPr>
          <a:xfrm>
            <a:off x="868680" y="4123944"/>
            <a:ext cx="1755648" cy="1106424"/>
          </a:xfrm>
          <a:prstGeom prst="rect">
            <a:avLst/>
          </a:prstGeom>
          <a:noFill/>
        </p:spPr>
        <p:txBody>
          <a:bodyPr wrap="square" lIns="0" rIns="0" tIns="0" bIns="0" anchor="t">
            <a:spAutoFit/>
          </a:bodyPr>
          <a:lstStyle/>
          <a:p>
            <a:pPr algn="l">
              <a:spcAft>
                <a:spcPts val="200"/>
              </a:spcAft>
            </a:pPr>
            <a:r>
              <a:rPr sz="1200" b="1" i="0">
                <a:solidFill>
                  <a:srgbClr val="8A1626"/>
                </a:solidFill>
              </a:rPr>
              <a:t>During the day</a:t>
            </a:r>
          </a:p>
          <a:p>
            <a:pPr algn="l">
              <a:spcAft>
                <a:spcPts val="100"/>
              </a:spcAft>
            </a:pPr>
            <a:r>
              <a:rPr sz="1050" b="0" i="0">
                <a:solidFill>
                  <a:srgbClr val="4A5058"/>
                </a:solidFill>
              </a:rPr>
              <a:t>Changed trades or positions only (RUN_KIND INTRADAY): small JSONL files, or a Kafka PV topic, 5-min micro-batches</a:t>
            </a:r>
          </a:p>
        </p:txBody>
      </p:sp>
      <p:sp>
        <p:nvSpPr>
          <p:cNvPr id="41" name="TextBox 40"/>
          <p:cNvSpPr txBox="1"/>
          <p:nvPr/>
        </p:nvSpPr>
        <p:spPr>
          <a:xfrm>
            <a:off x="886968" y="4983480"/>
            <a:ext cx="731520" cy="201168"/>
          </a:xfrm>
          <a:prstGeom prst="rect">
            <a:avLst/>
          </a:prstGeom>
          <a:noFill/>
        </p:spPr>
        <p:txBody>
          <a:bodyPr wrap="square" lIns="0" rIns="0" tIns="0" bIns="0" anchor="ctr">
            <a:spAutoFit/>
          </a:bodyPr>
          <a:lstStyle/>
          <a:p>
            <a:pPr algn="l"/>
            <a:r>
              <a:rPr sz="1000" b="1" i="0">
                <a:solidFill>
                  <a:srgbClr val="293352"/>
                </a:solidFill>
              </a:rPr>
              <a:t>Kafka</a:t>
            </a:r>
          </a:p>
        </p:txBody>
      </p:sp>
      <p:sp>
        <p:nvSpPr>
          <p:cNvPr id="42" name="Rectangle 41"/>
          <p:cNvSpPr/>
          <p:nvPr/>
        </p:nvSpPr>
        <p:spPr>
          <a:xfrm>
            <a:off x="2990088" y="1691640"/>
            <a:ext cx="1920240" cy="2880360"/>
          </a:xfrm>
          <a:prstGeom prst="rect">
            <a:avLst/>
          </a:prstGeom>
          <a:solidFill>
            <a:srgbClr val="F7F5F2"/>
          </a:solid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3" name="TextBox 42"/>
          <p:cNvSpPr txBox="1"/>
          <p:nvPr/>
        </p:nvSpPr>
        <p:spPr>
          <a:xfrm>
            <a:off x="3081528" y="1755648"/>
            <a:ext cx="1783080" cy="274320"/>
          </a:xfrm>
          <a:prstGeom prst="rect">
            <a:avLst/>
          </a:prstGeom>
          <a:noFill/>
        </p:spPr>
        <p:txBody>
          <a:bodyPr wrap="square" lIns="0" rIns="0" tIns="0" bIns="0" anchor="t">
            <a:spAutoFit/>
          </a:bodyPr>
          <a:lstStyle/>
          <a:p>
            <a:pPr algn="l"/>
            <a:r>
              <a:rPr sz="1150" b="1" i="0">
                <a:solidFill>
                  <a:srgbClr val="8A1626"/>
                </a:solidFill>
              </a:rPr>
              <a:t>Delta or Iceberg · risk</a:t>
            </a:r>
          </a:p>
        </p:txBody>
      </p:sp>
      <p:sp>
        <p:nvSpPr>
          <p:cNvPr id="44" name="Rectangle 43"/>
          <p:cNvSpPr/>
          <p:nvPr/>
        </p:nvSpPr>
        <p:spPr>
          <a:xfrm>
            <a:off x="3127248" y="2075688"/>
            <a:ext cx="1645920" cy="228600"/>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36576" tIns="0" bIns="0" wrap="square"/>
          <a:lstStyle/>
          <a:p>
            <a:pPr algn="l"/>
            <a:r>
              <a:rPr sz="1000" b="0" i="0">
                <a:solidFill>
                  <a:srgbClr val="1A1A1A"/>
                </a:solidFill>
                <a:latin typeface="Courier New"/>
              </a:rPr>
              <a:t>scenario-pv</a:t>
            </a:r>
          </a:p>
        </p:txBody>
      </p:sp>
      <p:sp>
        <p:nvSpPr>
          <p:cNvPr id="45" name="Rectangle 44"/>
          <p:cNvSpPr/>
          <p:nvPr/>
        </p:nvSpPr>
        <p:spPr>
          <a:xfrm>
            <a:off x="3127248" y="2350008"/>
            <a:ext cx="1645920" cy="228600"/>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36576" tIns="0" bIns="0" wrap="square"/>
          <a:lstStyle/>
          <a:p>
            <a:pPr algn="l"/>
            <a:r>
              <a:rPr sz="1000" b="0" i="0">
                <a:solidFill>
                  <a:srgbClr val="1A1A1A"/>
                </a:solidFill>
                <a:latin typeface="Courier New"/>
              </a:rPr>
              <a:t>pnl-vector</a:t>
            </a:r>
          </a:p>
        </p:txBody>
      </p:sp>
      <p:sp>
        <p:nvSpPr>
          <p:cNvPr id="46" name="Rectangle 45"/>
          <p:cNvSpPr/>
          <p:nvPr/>
        </p:nvSpPr>
        <p:spPr>
          <a:xfrm>
            <a:off x="3127248" y="2624328"/>
            <a:ext cx="1645920" cy="228600"/>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36576" tIns="0" bIns="0" wrap="square"/>
          <a:lstStyle/>
          <a:p>
            <a:pPr algn="l"/>
            <a:r>
              <a:rPr sz="1000" b="0" i="0">
                <a:solidFill>
                  <a:srgbClr val="1A1A1A"/>
                </a:solidFill>
                <a:latin typeface="Courier New"/>
              </a:rPr>
              <a:t>fx-scenario</a:t>
            </a:r>
          </a:p>
        </p:txBody>
      </p:sp>
      <p:sp>
        <p:nvSpPr>
          <p:cNvPr id="47" name="Rectangle 46"/>
          <p:cNvSpPr/>
          <p:nvPr/>
        </p:nvSpPr>
        <p:spPr>
          <a:xfrm>
            <a:off x="3127248" y="2898648"/>
            <a:ext cx="1645920" cy="228600"/>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36576" tIns="0" bIns="0" wrap="square"/>
          <a:lstStyle/>
          <a:p>
            <a:pPr algn="l"/>
            <a:r>
              <a:rPr sz="1000" b="0" i="0">
                <a:solidFill>
                  <a:srgbClr val="1A1A1A"/>
                </a:solidFill>
                <a:latin typeface="Courier New"/>
              </a:rPr>
              <a:t>scenario-set</a:t>
            </a:r>
          </a:p>
        </p:txBody>
      </p:sp>
      <p:sp>
        <p:nvSpPr>
          <p:cNvPr id="48" name="Rectangle 47"/>
          <p:cNvSpPr/>
          <p:nvPr/>
        </p:nvSpPr>
        <p:spPr>
          <a:xfrm>
            <a:off x="3127248" y="3172968"/>
            <a:ext cx="1645920" cy="228600"/>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36576" tIns="0" bIns="0" wrap="square"/>
          <a:lstStyle/>
          <a:p>
            <a:pPr algn="l"/>
            <a:r>
              <a:rPr sz="1000" b="0" i="0">
                <a:solidFill>
                  <a:srgbClr val="1A1A1A"/>
                </a:solidFill>
                <a:latin typeface="Courier New"/>
              </a:rPr>
              <a:t>risk-hierarchy</a:t>
            </a:r>
          </a:p>
        </p:txBody>
      </p:sp>
      <p:sp>
        <p:nvSpPr>
          <p:cNvPr id="49" name="Rectangle 48"/>
          <p:cNvSpPr/>
          <p:nvPr/>
        </p:nvSpPr>
        <p:spPr>
          <a:xfrm>
            <a:off x="3127248" y="3447288"/>
            <a:ext cx="1645920" cy="228600"/>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36576" tIns="0" bIns="0" wrap="square"/>
          <a:lstStyle/>
          <a:p>
            <a:pPr algn="l"/>
            <a:r>
              <a:rPr sz="1000" b="0" i="0">
                <a:solidFill>
                  <a:srgbClr val="1A1A1A"/>
                </a:solidFill>
                <a:latin typeface="Courier New"/>
              </a:rPr>
              <a:t>portfolio</a:t>
            </a:r>
          </a:p>
        </p:txBody>
      </p:sp>
      <p:sp>
        <p:nvSpPr>
          <p:cNvPr id="50" name="TextBox 49"/>
          <p:cNvSpPr txBox="1"/>
          <p:nvPr/>
        </p:nvSpPr>
        <p:spPr>
          <a:xfrm>
            <a:off x="3081528" y="3767328"/>
            <a:ext cx="1783080" cy="777240"/>
          </a:xfrm>
          <a:prstGeom prst="rect">
            <a:avLst/>
          </a:prstGeom>
          <a:noFill/>
        </p:spPr>
        <p:txBody>
          <a:bodyPr wrap="square" lIns="0" rIns="0" tIns="0" bIns="0" anchor="t">
            <a:spAutoFit/>
          </a:bodyPr>
          <a:lstStyle/>
          <a:p>
            <a:pPr algn="l"/>
            <a:r>
              <a:rPr sz="1000" b="0" i="0">
                <a:solidFill>
                  <a:srgbClr val="4A5058"/>
                </a:solidFill>
              </a:rPr>
              <a:t>business_date partitions · intraday batches appended · 7 years of time travel · rows checked at lake build</a:t>
            </a:r>
          </a:p>
        </p:txBody>
      </p:sp>
      <p:sp>
        <p:nvSpPr>
          <p:cNvPr id="51" name="Rectangle 50"/>
          <p:cNvSpPr/>
          <p:nvPr/>
        </p:nvSpPr>
        <p:spPr>
          <a:xfrm>
            <a:off x="2990088" y="4709160"/>
            <a:ext cx="1920240" cy="1097280"/>
          </a:xfrm>
          <a:prstGeom prst="rect">
            <a:avLst/>
          </a:prstGeom>
          <a:solidFill>
            <a:srgbClr val="F7F5F2"/>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2" name="TextBox 51"/>
          <p:cNvSpPr txBox="1"/>
          <p:nvPr/>
        </p:nvSpPr>
        <p:spPr>
          <a:xfrm>
            <a:off x="3081528" y="4773168"/>
            <a:ext cx="1755648" cy="1005839"/>
          </a:xfrm>
          <a:prstGeom prst="rect">
            <a:avLst/>
          </a:prstGeom>
          <a:noFill/>
        </p:spPr>
        <p:txBody>
          <a:bodyPr wrap="square" lIns="0" rIns="0" tIns="0" bIns="0" anchor="t">
            <a:spAutoFit/>
          </a:bodyPr>
          <a:lstStyle/>
          <a:p>
            <a:pPr algn="l">
              <a:spcAft>
                <a:spcPts val="200"/>
              </a:spcAft>
            </a:pPr>
            <a:r>
              <a:rPr sz="1200" b="1" i="0">
                <a:solidFill>
                  <a:srgbClr val="8A1626"/>
                </a:solidFill>
              </a:rPr>
              <a:t>risk-results</a:t>
            </a:r>
          </a:p>
          <a:p>
            <a:pPr algn="l">
              <a:spcAft>
                <a:spcPts val="100"/>
              </a:spcAft>
            </a:pPr>
            <a:r>
              <a:rPr sz="1050" b="0" i="0">
                <a:solidFill>
                  <a:srgbClr val="4A5058"/>
                </a:solidFill>
              </a:rPr>
              <a:t>var-official: append-only Delta or Iceberg, a folder or S3, JSONL beside it; BI reads it (VOFF)</a:t>
            </a:r>
          </a:p>
        </p:txBody>
      </p:sp>
      <p:sp>
        <p:nvSpPr>
          <p:cNvPr id="53" name="Rectangle 52"/>
          <p:cNvSpPr/>
          <p:nvPr/>
        </p:nvSpPr>
        <p:spPr>
          <a:xfrm>
            <a:off x="5202936" y="1691640"/>
            <a:ext cx="2011680" cy="2468880"/>
          </a:xfrm>
          <a:prstGeom prst="rect">
            <a:avLst/>
          </a:prstGeom>
          <a:solidFill>
            <a:srgbClr val="F6E6E9"/>
          </a:solid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4" name="TextBox 53"/>
          <p:cNvSpPr txBox="1"/>
          <p:nvPr/>
        </p:nvSpPr>
        <p:spPr>
          <a:xfrm>
            <a:off x="5294376" y="1755648"/>
            <a:ext cx="1847088" cy="2377440"/>
          </a:xfrm>
          <a:prstGeom prst="rect">
            <a:avLst/>
          </a:prstGeom>
          <a:noFill/>
        </p:spPr>
        <p:txBody>
          <a:bodyPr wrap="square" lIns="0" rIns="0" tIns="0" bIns="0" anchor="t">
            <a:spAutoFit/>
          </a:bodyPr>
          <a:lstStyle/>
          <a:p>
            <a:pPr algn="l">
              <a:spcAft>
                <a:spcPts val="300"/>
              </a:spcAft>
            </a:pPr>
            <a:r>
              <a:rPr sz="1200" b="1" i="0">
                <a:solidFill>
                  <a:srgbClr val="8A1626"/>
                </a:solidFill>
              </a:rPr>
              <a:t>VarIntake → VarLoader</a:t>
            </a:r>
          </a:p>
          <a:p>
            <a:pPr algn="l" marL="146304" indent="-146304">
              <a:spcAft>
                <a:spcPts val="200"/>
              </a:spcAft>
              <a:buClr>
                <a:srgbClr val="A51C30"/>
              </a:buClr>
              <a:buSzPct val="100000"/>
              <a:buFont typeface="Arial"/>
              <a:buChar char="▪"/>
            </a:pPr>
            <a:r>
              <a:rPr sz="1050" b="1" i="0">
                <a:solidFill>
                  <a:srgbClr val="8A1626"/>
                </a:solidFill>
              </a:rPr>
              <a:t>Four input types → one internal form: a USD P&amp;L vector per row</a:t>
            </a:r>
          </a:p>
          <a:p>
            <a:pPr algn="l" marL="146304" indent="-146304">
              <a:spcAft>
                <a:spcPts val="200"/>
              </a:spcAft>
              <a:buClr>
                <a:srgbClr val="A51C30"/>
              </a:buClr>
              <a:buSzPct val="100000"/>
              <a:buFont typeface="Arial"/>
              <a:buChar char="▪"/>
            </a:pPr>
            <a:r>
              <a:rPr sz="1050" b="0" i="0">
                <a:solidFill>
                  <a:srgbClr val="1A1A1A"/>
                </a:solidFill>
              </a:rPr>
              <a:t>Every row checked; refusals named (DRS-…)</a:t>
            </a:r>
          </a:p>
          <a:p>
            <a:pPr algn="l" marL="146304" indent="-146304">
              <a:spcAft>
                <a:spcPts val="200"/>
              </a:spcAft>
              <a:buClr>
                <a:srgbClr val="A51C30"/>
              </a:buClr>
              <a:buSzPct val="100000"/>
              <a:buFont typeface="Arial"/>
              <a:buChar char="▪"/>
            </a:pPr>
            <a:r>
              <a:rPr sz="1050" b="0" i="0">
                <a:solidFill>
                  <a:srgbClr val="1A1A1A"/>
                </a:solidFill>
              </a:rPr>
              <a:t>PV → USD P&amp;L: </a:t>
            </a:r>
            <a:r>
              <a:rPr sz="950" b="0" i="0">
                <a:solidFill>
                  <a:srgbClr val="8A1626"/>
                </a:solidFill>
                <a:latin typeface="Courier New"/>
              </a:rPr>
              <a:t>PV(s)·FX(s) − PV(b)·FX(b)</a:t>
            </a:r>
          </a:p>
          <a:p>
            <a:pPr algn="l" marL="146304" indent="-146304">
              <a:spcAft>
                <a:spcPts val="200"/>
              </a:spcAft>
              <a:buClr>
                <a:srgbClr val="A51C30"/>
              </a:buClr>
              <a:buSzPct val="100000"/>
              <a:buFont typeface="Arial"/>
              <a:buChar char="▪"/>
            </a:pPr>
            <a:r>
              <a:rPr sz="1050" b="0" i="0">
                <a:solidFill>
                  <a:srgbClr val="1A1A1A"/>
                </a:solidFill>
              </a:rPr>
              <a:t>FX supplied or derived, via USD; positions by the pack's rules</a:t>
            </a:r>
          </a:p>
          <a:p>
            <a:pPr algn="l" marL="146304" indent="-146304">
              <a:buClr>
                <a:srgbClr val="A51C30"/>
              </a:buClr>
              <a:buSzPct val="100000"/>
              <a:buFont typeface="Arial"/>
              <a:buChar char="▪"/>
            </a:pPr>
            <a:r>
              <a:rPr sz="1050" b="0" i="0">
                <a:solidFill>
                  <a:srgbClr val="1A1A1A"/>
                </a:solidFill>
              </a:rPr>
              <a:t>Hierarchy order; every node summed in float64</a:t>
            </a:r>
          </a:p>
        </p:txBody>
      </p:sp>
      <p:sp>
        <p:nvSpPr>
          <p:cNvPr id="55" name="Rectangle 54"/>
          <p:cNvSpPr/>
          <p:nvPr/>
        </p:nvSpPr>
        <p:spPr>
          <a:xfrm>
            <a:off x="5202936" y="4297680"/>
            <a:ext cx="2011680" cy="868680"/>
          </a:xfrm>
          <a:prstGeom prst="rect">
            <a:avLst/>
          </a:prstGeom>
          <a:solidFill>
            <a:srgbClr val="F6E6E9"/>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6" name="TextBox 55"/>
          <p:cNvSpPr txBox="1"/>
          <p:nvPr/>
        </p:nvSpPr>
        <p:spPr>
          <a:xfrm>
            <a:off x="5294376" y="4361688"/>
            <a:ext cx="1847088" cy="777240"/>
          </a:xfrm>
          <a:prstGeom prst="rect">
            <a:avLst/>
          </a:prstGeom>
          <a:noFill/>
        </p:spPr>
        <p:txBody>
          <a:bodyPr wrap="square" lIns="0" rIns="0" tIns="0" bIns="0" anchor="t">
            <a:spAutoFit/>
          </a:bodyPr>
          <a:lstStyle/>
          <a:p>
            <a:pPr algn="l">
              <a:spcAft>
                <a:spcPts val="200"/>
              </a:spcAft>
            </a:pPr>
            <a:r>
              <a:rPr sz="1200" b="1" i="0">
                <a:solidFill>
                  <a:srgbClr val="8A1626"/>
                </a:solidFill>
              </a:rPr>
              <a:t>Intraday apply</a:t>
            </a:r>
          </a:p>
          <a:p>
            <a:pPr algn="l">
              <a:spcAft>
                <a:spcPts val="100"/>
              </a:spcAft>
            </a:pPr>
            <a:r>
              <a:rPr sz="1050" b="0" i="0">
                <a:solidFill>
                  <a:srgbClr val="4A5058"/>
                </a:solidFill>
              </a:rPr>
              <a:t>Latest COMPUTED_AT per trade or position wins; no reload</a:t>
            </a:r>
          </a:p>
        </p:txBody>
      </p:sp>
      <p:sp>
        <p:nvSpPr>
          <p:cNvPr id="57" name="Rectangle 56"/>
          <p:cNvSpPr/>
          <p:nvPr/>
        </p:nvSpPr>
        <p:spPr>
          <a:xfrm>
            <a:off x="7507224" y="1691640"/>
            <a:ext cx="2011680" cy="1371600"/>
          </a:xfrm>
          <a:prstGeom prst="rect">
            <a:avLst/>
          </a:prstGeom>
          <a:solidFill>
            <a:srgbClr val="F7F5F2"/>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8" name="TextBox 57"/>
          <p:cNvSpPr txBox="1"/>
          <p:nvPr/>
        </p:nvSpPr>
        <p:spPr>
          <a:xfrm>
            <a:off x="7598664" y="1755648"/>
            <a:ext cx="1847088" cy="1280160"/>
          </a:xfrm>
          <a:prstGeom prst="rect">
            <a:avLst/>
          </a:prstGeom>
          <a:noFill/>
        </p:spPr>
        <p:txBody>
          <a:bodyPr wrap="square" lIns="0" rIns="0" tIns="0" bIns="0" anchor="t">
            <a:spAutoFit/>
          </a:bodyPr>
          <a:lstStyle/>
          <a:p>
            <a:pPr algn="l">
              <a:spcAft>
                <a:spcPts val="200"/>
              </a:spcAft>
            </a:pPr>
            <a:r>
              <a:rPr sz="1200" b="1" i="0">
                <a:solidFill>
                  <a:srgbClr val="8A1626"/>
                </a:solidFill>
              </a:rPr>
              <a:t>VarBook, tiered memory</a:t>
            </a:r>
          </a:p>
          <a:p>
            <a:pPr algn="l">
              <a:spcAft>
                <a:spcPts val="100"/>
              </a:spcAft>
            </a:pPr>
            <a:r>
              <a:rPr sz="1000" b="0" i="0">
                <a:solidFill>
                  <a:srgbClr val="4A5058"/>
                </a:solidFill>
              </a:rPr>
              <a:t>Hot file per date, mapped: float32 position rows, float64 node aggregates, per-trade-currency totals</a:t>
            </a:r>
          </a:p>
          <a:p>
            <a:pPr algn="l">
              <a:spcAft>
                <a:spcPts val="100"/>
              </a:spcAft>
            </a:pPr>
            <a:r>
              <a:rPr sz="1000" b="0" i="0">
                <a:solidFill>
                  <a:srgbClr val="4A5058"/>
                </a:solidFill>
              </a:rPr>
              <a:t>USD, EUR, CAD, JPY, GBP built ahead</a:t>
            </a:r>
          </a:p>
        </p:txBody>
      </p:sp>
      <p:sp>
        <p:nvSpPr>
          <p:cNvPr id="59" name="Rectangle 58"/>
          <p:cNvSpPr/>
          <p:nvPr/>
        </p:nvSpPr>
        <p:spPr>
          <a:xfrm>
            <a:off x="7507224" y="3200400"/>
            <a:ext cx="2011680" cy="960120"/>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0" name="TextBox 59"/>
          <p:cNvSpPr txBox="1"/>
          <p:nvPr/>
        </p:nvSpPr>
        <p:spPr>
          <a:xfrm>
            <a:off x="7598664" y="3236976"/>
            <a:ext cx="1874519" cy="914400"/>
          </a:xfrm>
          <a:prstGeom prst="rect">
            <a:avLst/>
          </a:prstGeom>
          <a:noFill/>
        </p:spPr>
        <p:txBody>
          <a:bodyPr wrap="square" lIns="0" rIns="0" tIns="0" bIns="0" anchor="ctr">
            <a:spAutoFit/>
          </a:bodyPr>
          <a:lstStyle/>
          <a:p>
            <a:pPr algn="l">
              <a:spcAft>
                <a:spcPts val="200"/>
              </a:spcAft>
            </a:pPr>
            <a:r>
              <a:rPr sz="1200" b="1" i="0">
                <a:solidFill>
                  <a:srgbClr val="FFFFFF"/>
                </a:solidFill>
              </a:rPr>
              <a:t>Engine answers</a:t>
            </a:r>
          </a:p>
          <a:p>
            <a:pPr algn="l"/>
            <a:r>
              <a:rPr sz="1050" b="0" i="0">
                <a:solidFill>
                  <a:srgbClr val="F6E6E9"/>
                </a:solidFill>
              </a:rPr>
              <a:t>headline · path · contributions · tree · baskets · captures · what-if</a:t>
            </a:r>
          </a:p>
        </p:txBody>
      </p:sp>
      <p:sp>
        <p:nvSpPr>
          <p:cNvPr id="61" name="Rectangle 60"/>
          <p:cNvSpPr/>
          <p:nvPr/>
        </p:nvSpPr>
        <p:spPr>
          <a:xfrm>
            <a:off x="7507224" y="4297680"/>
            <a:ext cx="2011680" cy="868680"/>
          </a:xfrm>
          <a:prstGeom prst="rect">
            <a:avLst/>
          </a:prstGeom>
          <a:solidFill>
            <a:srgbClr val="FFFFFF"/>
          </a:solidFill>
          <a:ln w="12700">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2" name="TextBox 61"/>
          <p:cNvSpPr txBox="1"/>
          <p:nvPr/>
        </p:nvSpPr>
        <p:spPr>
          <a:xfrm>
            <a:off x="7598664" y="4361688"/>
            <a:ext cx="1847088" cy="777240"/>
          </a:xfrm>
          <a:prstGeom prst="rect">
            <a:avLst/>
          </a:prstGeom>
          <a:noFill/>
        </p:spPr>
        <p:txBody>
          <a:bodyPr wrap="square" lIns="0" rIns="0" tIns="0" bIns="0" anchor="t">
            <a:spAutoFit/>
          </a:bodyPr>
          <a:lstStyle/>
          <a:p>
            <a:pPr algn="l">
              <a:spcAft>
                <a:spcPts val="200"/>
              </a:spcAft>
            </a:pPr>
            <a:r>
              <a:rPr sz="1200" b="1" i="0">
                <a:solidFill>
                  <a:srgbClr val="8A1626"/>
                </a:solidFill>
              </a:rPr>
              <a:t>Intraday layer</a:t>
            </a:r>
          </a:p>
          <a:p>
            <a:pPr algn="l">
              <a:spcAft>
                <a:spcPts val="100"/>
              </a:spcAft>
            </a:pPr>
            <a:r>
              <a:rPr sz="1050" b="0" i="0">
                <a:solidFill>
                  <a:srgbClr val="4A5058"/>
                </a:solidFill>
              </a:rPr>
              <a:t>new − old into the book, every node above, totals, currencies</a:t>
            </a:r>
          </a:p>
        </p:txBody>
      </p:sp>
      <p:sp>
        <p:nvSpPr>
          <p:cNvPr id="63" name="Rectangle 62"/>
          <p:cNvSpPr/>
          <p:nvPr/>
        </p:nvSpPr>
        <p:spPr>
          <a:xfrm>
            <a:off x="7507224" y="5303520"/>
            <a:ext cx="2011680" cy="502920"/>
          </a:xfrm>
          <a:prstGeom prst="rect">
            <a:avLst/>
          </a:prstGeom>
          <a:solidFill>
            <a:srgbClr val="F7F5F2"/>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4" name="TextBox 63"/>
          <p:cNvSpPr txBox="1"/>
          <p:nvPr/>
        </p:nvSpPr>
        <p:spPr>
          <a:xfrm>
            <a:off x="7598664" y="5367528"/>
            <a:ext cx="1847088" cy="411480"/>
          </a:xfrm>
          <a:prstGeom prst="rect">
            <a:avLst/>
          </a:prstGeom>
          <a:noFill/>
        </p:spPr>
        <p:txBody>
          <a:bodyPr wrap="square" lIns="0" rIns="0" tIns="0" bIns="0" anchor="t">
            <a:spAutoFit/>
          </a:bodyPr>
          <a:lstStyle/>
          <a:p>
            <a:pPr algn="l">
              <a:spcAft>
                <a:spcPts val="200"/>
              </a:spcAft>
            </a:pPr>
            <a:r>
              <a:rPr sz="1200" b="1" i="0">
                <a:solidFill>
                  <a:srgbClr val="8A1626"/>
                </a:solidFill>
              </a:rPr>
              <a:t>Official end-of-day</a:t>
            </a:r>
          </a:p>
        </p:txBody>
      </p:sp>
      <p:sp>
        <p:nvSpPr>
          <p:cNvPr id="65" name="TextBox 64"/>
          <p:cNvSpPr txBox="1"/>
          <p:nvPr/>
        </p:nvSpPr>
        <p:spPr>
          <a:xfrm>
            <a:off x="7598664" y="5550408"/>
            <a:ext cx="1874519" cy="256032"/>
          </a:xfrm>
          <a:prstGeom prst="rect">
            <a:avLst/>
          </a:prstGeom>
          <a:noFill/>
        </p:spPr>
        <p:txBody>
          <a:bodyPr wrap="square" lIns="0" rIns="0" tIns="0" bIns="0" anchor="t">
            <a:spAutoFit/>
          </a:bodyPr>
          <a:lstStyle/>
          <a:p>
            <a:pPr algn="l"/>
            <a:r>
              <a:rPr sz="1000" b="0" i="0">
                <a:solidFill>
                  <a:srgbClr val="4A5058"/>
                </a:solidFill>
              </a:rPr>
              <a:t>every node, morning book</a:t>
            </a:r>
          </a:p>
        </p:txBody>
      </p:sp>
      <p:sp>
        <p:nvSpPr>
          <p:cNvPr id="66" name="Rectangle 65"/>
          <p:cNvSpPr/>
          <p:nvPr/>
        </p:nvSpPr>
        <p:spPr>
          <a:xfrm>
            <a:off x="9811512" y="1691640"/>
            <a:ext cx="1600200" cy="749808"/>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7" name="TextBox 66"/>
          <p:cNvSpPr txBox="1"/>
          <p:nvPr/>
        </p:nvSpPr>
        <p:spPr>
          <a:xfrm>
            <a:off x="9884664" y="1746504"/>
            <a:ext cx="1481328" cy="676656"/>
          </a:xfrm>
          <a:prstGeom prst="rect">
            <a:avLst/>
          </a:prstGeom>
          <a:noFill/>
        </p:spPr>
        <p:txBody>
          <a:bodyPr wrap="square" lIns="0" rIns="0" tIns="0" bIns="0" anchor="t">
            <a:spAutoFit/>
          </a:bodyPr>
          <a:lstStyle/>
          <a:p>
            <a:pPr algn="l">
              <a:spcAft>
                <a:spcPts val="100"/>
              </a:spcAft>
            </a:pPr>
            <a:r>
              <a:rPr sz="1150" b="1" i="0">
                <a:solidFill>
                  <a:srgbClr val="8A1626"/>
                </a:solidFill>
              </a:rPr>
              <a:t>VaR explorer /var</a:t>
            </a:r>
          </a:p>
          <a:p>
            <a:pPr algn="l"/>
            <a:r>
              <a:rPr sz="1000" b="0" i="0">
                <a:solidFill>
                  <a:srgbClr val="4A5058"/>
                </a:solidFill>
              </a:rPr>
              <a:t>currency picker, tabs, provenance</a:t>
            </a:r>
          </a:p>
        </p:txBody>
      </p:sp>
      <p:sp>
        <p:nvSpPr>
          <p:cNvPr id="68" name="Rectangle 67"/>
          <p:cNvSpPr/>
          <p:nvPr/>
        </p:nvSpPr>
        <p:spPr>
          <a:xfrm>
            <a:off x="9811512" y="2532888"/>
            <a:ext cx="1600200" cy="749808"/>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9" name="TextBox 68"/>
          <p:cNvSpPr txBox="1"/>
          <p:nvPr/>
        </p:nvSpPr>
        <p:spPr>
          <a:xfrm>
            <a:off x="9884664" y="2587752"/>
            <a:ext cx="1481328" cy="676656"/>
          </a:xfrm>
          <a:prstGeom prst="rect">
            <a:avLst/>
          </a:prstGeom>
          <a:noFill/>
        </p:spPr>
        <p:txBody>
          <a:bodyPr wrap="square" lIns="0" rIns="0" tIns="0" bIns="0" anchor="t">
            <a:spAutoFit/>
          </a:bodyPr>
          <a:lstStyle/>
          <a:p>
            <a:pPr algn="l">
              <a:spcAft>
                <a:spcPts val="100"/>
              </a:spcAft>
            </a:pPr>
            <a:r>
              <a:rPr sz="1150" b="1" i="0">
                <a:solidFill>
                  <a:srgbClr val="8A1626"/>
                </a:solidFill>
              </a:rPr>
              <a:t>Pages and Home</a:t>
            </a:r>
          </a:p>
          <a:p>
            <a:pPr algn="l"/>
            <a:r>
              <a:rPr sz="1000" b="0" i="0">
                <a:solidFill>
                  <a:srgbClr val="4A5058"/>
                </a:solidFill>
              </a:rPr>
              <a:t>trade, position, portfolio, desk, LE; facts</a:t>
            </a:r>
          </a:p>
        </p:txBody>
      </p:sp>
      <p:sp>
        <p:nvSpPr>
          <p:cNvPr id="70" name="Rectangle 69"/>
          <p:cNvSpPr/>
          <p:nvPr/>
        </p:nvSpPr>
        <p:spPr>
          <a:xfrm>
            <a:off x="9811512" y="3374136"/>
            <a:ext cx="1600200" cy="749808"/>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1" name="TextBox 70"/>
          <p:cNvSpPr txBox="1"/>
          <p:nvPr/>
        </p:nvSpPr>
        <p:spPr>
          <a:xfrm>
            <a:off x="9884664" y="3429000"/>
            <a:ext cx="1481328" cy="676656"/>
          </a:xfrm>
          <a:prstGeom prst="rect">
            <a:avLst/>
          </a:prstGeom>
          <a:noFill/>
        </p:spPr>
        <p:txBody>
          <a:bodyPr wrap="square" lIns="0" rIns="0" tIns="0" bIns="0" anchor="t">
            <a:spAutoFit/>
          </a:bodyPr>
          <a:lstStyle/>
          <a:p>
            <a:pPr algn="l">
              <a:spcAft>
                <a:spcPts val="100"/>
              </a:spcAft>
            </a:pPr>
            <a:r>
              <a:rPr sz="1150" b="1" i="0">
                <a:solidFill>
                  <a:srgbClr val="8A1626"/>
                </a:solidFill>
              </a:rPr>
              <a:t>CLI</a:t>
            </a:r>
          </a:p>
          <a:p>
            <a:pPr algn="l"/>
            <a:r>
              <a:rPr sz="1000" b="0" i="0">
                <a:solidFill>
                  <a:srgbClr val="4A5058"/>
                </a:solidFill>
              </a:rPr>
              <a:t>drishti.py var … --ccy EUR</a:t>
            </a:r>
          </a:p>
        </p:txBody>
      </p:sp>
      <p:sp>
        <p:nvSpPr>
          <p:cNvPr id="72" name="Rectangle 71"/>
          <p:cNvSpPr/>
          <p:nvPr/>
        </p:nvSpPr>
        <p:spPr>
          <a:xfrm>
            <a:off x="9811512" y="4215383"/>
            <a:ext cx="1600200" cy="749808"/>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3" name="TextBox 72"/>
          <p:cNvSpPr txBox="1"/>
          <p:nvPr/>
        </p:nvSpPr>
        <p:spPr>
          <a:xfrm>
            <a:off x="9884664" y="4270247"/>
            <a:ext cx="1481328" cy="676656"/>
          </a:xfrm>
          <a:prstGeom prst="rect">
            <a:avLst/>
          </a:prstGeom>
          <a:noFill/>
        </p:spPr>
        <p:txBody>
          <a:bodyPr wrap="square" lIns="0" rIns="0" tIns="0" bIns="0" anchor="t">
            <a:spAutoFit/>
          </a:bodyPr>
          <a:lstStyle/>
          <a:p>
            <a:pPr algn="l">
              <a:spcAft>
                <a:spcPts val="100"/>
              </a:spcAft>
            </a:pPr>
            <a:r>
              <a:rPr sz="1150" b="1" i="0">
                <a:solidFill>
                  <a:srgbClr val="8A1626"/>
                </a:solidFill>
              </a:rPr>
              <a:t>REST API</a:t>
            </a:r>
          </a:p>
          <a:p>
            <a:pPr algn="l"/>
            <a:r>
              <a:rPr sz="1000" b="0" i="0">
                <a:solidFill>
                  <a:srgbClr val="4A5058"/>
                </a:solidFill>
              </a:rPr>
              <a:t>/api/v1/var · VRES · VWIF</a:t>
            </a:r>
          </a:p>
        </p:txBody>
      </p:sp>
      <p:sp>
        <p:nvSpPr>
          <p:cNvPr id="74" name="Rectangle 73"/>
          <p:cNvSpPr/>
          <p:nvPr/>
        </p:nvSpPr>
        <p:spPr>
          <a:xfrm>
            <a:off x="9811512" y="5056631"/>
            <a:ext cx="1600200" cy="749808"/>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5" name="TextBox 74"/>
          <p:cNvSpPr txBox="1"/>
          <p:nvPr/>
        </p:nvSpPr>
        <p:spPr>
          <a:xfrm>
            <a:off x="9884664" y="5111495"/>
            <a:ext cx="1481328" cy="676656"/>
          </a:xfrm>
          <a:prstGeom prst="rect">
            <a:avLst/>
          </a:prstGeom>
          <a:noFill/>
        </p:spPr>
        <p:txBody>
          <a:bodyPr wrap="square" lIns="0" rIns="0" tIns="0" bIns="0" anchor="t">
            <a:spAutoFit/>
          </a:bodyPr>
          <a:lstStyle/>
          <a:p>
            <a:pPr algn="l">
              <a:spcAft>
                <a:spcPts val="100"/>
              </a:spcAft>
            </a:pPr>
            <a:r>
              <a:rPr sz="1150" b="1" i="0">
                <a:solidFill>
                  <a:srgbClr val="8A1626"/>
                </a:solidFill>
              </a:rPr>
              <a:t>BI</a:t>
            </a:r>
          </a:p>
          <a:p>
            <a:pPr algn="l"/>
            <a:r>
              <a:rPr sz="1000" b="0" i="0">
                <a:solidFill>
                  <a:srgbClr val="4A5058"/>
                </a:solidFill>
              </a:rPr>
              <a:t>Market risk: VaR report</a:t>
            </a:r>
          </a:p>
        </p:txBody>
      </p:sp>
      <p:cxnSp>
        <p:nvCxnSpPr>
          <p:cNvPr id="76" name="Connector 75"/>
          <p:cNvCxnSpPr/>
          <p:nvPr/>
        </p:nvCxnSpPr>
        <p:spPr>
          <a:xfrm>
            <a:off x="2697480" y="2331720"/>
            <a:ext cx="292608" cy="0"/>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a:off x="2697480" y="3520440"/>
            <a:ext cx="292608" cy="0"/>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a:off x="2697480" y="4343400"/>
            <a:ext cx="292608" cy="0"/>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a:off x="4910328" y="2651760"/>
            <a:ext cx="29260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a:off x="4910328" y="4434840"/>
            <a:ext cx="292608" cy="0"/>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a:off x="7214616" y="2377440"/>
            <a:ext cx="29260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a:off x="7214616" y="4727448"/>
            <a:ext cx="292608" cy="0"/>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a:off x="8513064" y="3063240"/>
            <a:ext cx="0" cy="137160"/>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flipV="1">
            <a:off x="8513064" y="4160520"/>
            <a:ext cx="0" cy="137160"/>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flipH="1">
            <a:off x="4910328" y="5559552"/>
            <a:ext cx="2596896" cy="0"/>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86" name="TextBox 85"/>
          <p:cNvSpPr txBox="1"/>
          <p:nvPr/>
        </p:nvSpPr>
        <p:spPr>
          <a:xfrm>
            <a:off x="5257800" y="5285232"/>
            <a:ext cx="1920240" cy="256032"/>
          </a:xfrm>
          <a:prstGeom prst="rect">
            <a:avLst/>
          </a:prstGeom>
          <a:noFill/>
        </p:spPr>
        <p:txBody>
          <a:bodyPr wrap="square" lIns="0" rIns="0" tIns="0" bIns="0" anchor="ctr">
            <a:spAutoFit/>
          </a:bodyPr>
          <a:lstStyle/>
          <a:p>
            <a:pPr algn="ctr"/>
            <a:r>
              <a:rPr sz="1000" b="0" i="1">
                <a:solidFill>
                  <a:srgbClr val="A51C30"/>
                </a:solidFill>
              </a:rPr>
              <a:t>published: lake + JSONL</a:t>
            </a:r>
          </a:p>
        </p:txBody>
      </p:sp>
      <p:cxnSp>
        <p:nvCxnSpPr>
          <p:cNvPr id="87" name="Connector 86"/>
          <p:cNvCxnSpPr/>
          <p:nvPr/>
        </p:nvCxnSpPr>
        <p:spPr>
          <a:xfrm>
            <a:off x="9518904" y="3675887"/>
            <a:ext cx="146304"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a:off x="9665208" y="2066543"/>
            <a:ext cx="0" cy="3374137"/>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9" name="Connector 88"/>
          <p:cNvCxnSpPr/>
          <p:nvPr/>
        </p:nvCxnSpPr>
        <p:spPr>
          <a:xfrm>
            <a:off x="9665208" y="2066544"/>
            <a:ext cx="146304"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0" name="Connector 89"/>
          <p:cNvCxnSpPr/>
          <p:nvPr/>
        </p:nvCxnSpPr>
        <p:spPr>
          <a:xfrm>
            <a:off x="9665208" y="2907792"/>
            <a:ext cx="146304"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1" name="Connector 90"/>
          <p:cNvCxnSpPr/>
          <p:nvPr/>
        </p:nvCxnSpPr>
        <p:spPr>
          <a:xfrm>
            <a:off x="9665208" y="3749039"/>
            <a:ext cx="146304"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a:off x="9665208" y="4590288"/>
            <a:ext cx="146304"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a:off x="9665208" y="5431536"/>
            <a:ext cx="146304"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94" name="TextBox 93"/>
          <p:cNvSpPr txBox="1"/>
          <p:nvPr/>
        </p:nvSpPr>
        <p:spPr>
          <a:xfrm>
            <a:off x="777240" y="5897880"/>
            <a:ext cx="10634472" cy="329184"/>
          </a:xfrm>
          <a:prstGeom prst="rect">
            <a:avLst/>
          </a:prstGeom>
          <a:noFill/>
        </p:spPr>
        <p:txBody>
          <a:bodyPr wrap="square" lIns="0" rIns="0" tIns="0" bIns="0" anchor="t">
            <a:spAutoFit/>
          </a:bodyPr>
          <a:lstStyle/>
          <a:p>
            <a:pPr algn="l"/>
            <a:r>
              <a:rPr sz="1050" b="0" i="1">
                <a:solidFill>
                  <a:srgbClr val="4A5058"/>
                </a:solidFill>
              </a:rPr>
              <a:t>Each batch's data-load signal </a:t>
            </a:r>
            <a:r>
              <a:rPr sz="1000" b="0" i="0">
                <a:solidFill>
                  <a:srgbClr val="4A5058"/>
                </a:solidFill>
                <a:latin typeface="Courier New"/>
              </a:rPr>
              <a:t>POST /api/v1/packs/market-risk/loads</a:t>
            </a:r>
            <a:r>
              <a:rPr sz="1050" b="0" i="1">
                <a:solidFill>
                  <a:srgbClr val="4A5058"/>
                </a:solidFill>
              </a:rPr>
              <a:t> tells the engine: a full run reloads the date; an intraday batch is applied on top. The lake is the record: a restart rebuilds everything, the intraday layer included.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HIERARCHIES AND LIMITS</a:t>
            </a:r>
          </a:p>
        </p:txBody>
      </p:sp>
      <p:sp>
        <p:nvSpPr>
          <p:cNvPr id="3" name="Title 2"/>
          <p:cNvSpPr>
            <a:spLocks noGrp="1"/>
          </p:cNvSpPr>
          <p:nvPr>
            <p:ph type="title" idx="104"/>
          </p:nvPr>
        </p:nvSpPr>
        <p:spPr/>
        <p:txBody>
          <a:bodyPr/>
          <a:lstStyle/>
          <a:p>
            <a:r>
              <a:t>Three trees: management, legal entity and the limit letters</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TextBox 25"/>
          <p:cNvSpPr txBox="1"/>
          <p:nvPr/>
        </p:nvSpPr>
        <p:spPr>
          <a:xfrm>
            <a:off x="777240" y="1389888"/>
            <a:ext cx="1463040" cy="274320"/>
          </a:xfrm>
          <a:prstGeom prst="rect">
            <a:avLst/>
          </a:prstGeom>
          <a:noFill/>
        </p:spPr>
        <p:txBody>
          <a:bodyPr wrap="square" lIns="0" rIns="0" tIns="0" bIns="0" anchor="ctr">
            <a:spAutoFit/>
          </a:bodyPr>
          <a:lstStyle/>
          <a:p>
            <a:pPr algn="l"/>
            <a:r>
              <a:rPr sz="1200" b="1" i="0">
                <a:solidFill>
                  <a:srgbClr val="8A1626"/>
                </a:solidFill>
              </a:rPr>
              <a:t>MGMT · management</a:t>
            </a:r>
          </a:p>
        </p:txBody>
      </p:sp>
      <p:sp>
        <p:nvSpPr>
          <p:cNvPr id="27" name="Rectangle 26"/>
          <p:cNvSpPr/>
          <p:nvPr/>
        </p:nvSpPr>
        <p:spPr>
          <a:xfrm>
            <a:off x="777240" y="1783080"/>
            <a:ext cx="1554480" cy="384048"/>
          </a:xfrm>
          <a:prstGeom prst="rect">
            <a:avLst/>
          </a:prstGeom>
          <a:solidFill>
            <a:srgbClr val="8A1626"/>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36576" tIns="0" bIns="0" wrap="square"/>
          <a:lstStyle/>
          <a:p>
            <a:pPr algn="l"/>
            <a:r>
              <a:rPr sz="1100" b="1" i="0">
                <a:solidFill>
                  <a:srgbClr val="FFFFFF"/>
                </a:solidFill>
              </a:rPr>
              <a:t>Bank</a:t>
            </a:r>
          </a:p>
        </p:txBody>
      </p:sp>
      <p:sp>
        <p:nvSpPr>
          <p:cNvPr id="28" name="Rounded Rectangle 27"/>
          <p:cNvSpPr/>
          <p:nvPr/>
        </p:nvSpPr>
        <p:spPr>
          <a:xfrm>
            <a:off x="2377440" y="1856231"/>
            <a:ext cx="502920" cy="237744"/>
          </a:xfrm>
          <a:prstGeom prst="roundRect">
            <a:avLst>
              <a:gd name="adj" fmla="val 40000"/>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850" b="1" i="0">
                <a:solidFill>
                  <a:srgbClr val="A51C30"/>
                </a:solidFill>
              </a:rPr>
              <a:t>LIMIT</a:t>
            </a:r>
          </a:p>
        </p:txBody>
      </p:sp>
      <p:sp>
        <p:nvSpPr>
          <p:cNvPr id="29" name="Rectangle 28"/>
          <p:cNvSpPr/>
          <p:nvPr/>
        </p:nvSpPr>
        <p:spPr>
          <a:xfrm>
            <a:off x="886968" y="2350008"/>
            <a:ext cx="1444752" cy="384048"/>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36576" tIns="0" bIns="0" wrap="square"/>
          <a:lstStyle/>
          <a:p>
            <a:pPr algn="l"/>
            <a:r>
              <a:rPr sz="1100" b="0" i="0">
                <a:solidFill>
                  <a:srgbClr val="1A1A1A"/>
                </a:solidFill>
              </a:rPr>
              <a:t>Division</a:t>
            </a:r>
          </a:p>
        </p:txBody>
      </p:sp>
      <p:sp>
        <p:nvSpPr>
          <p:cNvPr id="30" name="Rounded Rectangle 29"/>
          <p:cNvSpPr/>
          <p:nvPr/>
        </p:nvSpPr>
        <p:spPr>
          <a:xfrm>
            <a:off x="2377440" y="2423160"/>
            <a:ext cx="502920" cy="237744"/>
          </a:xfrm>
          <a:prstGeom prst="roundRect">
            <a:avLst>
              <a:gd name="adj" fmla="val 40000"/>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850" b="1" i="0">
                <a:solidFill>
                  <a:srgbClr val="A51C30"/>
                </a:solidFill>
              </a:rPr>
              <a:t>LIMIT</a:t>
            </a:r>
          </a:p>
        </p:txBody>
      </p:sp>
      <p:cxnSp>
        <p:nvCxnSpPr>
          <p:cNvPr id="31" name="Connector 30"/>
          <p:cNvCxnSpPr/>
          <p:nvPr/>
        </p:nvCxnSpPr>
        <p:spPr>
          <a:xfrm>
            <a:off x="832103" y="2167127"/>
            <a:ext cx="0" cy="374905"/>
          </a:xfrm>
          <a:prstGeom prst="line">
            <a:avLst/>
          </a:prstGeom>
          <a:ln w="12700">
            <a:solidFill>
              <a:srgbClr val="CFC8BE"/>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832103" y="2542032"/>
            <a:ext cx="54865" cy="0"/>
          </a:xfrm>
          <a:prstGeom prst="line">
            <a:avLst/>
          </a:prstGeom>
          <a:ln w="12700">
            <a:solidFill>
              <a:srgbClr val="CFC8BE"/>
            </a:solidFill>
          </a:ln>
        </p:spPr>
        <p:style>
          <a:lnRef idx="2">
            <a:schemeClr val="accent1"/>
          </a:lnRef>
          <a:fillRef idx="0">
            <a:schemeClr val="accent1"/>
          </a:fillRef>
          <a:effectRef idx="1">
            <a:schemeClr val="accent1"/>
          </a:effectRef>
          <a:fontRef idx="minor">
            <a:schemeClr val="tx1"/>
          </a:fontRef>
        </p:style>
      </p:cxnSp>
      <p:sp>
        <p:nvSpPr>
          <p:cNvPr id="33" name="Rectangle 32"/>
          <p:cNvSpPr/>
          <p:nvPr/>
        </p:nvSpPr>
        <p:spPr>
          <a:xfrm>
            <a:off x="996695" y="2916936"/>
            <a:ext cx="1335024" cy="384048"/>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36576" tIns="0" bIns="0" wrap="square"/>
          <a:lstStyle/>
          <a:p>
            <a:pPr algn="l"/>
            <a:r>
              <a:rPr sz="1100" b="0" i="0">
                <a:solidFill>
                  <a:srgbClr val="1A1A1A"/>
                </a:solidFill>
              </a:rPr>
              <a:t>Desk</a:t>
            </a:r>
          </a:p>
        </p:txBody>
      </p:sp>
      <p:sp>
        <p:nvSpPr>
          <p:cNvPr id="34" name="Rounded Rectangle 33"/>
          <p:cNvSpPr/>
          <p:nvPr/>
        </p:nvSpPr>
        <p:spPr>
          <a:xfrm>
            <a:off x="2377440" y="2990088"/>
            <a:ext cx="502920" cy="237744"/>
          </a:xfrm>
          <a:prstGeom prst="roundRect">
            <a:avLst>
              <a:gd name="adj" fmla="val 40000"/>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850" b="1" i="0">
                <a:solidFill>
                  <a:srgbClr val="A51C30"/>
                </a:solidFill>
              </a:rPr>
              <a:t>LIMIT</a:t>
            </a:r>
          </a:p>
        </p:txBody>
      </p:sp>
      <p:cxnSp>
        <p:nvCxnSpPr>
          <p:cNvPr id="35" name="Connector 34"/>
          <p:cNvCxnSpPr/>
          <p:nvPr/>
        </p:nvCxnSpPr>
        <p:spPr>
          <a:xfrm>
            <a:off x="941831" y="2734056"/>
            <a:ext cx="0" cy="374904"/>
          </a:xfrm>
          <a:prstGeom prst="line">
            <a:avLst/>
          </a:prstGeom>
          <a:ln w="12700">
            <a:solidFill>
              <a:srgbClr val="CFC8BE"/>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941831" y="3108960"/>
            <a:ext cx="54864" cy="0"/>
          </a:xfrm>
          <a:prstGeom prst="line">
            <a:avLst/>
          </a:prstGeom>
          <a:ln w="12700">
            <a:solidFill>
              <a:srgbClr val="CFC8BE"/>
            </a:solidFill>
          </a:ln>
        </p:spPr>
        <p:style>
          <a:lnRef idx="2">
            <a:schemeClr val="accent1"/>
          </a:lnRef>
          <a:fillRef idx="0">
            <a:schemeClr val="accent1"/>
          </a:fillRef>
          <a:effectRef idx="1">
            <a:schemeClr val="accent1"/>
          </a:effectRef>
          <a:fontRef idx="minor">
            <a:schemeClr val="tx1"/>
          </a:fontRef>
        </p:style>
      </p:cxnSp>
      <p:sp>
        <p:nvSpPr>
          <p:cNvPr id="37" name="Rectangle 36"/>
          <p:cNvSpPr/>
          <p:nvPr/>
        </p:nvSpPr>
        <p:spPr>
          <a:xfrm>
            <a:off x="1106424" y="3483863"/>
            <a:ext cx="1225296" cy="384048"/>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36576" tIns="0" bIns="0" wrap="square"/>
          <a:lstStyle/>
          <a:p>
            <a:pPr algn="l"/>
            <a:r>
              <a:rPr sz="1100" b="0" i="0">
                <a:solidFill>
                  <a:srgbClr val="1A1A1A"/>
                </a:solidFill>
              </a:rPr>
              <a:t>Book</a:t>
            </a:r>
          </a:p>
        </p:txBody>
      </p:sp>
      <p:sp>
        <p:nvSpPr>
          <p:cNvPr id="38" name="Rounded Rectangle 37"/>
          <p:cNvSpPr/>
          <p:nvPr/>
        </p:nvSpPr>
        <p:spPr>
          <a:xfrm>
            <a:off x="2377440" y="3557015"/>
            <a:ext cx="502920" cy="237744"/>
          </a:xfrm>
          <a:prstGeom prst="roundRect">
            <a:avLst>
              <a:gd name="adj" fmla="val 40000"/>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850" b="1" i="0">
                <a:solidFill>
                  <a:srgbClr val="A51C30"/>
                </a:solidFill>
              </a:rPr>
              <a:t>LIMIT</a:t>
            </a:r>
          </a:p>
        </p:txBody>
      </p:sp>
      <p:cxnSp>
        <p:nvCxnSpPr>
          <p:cNvPr id="39" name="Connector 38"/>
          <p:cNvCxnSpPr/>
          <p:nvPr/>
        </p:nvCxnSpPr>
        <p:spPr>
          <a:xfrm>
            <a:off x="1051560" y="3300983"/>
            <a:ext cx="0" cy="374904"/>
          </a:xfrm>
          <a:prstGeom prst="line">
            <a:avLst/>
          </a:prstGeom>
          <a:ln w="12700">
            <a:solidFill>
              <a:srgbClr val="CFC8BE"/>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1051560" y="3675887"/>
            <a:ext cx="54864" cy="0"/>
          </a:xfrm>
          <a:prstGeom prst="line">
            <a:avLst/>
          </a:prstGeom>
          <a:ln w="12700">
            <a:solidFill>
              <a:srgbClr val="CFC8BE"/>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3090672" y="1389888"/>
            <a:ext cx="1463040" cy="274320"/>
          </a:xfrm>
          <a:prstGeom prst="rect">
            <a:avLst/>
          </a:prstGeom>
          <a:noFill/>
        </p:spPr>
        <p:txBody>
          <a:bodyPr wrap="square" lIns="0" rIns="0" tIns="0" bIns="0" anchor="ctr">
            <a:spAutoFit/>
          </a:bodyPr>
          <a:lstStyle/>
          <a:p>
            <a:pPr algn="l"/>
            <a:r>
              <a:rPr sz="1200" b="1" i="0">
                <a:solidFill>
                  <a:srgbClr val="8A1626"/>
                </a:solidFill>
              </a:rPr>
              <a:t>LEGAL · legal entity</a:t>
            </a:r>
          </a:p>
        </p:txBody>
      </p:sp>
      <p:sp>
        <p:nvSpPr>
          <p:cNvPr id="42" name="Rectangle 41"/>
          <p:cNvSpPr/>
          <p:nvPr/>
        </p:nvSpPr>
        <p:spPr>
          <a:xfrm>
            <a:off x="3090672" y="1783080"/>
            <a:ext cx="1554480" cy="384048"/>
          </a:xfrm>
          <a:prstGeom prst="rect">
            <a:avLst/>
          </a:prstGeom>
          <a:solidFill>
            <a:srgbClr val="8A1626"/>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36576" tIns="0" bIns="0" wrap="square"/>
          <a:lstStyle/>
          <a:p>
            <a:pPr algn="l"/>
            <a:r>
              <a:rPr sz="1100" b="1" i="0">
                <a:solidFill>
                  <a:srgbClr val="FFFFFF"/>
                </a:solidFill>
              </a:rPr>
              <a:t>Bank</a:t>
            </a:r>
          </a:p>
        </p:txBody>
      </p:sp>
      <p:sp>
        <p:nvSpPr>
          <p:cNvPr id="43" name="Rounded Rectangle 42"/>
          <p:cNvSpPr/>
          <p:nvPr/>
        </p:nvSpPr>
        <p:spPr>
          <a:xfrm>
            <a:off x="4690872" y="1856231"/>
            <a:ext cx="502920" cy="237744"/>
          </a:xfrm>
          <a:prstGeom prst="roundRect">
            <a:avLst>
              <a:gd name="adj" fmla="val 40000"/>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850" b="1" i="0">
                <a:solidFill>
                  <a:srgbClr val="A51C30"/>
                </a:solidFill>
              </a:rPr>
              <a:t>LIMIT</a:t>
            </a:r>
          </a:p>
        </p:txBody>
      </p:sp>
      <p:sp>
        <p:nvSpPr>
          <p:cNvPr id="44" name="Rectangle 43"/>
          <p:cNvSpPr/>
          <p:nvPr/>
        </p:nvSpPr>
        <p:spPr>
          <a:xfrm>
            <a:off x="3200400" y="2350008"/>
            <a:ext cx="1444752" cy="384048"/>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36576" tIns="0" bIns="0" wrap="square"/>
          <a:lstStyle/>
          <a:p>
            <a:pPr algn="l"/>
            <a:r>
              <a:rPr sz="1100" b="0" i="0">
                <a:solidFill>
                  <a:srgbClr val="1A1A1A"/>
                </a:solidFill>
              </a:rPr>
              <a:t>Legal entity</a:t>
            </a:r>
          </a:p>
        </p:txBody>
      </p:sp>
      <p:sp>
        <p:nvSpPr>
          <p:cNvPr id="45" name="Rounded Rectangle 44"/>
          <p:cNvSpPr/>
          <p:nvPr/>
        </p:nvSpPr>
        <p:spPr>
          <a:xfrm>
            <a:off x="4690872" y="2423160"/>
            <a:ext cx="502920" cy="237744"/>
          </a:xfrm>
          <a:prstGeom prst="roundRect">
            <a:avLst>
              <a:gd name="adj" fmla="val 40000"/>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850" b="1" i="0">
                <a:solidFill>
                  <a:srgbClr val="A51C30"/>
                </a:solidFill>
              </a:rPr>
              <a:t>LIMIT</a:t>
            </a:r>
          </a:p>
        </p:txBody>
      </p:sp>
      <p:cxnSp>
        <p:nvCxnSpPr>
          <p:cNvPr id="46" name="Connector 45"/>
          <p:cNvCxnSpPr/>
          <p:nvPr/>
        </p:nvCxnSpPr>
        <p:spPr>
          <a:xfrm>
            <a:off x="3145536" y="2167127"/>
            <a:ext cx="0" cy="374905"/>
          </a:xfrm>
          <a:prstGeom prst="line">
            <a:avLst/>
          </a:prstGeom>
          <a:ln w="12700">
            <a:solidFill>
              <a:srgbClr val="CFC8BE"/>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3145536" y="2542032"/>
            <a:ext cx="54864" cy="0"/>
          </a:xfrm>
          <a:prstGeom prst="line">
            <a:avLst/>
          </a:prstGeom>
          <a:ln w="12700">
            <a:solidFill>
              <a:srgbClr val="CFC8BE"/>
            </a:solidFill>
          </a:ln>
        </p:spPr>
        <p:style>
          <a:lnRef idx="2">
            <a:schemeClr val="accent1"/>
          </a:lnRef>
          <a:fillRef idx="0">
            <a:schemeClr val="accent1"/>
          </a:fillRef>
          <a:effectRef idx="1">
            <a:schemeClr val="accent1"/>
          </a:effectRef>
          <a:fontRef idx="minor">
            <a:schemeClr val="tx1"/>
          </a:fontRef>
        </p:style>
      </p:cxnSp>
      <p:sp>
        <p:nvSpPr>
          <p:cNvPr id="48" name="Rectangle 47"/>
          <p:cNvSpPr/>
          <p:nvPr/>
        </p:nvSpPr>
        <p:spPr>
          <a:xfrm>
            <a:off x="3310128" y="2916936"/>
            <a:ext cx="1335024" cy="384048"/>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36576" tIns="0" bIns="0" wrap="square"/>
          <a:lstStyle/>
          <a:p>
            <a:pPr algn="l"/>
            <a:r>
              <a:rPr sz="1100" b="0" i="0">
                <a:solidFill>
                  <a:srgbClr val="1A1A1A"/>
                </a:solidFill>
              </a:rPr>
              <a:t>Desk</a:t>
            </a:r>
          </a:p>
        </p:txBody>
      </p:sp>
      <p:sp>
        <p:nvSpPr>
          <p:cNvPr id="49" name="Rounded Rectangle 48"/>
          <p:cNvSpPr/>
          <p:nvPr/>
        </p:nvSpPr>
        <p:spPr>
          <a:xfrm>
            <a:off x="4690872" y="2990088"/>
            <a:ext cx="502920" cy="237744"/>
          </a:xfrm>
          <a:prstGeom prst="roundRect">
            <a:avLst>
              <a:gd name="adj" fmla="val 40000"/>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850" b="1" i="0">
                <a:solidFill>
                  <a:srgbClr val="A51C30"/>
                </a:solidFill>
              </a:rPr>
              <a:t>LIMIT</a:t>
            </a:r>
          </a:p>
        </p:txBody>
      </p:sp>
      <p:cxnSp>
        <p:nvCxnSpPr>
          <p:cNvPr id="50" name="Connector 49"/>
          <p:cNvCxnSpPr/>
          <p:nvPr/>
        </p:nvCxnSpPr>
        <p:spPr>
          <a:xfrm>
            <a:off x="3255264" y="2734056"/>
            <a:ext cx="0" cy="374904"/>
          </a:xfrm>
          <a:prstGeom prst="line">
            <a:avLst/>
          </a:prstGeom>
          <a:ln w="12700">
            <a:solidFill>
              <a:srgbClr val="CFC8BE"/>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3255264" y="3108960"/>
            <a:ext cx="54864" cy="0"/>
          </a:xfrm>
          <a:prstGeom prst="line">
            <a:avLst/>
          </a:prstGeom>
          <a:ln w="12700">
            <a:solidFill>
              <a:srgbClr val="CFC8BE"/>
            </a:solidFill>
          </a:ln>
        </p:spPr>
        <p:style>
          <a:lnRef idx="2">
            <a:schemeClr val="accent1"/>
          </a:lnRef>
          <a:fillRef idx="0">
            <a:schemeClr val="accent1"/>
          </a:fillRef>
          <a:effectRef idx="1">
            <a:schemeClr val="accent1"/>
          </a:effectRef>
          <a:fontRef idx="minor">
            <a:schemeClr val="tx1"/>
          </a:fontRef>
        </p:style>
      </p:cxnSp>
      <p:sp>
        <p:nvSpPr>
          <p:cNvPr id="52" name="Rectangle 51"/>
          <p:cNvSpPr/>
          <p:nvPr/>
        </p:nvSpPr>
        <p:spPr>
          <a:xfrm>
            <a:off x="3419856" y="3483863"/>
            <a:ext cx="1225296" cy="384048"/>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36576" tIns="0" bIns="0" wrap="square"/>
          <a:lstStyle/>
          <a:p>
            <a:pPr algn="l"/>
            <a:r>
              <a:rPr sz="1100" b="0" i="0">
                <a:solidFill>
                  <a:srgbClr val="1A1A1A"/>
                </a:solidFill>
              </a:rPr>
              <a:t>Book</a:t>
            </a:r>
          </a:p>
        </p:txBody>
      </p:sp>
      <p:sp>
        <p:nvSpPr>
          <p:cNvPr id="53" name="Rounded Rectangle 52"/>
          <p:cNvSpPr/>
          <p:nvPr/>
        </p:nvSpPr>
        <p:spPr>
          <a:xfrm>
            <a:off x="4690872" y="3557015"/>
            <a:ext cx="502920" cy="237744"/>
          </a:xfrm>
          <a:prstGeom prst="roundRect">
            <a:avLst>
              <a:gd name="adj" fmla="val 40000"/>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850" b="1" i="0">
                <a:solidFill>
                  <a:srgbClr val="A51C30"/>
                </a:solidFill>
              </a:rPr>
              <a:t>LIMIT</a:t>
            </a:r>
          </a:p>
        </p:txBody>
      </p:sp>
      <p:cxnSp>
        <p:nvCxnSpPr>
          <p:cNvPr id="54" name="Connector 53"/>
          <p:cNvCxnSpPr/>
          <p:nvPr/>
        </p:nvCxnSpPr>
        <p:spPr>
          <a:xfrm>
            <a:off x="3364992" y="3300983"/>
            <a:ext cx="0" cy="374904"/>
          </a:xfrm>
          <a:prstGeom prst="line">
            <a:avLst/>
          </a:prstGeom>
          <a:ln w="12700">
            <a:solidFill>
              <a:srgbClr val="CFC8BE"/>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a:off x="3364992" y="3675887"/>
            <a:ext cx="54864" cy="0"/>
          </a:xfrm>
          <a:prstGeom prst="line">
            <a:avLst/>
          </a:prstGeom>
          <a:ln w="12700">
            <a:solidFill>
              <a:srgbClr val="CFC8BE"/>
            </a:solidFill>
          </a:ln>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5404104" y="1389888"/>
            <a:ext cx="1463040" cy="274320"/>
          </a:xfrm>
          <a:prstGeom prst="rect">
            <a:avLst/>
          </a:prstGeom>
          <a:noFill/>
        </p:spPr>
        <p:txBody>
          <a:bodyPr wrap="square" lIns="0" rIns="0" tIns="0" bIns="0" anchor="ctr">
            <a:spAutoFit/>
          </a:bodyPr>
          <a:lstStyle/>
          <a:p>
            <a:pPr algn="l"/>
            <a:r>
              <a:rPr sz="1200" b="1" i="0">
                <a:solidFill>
                  <a:srgbClr val="8A1626"/>
                </a:solidFill>
              </a:rPr>
              <a:t>LL · limit letters</a:t>
            </a:r>
          </a:p>
        </p:txBody>
      </p:sp>
      <p:sp>
        <p:nvSpPr>
          <p:cNvPr id="57" name="Rectangle 56"/>
          <p:cNvSpPr/>
          <p:nvPr/>
        </p:nvSpPr>
        <p:spPr>
          <a:xfrm>
            <a:off x="5404104" y="1783080"/>
            <a:ext cx="1554480" cy="384048"/>
          </a:xfrm>
          <a:prstGeom prst="rect">
            <a:avLst/>
          </a:prstGeom>
          <a:solidFill>
            <a:srgbClr val="8A1626"/>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36576" tIns="0" bIns="0" wrap="square"/>
          <a:lstStyle/>
          <a:p>
            <a:pPr algn="l"/>
            <a:r>
              <a:rPr sz="1100" b="1" i="0">
                <a:solidFill>
                  <a:srgbClr val="FFFFFF"/>
                </a:solidFill>
              </a:rPr>
              <a:t>Bank</a:t>
            </a:r>
          </a:p>
        </p:txBody>
      </p:sp>
      <p:sp>
        <p:nvSpPr>
          <p:cNvPr id="58" name="Rounded Rectangle 57"/>
          <p:cNvSpPr/>
          <p:nvPr/>
        </p:nvSpPr>
        <p:spPr>
          <a:xfrm>
            <a:off x="7004304" y="1856231"/>
            <a:ext cx="502920" cy="237744"/>
          </a:xfrm>
          <a:prstGeom prst="roundRect">
            <a:avLst>
              <a:gd name="adj" fmla="val 40000"/>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850" b="1" i="0">
                <a:solidFill>
                  <a:srgbClr val="A51C30"/>
                </a:solidFill>
              </a:rPr>
              <a:t>LIMIT</a:t>
            </a:r>
          </a:p>
        </p:txBody>
      </p:sp>
      <p:sp>
        <p:nvSpPr>
          <p:cNvPr id="59" name="Rectangle 58"/>
          <p:cNvSpPr/>
          <p:nvPr/>
        </p:nvSpPr>
        <p:spPr>
          <a:xfrm>
            <a:off x="5513832" y="2350008"/>
            <a:ext cx="1444752" cy="384048"/>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36576" tIns="0" bIns="0" wrap="square"/>
          <a:lstStyle/>
          <a:p>
            <a:pPr algn="l"/>
            <a:r>
              <a:rPr sz="1100" b="0" i="0">
                <a:solidFill>
                  <a:srgbClr val="1A1A1A"/>
                </a:solidFill>
              </a:rPr>
              <a:t>LIMIT_LETTER  (≈ 700)</a:t>
            </a:r>
          </a:p>
        </p:txBody>
      </p:sp>
      <p:sp>
        <p:nvSpPr>
          <p:cNvPr id="60" name="Rounded Rectangle 59"/>
          <p:cNvSpPr/>
          <p:nvPr/>
        </p:nvSpPr>
        <p:spPr>
          <a:xfrm>
            <a:off x="7004304" y="2423160"/>
            <a:ext cx="502920" cy="237744"/>
          </a:xfrm>
          <a:prstGeom prst="roundRect">
            <a:avLst>
              <a:gd name="adj" fmla="val 40000"/>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850" b="1" i="0">
                <a:solidFill>
                  <a:srgbClr val="A51C30"/>
                </a:solidFill>
              </a:rPr>
              <a:t>LIMIT</a:t>
            </a:r>
          </a:p>
        </p:txBody>
      </p:sp>
      <p:cxnSp>
        <p:nvCxnSpPr>
          <p:cNvPr id="61" name="Connector 60"/>
          <p:cNvCxnSpPr/>
          <p:nvPr/>
        </p:nvCxnSpPr>
        <p:spPr>
          <a:xfrm>
            <a:off x="5458968" y="2167127"/>
            <a:ext cx="0" cy="374905"/>
          </a:xfrm>
          <a:prstGeom prst="line">
            <a:avLst/>
          </a:prstGeom>
          <a:ln w="12700">
            <a:solidFill>
              <a:srgbClr val="CFC8BE"/>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a:off x="5458968" y="2542032"/>
            <a:ext cx="54864" cy="0"/>
          </a:xfrm>
          <a:prstGeom prst="line">
            <a:avLst/>
          </a:prstGeom>
          <a:ln w="12700">
            <a:solidFill>
              <a:srgbClr val="CFC8BE"/>
            </a:solidFill>
          </a:ln>
        </p:spPr>
        <p:style>
          <a:lnRef idx="2">
            <a:schemeClr val="accent1"/>
          </a:lnRef>
          <a:fillRef idx="0">
            <a:schemeClr val="accent1"/>
          </a:fillRef>
          <a:effectRef idx="1">
            <a:schemeClr val="accent1"/>
          </a:effectRef>
          <a:fontRef idx="minor">
            <a:schemeClr val="tx1"/>
          </a:fontRef>
        </p:style>
      </p:cxnSp>
      <p:sp>
        <p:nvSpPr>
          <p:cNvPr id="63" name="Rectangle 62"/>
          <p:cNvSpPr/>
          <p:nvPr/>
        </p:nvSpPr>
        <p:spPr>
          <a:xfrm>
            <a:off x="5623560" y="2916936"/>
            <a:ext cx="1335024" cy="384048"/>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36576" tIns="0" bIns="0" wrap="square"/>
          <a:lstStyle/>
          <a:p>
            <a:pPr algn="l"/>
            <a:r>
              <a:rPr sz="1100" b="0" i="0">
                <a:solidFill>
                  <a:srgbClr val="1A1A1A"/>
                </a:solidFill>
              </a:rPr>
              <a:t>DESK</a:t>
            </a:r>
          </a:p>
        </p:txBody>
      </p:sp>
      <p:sp>
        <p:nvSpPr>
          <p:cNvPr id="64" name="Rounded Rectangle 63"/>
          <p:cNvSpPr/>
          <p:nvPr/>
        </p:nvSpPr>
        <p:spPr>
          <a:xfrm>
            <a:off x="7004304" y="2990088"/>
            <a:ext cx="502920" cy="237744"/>
          </a:xfrm>
          <a:prstGeom prst="roundRect">
            <a:avLst>
              <a:gd name="adj" fmla="val 40000"/>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850" b="1" i="0">
                <a:solidFill>
                  <a:srgbClr val="A51C30"/>
                </a:solidFill>
              </a:rPr>
              <a:t>LIMIT</a:t>
            </a:r>
          </a:p>
        </p:txBody>
      </p:sp>
      <p:cxnSp>
        <p:nvCxnSpPr>
          <p:cNvPr id="65" name="Connector 64"/>
          <p:cNvCxnSpPr/>
          <p:nvPr/>
        </p:nvCxnSpPr>
        <p:spPr>
          <a:xfrm>
            <a:off x="5568696" y="2734056"/>
            <a:ext cx="0" cy="374904"/>
          </a:xfrm>
          <a:prstGeom prst="line">
            <a:avLst/>
          </a:prstGeom>
          <a:ln w="12700">
            <a:solidFill>
              <a:srgbClr val="CFC8BE"/>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a:off x="5568696" y="3108960"/>
            <a:ext cx="54864" cy="0"/>
          </a:xfrm>
          <a:prstGeom prst="line">
            <a:avLst/>
          </a:prstGeom>
          <a:ln w="12700">
            <a:solidFill>
              <a:srgbClr val="CFC8BE"/>
            </a:solidFill>
          </a:ln>
        </p:spPr>
        <p:style>
          <a:lnRef idx="2">
            <a:schemeClr val="accent1"/>
          </a:lnRef>
          <a:fillRef idx="0">
            <a:schemeClr val="accent1"/>
          </a:fillRef>
          <a:effectRef idx="1">
            <a:schemeClr val="accent1"/>
          </a:effectRef>
          <a:fontRef idx="minor">
            <a:schemeClr val="tx1"/>
          </a:fontRef>
        </p:style>
      </p:cxnSp>
      <p:sp>
        <p:nvSpPr>
          <p:cNvPr id="67" name="Rectangle 66"/>
          <p:cNvSpPr/>
          <p:nvPr/>
        </p:nvSpPr>
        <p:spPr>
          <a:xfrm>
            <a:off x="7808976" y="1417320"/>
            <a:ext cx="3602735" cy="233172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8" name="Rectangle 67"/>
          <p:cNvSpPr/>
          <p:nvPr/>
        </p:nvSpPr>
        <p:spPr>
          <a:xfrm>
            <a:off x="7808976" y="1417320"/>
            <a:ext cx="45720" cy="2331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9" name="TextBox 68"/>
          <p:cNvSpPr txBox="1"/>
          <p:nvPr/>
        </p:nvSpPr>
        <p:spPr>
          <a:xfrm>
            <a:off x="7973568" y="1490472"/>
            <a:ext cx="3346703" cy="2221991"/>
          </a:xfrm>
          <a:prstGeom prst="rect">
            <a:avLst/>
          </a:prstGeom>
          <a:noFill/>
        </p:spPr>
        <p:txBody>
          <a:bodyPr wrap="square" lIns="0" rIns="0" tIns="0" bIns="0" anchor="t">
            <a:spAutoFit/>
          </a:bodyPr>
          <a:lstStyle/>
          <a:p>
            <a:pPr algn="l">
              <a:spcAft>
                <a:spcPts val="400"/>
              </a:spcAft>
            </a:pPr>
            <a:r>
              <a:rPr sz="1300" b="1" i="0">
                <a:solidFill>
                  <a:srgbClr val="8A1626"/>
                </a:solidFill>
              </a:rPr>
              <a:t>Configured by columns</a:t>
            </a:r>
          </a:p>
          <a:p>
            <a:pPr algn="l" marL="146304" indent="-146304">
              <a:spcAft>
                <a:spcPts val="300"/>
              </a:spcAft>
              <a:buClr>
                <a:srgbClr val="A51C30"/>
              </a:buClr>
              <a:buSzPct val="100000"/>
              <a:buFont typeface="Arial"/>
              <a:buChar char="▪"/>
            </a:pPr>
            <a:r>
              <a:rPr sz="1050" b="0" i="0">
                <a:solidFill>
                  <a:srgbClr val="1A1A1A"/>
                </a:solidFill>
              </a:rPr>
              <a:t>Levels are columns every row carries (LIMIT_LETTER &gt; DESK); nodes are the distinct paths of the values</a:t>
            </a:r>
          </a:p>
          <a:p>
            <a:pPr algn="l" marL="146304" indent="-146304">
              <a:spcAft>
                <a:spcPts val="300"/>
              </a:spcAft>
              <a:buClr>
                <a:srgbClr val="A51C30"/>
              </a:buClr>
              <a:buSzPct val="100000"/>
              <a:buFont typeface="Arial"/>
              <a:buChar char="▪"/>
            </a:pPr>
            <a:r>
              <a:rPr sz="1050" b="0" i="0">
                <a:solidFill>
                  <a:srgbClr val="1A1A1A"/>
                </a:solidFill>
              </a:rPr>
              <a:t>A letter may hold part of a book; a position under two letters is split (&lt;position&gt;@&lt;letter&gt;) and counted</a:t>
            </a:r>
          </a:p>
          <a:p>
            <a:pPr algn="l" marL="146304" indent="-146304">
              <a:spcAft>
                <a:spcPts val="300"/>
              </a:spcAft>
              <a:buClr>
                <a:srgbClr val="A51C30"/>
              </a:buClr>
              <a:buSzPct val="100000"/>
              <a:buFont typeface="Arial"/>
              <a:buChar char="▪"/>
            </a:pPr>
            <a:r>
              <a:rPr sz="1050" b="0" i="0">
                <a:solidFill>
                  <a:srgbClr val="1A1A1A"/>
                </a:solidFill>
              </a:rPr>
              <a:t>A source without the column skips that hierarchy alone, with a DRS-5211 warning; the date, MGMT, LEGAL and exposure answer as before</a:t>
            </a:r>
          </a:p>
          <a:p>
            <a:pPr algn="l" marL="146304" indent="-146304">
              <a:spcAft>
                <a:spcPts val="300"/>
              </a:spcAft>
              <a:buClr>
                <a:srgbClr val="A51C30"/>
              </a:buClr>
              <a:buSzPct val="100000"/>
              <a:buFont typeface="Arial"/>
              <a:buChar char="▪"/>
            </a:pPr>
            <a:r>
              <a:rPr sz="1050" b="0" i="0">
                <a:solidFill>
                  <a:srgbClr val="1A1A1A"/>
                </a:solidFill>
              </a:rPr>
              <a:t>Official records for every hierarchy; exposure builds the same trees</a:t>
            </a:r>
          </a:p>
        </p:txBody>
      </p:sp>
      <p:sp>
        <p:nvSpPr>
          <p:cNvPr id="70" name="Rectangle 69"/>
          <p:cNvSpPr/>
          <p:nvPr/>
        </p:nvSpPr>
        <p:spPr>
          <a:xfrm>
            <a:off x="7808976" y="3858768"/>
            <a:ext cx="3602735" cy="16733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1" name="Rectangle 70"/>
          <p:cNvSpPr/>
          <p:nvPr/>
        </p:nvSpPr>
        <p:spPr>
          <a:xfrm>
            <a:off x="7808976" y="3858768"/>
            <a:ext cx="45720" cy="167335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2" name="TextBox 71"/>
          <p:cNvSpPr txBox="1"/>
          <p:nvPr/>
        </p:nvSpPr>
        <p:spPr>
          <a:xfrm>
            <a:off x="7973568" y="3931920"/>
            <a:ext cx="3346703" cy="1563624"/>
          </a:xfrm>
          <a:prstGeom prst="rect">
            <a:avLst/>
          </a:prstGeom>
          <a:noFill/>
        </p:spPr>
        <p:txBody>
          <a:bodyPr wrap="square" lIns="0" rIns="0" tIns="0" bIns="0" anchor="t">
            <a:spAutoFit/>
          </a:bodyPr>
          <a:lstStyle/>
          <a:p>
            <a:pPr algn="l">
              <a:spcAft>
                <a:spcPts val="400"/>
              </a:spcAft>
            </a:pPr>
            <a:r>
              <a:rPr sz="1300" b="1" i="0">
                <a:solidFill>
                  <a:srgbClr val="8A1626"/>
                </a:solidFill>
              </a:rPr>
              <a:t>Limits and the picker</a:t>
            </a:r>
          </a:p>
          <a:p>
            <a:pPr algn="l" marL="146304" indent="-146304">
              <a:spcAft>
                <a:spcPts val="300"/>
              </a:spcAft>
              <a:buClr>
                <a:srgbClr val="A51C30"/>
              </a:buClr>
              <a:buSzPct val="100000"/>
              <a:buFont typeface="Arial"/>
              <a:buChar char="▪"/>
            </a:pPr>
            <a:r>
              <a:rPr sz="1050" b="0" i="0">
                <a:solidFill>
                  <a:srgbClr val="1A1A1A"/>
                </a:solidFill>
              </a:rPr>
              <a:t>var-limit: HIERARCHY, NODE_ID, LIMIT_VAR (USD); no row: no limit, never zero</a:t>
            </a:r>
          </a:p>
          <a:p>
            <a:pPr algn="l" marL="146304" indent="-146304">
              <a:spcAft>
                <a:spcPts val="300"/>
              </a:spcAft>
              <a:buClr>
                <a:srgbClr val="A51C30"/>
              </a:buClr>
              <a:buSzPct val="100000"/>
              <a:buFont typeface="Arial"/>
              <a:buChar char="▪"/>
            </a:pPr>
            <a:r>
              <a:rPr sz="1050" b="0" i="0">
                <a:solidFill>
                  <a:srgbClr val="1A1A1A"/>
                </a:solidFill>
              </a:rPr>
              <a:t>Limit bar amber 75%, red 90%; LIMIT and LIMIT_USE in official records</a:t>
            </a:r>
          </a:p>
          <a:p>
            <a:pPr algn="l" marL="146304" indent="-146304">
              <a:spcAft>
                <a:spcPts val="300"/>
              </a:spcAft>
              <a:buClr>
                <a:srgbClr val="A51C30"/>
              </a:buClr>
              <a:buSzPct val="100000"/>
              <a:buFont typeface="Arial"/>
              <a:buChar char="▪"/>
            </a:pPr>
            <a:r>
              <a:rPr sz="1050" b="0" i="0">
                <a:solidFill>
                  <a:srgbClr val="1A1A1A"/>
                </a:solidFill>
              </a:rPr>
              <a:t>The explorer's hierarchy picker lists the date's trees (hierarchy=LL kept in the link)</a:t>
            </a:r>
          </a:p>
        </p:txBody>
      </p:sp>
      <p:sp>
        <p:nvSpPr>
          <p:cNvPr id="73" name="Rectangle 72"/>
          <p:cNvSpPr/>
          <p:nvPr/>
        </p:nvSpPr>
        <p:spPr>
          <a:xfrm>
            <a:off x="777240" y="4206240"/>
            <a:ext cx="6867144" cy="1325880"/>
          </a:xfrm>
          <a:prstGeom prst="rect">
            <a:avLst/>
          </a:prstGeom>
          <a:solidFill>
            <a:srgbClr val="1E1E2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4" name="TextBox 73"/>
          <p:cNvSpPr txBox="1"/>
          <p:nvPr/>
        </p:nvSpPr>
        <p:spPr>
          <a:xfrm>
            <a:off x="914400" y="4261104"/>
            <a:ext cx="6592824" cy="1234440"/>
          </a:xfrm>
          <a:prstGeom prst="rect">
            <a:avLst/>
          </a:prstGeom>
          <a:noFill/>
        </p:spPr>
        <p:txBody>
          <a:bodyPr wrap="square" lIns="0" rIns="0" tIns="0" bIns="0" anchor="ctr">
            <a:spAutoFit/>
          </a:bodyPr>
          <a:lstStyle/>
          <a:p>
            <a:pPr algn="l"/>
            <a:r>
              <a:rPr sz="900" b="0" i="0">
                <a:solidFill>
                  <a:srgbClr val="9AA0A8"/>
                </a:solidFill>
                <a:latin typeface="Courier New"/>
              </a:rPr>
              <a:t># the market-risk pack's hierarchies: block, as built</a:t>
            </a:r>
          </a:p>
          <a:p>
            <a:pPr algn="l"/>
            <a:r>
              <a:rPr sz="900" b="0" i="0">
                <a:solidFill>
                  <a:srgbClr val="F1EEE9"/>
                </a:solidFill>
                <a:latin typeface="Courier New"/>
              </a:rPr>
              <a:t>hierarchies:</a:t>
            </a:r>
          </a:p>
          <a:p>
            <a:pPr algn="l"/>
            <a:r>
              <a:rPr sz="900" b="0" i="0">
                <a:solidFill>
                  <a:srgbClr val="E8A0AC"/>
                </a:solidFill>
                <a:latin typeface="Courier New"/>
              </a:rPr>
              <a:t>  MGMT:  { title: Management, source: risk-hierarchy }</a:t>
            </a:r>
          </a:p>
          <a:p>
            <a:pPr algn="l"/>
            <a:r>
              <a:rPr sz="900" b="0" i="0">
                <a:solidFill>
                  <a:srgbClr val="E8A0AC"/>
                </a:solidFill>
                <a:latin typeface="Courier New"/>
              </a:rPr>
              <a:t>  LEGAL: { title: Legal entities, source: risk-hierarchy }</a:t>
            </a:r>
          </a:p>
          <a:p>
            <a:pPr algn="l"/>
            <a:r>
              <a:rPr sz="900" b="0" i="0">
                <a:solidFill>
                  <a:srgbClr val="E8A0AC"/>
                </a:solidFill>
                <a:latin typeface="Courier New"/>
              </a:rPr>
              <a:t>  LL:    { title: Limit letters, levels: "LIMIT_LETTER &gt; DESK", word: LL, limits: var-limit }</a:t>
            </a:r>
          </a:p>
        </p:txBody>
      </p:sp>
      <p:sp>
        <p:nvSpPr>
          <p:cNvPr id="75" name="Rounded Rectangle 74"/>
          <p:cNvSpPr/>
          <p:nvPr/>
        </p:nvSpPr>
        <p:spPr>
          <a:xfrm>
            <a:off x="777240" y="5751576"/>
            <a:ext cx="667512" cy="201168"/>
          </a:xfrm>
          <a:prstGeom prst="roundRect">
            <a:avLst>
              <a:gd name="adj" fmla="val 50000"/>
            </a:avLst>
          </a:prstGeom>
          <a:solidFill>
            <a:srgbClr val="4A5058"/>
          </a:solidFill>
          <a:ln w="12700">
            <a:solidFill>
              <a:srgbClr val="4A5058"/>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800" b="1" i="0">
                <a:solidFill>
                  <a:srgbClr val="FFFFFF"/>
                </a:solidFill>
              </a:rPr>
              <a:t>MEASURED</a:t>
            </a:r>
          </a:p>
        </p:txBody>
      </p:sp>
      <p:sp>
        <p:nvSpPr>
          <p:cNvPr id="76" name="TextBox 75"/>
          <p:cNvSpPr txBox="1"/>
          <p:nvPr/>
        </p:nvSpPr>
        <p:spPr>
          <a:xfrm>
            <a:off x="1536192" y="5641848"/>
            <a:ext cx="9875520" cy="457200"/>
          </a:xfrm>
          <a:prstGeom prst="rect">
            <a:avLst/>
          </a:prstGeom>
          <a:noFill/>
        </p:spPr>
        <p:txBody>
          <a:bodyPr wrap="square" lIns="0" rIns="0" tIns="0" bIns="0" anchor="ctr">
            <a:spAutoFit/>
          </a:bodyPr>
          <a:lstStyle/>
          <a:p>
            <a:pPr algn="l"/>
            <a:r>
              <a:rPr sz="1100" b="1" i="0">
                <a:solidFill>
                  <a:srgbClr val="8A1626"/>
                </a:solidFill>
              </a:rPr>
              <a:t>700 letters build in the same time as none, and the VaR of all 1,412 nodes takes about 30 ms </a:t>
            </a:r>
            <a:r>
              <a:rPr sz="1100" b="0" i="0">
                <a:solidFill>
                  <a:srgbClr val="4A5058"/>
                </a:solidFill>
              </a:rPr>
              <a:t>(10,000 trades; build 65–99 ms against 53–197 ms without). Scope word LL:LL-0003; node ids are paths, LL~LL-0003/DESK-RATES.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ANY INPUT CONTRACT</a:t>
            </a:r>
          </a:p>
        </p:txBody>
      </p:sp>
      <p:sp>
        <p:nvSpPr>
          <p:cNvPr id="3" name="Title 2"/>
          <p:cNvSpPr>
            <a:spLocks noGrp="1"/>
          </p:cNvSpPr>
          <p:nvPr>
            <p:ph type="title" idx="104"/>
          </p:nvPr>
        </p:nvSpPr>
        <p:spPr/>
        <p:txBody>
          <a:bodyPr/>
          <a:lstStyle/>
          <a:p>
            <a:r>
              <a:t>One engine, every input: source systems keep their own formats</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2011680" y="1417320"/>
            <a:ext cx="2011680" cy="384048"/>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r>
              <a:rPr sz="1250" b="1" i="0">
                <a:solidFill>
                  <a:srgbClr val="FFFFFF"/>
                </a:solidFill>
              </a:rPr>
              <a:t>Scenario PVs</a:t>
            </a:r>
          </a:p>
          <a:p>
            <a:pPr algn="ctr"/>
            <a:r>
              <a:rPr sz="1000" b="0" i="0">
                <a:solidFill>
                  <a:srgbClr val="F6E6E9"/>
                </a:solidFill>
              </a:rPr>
              <a:t>native currency</a:t>
            </a:r>
          </a:p>
        </p:txBody>
      </p:sp>
      <p:sp>
        <p:nvSpPr>
          <p:cNvPr id="27" name="Rectangle 26"/>
          <p:cNvSpPr/>
          <p:nvPr/>
        </p:nvSpPr>
        <p:spPr>
          <a:xfrm>
            <a:off x="4078224" y="1417320"/>
            <a:ext cx="2011680" cy="384048"/>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r>
              <a:rPr sz="1250" b="1" i="0">
                <a:solidFill>
                  <a:srgbClr val="FFFFFF"/>
                </a:solidFill>
              </a:rPr>
              <a:t>Path P&amp;L vectors</a:t>
            </a:r>
          </a:p>
          <a:p>
            <a:pPr algn="ctr"/>
            <a:r>
              <a:rPr sz="1000" b="0" i="0">
                <a:solidFill>
                  <a:srgbClr val="F6E6E9"/>
                </a:solidFill>
              </a:rPr>
              <a:t>any currency</a:t>
            </a:r>
          </a:p>
        </p:txBody>
      </p:sp>
      <p:sp>
        <p:nvSpPr>
          <p:cNvPr id="28" name="Rectangle 27"/>
          <p:cNvSpPr/>
          <p:nvPr/>
        </p:nvSpPr>
        <p:spPr>
          <a:xfrm>
            <a:off x="777240" y="1856231"/>
            <a:ext cx="1179576" cy="64008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TextBox 28"/>
          <p:cNvSpPr txBox="1"/>
          <p:nvPr/>
        </p:nvSpPr>
        <p:spPr>
          <a:xfrm>
            <a:off x="886968" y="1856231"/>
            <a:ext cx="1051560" cy="640080"/>
          </a:xfrm>
          <a:prstGeom prst="rect">
            <a:avLst/>
          </a:prstGeom>
          <a:noFill/>
        </p:spPr>
        <p:txBody>
          <a:bodyPr wrap="square" lIns="0" rIns="0" tIns="0" bIns="0" anchor="ctr">
            <a:spAutoFit/>
          </a:bodyPr>
          <a:lstStyle/>
          <a:p>
            <a:pPr algn="l"/>
            <a:r>
              <a:rPr sz="1300" b="1" i="0">
                <a:solidFill>
                  <a:srgbClr val="8A1626"/>
                </a:solidFill>
              </a:rPr>
              <a:t>By trade</a:t>
            </a:r>
          </a:p>
        </p:txBody>
      </p:sp>
      <p:sp>
        <p:nvSpPr>
          <p:cNvPr id="30" name="Rectangle 29"/>
          <p:cNvSpPr/>
          <p:nvPr/>
        </p:nvSpPr>
        <p:spPr>
          <a:xfrm>
            <a:off x="2011680" y="1856231"/>
            <a:ext cx="2011680" cy="64008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Oval 30"/>
          <p:cNvSpPr/>
          <p:nvPr/>
        </p:nvSpPr>
        <p:spPr>
          <a:xfrm>
            <a:off x="2148840" y="1947672"/>
            <a:ext cx="457200" cy="457200"/>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2000" b="1" i="0">
                <a:solidFill>
                  <a:srgbClr val="FFFFFF"/>
                </a:solidFill>
              </a:rPr>
              <a:t>✓</a:t>
            </a:r>
          </a:p>
        </p:txBody>
      </p:sp>
      <p:sp>
        <p:nvSpPr>
          <p:cNvPr id="32" name="TextBox 31"/>
          <p:cNvSpPr txBox="1"/>
          <p:nvPr/>
        </p:nvSpPr>
        <p:spPr>
          <a:xfrm>
            <a:off x="2743200" y="1856231"/>
            <a:ext cx="1234440" cy="640080"/>
          </a:xfrm>
          <a:prstGeom prst="rect">
            <a:avLst/>
          </a:prstGeom>
          <a:noFill/>
        </p:spPr>
        <p:txBody>
          <a:bodyPr wrap="square" lIns="0" rIns="0" tIns="0" bIns="0" anchor="ctr">
            <a:spAutoFit/>
          </a:bodyPr>
          <a:lstStyle/>
          <a:p>
            <a:pPr algn="l"/>
            <a:r>
              <a:rPr sz="1200" b="0" i="0">
                <a:solidFill>
                  <a:srgbClr val="4A5058"/>
                </a:solidFill>
              </a:rPr>
              <a:t>in the trade's currency</a:t>
            </a:r>
          </a:p>
        </p:txBody>
      </p:sp>
      <p:sp>
        <p:nvSpPr>
          <p:cNvPr id="33" name="Rectangle 32"/>
          <p:cNvSpPr/>
          <p:nvPr/>
        </p:nvSpPr>
        <p:spPr>
          <a:xfrm>
            <a:off x="4078224" y="1856231"/>
            <a:ext cx="2011680" cy="64008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Oval 33"/>
          <p:cNvSpPr/>
          <p:nvPr/>
        </p:nvSpPr>
        <p:spPr>
          <a:xfrm>
            <a:off x="4215384" y="1947672"/>
            <a:ext cx="457200" cy="457200"/>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2000" b="1" i="0">
                <a:solidFill>
                  <a:srgbClr val="FFFFFF"/>
                </a:solidFill>
              </a:rPr>
              <a:t>✓</a:t>
            </a:r>
          </a:p>
        </p:txBody>
      </p:sp>
      <p:sp>
        <p:nvSpPr>
          <p:cNvPr id="35" name="TextBox 34"/>
          <p:cNvSpPr txBox="1"/>
          <p:nvPr/>
        </p:nvSpPr>
        <p:spPr>
          <a:xfrm>
            <a:off x="4809744" y="1856231"/>
            <a:ext cx="1234440" cy="640080"/>
          </a:xfrm>
          <a:prstGeom prst="rect">
            <a:avLst/>
          </a:prstGeom>
          <a:noFill/>
        </p:spPr>
        <p:txBody>
          <a:bodyPr wrap="square" lIns="0" rIns="0" tIns="0" bIns="0" anchor="ctr">
            <a:spAutoFit/>
          </a:bodyPr>
          <a:lstStyle/>
          <a:p>
            <a:pPr algn="l"/>
            <a:r>
              <a:rPr sz="1200" b="0" i="0">
                <a:solidFill>
                  <a:srgbClr val="4A5058"/>
                </a:solidFill>
              </a:rPr>
              <a:t>a currency a row</a:t>
            </a:r>
          </a:p>
        </p:txBody>
      </p:sp>
      <p:sp>
        <p:nvSpPr>
          <p:cNvPr id="36" name="Rectangle 35"/>
          <p:cNvSpPr/>
          <p:nvPr/>
        </p:nvSpPr>
        <p:spPr>
          <a:xfrm>
            <a:off x="777240" y="2551176"/>
            <a:ext cx="1179576" cy="64008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7" name="TextBox 36"/>
          <p:cNvSpPr txBox="1"/>
          <p:nvPr/>
        </p:nvSpPr>
        <p:spPr>
          <a:xfrm>
            <a:off x="886968" y="2551176"/>
            <a:ext cx="1051560" cy="640080"/>
          </a:xfrm>
          <a:prstGeom prst="rect">
            <a:avLst/>
          </a:prstGeom>
          <a:noFill/>
        </p:spPr>
        <p:txBody>
          <a:bodyPr wrap="square" lIns="0" rIns="0" tIns="0" bIns="0" anchor="ctr">
            <a:spAutoFit/>
          </a:bodyPr>
          <a:lstStyle/>
          <a:p>
            <a:pPr algn="l"/>
            <a:r>
              <a:rPr sz="1300" b="1" i="0">
                <a:solidFill>
                  <a:srgbClr val="8A1626"/>
                </a:solidFill>
              </a:rPr>
              <a:t>By position</a:t>
            </a:r>
          </a:p>
        </p:txBody>
      </p:sp>
      <p:sp>
        <p:nvSpPr>
          <p:cNvPr id="38" name="Rectangle 37"/>
          <p:cNvSpPr/>
          <p:nvPr/>
        </p:nvSpPr>
        <p:spPr>
          <a:xfrm>
            <a:off x="2011680" y="2551176"/>
            <a:ext cx="2011680" cy="64008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Oval 38"/>
          <p:cNvSpPr/>
          <p:nvPr/>
        </p:nvSpPr>
        <p:spPr>
          <a:xfrm>
            <a:off x="2148840" y="2642616"/>
            <a:ext cx="457200" cy="457200"/>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2000" b="1" i="0">
                <a:solidFill>
                  <a:srgbClr val="FFFFFF"/>
                </a:solidFill>
              </a:rPr>
              <a:t>✓</a:t>
            </a:r>
          </a:p>
        </p:txBody>
      </p:sp>
      <p:sp>
        <p:nvSpPr>
          <p:cNvPr id="40" name="TextBox 39"/>
          <p:cNvSpPr txBox="1"/>
          <p:nvPr/>
        </p:nvSpPr>
        <p:spPr>
          <a:xfrm>
            <a:off x="2743200" y="2551176"/>
            <a:ext cx="1234440" cy="640080"/>
          </a:xfrm>
          <a:prstGeom prst="rect">
            <a:avLst/>
          </a:prstGeom>
          <a:noFill/>
        </p:spPr>
        <p:txBody>
          <a:bodyPr wrap="square" lIns="0" rIns="0" tIns="0" bIns="0" anchor="ctr">
            <a:spAutoFit/>
          </a:bodyPr>
          <a:lstStyle/>
          <a:p>
            <a:pPr algn="l"/>
            <a:r>
              <a:rPr sz="1200" b="0" i="0">
                <a:solidFill>
                  <a:srgbClr val="4A5058"/>
                </a:solidFill>
              </a:rPr>
              <a:t>in the position's currency</a:t>
            </a:r>
          </a:p>
        </p:txBody>
      </p:sp>
      <p:sp>
        <p:nvSpPr>
          <p:cNvPr id="41" name="Rectangle 40"/>
          <p:cNvSpPr/>
          <p:nvPr/>
        </p:nvSpPr>
        <p:spPr>
          <a:xfrm>
            <a:off x="4078224" y="2551176"/>
            <a:ext cx="2011680" cy="64008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Oval 41"/>
          <p:cNvSpPr/>
          <p:nvPr/>
        </p:nvSpPr>
        <p:spPr>
          <a:xfrm>
            <a:off x="4215384" y="2642616"/>
            <a:ext cx="457200" cy="457200"/>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2000" b="1" i="0">
                <a:solidFill>
                  <a:srgbClr val="FFFFFF"/>
                </a:solidFill>
              </a:rPr>
              <a:t>✓</a:t>
            </a:r>
          </a:p>
        </p:txBody>
      </p:sp>
      <p:sp>
        <p:nvSpPr>
          <p:cNvPr id="43" name="TextBox 42"/>
          <p:cNvSpPr txBox="1"/>
          <p:nvPr/>
        </p:nvSpPr>
        <p:spPr>
          <a:xfrm>
            <a:off x="4809744" y="2551176"/>
            <a:ext cx="1234440" cy="640080"/>
          </a:xfrm>
          <a:prstGeom prst="rect">
            <a:avLst/>
          </a:prstGeom>
          <a:noFill/>
        </p:spPr>
        <p:txBody>
          <a:bodyPr wrap="square" lIns="0" rIns="0" tIns="0" bIns="0" anchor="ctr">
            <a:spAutoFit/>
          </a:bodyPr>
          <a:lstStyle/>
          <a:p>
            <a:pPr algn="l"/>
            <a:r>
              <a:rPr sz="1200" b="0" i="0">
                <a:solidFill>
                  <a:srgbClr val="4A5058"/>
                </a:solidFill>
              </a:rPr>
              <a:t>a currency a row</a:t>
            </a:r>
          </a:p>
        </p:txBody>
      </p:sp>
      <p:sp>
        <p:nvSpPr>
          <p:cNvPr id="44" name="TextBox 43"/>
          <p:cNvSpPr txBox="1"/>
          <p:nvPr/>
        </p:nvSpPr>
        <p:spPr>
          <a:xfrm>
            <a:off x="6409944" y="1399032"/>
            <a:ext cx="5001768" cy="274320"/>
          </a:xfrm>
          <a:prstGeom prst="rect">
            <a:avLst/>
          </a:prstGeom>
          <a:noFill/>
        </p:spPr>
        <p:txBody>
          <a:bodyPr wrap="square" lIns="0" rIns="0" tIns="0" bIns="0" anchor="ctr">
            <a:spAutoFit/>
          </a:bodyPr>
          <a:lstStyle/>
          <a:p>
            <a:pPr algn="l"/>
            <a:r>
              <a:rPr sz="1300" b="1" i="0">
                <a:solidFill>
                  <a:srgbClr val="A51C30"/>
                </a:solidFill>
              </a:rPr>
              <a:t>Delivery routes</a:t>
            </a:r>
          </a:p>
        </p:txBody>
      </p:sp>
      <p:sp>
        <p:nvSpPr>
          <p:cNvPr id="45" name="Rectangle 44"/>
          <p:cNvSpPr/>
          <p:nvPr/>
        </p:nvSpPr>
        <p:spPr>
          <a:xfrm>
            <a:off x="6409944" y="1719072"/>
            <a:ext cx="5001768" cy="493776"/>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6" name="TextBox 45"/>
          <p:cNvSpPr txBox="1"/>
          <p:nvPr/>
        </p:nvSpPr>
        <p:spPr>
          <a:xfrm>
            <a:off x="6519672" y="1737360"/>
            <a:ext cx="4773168" cy="457200"/>
          </a:xfrm>
          <a:prstGeom prst="rect">
            <a:avLst/>
          </a:prstGeom>
          <a:noFill/>
        </p:spPr>
        <p:txBody>
          <a:bodyPr wrap="square" lIns="0" rIns="0" tIns="0" bIns="0" anchor="ctr">
            <a:spAutoFit/>
          </a:bodyPr>
          <a:lstStyle/>
          <a:p>
            <a:pPr algn="l"/>
            <a:r>
              <a:rPr sz="1200" b="1" i="0">
                <a:solidFill>
                  <a:srgbClr val="8A1626"/>
                </a:solidFill>
              </a:rPr>
              <a:t>Files, JSONL</a:t>
            </a:r>
          </a:p>
          <a:p>
            <a:pPr algn="l"/>
            <a:r>
              <a:rPr sz="1050" b="0" i="0">
                <a:solidFill>
                  <a:srgbClr val="4A5058"/>
                </a:solidFill>
              </a:rPr>
              <a:t>the morning run; small intraday batches appended</a:t>
            </a:r>
          </a:p>
        </p:txBody>
      </p:sp>
      <p:sp>
        <p:nvSpPr>
          <p:cNvPr id="47" name="Rectangle 46"/>
          <p:cNvSpPr/>
          <p:nvPr/>
        </p:nvSpPr>
        <p:spPr>
          <a:xfrm>
            <a:off x="6409944" y="2249424"/>
            <a:ext cx="5001768" cy="493776"/>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8" name="TextBox 47"/>
          <p:cNvSpPr txBox="1"/>
          <p:nvPr/>
        </p:nvSpPr>
        <p:spPr>
          <a:xfrm>
            <a:off x="6519672" y="2267712"/>
            <a:ext cx="4773168" cy="457200"/>
          </a:xfrm>
          <a:prstGeom prst="rect">
            <a:avLst/>
          </a:prstGeom>
          <a:noFill/>
        </p:spPr>
        <p:txBody>
          <a:bodyPr wrap="square" lIns="0" rIns="0" tIns="0" bIns="0" anchor="ctr">
            <a:spAutoFit/>
          </a:bodyPr>
          <a:lstStyle/>
          <a:p>
            <a:pPr algn="l"/>
            <a:r>
              <a:rPr sz="1200" b="1" i="0">
                <a:solidFill>
                  <a:srgbClr val="8A1626"/>
                </a:solidFill>
              </a:rPr>
              <a:t>Kafka, micro-batched</a:t>
            </a:r>
          </a:p>
          <a:p>
            <a:pPr algn="l"/>
            <a:r>
              <a:rPr sz="1050" b="0" i="0">
                <a:solidFill>
                  <a:srgbClr val="4A5058"/>
                </a:solidFill>
              </a:rPr>
              <a:t>JSONL messages; 5-min window, early flush, Apply now</a:t>
            </a:r>
          </a:p>
        </p:txBody>
      </p:sp>
      <p:sp>
        <p:nvSpPr>
          <p:cNvPr id="49" name="Rectangle 48"/>
          <p:cNvSpPr/>
          <p:nvPr/>
        </p:nvSpPr>
        <p:spPr>
          <a:xfrm>
            <a:off x="6409944" y="2779776"/>
            <a:ext cx="5001768" cy="493776"/>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0" name="TextBox 49"/>
          <p:cNvSpPr txBox="1"/>
          <p:nvPr/>
        </p:nvSpPr>
        <p:spPr>
          <a:xfrm>
            <a:off x="6519672" y="2798064"/>
            <a:ext cx="4773168" cy="457200"/>
          </a:xfrm>
          <a:prstGeom prst="rect">
            <a:avLst/>
          </a:prstGeom>
          <a:noFill/>
        </p:spPr>
        <p:txBody>
          <a:bodyPr wrap="square" lIns="0" rIns="0" tIns="0" bIns="0" anchor="ctr">
            <a:spAutoFit/>
          </a:bodyPr>
          <a:lstStyle/>
          <a:p>
            <a:pPr algn="l"/>
            <a:r>
              <a:rPr sz="1200" b="1" i="0">
                <a:solidFill>
                  <a:srgbClr val="8A1626"/>
                </a:solidFill>
              </a:rPr>
              <a:t>Intraday, either route</a:t>
            </a:r>
          </a:p>
          <a:p>
            <a:pPr algn="l"/>
            <a:r>
              <a:rPr sz="1050" b="0" i="0">
                <a:solidFill>
                  <a:srgbClr val="4A5058"/>
                </a:solidFill>
              </a:rPr>
              <a:t>changed trades or positions, as new − old; latest wins</a:t>
            </a:r>
          </a:p>
        </p:txBody>
      </p:sp>
      <p:sp>
        <p:nvSpPr>
          <p:cNvPr id="51" name="Rectangle 50"/>
          <p:cNvSpPr/>
          <p:nvPr/>
        </p:nvSpPr>
        <p:spPr>
          <a:xfrm>
            <a:off x="777240" y="3346704"/>
            <a:ext cx="10634472" cy="932688"/>
          </a:xfrm>
          <a:prstGeom prst="rect">
            <a:avLst/>
          </a:prstGeom>
          <a:solidFill>
            <a:srgbClr val="1E1E2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2" name="TextBox 51"/>
          <p:cNvSpPr txBox="1"/>
          <p:nvPr/>
        </p:nvSpPr>
        <p:spPr>
          <a:xfrm>
            <a:off x="914400" y="3401568"/>
            <a:ext cx="10405872" cy="859536"/>
          </a:xfrm>
          <a:prstGeom prst="rect">
            <a:avLst/>
          </a:prstGeom>
          <a:noFill/>
        </p:spPr>
        <p:txBody>
          <a:bodyPr wrap="square" lIns="0" rIns="0" tIns="0" bIns="0" anchor="t">
            <a:spAutoFit/>
          </a:bodyPr>
          <a:lstStyle/>
          <a:p>
            <a:pPr algn="l">
              <a:spcAft>
                <a:spcPts val="250"/>
              </a:spcAft>
            </a:pPr>
            <a:r>
              <a:rPr sz="950" b="0" i="0">
                <a:solidFill>
                  <a:srgbClr val="F1EEE9"/>
                </a:solidFill>
                <a:latin typeface="Courier New"/>
              </a:rPr>
              <a:t>{"VALUE_TYPE":"PV",  "GRAIN":"TRADE",    "TRADE_ID":"1000279", "CURRENCY":"EUR", "BASE_PV":…, "PVS":[…509…], "COMPUTED_AT":"…", …}</a:t>
            </a:r>
          </a:p>
          <a:p>
            <a:pPr algn="l">
              <a:spcAft>
                <a:spcPts val="250"/>
              </a:spcAft>
            </a:pPr>
            <a:r>
              <a:rPr sz="950" b="0" i="0">
                <a:solidFill>
                  <a:srgbClr val="F1EEE9"/>
                </a:solidFill>
                <a:latin typeface="Courier New"/>
              </a:rPr>
              <a:t>{"VALUE_TYPE":"PV",  "GRAIN":"POSITION", "POSITION_ID":"POS-…", "CURRENCY":"JPY", "BOOK":"…", "BASE_PV":…, "PVS":[…], …}</a:t>
            </a:r>
          </a:p>
          <a:p>
            <a:pPr algn="l">
              <a:spcAft>
                <a:spcPts val="250"/>
              </a:spcAft>
            </a:pPr>
            <a:r>
              <a:rPr sz="950" b="0" i="0">
                <a:solidFill>
                  <a:srgbClr val="F1EEE9"/>
                </a:solidFill>
                <a:latin typeface="Courier New"/>
              </a:rPr>
              <a:t>{"VALUE_TYPE":"PNL", "GRAIN":"TRADE",    "TRADE_ID":"MX-…",    "CURRENCY":"USD", "PNL":[…509…], …}</a:t>
            </a:r>
          </a:p>
          <a:p>
            <a:pPr algn="l">
              <a:spcAft>
                <a:spcPts val="250"/>
              </a:spcAft>
            </a:pPr>
            <a:r>
              <a:rPr sz="950" b="0" i="0">
                <a:solidFill>
                  <a:srgbClr val="F1EEE9"/>
                </a:solidFill>
                <a:latin typeface="Courier New"/>
              </a:rPr>
              <a:t>{"VALUE_TYPE":"PNL", "GRAIN":"POSITION", "POSITION_ID":"POS-…", "CURRENCY":"USD", "PNL":[…], …}</a:t>
            </a:r>
          </a:p>
        </p:txBody>
      </p:sp>
      <p:sp>
        <p:nvSpPr>
          <p:cNvPr id="53" name="Rectangle 52"/>
          <p:cNvSpPr/>
          <p:nvPr/>
        </p:nvSpPr>
        <p:spPr>
          <a:xfrm>
            <a:off x="777240" y="4389120"/>
            <a:ext cx="3429000" cy="13716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4" name="TextBox 53"/>
          <p:cNvSpPr txBox="1"/>
          <p:nvPr/>
        </p:nvSpPr>
        <p:spPr>
          <a:xfrm>
            <a:off x="905256" y="4443983"/>
            <a:ext cx="3227832" cy="1280160"/>
          </a:xfrm>
          <a:prstGeom prst="rect">
            <a:avLst/>
          </a:prstGeom>
          <a:noFill/>
        </p:spPr>
        <p:txBody>
          <a:bodyPr wrap="square" lIns="0" rIns="0" tIns="0" bIns="0" anchor="t">
            <a:spAutoFit/>
          </a:bodyPr>
          <a:lstStyle/>
          <a:p>
            <a:pPr algn="l">
              <a:spcAft>
                <a:spcPts val="300"/>
              </a:spcAft>
            </a:pPr>
            <a:r>
              <a:rPr sz="1250" b="1" i="0">
                <a:solidFill>
                  <a:srgbClr val="A51C30"/>
                </a:solidFill>
              </a:rPr>
              <a:t>Mix and switch</a:t>
            </a:r>
          </a:p>
          <a:p>
            <a:pPr algn="l" marL="146304" indent="-146304">
              <a:spcAft>
                <a:spcPts val="200"/>
              </a:spcAft>
              <a:buClr>
                <a:srgbClr val="A51C30"/>
              </a:buClr>
              <a:buSzPct val="100000"/>
              <a:buFont typeface="Arial"/>
              <a:buChar char="▪"/>
            </a:pPr>
            <a:r>
              <a:rPr sz="1150" b="0" i="0">
                <a:solidFill>
                  <a:srgbClr val="1A1A1A"/>
                </a:solidFill>
              </a:rPr>
              <a:t>Each system sends its own form and grain; systems mix on one date.</a:t>
            </a:r>
          </a:p>
          <a:p>
            <a:pPr algn="l" marL="146304" indent="-146304">
              <a:spcAft>
                <a:spcPts val="200"/>
              </a:spcAft>
              <a:buClr>
                <a:srgbClr val="A51C30"/>
              </a:buClr>
              <a:buSzPct val="100000"/>
              <a:buFont typeface="Arial"/>
              <a:buChar char="▪"/>
            </a:pPr>
            <a:r>
              <a:rPr sz="1150" b="0" i="0">
                <a:solidFill>
                  <a:srgbClr val="1A1A1A"/>
                </a:solidFill>
              </a:rPr>
              <a:t>A system may switch day to day; each date loads as it stands.</a:t>
            </a:r>
          </a:p>
          <a:p>
            <a:pPr algn="l" marL="146304" indent="-146304">
              <a:buClr>
                <a:srgbClr val="A51C30"/>
              </a:buClr>
              <a:buSzPct val="100000"/>
              <a:buFont typeface="Arial"/>
              <a:buChar char="▪"/>
            </a:pPr>
            <a:r>
              <a:rPr sz="1150" b="0" i="0">
                <a:solidFill>
                  <a:srgbClr val="1A1A1A"/>
                </a:solidFill>
              </a:rPr>
              <a:t>Old files: </a:t>
            </a:r>
            <a:r>
              <a:rPr sz="1000" b="0" i="0">
                <a:solidFill>
                  <a:srgbClr val="1A1A1A"/>
                </a:solidFill>
                <a:latin typeface="Courier New"/>
              </a:rPr>
              <a:t>drishti.py convert --set …</a:t>
            </a:r>
          </a:p>
        </p:txBody>
      </p:sp>
      <p:sp>
        <p:nvSpPr>
          <p:cNvPr id="55" name="Rectangle 54"/>
          <p:cNvSpPr/>
          <p:nvPr/>
        </p:nvSpPr>
        <p:spPr>
          <a:xfrm>
            <a:off x="4389120" y="4389120"/>
            <a:ext cx="2926080" cy="1371600"/>
          </a:xfrm>
          <a:prstGeom prst="rect">
            <a:avLst/>
          </a:prstGeom>
          <a:solidFill>
            <a:srgbClr val="1E1E2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6" name="TextBox 55"/>
          <p:cNvSpPr txBox="1"/>
          <p:nvPr/>
        </p:nvSpPr>
        <p:spPr>
          <a:xfrm>
            <a:off x="4498848" y="4480559"/>
            <a:ext cx="2761488" cy="1234440"/>
          </a:xfrm>
          <a:prstGeom prst="rect">
            <a:avLst/>
          </a:prstGeom>
          <a:noFill/>
        </p:spPr>
        <p:txBody>
          <a:bodyPr wrap="square" lIns="0" rIns="0" tIns="0" bIns="0" anchor="t">
            <a:spAutoFit/>
          </a:bodyPr>
          <a:lstStyle/>
          <a:p>
            <a:pPr algn="l">
              <a:spcAft>
                <a:spcPts val="200"/>
              </a:spcAft>
            </a:pPr>
            <a:r>
              <a:rPr sz="1000" b="0" i="0">
                <a:solidFill>
                  <a:srgbClr val="9AA0A8"/>
                </a:solidFill>
                <a:latin typeface="Courier New"/>
              </a:rPr>
              <a:t># optional cross-check</a:t>
            </a:r>
          </a:p>
          <a:p>
            <a:pPr algn="l">
              <a:spcAft>
                <a:spcPts val="200"/>
              </a:spcAft>
            </a:pPr>
            <a:r>
              <a:rPr sz="1000" b="0" i="0">
                <a:solidFill>
                  <a:srgbClr val="F1EEE9"/>
                </a:solidFill>
                <a:latin typeface="Courier New"/>
              </a:rPr>
              <a:t>drishti.var.inputs:</a:t>
            </a:r>
          </a:p>
          <a:p>
            <a:pPr algn="l">
              <a:spcAft>
                <a:spcPts val="200"/>
              </a:spcAft>
            </a:pPr>
            <a:r>
              <a:rPr sz="1000" b="0" i="0">
                <a:solidFill>
                  <a:srgbClr val="E8A0AC"/>
                </a:solidFill>
                <a:latin typeface="Courier New"/>
              </a:rPr>
              <a:t>  ENDUR:   {form: pv,  grain: trade}</a:t>
            </a:r>
          </a:p>
          <a:p>
            <a:pPr algn="l">
              <a:spcAft>
                <a:spcPts val="200"/>
              </a:spcAft>
            </a:pPr>
            <a:r>
              <a:rPr sz="1000" b="0" i="0">
                <a:solidFill>
                  <a:srgbClr val="E8A0AC"/>
                </a:solidFill>
                <a:latin typeface="Courier New"/>
              </a:rPr>
              <a:t>  CALYPSO: {form: pnl, grain: trade}</a:t>
            </a:r>
          </a:p>
          <a:p>
            <a:pPr algn="l">
              <a:spcAft>
                <a:spcPts val="200"/>
              </a:spcAft>
            </a:pPr>
            <a:r>
              <a:rPr sz="1000" b="0" i="0">
                <a:solidFill>
                  <a:srgbClr val="F1EEE9"/>
                </a:solidFill>
                <a:latin typeface="Courier New"/>
              </a:rPr>
              <a:t>  default: {form: any, grain: any}</a:t>
            </a:r>
          </a:p>
        </p:txBody>
      </p:sp>
      <p:sp>
        <p:nvSpPr>
          <p:cNvPr id="57" name="Rectangle 56"/>
          <p:cNvSpPr/>
          <p:nvPr/>
        </p:nvSpPr>
        <p:spPr>
          <a:xfrm>
            <a:off x="7498079" y="4389120"/>
            <a:ext cx="3913632" cy="137160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8" name="TextBox 57"/>
          <p:cNvSpPr txBox="1"/>
          <p:nvPr/>
        </p:nvSpPr>
        <p:spPr>
          <a:xfrm>
            <a:off x="7626096" y="4443983"/>
            <a:ext cx="3712464" cy="1280160"/>
          </a:xfrm>
          <a:prstGeom prst="rect">
            <a:avLst/>
          </a:prstGeom>
          <a:noFill/>
        </p:spPr>
        <p:txBody>
          <a:bodyPr wrap="square" lIns="0" rIns="0" tIns="0" bIns="0" anchor="t">
            <a:spAutoFit/>
          </a:bodyPr>
          <a:lstStyle/>
          <a:p>
            <a:pPr algn="l">
              <a:spcAft>
                <a:spcPts val="300"/>
              </a:spcAft>
            </a:pPr>
            <a:r>
              <a:rPr sz="1250" b="1" i="0">
                <a:solidFill>
                  <a:srgbClr val="A51C30"/>
                </a:solidFill>
              </a:rPr>
              <a:t>Guarantees</a:t>
            </a:r>
          </a:p>
          <a:p>
            <a:pPr algn="l" marL="146304" indent="-146304">
              <a:spcAft>
                <a:spcPts val="200"/>
              </a:spcAft>
              <a:buClr>
                <a:srgbClr val="A51C30"/>
              </a:buClr>
              <a:buSzPct val="100000"/>
              <a:buFont typeface="Arial"/>
              <a:buChar char="▪"/>
            </a:pPr>
            <a:r>
              <a:rPr sz="1150" b="0" i="0">
                <a:solidFill>
                  <a:srgbClr val="1A1A1A"/>
                </a:solidFill>
              </a:rPr>
              <a:t>One form and grain per system per date (DRS-5210): no double counting</a:t>
            </a:r>
          </a:p>
          <a:p>
            <a:pPr algn="l" marL="146304" indent="-146304">
              <a:spcAft>
                <a:spcPts val="200"/>
              </a:spcAft>
              <a:buClr>
                <a:srgbClr val="A51C30"/>
              </a:buClr>
              <a:buSzPct val="100000"/>
              <a:buFont typeface="Arial"/>
              <a:buChar char="▪"/>
            </a:pPr>
            <a:r>
              <a:rPr sz="1150" b="0" i="0">
                <a:solidFill>
                  <a:srgbClr val="1A1A1A"/>
                </a:solidFill>
              </a:rPr>
              <a:t>Fields missing or wrong (DRS-5208), or against the pin (DRS-5209): refused, never guessed</a:t>
            </a:r>
          </a:p>
          <a:p>
            <a:pPr algn="l" marL="146304" indent="-146304">
              <a:buClr>
                <a:srgbClr val="A51C30"/>
              </a:buClr>
              <a:buSzPct val="100000"/>
              <a:buFont typeface="Arial"/>
              <a:buChar char="▪"/>
            </a:pPr>
            <a:r>
              <a:rPr sz="1150" b="0" i="0">
                <a:solidFill>
                  <a:srgbClr val="1A1A1A"/>
                </a:solidFill>
              </a:rPr>
              <a:t>Provenance shows what each system sent</a:t>
            </a:r>
          </a:p>
        </p:txBody>
      </p:sp>
      <p:sp>
        <p:nvSpPr>
          <p:cNvPr id="59" name="TextBox 58"/>
          <p:cNvSpPr txBox="1"/>
          <p:nvPr/>
        </p:nvSpPr>
        <p:spPr>
          <a:xfrm>
            <a:off x="777240" y="5824728"/>
            <a:ext cx="10634472" cy="429768"/>
          </a:xfrm>
          <a:prstGeom prst="rect">
            <a:avLst/>
          </a:prstGeom>
          <a:noFill/>
        </p:spPr>
        <p:txBody>
          <a:bodyPr wrap="square" lIns="0" rIns="0" tIns="0" bIns="0" anchor="ctr">
            <a:spAutoFit/>
          </a:bodyPr>
          <a:lstStyle/>
          <a:p>
            <a:pPr algn="l"/>
            <a:r>
              <a:rPr sz="1100" b="1" i="0">
                <a:solidFill>
                  <a:srgbClr val="A51C30"/>
                </a:solidFill>
              </a:rPr>
              <a:t>Caveat  </a:t>
            </a:r>
            <a:r>
              <a:rPr sz="1100" b="0" i="0">
                <a:solidFill>
                  <a:srgbClr val="4A5058"/>
                </a:solidFill>
              </a:rPr>
              <a:t>a P&amp;L vector sent without its PV converts to another reporting currency only approximately (at each scenario's rate, without the FX move of its base value; counted as </a:t>
            </a:r>
            <a:r>
              <a:rPr sz="1000" b="0" i="0">
                <a:solidFill>
                  <a:srgbClr val="4A5058"/>
                </a:solidFill>
                <a:latin typeface="Courier New"/>
              </a:rPr>
              <a:t>tradesWithoutPv</a:t>
            </a:r>
            <a:r>
              <a:rPr sz="1100" b="0" i="0">
                <a:solidFill>
                  <a:srgbClr val="4A5058"/>
                </a:solidFill>
              </a:rPr>
              <a:t>). Scenario PVs give exact multi-currency VaR.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DATA CONTRACTS · CONTRACT 1.8</a:t>
            </a:r>
          </a:p>
        </p:txBody>
      </p:sp>
      <p:sp>
        <p:nvSpPr>
          <p:cNvPr id="3" name="Title 2"/>
          <p:cNvSpPr>
            <a:spLocks noGrp="1"/>
          </p:cNvSpPr>
          <p:nvPr>
            <p:ph type="title" idx="104"/>
          </p:nvPr>
        </p:nvSpPr>
        <p:spPr/>
        <p:txBody>
          <a:bodyPr/>
          <a:lstStyle/>
          <a:p>
            <a:r>
              <a:t>Six input contracts, JSONL on the wire, every check named</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TextBox 25"/>
          <p:cNvSpPr txBox="1"/>
          <p:nvPr/>
        </p:nvSpPr>
        <p:spPr>
          <a:xfrm>
            <a:off x="777240" y="1371600"/>
            <a:ext cx="10634472" cy="274320"/>
          </a:xfrm>
          <a:prstGeom prst="rect">
            <a:avLst/>
          </a:prstGeom>
          <a:noFill/>
        </p:spPr>
        <p:txBody>
          <a:bodyPr wrap="square" lIns="0" rIns="0" tIns="0" bIns="0" anchor="ctr">
            <a:spAutoFit/>
          </a:bodyPr>
          <a:lstStyle/>
          <a:p>
            <a:pPr algn="l"/>
            <a:r>
              <a:rPr sz="1200" b="1" i="0">
                <a:solidFill>
                  <a:srgbClr val="A51C30"/>
                </a:solidFill>
              </a:rPr>
              <a:t>JSONL: </a:t>
            </a:r>
            <a:r>
              <a:rPr sz="1150" b="0" i="0">
                <a:solidFill>
                  <a:srgbClr val="4A5058"/>
                </a:solidFill>
              </a:rPr>
              <a:t>one JSON object a line, UTF-8, .jsonl or .jsonl.gz; each line exactly its contract's fields. Key fields of the as-built contracts:</a:t>
            </a:r>
          </a:p>
        </p:txBody>
      </p:sp>
      <p:sp>
        <p:nvSpPr>
          <p:cNvPr id="27" name="Rectangle 26"/>
          <p:cNvSpPr/>
          <p:nvPr/>
        </p:nvSpPr>
        <p:spPr>
          <a:xfrm>
            <a:off x="777240" y="1737360"/>
            <a:ext cx="3392424" cy="292608"/>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868680" y="1737360"/>
            <a:ext cx="3209544" cy="292608"/>
          </a:xfrm>
          <a:prstGeom prst="rect">
            <a:avLst/>
          </a:prstGeom>
          <a:noFill/>
        </p:spPr>
        <p:txBody>
          <a:bodyPr wrap="square" lIns="0" rIns="0" tIns="0" bIns="0" anchor="ctr">
            <a:spAutoFit/>
          </a:bodyPr>
          <a:lstStyle/>
          <a:p>
            <a:pPr algn="l"/>
            <a:r>
              <a:rPr sz="1150" b="1" i="0">
                <a:solidFill>
                  <a:srgbClr val="FFFFFF"/>
                </a:solidFill>
                <a:latin typeface="Courier New"/>
              </a:rPr>
              <a:t>scenario-pv</a:t>
            </a:r>
            <a:r>
              <a:rPr sz="1050" b="0" i="0">
                <a:solidFill>
                  <a:srgbClr val="F6E6E9"/>
                </a:solidFill>
              </a:rPr>
              <a:t>  SPV · a trade × date × set</a:t>
            </a:r>
          </a:p>
        </p:txBody>
      </p:sp>
      <p:graphicFrame>
        <p:nvGraphicFramePr>
          <p:cNvPr id="29" name="Table 28"/>
          <p:cNvGraphicFramePr>
            <a:graphicFrameLocks noGrp="1"/>
          </p:cNvGraphicFramePr>
          <p:nvPr/>
        </p:nvGraphicFramePr>
        <p:xfrm>
          <a:off x="777240" y="2029967"/>
          <a:ext cx="3392424" cy="1234440"/>
        </p:xfrm>
        <a:graphic>
          <a:graphicData uri="http://schemas.openxmlformats.org/drawingml/2006/table">
            <a:tbl>
              <a:tblPr firstRow="0" bandRow="0">
                <a:tableStyleId>{5940675A-B579-460E-94D1-54222C63F5DA}</a:tableStyleId>
              </a:tblPr>
              <a:tblGrid>
                <a:gridCol w="1691640"/>
                <a:gridCol w="1700784"/>
              </a:tblGrid>
              <a:tr h="246888">
                <a:tc>
                  <a:txBody>
                    <a:bodyPr wrap="square"/>
                    <a:lstStyle/>
                    <a:p>
                      <a:r>
                        <a:rPr sz="950" b="1" i="0">
                          <a:solidFill>
                            <a:srgbClr val="8A1626"/>
                          </a:solidFill>
                          <a:latin typeface="Courier New"/>
                        </a:rPr>
                        <a:t>TRADE_ID … TT_BOOK</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trade; LE, desk, book, letter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950" b="1" i="0">
                          <a:solidFill>
                            <a:srgbClr val="8A1626"/>
                          </a:solidFill>
                          <a:latin typeface="Courier New"/>
                        </a:rPr>
                        <a:t>CURRENCY · BASE_PV</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PVs' currency; value today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950" b="1" i="0">
                          <a:solidFill>
                            <a:srgbClr val="8A1626"/>
                          </a:solidFill>
                          <a:latin typeface="Courier New"/>
                        </a:rPr>
                        <a:t>SCENARIO_PV [509]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per scenario; null = failed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950" b="1" i="0">
                          <a:solidFill>
                            <a:srgbClr val="8A1626"/>
                          </a:solidFill>
                          <a:latin typeface="Courier New"/>
                        </a:rPr>
                        <a:t>RUN_KIND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FULL or INTRADAY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950" b="1" i="0">
                          <a:solidFill>
                            <a:srgbClr val="8A1626"/>
                          </a:solidFill>
                          <a:latin typeface="Courier New"/>
                        </a:rPr>
                        <a:t>SCENARIO_SET_ID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and BATCH_ID: the run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
        <p:nvSpPr>
          <p:cNvPr id="30" name="Rectangle 29"/>
          <p:cNvSpPr/>
          <p:nvPr/>
        </p:nvSpPr>
        <p:spPr>
          <a:xfrm>
            <a:off x="4398264" y="1737360"/>
            <a:ext cx="3392424" cy="292608"/>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TextBox 30"/>
          <p:cNvSpPr txBox="1"/>
          <p:nvPr/>
        </p:nvSpPr>
        <p:spPr>
          <a:xfrm>
            <a:off x="4489703" y="1737360"/>
            <a:ext cx="3209544" cy="292608"/>
          </a:xfrm>
          <a:prstGeom prst="rect">
            <a:avLst/>
          </a:prstGeom>
          <a:noFill/>
        </p:spPr>
        <p:txBody>
          <a:bodyPr wrap="square" lIns="0" rIns="0" tIns="0" bIns="0" anchor="ctr">
            <a:spAutoFit/>
          </a:bodyPr>
          <a:lstStyle/>
          <a:p>
            <a:pPr algn="l"/>
            <a:r>
              <a:rPr sz="1150" b="1" i="0">
                <a:solidFill>
                  <a:srgbClr val="FFFFFF"/>
                </a:solidFill>
                <a:latin typeface="Courier New"/>
              </a:rPr>
              <a:t>pnl-vector</a:t>
            </a:r>
            <a:r>
              <a:rPr sz="1050" b="0" i="0">
                <a:solidFill>
                  <a:srgbClr val="F6E6E9"/>
                </a:solidFill>
              </a:rPr>
              <a:t>  PNLV · a trade × date × set</a:t>
            </a:r>
          </a:p>
        </p:txBody>
      </p:sp>
      <p:graphicFrame>
        <p:nvGraphicFramePr>
          <p:cNvPr id="32" name="Table 31"/>
          <p:cNvGraphicFramePr>
            <a:graphicFrameLocks noGrp="1"/>
          </p:cNvGraphicFramePr>
          <p:nvPr/>
        </p:nvGraphicFramePr>
        <p:xfrm>
          <a:off x="4398264" y="2029967"/>
          <a:ext cx="3392424" cy="1234440"/>
        </p:xfrm>
        <a:graphic>
          <a:graphicData uri="http://schemas.openxmlformats.org/drawingml/2006/table">
            <a:tbl>
              <a:tblPr firstRow="0" bandRow="0">
                <a:tableStyleId>{5940675A-B579-460E-94D1-54222C63F5DA}</a:tableStyleId>
              </a:tblPr>
              <a:tblGrid>
                <a:gridCol w="1691640"/>
                <a:gridCol w="1700784"/>
              </a:tblGrid>
              <a:tr h="246888">
                <a:tc>
                  <a:txBody>
                    <a:bodyPr wrap="square"/>
                    <a:lstStyle/>
                    <a:p>
                      <a:r>
                        <a:rPr sz="950" b="1" i="0">
                          <a:solidFill>
                            <a:srgbClr val="8A1626"/>
                          </a:solidFill>
                          <a:latin typeface="Courier New"/>
                        </a:rPr>
                        <a:t>VECTOR_ID · TRADE_ID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PNL-&lt;trade&gt;-HS-509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950" b="1" i="0">
                          <a:solidFill>
                            <a:srgbClr val="8A1626"/>
                          </a:solidFill>
                          <a:latin typeface="Courier New"/>
                        </a:rPr>
                        <a:t>PNL [509]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USD P&amp;L, gain positive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950" b="1" i="0">
                          <a:solidFill>
                            <a:srgbClr val="8A1626"/>
                          </a:solidFill>
                          <a:latin typeface="Courier New"/>
                        </a:rPr>
                        <a:t>PV · REPORTING_CCY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USD value today; USD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950" b="1" i="0">
                          <a:solidFill>
                            <a:srgbClr val="8A1626"/>
                          </a:solidFill>
                          <a:latin typeface="Courier New"/>
                        </a:rPr>
                        <a:t>STATUS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ok, proxied or failed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950" b="1" i="0">
                          <a:solidFill>
                            <a:srgbClr val="8A1626"/>
                          </a:solidFill>
                          <a:latin typeface="Courier New"/>
                        </a:rPr>
                        <a:t>RUN_KIND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as scenario-pv</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
        <p:nvSpPr>
          <p:cNvPr id="33" name="Rectangle 32"/>
          <p:cNvSpPr/>
          <p:nvPr/>
        </p:nvSpPr>
        <p:spPr>
          <a:xfrm>
            <a:off x="8019288" y="1737360"/>
            <a:ext cx="3392424" cy="292608"/>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TextBox 33"/>
          <p:cNvSpPr txBox="1"/>
          <p:nvPr/>
        </p:nvSpPr>
        <p:spPr>
          <a:xfrm>
            <a:off x="8110727" y="1737360"/>
            <a:ext cx="3209544" cy="292608"/>
          </a:xfrm>
          <a:prstGeom prst="rect">
            <a:avLst/>
          </a:prstGeom>
          <a:noFill/>
        </p:spPr>
        <p:txBody>
          <a:bodyPr wrap="square" lIns="0" rIns="0" tIns="0" bIns="0" anchor="ctr">
            <a:spAutoFit/>
          </a:bodyPr>
          <a:lstStyle/>
          <a:p>
            <a:pPr algn="l"/>
            <a:r>
              <a:rPr sz="1150" b="1" i="0">
                <a:solidFill>
                  <a:srgbClr val="FFFFFF"/>
                </a:solidFill>
                <a:latin typeface="Courier New"/>
              </a:rPr>
              <a:t>fx-scenario</a:t>
            </a:r>
            <a:r>
              <a:rPr sz="1050" b="0" i="0">
                <a:solidFill>
                  <a:srgbClr val="F6E6E9"/>
                </a:solidFill>
              </a:rPr>
              <a:t>  FXS · a currency × date</a:t>
            </a:r>
          </a:p>
        </p:txBody>
      </p:sp>
      <p:graphicFrame>
        <p:nvGraphicFramePr>
          <p:cNvPr id="35" name="Table 34"/>
          <p:cNvGraphicFramePr>
            <a:graphicFrameLocks noGrp="1"/>
          </p:cNvGraphicFramePr>
          <p:nvPr/>
        </p:nvGraphicFramePr>
        <p:xfrm>
          <a:off x="8019288" y="2029967"/>
          <a:ext cx="3392424" cy="1234440"/>
        </p:xfrm>
        <a:graphic>
          <a:graphicData uri="http://schemas.openxmlformats.org/drawingml/2006/table">
            <a:tbl>
              <a:tblPr firstRow="0" bandRow="0">
                <a:tableStyleId>{5940675A-B579-460E-94D1-54222C63F5DA}</a:tableStyleId>
              </a:tblPr>
              <a:tblGrid>
                <a:gridCol w="1691640"/>
                <a:gridCol w="1700784"/>
              </a:tblGrid>
              <a:tr h="246888">
                <a:tc>
                  <a:txBody>
                    <a:bodyPr wrap="square"/>
                    <a:lstStyle/>
                    <a:p>
                      <a:r>
                        <a:rPr sz="950" b="1" i="0">
                          <a:solidFill>
                            <a:srgbClr val="8A1626"/>
                          </a:solidFill>
                          <a:latin typeface="Courier New"/>
                        </a:rPr>
                        <a:t>FX_SCENARIO_ID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FXS-&lt;CCY&gt;-HS-509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950" b="1" i="0">
                          <a:solidFill>
                            <a:srgbClr val="8A1626"/>
                          </a:solidFill>
                          <a:latin typeface="Courier New"/>
                        </a:rPr>
                        <a:t>CURRENCY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AUD, CAD, EUR, JPY …</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950" b="1" i="0">
                          <a:solidFill>
                            <a:srgbClr val="8A1626"/>
                          </a:solidFill>
                          <a:latin typeface="Courier New"/>
                        </a:rPr>
                        <a:t>RATE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today, USD per one unit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950" b="1" i="0">
                          <a:solidFill>
                            <a:srgbClr val="8A1626"/>
                          </a:solidFill>
                          <a:latin typeface="Courier New"/>
                        </a:rPr>
                        <a:t>RATES [509]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per scenario, the set's order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950" b="1" i="0">
                          <a:solidFill>
                            <a:srgbClr val="8A1626"/>
                          </a:solidFill>
                          <a:latin typeface="Courier New"/>
                        </a:rPr>
                        <a:t>not sent?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derived from the FX history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
        <p:nvSpPr>
          <p:cNvPr id="36" name="Rectangle 35"/>
          <p:cNvSpPr/>
          <p:nvPr/>
        </p:nvSpPr>
        <p:spPr>
          <a:xfrm>
            <a:off x="777240" y="3374136"/>
            <a:ext cx="3392424" cy="292608"/>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7" name="TextBox 36"/>
          <p:cNvSpPr txBox="1"/>
          <p:nvPr/>
        </p:nvSpPr>
        <p:spPr>
          <a:xfrm>
            <a:off x="868680" y="3374136"/>
            <a:ext cx="3209544" cy="292608"/>
          </a:xfrm>
          <a:prstGeom prst="rect">
            <a:avLst/>
          </a:prstGeom>
          <a:noFill/>
        </p:spPr>
        <p:txBody>
          <a:bodyPr wrap="square" lIns="0" rIns="0" tIns="0" bIns="0" anchor="ctr">
            <a:spAutoFit/>
          </a:bodyPr>
          <a:lstStyle/>
          <a:p>
            <a:pPr algn="l"/>
            <a:r>
              <a:rPr sz="1150" b="1" i="0">
                <a:solidFill>
                  <a:srgbClr val="FFFFFF"/>
                </a:solidFill>
                <a:latin typeface="Courier New"/>
              </a:rPr>
              <a:t>scenario-set</a:t>
            </a:r>
            <a:r>
              <a:rPr sz="1050" b="0" i="0">
                <a:solidFill>
                  <a:srgbClr val="F6E6E9"/>
                </a:solidFill>
              </a:rPr>
              <a:t>  SSET · one row a date</a:t>
            </a:r>
          </a:p>
        </p:txBody>
      </p:sp>
      <p:graphicFrame>
        <p:nvGraphicFramePr>
          <p:cNvPr id="38" name="Table 37"/>
          <p:cNvGraphicFramePr>
            <a:graphicFrameLocks noGrp="1"/>
          </p:cNvGraphicFramePr>
          <p:nvPr/>
        </p:nvGraphicFramePr>
        <p:xfrm>
          <a:off x="777240" y="3666744"/>
          <a:ext cx="3392424" cy="1234440"/>
        </p:xfrm>
        <a:graphic>
          <a:graphicData uri="http://schemas.openxmlformats.org/drawingml/2006/table">
            <a:tbl>
              <a:tblPr firstRow="0" bandRow="0">
                <a:tableStyleId>{5940675A-B579-460E-94D1-54222C63F5DA}</a:tableStyleId>
              </a:tblPr>
              <a:tblGrid>
                <a:gridCol w="1691640"/>
                <a:gridCol w="1700784"/>
              </a:tblGrid>
              <a:tr h="246888">
                <a:tc>
                  <a:txBody>
                    <a:bodyPr wrap="square"/>
                    <a:lstStyle/>
                    <a:p>
                      <a:r>
                        <a:rPr sz="950" b="1" i="0">
                          <a:solidFill>
                            <a:srgbClr val="8A1626"/>
                          </a:solidFill>
                          <a:latin typeface="Courier New"/>
                        </a:rPr>
                        <a:t>SCENARIO_SET_ID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HS-509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950" b="1" i="0">
                          <a:solidFill>
                            <a:srgbClr val="8A1626"/>
                          </a:solidFill>
                          <a:latin typeface="Courier New"/>
                        </a:rPr>
                        <a:t>SCENARIO_DATES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509 days, oldest first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950" b="1" i="0">
                          <a:solidFill>
                            <a:srgbClr val="8A1626"/>
                          </a:solidFill>
                          <a:latin typeface="Courier New"/>
                        </a:rPr>
                        <a:t>WINDOW_START … END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2024-09-17 … 2026-09-29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950" b="1" i="0">
                          <a:solidFill>
                            <a:srgbClr val="8A1626"/>
                          </a:solidFill>
                          <a:latin typeface="Courier New"/>
                        </a:rPr>
                        <a:t>HORIZON_DAYS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950" b="1" i="0">
                          <a:solidFill>
                            <a:srgbClr val="8A1626"/>
                          </a:solidFill>
                          <a:latin typeface="Courier New"/>
                        </a:rPr>
                        <a:t>REVALUATION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full or sensitivities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
        <p:nvSpPr>
          <p:cNvPr id="39" name="Rectangle 38"/>
          <p:cNvSpPr/>
          <p:nvPr/>
        </p:nvSpPr>
        <p:spPr>
          <a:xfrm>
            <a:off x="4398264" y="3374136"/>
            <a:ext cx="3392424" cy="292608"/>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0" name="TextBox 39"/>
          <p:cNvSpPr txBox="1"/>
          <p:nvPr/>
        </p:nvSpPr>
        <p:spPr>
          <a:xfrm>
            <a:off x="4489703" y="3374136"/>
            <a:ext cx="3209544" cy="292608"/>
          </a:xfrm>
          <a:prstGeom prst="rect">
            <a:avLst/>
          </a:prstGeom>
          <a:noFill/>
        </p:spPr>
        <p:txBody>
          <a:bodyPr wrap="square" lIns="0" rIns="0" tIns="0" bIns="0" anchor="ctr">
            <a:spAutoFit/>
          </a:bodyPr>
          <a:lstStyle/>
          <a:p>
            <a:pPr algn="l"/>
            <a:r>
              <a:rPr sz="1150" b="1" i="0">
                <a:solidFill>
                  <a:srgbClr val="FFFFFF"/>
                </a:solidFill>
                <a:latin typeface="Courier New"/>
              </a:rPr>
              <a:t>risk-hierarchy</a:t>
            </a:r>
            <a:r>
              <a:rPr sz="1050" b="0" i="0">
                <a:solidFill>
                  <a:srgbClr val="F6E6E9"/>
                </a:solidFill>
              </a:rPr>
              <a:t>  HIER · a node × date</a:t>
            </a:r>
          </a:p>
        </p:txBody>
      </p:sp>
      <p:graphicFrame>
        <p:nvGraphicFramePr>
          <p:cNvPr id="41" name="Table 40"/>
          <p:cNvGraphicFramePr>
            <a:graphicFrameLocks noGrp="1"/>
          </p:cNvGraphicFramePr>
          <p:nvPr/>
        </p:nvGraphicFramePr>
        <p:xfrm>
          <a:off x="4398264" y="3666744"/>
          <a:ext cx="3392424" cy="1234440"/>
        </p:xfrm>
        <a:graphic>
          <a:graphicData uri="http://schemas.openxmlformats.org/drawingml/2006/table">
            <a:tbl>
              <a:tblPr firstRow="0" bandRow="0">
                <a:tableStyleId>{5940675A-B579-460E-94D1-54222C63F5DA}</a:tableStyleId>
              </a:tblPr>
              <a:tblGrid>
                <a:gridCol w="1691640"/>
                <a:gridCol w="1700784"/>
              </a:tblGrid>
              <a:tr h="246888">
                <a:tc>
                  <a:txBody>
                    <a:bodyPr wrap="square"/>
                    <a:lstStyle/>
                    <a:p>
                      <a:r>
                        <a:rPr sz="950" b="1" i="0">
                          <a:solidFill>
                            <a:srgbClr val="8A1626"/>
                          </a:solidFill>
                          <a:latin typeface="Courier New"/>
                        </a:rPr>
                        <a:t>NODE_ID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MGMT~&lt;id&gt; or LEGAL~&lt;id&gt;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950" b="1" i="0">
                          <a:solidFill>
                            <a:srgbClr val="8A1626"/>
                          </a:solidFill>
                          <a:latin typeface="Courier New"/>
                        </a:rPr>
                        <a:t>HIERARCHY · LEVEL</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MGMT, LEGAL…; open values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950" b="1" i="0">
                          <a:solidFill>
                            <a:srgbClr val="8A1626"/>
                          </a:solidFill>
                          <a:latin typeface="Courier New"/>
                        </a:rPr>
                        <a:t>PARENT_ID · NAME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the tree; display name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950" b="1" i="0">
                          <a:solidFill>
                            <a:srgbClr val="8A1626"/>
                          </a:solidFill>
                          <a:latin typeface="Courier New"/>
                        </a:rPr>
                        <a:t>BOOKS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every book beneath</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950" b="1" i="0">
                          <a:solidFill>
                            <a:srgbClr val="8A1626"/>
                          </a:solidFill>
                          <a:latin typeface="Courier New"/>
                        </a:rPr>
                        <a:t>limits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in var-limit (VLIM), USD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
        <p:nvSpPr>
          <p:cNvPr id="42" name="Rectangle 41"/>
          <p:cNvSpPr/>
          <p:nvPr/>
        </p:nvSpPr>
        <p:spPr>
          <a:xfrm>
            <a:off x="8019288" y="3374136"/>
            <a:ext cx="3392424" cy="292608"/>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3" name="TextBox 42"/>
          <p:cNvSpPr txBox="1"/>
          <p:nvPr/>
        </p:nvSpPr>
        <p:spPr>
          <a:xfrm>
            <a:off x="8110727" y="3374136"/>
            <a:ext cx="3209544" cy="292608"/>
          </a:xfrm>
          <a:prstGeom prst="rect">
            <a:avLst/>
          </a:prstGeom>
          <a:noFill/>
        </p:spPr>
        <p:txBody>
          <a:bodyPr wrap="square" lIns="0" rIns="0" tIns="0" bIns="0" anchor="ctr">
            <a:spAutoFit/>
          </a:bodyPr>
          <a:lstStyle/>
          <a:p>
            <a:pPr algn="l"/>
            <a:r>
              <a:rPr sz="1150" b="1" i="0">
                <a:solidFill>
                  <a:srgbClr val="FFFFFF"/>
                </a:solidFill>
                <a:latin typeface="Courier New"/>
              </a:rPr>
              <a:t>portfolio</a:t>
            </a:r>
            <a:r>
              <a:rPr sz="1050" b="0" i="0">
                <a:solidFill>
                  <a:srgbClr val="F6E6E9"/>
                </a:solidFill>
              </a:rPr>
              <a:t>  PORT · a portfolio × date</a:t>
            </a:r>
          </a:p>
        </p:txBody>
      </p:sp>
      <p:graphicFrame>
        <p:nvGraphicFramePr>
          <p:cNvPr id="44" name="Table 43"/>
          <p:cNvGraphicFramePr>
            <a:graphicFrameLocks noGrp="1"/>
          </p:cNvGraphicFramePr>
          <p:nvPr/>
        </p:nvGraphicFramePr>
        <p:xfrm>
          <a:off x="8019288" y="3666744"/>
          <a:ext cx="3392424" cy="1234440"/>
        </p:xfrm>
        <a:graphic>
          <a:graphicData uri="http://schemas.openxmlformats.org/drawingml/2006/table">
            <a:tbl>
              <a:tblPr firstRow="0" bandRow="0">
                <a:tableStyleId>{5940675A-B579-460E-94D1-54222C63F5DA}</a:tableStyleId>
              </a:tblPr>
              <a:tblGrid>
                <a:gridCol w="1691640"/>
                <a:gridCol w="1700784"/>
              </a:tblGrid>
              <a:tr h="246888">
                <a:tc>
                  <a:txBody>
                    <a:bodyPr wrap="square"/>
                    <a:lstStyle/>
                    <a:p>
                      <a:r>
                        <a:rPr sz="950" b="1" i="0">
                          <a:solidFill>
                            <a:srgbClr val="8A1626"/>
                          </a:solidFill>
                          <a:latin typeface="Courier New"/>
                        </a:rPr>
                        <a:t>PORTFOLIO_ID · NAME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PF-…; scope PORT:&lt;id&gt;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950" b="1" i="0">
                          <a:solidFill>
                            <a:srgbClr val="8A1626"/>
                          </a:solidFill>
                          <a:latin typeface="Courier New"/>
                        </a:rPr>
                        <a:t>TYPE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HIERARCHY, RULE or BASKET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950" b="1" i="0">
                          <a:solidFill>
                            <a:srgbClr val="8A1626"/>
                          </a:solidFill>
                          <a:latin typeface="Courier New"/>
                        </a:rPr>
                        <a:t>DEFINITION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NODE, RULE or MEMBERS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950" b="1" i="0">
                          <a:solidFill>
                            <a:srgbClr val="8A1626"/>
                          </a:solidFill>
                          <a:latin typeface="Courier New"/>
                        </a:rPr>
                        <a:t>OWNER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a user or a team</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950" b="1" i="0">
                          <a:solidFill>
                            <a:srgbClr val="8A1626"/>
                          </a:solidFill>
                          <a:latin typeface="Courier New"/>
                        </a:rPr>
                        <a:t>limit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var-limit, hierarchy PORTFOLIO</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
        <p:nvSpPr>
          <p:cNvPr id="45" name="Rectangle 44"/>
          <p:cNvSpPr/>
          <p:nvPr/>
        </p:nvSpPr>
        <p:spPr>
          <a:xfrm>
            <a:off x="777240" y="5102352"/>
            <a:ext cx="10634472" cy="54864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6" name="TextBox 45"/>
          <p:cNvSpPr txBox="1"/>
          <p:nvPr/>
        </p:nvSpPr>
        <p:spPr>
          <a:xfrm>
            <a:off x="905256" y="5102352"/>
            <a:ext cx="10415016" cy="548640"/>
          </a:xfrm>
          <a:prstGeom prst="rect">
            <a:avLst/>
          </a:prstGeom>
          <a:noFill/>
        </p:spPr>
        <p:txBody>
          <a:bodyPr wrap="square" lIns="0" rIns="0" tIns="0" bIns="0" anchor="ctr">
            <a:spAutoFit/>
          </a:bodyPr>
          <a:lstStyle/>
          <a:p>
            <a:pPr algn="l"/>
            <a:r>
              <a:rPr sz="1150" b="1" i="0">
                <a:solidFill>
                  <a:srgbClr val="8A1626"/>
                </a:solidFill>
              </a:rPr>
              <a:t>Required on every record: </a:t>
            </a:r>
            <a:r>
              <a:rPr sz="1050" b="0" i="0">
                <a:solidFill>
                  <a:srgbClr val="1A1A1A"/>
                </a:solidFill>
                <a:latin typeface="Courier New"/>
              </a:rPr>
              <a:t>VALUE_TYPE</a:t>
            </a:r>
            <a:r>
              <a:rPr sz="1150" b="0" i="0">
                <a:solidFill>
                  <a:srgbClr val="1A1A1A"/>
                </a:solidFill>
              </a:rPr>
              <a:t>, </a:t>
            </a:r>
            <a:r>
              <a:rPr sz="1050" b="0" i="0">
                <a:solidFill>
                  <a:srgbClr val="1A1A1A"/>
                </a:solidFill>
                <a:latin typeface="Courier New"/>
              </a:rPr>
              <a:t>GRAIN</a:t>
            </a:r>
            <a:r>
              <a:rPr sz="1150" b="0" i="0">
                <a:solidFill>
                  <a:srgbClr val="1A1A1A"/>
                </a:solidFill>
              </a:rPr>
              <a:t> with its id, </a:t>
            </a:r>
            <a:r>
              <a:rPr sz="1050" b="0" i="0">
                <a:solidFill>
                  <a:srgbClr val="1A1A1A"/>
                </a:solidFill>
                <a:latin typeface="Courier New"/>
              </a:rPr>
              <a:t>CURRENCY</a:t>
            </a:r>
            <a:r>
              <a:rPr sz="1150" b="0" i="0">
                <a:solidFill>
                  <a:srgbClr val="1A1A1A"/>
                </a:solidFill>
              </a:rPr>
              <a:t>, </a:t>
            </a:r>
            <a:r>
              <a:rPr sz="1050" b="0" i="0">
                <a:solidFill>
                  <a:srgbClr val="1A1A1A"/>
                </a:solidFill>
                <a:latin typeface="Courier New"/>
              </a:rPr>
              <a:t>SOURCE_SYSTEM</a:t>
            </a:r>
            <a:r>
              <a:rPr sz="1150" b="0" i="0">
                <a:solidFill>
                  <a:srgbClr val="1A1A1A"/>
                </a:solidFill>
              </a:rPr>
              <a:t>; GRAIN matches the id. Old files: </a:t>
            </a:r>
            <a:r>
              <a:rPr sz="1050" b="0" i="0">
                <a:solidFill>
                  <a:srgbClr val="1A1A1A"/>
                </a:solidFill>
                <a:latin typeface="Courier New"/>
              </a:rPr>
              <a:t>convert --set</a:t>
            </a:r>
          </a:p>
        </p:txBody>
      </p:sp>
      <p:sp>
        <p:nvSpPr>
          <p:cNvPr id="47" name="Rectangle 46"/>
          <p:cNvSpPr/>
          <p:nvPr/>
        </p:nvSpPr>
        <p:spPr>
          <a:xfrm>
            <a:off x="777240" y="5760720"/>
            <a:ext cx="1273302" cy="475488"/>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8" name="TextBox 47"/>
          <p:cNvSpPr txBox="1"/>
          <p:nvPr/>
        </p:nvSpPr>
        <p:spPr>
          <a:xfrm>
            <a:off x="850392" y="5779007"/>
            <a:ext cx="1163574" cy="457200"/>
          </a:xfrm>
          <a:prstGeom prst="rect">
            <a:avLst/>
          </a:prstGeom>
          <a:noFill/>
        </p:spPr>
        <p:txBody>
          <a:bodyPr wrap="square" lIns="0" rIns="0" tIns="0" bIns="0" anchor="ctr">
            <a:spAutoFit/>
          </a:bodyPr>
          <a:lstStyle/>
          <a:p>
            <a:pPr algn="l"/>
            <a:r>
              <a:rPr sz="1000" b="1" i="0">
                <a:solidFill>
                  <a:srgbClr val="A51C30"/>
                </a:solidFill>
                <a:latin typeface="Courier New"/>
              </a:rPr>
              <a:t>DRS-5201</a:t>
            </a:r>
          </a:p>
          <a:p>
            <a:pPr algn="l"/>
            <a:r>
              <a:rPr sz="1000" b="0" i="0">
                <a:solidFill>
                  <a:srgbClr val="1A1A1A"/>
                </a:solidFill>
              </a:rPr>
              <a:t>length, null, NaN</a:t>
            </a:r>
          </a:p>
        </p:txBody>
      </p:sp>
      <p:sp>
        <p:nvSpPr>
          <p:cNvPr id="49" name="Rectangle 48"/>
          <p:cNvSpPr/>
          <p:nvPr/>
        </p:nvSpPr>
        <p:spPr>
          <a:xfrm>
            <a:off x="2114550" y="5760720"/>
            <a:ext cx="1273302" cy="475488"/>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0" name="TextBox 49"/>
          <p:cNvSpPr txBox="1"/>
          <p:nvPr/>
        </p:nvSpPr>
        <p:spPr>
          <a:xfrm>
            <a:off x="2187702" y="5779007"/>
            <a:ext cx="1163574" cy="457200"/>
          </a:xfrm>
          <a:prstGeom prst="rect">
            <a:avLst/>
          </a:prstGeom>
          <a:noFill/>
        </p:spPr>
        <p:txBody>
          <a:bodyPr wrap="square" lIns="0" rIns="0" tIns="0" bIns="0" anchor="ctr">
            <a:spAutoFit/>
          </a:bodyPr>
          <a:lstStyle/>
          <a:p>
            <a:pPr algn="l"/>
            <a:r>
              <a:rPr sz="1000" b="1" i="0">
                <a:solidFill>
                  <a:srgbClr val="A51C30"/>
                </a:solidFill>
                <a:latin typeface="Courier New"/>
              </a:rPr>
              <a:t>DRS-5206</a:t>
            </a:r>
          </a:p>
          <a:p>
            <a:pPr algn="l"/>
            <a:r>
              <a:rPr sz="1000" b="0" i="0">
                <a:solidFill>
                  <a:srgbClr val="1A1A1A"/>
                </a:solidFill>
              </a:rPr>
              <a:t>a PV failed</a:t>
            </a:r>
          </a:p>
        </p:txBody>
      </p:sp>
      <p:sp>
        <p:nvSpPr>
          <p:cNvPr id="51" name="Rectangle 50"/>
          <p:cNvSpPr/>
          <p:nvPr/>
        </p:nvSpPr>
        <p:spPr>
          <a:xfrm>
            <a:off x="3451860" y="5760720"/>
            <a:ext cx="1273302" cy="475488"/>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2" name="TextBox 51"/>
          <p:cNvSpPr txBox="1"/>
          <p:nvPr/>
        </p:nvSpPr>
        <p:spPr>
          <a:xfrm>
            <a:off x="3525012" y="5779007"/>
            <a:ext cx="1163574" cy="457200"/>
          </a:xfrm>
          <a:prstGeom prst="rect">
            <a:avLst/>
          </a:prstGeom>
          <a:noFill/>
        </p:spPr>
        <p:txBody>
          <a:bodyPr wrap="square" lIns="0" rIns="0" tIns="0" bIns="0" anchor="ctr">
            <a:spAutoFit/>
          </a:bodyPr>
          <a:lstStyle/>
          <a:p>
            <a:pPr algn="l"/>
            <a:r>
              <a:rPr sz="1000" b="1" i="0">
                <a:solidFill>
                  <a:srgbClr val="A51C30"/>
                </a:solidFill>
                <a:latin typeface="Courier New"/>
              </a:rPr>
              <a:t>DRS-5207</a:t>
            </a:r>
          </a:p>
          <a:p>
            <a:pPr algn="l"/>
            <a:r>
              <a:rPr sz="1000" b="0" i="0">
                <a:solidFill>
                  <a:srgbClr val="1A1A1A"/>
                </a:solidFill>
              </a:rPr>
              <a:t>no scenario FX</a:t>
            </a:r>
          </a:p>
        </p:txBody>
      </p:sp>
      <p:sp>
        <p:nvSpPr>
          <p:cNvPr id="53" name="Rectangle 52"/>
          <p:cNvSpPr/>
          <p:nvPr/>
        </p:nvSpPr>
        <p:spPr>
          <a:xfrm>
            <a:off x="4789170" y="5760720"/>
            <a:ext cx="1273302" cy="475488"/>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4" name="TextBox 53"/>
          <p:cNvSpPr txBox="1"/>
          <p:nvPr/>
        </p:nvSpPr>
        <p:spPr>
          <a:xfrm>
            <a:off x="4862322" y="5779007"/>
            <a:ext cx="1163574" cy="457200"/>
          </a:xfrm>
          <a:prstGeom prst="rect">
            <a:avLst/>
          </a:prstGeom>
          <a:noFill/>
        </p:spPr>
        <p:txBody>
          <a:bodyPr wrap="square" lIns="0" rIns="0" tIns="0" bIns="0" anchor="ctr">
            <a:spAutoFit/>
          </a:bodyPr>
          <a:lstStyle/>
          <a:p>
            <a:pPr algn="l"/>
            <a:r>
              <a:rPr sz="1000" b="1" i="0">
                <a:solidFill>
                  <a:srgbClr val="A51C30"/>
                </a:solidFill>
                <a:latin typeface="Courier New"/>
              </a:rPr>
              <a:t>DRS-5208</a:t>
            </a:r>
          </a:p>
          <a:p>
            <a:pPr algn="l"/>
            <a:r>
              <a:rPr sz="1000" b="0" i="0">
                <a:solidFill>
                  <a:srgbClr val="1A1A1A"/>
                </a:solidFill>
              </a:rPr>
              <a:t>record fields wrong</a:t>
            </a:r>
          </a:p>
        </p:txBody>
      </p:sp>
      <p:sp>
        <p:nvSpPr>
          <p:cNvPr id="55" name="Rectangle 54"/>
          <p:cNvSpPr/>
          <p:nvPr/>
        </p:nvSpPr>
        <p:spPr>
          <a:xfrm>
            <a:off x="6126480" y="5760720"/>
            <a:ext cx="1273302" cy="475488"/>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6" name="TextBox 55"/>
          <p:cNvSpPr txBox="1"/>
          <p:nvPr/>
        </p:nvSpPr>
        <p:spPr>
          <a:xfrm>
            <a:off x="6199632" y="5779007"/>
            <a:ext cx="1163574" cy="457200"/>
          </a:xfrm>
          <a:prstGeom prst="rect">
            <a:avLst/>
          </a:prstGeom>
          <a:noFill/>
        </p:spPr>
        <p:txBody>
          <a:bodyPr wrap="square" lIns="0" rIns="0" tIns="0" bIns="0" anchor="ctr">
            <a:spAutoFit/>
          </a:bodyPr>
          <a:lstStyle/>
          <a:p>
            <a:pPr algn="l"/>
            <a:r>
              <a:rPr sz="1000" b="1" i="0">
                <a:solidFill>
                  <a:srgbClr val="A51C30"/>
                </a:solidFill>
                <a:latin typeface="Courier New"/>
              </a:rPr>
              <a:t>DRS-5209</a:t>
            </a:r>
          </a:p>
          <a:p>
            <a:pPr algn="l"/>
            <a:r>
              <a:rPr sz="1000" b="0" i="0">
                <a:solidFill>
                  <a:srgbClr val="1A1A1A"/>
                </a:solidFill>
              </a:rPr>
              <a:t>against the pin</a:t>
            </a:r>
          </a:p>
        </p:txBody>
      </p:sp>
      <p:sp>
        <p:nvSpPr>
          <p:cNvPr id="57" name="Rectangle 56"/>
          <p:cNvSpPr/>
          <p:nvPr/>
        </p:nvSpPr>
        <p:spPr>
          <a:xfrm>
            <a:off x="7463790" y="5760720"/>
            <a:ext cx="1273302" cy="475488"/>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8" name="TextBox 57"/>
          <p:cNvSpPr txBox="1"/>
          <p:nvPr/>
        </p:nvSpPr>
        <p:spPr>
          <a:xfrm>
            <a:off x="7536942" y="5779007"/>
            <a:ext cx="1163574" cy="457200"/>
          </a:xfrm>
          <a:prstGeom prst="rect">
            <a:avLst/>
          </a:prstGeom>
          <a:noFill/>
        </p:spPr>
        <p:txBody>
          <a:bodyPr wrap="square" lIns="0" rIns="0" tIns="0" bIns="0" anchor="ctr">
            <a:spAutoFit/>
          </a:bodyPr>
          <a:lstStyle/>
          <a:p>
            <a:pPr algn="l"/>
            <a:r>
              <a:rPr sz="1000" b="1" i="0">
                <a:solidFill>
                  <a:srgbClr val="A51C30"/>
                </a:solidFill>
                <a:latin typeface="Courier New"/>
              </a:rPr>
              <a:t>DRS-5210</a:t>
            </a:r>
          </a:p>
          <a:p>
            <a:pPr algn="l"/>
            <a:r>
              <a:rPr sz="1000" b="0" i="0">
                <a:solidFill>
                  <a:srgbClr val="1A1A1A"/>
                </a:solidFill>
              </a:rPr>
              <a:t>2nd form or grain</a:t>
            </a:r>
          </a:p>
        </p:txBody>
      </p:sp>
      <p:sp>
        <p:nvSpPr>
          <p:cNvPr id="59" name="Rectangle 58"/>
          <p:cNvSpPr/>
          <p:nvPr/>
        </p:nvSpPr>
        <p:spPr>
          <a:xfrm>
            <a:off x="8801100" y="5760720"/>
            <a:ext cx="1273302" cy="475488"/>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0" name="TextBox 59"/>
          <p:cNvSpPr txBox="1"/>
          <p:nvPr/>
        </p:nvSpPr>
        <p:spPr>
          <a:xfrm>
            <a:off x="8874252" y="5779007"/>
            <a:ext cx="1163574" cy="457200"/>
          </a:xfrm>
          <a:prstGeom prst="rect">
            <a:avLst/>
          </a:prstGeom>
          <a:noFill/>
        </p:spPr>
        <p:txBody>
          <a:bodyPr wrap="square" lIns="0" rIns="0" tIns="0" bIns="0" anchor="ctr">
            <a:spAutoFit/>
          </a:bodyPr>
          <a:lstStyle/>
          <a:p>
            <a:pPr algn="l"/>
            <a:r>
              <a:rPr sz="1000" b="1" i="0">
                <a:solidFill>
                  <a:srgbClr val="A51C30"/>
                </a:solidFill>
                <a:latin typeface="Courier New"/>
              </a:rPr>
              <a:t>DRS-5202</a:t>
            </a:r>
          </a:p>
          <a:p>
            <a:pPr algn="l"/>
            <a:r>
              <a:rPr sz="1000" b="0" i="0">
                <a:solidFill>
                  <a:srgbClr val="1A1A1A"/>
                </a:solidFill>
              </a:rPr>
              <a:t>trade twice</a:t>
            </a:r>
          </a:p>
        </p:txBody>
      </p:sp>
      <p:sp>
        <p:nvSpPr>
          <p:cNvPr id="61" name="Rectangle 60"/>
          <p:cNvSpPr/>
          <p:nvPr/>
        </p:nvSpPr>
        <p:spPr>
          <a:xfrm>
            <a:off x="10138410" y="5760720"/>
            <a:ext cx="1273302" cy="475488"/>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2" name="TextBox 61"/>
          <p:cNvSpPr txBox="1"/>
          <p:nvPr/>
        </p:nvSpPr>
        <p:spPr>
          <a:xfrm>
            <a:off x="10211562" y="5779007"/>
            <a:ext cx="1163574" cy="457200"/>
          </a:xfrm>
          <a:prstGeom prst="rect">
            <a:avLst/>
          </a:prstGeom>
          <a:noFill/>
        </p:spPr>
        <p:txBody>
          <a:bodyPr wrap="square" lIns="0" rIns="0" tIns="0" bIns="0" anchor="ctr">
            <a:spAutoFit/>
          </a:bodyPr>
          <a:lstStyle/>
          <a:p>
            <a:pPr algn="l"/>
            <a:r>
              <a:rPr sz="1000" b="1" i="0">
                <a:solidFill>
                  <a:srgbClr val="A51C30"/>
                </a:solidFill>
                <a:latin typeface="Courier New"/>
              </a:rPr>
              <a:t>DRS-5203</a:t>
            </a:r>
          </a:p>
          <a:p>
            <a:pPr algn="l"/>
            <a:r>
              <a:rPr sz="1000" b="0" i="0">
                <a:solidFill>
                  <a:srgbClr val="1A1A1A"/>
                </a:solidFill>
              </a:rPr>
              <a:t>two runs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hapter background"/>
          <p:cNvSpPr/>
          <p:nvPr/>
        </p:nvSpPr>
        <p:spPr>
          <a:xfrm>
            <a:off x="0" y="0"/>
            <a:ext cx="12191969"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chapter number"/>
          <p:cNvSpPr txBox="1"/>
          <p:nvPr/>
        </p:nvSpPr>
        <p:spPr>
          <a:xfrm>
            <a:off x="4754880" y="-822960"/>
            <a:ext cx="7223760" cy="7863840"/>
          </a:xfrm>
          <a:prstGeom prst="rect">
            <a:avLst/>
          </a:prstGeom>
          <a:noFill/>
        </p:spPr>
        <p:txBody>
          <a:bodyPr wrap="none" lIns="0" rIns="0" tIns="0" bIns="0" anchor="ctr">
            <a:spAutoFit/>
          </a:bodyPr>
          <a:lstStyle/>
          <a:p>
            <a:pPr algn="r"/>
            <a:r>
              <a:rPr sz="42000" b="1" i="0">
                <a:solidFill>
                  <a:srgbClr val="B8394C"/>
                </a:solidFill>
              </a:rPr>
              <a:t>04</a:t>
            </a:r>
          </a:p>
        </p:txBody>
      </p:sp>
      <p:sp>
        <p:nvSpPr>
          <p:cNvPr id="4" name="chapter name"/>
          <p:cNvSpPr txBox="1"/>
          <p:nvPr/>
        </p:nvSpPr>
        <p:spPr>
          <a:xfrm>
            <a:off x="822960" y="2514600"/>
            <a:ext cx="6949440" cy="1828800"/>
          </a:xfrm>
          <a:prstGeom prst="rect">
            <a:avLst/>
          </a:prstGeom>
          <a:noFill/>
        </p:spPr>
        <p:txBody>
          <a:bodyPr wrap="square" lIns="0" rIns="0" tIns="0" bIns="0" anchor="ctr">
            <a:spAutoFit/>
          </a:bodyPr>
          <a:lstStyle/>
          <a:p>
            <a:pPr algn="l"/>
            <a:r>
              <a:rPr sz="4400" b="1" i="0">
                <a:solidFill>
                  <a:srgbClr val="FFFFFF"/>
                </a:solidFill>
              </a:rPr>
              <a:t>Computed, never stored</a:t>
            </a:r>
          </a:p>
        </p:txBody>
      </p:sp>
      <p:pic>
        <p:nvPicPr>
          <p:cNvPr id="5" name="Drishti mark" descr="Drishti logo: an eye between curly brackets"/>
          <p:cNvPicPr>
            <a:picLocks noChangeAspect="1"/>
          </p:cNvPicPr>
          <p:nvPr/>
        </p:nvPicPr>
        <p:blipFill>
          <a:blip r:embed="rId2"/>
          <a:stretch>
            <a:fillRect/>
          </a:stretch>
        </p:blipFill>
        <p:spPr>
          <a:xfrm>
            <a:off x="822960" y="6236208"/>
            <a:ext cx="430911" cy="237744"/>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COMPUTED ATTRIBUTES</a:t>
            </a:r>
          </a:p>
        </p:txBody>
      </p:sp>
      <p:sp>
        <p:nvSpPr>
          <p:cNvPr id="3" name="Title 2"/>
          <p:cNvSpPr>
            <a:spLocks noGrp="1"/>
          </p:cNvSpPr>
          <p:nvPr>
            <p:ph type="title" idx="104"/>
          </p:nvPr>
        </p:nvSpPr>
        <p:spPr/>
        <p:txBody>
          <a:bodyPr/>
          <a:lstStyle/>
          <a:p>
            <a:r>
              <a:t>Computed on demand from trade-grain inputs, never stored</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371600"/>
            <a:ext cx="10634472" cy="566928"/>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Rectangle 26"/>
          <p:cNvSpPr/>
          <p:nvPr/>
        </p:nvSpPr>
        <p:spPr>
          <a:xfrm>
            <a:off x="777240" y="1371600"/>
            <a:ext cx="54864" cy="56692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1005840" y="1371600"/>
            <a:ext cx="10314432" cy="566928"/>
          </a:xfrm>
          <a:prstGeom prst="rect">
            <a:avLst/>
          </a:prstGeom>
          <a:noFill/>
        </p:spPr>
        <p:txBody>
          <a:bodyPr wrap="square" lIns="0" rIns="0" tIns="0" bIns="0" anchor="ctr">
            <a:spAutoFit/>
          </a:bodyPr>
          <a:lstStyle/>
          <a:p>
            <a:pPr algn="l"/>
            <a:r>
              <a:rPr sz="1200" b="1" i="0">
                <a:solidFill>
                  <a:srgbClr val="A51C30"/>
                </a:solidFill>
              </a:rPr>
              <a:t>The principle.  </a:t>
            </a:r>
            <a:r>
              <a:rPr sz="1150" b="0" i="0">
                <a:solidFill>
                  <a:srgbClr val="1A1A1A"/>
                </a:solidFill>
              </a:rPr>
              <a:t>A total is computed from the trades it adds up, once per business date and data version, and shared by everyone who may open the page. A stored copy is shown beside it with the difference, until it is retired.</a:t>
            </a:r>
          </a:p>
        </p:txBody>
      </p:sp>
      <p:graphicFrame>
        <p:nvGraphicFramePr>
          <p:cNvPr id="29" name="Table 28"/>
          <p:cNvGraphicFramePr>
            <a:graphicFrameLocks noGrp="1"/>
          </p:cNvGraphicFramePr>
          <p:nvPr/>
        </p:nvGraphicFramePr>
        <p:xfrm>
          <a:off x="777240" y="2057400"/>
          <a:ext cx="5760719" cy="2359152"/>
        </p:xfrm>
        <a:graphic>
          <a:graphicData uri="http://schemas.openxmlformats.org/drawingml/2006/table">
            <a:tbl>
              <a:tblPr firstRow="0" bandRow="0">
                <a:tableStyleId>{5940675A-B579-460E-94D1-54222C63F5DA}</a:tableStyleId>
              </a:tblPr>
              <a:tblGrid>
                <a:gridCol w="1463040"/>
                <a:gridCol w="4297679"/>
              </a:tblGrid>
              <a:tr h="393192">
                <a:tc>
                  <a:txBody>
                    <a:bodyPr wrap="square"/>
                    <a:lstStyle/>
                    <a:p>
                      <a:r>
                        <a:rPr sz="1100" b="1" i="0">
                          <a:solidFill>
                            <a:srgbClr val="FFFFFF"/>
                          </a:solidFill>
                        </a:rPr>
                        <a:t>Computed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What it is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393192">
                <a:tc>
                  <a:txBody>
                    <a:bodyPr wrap="square"/>
                    <a:lstStyle/>
                    <a:p>
                      <a:r>
                        <a:rPr sz="1050" b="1" i="0">
                          <a:solidFill>
                            <a:srgbClr val="A51C30"/>
                          </a:solidFill>
                          <a:latin typeface="Courier New"/>
                        </a:rPr>
                        <a:t>NSMTM</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a netting set's MtM from its live trades: net, gross parts, netting benefit, CE, past maturity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93192">
                <a:tc>
                  <a:txBody>
                    <a:bodyPr wrap="square"/>
                    <a:lstStyle/>
                    <a:p>
                      <a:r>
                        <a:rPr sz="1050" b="1" i="0">
                          <a:solidFill>
                            <a:srgbClr val="A51C30"/>
                          </a:solidFill>
                          <a:latin typeface="Courier New"/>
                        </a:rPr>
                        <a:t>CPMTM</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a counterparty's MtM and its netting sets, from the trade valuations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93192">
                <a:tc>
                  <a:txBody>
                    <a:bodyPr wrap="square"/>
                    <a:lstStyle/>
                    <a:p>
                      <a:r>
                        <a:rPr sz="1050" b="1" i="0">
                          <a:solidFill>
                            <a:srgbClr val="A51C30"/>
                          </a:solidFill>
                          <a:latin typeface="Courier New"/>
                        </a:rPr>
                        <a:t>SSPNL</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a stress scenario's P&amp;L: every desk, its limit use, breaches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93192">
                <a:tc>
                  <a:txBody>
                    <a:bodyPr wrap="square"/>
                    <a:lstStyle/>
                    <a:p>
                      <a:r>
                        <a:rPr sz="1050" b="1" i="0">
                          <a:solidFill>
                            <a:srgbClr val="A51C30"/>
                          </a:solidFill>
                          <a:latin typeface="Courier New"/>
                        </a:rPr>
                        <a:t>Checks panels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collateral after haircut, credit-limit headroom, the SA-CCR EAD identity, stress limit use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93192">
                <a:tc>
                  <a:txBody>
                    <a:bodyPr wrap="square"/>
                    <a:lstStyle/>
                    <a:p>
                      <a:r>
                        <a:rPr sz="1050" b="1" i="0">
                          <a:solidFill>
                            <a:srgbClr val="A51C30"/>
                          </a:solidFill>
                          <a:latin typeface="Courier New"/>
                        </a:rPr>
                        <a:t>Exposure engine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members and MtM from trade valuations; collateral after haircut; limit from credit-limit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bl>
          </a:graphicData>
        </a:graphic>
      </p:graphicFrame>
      <p:sp>
        <p:nvSpPr>
          <p:cNvPr id="30" name="TextBox 29"/>
          <p:cNvSpPr txBox="1"/>
          <p:nvPr/>
        </p:nvSpPr>
        <p:spPr>
          <a:xfrm>
            <a:off x="777240" y="4526280"/>
            <a:ext cx="5760720" cy="548640"/>
          </a:xfrm>
          <a:prstGeom prst="rect">
            <a:avLst/>
          </a:prstGeom>
          <a:noFill/>
        </p:spPr>
        <p:txBody>
          <a:bodyPr wrap="square" lIns="0" rIns="0" tIns="0" bIns="0" anchor="ctr">
            <a:spAutoFit/>
          </a:bodyPr>
          <a:lstStyle/>
          <a:p>
            <a:pPr algn="l"/>
            <a:r>
              <a:rPr sz="1100" b="1" i="0">
                <a:solidFill>
                  <a:srgbClr val="8A1626"/>
                </a:solidFill>
              </a:rPr>
              <a:t>Live </a:t>
            </a:r>
            <a:r>
              <a:rPr sz="1100" b="0" i="0">
                <a:solidFill>
                  <a:srgbClr val="1A1A1A"/>
                </a:solidFill>
              </a:rPr>
              <a:t>is one rule everywhere: a live status and a maturity not before the valuation date. A live trade past maturity is in no total, and is listed as a data-quality warning.</a:t>
            </a:r>
          </a:p>
        </p:txBody>
      </p:sp>
      <p:pic>
        <p:nvPicPr>
          <p:cNvPr id="31" name="Picture 30" descr="01-netting-set-computed.jpg"/>
          <p:cNvPicPr>
            <a:picLocks noChangeAspect="1"/>
          </p:cNvPicPr>
          <p:nvPr/>
        </p:nvPicPr>
        <p:blipFill>
          <a:blip r:embed="rId2"/>
          <a:stretch>
            <a:fillRect/>
          </a:stretch>
        </p:blipFill>
        <p:spPr>
          <a:xfrm>
            <a:off x="6766559" y="2057400"/>
            <a:ext cx="4645152" cy="1550024"/>
          </a:xfrm>
          <a:prstGeom prst="rect">
            <a:avLst/>
          </a:prstGeom>
          <a:ln w="9525">
            <a:solidFill>
              <a:srgbClr val="E3DED7"/>
            </a:solidFill>
          </a:ln>
        </p:spPr>
      </p:pic>
      <p:sp>
        <p:nvSpPr>
          <p:cNvPr id="32" name="TextBox 31"/>
          <p:cNvSpPr txBox="1"/>
          <p:nvPr/>
        </p:nvSpPr>
        <p:spPr>
          <a:xfrm>
            <a:off x="6766559" y="3634856"/>
            <a:ext cx="4645152" cy="256032"/>
          </a:xfrm>
          <a:prstGeom prst="rect">
            <a:avLst/>
          </a:prstGeom>
          <a:noFill/>
        </p:spPr>
        <p:txBody>
          <a:bodyPr wrap="square" lIns="0" rIns="0" tIns="0" bIns="0" anchor="ctr">
            <a:spAutoFit/>
          </a:bodyPr>
          <a:lstStyle/>
          <a:p>
            <a:pPr algn="l"/>
            <a:r>
              <a:rPr sz="1100" b="0" i="1">
                <a:solidFill>
                  <a:srgbClr val="4A5058"/>
                </a:solidFill>
              </a:rPr>
              <a:t>A netting set: computed, stored and the difference</a:t>
            </a:r>
          </a:p>
        </p:txBody>
      </p:sp>
      <p:pic>
        <p:nvPicPr>
          <p:cNvPr id="33" name="Picture 32" descr="05-collateral-checks.jpg"/>
          <p:cNvPicPr>
            <a:picLocks noChangeAspect="1"/>
          </p:cNvPicPr>
          <p:nvPr/>
        </p:nvPicPr>
        <p:blipFill>
          <a:blip r:embed="rId3"/>
          <a:stretch>
            <a:fillRect/>
          </a:stretch>
        </p:blipFill>
        <p:spPr>
          <a:xfrm>
            <a:off x="6766559" y="4018904"/>
            <a:ext cx="2249424" cy="970706"/>
          </a:xfrm>
          <a:prstGeom prst="rect">
            <a:avLst/>
          </a:prstGeom>
          <a:ln w="9525">
            <a:solidFill>
              <a:srgbClr val="E3DED7"/>
            </a:solidFill>
          </a:ln>
        </p:spPr>
      </p:pic>
      <p:pic>
        <p:nvPicPr>
          <p:cNvPr id="34" name="Picture 33" descr="06-credit-limit-checks.jpg"/>
          <p:cNvPicPr>
            <a:picLocks noChangeAspect="1"/>
          </p:cNvPicPr>
          <p:nvPr/>
        </p:nvPicPr>
        <p:blipFill>
          <a:blip r:embed="rId4"/>
          <a:stretch>
            <a:fillRect/>
          </a:stretch>
        </p:blipFill>
        <p:spPr>
          <a:xfrm>
            <a:off x="9162288" y="4018904"/>
            <a:ext cx="2249424" cy="886702"/>
          </a:xfrm>
          <a:prstGeom prst="rect">
            <a:avLst/>
          </a:prstGeom>
          <a:ln w="9525">
            <a:solidFill>
              <a:srgbClr val="E3DED7"/>
            </a:solidFill>
          </a:ln>
        </p:spPr>
      </p:pic>
      <p:sp>
        <p:nvSpPr>
          <p:cNvPr id="35" name="TextBox 34"/>
          <p:cNvSpPr txBox="1"/>
          <p:nvPr/>
        </p:nvSpPr>
        <p:spPr>
          <a:xfrm>
            <a:off x="6766559" y="5017042"/>
            <a:ext cx="4645152" cy="256032"/>
          </a:xfrm>
          <a:prstGeom prst="rect">
            <a:avLst/>
          </a:prstGeom>
          <a:noFill/>
        </p:spPr>
        <p:txBody>
          <a:bodyPr wrap="square" lIns="0" rIns="0" tIns="0" bIns="0" anchor="ctr">
            <a:spAutoFit/>
          </a:bodyPr>
          <a:lstStyle/>
          <a:p>
            <a:pPr algn="l"/>
            <a:r>
              <a:rPr sz="1100" b="0" i="1">
                <a:solidFill>
                  <a:srgbClr val="4A5058"/>
                </a:solidFill>
              </a:rPr>
              <a:t>Checks: the collateral balance and the credit limit</a:t>
            </a:r>
          </a:p>
        </p:txBody>
      </p:sp>
      <p:sp>
        <p:nvSpPr>
          <p:cNvPr id="36" name="Rectangle 35"/>
          <p:cNvSpPr/>
          <p:nvPr/>
        </p:nvSpPr>
        <p:spPr>
          <a:xfrm>
            <a:off x="777240" y="5340096"/>
            <a:ext cx="10634472" cy="92354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7" name="Rectangle 36"/>
          <p:cNvSpPr/>
          <p:nvPr/>
        </p:nvSpPr>
        <p:spPr>
          <a:xfrm>
            <a:off x="777240" y="5340096"/>
            <a:ext cx="45720" cy="92354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TextBox 37"/>
          <p:cNvSpPr txBox="1"/>
          <p:nvPr/>
        </p:nvSpPr>
        <p:spPr>
          <a:xfrm>
            <a:off x="932688" y="5404104"/>
            <a:ext cx="10396728" cy="832104"/>
          </a:xfrm>
          <a:prstGeom prst="rect">
            <a:avLst/>
          </a:prstGeom>
          <a:noFill/>
        </p:spPr>
        <p:txBody>
          <a:bodyPr wrap="square" lIns="0" rIns="0" tIns="0" bIns="0" anchor="t">
            <a:spAutoFit/>
          </a:bodyPr>
          <a:lstStyle/>
          <a:p>
            <a:pPr algn="l">
              <a:spcAft>
                <a:spcPts val="300"/>
              </a:spcAft>
            </a:pPr>
            <a:r>
              <a:rPr sz="1300" b="1" i="0">
                <a:solidFill>
                  <a:srgbClr val="8A1626"/>
                </a:solidFill>
              </a:rPr>
              <a:t>Why</a:t>
            </a:r>
          </a:p>
          <a:p>
            <a:pPr algn="l" marL="146304" indent="-146304">
              <a:spcAft>
                <a:spcPts val="200"/>
              </a:spcAft>
              <a:buClr>
                <a:srgbClr val="A51C30"/>
              </a:buClr>
              <a:buSzPct val="100000"/>
              <a:buFont typeface="Arial"/>
              <a:buChar char="▪"/>
            </a:pPr>
            <a:r>
              <a:rPr sz="1100" b="0" i="0">
                <a:solidFill>
                  <a:srgbClr val="1A1A1A"/>
                </a:solidFill>
              </a:rPr>
              <a:t>One definition per figure: no second copy to drift and no batch job to forget</a:t>
            </a:r>
          </a:p>
          <a:p>
            <a:pPr algn="l" marL="146304" indent="-146304">
              <a:spcAft>
                <a:spcPts val="200"/>
              </a:spcAft>
              <a:buClr>
                <a:srgbClr val="A51C30"/>
              </a:buClr>
              <a:buSzPct val="100000"/>
              <a:buFont typeface="Arial"/>
              <a:buChar char="▪"/>
            </a:pPr>
            <a:r>
              <a:rPr sz="1100" b="0" i="0">
                <a:solidFill>
                  <a:srgbClr val="1A1A1A"/>
                </a:solidFill>
              </a:rPr>
              <a:t>Every total traceable to the trades it adds up; a stored copy is checked, not trusted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COMPUTED ATTRIBUTES · RECONCILIATION</a:t>
            </a:r>
          </a:p>
        </p:txBody>
      </p:sp>
      <p:sp>
        <p:nvSpPr>
          <p:cNvPr id="3" name="Title 2"/>
          <p:cNvSpPr>
            <a:spLocks noGrp="1"/>
          </p:cNvSpPr>
          <p:nvPr>
            <p:ph type="title" idx="104"/>
          </p:nvPr>
        </p:nvSpPr>
        <p:spPr/>
        <p:txBody>
          <a:bodyPr/>
          <a:lstStyle/>
          <a:p>
            <a:r>
              <a:t>Reconciled to the stored figures, retired fields guarded, VaR unchanged</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371600"/>
            <a:ext cx="3422904" cy="96012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Rectangle 26"/>
          <p:cNvSpPr/>
          <p:nvPr/>
        </p:nvSpPr>
        <p:spPr>
          <a:xfrm>
            <a:off x="777240" y="1371600"/>
            <a:ext cx="45720" cy="9601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941832" y="1399032"/>
            <a:ext cx="3148584" cy="411480"/>
          </a:xfrm>
          <a:prstGeom prst="rect">
            <a:avLst/>
          </a:prstGeom>
          <a:noFill/>
        </p:spPr>
        <p:txBody>
          <a:bodyPr wrap="square" lIns="0" rIns="0" tIns="0" bIns="0" anchor="ctr">
            <a:spAutoFit/>
          </a:bodyPr>
          <a:lstStyle/>
          <a:p>
            <a:pPr algn="l"/>
            <a:r>
              <a:rPr sz="2100" b="1" i="0">
                <a:solidFill>
                  <a:srgbClr val="8A1626"/>
                </a:solidFill>
              </a:rPr>
              <a:t>55 of 76¹</a:t>
            </a:r>
          </a:p>
        </p:txBody>
      </p:sp>
      <p:sp>
        <p:nvSpPr>
          <p:cNvPr id="29" name="TextBox 28"/>
          <p:cNvSpPr txBox="1"/>
          <p:nvPr/>
        </p:nvSpPr>
        <p:spPr>
          <a:xfrm>
            <a:off x="941832" y="1810512"/>
            <a:ext cx="3148584" cy="502920"/>
          </a:xfrm>
          <a:prstGeom prst="rect">
            <a:avLst/>
          </a:prstGeom>
          <a:noFill/>
        </p:spPr>
        <p:txBody>
          <a:bodyPr wrap="square" lIns="0" rIns="0" tIns="0" bIns="0" anchor="t">
            <a:spAutoFit/>
          </a:bodyPr>
          <a:lstStyle/>
          <a:p>
            <a:pPr algn="l"/>
            <a:r>
              <a:rPr sz="1100" b="0" i="0">
                <a:solidFill>
                  <a:srgbClr val="4A5058"/>
                </a:solidFill>
              </a:rPr>
              <a:t>netting sets: derived net MtM equals the stored one</a:t>
            </a:r>
          </a:p>
        </p:txBody>
      </p:sp>
      <p:sp>
        <p:nvSpPr>
          <p:cNvPr id="30" name="Rectangle 29"/>
          <p:cNvSpPr/>
          <p:nvPr/>
        </p:nvSpPr>
        <p:spPr>
          <a:xfrm>
            <a:off x="4383024" y="1371600"/>
            <a:ext cx="3422904" cy="96012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Rectangle 30"/>
          <p:cNvSpPr/>
          <p:nvPr/>
        </p:nvSpPr>
        <p:spPr>
          <a:xfrm>
            <a:off x="4383024" y="1371600"/>
            <a:ext cx="45720" cy="9601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TextBox 31"/>
          <p:cNvSpPr txBox="1"/>
          <p:nvPr/>
        </p:nvSpPr>
        <p:spPr>
          <a:xfrm>
            <a:off x="4547616" y="1399032"/>
            <a:ext cx="3148584" cy="411480"/>
          </a:xfrm>
          <a:prstGeom prst="rect">
            <a:avLst/>
          </a:prstGeom>
          <a:noFill/>
        </p:spPr>
        <p:txBody>
          <a:bodyPr wrap="square" lIns="0" rIns="0" tIns="0" bIns="0" anchor="ctr">
            <a:spAutoFit/>
          </a:bodyPr>
          <a:lstStyle/>
          <a:p>
            <a:pPr algn="l"/>
            <a:r>
              <a:rPr sz="2100" b="1" i="0">
                <a:solidFill>
                  <a:srgbClr val="8A1626"/>
                </a:solidFill>
              </a:rPr>
              <a:t>21 explained¹</a:t>
            </a:r>
          </a:p>
        </p:txBody>
      </p:sp>
      <p:sp>
        <p:nvSpPr>
          <p:cNvPr id="33" name="TextBox 32"/>
          <p:cNvSpPr txBox="1"/>
          <p:nvPr/>
        </p:nvSpPr>
        <p:spPr>
          <a:xfrm>
            <a:off x="4547616" y="1810512"/>
            <a:ext cx="3148584" cy="502920"/>
          </a:xfrm>
          <a:prstGeom prst="rect">
            <a:avLst/>
          </a:prstGeom>
          <a:noFill/>
        </p:spPr>
        <p:txBody>
          <a:bodyPr wrap="square" lIns="0" rIns="0" tIns="0" bIns="0" anchor="t">
            <a:spAutoFit/>
          </a:bodyPr>
          <a:lstStyle/>
          <a:p>
            <a:pPr algn="l"/>
            <a:r>
              <a:rPr sz="1100" b="0" i="0">
                <a:solidFill>
                  <a:srgbClr val="4A5058"/>
                </a:solidFill>
              </a:rPr>
              <a:t>827 live trades past maturity (MtM 16.7m); added back, 76 of 76 agree to the dollar</a:t>
            </a:r>
          </a:p>
        </p:txBody>
      </p:sp>
      <p:sp>
        <p:nvSpPr>
          <p:cNvPr id="34" name="Rectangle 33"/>
          <p:cNvSpPr/>
          <p:nvPr/>
        </p:nvSpPr>
        <p:spPr>
          <a:xfrm>
            <a:off x="7988808" y="1371600"/>
            <a:ext cx="3422904" cy="96012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Rectangle 34"/>
          <p:cNvSpPr/>
          <p:nvPr/>
        </p:nvSpPr>
        <p:spPr>
          <a:xfrm>
            <a:off x="7988808" y="1371600"/>
            <a:ext cx="45720" cy="9601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xtBox 35"/>
          <p:cNvSpPr txBox="1"/>
          <p:nvPr/>
        </p:nvSpPr>
        <p:spPr>
          <a:xfrm>
            <a:off x="8153400" y="1399032"/>
            <a:ext cx="3148584" cy="411480"/>
          </a:xfrm>
          <a:prstGeom prst="rect">
            <a:avLst/>
          </a:prstGeom>
          <a:noFill/>
        </p:spPr>
        <p:txBody>
          <a:bodyPr wrap="square" lIns="0" rIns="0" tIns="0" bIns="0" anchor="ctr">
            <a:spAutoFit/>
          </a:bodyPr>
          <a:lstStyle/>
          <a:p>
            <a:pPr algn="l"/>
            <a:r>
              <a:rPr sz="2100" b="1" i="0">
                <a:solidFill>
                  <a:srgbClr val="8A1626"/>
                </a:solidFill>
              </a:rPr>
              <a:t>112,041,646¹</a:t>
            </a:r>
          </a:p>
        </p:txBody>
      </p:sp>
      <p:sp>
        <p:nvSpPr>
          <p:cNvPr id="37" name="TextBox 36"/>
          <p:cNvSpPr txBox="1"/>
          <p:nvPr/>
        </p:nvSpPr>
        <p:spPr>
          <a:xfrm>
            <a:off x="8153400" y="1810512"/>
            <a:ext cx="3148584" cy="502920"/>
          </a:xfrm>
          <a:prstGeom prst="rect">
            <a:avLst/>
          </a:prstGeom>
          <a:noFill/>
        </p:spPr>
        <p:txBody>
          <a:bodyPr wrap="square" lIns="0" rIns="0" tIns="0" bIns="0" anchor="t">
            <a:spAutoFit/>
          </a:bodyPr>
          <a:lstStyle/>
          <a:p>
            <a:pPr algn="l"/>
            <a:r>
              <a:rPr sz="1100" b="0" i="0">
                <a:solidFill>
                  <a:srgbClr val="4A5058"/>
                </a:solidFill>
              </a:rPr>
              <a:t>VAR BANK, USD, 2026-09-30: unchanged, no VaR input moved</a:t>
            </a:r>
          </a:p>
        </p:txBody>
      </p:sp>
      <p:sp>
        <p:nvSpPr>
          <p:cNvPr id="38" name="TextBox 37"/>
          <p:cNvSpPr txBox="1"/>
          <p:nvPr/>
        </p:nvSpPr>
        <p:spPr>
          <a:xfrm>
            <a:off x="777240" y="2450592"/>
            <a:ext cx="5989320" cy="274320"/>
          </a:xfrm>
          <a:prstGeom prst="rect">
            <a:avLst/>
          </a:prstGeom>
          <a:noFill/>
        </p:spPr>
        <p:txBody>
          <a:bodyPr wrap="square" lIns="0" rIns="0" tIns="0" bIns="0" anchor="ctr">
            <a:spAutoFit/>
          </a:bodyPr>
          <a:lstStyle/>
          <a:p>
            <a:pPr algn="l"/>
            <a:r>
              <a:rPr sz="1200" b="1" i="0">
                <a:solidFill>
                  <a:srgbClr val="A51C30"/>
                </a:solidFill>
              </a:rPr>
              <a:t>Exposure on its real inputs¹  </a:t>
            </a:r>
            <a:r>
              <a:rPr sz="1050" b="0" i="0">
                <a:solidFill>
                  <a:srgbClr val="4A5058"/>
                </a:solidFill>
              </a:rPr>
              <a:t>collateral after haircut, 2026-09-30, USD</a:t>
            </a:r>
          </a:p>
        </p:txBody>
      </p:sp>
      <p:graphicFrame>
        <p:nvGraphicFramePr>
          <p:cNvPr id="39" name="Table 38"/>
          <p:cNvGraphicFramePr>
            <a:graphicFrameLocks noGrp="1"/>
          </p:cNvGraphicFramePr>
          <p:nvPr/>
        </p:nvGraphicFramePr>
        <p:xfrm>
          <a:off x="777240" y="2743200"/>
          <a:ext cx="5989320" cy="1755648"/>
        </p:xfrm>
        <a:graphic>
          <a:graphicData uri="http://schemas.openxmlformats.org/drawingml/2006/table">
            <a:tbl>
              <a:tblPr firstRow="0" bandRow="0">
                <a:tableStyleId>{5940675A-B579-460E-94D1-54222C63F5DA}</a:tableStyleId>
              </a:tblPr>
              <a:tblGrid>
                <a:gridCol w="2331720"/>
                <a:gridCol w="1828800"/>
                <a:gridCol w="1828800"/>
              </a:tblGrid>
              <a:tr h="292608">
                <a:tc>
                  <a:txBody>
                    <a:bodyPr wrap="square"/>
                    <a:lstStyle/>
                    <a:p>
                      <a:r>
                        <a:rPr sz="1100" b="1" i="0">
                          <a:solidFill>
                            <a:srgbClr val="FFFFFF"/>
                          </a:solidFill>
                        </a:rPr>
                        <a:t>Scope · figure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Stored inputs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Computed inputs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292608">
                <a:tc>
                  <a:txBody>
                    <a:bodyPr wrap="square"/>
                    <a:lstStyle/>
                    <a:p>
                      <a:r>
                        <a:rPr sz="1100" b="1" i="0">
                          <a:solidFill>
                            <a:srgbClr val="8A1626"/>
                          </a:solidFill>
                        </a:rPr>
                        <a:t>BANK · peak PFE 95%</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2,858,060,180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2,897,620,439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92608">
                <a:tc>
                  <a:txBody>
                    <a:bodyPr wrap="square"/>
                    <a:lstStyle/>
                    <a:p>
                      <a:r>
                        <a:rPr sz="1100" b="1" i="0">
                          <a:solidFill>
                            <a:srgbClr val="8A1626"/>
                          </a:solidFill>
                        </a:rPr>
                        <a:t>BANK · EPE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945,577,981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947,202,991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92608">
                <a:tc>
                  <a:txBody>
                    <a:bodyPr wrap="square"/>
                    <a:lstStyle/>
                    <a:p>
                      <a:r>
                        <a:rPr sz="1100" b="1" i="0">
                          <a:solidFill>
                            <a:srgbClr val="8A1626"/>
                          </a:solidFill>
                        </a:rPr>
                        <a:t>BANK · CE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1,532,007,701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1,586,811,699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92608">
                <a:tc>
                  <a:txBody>
                    <a:bodyPr wrap="square"/>
                    <a:lstStyle/>
                    <a:p>
                      <a:r>
                        <a:rPr sz="1100" b="1" i="0">
                          <a:solidFill>
                            <a:srgbClr val="8A1626"/>
                          </a:solidFill>
                        </a:rPr>
                        <a:t>CP-ALDERSHOT · CE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217,565,006</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220,250,163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92608">
                <a:tc>
                  <a:txBody>
                    <a:bodyPr wrap="square"/>
                    <a:lstStyle/>
                    <a:p>
                      <a:r>
                        <a:rPr sz="1100" b="1" i="0">
                          <a:solidFill>
                            <a:srgbClr val="8A1626"/>
                          </a:solidFill>
                        </a:rPr>
                        <a:t>NS-ALDERSHOT-NY · CE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212,580,686</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214,706,654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bl>
          </a:graphicData>
        </a:graphic>
      </p:graphicFrame>
      <p:sp>
        <p:nvSpPr>
          <p:cNvPr id="40" name="TextBox 39"/>
          <p:cNvSpPr txBox="1"/>
          <p:nvPr/>
        </p:nvSpPr>
        <p:spPr>
          <a:xfrm>
            <a:off x="777240" y="4544568"/>
            <a:ext cx="5989320" cy="502920"/>
          </a:xfrm>
          <a:prstGeom prst="rect">
            <a:avLst/>
          </a:prstGeom>
          <a:noFill/>
        </p:spPr>
        <p:txBody>
          <a:bodyPr wrap="square" lIns="0" rIns="0" tIns="0" bIns="0" anchor="ctr">
            <a:spAutoFit/>
          </a:bodyPr>
          <a:lstStyle/>
          <a:p>
            <a:pPr algn="l"/>
            <a:r>
              <a:rPr sz="1100" b="0" i="0">
                <a:solidFill>
                  <a:srgbClr val="1A1A1A"/>
                </a:solidFill>
              </a:rPr>
              <a:t>Holdings 6,304.4m at market value, 6,229.6m after haircut: less held raises a collateralised set's exposure, less posted lowers it.</a:t>
            </a:r>
          </a:p>
        </p:txBody>
      </p:sp>
      <p:sp>
        <p:nvSpPr>
          <p:cNvPr id="41" name="Rectangle 40"/>
          <p:cNvSpPr/>
          <p:nvPr/>
        </p:nvSpPr>
        <p:spPr>
          <a:xfrm>
            <a:off x="6995159" y="2450592"/>
            <a:ext cx="4416552" cy="13716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Rectangle 41"/>
          <p:cNvSpPr/>
          <p:nvPr/>
        </p:nvSpPr>
        <p:spPr>
          <a:xfrm>
            <a:off x="6995159" y="2450592"/>
            <a:ext cx="45720" cy="13716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3" name="TextBox 42"/>
          <p:cNvSpPr txBox="1"/>
          <p:nvPr/>
        </p:nvSpPr>
        <p:spPr>
          <a:xfrm>
            <a:off x="7150607" y="2514600"/>
            <a:ext cx="4178808" cy="1280160"/>
          </a:xfrm>
          <a:prstGeom prst="rect">
            <a:avLst/>
          </a:prstGeom>
          <a:noFill/>
        </p:spPr>
        <p:txBody>
          <a:bodyPr wrap="square" lIns="0" rIns="0" tIns="0" bIns="0" anchor="t">
            <a:spAutoFit/>
          </a:bodyPr>
          <a:lstStyle/>
          <a:p>
            <a:pPr algn="l">
              <a:spcAft>
                <a:spcPts val="300"/>
              </a:spcAft>
            </a:pPr>
            <a:r>
              <a:rPr sz="1300" b="1" i="0">
                <a:solidFill>
                  <a:srgbClr val="8A1626"/>
                </a:solidFill>
              </a:rPr>
              <a:t>Retired fields, guarded</a:t>
            </a:r>
          </a:p>
          <a:p>
            <a:pPr algn="l" marL="146304" indent="-146304">
              <a:spcAft>
                <a:spcPts val="200"/>
              </a:spcAft>
              <a:buClr>
                <a:srgbClr val="A51C30"/>
              </a:buClr>
              <a:buSzPct val="100000"/>
              <a:buFont typeface="Arial"/>
              <a:buChar char="▪"/>
            </a:pPr>
            <a:r>
              <a:rPr sz="1000" b="0" i="0">
                <a:solidFill>
                  <a:srgbClr val="1A1A1A"/>
                </a:solidFill>
                <a:latin typeface="Courier New"/>
              </a:rPr>
              <a:t>netting-set.UTILISATION</a:t>
            </a:r>
            <a:r>
              <a:rPr sz="1100" b="0" i="0">
                <a:solidFill>
                  <a:srgbClr val="1A1A1A"/>
                </a:solidFill>
              </a:rPr>
              <a:t>, </a:t>
            </a:r>
            <a:r>
              <a:rPr sz="1000" b="0" i="0">
                <a:solidFill>
                  <a:srgbClr val="1A1A1A"/>
                </a:solidFill>
                <a:latin typeface="Courier New"/>
              </a:rPr>
              <a:t>risk-hierarchy.LIMIT_VAR</a:t>
            </a:r>
            <a:r>
              <a:rPr sz="1100" b="0" i="0">
                <a:solidFill>
                  <a:srgbClr val="1A1A1A"/>
                </a:solidFill>
              </a:rPr>
              <a:t>, </a:t>
            </a:r>
            <a:r>
              <a:rPr sz="1000" b="0" i="0">
                <a:solidFill>
                  <a:srgbClr val="1A1A1A"/>
                </a:solidFill>
                <a:latin typeface="Courier New"/>
              </a:rPr>
              <a:t>portfolio.LIMIT_VAR</a:t>
            </a:r>
          </a:p>
          <a:p>
            <a:pPr algn="l" marL="146304" indent="-146304">
              <a:spcAft>
                <a:spcPts val="200"/>
              </a:spcAft>
              <a:buClr>
                <a:srgbClr val="A51C30"/>
              </a:buClr>
              <a:buSzPct val="100000"/>
              <a:buFont typeface="Arial"/>
              <a:buChar char="▪"/>
            </a:pPr>
            <a:r>
              <a:rPr sz="1100" b="0" i="0">
                <a:solidFill>
                  <a:srgbClr val="1A1A1A"/>
                </a:solidFill>
              </a:rPr>
              <a:t>The build fails if one returns (tools/contracts.policy.yaml, removed:); VaR limits live only in var-limit</a:t>
            </a:r>
          </a:p>
        </p:txBody>
      </p:sp>
      <p:sp>
        <p:nvSpPr>
          <p:cNvPr id="44" name="Rectangle 43"/>
          <p:cNvSpPr/>
          <p:nvPr/>
        </p:nvSpPr>
        <p:spPr>
          <a:xfrm>
            <a:off x="6995159" y="3913632"/>
            <a:ext cx="4416552" cy="11338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5" name="Rectangle 44"/>
          <p:cNvSpPr/>
          <p:nvPr/>
        </p:nvSpPr>
        <p:spPr>
          <a:xfrm>
            <a:off x="6995159" y="3913632"/>
            <a:ext cx="45720" cy="113385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6" name="TextBox 45"/>
          <p:cNvSpPr txBox="1"/>
          <p:nvPr/>
        </p:nvSpPr>
        <p:spPr>
          <a:xfrm>
            <a:off x="7150607" y="3977640"/>
            <a:ext cx="4178808" cy="1042415"/>
          </a:xfrm>
          <a:prstGeom prst="rect">
            <a:avLst/>
          </a:prstGeom>
          <a:noFill/>
        </p:spPr>
        <p:txBody>
          <a:bodyPr wrap="square" lIns="0" rIns="0" tIns="0" bIns="0" anchor="t">
            <a:spAutoFit/>
          </a:bodyPr>
          <a:lstStyle/>
          <a:p>
            <a:pPr algn="l">
              <a:spcAft>
                <a:spcPts val="300"/>
              </a:spcAft>
            </a:pPr>
            <a:r>
              <a:rPr sz="1300" b="1" i="0">
                <a:solidFill>
                  <a:srgbClr val="8A1626"/>
                </a:solidFill>
              </a:rPr>
              <a:t>The difference is shown, not hidden</a:t>
            </a:r>
          </a:p>
          <a:p>
            <a:pPr algn="l" marL="146304" indent="-146304">
              <a:spcAft>
                <a:spcPts val="200"/>
              </a:spcAft>
              <a:buClr>
                <a:srgbClr val="A51C30"/>
              </a:buClr>
              <a:buSzPct val="100000"/>
              <a:buFont typeface="Arial"/>
              <a:buChar char="▪"/>
            </a:pPr>
            <a:r>
              <a:rPr sz="1100" b="0" i="0">
                <a:solidFill>
                  <a:srgbClr val="1A1A1A"/>
                </a:solidFill>
              </a:rPr>
              <a:t>The netting set's panel: computed, stored, difference</a:t>
            </a:r>
          </a:p>
          <a:p>
            <a:pPr algn="l" marL="146304" indent="-146304">
              <a:spcAft>
                <a:spcPts val="200"/>
              </a:spcAft>
              <a:buClr>
                <a:srgbClr val="A51C30"/>
              </a:buClr>
              <a:buSzPct val="100000"/>
              <a:buFont typeface="Arial"/>
              <a:buChar char="▪"/>
            </a:pPr>
            <a:r>
              <a:rPr sz="1100" b="0" i="0">
                <a:solidFill>
                  <a:srgbClr val="1A1A1A"/>
                </a:solidFill>
              </a:rPr>
              <a:t>CP-ALDERSHOT: stored 520,405,666, derived 518,314,005 (18 trades past maturity)</a:t>
            </a:r>
          </a:p>
        </p:txBody>
      </p:sp>
      <p:sp>
        <p:nvSpPr>
          <p:cNvPr id="47" name="Rectangle 46"/>
          <p:cNvSpPr/>
          <p:nvPr/>
        </p:nvSpPr>
        <p:spPr>
          <a:xfrm>
            <a:off x="777240" y="5166360"/>
            <a:ext cx="10634472" cy="1097280"/>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8" name="Rounded Rectangle 47"/>
          <p:cNvSpPr/>
          <p:nvPr/>
        </p:nvSpPr>
        <p:spPr>
          <a:xfrm>
            <a:off x="914400" y="5276088"/>
            <a:ext cx="736092" cy="201168"/>
          </a:xfrm>
          <a:prstGeom prst="roundRect">
            <a:avLst>
              <a:gd name="adj" fmla="val 50000"/>
            </a:avLst>
          </a:prstGeom>
          <a:solidFill>
            <a:srgbClr val="E9E6E1"/>
          </a:solidFill>
          <a:ln w="12700">
            <a:solidFill>
              <a:srgbClr val="4A5058"/>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4A5058"/>
                </a:solidFill>
              </a:rPr>
              <a:t>NOT BUILT</a:t>
            </a:r>
          </a:p>
        </p:txBody>
      </p:sp>
      <p:sp>
        <p:nvSpPr>
          <p:cNvPr id="49" name="TextBox 48"/>
          <p:cNvSpPr txBox="1"/>
          <p:nvPr/>
        </p:nvSpPr>
        <p:spPr>
          <a:xfrm>
            <a:off x="1787651" y="5212080"/>
            <a:ext cx="9486900" cy="329184"/>
          </a:xfrm>
          <a:prstGeom prst="rect">
            <a:avLst/>
          </a:prstGeom>
          <a:noFill/>
        </p:spPr>
        <p:txBody>
          <a:bodyPr wrap="square" lIns="0" rIns="0" tIns="0" bIns="0" anchor="ctr">
            <a:spAutoFit/>
          </a:bodyPr>
          <a:lstStyle/>
          <a:p>
            <a:pPr algn="l"/>
            <a:r>
              <a:rPr sz="1200" b="1" i="0">
                <a:solidFill>
                  <a:srgbClr val="8A1626"/>
                </a:solidFill>
              </a:rPr>
              <a:t>Still open</a:t>
            </a:r>
          </a:p>
        </p:txBody>
      </p:sp>
      <p:sp>
        <p:nvSpPr>
          <p:cNvPr id="50" name="TextBox 49"/>
          <p:cNvSpPr txBox="1"/>
          <p:nvPr/>
        </p:nvSpPr>
        <p:spPr>
          <a:xfrm>
            <a:off x="914400" y="5550408"/>
            <a:ext cx="10360152" cy="685800"/>
          </a:xfrm>
          <a:prstGeom prst="rect">
            <a:avLst/>
          </a:prstGeom>
          <a:noFill/>
        </p:spPr>
        <p:txBody>
          <a:bodyPr wrap="square" lIns="0" rIns="0" tIns="0" bIns="0" anchor="t">
            <a:spAutoFit/>
          </a:bodyPr>
          <a:lstStyle/>
          <a:p>
            <a:pPr algn="l"/>
            <a:r>
              <a:rPr sz="1100" b="0" i="0">
                <a:solidFill>
                  <a:srgbClr val="1A1A1A"/>
                </a:solidFill>
              </a:rPr>
              <a:t>retiring the stored netting-set and counterparty MtM with the netting-set engine; currency conversion on derived totals (all USD today); BI's MtM measures filtered to live trades; SA-CCR's stored RC still before haircut.</a:t>
            </a:r>
          </a:p>
        </p:txBody>
      </p:sp>
      <p:sp>
        <p:nvSpPr>
          <p:cNvPr id="51" name="Footnotes"/>
          <p:cNvSpPr txBox="1"/>
          <p:nvPr/>
        </p:nvSpPr>
        <p:spPr>
          <a:xfrm>
            <a:off x="2468880" y="6419088"/>
            <a:ext cx="8503920" cy="237744"/>
          </a:xfrm>
          <a:prstGeom prst="rect">
            <a:avLst/>
          </a:prstGeom>
          <a:noFill/>
        </p:spPr>
        <p:txBody>
          <a:bodyPr wrap="square" lIns="0" rIns="0" tIns="0" bIns="0" anchor="ctr">
            <a:spAutoFit/>
          </a:bodyPr>
          <a:lstStyle/>
          <a:p>
            <a:pPr algn="l"/>
            <a:r>
              <a:rPr sz="900" b="0" i="0">
                <a:solidFill>
                  <a:srgbClr val="4A5058"/>
                </a:solidFill>
              </a:rPr>
              <a:t>¹ Measured on the committed test data, 2026-09-30 (COMPUTED_ATTRIBUTES.md §13.2–13.4)</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COMPUTED ATTRIBUTES · ON THE PAGES</a:t>
            </a:r>
          </a:p>
        </p:txBody>
      </p:sp>
      <p:sp>
        <p:nvSpPr>
          <p:cNvPr id="3" name="Title 2"/>
          <p:cNvSpPr>
            <a:spLocks noGrp="1"/>
          </p:cNvSpPr>
          <p:nvPr>
            <p:ph type="title" idx="104"/>
          </p:nvPr>
        </p:nvSpPr>
        <p:spPr/>
        <p:txBody>
          <a:bodyPr/>
          <a:lstStyle/>
          <a:p>
            <a:r>
              <a:t>On the pages: the counterparty and a stress scenario, computed</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pic>
        <p:nvPicPr>
          <p:cNvPr id="26" name="Picture 25" descr="03-counterparty-computed.jpg"/>
          <p:cNvPicPr>
            <a:picLocks noChangeAspect="1"/>
          </p:cNvPicPr>
          <p:nvPr/>
        </p:nvPicPr>
        <p:blipFill>
          <a:blip r:embed="rId2"/>
          <a:stretch>
            <a:fillRect/>
          </a:stretch>
        </p:blipFill>
        <p:spPr>
          <a:xfrm>
            <a:off x="777240" y="1417320"/>
            <a:ext cx="3566160" cy="3188828"/>
          </a:xfrm>
          <a:prstGeom prst="rect">
            <a:avLst/>
          </a:prstGeom>
          <a:ln w="9525">
            <a:solidFill>
              <a:srgbClr val="E3DED7"/>
            </a:solidFill>
          </a:ln>
        </p:spPr>
      </p:pic>
      <p:sp>
        <p:nvSpPr>
          <p:cNvPr id="27" name="TextBox 26"/>
          <p:cNvSpPr txBox="1"/>
          <p:nvPr/>
        </p:nvSpPr>
        <p:spPr>
          <a:xfrm>
            <a:off x="777240" y="4633579"/>
            <a:ext cx="3566160" cy="256032"/>
          </a:xfrm>
          <a:prstGeom prst="rect">
            <a:avLst/>
          </a:prstGeom>
          <a:noFill/>
        </p:spPr>
        <p:txBody>
          <a:bodyPr wrap="square" lIns="0" rIns="0" tIns="0" bIns="0" anchor="ctr">
            <a:spAutoFit/>
          </a:bodyPr>
          <a:lstStyle/>
          <a:p>
            <a:pPr algn="l"/>
            <a:r>
              <a:rPr sz="1100" b="0" i="1">
                <a:solidFill>
                  <a:srgbClr val="4A5058"/>
                </a:solidFill>
              </a:rPr>
              <a:t>A counterparty, computed from the trade valuations</a:t>
            </a:r>
          </a:p>
        </p:txBody>
      </p:sp>
      <p:pic>
        <p:nvPicPr>
          <p:cNvPr id="28" name="Picture 27" descr="04-stress-scenario.jpg"/>
          <p:cNvPicPr>
            <a:picLocks noChangeAspect="1"/>
          </p:cNvPicPr>
          <p:nvPr/>
        </p:nvPicPr>
        <p:blipFill>
          <a:blip r:embed="rId3"/>
          <a:stretch>
            <a:fillRect/>
          </a:stretch>
        </p:blipFill>
        <p:spPr>
          <a:xfrm>
            <a:off x="4617720" y="1417320"/>
            <a:ext cx="6793992" cy="4021813"/>
          </a:xfrm>
          <a:prstGeom prst="rect">
            <a:avLst/>
          </a:prstGeom>
          <a:ln w="9525">
            <a:solidFill>
              <a:srgbClr val="E3DED7"/>
            </a:solidFill>
          </a:ln>
        </p:spPr>
      </p:pic>
      <p:sp>
        <p:nvSpPr>
          <p:cNvPr id="29" name="TextBox 28"/>
          <p:cNvSpPr txBox="1"/>
          <p:nvPr/>
        </p:nvSpPr>
        <p:spPr>
          <a:xfrm>
            <a:off x="4617720" y="5466565"/>
            <a:ext cx="6793992" cy="256032"/>
          </a:xfrm>
          <a:prstGeom prst="rect">
            <a:avLst/>
          </a:prstGeom>
          <a:noFill/>
        </p:spPr>
        <p:txBody>
          <a:bodyPr wrap="square" lIns="0" rIns="0" tIns="0" bIns="0" anchor="ctr">
            <a:spAutoFit/>
          </a:bodyPr>
          <a:lstStyle/>
          <a:p>
            <a:pPr algn="l"/>
            <a:r>
              <a:rPr sz="1100" b="0" i="1">
                <a:solidFill>
                  <a:srgbClr val="4A5058"/>
                </a:solidFill>
              </a:rPr>
              <a:t>A stress scenario: the bank's P&amp;L and every desk under it (SSPNL)</a:t>
            </a:r>
          </a:p>
        </p:txBody>
      </p:sp>
      <p:sp>
        <p:nvSpPr>
          <p:cNvPr id="30" name="Rectangle 29"/>
          <p:cNvSpPr/>
          <p:nvPr/>
        </p:nvSpPr>
        <p:spPr>
          <a:xfrm>
            <a:off x="777240" y="5832325"/>
            <a:ext cx="10634472" cy="431314"/>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Rectangle 30"/>
          <p:cNvSpPr/>
          <p:nvPr/>
        </p:nvSpPr>
        <p:spPr>
          <a:xfrm>
            <a:off x="777240" y="5832325"/>
            <a:ext cx="54864" cy="43131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TextBox 31"/>
          <p:cNvSpPr txBox="1"/>
          <p:nvPr/>
        </p:nvSpPr>
        <p:spPr>
          <a:xfrm>
            <a:off x="1005840" y="5832325"/>
            <a:ext cx="10314432" cy="431314"/>
          </a:xfrm>
          <a:prstGeom prst="rect">
            <a:avLst/>
          </a:prstGeom>
          <a:noFill/>
        </p:spPr>
        <p:txBody>
          <a:bodyPr wrap="square" lIns="0" rIns="0" tIns="0" bIns="0" anchor="ctr">
            <a:spAutoFit/>
          </a:bodyPr>
          <a:lstStyle/>
          <a:p>
            <a:pPr algn="l"/>
            <a:r>
              <a:rPr sz="1200" b="1" i="0">
                <a:solidFill>
                  <a:srgbClr val="A51C30"/>
                </a:solidFill>
              </a:rPr>
              <a:t>Read from the trades, not copied.  </a:t>
            </a:r>
            <a:r>
              <a:rPr sz="1150" b="0" i="0">
                <a:solidFill>
                  <a:srgbClr val="1A1A1A"/>
                </a:solidFill>
              </a:rPr>
              <a:t>A page shows the computed figure with its source, its sum currency and its checks; a stored copy, while it exists, sits beside it with the difference.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hapter background"/>
          <p:cNvSpPr/>
          <p:nvPr/>
        </p:nvSpPr>
        <p:spPr>
          <a:xfrm>
            <a:off x="0" y="0"/>
            <a:ext cx="12191969"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chapter number"/>
          <p:cNvSpPr txBox="1"/>
          <p:nvPr/>
        </p:nvSpPr>
        <p:spPr>
          <a:xfrm>
            <a:off x="4754880" y="-822960"/>
            <a:ext cx="7223760" cy="7863840"/>
          </a:xfrm>
          <a:prstGeom prst="rect">
            <a:avLst/>
          </a:prstGeom>
          <a:noFill/>
        </p:spPr>
        <p:txBody>
          <a:bodyPr wrap="none" lIns="0" rIns="0" tIns="0" bIns="0" anchor="ctr">
            <a:spAutoFit/>
          </a:bodyPr>
          <a:lstStyle/>
          <a:p>
            <a:pPr algn="r"/>
            <a:r>
              <a:rPr sz="42000" b="1" i="0">
                <a:solidFill>
                  <a:srgbClr val="B8394C"/>
                </a:solidFill>
              </a:rPr>
              <a:t>05</a:t>
            </a:r>
          </a:p>
        </p:txBody>
      </p:sp>
      <p:sp>
        <p:nvSpPr>
          <p:cNvPr id="4" name="chapter name"/>
          <p:cNvSpPr txBox="1"/>
          <p:nvPr/>
        </p:nvSpPr>
        <p:spPr>
          <a:xfrm>
            <a:off x="822960" y="2514600"/>
            <a:ext cx="6949440" cy="1828800"/>
          </a:xfrm>
          <a:prstGeom prst="rect">
            <a:avLst/>
          </a:prstGeom>
          <a:noFill/>
        </p:spPr>
        <p:txBody>
          <a:bodyPr wrap="square" lIns="0" rIns="0" tIns="0" bIns="0" anchor="ctr">
            <a:spAutoFit/>
          </a:bodyPr>
          <a:lstStyle/>
          <a:p>
            <a:pPr algn="l"/>
            <a:r>
              <a:rPr sz="4400" b="1" i="0">
                <a:solidFill>
                  <a:srgbClr val="FFFFFF"/>
                </a:solidFill>
              </a:rPr>
              <a:t>Scale and capacity</a:t>
            </a:r>
          </a:p>
        </p:txBody>
      </p:sp>
      <p:pic>
        <p:nvPicPr>
          <p:cNvPr id="5" name="Drishti mark" descr="Drishti logo: an eye between curly brackets"/>
          <p:cNvPicPr>
            <a:picLocks noChangeAspect="1"/>
          </p:cNvPicPr>
          <p:nvPr/>
        </p:nvPicPr>
        <p:blipFill>
          <a:blip r:embed="rId2"/>
          <a:stretch>
            <a:fillRect/>
          </a:stretch>
        </p:blipFill>
        <p:spPr>
          <a:xfrm>
            <a:off x="822960" y="6236208"/>
            <a:ext cx="430911" cy="237744"/>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HOW IT SCALES</a:t>
            </a:r>
          </a:p>
        </p:txBody>
      </p:sp>
      <p:sp>
        <p:nvSpPr>
          <p:cNvPr id="3" name="Title 2"/>
          <p:cNvSpPr>
            <a:spLocks noGrp="1"/>
          </p:cNvSpPr>
          <p:nvPr>
            <p:ph type="title" idx="104"/>
          </p:nvPr>
        </p:nvSpPr>
        <p:spPr/>
        <p:txBody>
          <a:bodyPr/>
          <a:lstStyle/>
          <a:p>
            <a:r>
              <a:t>Why it is fast: vectors add, one date stays hot, sums run on every core</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63040"/>
            <a:ext cx="3703320" cy="786384"/>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TextBox 26"/>
          <p:cNvSpPr txBox="1"/>
          <p:nvPr/>
        </p:nvSpPr>
        <p:spPr>
          <a:xfrm>
            <a:off x="905256" y="1508760"/>
            <a:ext cx="3474720" cy="713232"/>
          </a:xfrm>
          <a:prstGeom prst="rect">
            <a:avLst/>
          </a:prstGeom>
          <a:noFill/>
        </p:spPr>
        <p:txBody>
          <a:bodyPr wrap="square" lIns="0" rIns="0" tIns="0" bIns="0" anchor="ctr">
            <a:spAutoFit/>
          </a:bodyPr>
          <a:lstStyle/>
          <a:p>
            <a:pPr algn="l">
              <a:spcAft>
                <a:spcPts val="200"/>
              </a:spcAft>
            </a:pPr>
            <a:r>
              <a:rPr sz="1250" b="1" i="0">
                <a:solidFill>
                  <a:srgbClr val="8A1626"/>
                </a:solidFill>
              </a:rPr>
              <a:t>Consumers</a:t>
            </a:r>
          </a:p>
          <a:p>
            <a:pPr algn="l"/>
            <a:r>
              <a:rPr sz="1100" b="0" i="0">
                <a:solidFill>
                  <a:srgbClr val="4A5058"/>
                </a:solidFill>
              </a:rPr>
              <a:t>console · CLI · REST · BI · computed kinds</a:t>
            </a:r>
          </a:p>
        </p:txBody>
      </p:sp>
      <p:cxnSp>
        <p:nvCxnSpPr>
          <p:cNvPr id="28" name="Connector 27"/>
          <p:cNvCxnSpPr/>
          <p:nvPr/>
        </p:nvCxnSpPr>
        <p:spPr>
          <a:xfrm flipV="1">
            <a:off x="2628900" y="2258568"/>
            <a:ext cx="0" cy="164592"/>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ectangle 28"/>
          <p:cNvSpPr/>
          <p:nvPr/>
        </p:nvSpPr>
        <p:spPr>
          <a:xfrm>
            <a:off x="777240" y="2432304"/>
            <a:ext cx="3703320" cy="786384"/>
          </a:xfrm>
          <a:prstGeom prst="rect">
            <a:avLst/>
          </a:prstGeom>
          <a:solidFill>
            <a:srgbClr val="F6E6E9"/>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xtBox 29"/>
          <p:cNvSpPr txBox="1"/>
          <p:nvPr/>
        </p:nvSpPr>
        <p:spPr>
          <a:xfrm>
            <a:off x="905256" y="2478024"/>
            <a:ext cx="3474720" cy="713232"/>
          </a:xfrm>
          <a:prstGeom prst="rect">
            <a:avLst/>
          </a:prstGeom>
          <a:noFill/>
        </p:spPr>
        <p:txBody>
          <a:bodyPr wrap="square" lIns="0" rIns="0" tIns="0" bIns="0" anchor="ctr">
            <a:spAutoFit/>
          </a:bodyPr>
          <a:lstStyle/>
          <a:p>
            <a:pPr algn="l">
              <a:spcAft>
                <a:spcPts val="200"/>
              </a:spcAft>
            </a:pPr>
            <a:r>
              <a:rPr sz="1250" b="1" i="0">
                <a:solidFill>
                  <a:srgbClr val="8A1626"/>
                </a:solidFill>
              </a:rPr>
              <a:t>drishti-server · VarService</a:t>
            </a:r>
          </a:p>
          <a:p>
            <a:pPr algn="l"/>
            <a:r>
              <a:rPr sz="1100" b="0" i="0">
                <a:solidFill>
                  <a:srgbClr val="1A1A1A"/>
                </a:solidFill>
              </a:rPr>
              <a:t>scopes, entitlements, a cache of 512 answers, captures, official records</a:t>
            </a:r>
          </a:p>
        </p:txBody>
      </p:sp>
      <p:cxnSp>
        <p:nvCxnSpPr>
          <p:cNvPr id="31" name="Connector 30"/>
          <p:cNvCxnSpPr/>
          <p:nvPr/>
        </p:nvCxnSpPr>
        <p:spPr>
          <a:xfrm flipV="1">
            <a:off x="2628900" y="3227832"/>
            <a:ext cx="0" cy="164592"/>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Rectangle 31"/>
          <p:cNvSpPr/>
          <p:nvPr/>
        </p:nvSpPr>
        <p:spPr>
          <a:xfrm>
            <a:off x="777240" y="3401568"/>
            <a:ext cx="3703320" cy="786384"/>
          </a:xfrm>
          <a:prstGeom prst="rect">
            <a:avLst/>
          </a:prstGeom>
          <a:solidFill>
            <a:srgbClr val="F7F5F2"/>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TextBox 32"/>
          <p:cNvSpPr txBox="1"/>
          <p:nvPr/>
        </p:nvSpPr>
        <p:spPr>
          <a:xfrm>
            <a:off x="905256" y="3447288"/>
            <a:ext cx="3474720" cy="713232"/>
          </a:xfrm>
          <a:prstGeom prst="rect">
            <a:avLst/>
          </a:prstGeom>
          <a:noFill/>
        </p:spPr>
        <p:txBody>
          <a:bodyPr wrap="square" lIns="0" rIns="0" tIns="0" bIns="0" anchor="ctr">
            <a:spAutoFit/>
          </a:bodyPr>
          <a:lstStyle/>
          <a:p>
            <a:pPr algn="l">
              <a:spcAft>
                <a:spcPts val="200"/>
              </a:spcAft>
            </a:pPr>
            <a:r>
              <a:rPr sz="1250" b="1" i="0">
                <a:solidFill>
                  <a:srgbClr val="8A1626"/>
                </a:solidFill>
              </a:rPr>
              <a:t>drishti-compute · the engine</a:t>
            </a:r>
          </a:p>
          <a:p>
            <a:pPr algn="l"/>
            <a:r>
              <a:rPr sz="1100" b="0" i="0">
                <a:solidFill>
                  <a:srgbClr val="1A1A1A"/>
                </a:solidFill>
              </a:rPr>
              <a:t>VarBook, planner, parallel sums, VarMath (Java); Python for what-if</a:t>
            </a:r>
          </a:p>
        </p:txBody>
      </p:sp>
      <p:cxnSp>
        <p:nvCxnSpPr>
          <p:cNvPr id="34" name="Connector 33"/>
          <p:cNvCxnSpPr/>
          <p:nvPr/>
        </p:nvCxnSpPr>
        <p:spPr>
          <a:xfrm flipV="1">
            <a:off x="2628900" y="4197096"/>
            <a:ext cx="0" cy="164592"/>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ectangle 34"/>
          <p:cNvSpPr/>
          <p:nvPr/>
        </p:nvSpPr>
        <p:spPr>
          <a:xfrm>
            <a:off x="777240" y="4370832"/>
            <a:ext cx="3703320" cy="786384"/>
          </a:xfrm>
          <a:prstGeom prst="rect">
            <a:avLst/>
          </a:prstGeom>
          <a:solidFill>
            <a:srgbClr val="F7F5F2"/>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xtBox 35"/>
          <p:cNvSpPr txBox="1"/>
          <p:nvPr/>
        </p:nvSpPr>
        <p:spPr>
          <a:xfrm>
            <a:off x="905256" y="4416552"/>
            <a:ext cx="3474720" cy="713232"/>
          </a:xfrm>
          <a:prstGeom prst="rect">
            <a:avLst/>
          </a:prstGeom>
          <a:noFill/>
        </p:spPr>
        <p:txBody>
          <a:bodyPr wrap="square" lIns="0" rIns="0" tIns="0" bIns="0" anchor="ctr">
            <a:spAutoFit/>
          </a:bodyPr>
          <a:lstStyle/>
          <a:p>
            <a:pPr algn="l">
              <a:spcAft>
                <a:spcPts val="200"/>
              </a:spcAft>
            </a:pPr>
            <a:r>
              <a:rPr sz="1250" b="1" i="0">
                <a:solidFill>
                  <a:srgbClr val="8A1626"/>
                </a:solidFill>
              </a:rPr>
              <a:t>Tiered memory</a:t>
            </a:r>
          </a:p>
          <a:p>
            <a:pPr algn="l"/>
            <a:r>
              <a:rPr sz="1100" b="0" i="0">
                <a:solidFill>
                  <a:srgbClr val="1A1A1A"/>
                </a:solidFill>
              </a:rPr>
              <a:t>heap: aggregates, columns · hot file: mapped float32 rows · page cache</a:t>
            </a:r>
          </a:p>
        </p:txBody>
      </p:sp>
      <p:cxnSp>
        <p:nvCxnSpPr>
          <p:cNvPr id="37" name="Connector 36"/>
          <p:cNvCxnSpPr/>
          <p:nvPr/>
        </p:nvCxnSpPr>
        <p:spPr>
          <a:xfrm flipV="1">
            <a:off x="2628900" y="5166360"/>
            <a:ext cx="0" cy="164592"/>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Rectangle 37"/>
          <p:cNvSpPr/>
          <p:nvPr/>
        </p:nvSpPr>
        <p:spPr>
          <a:xfrm>
            <a:off x="777240" y="5340096"/>
            <a:ext cx="3703320" cy="786384"/>
          </a:xfrm>
          <a:prstGeom prst="rect">
            <a:avLst/>
          </a:prstGeom>
          <a:solidFill>
            <a:srgbClr val="8A1626"/>
          </a:solidFill>
          <a:ln w="12700">
            <a:solidFill>
              <a:srgbClr val="8A1626"/>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TextBox 38"/>
          <p:cNvSpPr txBox="1"/>
          <p:nvPr/>
        </p:nvSpPr>
        <p:spPr>
          <a:xfrm>
            <a:off x="905256" y="5385816"/>
            <a:ext cx="3474720" cy="713232"/>
          </a:xfrm>
          <a:prstGeom prst="rect">
            <a:avLst/>
          </a:prstGeom>
          <a:noFill/>
        </p:spPr>
        <p:txBody>
          <a:bodyPr wrap="square" lIns="0" rIns="0" tIns="0" bIns="0" anchor="ctr">
            <a:spAutoFit/>
          </a:bodyPr>
          <a:lstStyle/>
          <a:p>
            <a:pPr algn="l">
              <a:spcAft>
                <a:spcPts val="200"/>
              </a:spcAft>
            </a:pPr>
            <a:r>
              <a:rPr sz="1250" b="1" i="0">
                <a:solidFill>
                  <a:srgbClr val="FFFFFF"/>
                </a:solidFill>
              </a:rPr>
              <a:t>Lake · Delta</a:t>
            </a:r>
          </a:p>
          <a:p>
            <a:pPr algn="l"/>
            <a:r>
              <a:rPr sz="1100" b="0" i="0">
                <a:solidFill>
                  <a:srgbClr val="F6E6E9"/>
                </a:solidFill>
              </a:rPr>
              <a:t>float64 vectors, every date, 7 years of time travel</a:t>
            </a:r>
          </a:p>
        </p:txBody>
      </p:sp>
      <p:sp>
        <p:nvSpPr>
          <p:cNvPr id="40" name="Rectangle 39"/>
          <p:cNvSpPr/>
          <p:nvPr/>
        </p:nvSpPr>
        <p:spPr>
          <a:xfrm>
            <a:off x="4754879" y="1463040"/>
            <a:ext cx="3259836" cy="69494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1" name="TextBox 40"/>
          <p:cNvSpPr txBox="1"/>
          <p:nvPr/>
        </p:nvSpPr>
        <p:spPr>
          <a:xfrm>
            <a:off x="4864607" y="1499616"/>
            <a:ext cx="3076956" cy="640080"/>
          </a:xfrm>
          <a:prstGeom prst="rect">
            <a:avLst/>
          </a:prstGeom>
          <a:noFill/>
        </p:spPr>
        <p:txBody>
          <a:bodyPr wrap="square" lIns="0" rIns="0" tIns="0" bIns="0" anchor="ctr">
            <a:spAutoFit/>
          </a:bodyPr>
          <a:lstStyle/>
          <a:p>
            <a:pPr algn="l">
              <a:spcAft>
                <a:spcPts val="100"/>
              </a:spcAft>
            </a:pPr>
            <a:r>
              <a:rPr sz="1200" b="1" i="0">
                <a:solidFill>
                  <a:srgbClr val="8A1626"/>
                </a:solidFill>
              </a:rPr>
              <a:t>Vector math¹</a:t>
            </a:r>
          </a:p>
          <a:p>
            <a:pPr algn="l"/>
            <a:r>
              <a:rPr sz="1100" b="0" i="0">
                <a:solidFill>
                  <a:srgbClr val="4A5058"/>
                </a:solidFill>
              </a:rPr>
              <a:t>509 doubles = 4,072 B a trade or position; hot rows float32 (2,036 B); sums in float64</a:t>
            </a:r>
          </a:p>
        </p:txBody>
      </p:sp>
      <p:sp>
        <p:nvSpPr>
          <p:cNvPr id="42" name="Rectangle 41"/>
          <p:cNvSpPr/>
          <p:nvPr/>
        </p:nvSpPr>
        <p:spPr>
          <a:xfrm>
            <a:off x="8151875" y="1463040"/>
            <a:ext cx="3259836" cy="69494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3" name="TextBox 42"/>
          <p:cNvSpPr txBox="1"/>
          <p:nvPr/>
        </p:nvSpPr>
        <p:spPr>
          <a:xfrm>
            <a:off x="8261603" y="1499616"/>
            <a:ext cx="3076956" cy="640080"/>
          </a:xfrm>
          <a:prstGeom prst="rect">
            <a:avLst/>
          </a:prstGeom>
          <a:noFill/>
        </p:spPr>
        <p:txBody>
          <a:bodyPr wrap="square" lIns="0" rIns="0" tIns="0" bIns="0" anchor="ctr">
            <a:spAutoFit/>
          </a:bodyPr>
          <a:lstStyle/>
          <a:p>
            <a:pPr algn="l">
              <a:spcAft>
                <a:spcPts val="100"/>
              </a:spcAft>
            </a:pPr>
            <a:r>
              <a:rPr sz="1200" b="1" i="0">
                <a:solidFill>
                  <a:srgbClr val="8A1626"/>
                </a:solidFill>
              </a:rPr>
              <a:t>Memory-mapped hot file</a:t>
            </a:r>
          </a:p>
          <a:p>
            <a:pPr algn="l"/>
            <a:r>
              <a:rPr sz="1100" b="0" i="0">
                <a:solidFill>
                  <a:srgbClr val="4A5058"/>
                </a:solidFill>
              </a:rPr>
              <a:t>one file a date; only touched pages resident; 2 dates open, 60 kept on disk</a:t>
            </a:r>
          </a:p>
        </p:txBody>
      </p:sp>
      <p:sp>
        <p:nvSpPr>
          <p:cNvPr id="44" name="Rectangle 43"/>
          <p:cNvSpPr/>
          <p:nvPr/>
        </p:nvSpPr>
        <p:spPr>
          <a:xfrm>
            <a:off x="4754879" y="2249424"/>
            <a:ext cx="3259836" cy="69494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5" name="TextBox 44"/>
          <p:cNvSpPr txBox="1"/>
          <p:nvPr/>
        </p:nvSpPr>
        <p:spPr>
          <a:xfrm>
            <a:off x="4864607" y="2286000"/>
            <a:ext cx="3076956" cy="640080"/>
          </a:xfrm>
          <a:prstGeom prst="rect">
            <a:avLst/>
          </a:prstGeom>
          <a:noFill/>
        </p:spPr>
        <p:txBody>
          <a:bodyPr wrap="square" lIns="0" rIns="0" tIns="0" bIns="0" anchor="ctr">
            <a:spAutoFit/>
          </a:bodyPr>
          <a:lstStyle/>
          <a:p>
            <a:pPr algn="l">
              <a:spcAft>
                <a:spcPts val="100"/>
              </a:spcAft>
            </a:pPr>
            <a:r>
              <a:rPr sz="1200" b="1" i="0">
                <a:solidFill>
                  <a:srgbClr val="8A1626"/>
                </a:solidFill>
              </a:rPr>
              <a:t>Planner over aggregates</a:t>
            </a:r>
          </a:p>
          <a:p>
            <a:pPr algn="l"/>
            <a:r>
              <a:rPr sz="1100" b="0" i="0">
                <a:solidFill>
                  <a:srgbClr val="4A5058"/>
                </a:solidFill>
              </a:rPr>
              <a:t>a node is its aggregate; Markets minus three trades = 4 vector operations</a:t>
            </a:r>
          </a:p>
        </p:txBody>
      </p:sp>
      <p:sp>
        <p:nvSpPr>
          <p:cNvPr id="46" name="Rectangle 45"/>
          <p:cNvSpPr/>
          <p:nvPr/>
        </p:nvSpPr>
        <p:spPr>
          <a:xfrm>
            <a:off x="8151875" y="2249424"/>
            <a:ext cx="3259836" cy="69494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7" name="TextBox 46"/>
          <p:cNvSpPr txBox="1"/>
          <p:nvPr/>
        </p:nvSpPr>
        <p:spPr>
          <a:xfrm>
            <a:off x="8261603" y="2286000"/>
            <a:ext cx="3076956" cy="640080"/>
          </a:xfrm>
          <a:prstGeom prst="rect">
            <a:avLst/>
          </a:prstGeom>
          <a:noFill/>
        </p:spPr>
        <p:txBody>
          <a:bodyPr wrap="square" lIns="0" rIns="0" tIns="0" bIns="0" anchor="ctr">
            <a:spAutoFit/>
          </a:bodyPr>
          <a:lstStyle/>
          <a:p>
            <a:pPr algn="l">
              <a:spcAft>
                <a:spcPts val="100"/>
              </a:spcAft>
            </a:pPr>
            <a:r>
              <a:rPr sz="1200" b="1" i="0">
                <a:solidFill>
                  <a:srgbClr val="8A1626"/>
                </a:solidFill>
              </a:rPr>
              <a:t>Parallel sums</a:t>
            </a:r>
          </a:p>
          <a:p>
            <a:pPr algn="l"/>
            <a:r>
              <a:rPr sz="1100" b="0" i="0">
                <a:solidFill>
                  <a:srgbClr val="4A5058"/>
                </a:solidFill>
              </a:rPr>
              <a:t>slices on every core, added in a fixed order: the same bits every time</a:t>
            </a:r>
          </a:p>
        </p:txBody>
      </p:sp>
      <p:sp>
        <p:nvSpPr>
          <p:cNvPr id="48" name="Rectangle 47"/>
          <p:cNvSpPr/>
          <p:nvPr/>
        </p:nvSpPr>
        <p:spPr>
          <a:xfrm>
            <a:off x="4754879" y="3035808"/>
            <a:ext cx="3259836" cy="69494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9" name="TextBox 48"/>
          <p:cNvSpPr txBox="1"/>
          <p:nvPr/>
        </p:nvSpPr>
        <p:spPr>
          <a:xfrm>
            <a:off x="4864607" y="3072384"/>
            <a:ext cx="3076956" cy="640080"/>
          </a:xfrm>
          <a:prstGeom prst="rect">
            <a:avLst/>
          </a:prstGeom>
          <a:noFill/>
        </p:spPr>
        <p:txBody>
          <a:bodyPr wrap="square" lIns="0" rIns="0" tIns="0" bIns="0" anchor="ctr">
            <a:spAutoFit/>
          </a:bodyPr>
          <a:lstStyle/>
          <a:p>
            <a:pPr algn="l">
              <a:spcAft>
                <a:spcPts val="100"/>
              </a:spcAft>
            </a:pPr>
            <a:r>
              <a:rPr sz="1200" b="1" i="0">
                <a:solidFill>
                  <a:srgbClr val="8A1626"/>
                </a:solidFill>
              </a:rPr>
              <a:t>Currencies built ahead²</a:t>
            </a:r>
          </a:p>
          <a:p>
            <a:pPr algn="l"/>
            <a:r>
              <a:rPr sz="1100" b="0" i="0">
                <a:solidFill>
                  <a:srgbClr val="4A5058"/>
                </a:solidFill>
              </a:rPr>
              <a:t>five books in the background; 21.4 MB a currency a date on the demo</a:t>
            </a:r>
          </a:p>
        </p:txBody>
      </p:sp>
      <p:sp>
        <p:nvSpPr>
          <p:cNvPr id="50" name="Rectangle 49"/>
          <p:cNvSpPr/>
          <p:nvPr/>
        </p:nvSpPr>
        <p:spPr>
          <a:xfrm>
            <a:off x="8151875" y="3035808"/>
            <a:ext cx="3259836" cy="69494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1" name="TextBox 50"/>
          <p:cNvSpPr txBox="1"/>
          <p:nvPr/>
        </p:nvSpPr>
        <p:spPr>
          <a:xfrm>
            <a:off x="8261603" y="3072384"/>
            <a:ext cx="3076956" cy="640080"/>
          </a:xfrm>
          <a:prstGeom prst="rect">
            <a:avLst/>
          </a:prstGeom>
          <a:noFill/>
        </p:spPr>
        <p:txBody>
          <a:bodyPr wrap="square" lIns="0" rIns="0" tIns="0" bIns="0" anchor="ctr">
            <a:spAutoFit/>
          </a:bodyPr>
          <a:lstStyle/>
          <a:p>
            <a:pPr algn="l">
              <a:spcAft>
                <a:spcPts val="100"/>
              </a:spcAft>
            </a:pPr>
            <a:r>
              <a:rPr sz="1200" b="1" i="0">
                <a:solidFill>
                  <a:srgbClr val="8A1626"/>
                </a:solidFill>
              </a:rPr>
              <a:t>Per-trade-currency totals</a:t>
            </a:r>
          </a:p>
          <a:p>
            <a:pPr algn="l"/>
            <a:r>
              <a:rPr sz="1100" b="0" i="0">
                <a:solidFill>
                  <a:srgbClr val="4A5058"/>
                </a:solidFill>
              </a:rPr>
              <a:t>a headline in any currency from a node's few currency sums, exact</a:t>
            </a:r>
          </a:p>
        </p:txBody>
      </p:sp>
      <p:sp>
        <p:nvSpPr>
          <p:cNvPr id="52" name="Rectangle 51"/>
          <p:cNvSpPr/>
          <p:nvPr/>
        </p:nvSpPr>
        <p:spPr>
          <a:xfrm>
            <a:off x="4754879" y="3822191"/>
            <a:ext cx="3259836" cy="69494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3" name="TextBox 52"/>
          <p:cNvSpPr txBox="1"/>
          <p:nvPr/>
        </p:nvSpPr>
        <p:spPr>
          <a:xfrm>
            <a:off x="4864607" y="3858768"/>
            <a:ext cx="3076956" cy="640080"/>
          </a:xfrm>
          <a:prstGeom prst="rect">
            <a:avLst/>
          </a:prstGeom>
          <a:noFill/>
        </p:spPr>
        <p:txBody>
          <a:bodyPr wrap="square" lIns="0" rIns="0" tIns="0" bIns="0" anchor="ctr">
            <a:spAutoFit/>
          </a:bodyPr>
          <a:lstStyle/>
          <a:p>
            <a:pPr algn="l">
              <a:spcAft>
                <a:spcPts val="100"/>
              </a:spcAft>
            </a:pPr>
            <a:r>
              <a:rPr sz="1200" b="1" i="0">
                <a:solidFill>
                  <a:srgbClr val="8A1626"/>
                </a:solidFill>
              </a:rPr>
              <a:t>Intraday increments</a:t>
            </a:r>
          </a:p>
          <a:p>
            <a:pPr algn="l"/>
            <a:r>
              <a:rPr sz="1100" b="0" i="0">
                <a:solidFill>
                  <a:srgbClr val="4A5058"/>
                </a:solidFill>
              </a:rPr>
              <a:t>cost ∝ rows changed; Kafka: one commit and one apply per window</a:t>
            </a:r>
          </a:p>
        </p:txBody>
      </p:sp>
      <p:sp>
        <p:nvSpPr>
          <p:cNvPr id="54" name="Rectangle 53"/>
          <p:cNvSpPr/>
          <p:nvPr/>
        </p:nvSpPr>
        <p:spPr>
          <a:xfrm>
            <a:off x="8151875" y="3822191"/>
            <a:ext cx="3259836" cy="69494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5" name="TextBox 54"/>
          <p:cNvSpPr txBox="1"/>
          <p:nvPr/>
        </p:nvSpPr>
        <p:spPr>
          <a:xfrm>
            <a:off x="8261603" y="3858768"/>
            <a:ext cx="3076956" cy="640080"/>
          </a:xfrm>
          <a:prstGeom prst="rect">
            <a:avLst/>
          </a:prstGeom>
          <a:noFill/>
        </p:spPr>
        <p:txBody>
          <a:bodyPr wrap="square" lIns="0" rIns="0" tIns="0" bIns="0" anchor="ctr">
            <a:spAutoFit/>
          </a:bodyPr>
          <a:lstStyle/>
          <a:p>
            <a:pPr algn="l">
              <a:spcAft>
                <a:spcPts val="100"/>
              </a:spcAft>
            </a:pPr>
            <a:r>
              <a:rPr sz="1200" b="1" i="0">
                <a:solidFill>
                  <a:srgbClr val="8A1626"/>
                </a:solidFill>
              </a:rPr>
              <a:t>Cluster and history</a:t>
            </a:r>
          </a:p>
          <a:p>
            <a:pPr algn="l"/>
            <a:r>
              <a:rPr sz="1100" b="0" i="0">
                <a:solidFill>
                  <a:srgbClr val="4A5058"/>
                </a:solidFill>
              </a:rPr>
              <a:t>Drishti*net replicas; VaR sharded across servers; lake history</a:t>
            </a:r>
          </a:p>
        </p:txBody>
      </p:sp>
      <p:graphicFrame>
        <p:nvGraphicFramePr>
          <p:cNvPr id="56" name="Table 55"/>
          <p:cNvGraphicFramePr>
            <a:graphicFrameLocks noGrp="1"/>
          </p:cNvGraphicFramePr>
          <p:nvPr/>
        </p:nvGraphicFramePr>
        <p:xfrm>
          <a:off x="4754879" y="4645152"/>
          <a:ext cx="6656832" cy="1632204"/>
        </p:xfrm>
        <a:graphic>
          <a:graphicData uri="http://schemas.openxmlformats.org/drawingml/2006/table">
            <a:tbl>
              <a:tblPr firstRow="0" bandRow="0">
                <a:tableStyleId>{5940675A-B579-460E-94D1-54222C63F5DA}</a:tableStyleId>
              </a:tblPr>
              <a:tblGrid>
                <a:gridCol w="3063240"/>
                <a:gridCol w="1600200"/>
                <a:gridCol w="1993392"/>
              </a:tblGrid>
              <a:tr h="233172">
                <a:tc>
                  <a:txBody>
                    <a:bodyPr wrap="square"/>
                    <a:lstStyle/>
                    <a:p>
                      <a:r>
                        <a:rPr sz="1100" b="1" i="0">
                          <a:solidFill>
                            <a:srgbClr val="FFFFFF"/>
                          </a:solidFill>
                        </a:rPr>
                        <a:t>Measured³</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Time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233172">
                <a:tc>
                  <a:txBody>
                    <a:bodyPr wrap="square"/>
                    <a:lstStyle/>
                    <a:p>
                      <a:r>
                        <a:rPr sz="1100" b="0" i="0">
                          <a:solidFill>
                            <a:srgbClr val="1A1A1A"/>
                          </a:solidFill>
                        </a:rPr>
                        <a:t>A node's VaR and 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0.48 ms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tiered store, 100,000 trades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33172">
                <a:tc>
                  <a:txBody>
                    <a:bodyPr wrap="square"/>
                    <a:lstStyle/>
                    <a:p>
                      <a:r>
                        <a:rPr sz="1100" b="0" i="0">
                          <a:solidFill>
                            <a:srgbClr val="1A1A1A"/>
                          </a:solidFill>
                        </a:rPr>
                        <a:t>The whole bank from float32 rows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3.4 ms (≈ 60 GB/s)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tiered store, 100,000 trades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33172">
                <a:tc>
                  <a:txBody>
                    <a:bodyPr wrap="square"/>
                    <a:lstStyle/>
                    <a:p>
                      <a:r>
                        <a:rPr sz="1100" b="0" i="0">
                          <a:solidFill>
                            <a:srgbClr val="1A1A1A"/>
                          </a:solidFill>
                        </a:rPr>
                        <a:t>The whole bank from float64 rows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58 ms (≈ 70 GB/s)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heap tier, 1,000,000 trades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33172">
                <a:tc>
                  <a:txBody>
                    <a:bodyPr wrap="square"/>
                    <a:lstStyle/>
                    <a:p>
                      <a:r>
                        <a:rPr sz="1100" b="0" i="0">
                          <a:solidFill>
                            <a:srgbClr val="1A1A1A"/>
                          </a:solidFill>
                        </a:rPr>
                        <a:t>A basket of 50,000 scattered positions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2.6 ms + ≈ 45 ms ids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tiered store, 100,000 trades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33172">
                <a:tc>
                  <a:txBody>
                    <a:bodyPr wrap="square"/>
                    <a:lstStyle/>
                    <a:p>
                      <a:r>
                        <a:rPr sz="1100" b="0" i="0">
                          <a:solidFill>
                            <a:srgbClr val="1A1A1A"/>
                          </a:solidFill>
                        </a:rPr>
                        <a:t>First load of a date (after the lake read)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0.8–1.2 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tiered store, 100,000 trades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33172">
                <a:tc>
                  <a:txBody>
                    <a:bodyPr wrap="square"/>
                    <a:lstStyle/>
                    <a:p>
                      <a:r>
                        <a:rPr sz="1100" b="0" i="0">
                          <a:solidFill>
                            <a:srgbClr val="1A1A1A"/>
                          </a:solidFill>
                        </a:rPr>
                        <a:t>Loading the demo date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572 ms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9,572 trades, the server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
        <p:nvSpPr>
          <p:cNvPr id="57" name="Footnotes"/>
          <p:cNvSpPr txBox="1"/>
          <p:nvPr/>
        </p:nvSpPr>
        <p:spPr>
          <a:xfrm>
            <a:off x="2468880" y="6419088"/>
            <a:ext cx="8503920" cy="237744"/>
          </a:xfrm>
          <a:prstGeom prst="rect">
            <a:avLst/>
          </a:prstGeom>
          <a:noFill/>
        </p:spPr>
        <p:txBody>
          <a:bodyPr wrap="square" lIns="0" rIns="0" tIns="0" bIns="0" anchor="ctr">
            <a:spAutoFit/>
          </a:bodyPr>
          <a:lstStyle/>
          <a:p>
            <a:pPr algn="l"/>
            <a:r>
              <a:rPr sz="900" b="0" i="0">
                <a:solidFill>
                  <a:srgbClr val="4A5058"/>
                </a:solidFill>
              </a:rPr>
              <a:t>¹–³ How these figures were derived: A-1, in the appendix (How it scales)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SIZING · A LARGE BANK: E.G. 2.3M POSITIONS, 15,000 PORTFOLIOS, ≈ 700 LIMIT LETTERS</a:t>
            </a:r>
          </a:p>
        </p:txBody>
      </p:sp>
      <p:sp>
        <p:nvSpPr>
          <p:cNvPr id="3" name="Title 2"/>
          <p:cNvSpPr>
            <a:spLocks noGrp="1"/>
          </p:cNvSpPr>
          <p:nvPr>
            <p:ph type="title" idx="104"/>
          </p:nvPr>
        </p:nvSpPr>
        <p:spPr/>
        <p:txBody>
          <a:bodyPr/>
          <a:lstStyle/>
          <a:p>
            <a:r>
              <a:t>Bank scale, from first principles and the measured figures</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graphicFrame>
        <p:nvGraphicFramePr>
          <p:cNvPr id="26" name="Table 25"/>
          <p:cNvGraphicFramePr>
            <a:graphicFrameLocks noGrp="1"/>
          </p:cNvGraphicFramePr>
          <p:nvPr/>
        </p:nvGraphicFramePr>
        <p:xfrm>
          <a:off x="777240" y="1417320"/>
          <a:ext cx="6903720" cy="4096512"/>
        </p:xfrm>
        <a:graphic>
          <a:graphicData uri="http://schemas.openxmlformats.org/drawingml/2006/table">
            <a:tbl>
              <a:tblPr firstRow="0" bandRow="0">
                <a:tableStyleId>{5940675A-B579-460E-94D1-54222C63F5DA}</a:tableStyleId>
              </a:tblPr>
              <a:tblGrid>
                <a:gridCol w="2286000"/>
                <a:gridCol w="2194560"/>
                <a:gridCol w="1508760"/>
                <a:gridCol w="914400"/>
              </a:tblGrid>
              <a:tr h="292608">
                <a:tc>
                  <a:txBody>
                    <a:bodyPr wrap="square"/>
                    <a:lstStyle/>
                    <a:p>
                      <a:r>
                        <a:rPr sz="1100" b="1" i="0">
                          <a:solidFill>
                            <a:srgbClr val="FFFFFF"/>
                          </a:solidFill>
                        </a:rPr>
                        <a:t>Per business date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Arithmetic</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Result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Basis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292608">
                <a:tc>
                  <a:txBody>
                    <a:bodyPr wrap="square"/>
                    <a:lstStyle/>
                    <a:p>
                      <a:r>
                        <a:rPr sz="1100" b="1" i="0">
                          <a:solidFill>
                            <a:srgbClr val="8A1626"/>
                          </a:solidFill>
                        </a:rPr>
                        <a:t>Vectors, float64 (the lake)¹</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2.3M × 509 × 8 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9.37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4A5058"/>
                          </a:solidFill>
                        </a:rPr>
                        <a:t>arithmetic</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92608">
                <a:tc>
                  <a:txBody>
                    <a:bodyPr wrap="square"/>
                    <a:lstStyle/>
                    <a:p>
                      <a:r>
                        <a:rPr sz="1100" b="1" i="0">
                          <a:solidFill>
                            <a:srgbClr val="8A1626"/>
                          </a:solidFill>
                        </a:rPr>
                        <a:t>Vectors, float32 (hot rows)¹</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2.3M × 509 × 4 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4.68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4A5058"/>
                          </a:solidFill>
                        </a:rPr>
                        <a:t>arithmetic</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92608">
                <a:tc>
                  <a:txBody>
                    <a:bodyPr wrap="square"/>
                    <a:lstStyle/>
                    <a:p>
                      <a:r>
                        <a:rPr sz="1100" b="1" i="0">
                          <a:solidFill>
                            <a:srgbClr val="8A1626"/>
                          </a:solidFill>
                        </a:rPr>
                        <a:t>Hot file, USD book²</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237.7 MB per 100k × 23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 5.5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1">
                          <a:solidFill>
                            <a:srgbClr val="A51C30"/>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92608">
                <a:tc>
                  <a:txBody>
                    <a:bodyPr wrap="square"/>
                    <a:lstStyle/>
                    <a:p>
                      <a:r>
                        <a:rPr sz="1100" b="1" i="0">
                          <a:solidFill>
                            <a:srgbClr val="8A1626"/>
                          </a:solidFill>
                        </a:rPr>
                        <a:t>Heap, one open date²</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 80 MB per 100k × 23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 1.8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1">
                          <a:solidFill>
                            <a:srgbClr val="A51C30"/>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92608">
                <a:tc>
                  <a:txBody>
                    <a:bodyPr wrap="square"/>
                    <a:lstStyle/>
                    <a:p>
                      <a:r>
                        <a:rPr sz="1100" b="1" i="0">
                          <a:solidFill>
                            <a:srgbClr val="8A1626"/>
                          </a:solidFill>
                        </a:rPr>
                        <a:t>First load, after the lake read²</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0.8–1.2 s per 100k × 23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 18–28 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1">
                          <a:solidFill>
                            <a:srgbClr val="A51C30"/>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92608">
                <a:tc>
                  <a:txBody>
                    <a:bodyPr wrap="square"/>
                    <a:lstStyle/>
                    <a:p>
                      <a:r>
                        <a:rPr sz="1100" b="1" i="0">
                          <a:solidFill>
                            <a:srgbClr val="8A1626"/>
                          </a:solidFill>
                        </a:rPr>
                        <a:t>Reopen a date from its file²</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23 ms per 100k × 23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 0.5 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1">
                          <a:solidFill>
                            <a:srgbClr val="A51C30"/>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92608">
                <a:tc>
                  <a:txBody>
                    <a:bodyPr wrap="square"/>
                    <a:lstStyle/>
                    <a:p>
                      <a:r>
                        <a:rPr sz="1100" b="1" i="0">
                          <a:solidFill>
                            <a:srgbClr val="8A1626"/>
                          </a:solidFill>
                        </a:rPr>
                        <a:t>Whole bank from rows, resident³</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4.68 GB at ≈ 60 GB/s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 80 ms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1">
                          <a:solidFill>
                            <a:srgbClr val="A51C30"/>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92608">
                <a:tc>
                  <a:txBody>
                    <a:bodyPr wrap="square"/>
                    <a:lstStyle/>
                    <a:p>
                      <a:r>
                        <a:rPr sz="1100" b="1" i="0">
                          <a:solidFill>
                            <a:srgbClr val="8A1626"/>
                          </a:solidFill>
                        </a:rPr>
                        <a:t>  … cold, from NVMe³</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4.68 GB at ≈ 3 GB/s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 1.6 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1">
                          <a:solidFill>
                            <a:srgbClr val="A51C30"/>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92608">
                <a:tc>
                  <a:txBody>
                    <a:bodyPr wrap="square"/>
                    <a:lstStyle/>
                    <a:p>
                      <a:r>
                        <a:rPr sz="1100" b="1" i="0">
                          <a:solidFill>
                            <a:srgbClr val="8A1626"/>
                          </a:solidFill>
                        </a:rPr>
                        <a:t>A node, any size³</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its float64 aggregate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 0.5 ms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1" i="0">
                          <a:solidFill>
                            <a:srgbClr val="8A1626"/>
                          </a:solidFill>
                        </a:rPr>
                        <a:t>measured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92608">
                <a:tc>
                  <a:txBody>
                    <a:bodyPr wrap="square"/>
                    <a:lstStyle/>
                    <a:p>
                      <a:r>
                        <a:rPr sz="1100" b="1" i="0">
                          <a:solidFill>
                            <a:srgbClr val="8A1626"/>
                          </a:solidFill>
                        </a:rPr>
                        <a:t>4 extra currencies, disk⁴</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250 MB × 4 per 100k × 23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 23 GB a date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1">
                          <a:solidFill>
                            <a:srgbClr val="A51C30"/>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92608">
                <a:tc>
                  <a:txBody>
                    <a:bodyPr wrap="square"/>
                    <a:lstStyle/>
                    <a:p>
                      <a:r>
                        <a:rPr sz="1100" b="1" i="0">
                          <a:solidFill>
                            <a:srgbClr val="8A1626"/>
                          </a:solidFill>
                        </a:rPr>
                        <a:t>  … 5 retained dates; build⁴</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23 GB × 5; 4.3 s per 100k × 23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 115 GB; ≈ 99 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1">
                          <a:solidFill>
                            <a:srgbClr val="A51C30"/>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92608">
                <a:tc>
                  <a:txBody>
                    <a:bodyPr wrap="square"/>
                    <a:lstStyle/>
                    <a:p>
                      <a:r>
                        <a:rPr sz="1100" b="1" i="0">
                          <a:solidFill>
                            <a:srgbClr val="8A1626"/>
                          </a:solidFill>
                        </a:rPr>
                        <a:t>USD hot files, 60 dates⁵</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5.5 GB × 60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 330 GB disk</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1">
                          <a:solidFill>
                            <a:srgbClr val="A51C30"/>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92608">
                <a:tc>
                  <a:txBody>
                    <a:bodyPr wrap="square"/>
                    <a:lstStyle/>
                    <a:p>
                      <a:r>
                        <a:rPr sz="1100" b="1" i="0">
                          <a:solidFill>
                            <a:srgbClr val="8A1626"/>
                          </a:solidFill>
                        </a:rPr>
                        <a:t>Lake, a year (Parquet ≈ 0.75×)⁶</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9.37 GB × 0.75 × 252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 1.8 TB; ≈ 12 TB in 7 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1">
                          <a:solidFill>
                            <a:srgbClr val="A51C30"/>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bl>
          </a:graphicData>
        </a:graphic>
      </p:graphicFrame>
      <p:sp>
        <p:nvSpPr>
          <p:cNvPr id="27" name="Rectangle 26"/>
          <p:cNvSpPr/>
          <p:nvPr/>
        </p:nvSpPr>
        <p:spPr>
          <a:xfrm>
            <a:off x="7955280" y="1417320"/>
            <a:ext cx="3456432" cy="2606040"/>
          </a:xfrm>
          <a:prstGeom prst="rect">
            <a:avLst/>
          </a:prstGeom>
          <a:solidFill>
            <a:srgbClr val="F7F5F2"/>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8074152" y="1463040"/>
            <a:ext cx="3255264" cy="2560320"/>
          </a:xfrm>
          <a:prstGeom prst="rect">
            <a:avLst/>
          </a:prstGeom>
          <a:noFill/>
        </p:spPr>
        <p:txBody>
          <a:bodyPr wrap="square" lIns="0" rIns="0" tIns="0" bIns="0" anchor="t">
            <a:spAutoFit/>
          </a:bodyPr>
          <a:lstStyle/>
          <a:p>
            <a:pPr algn="l">
              <a:spcAft>
                <a:spcPts val="300"/>
              </a:spcAft>
            </a:pPr>
            <a:r>
              <a:rPr sz="1300" b="1" i="0">
                <a:solidFill>
                  <a:srgbClr val="A51C30"/>
                </a:solidFill>
              </a:rPr>
              <a:t>15,000 portfolios⁷</a:t>
            </a:r>
          </a:p>
          <a:p>
            <a:pPr algn="l" marL="146304" indent="-146304">
              <a:spcAft>
                <a:spcPts val="300"/>
              </a:spcAft>
              <a:buClr>
                <a:srgbClr val="A51C30"/>
              </a:buClr>
              <a:buSzPct val="100000"/>
              <a:buFont typeface="Arial"/>
              <a:buChar char="▪"/>
            </a:pPr>
            <a:r>
              <a:rPr sz="1150" b="0" i="0">
                <a:solidFill>
                  <a:srgbClr val="1A1A1A"/>
                </a:solidFill>
              </a:rPr>
              <a:t>A portfolio is the sum of its positions: the cost is all portfolios' positions together × 509 additions.</a:t>
            </a:r>
          </a:p>
          <a:p>
            <a:pPr algn="l" marL="146304" indent="-146304">
              <a:spcAft>
                <a:spcPts val="300"/>
              </a:spcAft>
              <a:buClr>
                <a:srgbClr val="A51C30"/>
              </a:buClr>
              <a:buSzPct val="100000"/>
              <a:buFont typeface="Arial"/>
              <a:buChar char="▪"/>
            </a:pPr>
            <a:r>
              <a:rPr sz="1150" b="0" i="0">
                <a:solidFill>
                  <a:srgbClr val="1A1A1A"/>
                </a:solidFill>
              </a:rPr>
              <a:t>Assumed 130 positions each: 1.95M rows, 3.97 GB of float32 → ≈ 0.07 s at 60 GB/s, ≈ 0.8 s scattered; per currency, estimated.</a:t>
            </a:r>
          </a:p>
          <a:p>
            <a:pPr algn="l" marL="146304" indent="-146304">
              <a:spcAft>
                <a:spcPts val="300"/>
              </a:spcAft>
              <a:buClr>
                <a:srgbClr val="A51C30"/>
              </a:buClr>
              <a:buSzPct val="100000"/>
              <a:buFont typeface="Arial"/>
              <a:buChar char="▪"/>
            </a:pPr>
            <a:r>
              <a:rPr sz="1150" b="0" i="0">
                <a:solidFill>
                  <a:srgbClr val="1A1A1A"/>
                </a:solidFill>
              </a:rPr>
              <a:t>Roll-ups: a HIERARCHY portfolio is a node aggregate; whole books cost one add each; a node minus a few rows is aggregate − rows (built).</a:t>
            </a:r>
          </a:p>
          <a:p>
            <a:pPr algn="l" marL="146304" indent="-146304">
              <a:buClr>
                <a:srgbClr val="A51C30"/>
              </a:buClr>
              <a:buSzPct val="100000"/>
              <a:buFont typeface="Arial"/>
              <a:buChar char="▪"/>
            </a:pPr>
            <a:r>
              <a:rPr sz="1150" b="0" i="0">
                <a:solidFill>
                  <a:srgbClr val="1A1A1A"/>
                </a:solidFill>
              </a:rPr>
              <a:t>Store them: 15k × 509 × 8 B ≈ 61 MB a date a currency; float32 halves it (proposed).</a:t>
            </a:r>
          </a:p>
        </p:txBody>
      </p:sp>
      <p:sp>
        <p:nvSpPr>
          <p:cNvPr id="29" name="Rectangle 28"/>
          <p:cNvSpPr/>
          <p:nvPr/>
        </p:nvSpPr>
        <p:spPr>
          <a:xfrm>
            <a:off x="7955280" y="4160520"/>
            <a:ext cx="3456432" cy="2084831"/>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xtBox 29"/>
          <p:cNvSpPr txBox="1"/>
          <p:nvPr/>
        </p:nvSpPr>
        <p:spPr>
          <a:xfrm>
            <a:off x="8074152" y="4224528"/>
            <a:ext cx="3255264" cy="1993392"/>
          </a:xfrm>
          <a:prstGeom prst="rect">
            <a:avLst/>
          </a:prstGeom>
          <a:noFill/>
        </p:spPr>
        <p:txBody>
          <a:bodyPr wrap="square" lIns="0" rIns="0" tIns="0" bIns="0" anchor="t">
            <a:spAutoFit/>
          </a:bodyPr>
          <a:lstStyle/>
          <a:p>
            <a:pPr algn="l">
              <a:spcAft>
                <a:spcPts val="300"/>
              </a:spcAft>
            </a:pPr>
            <a:r>
              <a:rPr sz="1300" b="1" i="0">
                <a:solidFill>
                  <a:srgbClr val="A51C30"/>
                </a:solidFill>
              </a:rPr>
              <a:t>Totals and intraday⁸</a:t>
            </a:r>
          </a:p>
          <a:p>
            <a:pPr algn="l" marL="146304" indent="-146304">
              <a:spcAft>
                <a:spcPts val="300"/>
              </a:spcAft>
              <a:buClr>
                <a:srgbClr val="A51C30"/>
              </a:buClr>
              <a:buSzPct val="100000"/>
              <a:buFont typeface="Arial"/>
              <a:buChar char="▪"/>
            </a:pPr>
            <a:r>
              <a:rPr sz="1150" b="0" i="0">
                <a:solidFill>
                  <a:srgbClr val="1A1A1A"/>
                </a:solidFill>
              </a:rPr>
              <a:t>Currency totals: 510 × 8 B per node per trade currency; (5,000 MGMT and LEGAL + ≈ 700 limit-letter nodes) × 10 ≈ 233 MB (assumed shape).</a:t>
            </a:r>
          </a:p>
          <a:p>
            <a:pPr algn="l" marL="146304" indent="-146304">
              <a:spcAft>
                <a:spcPts val="300"/>
              </a:spcAft>
              <a:buClr>
                <a:srgbClr val="A51C30"/>
              </a:buClr>
              <a:buSzPct val="100000"/>
              <a:buFont typeface="Arial"/>
              <a:buChar char="▪"/>
            </a:pPr>
            <a:r>
              <a:rPr sz="1150" b="0" i="0">
                <a:solidFill>
                  <a:srgbClr val="1A1A1A"/>
                </a:solidFill>
              </a:rPr>
              <a:t>Per changed trade or position: ≈ 11 node vectors (three trees) × 5 currency books ≈ 55 additions of 509: microseconds; the lake append dominates (≈ 1 s a batch).</a:t>
            </a:r>
          </a:p>
          <a:p>
            <a:pPr algn="l" marL="146304" indent="-146304">
              <a:buClr>
                <a:srgbClr val="A51C30"/>
              </a:buClr>
              <a:buSzPct val="100000"/>
              <a:buFont typeface="Arial"/>
              <a:buChar char="▪"/>
            </a:pPr>
            <a:r>
              <a:rPr sz="1150" b="0" i="0">
                <a:solidFill>
                  <a:srgbClr val="1A1A1A"/>
                </a:solidFill>
              </a:rPr>
              <a:t>A headline in any currency: a node's few trade-currency sums, converted: microseconds.</a:t>
            </a:r>
          </a:p>
        </p:txBody>
      </p:sp>
      <p:sp>
        <p:nvSpPr>
          <p:cNvPr id="31" name="TextBox 30"/>
          <p:cNvSpPr txBox="1"/>
          <p:nvPr/>
        </p:nvSpPr>
        <p:spPr>
          <a:xfrm>
            <a:off x="777240" y="5577840"/>
            <a:ext cx="6903720" cy="685800"/>
          </a:xfrm>
          <a:prstGeom prst="rect">
            <a:avLst/>
          </a:prstGeom>
          <a:noFill/>
        </p:spPr>
        <p:txBody>
          <a:bodyPr wrap="square" lIns="0" rIns="0" tIns="0" bIns="0" anchor="ctr">
            <a:spAutoFit/>
          </a:bodyPr>
          <a:lstStyle/>
          <a:p>
            <a:pPr algn="l"/>
            <a:r>
              <a:rPr sz="1100" b="1" i="0">
                <a:solidFill>
                  <a:srgbClr val="1A1A1A"/>
                </a:solidFill>
              </a:rPr>
              <a:t>Position grain keeps rows = positions: no trade matrix in the hot file. </a:t>
            </a:r>
            <a:r>
              <a:rPr sz="1100" b="0" i="1">
                <a:solidFill>
                  <a:srgbClr val="4A5058"/>
                </a:solidFill>
              </a:rPr>
              <a:t>Estimated = scaled linearly (× 23) from the measured 100,000-trade figures (VAR_GUIDE 27.3, 15.11); not measured at 2.3M.</a:t>
            </a:r>
          </a:p>
        </p:txBody>
      </p:sp>
      <p:sp>
        <p:nvSpPr>
          <p:cNvPr id="32" name="Footnotes"/>
          <p:cNvSpPr txBox="1"/>
          <p:nvPr/>
        </p:nvSpPr>
        <p:spPr>
          <a:xfrm>
            <a:off x="2468880" y="6419088"/>
            <a:ext cx="8503920" cy="237744"/>
          </a:xfrm>
          <a:prstGeom prst="rect">
            <a:avLst/>
          </a:prstGeom>
          <a:noFill/>
        </p:spPr>
        <p:txBody>
          <a:bodyPr wrap="square" lIns="0" rIns="0" tIns="0" bIns="0" anchor="ctr">
            <a:spAutoFit/>
          </a:bodyPr>
          <a:lstStyle/>
          <a:p>
            <a:pPr algn="l"/>
            <a:r>
              <a:rPr sz="900" b="0" i="0">
                <a:solidFill>
                  <a:srgbClr val="4A5058"/>
                </a:solidFill>
              </a:rPr>
              <a:t>¹–⁸ How these figures were derived: A-1, in the appendix (Sizing)</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CAPACITY · 10-DAY AND STRESSED VAR</a:t>
            </a:r>
          </a:p>
        </p:txBody>
      </p:sp>
      <p:sp>
        <p:nvSpPr>
          <p:cNvPr id="3" name="Title 2"/>
          <p:cNvSpPr>
            <a:spLocks noGrp="1"/>
          </p:cNvSpPr>
          <p:nvPr>
            <p:ph type="title" idx="104"/>
          </p:nvPr>
        </p:nvSpPr>
        <p:spPr/>
        <p:txBody>
          <a:bodyPr/>
          <a:lstStyle/>
          <a:p>
            <a:r>
              <a:t>10-day and stressed VaR: the added workload</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ounded Rectangle 25"/>
          <p:cNvSpPr/>
          <p:nvPr/>
        </p:nvSpPr>
        <p:spPr>
          <a:xfrm>
            <a:off x="10812780" y="941832"/>
            <a:ext cx="598932" cy="201168"/>
          </a:xfrm>
          <a:prstGeom prst="roundRect">
            <a:avLst>
              <a:gd name="adj" fmla="val 50000"/>
            </a:avLst>
          </a:prstGeom>
          <a:solidFill>
            <a:srgbClr val="FFFFFF"/>
          </a:solidFill>
          <a:ln w="12700">
            <a:solidFill>
              <a:srgbClr val="293352"/>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293352"/>
                </a:solidFill>
              </a:rPr>
              <a:t>PLANNED</a:t>
            </a:r>
          </a:p>
        </p:txBody>
      </p:sp>
      <p:graphicFrame>
        <p:nvGraphicFramePr>
          <p:cNvPr id="27" name="Table 26"/>
          <p:cNvGraphicFramePr>
            <a:graphicFrameLocks noGrp="1"/>
          </p:cNvGraphicFramePr>
          <p:nvPr/>
        </p:nvGraphicFramePr>
        <p:xfrm>
          <a:off x="777240" y="1417320"/>
          <a:ext cx="4937759" cy="1865376"/>
        </p:xfrm>
        <a:graphic>
          <a:graphicData uri="http://schemas.openxmlformats.org/drawingml/2006/table">
            <a:tbl>
              <a:tblPr firstRow="0" bandRow="0">
                <a:tableStyleId>{5940675A-B579-460E-94D1-54222C63F5DA}</a:tableStyleId>
              </a:tblPr>
              <a:tblGrid>
                <a:gridCol w="1874519"/>
                <a:gridCol w="2331720"/>
                <a:gridCol w="731520"/>
              </a:tblGrid>
              <a:tr h="310896">
                <a:tc>
                  <a:txBody>
                    <a:bodyPr wrap="square"/>
                    <a:lstStyle/>
                    <a:p>
                      <a:r>
                        <a:rPr sz="1100" b="1" i="0">
                          <a:solidFill>
                            <a:srgbClr val="FFFFFF"/>
                          </a:solidFill>
                        </a:rPr>
                        <a:t>Measure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Vector a position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 1-day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310896">
                <a:tc>
                  <a:txBody>
                    <a:bodyPr wrap="square"/>
                    <a:lstStyle/>
                    <a:p>
                      <a:r>
                        <a:rPr sz="1100" b="1" i="0">
                          <a:solidFill>
                            <a:srgbClr val="8A1626"/>
                          </a:solidFill>
                        </a:rPr>
                        <a:t>1-day VaR and 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509 scenarios (2 years)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1.00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10896">
                <a:tc>
                  <a:txBody>
                    <a:bodyPr wrap="square"/>
                    <a:lstStyle/>
                    <a:p>
                      <a:r>
                        <a:rPr sz="1100" b="1" i="0">
                          <a:solidFill>
                            <a:srgbClr val="8A1626"/>
                          </a:solidFill>
                        </a:rPr>
                        <a:t>10-day (b), overlapping</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500 (509 − 9), sized 509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+ 1.00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10896">
                <a:tc>
                  <a:txBody>
                    <a:bodyPr wrap="square"/>
                    <a:lstStyle/>
                    <a:p>
                      <a:r>
                        <a:rPr sz="1100" b="1" i="0">
                          <a:solidFill>
                            <a:srgbClr val="8A1626"/>
                          </a:solidFill>
                        </a:rPr>
                        <a:t>Stressed 1-day VaR, 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 250 (12 months, e.g. 2008–09)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+ 0.49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10896">
                <a:tc>
                  <a:txBody>
                    <a:bodyPr wrap="square"/>
                    <a:lstStyle/>
                    <a:p>
                      <a:r>
                        <a:rPr sz="1100" b="1" i="0">
                          <a:solidFill>
                            <a:srgbClr val="8A1626"/>
                          </a:solidFill>
                        </a:rPr>
                        <a:t>Stressed 10-day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 250 overlapping</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+ 0.49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10896">
                <a:tc>
                  <a:txBody>
                    <a:bodyPr wrap="square"/>
                    <a:lstStyle/>
                    <a:p>
                      <a:r>
                        <a:rPr sz="1100" b="1" i="0">
                          <a:solidFill>
                            <a:srgbClr val="8A1626"/>
                          </a:solidFill>
                        </a:rPr>
                        <a:t>Total, sized¹</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1,518 values a position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2.98</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bl>
          </a:graphicData>
        </a:graphic>
      </p:graphicFrame>
      <p:graphicFrame>
        <p:nvGraphicFramePr>
          <p:cNvPr id="28" name="Chart 27"/>
          <p:cNvGraphicFramePr>
            <a:graphicFrameLocks noGrp="1"/>
          </p:cNvGraphicFramePr>
          <p:nvPr/>
        </p:nvGraphicFramePr>
        <p:xfrm>
          <a:off x="777240" y="3429000"/>
          <a:ext cx="4937760" cy="1828800"/>
        </p:xfrm>
        <a:graphic>
          <a:graphicData uri="http://schemas.openxmlformats.org/drawingml/2006/chart">
            <c:chart xmlns:c="http://schemas.openxmlformats.org/drawingml/2006/chart" r:id="rId2"/>
          </a:graphicData>
        </a:graphic>
      </p:graphicFrame>
      <p:graphicFrame>
        <p:nvGraphicFramePr>
          <p:cNvPr id="29" name="Table 28"/>
          <p:cNvGraphicFramePr>
            <a:graphicFrameLocks noGrp="1"/>
          </p:cNvGraphicFramePr>
          <p:nvPr/>
        </p:nvGraphicFramePr>
        <p:xfrm>
          <a:off x="5943600" y="1417320"/>
          <a:ext cx="5468112" cy="3017520"/>
        </p:xfrm>
        <a:graphic>
          <a:graphicData uri="http://schemas.openxmlformats.org/drawingml/2006/table">
            <a:tbl>
              <a:tblPr firstRow="0" bandRow="0">
                <a:tableStyleId>{5940675A-B579-460E-94D1-54222C63F5DA}</a:tableStyleId>
              </a:tblPr>
              <a:tblGrid>
                <a:gridCol w="1965960"/>
                <a:gridCol w="1051560"/>
                <a:gridCol w="1051560"/>
                <a:gridCol w="1399032"/>
              </a:tblGrid>
              <a:tr h="274320">
                <a:tc>
                  <a:txBody>
                    <a:bodyPr wrap="square"/>
                    <a:lstStyle/>
                    <a:p>
                      <a:r>
                        <a:rPr sz="1050" b="1" i="0">
                          <a:solidFill>
                            <a:srgbClr val="FFFFFF"/>
                          </a:solidFill>
                        </a:rPr>
                        <a:t>Per date and server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1-day only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All four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Label</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274320">
                <a:tc>
                  <a:txBody>
                    <a:bodyPr wrap="square"/>
                    <a:lstStyle/>
                    <a:p>
                      <a:r>
                        <a:rPr sz="1050" b="1" i="0">
                          <a:solidFill>
                            <a:srgbClr val="8A1626"/>
                          </a:solidFill>
                        </a:rPr>
                        <a:t>Vectors, float64²</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9.37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27.9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74320">
                <a:tc>
                  <a:txBody>
                    <a:bodyPr wrap="square"/>
                    <a:lstStyle/>
                    <a:p>
                      <a:r>
                        <a:rPr sz="1050" b="1" i="0">
                          <a:solidFill>
                            <a:srgbClr val="8A1626"/>
                          </a:solidFill>
                        </a:rPr>
                        <a:t>Rows, float32²</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4.68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14.0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74320">
                <a:tc>
                  <a:txBody>
                    <a:bodyPr wrap="square"/>
                    <a:lstStyle/>
                    <a:p>
                      <a:r>
                        <a:rPr sz="1050" b="1" i="0">
                          <a:solidFill>
                            <a:srgbClr val="8A1626"/>
                          </a:solidFill>
                        </a:rPr>
                        <a:t>USD hot file³</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5.47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16.3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74320">
                <a:tc>
                  <a:txBody>
                    <a:bodyPr wrap="square"/>
                    <a:lstStyle/>
                    <a:p>
                      <a:r>
                        <a:rPr sz="1050" b="1" i="0">
                          <a:solidFill>
                            <a:srgbClr val="8A1626"/>
                          </a:solidFill>
                        </a:rPr>
                        <a:t>Heap, an open date⁴</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1.84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2.23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74320">
                <a:tc>
                  <a:txBody>
                    <a:bodyPr wrap="square"/>
                    <a:lstStyle/>
                    <a:p>
                      <a:r>
                        <a:rPr sz="1050" b="1" i="0">
                          <a:solidFill>
                            <a:srgbClr val="8A1626"/>
                          </a:solidFill>
                        </a:rPr>
                        <a:t>First open: lake read⁵</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18–70 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54–209 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74320">
                <a:tc>
                  <a:txBody>
                    <a:bodyPr wrap="square"/>
                    <a:lstStyle/>
                    <a:p>
                      <a:r>
                        <a:rPr sz="1050" b="1" i="0">
                          <a:solidFill>
                            <a:srgbClr val="8A1626"/>
                          </a:solidFill>
                        </a:rPr>
                        <a:t>First open: build⁵</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18–28 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55–82 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74320">
                <a:tc>
                  <a:txBody>
                    <a:bodyPr wrap="square"/>
                    <a:lstStyle/>
                    <a:p>
                      <a:r>
                        <a:rPr sz="1050" b="1" i="0">
                          <a:solidFill>
                            <a:srgbClr val="8A1626"/>
                          </a:solidFill>
                        </a:rPr>
                        <a:t>Other currency, asked⁶</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5.75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+ 11.4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ASSUMPTION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74320">
                <a:tc>
                  <a:txBody>
                    <a:bodyPr wrap="square"/>
                    <a:lstStyle/>
                    <a:p>
                      <a:r>
                        <a:rPr sz="1050" b="1" i="0">
                          <a:solidFill>
                            <a:srgbClr val="8A1626"/>
                          </a:solidFill>
                        </a:rPr>
                        <a:t>Local NVMe a server⁷</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458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1,183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74320">
                <a:tc>
                  <a:txBody>
                    <a:bodyPr wrap="square"/>
                    <a:lstStyle/>
                    <a:p>
                      <a:r>
                        <a:rPr sz="1050" b="1" i="0">
                          <a:solidFill>
                            <a:srgbClr val="8A1626"/>
                          </a:solidFill>
                        </a:rPr>
                        <a:t>RAM a server⁷</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76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151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74320">
                <a:tc>
                  <a:txBody>
                    <a:bodyPr wrap="square"/>
                    <a:lstStyle/>
                    <a:p>
                      <a:r>
                        <a:rPr sz="1050" b="1" i="0">
                          <a:solidFill>
                            <a:srgbClr val="8A1626"/>
                          </a:solidFill>
                        </a:rPr>
                        <a:t>Lake, 7 years⁷</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16.1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48.2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
        <p:nvSpPr>
          <p:cNvPr id="30" name="TextBox 29"/>
          <p:cNvSpPr txBox="1"/>
          <p:nvPr/>
        </p:nvSpPr>
        <p:spPr>
          <a:xfrm>
            <a:off x="5943600" y="4572000"/>
            <a:ext cx="5468112" cy="777240"/>
          </a:xfrm>
          <a:prstGeom prst="rect">
            <a:avLst/>
          </a:prstGeom>
          <a:noFill/>
        </p:spPr>
        <p:txBody>
          <a:bodyPr wrap="square" lIns="0" rIns="0" tIns="0" bIns="0" anchor="t">
            <a:spAutoFit/>
          </a:bodyPr>
          <a:lstStyle/>
          <a:p>
            <a:pPr algn="l">
              <a:spcAft>
                <a:spcPts val="200"/>
              </a:spcAft>
            </a:pPr>
            <a:r>
              <a:rPr sz="1100" b="1" i="0">
                <a:solidFill>
                  <a:srgbClr val="8A1626"/>
                </a:solidFill>
              </a:rPr>
              <a:t>Method (ASSUMPTION): </a:t>
            </a:r>
            <a:r>
              <a:rPr sz="1100" b="0" i="0">
                <a:solidFill>
                  <a:srgbClr val="1A1A1A"/>
                </a:solidFill>
              </a:rPr>
              <a:t>10-day by (b), overlapping returns, the conservative case; (a) √10 × 1-day adds no data, × 1.49 only.</a:t>
            </a:r>
          </a:p>
          <a:p>
            <a:pPr algn="l"/>
            <a:r>
              <a:rPr sz="1100" b="1" i="0">
                <a:solidFill>
                  <a:srgbClr val="8A1626"/>
                </a:solidFill>
              </a:rPr>
              <a:t>Currencies (ASSUMPTION): </a:t>
            </a:r>
            <a:r>
              <a:rPr sz="1100" b="0" i="0">
                <a:solidFill>
                  <a:srgbClr val="1A1A1A"/>
                </a:solidFill>
              </a:rPr>
              <a:t>USD builds all four sets with the date; the others build 1-day ahead and the rest on first ask.</a:t>
            </a:r>
          </a:p>
        </p:txBody>
      </p:sp>
      <p:sp>
        <p:nvSpPr>
          <p:cNvPr id="31" name="Rectangle 30"/>
          <p:cNvSpPr/>
          <p:nvPr/>
        </p:nvSpPr>
        <p:spPr>
          <a:xfrm>
            <a:off x="777240" y="5440680"/>
            <a:ext cx="10634472" cy="77724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Rectangle 31"/>
          <p:cNvSpPr/>
          <p:nvPr/>
        </p:nvSpPr>
        <p:spPr>
          <a:xfrm>
            <a:off x="777240" y="5440680"/>
            <a:ext cx="54864" cy="7772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TextBox 32"/>
          <p:cNvSpPr txBox="1"/>
          <p:nvPr/>
        </p:nvSpPr>
        <p:spPr>
          <a:xfrm>
            <a:off x="1005840" y="5440680"/>
            <a:ext cx="10314432" cy="777240"/>
          </a:xfrm>
          <a:prstGeom prst="rect">
            <a:avLst/>
          </a:prstGeom>
          <a:noFill/>
        </p:spPr>
        <p:txBody>
          <a:bodyPr wrap="square" lIns="0" rIns="0" tIns="0" bIns="0" anchor="ctr">
            <a:spAutoFit/>
          </a:bodyPr>
          <a:lstStyle/>
          <a:p>
            <a:pPr algn="l"/>
            <a:r>
              <a:rPr sz="1250" b="1" i="0">
                <a:solidFill>
                  <a:srgbClr val="A51C30"/>
                </a:solidFill>
              </a:rPr>
              <a:t>About 3× the 1-day footprint per date.  </a:t>
            </a:r>
            <a:r>
              <a:rPr sz="1150" b="0" i="0">
                <a:solidFill>
                  <a:srgbClr val="1A1A1A"/>
                </a:solidFill>
              </a:rPr>
              <a:t>With (a) √10 instead⁸: × 1.49, vectors 18.5 TB over 7 years. Sums per measure are unchanged: a node 0.5 ms, the whole bank ≈ 80 ms for a 509-wide set, ≈ 40 ms for a stressed one (estimated).</a:t>
            </a:r>
          </a:p>
        </p:txBody>
      </p:sp>
      <p:sp>
        <p:nvSpPr>
          <p:cNvPr id="34" name="Footnotes"/>
          <p:cNvSpPr txBox="1"/>
          <p:nvPr/>
        </p:nvSpPr>
        <p:spPr>
          <a:xfrm>
            <a:off x="2468880" y="6419088"/>
            <a:ext cx="8503920" cy="237744"/>
          </a:xfrm>
          <a:prstGeom prst="rect">
            <a:avLst/>
          </a:prstGeom>
          <a:noFill/>
        </p:spPr>
        <p:txBody>
          <a:bodyPr wrap="square" lIns="0" rIns="0" tIns="0" bIns="0" anchor="ctr">
            <a:spAutoFit/>
          </a:bodyPr>
          <a:lstStyle/>
          <a:p>
            <a:pPr algn="l"/>
            <a:r>
              <a:rPr sz="900" b="0" i="0">
                <a:solidFill>
                  <a:srgbClr val="4A5058"/>
                </a:solidFill>
              </a:rPr>
              <a:t>¹–⁸ How these figures were derived: A-2, in the appendix (10-day and stressed VaR)</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CAPACITY · 39% HEADROOM</a:t>
            </a:r>
          </a:p>
        </p:txBody>
      </p:sp>
      <p:sp>
        <p:nvSpPr>
          <p:cNvPr id="3" name="Title 2"/>
          <p:cNvSpPr>
            <a:spLocks noGrp="1"/>
          </p:cNvSpPr>
          <p:nvPr>
            <p:ph type="title" idx="104"/>
          </p:nvPr>
        </p:nvSpPr>
        <p:spPr/>
        <p:txBody>
          <a:bodyPr/>
          <a:lstStyle/>
          <a:p>
            <a:r>
              <a:t>Capacity: processes and memory, 1-day, 10-day and stressed</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TextBox 25"/>
          <p:cNvSpPr txBox="1"/>
          <p:nvPr/>
        </p:nvSpPr>
        <p:spPr>
          <a:xfrm>
            <a:off x="777240" y="1371600"/>
            <a:ext cx="6675120" cy="274320"/>
          </a:xfrm>
          <a:prstGeom prst="rect">
            <a:avLst/>
          </a:prstGeom>
          <a:noFill/>
        </p:spPr>
        <p:txBody>
          <a:bodyPr wrap="square" lIns="0" rIns="0" tIns="0" bIns="0" anchor="ctr">
            <a:spAutoFit/>
          </a:bodyPr>
          <a:lstStyle/>
          <a:p>
            <a:pPr algn="l"/>
            <a:r>
              <a:rPr sz="1250" b="1" i="0">
                <a:solidFill>
                  <a:srgbClr val="A51C30"/>
                </a:solidFill>
              </a:rPr>
              <a:t>Processes, recommended  </a:t>
            </a:r>
            <a:r>
              <a:rPr sz="1100" b="0" i="0">
                <a:solidFill>
                  <a:srgbClr val="4A5058"/>
                </a:solidFill>
              </a:rPr>
              <a:t>one server holds each date's whole VaR</a:t>
            </a:r>
          </a:p>
        </p:txBody>
      </p:sp>
      <p:graphicFrame>
        <p:nvGraphicFramePr>
          <p:cNvPr id="27" name="Table 26"/>
          <p:cNvGraphicFramePr>
            <a:graphicFrameLocks noGrp="1"/>
          </p:cNvGraphicFramePr>
          <p:nvPr/>
        </p:nvGraphicFramePr>
        <p:xfrm>
          <a:off x="777240" y="1691640"/>
          <a:ext cx="6675120" cy="2194560"/>
        </p:xfrm>
        <a:graphic>
          <a:graphicData uri="http://schemas.openxmlformats.org/drawingml/2006/table">
            <a:tbl>
              <a:tblPr firstRow="0" bandRow="0">
                <a:tableStyleId>{5940675A-B579-460E-94D1-54222C63F5DA}</a:tableStyleId>
              </a:tblPr>
              <a:tblGrid>
                <a:gridCol w="1783080"/>
                <a:gridCol w="411480"/>
                <a:gridCol w="4480560"/>
              </a:tblGrid>
              <a:tr h="365760">
                <a:tc>
                  <a:txBody>
                    <a:bodyPr wrap="square"/>
                    <a:lstStyle/>
                    <a:p>
                      <a:r>
                        <a:rPr sz="1050" b="1" i="0">
                          <a:solidFill>
                            <a:srgbClr val="FFFFFF"/>
                          </a:solidFill>
                        </a:rPr>
                        <a:t>Role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No.</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Holds and does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365760">
                <a:tc>
                  <a:txBody>
                    <a:bodyPr wrap="square"/>
                    <a:lstStyle/>
                    <a:p>
                      <a:r>
                        <a:rPr sz="1050" b="1" i="0">
                          <a:solidFill>
                            <a:srgbClr val="8A1626"/>
                          </a:solidFill>
                        </a:rPr>
                        <a:t>Official EOD server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captures every node of every tree and measure; publishes (DRISHTI_VAR_OFFICIAL here only)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65760">
                <a:tc>
                  <a:txBody>
                    <a:bodyPr wrap="square"/>
                    <a:lstStyle/>
                    <a:p>
                      <a:r>
                        <a:rPr sz="1050" b="1" i="0">
                          <a:solidFill>
                            <a:srgbClr val="8A1626"/>
                          </a:solidFill>
                        </a:rPr>
                        <a:t>Intraday writer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Kafka PV topic, one lake batch a 5-minute window, and files (DRISHTI_VAR_PV_STREAM here only)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65760">
                <a:tc>
                  <a:txBody>
                    <a:bodyPr wrap="square"/>
                    <a:lstStyle/>
                    <a:p>
                      <a:r>
                        <a:rPr sz="1050" b="1" i="0">
                          <a:solidFill>
                            <a:srgbClr val="8A1626"/>
                          </a:solidFill>
                        </a:rPr>
                        <a:t>UI/API VaR replicas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each maps today and yesterday whole, applies intraday; Drishti*net failover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65760">
                <a:tc>
                  <a:txBody>
                    <a:bodyPr wrap="square"/>
                    <a:lstStyle/>
                    <a:p>
                      <a:r>
                        <a:rPr sz="1050" b="1" i="0">
                          <a:solidFill>
                            <a:srgbClr val="8A1626"/>
                          </a:solidFill>
                        </a:rPr>
                        <a:t>Console hosts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4 workers each; load balancer, sticky sessions; one session secret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65760">
                <a:tc>
                  <a:txBody>
                    <a:bodyPr wrap="square"/>
                    <a:lstStyle/>
                    <a:p>
                      <a:r>
                        <a:rPr sz="1050" b="1" i="0">
                          <a:solidFill>
                            <a:srgbClr val="8A1626"/>
                          </a:solidFill>
                        </a:rPr>
                        <a:t>Cluster, sharding</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servers as one; a date's VaR split by shard (next slides)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bl>
          </a:graphicData>
        </a:graphic>
      </p:graphicFrame>
      <p:graphicFrame>
        <p:nvGraphicFramePr>
          <p:cNvPr id="28" name="Table 27"/>
          <p:cNvGraphicFramePr>
            <a:graphicFrameLocks noGrp="1"/>
          </p:cNvGraphicFramePr>
          <p:nvPr/>
        </p:nvGraphicFramePr>
        <p:xfrm>
          <a:off x="777240" y="3950208"/>
          <a:ext cx="6675120" cy="1536192"/>
        </p:xfrm>
        <a:graphic>
          <a:graphicData uri="http://schemas.openxmlformats.org/drawingml/2006/table">
            <a:tbl>
              <a:tblPr firstRow="0" bandRow="0">
                <a:tableStyleId>{5940675A-B579-460E-94D1-54222C63F5DA}</a:tableStyleId>
              </a:tblPr>
              <a:tblGrid>
                <a:gridCol w="2286000"/>
                <a:gridCol w="1371600"/>
                <a:gridCol w="1508760"/>
                <a:gridCol w="1508760"/>
              </a:tblGrid>
              <a:tr h="256032">
                <a:tc>
                  <a:txBody>
                    <a:bodyPr wrap="square"/>
                    <a:lstStyle/>
                    <a:p>
                      <a:r>
                        <a:rPr sz="1050" b="1" i="0">
                          <a:solidFill>
                            <a:srgbClr val="FFFFFF"/>
                          </a:solidFill>
                        </a:rPr>
                        <a:t>Per VaR server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Need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Provisioned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Large (2×)⁸</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256032">
                <a:tc>
                  <a:txBody>
                    <a:bodyPr wrap="square"/>
                    <a:lstStyle/>
                    <a:p>
                      <a:r>
                        <a:rPr sz="1050" b="1" i="0">
                          <a:solidFill>
                            <a:srgbClr val="8A1626"/>
                          </a:solidFill>
                        </a:rPr>
                        <a:t>vCPU⁶</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32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64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96</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56032">
                <a:tc>
                  <a:txBody>
                    <a:bodyPr wrap="square"/>
                    <a:lstStyle/>
                    <a:p>
                      <a:r>
                        <a:rPr sz="1050" b="1" i="0">
                          <a:solidFill>
                            <a:srgbClr val="8A1626"/>
                          </a:solidFill>
                        </a:rPr>
                        <a:t>-Xmx¹</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21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36g</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60g</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56032">
                <a:tc>
                  <a:txBody>
                    <a:bodyPr wrap="square"/>
                    <a:lstStyle/>
                    <a:p>
                      <a:r>
                        <a:rPr sz="1050" b="1" i="0">
                          <a:solidFill>
                            <a:srgbClr val="8A1626"/>
                          </a:solidFill>
                        </a:rPr>
                        <a:t>Memory budget, MB²</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14,000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23,000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46,000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56032">
                <a:tc>
                  <a:txBody>
                    <a:bodyPr wrap="square"/>
                    <a:lstStyle/>
                    <a:p>
                      <a:r>
                        <a:rPr sz="1050" b="1" i="0">
                          <a:solidFill>
                            <a:srgbClr val="8A1626"/>
                          </a:solidFill>
                        </a:rPr>
                        <a:t>RAM⁴</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151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256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512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56032">
                <a:tc>
                  <a:txBody>
                    <a:bodyPr wrap="square"/>
                    <a:lstStyle/>
                    <a:p>
                      <a:r>
                        <a:rPr sz="1050" b="1" i="0">
                          <a:solidFill>
                            <a:srgbClr val="8A1626"/>
                          </a:solidFill>
                        </a:rPr>
                        <a:t>Local NVMe (tier.dir)⁵</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1.18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3.8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5.7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bl>
          </a:graphicData>
        </a:graphic>
      </p:graphicFrame>
      <p:graphicFrame>
        <p:nvGraphicFramePr>
          <p:cNvPr id="29" name="Chart 28"/>
          <p:cNvGraphicFramePr>
            <a:graphicFrameLocks noGrp="1"/>
          </p:cNvGraphicFramePr>
          <p:nvPr/>
        </p:nvGraphicFramePr>
        <p:xfrm>
          <a:off x="7680960" y="1417320"/>
          <a:ext cx="3730752" cy="2514600"/>
        </p:xfrm>
        <a:graphic>
          <a:graphicData uri="http://schemas.openxmlformats.org/drawingml/2006/chart">
            <c:chart xmlns:c="http://schemas.openxmlformats.org/drawingml/2006/chart" r:id="rId2"/>
          </a:graphicData>
        </a:graphic>
      </p:graphicFrame>
      <p:sp>
        <p:nvSpPr>
          <p:cNvPr id="30" name="Rectangle 29"/>
          <p:cNvSpPr/>
          <p:nvPr/>
        </p:nvSpPr>
        <p:spPr>
          <a:xfrm>
            <a:off x="7680960" y="4023360"/>
            <a:ext cx="3730752" cy="132588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Rectangle 30"/>
          <p:cNvSpPr/>
          <p:nvPr/>
        </p:nvSpPr>
        <p:spPr>
          <a:xfrm>
            <a:off x="7680960" y="4023360"/>
            <a:ext cx="45720" cy="13258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TextBox 31"/>
          <p:cNvSpPr txBox="1"/>
          <p:nvPr/>
        </p:nvSpPr>
        <p:spPr>
          <a:xfrm>
            <a:off x="7845552" y="4096512"/>
            <a:ext cx="3474720" cy="1216152"/>
          </a:xfrm>
          <a:prstGeom prst="rect">
            <a:avLst/>
          </a:prstGeom>
          <a:noFill/>
        </p:spPr>
        <p:txBody>
          <a:bodyPr wrap="square" lIns="0" rIns="0" tIns="0" bIns="0" anchor="t">
            <a:spAutoFit/>
          </a:bodyPr>
          <a:lstStyle/>
          <a:p>
            <a:pPr algn="l">
              <a:spcAft>
                <a:spcPts val="400"/>
              </a:spcAft>
            </a:pPr>
            <a:r>
              <a:rPr sz="1300" b="1" i="0">
                <a:solidFill>
                  <a:srgbClr val="8A1626"/>
                </a:solidFill>
              </a:rPr>
              <a:t>CPU: 32 vCPU needed → 64⁶</a:t>
            </a:r>
          </a:p>
          <a:p>
            <a:pPr algn="l" marL="146304" indent="-146304">
              <a:spcAft>
                <a:spcPts val="300"/>
              </a:spcAft>
              <a:buClr>
                <a:srgbClr val="A51C30"/>
              </a:buClr>
              <a:buSzPct val="100000"/>
              <a:buFont typeface="Arial"/>
              <a:buChar char="▪"/>
            </a:pPr>
            <a:r>
              <a:rPr sz="1050" b="0" i="0">
                <a:solidFill>
                  <a:srgbClr val="1A1A1A"/>
                </a:solidFill>
              </a:rPr>
              <a:t>Sums are bandwidth-bound: 24 threads gave ≈ 60 GB/s (MEASURED); all four sets of the bank ≈ 233 ms</a:t>
            </a:r>
          </a:p>
          <a:p>
            <a:pPr algn="l" marL="146304" indent="-146304">
              <a:spcAft>
                <a:spcPts val="300"/>
              </a:spcAft>
              <a:buClr>
                <a:srgbClr val="A51C30"/>
              </a:buClr>
              <a:buSzPct val="100000"/>
              <a:buFont typeface="Arial"/>
              <a:buChar char="▪"/>
            </a:pPr>
            <a:r>
              <a:rPr sz="1050" b="0" i="0">
                <a:solidFill>
                  <a:srgbClr val="1A1A1A"/>
                </a:solidFill>
              </a:rPr>
              <a:t>+ 8 vCPU for a load, currency builds, intraday, requests; 32 ÷ 0.61 = 52 → 64</a:t>
            </a:r>
          </a:p>
        </p:txBody>
      </p:sp>
      <p:sp>
        <p:nvSpPr>
          <p:cNvPr id="33" name="Rectangle 32"/>
          <p:cNvSpPr/>
          <p:nvPr/>
        </p:nvSpPr>
        <p:spPr>
          <a:xfrm>
            <a:off x="777240" y="5577840"/>
            <a:ext cx="10634472" cy="68580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Rectangle 33"/>
          <p:cNvSpPr/>
          <p:nvPr/>
        </p:nvSpPr>
        <p:spPr>
          <a:xfrm>
            <a:off x="777240" y="5577840"/>
            <a:ext cx="54864" cy="6858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TextBox 34"/>
          <p:cNvSpPr txBox="1"/>
          <p:nvPr/>
        </p:nvSpPr>
        <p:spPr>
          <a:xfrm>
            <a:off x="1005840" y="5577840"/>
            <a:ext cx="10314432" cy="685800"/>
          </a:xfrm>
          <a:prstGeom prst="rect">
            <a:avLst/>
          </a:prstGeom>
          <a:noFill/>
        </p:spPr>
        <p:txBody>
          <a:bodyPr wrap="square" lIns="0" rIns="0" tIns="0" bIns="0" anchor="ctr">
            <a:spAutoFit/>
          </a:bodyPr>
          <a:lstStyle/>
          <a:p>
            <a:pPr algn="l">
              <a:spcAft>
                <a:spcPts val="200"/>
              </a:spcAft>
            </a:pPr>
            <a:r>
              <a:rPr sz="1200" b="1" i="0">
                <a:solidFill>
                  <a:srgbClr val="A51C30"/>
                </a:solidFill>
              </a:rPr>
              <a:t>39% headroom: </a:t>
            </a:r>
            <a:r>
              <a:rPr sz="1150" b="0" i="0">
                <a:solidFill>
                  <a:srgbClr val="1A1A1A"/>
                </a:solidFill>
              </a:rPr>
              <a:t>the projected peak uses at most 61% of what is provisioned: need ÷ 0.61 (× 1.64). Set DRISHTI_VAR_MEMORY_MB: the default ¼ of the heap (9 GB at 36g) refuses a 14 GB date.</a:t>
            </a:r>
          </a:p>
          <a:p>
            <a:pPr algn="l"/>
            <a:r>
              <a:rPr sz="1200" b="1" i="0">
                <a:solidFill>
                  <a:srgbClr val="A51C30"/>
                </a:solidFill>
              </a:rPr>
              <a:t>Consoles⁷: </a:t>
            </a:r>
            <a:r>
              <a:rPr sz="1150" b="0" i="0">
                <a:solidFill>
                  <a:srgbClr val="1A1A1A"/>
                </a:solidFill>
              </a:rPr>
              <a:t>2 hosts × 4 workers; 40 pages/s a worker (MEASURED); 50 users at once (ASSUMPTION): peak 25 pages/s ÷ 0.61 = 41 against one host's 160.</a:t>
            </a:r>
          </a:p>
        </p:txBody>
      </p:sp>
      <p:sp>
        <p:nvSpPr>
          <p:cNvPr id="36" name="Footnotes"/>
          <p:cNvSpPr txBox="1"/>
          <p:nvPr/>
        </p:nvSpPr>
        <p:spPr>
          <a:xfrm>
            <a:off x="2468880" y="6419088"/>
            <a:ext cx="8503920" cy="237744"/>
          </a:xfrm>
          <a:prstGeom prst="rect">
            <a:avLst/>
          </a:prstGeom>
          <a:noFill/>
        </p:spPr>
        <p:txBody>
          <a:bodyPr wrap="square" lIns="0" rIns="0" tIns="0" bIns="0" anchor="ctr">
            <a:spAutoFit/>
          </a:bodyPr>
          <a:lstStyle/>
          <a:p>
            <a:pPr algn="l"/>
            <a:r>
              <a:rPr sz="900" b="0" i="0">
                <a:solidFill>
                  <a:srgbClr val="4A5058"/>
                </a:solidFill>
              </a:rPr>
              <a:t>¹–⁸ How these figures were derived: A-2, in the appendix (Processes and memory)</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CAPACITY · 7 YEARS = 1,764 BUSINESS DATES</a:t>
            </a:r>
          </a:p>
        </p:txBody>
      </p:sp>
      <p:sp>
        <p:nvSpPr>
          <p:cNvPr id="3" name="Title 2"/>
          <p:cNvSpPr>
            <a:spLocks noGrp="1"/>
          </p:cNvSpPr>
          <p:nvPr>
            <p:ph type="title" idx="104"/>
          </p:nvPr>
        </p:nvSpPr>
        <p:spPr/>
        <p:txBody>
          <a:bodyPr/>
          <a:lstStyle/>
          <a:p>
            <a:r>
              <a:t>Capacity: storage over 7 years</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graphicFrame>
        <p:nvGraphicFramePr>
          <p:cNvPr id="26" name="Table 25"/>
          <p:cNvGraphicFramePr>
            <a:graphicFrameLocks noGrp="1"/>
          </p:cNvGraphicFramePr>
          <p:nvPr/>
        </p:nvGraphicFramePr>
        <p:xfrm>
          <a:off x="777240" y="1417320"/>
          <a:ext cx="7315200" cy="3922776"/>
        </p:xfrm>
        <a:graphic>
          <a:graphicData uri="http://schemas.openxmlformats.org/drawingml/2006/table">
            <a:tbl>
              <a:tblPr firstRow="0" bandRow="0">
                <a:tableStyleId>{5940675A-B579-460E-94D1-54222C63F5DA}</a:tableStyleId>
              </a:tblPr>
              <a:tblGrid>
                <a:gridCol w="1920240"/>
                <a:gridCol w="2743200"/>
                <a:gridCol w="822960"/>
                <a:gridCol w="822960"/>
                <a:gridCol w="1005840"/>
              </a:tblGrid>
              <a:tr h="301752">
                <a:tc>
                  <a:txBody>
                    <a:bodyPr wrap="square"/>
                    <a:lstStyle/>
                    <a:p>
                      <a:r>
                        <a:rPr sz="1050" b="1" i="0">
                          <a:solidFill>
                            <a:srgbClr val="FFFFFF"/>
                          </a:solidFill>
                        </a:rPr>
                        <a:t>Item</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Arithmetic (all four sets)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1-day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All four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Label</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301752">
                <a:tc>
                  <a:txBody>
                    <a:bodyPr wrap="square"/>
                    <a:lstStyle/>
                    <a:p>
                      <a:r>
                        <a:rPr sz="1050" b="1" i="0">
                          <a:solidFill>
                            <a:srgbClr val="8A1626"/>
                          </a:solidFill>
                        </a:rPr>
                        <a:t>P&amp;L vectors, float64¹</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27.9 GB × 0.75 × 1,764 dates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12.4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37.0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01752">
                <a:tc>
                  <a:txBody>
                    <a:bodyPr wrap="square"/>
                    <a:lstStyle/>
                    <a:p>
                      <a:r>
                        <a:rPr sz="1050" b="1" i="0">
                          <a:solidFill>
                            <a:srgbClr val="8A1626"/>
                          </a:solidFill>
                        </a:rPr>
                        <a:t>Row columns (terms)²</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2.3M × ≈ 100 B × 1,764 × 4 sets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0.4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1.6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ASSUMPTION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01752">
                <a:tc>
                  <a:txBody>
                    <a:bodyPr wrap="square"/>
                    <a:lstStyle/>
                    <a:p>
                      <a:r>
                        <a:rPr sz="1050" b="1" i="0">
                          <a:solidFill>
                            <a:srgbClr val="8A1626"/>
                          </a:solidFill>
                        </a:rPr>
                        <a:t>Scenario PVs as well²</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the vectors again, if both kept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+ 12.4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+ 37.0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ASSUMPTION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01752">
                <a:tc>
                  <a:txBody>
                    <a:bodyPr wrap="square"/>
                    <a:lstStyle/>
                    <a:p>
                      <a:r>
                        <a:rPr sz="1050" b="1" i="0">
                          <a:solidFill>
                            <a:srgbClr val="8A1626"/>
                          </a:solidFill>
                        </a:rPr>
                        <a:t>Trades, if held³</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1.5 KB × 2.3M × 1,764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6.1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6.1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01752">
                <a:tc>
                  <a:txBody>
                    <a:bodyPr wrap="square"/>
                    <a:lstStyle/>
                    <a:p>
                      <a:r>
                        <a:rPr sz="1050" b="1" i="0">
                          <a:solidFill>
                            <a:srgbClr val="8A1626"/>
                          </a:solidFill>
                        </a:rPr>
                        <a:t>Positions (membership)³</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41 B × 2.3M × 1,764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0.17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0.17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01752">
                <a:tc>
                  <a:txBody>
                    <a:bodyPr wrap="square"/>
                    <a:lstStyle/>
                    <a:p>
                      <a:r>
                        <a:rPr sz="1050" b="1" i="0">
                          <a:solidFill>
                            <a:srgbClr val="8A1626"/>
                          </a:solidFill>
                        </a:rPr>
                        <a:t>Official results⁴</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 29 KB × 5,700 nodes × 1,764 × 2.98</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0.29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0.88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01752">
                <a:tc>
                  <a:txBody>
                    <a:bodyPr wrap="square"/>
                    <a:lstStyle/>
                    <a:p>
                      <a:r>
                        <a:rPr sz="1050" b="1" i="0">
                          <a:solidFill>
                            <a:srgbClr val="8A1626"/>
                          </a:solidFill>
                        </a:rPr>
                        <a:t>Intraday batches⁵</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230k × 9.1 KB × 1,764 × 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2.5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7.4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ASSUMPTION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01752">
                <a:tc>
                  <a:txBody>
                    <a:bodyPr wrap="square"/>
                    <a:lstStyle/>
                    <a:p>
                      <a:r>
                        <a:rPr sz="1050" b="1" i="0">
                          <a:solidFill>
                            <a:srgbClr val="8A1626"/>
                          </a:solidFill>
                        </a:rPr>
                        <a:t>Restatements⁵</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2% of dates × 20.9 GB × 1,764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0.25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0.74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ASSUMPTION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01752">
                <a:tc>
                  <a:txBody>
                    <a:bodyPr wrap="square"/>
                    <a:lstStyle/>
                    <a:p>
                      <a:r>
                        <a:rPr sz="1050" b="1" i="0">
                          <a:solidFill>
                            <a:srgbClr val="8A1626"/>
                          </a:solidFill>
                        </a:rPr>
                        <a:t>Delta log, checkpoints⁶</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daily 0.14 × 2.98 (often: 4.9)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0.14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0.42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01752">
                <a:tc>
                  <a:txBody>
                    <a:bodyPr wrap="square"/>
                    <a:lstStyle/>
                    <a:p>
                      <a:r>
                        <a:rPr sz="1050" b="1" i="0">
                          <a:solidFill>
                            <a:srgbClr val="8A1626"/>
                          </a:solidFill>
                        </a:rPr>
                        <a:t>Need, base⁷</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37.0 + 1.6 + 7.4 + 0.9 + 0.2 + 0.7 + 0.4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16.1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48.2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01752">
                <a:tc>
                  <a:txBody>
                    <a:bodyPr wrap="square"/>
                    <a:lstStyle/>
                    <a:p>
                      <a:r>
                        <a:rPr sz="1050" b="1" i="0">
                          <a:solidFill>
                            <a:srgbClr val="8A1626"/>
                          </a:solidFill>
                        </a:rPr>
                        <a:t>Provisioned (÷ 0.61)⁷</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39% headroom; DR doubles it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26.4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79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01752">
                <a:tc>
                  <a:txBody>
                    <a:bodyPr wrap="square"/>
                    <a:lstStyle/>
                    <a:p>
                      <a:r>
                        <a:rPr sz="1050" b="1" i="0">
                          <a:solidFill>
                            <a:srgbClr val="8A1626"/>
                          </a:solidFill>
                        </a:rPr>
                        <a:t>Need, upper⁷</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 PVs, trades, frequent checkpoints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36.1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95.7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graphicFrame>
        <p:nvGraphicFramePr>
          <p:cNvPr id="27" name="Chart 26"/>
          <p:cNvGraphicFramePr>
            <a:graphicFrameLocks noGrp="1"/>
          </p:cNvGraphicFramePr>
          <p:nvPr/>
        </p:nvGraphicFramePr>
        <p:xfrm>
          <a:off x="8321040" y="1417320"/>
          <a:ext cx="3090672" cy="2331720"/>
        </p:xfrm>
        <a:graphic>
          <a:graphicData uri="http://schemas.openxmlformats.org/drawingml/2006/chart">
            <c:chart xmlns:c="http://schemas.openxmlformats.org/drawingml/2006/chart" r:id="rId2"/>
          </a:graphicData>
        </a:graphic>
      </p:graphicFrame>
      <p:sp>
        <p:nvSpPr>
          <p:cNvPr id="28" name="Rectangle 27"/>
          <p:cNvSpPr/>
          <p:nvPr/>
        </p:nvSpPr>
        <p:spPr>
          <a:xfrm>
            <a:off x="8321040" y="3858768"/>
            <a:ext cx="3090672" cy="109728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Rectangle 28"/>
          <p:cNvSpPr/>
          <p:nvPr/>
        </p:nvSpPr>
        <p:spPr>
          <a:xfrm>
            <a:off x="8321040" y="3858768"/>
            <a:ext cx="45720" cy="10972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xtBox 29"/>
          <p:cNvSpPr txBox="1"/>
          <p:nvPr/>
        </p:nvSpPr>
        <p:spPr>
          <a:xfrm>
            <a:off x="8485632" y="3931920"/>
            <a:ext cx="2834640" cy="987552"/>
          </a:xfrm>
          <a:prstGeom prst="rect">
            <a:avLst/>
          </a:prstGeom>
          <a:noFill/>
        </p:spPr>
        <p:txBody>
          <a:bodyPr wrap="square" lIns="0" rIns="0" tIns="0" bIns="0" anchor="t">
            <a:spAutoFit/>
          </a:bodyPr>
          <a:lstStyle/>
          <a:p>
            <a:pPr algn="l">
              <a:spcAft>
                <a:spcPts val="400"/>
              </a:spcAft>
            </a:pPr>
            <a:r>
              <a:rPr sz="1300" b="1" i="0">
                <a:solidFill>
                  <a:srgbClr val="8A1626"/>
                </a:solidFill>
              </a:rPr>
              <a:t>Local NVMe, per server⁹</a:t>
            </a:r>
          </a:p>
          <a:p>
            <a:pPr algn="l" marL="146304" indent="-146304">
              <a:spcAft>
                <a:spcPts val="300"/>
              </a:spcAft>
              <a:buClr>
                <a:srgbClr val="A51C30"/>
              </a:buClr>
              <a:buSzPct val="100000"/>
              <a:buFont typeface="Arial"/>
              <a:buChar char="▪"/>
            </a:pPr>
            <a:r>
              <a:rPr sz="1050" b="0" i="0">
                <a:solidFill>
                  <a:srgbClr val="1A1A1A"/>
                </a:solidFill>
              </a:rPr>
              <a:t>USD 16.3 GB × 60 dates 978 + currencies 161 + a load 44 = 1,183 GB ÷ 0.61 → 3.8 TB; rebuilt from the lake, never on EFS</a:t>
            </a:r>
          </a:p>
        </p:txBody>
      </p:sp>
      <p:sp>
        <p:nvSpPr>
          <p:cNvPr id="31" name="Rectangle 30"/>
          <p:cNvSpPr/>
          <p:nvPr/>
        </p:nvSpPr>
        <p:spPr>
          <a:xfrm>
            <a:off x="8321040" y="5047488"/>
            <a:ext cx="3090672" cy="11887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Rectangle 31"/>
          <p:cNvSpPr/>
          <p:nvPr/>
        </p:nvSpPr>
        <p:spPr>
          <a:xfrm>
            <a:off x="8321040" y="5047488"/>
            <a:ext cx="45720" cy="1188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TextBox 32"/>
          <p:cNvSpPr txBox="1"/>
          <p:nvPr/>
        </p:nvSpPr>
        <p:spPr>
          <a:xfrm>
            <a:off x="8485632" y="5120640"/>
            <a:ext cx="2834640" cy="1078992"/>
          </a:xfrm>
          <a:prstGeom prst="rect">
            <a:avLst/>
          </a:prstGeom>
          <a:noFill/>
        </p:spPr>
        <p:txBody>
          <a:bodyPr wrap="square" lIns="0" rIns="0" tIns="0" bIns="0" anchor="t">
            <a:spAutoFit/>
          </a:bodyPr>
          <a:lstStyle/>
          <a:p>
            <a:pPr algn="l">
              <a:spcAft>
                <a:spcPts val="400"/>
              </a:spcAft>
            </a:pPr>
            <a:r>
              <a:rPr sz="1300" b="1" i="0">
                <a:solidFill>
                  <a:srgbClr val="8A1626"/>
                </a:solidFill>
              </a:rPr>
              <a:t>The 250-day window⁸</a:t>
            </a:r>
          </a:p>
          <a:p>
            <a:pPr algn="l" marL="146304" indent="-146304">
              <a:spcAft>
                <a:spcPts val="300"/>
              </a:spcAft>
              <a:buClr>
                <a:srgbClr val="A51C30"/>
              </a:buClr>
              <a:buSzPct val="100000"/>
              <a:buFont typeface="Arial"/>
              <a:buChar char="▪"/>
            </a:pPr>
            <a:r>
              <a:rPr sz="1050" b="0" i="0">
                <a:solidFill>
                  <a:srgbClr val="1A1A1A"/>
                </a:solidFill>
              </a:rPr>
              <a:t>1-day and 10-day cut to 250: 1,518 → 1,000 values (× 0.66); float32 14.0 → 9.2 GB; NVMe ≈ 780 GB</a:t>
            </a:r>
          </a:p>
          <a:p>
            <a:pPr algn="l" marL="146304" indent="-146304">
              <a:spcAft>
                <a:spcPts val="300"/>
              </a:spcAft>
              <a:buClr>
                <a:srgbClr val="A51C30"/>
              </a:buClr>
              <a:buSzPct val="100000"/>
              <a:buFont typeface="Arial"/>
              <a:buChar char="▪"/>
            </a:pPr>
            <a:r>
              <a:rPr sz="1050" b="0" i="0">
                <a:solidFill>
                  <a:srgbClr val="1A1A1A"/>
                </a:solidFill>
              </a:rPr>
              <a:t>The lake shrinks (37.0 → 24.3 TB) only if the bank sends 250-day sets</a:t>
            </a:r>
          </a:p>
        </p:txBody>
      </p:sp>
      <p:sp>
        <p:nvSpPr>
          <p:cNvPr id="34" name="TextBox 33"/>
          <p:cNvSpPr txBox="1"/>
          <p:nvPr/>
        </p:nvSpPr>
        <p:spPr>
          <a:xfrm>
            <a:off x="777240" y="5486400"/>
            <a:ext cx="7315200" cy="731520"/>
          </a:xfrm>
          <a:prstGeom prst="rect">
            <a:avLst/>
          </a:prstGeom>
          <a:noFill/>
        </p:spPr>
        <p:txBody>
          <a:bodyPr wrap="square" lIns="0" rIns="0" tIns="0" bIns="0" anchor="ctr">
            <a:spAutoFit/>
          </a:bodyPr>
          <a:lstStyle/>
          <a:p>
            <a:pPr algn="l"/>
            <a:r>
              <a:rPr sz="1100" b="0" i="1">
                <a:solidFill>
                  <a:srgbClr val="4A5058"/>
                </a:solidFill>
              </a:rPr>
              <a:t>With a DR copy: 158 TB provisioned (base), 314 TB (upper). Delta or Iceberg, not both. 7 × 252 = 1,764 dates; Parquet ≈ 0.75 × raw; × 2.98 = all four sets.</a:t>
            </a:r>
          </a:p>
        </p:txBody>
      </p:sp>
      <p:sp>
        <p:nvSpPr>
          <p:cNvPr id="35" name="Footnotes"/>
          <p:cNvSpPr txBox="1"/>
          <p:nvPr/>
        </p:nvSpPr>
        <p:spPr>
          <a:xfrm>
            <a:off x="2468880" y="6419088"/>
            <a:ext cx="8503920" cy="237744"/>
          </a:xfrm>
          <a:prstGeom prst="rect">
            <a:avLst/>
          </a:prstGeom>
          <a:noFill/>
        </p:spPr>
        <p:txBody>
          <a:bodyPr wrap="square" lIns="0" rIns="0" tIns="0" bIns="0" anchor="ctr">
            <a:spAutoFit/>
          </a:bodyPr>
          <a:lstStyle/>
          <a:p>
            <a:pPr algn="l"/>
            <a:r>
              <a:rPr sz="900" b="0" i="0">
                <a:solidFill>
                  <a:srgbClr val="4A5058"/>
                </a:solidFill>
              </a:rPr>
              <a:t>¹–⁹ How these figures were derived: A-3, in the appendix (Storage over 7 years)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CAPACITY · A SHARDED CLUSTER</a:t>
            </a:r>
          </a:p>
        </p:txBody>
      </p:sp>
      <p:sp>
        <p:nvSpPr>
          <p:cNvPr id="3" name="Title 2"/>
          <p:cNvSpPr>
            <a:spLocks noGrp="1"/>
          </p:cNvSpPr>
          <p:nvPr>
            <p:ph type="title" idx="104"/>
          </p:nvPr>
        </p:nvSpPr>
        <p:spPr/>
        <p:txBody>
          <a:bodyPr/>
          <a:lstStyle/>
          <a:p>
            <a:r>
              <a:t>Capacity for a sharded cluster: 6 owners, 2 coordinators, 2 consoles</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TextBox 25"/>
          <p:cNvSpPr txBox="1"/>
          <p:nvPr/>
        </p:nvSpPr>
        <p:spPr>
          <a:xfrm>
            <a:off x="777240" y="1371600"/>
            <a:ext cx="10634472" cy="292608"/>
          </a:xfrm>
          <a:prstGeom prst="rect">
            <a:avLst/>
          </a:prstGeom>
          <a:noFill/>
        </p:spPr>
        <p:txBody>
          <a:bodyPr wrap="square" lIns="0" rIns="0" tIns="0" bIns="0" anchor="ctr">
            <a:spAutoFit/>
          </a:bodyPr>
          <a:lstStyle/>
          <a:p>
            <a:pPr algn="l"/>
            <a:r>
              <a:rPr sz="1200" b="1" i="0">
                <a:solidFill>
                  <a:srgbClr val="A51C30"/>
                </a:solidFill>
              </a:rPr>
              <a:t>The scenario  </a:t>
            </a:r>
            <a:r>
              <a:rPr sz="1150" b="0" i="0">
                <a:solidFill>
                  <a:srgbClr val="1A1A1A"/>
                </a:solidFill>
              </a:rPr>
              <a:t>a bank of 2.3 million positions and 15,000 portfolios, with 1-day, 10-day and stressed VaR: 1,518 values a position, the conservative case of the single-server slides.</a:t>
            </a:r>
          </a:p>
        </p:txBody>
      </p:sp>
      <p:graphicFrame>
        <p:nvGraphicFramePr>
          <p:cNvPr id="27" name="Table 26"/>
          <p:cNvGraphicFramePr>
            <a:graphicFrameLocks noGrp="1"/>
          </p:cNvGraphicFramePr>
          <p:nvPr/>
        </p:nvGraphicFramePr>
        <p:xfrm>
          <a:off x="777240" y="1755648"/>
          <a:ext cx="10634472" cy="1316736"/>
        </p:xfrm>
        <a:graphic>
          <a:graphicData uri="http://schemas.openxmlformats.org/drawingml/2006/table">
            <a:tbl>
              <a:tblPr firstRow="0" bandRow="0">
                <a:tableStyleId>{5940675A-B579-460E-94D1-54222C63F5DA}</a:tableStyleId>
              </a:tblPr>
              <a:tblGrid>
                <a:gridCol w="3017520"/>
                <a:gridCol w="1325880"/>
                <a:gridCol w="1097280"/>
                <a:gridCol w="1508760"/>
                <a:gridCol w="594360"/>
                <a:gridCol w="1783080"/>
                <a:gridCol w="1307592"/>
              </a:tblGrid>
              <a:tr h="329184">
                <a:tc>
                  <a:txBody>
                    <a:bodyPr wrap="square"/>
                    <a:lstStyle/>
                    <a:p>
                      <a:r>
                        <a:rPr sz="1100" b="1" i="0">
                          <a:solidFill>
                            <a:srgbClr val="FFFFFF"/>
                          </a:solidFill>
                        </a:rPr>
                        <a:t>Role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Count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Heap (-Xmx)</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RAM a server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vCPU</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Local NVMe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Label</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329184">
                <a:tc>
                  <a:txBody>
                    <a:bodyPr wrap="square"/>
                    <a:lstStyle/>
                    <a:p>
                      <a:r>
                        <a:rPr sz="1100" b="1" i="0">
                          <a:solidFill>
                            <a:srgbClr val="8A1626"/>
                          </a:solidFill>
                        </a:rPr>
                        <a:t>VaR shard owners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6</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36g²</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128 GB (need 69)³</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16³</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~650 GB (need 394)¹</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1" i="0">
                          <a:solidFill>
                            <a:srgbClr val="A51C30"/>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29184">
                <a:tc>
                  <a:txBody>
                    <a:bodyPr wrap="square"/>
                    <a:lstStyle/>
                    <a:p>
                      <a:r>
                        <a:rPr sz="1100" b="1" i="0">
                          <a:solidFill>
                            <a:srgbClr val="8A1626"/>
                          </a:solidFill>
                        </a:rPr>
                        <a:t>Coordinators (coordinator-only, no shards)⁴</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2, failover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16–20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32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8</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~50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1" i="0">
                          <a:solidFill>
                            <a:srgbClr val="7A5A12"/>
                          </a:solidFill>
                        </a:rPr>
                        <a:t>ASSUMPTION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29184">
                <a:tc>
                  <a:txBody>
                    <a:bodyPr wrap="square"/>
                    <a:lstStyle/>
                    <a:p>
                      <a:r>
                        <a:rPr sz="1100" b="1" i="0">
                          <a:solidFill>
                            <a:srgbClr val="8A1626"/>
                          </a:solidFill>
                        </a:rPr>
                        <a:t>Consoles⁴</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2, load balancer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8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1" i="0">
                          <a:solidFill>
                            <a:srgbClr val="7A5A12"/>
                          </a:solidFill>
                        </a:rPr>
                        <a:t>ASSUMPTION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bl>
          </a:graphicData>
        </a:graphic>
      </p:graphicFrame>
      <p:sp>
        <p:nvSpPr>
          <p:cNvPr id="28" name="Rectangle 27"/>
          <p:cNvSpPr/>
          <p:nvPr/>
        </p:nvSpPr>
        <p:spPr>
          <a:xfrm>
            <a:off x="777240" y="3200400"/>
            <a:ext cx="3422904" cy="1600200"/>
          </a:xfrm>
          <a:prstGeom prst="rect">
            <a:avLst/>
          </a:prstGeom>
          <a:solidFill>
            <a:srgbClr val="1E1E2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TextBox 28"/>
          <p:cNvSpPr txBox="1"/>
          <p:nvPr/>
        </p:nvSpPr>
        <p:spPr>
          <a:xfrm>
            <a:off x="914400" y="3273552"/>
            <a:ext cx="3194304" cy="1481328"/>
          </a:xfrm>
          <a:prstGeom prst="rect">
            <a:avLst/>
          </a:prstGeom>
          <a:noFill/>
        </p:spPr>
        <p:txBody>
          <a:bodyPr wrap="square" lIns="0" rIns="0" tIns="0" bIns="0" anchor="t">
            <a:spAutoFit/>
          </a:bodyPr>
          <a:lstStyle/>
          <a:p>
            <a:pPr algn="l">
              <a:spcAft>
                <a:spcPts val="100"/>
              </a:spcAft>
            </a:pPr>
            <a:r>
              <a:rPr sz="1000" b="0" i="0">
                <a:solidFill>
                  <a:srgbClr val="9AA0A8"/>
                </a:solidFill>
                <a:latin typeface="Courier New"/>
              </a:rPr>
              <a:t># the market-risk pack's sharding: block</a:t>
            </a:r>
          </a:p>
          <a:p>
            <a:pPr algn="l">
              <a:spcAft>
                <a:spcPts val="100"/>
              </a:spcAft>
            </a:pPr>
            <a:r>
              <a:rPr sz="1000" b="0" i="0">
                <a:solidFill>
                  <a:srgbClr val="F1EEE9"/>
                </a:solidFill>
                <a:latin typeface="Courier New"/>
              </a:rPr>
              <a:t>sharding:</a:t>
            </a:r>
          </a:p>
          <a:p>
            <a:pPr algn="l">
              <a:spcAft>
                <a:spcPts val="100"/>
              </a:spcAft>
            </a:pPr>
            <a:r>
              <a:rPr sz="1000" b="0" i="0">
                <a:solidFill>
                  <a:srgbClr val="E8A0AC"/>
                </a:solidFill>
                <a:latin typeface="Courier New"/>
              </a:rPr>
              <a:t>  enabled: true</a:t>
            </a:r>
          </a:p>
          <a:p>
            <a:pPr algn="l">
              <a:spcAft>
                <a:spcPts val="100"/>
              </a:spcAft>
            </a:pPr>
            <a:r>
              <a:rPr sz="1000" b="0" i="0">
                <a:solidFill>
                  <a:srgbClr val="E8A0AC"/>
                </a:solidFill>
                <a:latin typeface="Courier New"/>
              </a:rPr>
              <a:t>  key: [LEGAL_ENTITY, DESK]</a:t>
            </a:r>
          </a:p>
          <a:p>
            <a:pPr algn="l">
              <a:spcAft>
                <a:spcPts val="100"/>
              </a:spcAft>
            </a:pPr>
            <a:r>
              <a:rPr sz="1000" b="0" i="0">
                <a:solidFill>
                  <a:srgbClr val="E8A0AC"/>
                </a:solidFill>
                <a:latin typeface="Courier New"/>
              </a:rPr>
              <a:t>  replicas: 2       # two zones</a:t>
            </a:r>
          </a:p>
          <a:p>
            <a:pPr algn="l">
              <a:spcAft>
                <a:spcPts val="100"/>
              </a:spcAft>
            </a:pPr>
            <a:r>
              <a:rPr sz="1000" b="0" i="0">
                <a:solidFill>
                  <a:srgbClr val="E8A0AC"/>
                </a:solidFill>
                <a:latin typeface="Courier New"/>
              </a:rPr>
              <a:t>  target-shard-mb: 2048</a:t>
            </a:r>
          </a:p>
          <a:p>
            <a:pPr algn="l">
              <a:spcAft>
                <a:spcPts val="100"/>
              </a:spcAft>
            </a:pPr>
            <a:r>
              <a:rPr sz="1000" b="0" i="0">
                <a:solidFill>
                  <a:srgbClr val="9AA0A8"/>
                </a:solidFill>
                <a:latin typeface="Courier New"/>
              </a:rPr>
              <a:t># coordinators: coordinator-only: true</a:t>
            </a:r>
          </a:p>
          <a:p>
            <a:pPr algn="l">
              <a:spcAft>
                <a:spcPts val="100"/>
              </a:spcAft>
            </a:pPr>
            <a:r>
              <a:rPr sz="1000" b="0" i="0">
                <a:solidFill>
                  <a:srgbClr val="9AA0A8"/>
                </a:solidFill>
                <a:latin typeface="Courier New"/>
              </a:rPr>
              <a:t># Java 25 -XX:+UseCompactObjectHeaders</a:t>
            </a:r>
          </a:p>
        </p:txBody>
      </p:sp>
      <p:sp>
        <p:nvSpPr>
          <p:cNvPr id="30" name="Rectangle 29"/>
          <p:cNvSpPr/>
          <p:nvPr/>
        </p:nvSpPr>
        <p:spPr>
          <a:xfrm>
            <a:off x="4383024" y="3200400"/>
            <a:ext cx="3422904" cy="16002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Rectangle 30"/>
          <p:cNvSpPr/>
          <p:nvPr/>
        </p:nvSpPr>
        <p:spPr>
          <a:xfrm>
            <a:off x="4383024" y="3200400"/>
            <a:ext cx="45720" cy="16002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TextBox 31"/>
          <p:cNvSpPr txBox="1"/>
          <p:nvPr/>
        </p:nvSpPr>
        <p:spPr>
          <a:xfrm>
            <a:off x="4538472" y="3264408"/>
            <a:ext cx="3185160" cy="1508760"/>
          </a:xfrm>
          <a:prstGeom prst="rect">
            <a:avLst/>
          </a:prstGeom>
          <a:noFill/>
        </p:spPr>
        <p:txBody>
          <a:bodyPr wrap="square" lIns="0" rIns="0" tIns="0" bIns="0" anchor="t">
            <a:spAutoFit/>
          </a:bodyPr>
          <a:lstStyle/>
          <a:p>
            <a:pPr algn="l">
              <a:spcAft>
                <a:spcPts val="300"/>
              </a:spcAft>
            </a:pPr>
            <a:r>
              <a:rPr sz="1300" b="1" i="0">
                <a:solidFill>
                  <a:srgbClr val="8A1626"/>
                </a:solidFill>
              </a:rPr>
              <a:t>Each shard on two servers</a:t>
            </a:r>
          </a:p>
          <a:p>
            <a:pPr algn="l" marL="146304" indent="-146304">
              <a:spcAft>
                <a:spcPts val="200"/>
              </a:spcAft>
              <a:buClr>
                <a:srgbClr val="A51C30"/>
              </a:buClr>
              <a:buSzPct val="100000"/>
              <a:buFont typeface="Arial"/>
              <a:buChar char="▪"/>
            </a:pPr>
            <a:r>
              <a:rPr sz="1100" b="0" i="0">
                <a:solidFill>
                  <a:srgbClr val="1A1A1A"/>
                </a:solidFill>
              </a:rPr>
              <a:t>Shards are legal entity and desk ranges near 2 GB; a desk is never split</a:t>
            </a:r>
          </a:p>
          <a:p>
            <a:pPr algn="l" marL="146304" indent="-146304">
              <a:spcAft>
                <a:spcPts val="200"/>
              </a:spcAft>
              <a:buClr>
                <a:srgbClr val="A51C30"/>
              </a:buClr>
              <a:buSzPct val="100000"/>
              <a:buFont typeface="Arial"/>
              <a:buChar char="▪"/>
            </a:pPr>
            <a:r>
              <a:rPr sz="1100" b="0" i="0">
                <a:solidFill>
                  <a:srgbClr val="1A1A1A"/>
                </a:solidFill>
              </a:rPr>
              <a:t>Any one server can fail: the other replica answers</a:t>
            </a:r>
          </a:p>
          <a:p>
            <a:pPr algn="l" marL="146304" indent="-146304">
              <a:spcAft>
                <a:spcPts val="200"/>
              </a:spcAft>
              <a:buClr>
                <a:srgbClr val="A51C30"/>
              </a:buClr>
              <a:buSzPct val="100000"/>
              <a:buFont typeface="Arial"/>
              <a:buChar char="▪"/>
            </a:pPr>
            <a:r>
              <a:rPr sz="1100" b="0" i="0">
                <a:solidFill>
                  <a:srgbClr val="1A1A1A"/>
                </a:solidFill>
              </a:rPr>
              <a:t>Replacing a server moves about 1/6 of the rows</a:t>
            </a:r>
          </a:p>
        </p:txBody>
      </p:sp>
      <p:sp>
        <p:nvSpPr>
          <p:cNvPr id="33" name="Rectangle 32"/>
          <p:cNvSpPr/>
          <p:nvPr/>
        </p:nvSpPr>
        <p:spPr>
          <a:xfrm>
            <a:off x="7988808" y="3200400"/>
            <a:ext cx="3422904" cy="1600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Rectangle 33"/>
          <p:cNvSpPr/>
          <p:nvPr/>
        </p:nvSpPr>
        <p:spPr>
          <a:xfrm>
            <a:off x="7988808" y="3200400"/>
            <a:ext cx="45720" cy="16002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TextBox 34"/>
          <p:cNvSpPr txBox="1"/>
          <p:nvPr/>
        </p:nvSpPr>
        <p:spPr>
          <a:xfrm>
            <a:off x="8144256" y="3264408"/>
            <a:ext cx="3185160" cy="1508760"/>
          </a:xfrm>
          <a:prstGeom prst="rect">
            <a:avLst/>
          </a:prstGeom>
          <a:noFill/>
        </p:spPr>
        <p:txBody>
          <a:bodyPr wrap="square" lIns="0" rIns="0" tIns="0" bIns="0" anchor="t">
            <a:spAutoFit/>
          </a:bodyPr>
          <a:lstStyle/>
          <a:p>
            <a:pPr algn="l">
              <a:spcAft>
                <a:spcPts val="300"/>
              </a:spcAft>
            </a:pPr>
            <a:r>
              <a:rPr sz="1300" b="1" i="0">
                <a:solidFill>
                  <a:srgbClr val="8A1626"/>
                </a:solidFill>
              </a:rPr>
              <a:t>Smaller options</a:t>
            </a:r>
          </a:p>
          <a:p>
            <a:pPr algn="l" marL="146304" indent="-146304">
              <a:spcAft>
                <a:spcPts val="200"/>
              </a:spcAft>
              <a:buClr>
                <a:srgbClr val="A51C30"/>
              </a:buClr>
              <a:buSzPct val="100000"/>
              <a:buFont typeface="Arial"/>
              <a:buChar char="▪"/>
            </a:pPr>
            <a:r>
              <a:rPr sz="1100" b="1" i="0">
                <a:solidFill>
                  <a:srgbClr val="8A1626"/>
                </a:solidFill>
              </a:rPr>
              <a:t>1-day VaR only⁵: </a:t>
            </a:r>
            <a:r>
              <a:rPr sz="1100" b="0" i="0">
                <a:solidFill>
                  <a:srgbClr val="1A1A1A"/>
                </a:solidFill>
              </a:rPr>
              <a:t>4 owners, 24g heap, 96 GB RAM (need 47), plus 2 coordinators</a:t>
            </a:r>
          </a:p>
          <a:p>
            <a:pPr algn="l" marL="146304" indent="-146304">
              <a:spcAft>
                <a:spcPts val="200"/>
              </a:spcAft>
              <a:buClr>
                <a:srgbClr val="A51C30"/>
              </a:buClr>
              <a:buSzPct val="100000"/>
              <a:buFont typeface="Arial"/>
              <a:buChar char="▪"/>
            </a:pPr>
            <a:r>
              <a:rPr sz="1100" b="1" i="0">
                <a:solidFill>
                  <a:srgbClr val="8A1626"/>
                </a:solidFill>
              </a:rPr>
              <a:t>Minimum start⁶: </a:t>
            </a:r>
            <a:r>
              <a:rPr sz="1100" b="0" i="0">
                <a:solidFill>
                  <a:srgbClr val="1A1A1A"/>
                </a:solidFill>
              </a:rPr>
              <a:t>3 owners and 1 coordinator, 36g heap; 192 GB RAM with 2 replicas (need 110), 128 GB with 1 (less failure headroom)</a:t>
            </a:r>
          </a:p>
        </p:txBody>
      </p:sp>
      <p:sp>
        <p:nvSpPr>
          <p:cNvPr id="36" name="Rectangle 35"/>
          <p:cNvSpPr/>
          <p:nvPr/>
        </p:nvSpPr>
        <p:spPr>
          <a:xfrm>
            <a:off x="777240" y="4919472"/>
            <a:ext cx="10634472" cy="603504"/>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7" name="Rounded Rectangle 36"/>
          <p:cNvSpPr/>
          <p:nvPr/>
        </p:nvSpPr>
        <p:spPr>
          <a:xfrm>
            <a:off x="914400" y="5120640"/>
            <a:ext cx="598932" cy="201168"/>
          </a:xfrm>
          <a:prstGeom prst="roundRect">
            <a:avLst>
              <a:gd name="adj" fmla="val 50000"/>
            </a:avLst>
          </a:prstGeom>
          <a:solidFill>
            <a:srgbClr val="FFFFFF"/>
          </a:solidFill>
          <a:ln w="12700">
            <a:solidFill>
              <a:srgbClr val="293352"/>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293352"/>
                </a:solidFill>
              </a:rPr>
              <a:t>PLANNED</a:t>
            </a:r>
          </a:p>
        </p:txBody>
      </p:sp>
      <p:sp>
        <p:nvSpPr>
          <p:cNvPr id="38" name="TextBox 37"/>
          <p:cNvSpPr txBox="1"/>
          <p:nvPr/>
        </p:nvSpPr>
        <p:spPr>
          <a:xfrm>
            <a:off x="1650492" y="4919472"/>
            <a:ext cx="9624060" cy="603504"/>
          </a:xfrm>
          <a:prstGeom prst="rect">
            <a:avLst/>
          </a:prstGeom>
          <a:noFill/>
        </p:spPr>
        <p:txBody>
          <a:bodyPr wrap="square" lIns="0" rIns="0" tIns="0" bIns="0" anchor="ctr">
            <a:spAutoFit/>
          </a:bodyPr>
          <a:lstStyle/>
          <a:p>
            <a:pPr algn="l"/>
            <a:r>
              <a:rPr sz="1100" b="1" i="0">
                <a:solidFill>
                  <a:srgbClr val="8A1626"/>
                </a:solidFill>
              </a:rPr>
              <a:t>10-day and stressed VaR are not built yet; </a:t>
            </a:r>
            <a:r>
              <a:rPr sz="1100" b="0" i="0">
                <a:solidFill>
                  <a:srgbClr val="1A1A1A"/>
                </a:solidFill>
              </a:rPr>
              <a:t>they are sized here because they triple the footprint. VaR sharding itself is built (off by default). 1-day only, six owners would need about 39 GB each.⁵</a:t>
            </a:r>
          </a:p>
        </p:txBody>
      </p:sp>
      <p:sp>
        <p:nvSpPr>
          <p:cNvPr id="39" name="Rectangle 38"/>
          <p:cNvSpPr/>
          <p:nvPr/>
        </p:nvSpPr>
        <p:spPr>
          <a:xfrm>
            <a:off x="777240" y="5614416"/>
            <a:ext cx="10634472" cy="64008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0" name="Rectangle 39"/>
          <p:cNvSpPr/>
          <p:nvPr/>
        </p:nvSpPr>
        <p:spPr>
          <a:xfrm>
            <a:off x="777240" y="5614416"/>
            <a:ext cx="54864" cy="6400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1" name="TextBox 40"/>
          <p:cNvSpPr txBox="1"/>
          <p:nvPr/>
        </p:nvSpPr>
        <p:spPr>
          <a:xfrm>
            <a:off x="1005840" y="5614416"/>
            <a:ext cx="10314432" cy="640080"/>
          </a:xfrm>
          <a:prstGeom prst="rect">
            <a:avLst/>
          </a:prstGeom>
          <a:noFill/>
        </p:spPr>
        <p:txBody>
          <a:bodyPr wrap="square" lIns="0" rIns="0" tIns="0" bIns="0" anchor="ctr">
            <a:spAutoFit/>
          </a:bodyPr>
          <a:lstStyle/>
          <a:p>
            <a:pPr algn="l"/>
            <a:r>
              <a:rPr sz="1150" b="1" i="0">
                <a:solidFill>
                  <a:srgbClr val="A51C30"/>
                </a:solidFill>
              </a:rPr>
              <a:t>Estimated, not measured at 2.3M.  </a:t>
            </a:r>
            <a:r>
              <a:rPr sz="1100" b="0" i="0">
                <a:solidFill>
                  <a:srgbClr val="1A1A1A"/>
                </a:solidFill>
              </a:rPr>
              <a:t>Every figure is scaled × 23 from the measured 100,000-trade benchmark. Next: the 200K benchmark, then a 2.3M load on one real bank server before ordering hardware.</a:t>
            </a:r>
          </a:p>
        </p:txBody>
      </p:sp>
      <p:sp>
        <p:nvSpPr>
          <p:cNvPr id="42" name="Footnotes"/>
          <p:cNvSpPr txBox="1"/>
          <p:nvPr/>
        </p:nvSpPr>
        <p:spPr>
          <a:xfrm>
            <a:off x="2468880" y="6419088"/>
            <a:ext cx="8503920" cy="237744"/>
          </a:xfrm>
          <a:prstGeom prst="rect">
            <a:avLst/>
          </a:prstGeom>
          <a:noFill/>
        </p:spPr>
        <p:txBody>
          <a:bodyPr wrap="square" lIns="0" rIns="0" tIns="0" bIns="0" anchor="ctr">
            <a:spAutoFit/>
          </a:bodyPr>
          <a:lstStyle/>
          <a:p>
            <a:pPr algn="l"/>
            <a:r>
              <a:rPr sz="900" b="0" i="0">
                <a:solidFill>
                  <a:srgbClr val="4A5058"/>
                </a:solidFill>
              </a:rPr>
              <a:t>¹–⁶ How these figures were derived: A-3, in the appendix (A sharded cluster)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CAPACITY · WHY THESE NUMBERS</a:t>
            </a:r>
          </a:p>
        </p:txBody>
      </p:sp>
      <p:sp>
        <p:nvSpPr>
          <p:cNvPr id="3" name="Title 2"/>
          <p:cNvSpPr>
            <a:spLocks noGrp="1"/>
          </p:cNvSpPr>
          <p:nvPr>
            <p:ph type="title" idx="104"/>
          </p:nvPr>
        </p:nvSpPr>
        <p:spPr/>
        <p:txBody>
          <a:bodyPr/>
          <a:lstStyle/>
          <a:p>
            <a:r>
              <a:t>Sharding divides the cache and the disk, not the heap</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graphicFrame>
        <p:nvGraphicFramePr>
          <p:cNvPr id="26" name="Chart 25"/>
          <p:cNvGraphicFramePr>
            <a:graphicFrameLocks noGrp="1"/>
          </p:cNvGraphicFramePr>
          <p:nvPr/>
        </p:nvGraphicFramePr>
        <p:xfrm>
          <a:off x="777240" y="1371600"/>
          <a:ext cx="4754880" cy="2148840"/>
        </p:xfrm>
        <a:graphic>
          <a:graphicData uri="http://schemas.openxmlformats.org/drawingml/2006/chart">
            <c:chart xmlns:c="http://schemas.openxmlformats.org/drawingml/2006/chart" r:id="rId2"/>
          </a:graphicData>
        </a:graphic>
      </p:graphicFrame>
      <p:graphicFrame>
        <p:nvGraphicFramePr>
          <p:cNvPr id="27" name="Table 26"/>
          <p:cNvGraphicFramePr>
            <a:graphicFrameLocks noGrp="1"/>
          </p:cNvGraphicFramePr>
          <p:nvPr/>
        </p:nvGraphicFramePr>
        <p:xfrm>
          <a:off x="777240" y="3657600"/>
          <a:ext cx="4754880" cy="1170432"/>
        </p:xfrm>
        <a:graphic>
          <a:graphicData uri="http://schemas.openxmlformats.org/drawingml/2006/table">
            <a:tbl>
              <a:tblPr firstRow="0" bandRow="0">
                <a:tableStyleId>{5940675A-B579-460E-94D1-54222C63F5DA}</a:tableStyleId>
              </a:tblPr>
              <a:tblGrid>
                <a:gridCol w="2286000"/>
                <a:gridCol w="1234440"/>
                <a:gridCol w="1234440"/>
              </a:tblGrid>
              <a:tr h="292608">
                <a:tc>
                  <a:txBody>
                    <a:bodyPr wrap="square"/>
                    <a:lstStyle/>
                    <a:p>
                      <a:r>
                        <a:rPr sz="1100" b="1" i="0">
                          <a:solidFill>
                            <a:srgbClr val="FFFFFF"/>
                          </a:solidFill>
                        </a:rPr>
                        <a:t>One server against six owners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One server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An owner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292608">
                <a:tc>
                  <a:txBody>
                    <a:bodyPr wrap="square"/>
                    <a:lstStyle/>
                    <a:p>
                      <a:r>
                        <a:rPr sz="1100" b="1" i="0">
                          <a:solidFill>
                            <a:srgbClr val="8A1626"/>
                          </a:solidFill>
                        </a:rPr>
                        <a:t>RAM need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151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69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92608">
                <a:tc>
                  <a:txBody>
                    <a:bodyPr wrap="square"/>
                    <a:lstStyle/>
                    <a:p>
                      <a:r>
                        <a:rPr sz="1100" b="1" i="0">
                          <a:solidFill>
                            <a:srgbClr val="8A1626"/>
                          </a:solidFill>
                        </a:rPr>
                        <a:t>vCPU</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32 needed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16 (96 in all)</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92608">
                <a:tc>
                  <a:txBody>
                    <a:bodyPr wrap="square"/>
                    <a:lstStyle/>
                    <a:p>
                      <a:r>
                        <a:rPr sz="1100" b="1" i="0">
                          <a:solidFill>
                            <a:srgbClr val="8A1626"/>
                          </a:solidFill>
                        </a:rPr>
                        <a:t>Local NVMe need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1.18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394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bl>
          </a:graphicData>
        </a:graphic>
      </p:graphicFrame>
      <p:sp>
        <p:nvSpPr>
          <p:cNvPr id="28" name="Rectangle 27"/>
          <p:cNvSpPr/>
          <p:nvPr/>
        </p:nvSpPr>
        <p:spPr>
          <a:xfrm>
            <a:off x="5806440" y="1371600"/>
            <a:ext cx="5605272" cy="126187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Rectangle 28"/>
          <p:cNvSpPr/>
          <p:nvPr/>
        </p:nvSpPr>
        <p:spPr>
          <a:xfrm>
            <a:off x="5806440" y="1371600"/>
            <a:ext cx="45720" cy="126187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xtBox 29"/>
          <p:cNvSpPr txBox="1"/>
          <p:nvPr/>
        </p:nvSpPr>
        <p:spPr>
          <a:xfrm>
            <a:off x="5961888" y="1435608"/>
            <a:ext cx="5367528" cy="1170431"/>
          </a:xfrm>
          <a:prstGeom prst="rect">
            <a:avLst/>
          </a:prstGeom>
          <a:noFill/>
        </p:spPr>
        <p:txBody>
          <a:bodyPr wrap="square" lIns="0" rIns="0" tIns="0" bIns="0" anchor="t">
            <a:spAutoFit/>
          </a:bodyPr>
          <a:lstStyle/>
          <a:p>
            <a:pPr algn="l">
              <a:spcAft>
                <a:spcPts val="300"/>
              </a:spcAft>
            </a:pPr>
            <a:r>
              <a:rPr sz="1300" b="1" i="0">
                <a:solidFill>
                  <a:srgbClr val="8A1626"/>
                </a:solidFill>
              </a:rPr>
              <a:t>Divided by the shards</a:t>
            </a:r>
          </a:p>
          <a:p>
            <a:pPr algn="l" marL="146304" indent="-146304">
              <a:spcAft>
                <a:spcPts val="200"/>
              </a:spcAft>
              <a:buClr>
                <a:srgbClr val="A51C30"/>
              </a:buClr>
              <a:buSzPct val="100000"/>
              <a:buFont typeface="Arial"/>
              <a:buChar char="▪"/>
            </a:pPr>
            <a:r>
              <a:rPr sz="1100" b="0" i="0">
                <a:solidFill>
                  <a:srgbClr val="1A1A1A"/>
                </a:solidFill>
              </a:rPr>
              <a:t>Page cache for the hot files: 78.4 GB × 2 replicas ÷ 6 owners = 26.1 GB¹</a:t>
            </a:r>
          </a:p>
          <a:p>
            <a:pPr algn="l" marL="146304" indent="-146304">
              <a:spcAft>
                <a:spcPts val="200"/>
              </a:spcAft>
              <a:buClr>
                <a:srgbClr val="A51C30"/>
              </a:buClr>
              <a:buSzPct val="100000"/>
              <a:buFont typeface="Arial"/>
              <a:buChar char="▪"/>
            </a:pPr>
            <a:r>
              <a:rPr sz="1100" b="0" i="0">
                <a:solidFill>
                  <a:srgbClr val="1A1A1A"/>
                </a:solidFill>
              </a:rPr>
              <a:t>A load's spill files: 44.2 × 1/3 = 14.7 GB; NVMe 1,183 × 1/3 = 394 GB</a:t>
            </a:r>
          </a:p>
        </p:txBody>
      </p:sp>
      <p:sp>
        <p:nvSpPr>
          <p:cNvPr id="31" name="Rectangle 30"/>
          <p:cNvSpPr/>
          <p:nvPr/>
        </p:nvSpPr>
        <p:spPr>
          <a:xfrm>
            <a:off x="5806440" y="2724912"/>
            <a:ext cx="5605272"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Rectangle 31"/>
          <p:cNvSpPr/>
          <p:nvPr/>
        </p:nvSpPr>
        <p:spPr>
          <a:xfrm>
            <a:off x="5806440" y="2724912"/>
            <a:ext cx="45720" cy="126187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TextBox 32"/>
          <p:cNvSpPr txBox="1"/>
          <p:nvPr/>
        </p:nvSpPr>
        <p:spPr>
          <a:xfrm>
            <a:off x="5961888" y="2788920"/>
            <a:ext cx="5367528" cy="1170431"/>
          </a:xfrm>
          <a:prstGeom prst="rect">
            <a:avLst/>
          </a:prstGeom>
          <a:noFill/>
        </p:spPr>
        <p:txBody>
          <a:bodyPr wrap="square" lIns="0" rIns="0" tIns="0" bIns="0" anchor="t">
            <a:spAutoFit/>
          </a:bodyPr>
          <a:lstStyle/>
          <a:p>
            <a:pPr algn="l">
              <a:spcAft>
                <a:spcPts val="300"/>
              </a:spcAft>
            </a:pPr>
            <a:r>
              <a:rPr sz="1300" b="1" i="0">
                <a:solidFill>
                  <a:srgbClr val="8A1626"/>
                </a:solidFill>
              </a:rPr>
              <a:t>Not divided: the heap</a:t>
            </a:r>
          </a:p>
          <a:p>
            <a:pPr algn="l" marL="146304" indent="-146304">
              <a:spcAft>
                <a:spcPts val="200"/>
              </a:spcAft>
              <a:buClr>
                <a:srgbClr val="A51C30"/>
              </a:buClr>
              <a:buSzPct val="100000"/>
              <a:buFont typeface="Arial"/>
              <a:buChar char="▪"/>
            </a:pPr>
            <a:r>
              <a:rPr sz="1100" b="0" i="0">
                <a:solidFill>
                  <a:srgbClr val="1A1A1A"/>
                </a:solidFill>
              </a:rPr>
              <a:t>Every member keeps the date's skeleton for all 2.3M positions (ids, columns, book and node aggregates), so it can answer any scope: about 2 GB an open date</a:t>
            </a:r>
          </a:p>
          <a:p>
            <a:pPr algn="l" marL="146304" indent="-146304">
              <a:spcAft>
                <a:spcPts val="200"/>
              </a:spcAft>
              <a:buClr>
                <a:srgbClr val="A51C30"/>
              </a:buClr>
              <a:buSzPct val="100000"/>
              <a:buFont typeface="Arial"/>
              <a:buChar char="▪"/>
            </a:pPr>
            <a:r>
              <a:rPr sz="1100" b="0" i="0">
                <a:solidFill>
                  <a:srgbClr val="1A1A1A"/>
                </a:solidFill>
              </a:rPr>
              <a:t>Two dates, the answer cache, × 1.5: 21.2 GB need → -Xmx36g with the 39% headroom; 24g for 1-day only²,⁵</a:t>
            </a:r>
          </a:p>
        </p:txBody>
      </p:sp>
      <p:sp>
        <p:nvSpPr>
          <p:cNvPr id="34" name="Rectangle 33"/>
          <p:cNvSpPr/>
          <p:nvPr/>
        </p:nvSpPr>
        <p:spPr>
          <a:xfrm>
            <a:off x="5806440" y="4078224"/>
            <a:ext cx="5605272" cy="1033271"/>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Rectangle 34"/>
          <p:cNvSpPr/>
          <p:nvPr/>
        </p:nvSpPr>
        <p:spPr>
          <a:xfrm>
            <a:off x="5806440" y="4078224"/>
            <a:ext cx="45720" cy="103327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xtBox 35"/>
          <p:cNvSpPr txBox="1"/>
          <p:nvPr/>
        </p:nvSpPr>
        <p:spPr>
          <a:xfrm>
            <a:off x="5961888" y="4142232"/>
            <a:ext cx="5367528" cy="941831"/>
          </a:xfrm>
          <a:prstGeom prst="rect">
            <a:avLst/>
          </a:prstGeom>
          <a:noFill/>
        </p:spPr>
        <p:txBody>
          <a:bodyPr wrap="square" lIns="0" rIns="0" tIns="0" bIns="0" anchor="t">
            <a:spAutoFit/>
          </a:bodyPr>
          <a:lstStyle/>
          <a:p>
            <a:pPr algn="l">
              <a:spcAft>
                <a:spcPts val="300"/>
              </a:spcAft>
            </a:pPr>
            <a:r>
              <a:rPr sz="1300" b="1" i="0">
                <a:solidFill>
                  <a:srgbClr val="8A1626"/>
                </a:solidFill>
              </a:rPr>
              <a:t>An owner: 21 + 26 + 15 + 7 = 69 GB³</a:t>
            </a:r>
          </a:p>
          <a:p>
            <a:pPr algn="l" marL="146304" indent="-146304">
              <a:spcAft>
                <a:spcPts val="200"/>
              </a:spcAft>
              <a:buClr>
                <a:srgbClr val="A51C30"/>
              </a:buClr>
              <a:buSzPct val="100000"/>
              <a:buFont typeface="Arial"/>
              <a:buChar char="▪"/>
            </a:pPr>
            <a:r>
              <a:rPr sz="1100" b="0" i="0">
                <a:solidFill>
                  <a:srgbClr val="1A1A1A"/>
                </a:solidFill>
              </a:rPr>
              <a:t>÷ 0.61 = 113 → 128 GB machines (96 GB for 1-day only)</a:t>
            </a:r>
          </a:p>
          <a:p>
            <a:pPr algn="l" marL="146304" indent="-146304">
              <a:spcAft>
                <a:spcPts val="200"/>
              </a:spcAft>
              <a:buClr>
                <a:srgbClr val="A51C30"/>
              </a:buClr>
              <a:buSzPct val="100000"/>
              <a:buFont typeface="Arial"/>
              <a:buChar char="▪"/>
            </a:pPr>
            <a:r>
              <a:rPr sz="1100" b="0" i="0">
                <a:solidFill>
                  <a:srgbClr val="1A1A1A"/>
                </a:solidFill>
              </a:rPr>
              <a:t>15,000 portfolios are light: memberships about 31 MB⁷; each portfolio a sum of its rows, in parallel across shards</a:t>
            </a:r>
          </a:p>
        </p:txBody>
      </p:sp>
      <p:sp>
        <p:nvSpPr>
          <p:cNvPr id="37" name="Rectangle 36"/>
          <p:cNvSpPr/>
          <p:nvPr/>
        </p:nvSpPr>
        <p:spPr>
          <a:xfrm>
            <a:off x="777240" y="5029200"/>
            <a:ext cx="4754880" cy="3200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Rounded Rectangle 37"/>
          <p:cNvSpPr/>
          <p:nvPr/>
        </p:nvSpPr>
        <p:spPr>
          <a:xfrm>
            <a:off x="777240" y="5093208"/>
            <a:ext cx="736092" cy="201168"/>
          </a:xfrm>
          <a:prstGeom prst="roundRect">
            <a:avLst>
              <a:gd name="adj" fmla="val 50000"/>
            </a:avLst>
          </a:prstGeom>
          <a:solidFill>
            <a:srgbClr val="FFFFFF"/>
          </a:solidFill>
          <a:ln w="12700">
            <a:solidFill>
              <a:srgbClr val="4A5058"/>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4A5058"/>
                </a:solidFill>
              </a:rPr>
              <a:t>ESTIMATED</a:t>
            </a:r>
          </a:p>
        </p:txBody>
      </p:sp>
      <p:sp>
        <p:nvSpPr>
          <p:cNvPr id="39" name="TextBox 38"/>
          <p:cNvSpPr txBox="1"/>
          <p:nvPr/>
        </p:nvSpPr>
        <p:spPr>
          <a:xfrm>
            <a:off x="1604772" y="5029200"/>
            <a:ext cx="3927348" cy="320040"/>
          </a:xfrm>
          <a:prstGeom prst="rect">
            <a:avLst/>
          </a:prstGeom>
          <a:noFill/>
        </p:spPr>
        <p:txBody>
          <a:bodyPr wrap="square" lIns="0" rIns="0" tIns="0" bIns="0" anchor="ctr">
            <a:spAutoFit/>
          </a:bodyPr>
          <a:lstStyle/>
          <a:p>
            <a:pPr algn="l"/>
            <a:r>
              <a:rPr sz="1100" b="0" i="0">
                <a:solidFill>
                  <a:srgbClr val="1A1A1A"/>
                </a:solidFill>
              </a:rPr>
              <a:t>the nightly official run over 15,000 portfolios, spread over 6 owners: minutes⁷</a:t>
            </a:r>
          </a:p>
        </p:txBody>
      </p:sp>
      <p:sp>
        <p:nvSpPr>
          <p:cNvPr id="40" name="Rectangle 39"/>
          <p:cNvSpPr/>
          <p:nvPr/>
        </p:nvSpPr>
        <p:spPr>
          <a:xfrm>
            <a:off x="777240" y="5486400"/>
            <a:ext cx="10634472" cy="77724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1" name="Rectangle 40"/>
          <p:cNvSpPr/>
          <p:nvPr/>
        </p:nvSpPr>
        <p:spPr>
          <a:xfrm>
            <a:off x="777240" y="5486400"/>
            <a:ext cx="54864" cy="7772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TextBox 41"/>
          <p:cNvSpPr txBox="1"/>
          <p:nvPr/>
        </p:nvSpPr>
        <p:spPr>
          <a:xfrm>
            <a:off x="1005840" y="5486400"/>
            <a:ext cx="10314432" cy="777240"/>
          </a:xfrm>
          <a:prstGeom prst="rect">
            <a:avLst/>
          </a:prstGeom>
          <a:noFill/>
        </p:spPr>
        <p:txBody>
          <a:bodyPr wrap="square" lIns="0" rIns="0" tIns="0" bIns="0" anchor="ctr">
            <a:spAutoFit/>
          </a:bodyPr>
          <a:lstStyle/>
          <a:p>
            <a:pPr algn="l"/>
            <a:r>
              <a:rPr sz="1150" b="1" i="0">
                <a:solidFill>
                  <a:srgbClr val="A51C30"/>
                </a:solidFill>
              </a:rPr>
              <a:t>Failure and growth.  </a:t>
            </a:r>
            <a:r>
              <a:rPr sz="1100" b="0" i="0">
                <a:solidFill>
                  <a:srgbClr val="1A1A1A"/>
                </a:solidFill>
              </a:rPr>
              <a:t>With 2 replicas any one server can fail and every scope still answers; replacing one moves about 1/6 of the rows. More positions add owners, not bigger machines. All figures ESTIMATED (× 23 from the measured 100K benchmark); next the 200K benchmark, then a 2.3M load on one real server.</a:t>
            </a:r>
          </a:p>
        </p:txBody>
      </p:sp>
      <p:sp>
        <p:nvSpPr>
          <p:cNvPr id="43" name="Footnotes"/>
          <p:cNvSpPr txBox="1"/>
          <p:nvPr/>
        </p:nvSpPr>
        <p:spPr>
          <a:xfrm>
            <a:off x="2468880" y="6419088"/>
            <a:ext cx="8503920" cy="237744"/>
          </a:xfrm>
          <a:prstGeom prst="rect">
            <a:avLst/>
          </a:prstGeom>
          <a:noFill/>
        </p:spPr>
        <p:txBody>
          <a:bodyPr wrap="square" lIns="0" rIns="0" tIns="0" bIns="0" anchor="ctr">
            <a:spAutoFit/>
          </a:bodyPr>
          <a:lstStyle/>
          <a:p>
            <a:pPr algn="l"/>
            <a:r>
              <a:rPr sz="900" b="0" i="0">
                <a:solidFill>
                  <a:srgbClr val="4A5058"/>
                </a:solidFill>
              </a:rPr>
              <a:t>¹–⁷ How these figures were derived: A-3, in the appendix (A sharded cluster)</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CONCURRENCY AND THROUGHPUT</a:t>
            </a:r>
          </a:p>
        </p:txBody>
      </p:sp>
      <p:sp>
        <p:nvSpPr>
          <p:cNvPr id="3" name="Title 2"/>
          <p:cNvSpPr>
            <a:spLocks noGrp="1"/>
          </p:cNvSpPr>
          <p:nvPr>
            <p:ph type="title" idx="104"/>
          </p:nvPr>
        </p:nvSpPr>
        <p:spPr/>
        <p:txBody>
          <a:bodyPr/>
          <a:lstStyle/>
          <a:p>
            <a:r>
              <a:t>How many people at once: what risk users can expect</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371600"/>
            <a:ext cx="3422904" cy="73152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Rectangle 26"/>
          <p:cNvSpPr/>
          <p:nvPr/>
        </p:nvSpPr>
        <p:spPr>
          <a:xfrm>
            <a:off x="777240" y="1371600"/>
            <a:ext cx="45720" cy="7315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941832" y="1389888"/>
            <a:ext cx="2142744" cy="384048"/>
          </a:xfrm>
          <a:prstGeom prst="rect">
            <a:avLst/>
          </a:prstGeom>
          <a:noFill/>
        </p:spPr>
        <p:txBody>
          <a:bodyPr wrap="square" lIns="0" rIns="0" tIns="0" bIns="0" anchor="ctr">
            <a:spAutoFit/>
          </a:bodyPr>
          <a:lstStyle/>
          <a:p>
            <a:pPr algn="l"/>
            <a:r>
              <a:rPr sz="1900" b="1" i="0">
                <a:solidFill>
                  <a:srgbClr val="8A1626"/>
                </a:solidFill>
              </a:rPr>
              <a:t>300–500⁵</a:t>
            </a:r>
          </a:p>
        </p:txBody>
      </p:sp>
      <p:sp>
        <p:nvSpPr>
          <p:cNvPr id="29" name="Rounded Rectangle 28"/>
          <p:cNvSpPr/>
          <p:nvPr/>
        </p:nvSpPr>
        <p:spPr>
          <a:xfrm>
            <a:off x="3354324" y="1463040"/>
            <a:ext cx="736092" cy="201168"/>
          </a:xfrm>
          <a:prstGeom prst="roundRect">
            <a:avLst>
              <a:gd name="adj" fmla="val 50000"/>
            </a:avLst>
          </a:prstGeom>
          <a:solidFill>
            <a:srgbClr val="FFFFFF"/>
          </a:solidFill>
          <a:ln w="12700">
            <a:solidFill>
              <a:srgbClr val="4A5058"/>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4A5058"/>
                </a:solidFill>
              </a:rPr>
              <a:t>ESTIMATED</a:t>
            </a:r>
          </a:p>
        </p:txBody>
      </p:sp>
      <p:sp>
        <p:nvSpPr>
          <p:cNvPr id="30" name="TextBox 29"/>
          <p:cNvSpPr txBox="1"/>
          <p:nvPr/>
        </p:nvSpPr>
        <p:spPr>
          <a:xfrm>
            <a:off x="941832" y="1773936"/>
            <a:ext cx="3148584" cy="292608"/>
          </a:xfrm>
          <a:prstGeom prst="rect">
            <a:avLst/>
          </a:prstGeom>
          <a:noFill/>
        </p:spPr>
        <p:txBody>
          <a:bodyPr wrap="square" lIns="0" rIns="0" tIns="0" bIns="0" anchor="ctr">
            <a:spAutoFit/>
          </a:bodyPr>
          <a:lstStyle/>
          <a:p>
            <a:pPr algn="l"/>
            <a:r>
              <a:rPr sz="1100" b="0" i="0">
                <a:solidFill>
                  <a:srgbClr val="4A5058"/>
                </a:solidFill>
              </a:rPr>
              <a:t>people active at once (1,500–5,000 named)</a:t>
            </a:r>
          </a:p>
        </p:txBody>
      </p:sp>
      <p:sp>
        <p:nvSpPr>
          <p:cNvPr id="31" name="Rectangle 30"/>
          <p:cNvSpPr/>
          <p:nvPr/>
        </p:nvSpPr>
        <p:spPr>
          <a:xfrm>
            <a:off x="4383024" y="1371600"/>
            <a:ext cx="3422904" cy="73152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Rectangle 31"/>
          <p:cNvSpPr/>
          <p:nvPr/>
        </p:nvSpPr>
        <p:spPr>
          <a:xfrm>
            <a:off x="4383024" y="1371600"/>
            <a:ext cx="45720" cy="7315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TextBox 32"/>
          <p:cNvSpPr txBox="1"/>
          <p:nvPr/>
        </p:nvSpPr>
        <p:spPr>
          <a:xfrm>
            <a:off x="4547616" y="1389888"/>
            <a:ext cx="2142744" cy="384048"/>
          </a:xfrm>
          <a:prstGeom prst="rect">
            <a:avLst/>
          </a:prstGeom>
          <a:noFill/>
        </p:spPr>
        <p:txBody>
          <a:bodyPr wrap="square" lIns="0" rIns="0" tIns="0" bIns="0" anchor="ctr">
            <a:spAutoFit/>
          </a:bodyPr>
          <a:lstStyle/>
          <a:p>
            <a:pPr algn="l"/>
            <a:r>
              <a:rPr sz="1900" b="1" i="0">
                <a:solidFill>
                  <a:srgbClr val="8A1626"/>
                </a:solidFill>
              </a:rPr>
              <a:t>330–650 req/s²</a:t>
            </a:r>
          </a:p>
        </p:txBody>
      </p:sp>
      <p:sp>
        <p:nvSpPr>
          <p:cNvPr id="34" name="Rounded Rectangle 33"/>
          <p:cNvSpPr/>
          <p:nvPr/>
        </p:nvSpPr>
        <p:spPr>
          <a:xfrm>
            <a:off x="6960108" y="1463040"/>
            <a:ext cx="736092" cy="201168"/>
          </a:xfrm>
          <a:prstGeom prst="roundRect">
            <a:avLst>
              <a:gd name="adj" fmla="val 50000"/>
            </a:avLst>
          </a:prstGeom>
          <a:solidFill>
            <a:srgbClr val="FFFFFF"/>
          </a:solidFill>
          <a:ln w="12700">
            <a:solidFill>
              <a:srgbClr val="4A5058"/>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4A5058"/>
                </a:solidFill>
              </a:rPr>
              <a:t>ESTIMATED</a:t>
            </a:r>
          </a:p>
        </p:txBody>
      </p:sp>
      <p:sp>
        <p:nvSpPr>
          <p:cNvPr id="35" name="TextBox 34"/>
          <p:cNvSpPr txBox="1"/>
          <p:nvPr/>
        </p:nvSpPr>
        <p:spPr>
          <a:xfrm>
            <a:off x="4547616" y="1773936"/>
            <a:ext cx="3148584" cy="292608"/>
          </a:xfrm>
          <a:prstGeom prst="rect">
            <a:avLst/>
          </a:prstGeom>
          <a:noFill/>
        </p:spPr>
        <p:txBody>
          <a:bodyPr wrap="square" lIns="0" rIns="0" tIns="0" bIns="0" anchor="ctr">
            <a:spAutoFit/>
          </a:bodyPr>
          <a:lstStyle/>
          <a:p>
            <a:pPr algn="l"/>
            <a:r>
              <a:rPr sz="1100" b="0" i="0">
                <a:solidFill>
                  <a:srgbClr val="4A5058"/>
                </a:solidFill>
              </a:rPr>
              <a:t>sustained to peak, the 6 + 2 + 2 cluster</a:t>
            </a:r>
          </a:p>
        </p:txBody>
      </p:sp>
      <p:sp>
        <p:nvSpPr>
          <p:cNvPr id="36" name="Rectangle 35"/>
          <p:cNvSpPr/>
          <p:nvPr/>
        </p:nvSpPr>
        <p:spPr>
          <a:xfrm>
            <a:off x="7988808" y="1371600"/>
            <a:ext cx="3422904" cy="73152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7" name="Rectangle 36"/>
          <p:cNvSpPr/>
          <p:nvPr/>
        </p:nvSpPr>
        <p:spPr>
          <a:xfrm>
            <a:off x="7988808" y="1371600"/>
            <a:ext cx="45720" cy="7315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TextBox 37"/>
          <p:cNvSpPr txBox="1"/>
          <p:nvPr/>
        </p:nvSpPr>
        <p:spPr>
          <a:xfrm>
            <a:off x="8153400" y="1389888"/>
            <a:ext cx="2142744" cy="384048"/>
          </a:xfrm>
          <a:prstGeom prst="rect">
            <a:avLst/>
          </a:prstGeom>
          <a:noFill/>
        </p:spPr>
        <p:txBody>
          <a:bodyPr wrap="square" lIns="0" rIns="0" tIns="0" bIns="0" anchor="ctr">
            <a:spAutoFit/>
          </a:bodyPr>
          <a:lstStyle/>
          <a:p>
            <a:pPr algn="l"/>
            <a:r>
              <a:rPr sz="1900" b="1" i="0">
                <a:solidFill>
                  <a:srgbClr val="8A1626"/>
                </a:solidFill>
              </a:rPr>
              <a:t>The console</a:t>
            </a:r>
          </a:p>
        </p:txBody>
      </p:sp>
      <p:sp>
        <p:nvSpPr>
          <p:cNvPr id="39" name="Rounded Rectangle 38"/>
          <p:cNvSpPr/>
          <p:nvPr/>
        </p:nvSpPr>
        <p:spPr>
          <a:xfrm>
            <a:off x="10565892" y="1463040"/>
            <a:ext cx="736092" cy="201168"/>
          </a:xfrm>
          <a:prstGeom prst="roundRect">
            <a:avLst>
              <a:gd name="adj" fmla="val 50000"/>
            </a:avLst>
          </a:prstGeom>
          <a:solidFill>
            <a:srgbClr val="FFFFFF"/>
          </a:solidFill>
          <a:ln w="12700">
            <a:solidFill>
              <a:srgbClr val="4A5058"/>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4A5058"/>
                </a:solidFill>
              </a:rPr>
              <a:t>ESTIMATED</a:t>
            </a:r>
          </a:p>
        </p:txBody>
      </p:sp>
      <p:sp>
        <p:nvSpPr>
          <p:cNvPr id="40" name="TextBox 39"/>
          <p:cNvSpPr txBox="1"/>
          <p:nvPr/>
        </p:nvSpPr>
        <p:spPr>
          <a:xfrm>
            <a:off x="8153400" y="1773936"/>
            <a:ext cx="3148584" cy="292608"/>
          </a:xfrm>
          <a:prstGeom prst="rect">
            <a:avLst/>
          </a:prstGeom>
          <a:noFill/>
        </p:spPr>
        <p:txBody>
          <a:bodyPr wrap="square" lIns="0" rIns="0" tIns="0" bIns="0" anchor="ctr">
            <a:spAutoFit/>
          </a:bodyPr>
          <a:lstStyle/>
          <a:p>
            <a:pPr algn="l"/>
            <a:r>
              <a:rPr sz="1100" b="0" i="0">
                <a:solidFill>
                  <a:srgbClr val="4A5058"/>
                </a:solidFill>
              </a:rPr>
              <a:t>is the first limit, not the VaR servers</a:t>
            </a:r>
          </a:p>
        </p:txBody>
      </p:sp>
      <p:sp>
        <p:nvSpPr>
          <p:cNvPr id="41" name="TextBox 40"/>
          <p:cNvSpPr txBox="1"/>
          <p:nvPr/>
        </p:nvSpPr>
        <p:spPr>
          <a:xfrm>
            <a:off x="777240" y="2194560"/>
            <a:ext cx="4709160" cy="274320"/>
          </a:xfrm>
          <a:prstGeom prst="rect">
            <a:avLst/>
          </a:prstGeom>
          <a:noFill/>
        </p:spPr>
        <p:txBody>
          <a:bodyPr wrap="square" lIns="0" rIns="0" tIns="0" bIns="0" anchor="ctr">
            <a:spAutoFit/>
          </a:bodyPr>
          <a:lstStyle/>
          <a:p>
            <a:pPr algn="l"/>
            <a:r>
              <a:rPr sz="1200" b="1" i="0">
                <a:solidFill>
                  <a:srgbClr val="A51C30"/>
                </a:solidFill>
              </a:rPr>
              <a:t>Measured¹  </a:t>
            </a:r>
            <a:r>
              <a:rPr sz="1050" b="0" i="0">
                <a:solidFill>
                  <a:srgbClr val="4A5058"/>
                </a:solidFill>
              </a:rPr>
              <a:t>one 24-core server, 8 GB heap, a 1.16M-trade lake</a:t>
            </a:r>
          </a:p>
        </p:txBody>
      </p:sp>
      <p:graphicFrame>
        <p:nvGraphicFramePr>
          <p:cNvPr id="42" name="Table 41"/>
          <p:cNvGraphicFramePr>
            <a:graphicFrameLocks noGrp="1"/>
          </p:cNvGraphicFramePr>
          <p:nvPr/>
        </p:nvGraphicFramePr>
        <p:xfrm>
          <a:off x="777240" y="2487168"/>
          <a:ext cx="4709160" cy="1920240"/>
        </p:xfrm>
        <a:graphic>
          <a:graphicData uri="http://schemas.openxmlformats.org/drawingml/2006/table">
            <a:tbl>
              <a:tblPr firstRow="0" bandRow="0">
                <a:tableStyleId>{5940675A-B579-460E-94D1-54222C63F5DA}</a:tableStyleId>
              </a:tblPr>
              <a:tblGrid>
                <a:gridCol w="2606040"/>
                <a:gridCol w="2103120"/>
              </a:tblGrid>
              <a:tr h="274320">
                <a:tc>
                  <a:txBody>
                    <a:bodyPr wrap="square"/>
                    <a:lstStyle/>
                    <a:p>
                      <a:r>
                        <a:rPr sz="1050" b="1" i="0">
                          <a:solidFill>
                            <a:srgbClr val="FFFFFF"/>
                          </a:solidFill>
                        </a:rPr>
                        <a:t>What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Result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274320">
                <a:tc>
                  <a:txBody>
                    <a:bodyPr wrap="square"/>
                    <a:lstStyle/>
                    <a:p>
                      <a:r>
                        <a:rPr sz="1050" b="1" i="0">
                          <a:solidFill>
                            <a:srgbClr val="8A1626"/>
                          </a:solidFill>
                        </a:rPr>
                        <a:t>Mixed reads, 100 users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 140 req/s, 0 failures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74320">
                <a:tc>
                  <a:txBody>
                    <a:bodyPr wrap="square"/>
                    <a:lstStyle/>
                    <a:p>
                      <a:r>
                        <a:rPr sz="1050" b="1" i="0">
                          <a:solidFill>
                            <a:srgbClr val="8A1626"/>
                          </a:solidFill>
                        </a:rPr>
                        <a:t>Single trade p95, 10 / 50 users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0.08 s / ≈ 1 s; then queues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74320">
                <a:tc>
                  <a:txBody>
                    <a:bodyPr wrap="square"/>
                    <a:lstStyle/>
                    <a:p>
                      <a:r>
                        <a:rPr sz="1050" b="1" i="0">
                          <a:solidFill>
                            <a:srgbClr val="8A1626"/>
                          </a:solidFill>
                        </a:rPr>
                        <a:t>One console, 50 users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 69 req/s; search ≈ 4 s (open)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74320">
                <a:tc>
                  <a:txBody>
                    <a:bodyPr wrap="square"/>
                    <a:lstStyle/>
                    <a:p>
                      <a:r>
                        <a:rPr sz="1050" b="1" i="0">
                          <a:solidFill>
                            <a:srgbClr val="8A1626"/>
                          </a:solidFill>
                        </a:rPr>
                        <a:t>VaR of a node, one user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under 1 ms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74320">
                <a:tc>
                  <a:txBody>
                    <a:bodyPr wrap="square"/>
                    <a:lstStyle/>
                    <a:p>
                      <a:r>
                        <a:rPr sz="1050" b="1" i="0">
                          <a:solidFill>
                            <a:srgbClr val="8A1626"/>
                          </a:solidFill>
                        </a:rPr>
                        <a:t>Bank minus a desk · 50K-position scope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2.6 ms · 52 ms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74320">
                <a:tc>
                  <a:txBody>
                    <a:bodyPr wrap="square"/>
                    <a:lstStyle/>
                    <a:p>
                      <a:r>
                        <a:rPr sz="1050" b="1" i="0">
                          <a:solidFill>
                            <a:srgbClr val="8A1626"/>
                          </a:solidFill>
                        </a:rPr>
                        <a:t>Whole-bank filter, 1M trades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58 ms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
        <p:nvSpPr>
          <p:cNvPr id="43" name="TextBox 42"/>
          <p:cNvSpPr txBox="1"/>
          <p:nvPr/>
        </p:nvSpPr>
        <p:spPr>
          <a:xfrm>
            <a:off x="777240" y="4443984"/>
            <a:ext cx="4709160" cy="256032"/>
          </a:xfrm>
          <a:prstGeom prst="rect">
            <a:avLst/>
          </a:prstGeom>
          <a:noFill/>
        </p:spPr>
        <p:txBody>
          <a:bodyPr wrap="square" lIns="0" rIns="0" tIns="0" bIns="0" anchor="ctr">
            <a:spAutoFit/>
          </a:bodyPr>
          <a:lstStyle/>
          <a:p>
            <a:pPr algn="l"/>
            <a:r>
              <a:rPr sz="1050" b="0" i="1">
                <a:solidFill>
                  <a:srgbClr val="4A5058"/>
                </a:solidFill>
              </a:rPr>
              <a:t>Mix: 80% trades, 10% counterparty-trade pages, 5% netting sets, 5% searches.</a:t>
            </a:r>
          </a:p>
        </p:txBody>
      </p:sp>
      <p:sp>
        <p:nvSpPr>
          <p:cNvPr id="44" name="TextBox 43"/>
          <p:cNvSpPr txBox="1"/>
          <p:nvPr/>
        </p:nvSpPr>
        <p:spPr>
          <a:xfrm>
            <a:off x="5715000" y="2194560"/>
            <a:ext cx="5696712" cy="274320"/>
          </a:xfrm>
          <a:prstGeom prst="rect">
            <a:avLst/>
          </a:prstGeom>
          <a:noFill/>
        </p:spPr>
        <p:txBody>
          <a:bodyPr wrap="square" lIns="0" rIns="0" tIns="0" bIns="0" anchor="ctr">
            <a:spAutoFit/>
          </a:bodyPr>
          <a:lstStyle/>
          <a:p>
            <a:pPr algn="l"/>
            <a:r>
              <a:rPr sz="1200" b="1" i="0">
                <a:solidFill>
                  <a:srgbClr val="A51C30"/>
                </a:solidFill>
              </a:rPr>
              <a:t>Estimated for the cluster  </a:t>
            </a:r>
            <a:r>
              <a:rPr sz="1050" b="0" i="0">
                <a:solidFill>
                  <a:srgbClr val="4A5058"/>
                </a:solidFill>
              </a:rPr>
              <a:t>8 servers, each answers any scope</a:t>
            </a:r>
          </a:p>
        </p:txBody>
      </p:sp>
      <p:graphicFrame>
        <p:nvGraphicFramePr>
          <p:cNvPr id="45" name="Table 44"/>
          <p:cNvGraphicFramePr>
            <a:graphicFrameLocks noGrp="1"/>
          </p:cNvGraphicFramePr>
          <p:nvPr/>
        </p:nvGraphicFramePr>
        <p:xfrm>
          <a:off x="5715000" y="2487168"/>
          <a:ext cx="5696711" cy="2304288"/>
        </p:xfrm>
        <a:graphic>
          <a:graphicData uri="http://schemas.openxmlformats.org/drawingml/2006/table">
            <a:tbl>
              <a:tblPr firstRow="0" bandRow="0">
                <a:tableStyleId>{5940675A-B579-460E-94D1-54222C63F5DA}</a:tableStyleId>
              </a:tblPr>
              <a:tblGrid>
                <a:gridCol w="1325880"/>
                <a:gridCol w="1874519"/>
                <a:gridCol w="2496312"/>
              </a:tblGrid>
              <a:tr h="384048">
                <a:tc>
                  <a:txBody>
                    <a:bodyPr wrap="square"/>
                    <a:lstStyle/>
                    <a:p>
                      <a:r>
                        <a:rPr sz="1050" b="1" i="0">
                          <a:solidFill>
                            <a:srgbClr val="FFFFFF"/>
                          </a:solidFill>
                        </a:rPr>
                        <a:t>Layer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Capacity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Basis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384048">
                <a:tc>
                  <a:txBody>
                    <a:bodyPr wrap="square"/>
                    <a:lstStyle/>
                    <a:p>
                      <a:r>
                        <a:rPr sz="1050" b="1" i="0">
                          <a:solidFill>
                            <a:srgbClr val="8A1626"/>
                          </a:solidFill>
                        </a:rPr>
                        <a:t>Servers²</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~650 req/s peak, ~330 sustained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140 measured on 24 cores → ~93 a 16-vCPU, ~47 an 8-vCPU server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84048">
                <a:tc>
                  <a:txBody>
                    <a:bodyPr wrap="square"/>
                    <a:lstStyle/>
                    <a:p>
                      <a:r>
                        <a:rPr sz="1050" b="1" i="0">
                          <a:solidFill>
                            <a:srgbClr val="8A1626"/>
                          </a:solidFill>
                        </a:rPr>
                        <a:t>VaR queries³</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thousands/s for nodes; ~10–25/s whole-bank filters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nodes from totals; a filter reads ~4.7 GB over 6 owners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84048">
                <a:tc>
                  <a:txBody>
                    <a:bodyPr wrap="square"/>
                    <a:lstStyle/>
                    <a:p>
                      <a:r>
                        <a:rPr sz="1050" b="1" i="0">
                          <a:solidFill>
                            <a:srgbClr val="8A1626"/>
                          </a:solidFill>
                        </a:rPr>
                        <a:t>Consoles (2 × 4 vCPU)⁴</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~100–140 page loads/s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69 measured a console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84048">
                <a:tc>
                  <a:txBody>
                    <a:bodyPr wrap="square"/>
                    <a:lstStyle/>
                    <a:p>
                      <a:r>
                        <a:rPr sz="1050" b="1" i="0">
                          <a:solidFill>
                            <a:srgbClr val="8A1626"/>
                          </a:solidFill>
                        </a:rPr>
                        <a:t>Active users⁵</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~300–500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consoles first: a page every 10 s, 3–5 calls: 0.3–0.5 req/s each</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84048">
                <a:tc>
                  <a:txBody>
                    <a:bodyPr wrap="square"/>
                    <a:lstStyle/>
                    <a:p>
                      <a:r>
                        <a:rPr sz="1050" b="1" i="0">
                          <a:solidFill>
                            <a:srgbClr val="8A1626"/>
                          </a:solidFill>
                        </a:rPr>
                        <a:t>Named users⁶</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~1,500–5,000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10–20% active at once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bl>
          </a:graphicData>
        </a:graphic>
      </p:graphicFrame>
      <p:sp>
        <p:nvSpPr>
          <p:cNvPr id="46" name="Rectangle 45"/>
          <p:cNvSpPr/>
          <p:nvPr/>
        </p:nvSpPr>
        <p:spPr>
          <a:xfrm>
            <a:off x="777240" y="4754880"/>
            <a:ext cx="10634472" cy="786384"/>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7" name="TextBox 46"/>
          <p:cNvSpPr txBox="1"/>
          <p:nvPr/>
        </p:nvSpPr>
        <p:spPr>
          <a:xfrm>
            <a:off x="914400" y="4791456"/>
            <a:ext cx="10360152" cy="731520"/>
          </a:xfrm>
          <a:prstGeom prst="rect">
            <a:avLst/>
          </a:prstGeom>
          <a:noFill/>
        </p:spPr>
        <p:txBody>
          <a:bodyPr wrap="square" lIns="0" rIns="0" tIns="0" bIns="0" anchor="ctr">
            <a:spAutoFit/>
          </a:bodyPr>
          <a:lstStyle/>
          <a:p>
            <a:pPr algn="l"/>
            <a:r>
              <a:rPr sz="1150" b="1" i="0">
                <a:solidFill>
                  <a:srgbClr val="A51C30"/>
                </a:solidFill>
              </a:rPr>
              <a:t>What limits it first  </a:t>
            </a:r>
            <a:r>
              <a:rPr sz="1100" b="0" i="0">
                <a:solidFill>
                  <a:srgbClr val="1A1A1A"/>
                </a:solidFill>
              </a:rPr>
              <a:t>1  the consoles: add more behind the load balancer (sticky sessions for live tabs); 4 handle about double.  2  many whole-bank ad-hoc filters at once, the morning risk meeting; node and hierarchy questions are cheap.  3  live tabs and streams: each open live view holds a connection.</a:t>
            </a:r>
          </a:p>
        </p:txBody>
      </p:sp>
      <p:sp>
        <p:nvSpPr>
          <p:cNvPr id="48" name="Rectangle 47"/>
          <p:cNvSpPr/>
          <p:nvPr/>
        </p:nvSpPr>
        <p:spPr>
          <a:xfrm>
            <a:off x="777240" y="5614416"/>
            <a:ext cx="10634472" cy="64008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9" name="Rectangle 48"/>
          <p:cNvSpPr/>
          <p:nvPr/>
        </p:nvSpPr>
        <p:spPr>
          <a:xfrm>
            <a:off x="777240" y="5614416"/>
            <a:ext cx="54864" cy="6400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0" name="TextBox 49"/>
          <p:cNvSpPr txBox="1"/>
          <p:nvPr/>
        </p:nvSpPr>
        <p:spPr>
          <a:xfrm>
            <a:off x="1005840" y="5614416"/>
            <a:ext cx="10314432" cy="640080"/>
          </a:xfrm>
          <a:prstGeom prst="rect">
            <a:avLst/>
          </a:prstGeom>
          <a:noFill/>
        </p:spPr>
        <p:txBody>
          <a:bodyPr wrap="square" lIns="0" rIns="0" tIns="0" bIns="0" anchor="ctr">
            <a:spAutoFit/>
          </a:bodyPr>
          <a:lstStyle/>
          <a:p>
            <a:pPr algn="l"/>
            <a:r>
              <a:rPr sz="1150" b="1" i="0">
                <a:solidFill>
                  <a:srgbClr val="A51C30"/>
                </a:solidFill>
              </a:rPr>
              <a:t>Not measured yet: VaR under many users.  </a:t>
            </a:r>
            <a:r>
              <a:rPr sz="1100" b="0" i="0">
                <a:solidFill>
                  <a:srgbClr val="1A1A1A"/>
                </a:solidFill>
              </a:rPr>
              <a:t>Next: a concurrency test in the 200K benchmark (50, 100 and 200 users, a realistic VaR mix, against the sharded cluster), then again at 2.3M on a bank server.</a:t>
            </a:r>
          </a:p>
        </p:txBody>
      </p:sp>
      <p:sp>
        <p:nvSpPr>
          <p:cNvPr id="51" name="Footnotes"/>
          <p:cNvSpPr txBox="1"/>
          <p:nvPr/>
        </p:nvSpPr>
        <p:spPr>
          <a:xfrm>
            <a:off x="2468880" y="6419088"/>
            <a:ext cx="8503920" cy="237744"/>
          </a:xfrm>
          <a:prstGeom prst="rect">
            <a:avLst/>
          </a:prstGeom>
          <a:noFill/>
        </p:spPr>
        <p:txBody>
          <a:bodyPr wrap="square" lIns="0" rIns="0" tIns="0" bIns="0" anchor="ctr">
            <a:spAutoFit/>
          </a:bodyPr>
          <a:lstStyle/>
          <a:p>
            <a:pPr algn="l"/>
            <a:r>
              <a:rPr sz="900" b="0" i="0">
                <a:solidFill>
                  <a:srgbClr val="4A5058"/>
                </a:solidFill>
              </a:rPr>
              <a:t>¹–⁶ How these figures were derived: A-4, in the appendix (Concurrency and throughput)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hapter background"/>
          <p:cNvSpPr/>
          <p:nvPr/>
        </p:nvSpPr>
        <p:spPr>
          <a:xfrm>
            <a:off x="0" y="0"/>
            <a:ext cx="12191969"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chapter number"/>
          <p:cNvSpPr txBox="1"/>
          <p:nvPr/>
        </p:nvSpPr>
        <p:spPr>
          <a:xfrm>
            <a:off x="4754880" y="-822960"/>
            <a:ext cx="7223760" cy="7863840"/>
          </a:xfrm>
          <a:prstGeom prst="rect">
            <a:avLst/>
          </a:prstGeom>
          <a:noFill/>
        </p:spPr>
        <p:txBody>
          <a:bodyPr wrap="none" lIns="0" rIns="0" tIns="0" bIns="0" anchor="ctr">
            <a:spAutoFit/>
          </a:bodyPr>
          <a:lstStyle/>
          <a:p>
            <a:pPr algn="r"/>
            <a:r>
              <a:rPr sz="42000" b="1" i="0">
                <a:solidFill>
                  <a:srgbClr val="B8394C"/>
                </a:solidFill>
              </a:rPr>
              <a:t>06</a:t>
            </a:r>
          </a:p>
        </p:txBody>
      </p:sp>
      <p:sp>
        <p:nvSpPr>
          <p:cNvPr id="4" name="chapter name"/>
          <p:cNvSpPr txBox="1"/>
          <p:nvPr/>
        </p:nvSpPr>
        <p:spPr>
          <a:xfrm>
            <a:off x="822960" y="2514600"/>
            <a:ext cx="6949440" cy="1828800"/>
          </a:xfrm>
          <a:prstGeom prst="rect">
            <a:avLst/>
          </a:prstGeom>
          <a:noFill/>
        </p:spPr>
        <p:txBody>
          <a:bodyPr wrap="square" lIns="0" rIns="0" tIns="0" bIns="0" anchor="ctr">
            <a:spAutoFit/>
          </a:bodyPr>
          <a:lstStyle/>
          <a:p>
            <a:pPr algn="l"/>
            <a:r>
              <a:rPr sz="4400" b="1" i="0">
                <a:solidFill>
                  <a:srgbClr val="FFFFFF"/>
                </a:solidFill>
              </a:rPr>
              <a:t>Storage and deployment</a:t>
            </a:r>
          </a:p>
        </p:txBody>
      </p:sp>
      <p:pic>
        <p:nvPicPr>
          <p:cNvPr id="5" name="Drishti mark" descr="Drishti logo: an eye between curly brackets"/>
          <p:cNvPicPr>
            <a:picLocks noChangeAspect="1"/>
          </p:cNvPicPr>
          <p:nvPr/>
        </p:nvPicPr>
        <p:blipFill>
          <a:blip r:embed="rId2"/>
          <a:stretch>
            <a:fillRect/>
          </a:stretch>
        </p:blipFill>
        <p:spPr>
          <a:xfrm>
            <a:off x="822960" y="6236208"/>
            <a:ext cx="430911" cy="237744"/>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DELTA LAKE AND SCALE-OUT</a:t>
            </a:r>
          </a:p>
        </p:txBody>
      </p:sp>
      <p:sp>
        <p:nvSpPr>
          <p:cNvPr id="3" name="Title 2"/>
          <p:cNvSpPr>
            <a:spLocks noGrp="1"/>
          </p:cNvSpPr>
          <p:nvPr>
            <p:ph type="title" idx="104"/>
          </p:nvPr>
        </p:nvSpPr>
        <p:spPr/>
        <p:txBody>
          <a:bodyPr/>
          <a:lstStyle/>
          <a:p>
            <a:r>
              <a:t>Delta for history and reproducibility, Drishti*net for scale-out</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17320"/>
            <a:ext cx="5989320" cy="34290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TextBox 26"/>
          <p:cNvSpPr txBox="1"/>
          <p:nvPr/>
        </p:nvSpPr>
        <p:spPr>
          <a:xfrm>
            <a:off x="868680" y="1417320"/>
            <a:ext cx="4800600" cy="342900"/>
          </a:xfrm>
          <a:prstGeom prst="rect">
            <a:avLst/>
          </a:prstGeom>
          <a:noFill/>
        </p:spPr>
        <p:txBody>
          <a:bodyPr wrap="square" lIns="0" rIns="0" tIns="0" bIns="0" anchor="ctr">
            <a:spAutoFit/>
          </a:bodyPr>
          <a:lstStyle/>
          <a:p>
            <a:pPr algn="l"/>
            <a:r>
              <a:rPr sz="1150" b="1" i="0">
                <a:solidFill>
                  <a:srgbClr val="8A1626"/>
                </a:solidFill>
              </a:rPr>
              <a:t>Partition by business_date; 7 years of time travel</a:t>
            </a:r>
          </a:p>
          <a:p>
            <a:pPr algn="l"/>
            <a:r>
              <a:rPr sz="1050" b="0" i="0">
                <a:solidFill>
                  <a:srgbClr val="4A5058"/>
                </a:solidFill>
              </a:rPr>
              <a:t>full run replaces a date; restatement = new commit</a:t>
            </a:r>
          </a:p>
        </p:txBody>
      </p:sp>
      <p:sp>
        <p:nvSpPr>
          <p:cNvPr id="28" name="Rectangle 27"/>
          <p:cNvSpPr/>
          <p:nvPr/>
        </p:nvSpPr>
        <p:spPr>
          <a:xfrm>
            <a:off x="777240" y="1787652"/>
            <a:ext cx="5989320" cy="342900"/>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TextBox 28"/>
          <p:cNvSpPr txBox="1"/>
          <p:nvPr/>
        </p:nvSpPr>
        <p:spPr>
          <a:xfrm>
            <a:off x="868680" y="1787652"/>
            <a:ext cx="4800600" cy="342900"/>
          </a:xfrm>
          <a:prstGeom prst="rect">
            <a:avLst/>
          </a:prstGeom>
          <a:noFill/>
        </p:spPr>
        <p:txBody>
          <a:bodyPr wrap="square" lIns="0" rIns="0" tIns="0" bIns="0" anchor="ctr">
            <a:spAutoFit/>
          </a:bodyPr>
          <a:lstStyle/>
          <a:p>
            <a:pPr algn="l"/>
            <a:r>
              <a:rPr sz="1150" b="1" i="0">
                <a:solidFill>
                  <a:srgbClr val="8A1626"/>
                </a:solidFill>
              </a:rPr>
              <a:t>Vector column list&lt;double&gt;, float64</a:t>
            </a:r>
          </a:p>
          <a:p>
            <a:pPr algn="l"/>
            <a:r>
              <a:rPr sz="1050" b="0" i="0">
                <a:solidFill>
                  <a:srgbClr val="4A5058"/>
                </a:solidFill>
              </a:rPr>
              <a:t>standard Parquet; a sum reads one column</a:t>
            </a:r>
          </a:p>
        </p:txBody>
      </p:sp>
      <p:sp>
        <p:nvSpPr>
          <p:cNvPr id="30" name="Rectangle 29"/>
          <p:cNvSpPr/>
          <p:nvPr/>
        </p:nvSpPr>
        <p:spPr>
          <a:xfrm>
            <a:off x="777240" y="2157984"/>
            <a:ext cx="5989320" cy="34290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TextBox 30"/>
          <p:cNvSpPr txBox="1"/>
          <p:nvPr/>
        </p:nvSpPr>
        <p:spPr>
          <a:xfrm>
            <a:off x="868680" y="2157984"/>
            <a:ext cx="4800600" cy="342900"/>
          </a:xfrm>
          <a:prstGeom prst="rect">
            <a:avLst/>
          </a:prstGeom>
          <a:noFill/>
        </p:spPr>
        <p:txBody>
          <a:bodyPr wrap="square" lIns="0" rIns="0" tIns="0" bIns="0" anchor="ctr">
            <a:spAutoFit/>
          </a:bodyPr>
          <a:lstStyle/>
          <a:p>
            <a:pPr algn="l"/>
            <a:r>
              <a:rPr sz="1150" b="1" i="0">
                <a:solidFill>
                  <a:srgbClr val="8A1626"/>
                </a:solidFill>
              </a:rPr>
              <a:t>Compaction + checkpoints (lake maintain)</a:t>
            </a:r>
          </a:p>
          <a:p>
            <a:pPr algn="l"/>
            <a:r>
              <a:rPr sz="1050" b="0" i="0">
                <a:solidFill>
                  <a:srgbClr val="4A5058"/>
                </a:solidFill>
              </a:rPr>
              <a:t>many small intraday commits stay fast</a:t>
            </a:r>
          </a:p>
        </p:txBody>
      </p:sp>
      <p:sp>
        <p:nvSpPr>
          <p:cNvPr id="32" name="Rectangle 31"/>
          <p:cNvSpPr/>
          <p:nvPr/>
        </p:nvSpPr>
        <p:spPr>
          <a:xfrm>
            <a:off x="777240" y="2528316"/>
            <a:ext cx="5989320" cy="342900"/>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TextBox 32"/>
          <p:cNvSpPr txBox="1"/>
          <p:nvPr/>
        </p:nvSpPr>
        <p:spPr>
          <a:xfrm>
            <a:off x="868680" y="2528316"/>
            <a:ext cx="4800600" cy="342900"/>
          </a:xfrm>
          <a:prstGeom prst="rect">
            <a:avLst/>
          </a:prstGeom>
          <a:noFill/>
        </p:spPr>
        <p:txBody>
          <a:bodyPr wrap="square" lIns="0" rIns="0" tIns="0" bIns="0" anchor="ctr">
            <a:spAutoFit/>
          </a:bodyPr>
          <a:lstStyle/>
          <a:p>
            <a:pPr algn="l"/>
            <a:r>
              <a:rPr sz="1150" b="1" i="0">
                <a:solidFill>
                  <a:srgbClr val="8A1626"/>
                </a:solidFill>
              </a:rPr>
              <a:t>Sorted by LE and desk; ZSTD + byte-stream split</a:t>
            </a:r>
          </a:p>
          <a:p>
            <a:pPr algn="l"/>
            <a:r>
              <a:rPr sz="1050" b="0" i="0">
                <a:solidFill>
                  <a:srgbClr val="4A5058"/>
                </a:solidFill>
              </a:rPr>
              <a:t>the parallel loader: shard-aligned files, a node a run of rows</a:t>
            </a:r>
          </a:p>
        </p:txBody>
      </p:sp>
      <p:sp>
        <p:nvSpPr>
          <p:cNvPr id="34" name="Rectangle 33"/>
          <p:cNvSpPr/>
          <p:nvPr/>
        </p:nvSpPr>
        <p:spPr>
          <a:xfrm>
            <a:off x="777240" y="2898648"/>
            <a:ext cx="5989320" cy="34290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TextBox 34"/>
          <p:cNvSpPr txBox="1"/>
          <p:nvPr/>
        </p:nvSpPr>
        <p:spPr>
          <a:xfrm>
            <a:off x="868680" y="2898648"/>
            <a:ext cx="4800600" cy="342900"/>
          </a:xfrm>
          <a:prstGeom prst="rect">
            <a:avLst/>
          </a:prstGeom>
          <a:noFill/>
        </p:spPr>
        <p:txBody>
          <a:bodyPr wrap="square" lIns="0" rIns="0" tIns="0" bIns="0" anchor="ctr">
            <a:spAutoFit/>
          </a:bodyPr>
          <a:lstStyle/>
          <a:p>
            <a:pPr algn="l"/>
            <a:r>
              <a:rPr sz="1150" b="1" i="0">
                <a:solidFill>
                  <a:srgbClr val="8A1626"/>
                </a:solidFill>
              </a:rPr>
              <a:t>Z-order or liquid clustering by book and portfolio</a:t>
            </a:r>
          </a:p>
          <a:p>
            <a:pPr algn="l"/>
            <a:r>
              <a:rPr sz="1050" b="0" i="0">
                <a:solidFill>
                  <a:srgbClr val="4A5058"/>
                </a:solidFill>
              </a:rPr>
              <a:t>skip files for a desk's or portfolio's read</a:t>
            </a:r>
          </a:p>
        </p:txBody>
      </p:sp>
      <p:sp>
        <p:nvSpPr>
          <p:cNvPr id="36" name="Rounded Rectangle 35"/>
          <p:cNvSpPr/>
          <p:nvPr/>
        </p:nvSpPr>
        <p:spPr>
          <a:xfrm>
            <a:off x="6007608" y="2969514"/>
            <a:ext cx="667512" cy="201168"/>
          </a:xfrm>
          <a:prstGeom prst="roundRect">
            <a:avLst>
              <a:gd name="adj" fmla="val 50000"/>
            </a:avLst>
          </a:prstGeom>
          <a:solidFill>
            <a:srgbClr val="FFFFFF"/>
          </a:solidFill>
          <a:ln w="12700">
            <a:solidFill>
              <a:srgbClr val="4A505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4A5058"/>
                </a:solidFill>
              </a:rPr>
              <a:t>PROPOSED</a:t>
            </a:r>
          </a:p>
        </p:txBody>
      </p:sp>
      <p:sp>
        <p:nvSpPr>
          <p:cNvPr id="37" name="Rectangle 36"/>
          <p:cNvSpPr/>
          <p:nvPr/>
        </p:nvSpPr>
        <p:spPr>
          <a:xfrm>
            <a:off x="777240" y="3268980"/>
            <a:ext cx="5989320" cy="342900"/>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TextBox 37"/>
          <p:cNvSpPr txBox="1"/>
          <p:nvPr/>
        </p:nvSpPr>
        <p:spPr>
          <a:xfrm>
            <a:off x="868680" y="3268980"/>
            <a:ext cx="4800600" cy="342900"/>
          </a:xfrm>
          <a:prstGeom prst="rect">
            <a:avLst/>
          </a:prstGeom>
          <a:noFill/>
        </p:spPr>
        <p:txBody>
          <a:bodyPr wrap="square" lIns="0" rIns="0" tIns="0" bIns="0" anchor="ctr">
            <a:spAutoFit/>
          </a:bodyPr>
          <a:lstStyle/>
          <a:p>
            <a:pPr algn="l"/>
            <a:r>
              <a:rPr sz="1150" b="1" i="0">
                <a:solidFill>
                  <a:srgbClr val="8A1626"/>
                </a:solidFill>
              </a:rPr>
              <a:t>Published node and portfolio vector table</a:t>
            </a:r>
          </a:p>
          <a:p>
            <a:pPr algn="l"/>
            <a:r>
              <a:rPr sz="1050" b="0" i="0">
                <a:solidFill>
                  <a:srgbClr val="4A5058"/>
                </a:solidFill>
              </a:rPr>
              <a:t>BI and peers read sums, not 2.3M rows</a:t>
            </a:r>
          </a:p>
        </p:txBody>
      </p:sp>
      <p:sp>
        <p:nvSpPr>
          <p:cNvPr id="39" name="Rounded Rectangle 38"/>
          <p:cNvSpPr/>
          <p:nvPr/>
        </p:nvSpPr>
        <p:spPr>
          <a:xfrm>
            <a:off x="6007608" y="3339846"/>
            <a:ext cx="667512" cy="201168"/>
          </a:xfrm>
          <a:prstGeom prst="roundRect">
            <a:avLst>
              <a:gd name="adj" fmla="val 50000"/>
            </a:avLst>
          </a:prstGeom>
          <a:solidFill>
            <a:srgbClr val="FFFFFF"/>
          </a:solidFill>
          <a:ln w="12700">
            <a:solidFill>
              <a:srgbClr val="4A505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4A5058"/>
                </a:solidFill>
              </a:rPr>
              <a:t>PROPOSED</a:t>
            </a:r>
          </a:p>
        </p:txBody>
      </p:sp>
      <p:sp>
        <p:nvSpPr>
          <p:cNvPr id="40" name="Rectangle 39"/>
          <p:cNvSpPr/>
          <p:nvPr/>
        </p:nvSpPr>
        <p:spPr>
          <a:xfrm>
            <a:off x="777240" y="3639312"/>
            <a:ext cx="5989320" cy="34290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1" name="TextBox 40"/>
          <p:cNvSpPr txBox="1"/>
          <p:nvPr/>
        </p:nvSpPr>
        <p:spPr>
          <a:xfrm>
            <a:off x="868680" y="3639312"/>
            <a:ext cx="4800600" cy="342900"/>
          </a:xfrm>
          <a:prstGeom prst="rect">
            <a:avLst/>
          </a:prstGeom>
          <a:noFill/>
        </p:spPr>
        <p:txBody>
          <a:bodyPr wrap="square" lIns="0" rIns="0" tIns="0" bIns="0" anchor="ctr">
            <a:spAutoFit/>
          </a:bodyPr>
          <a:lstStyle/>
          <a:p>
            <a:pPr algn="l"/>
            <a:r>
              <a:rPr sz="1150" b="1" i="0">
                <a:solidFill>
                  <a:srgbClr val="8A1626"/>
                </a:solidFill>
              </a:rPr>
              <a:t>Change data feed on the input tables</a:t>
            </a:r>
          </a:p>
          <a:p>
            <a:pPr algn="l"/>
            <a:r>
              <a:rPr sz="1050" b="0" i="0">
                <a:solidFill>
                  <a:srgbClr val="4A5058"/>
                </a:solidFill>
              </a:rPr>
              <a:t>follow intraday deltas downstream</a:t>
            </a:r>
          </a:p>
        </p:txBody>
      </p:sp>
      <p:sp>
        <p:nvSpPr>
          <p:cNvPr id="42" name="Rounded Rectangle 41"/>
          <p:cNvSpPr/>
          <p:nvPr/>
        </p:nvSpPr>
        <p:spPr>
          <a:xfrm>
            <a:off x="6007608" y="3710178"/>
            <a:ext cx="667512" cy="201168"/>
          </a:xfrm>
          <a:prstGeom prst="roundRect">
            <a:avLst>
              <a:gd name="adj" fmla="val 50000"/>
            </a:avLst>
          </a:prstGeom>
          <a:solidFill>
            <a:srgbClr val="FFFFFF"/>
          </a:solidFill>
          <a:ln w="12700">
            <a:solidFill>
              <a:srgbClr val="4A505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4A5058"/>
                </a:solidFill>
              </a:rPr>
              <a:t>PROPOSED</a:t>
            </a:r>
          </a:p>
        </p:txBody>
      </p:sp>
      <p:sp>
        <p:nvSpPr>
          <p:cNvPr id="43" name="Rectangle 42"/>
          <p:cNvSpPr/>
          <p:nvPr/>
        </p:nvSpPr>
        <p:spPr>
          <a:xfrm>
            <a:off x="777240" y="4009644"/>
            <a:ext cx="5989320" cy="342900"/>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4" name="TextBox 43"/>
          <p:cNvSpPr txBox="1"/>
          <p:nvPr/>
        </p:nvSpPr>
        <p:spPr>
          <a:xfrm>
            <a:off x="868680" y="4009644"/>
            <a:ext cx="4800600" cy="342900"/>
          </a:xfrm>
          <a:prstGeom prst="rect">
            <a:avLst/>
          </a:prstGeom>
          <a:noFill/>
        </p:spPr>
        <p:txBody>
          <a:bodyPr wrap="square" lIns="0" rIns="0" tIns="0" bIns="0" anchor="ctr">
            <a:spAutoFit/>
          </a:bodyPr>
          <a:lstStyle/>
          <a:p>
            <a:pPr algn="l"/>
            <a:r>
              <a:rPr sz="1150" b="1" i="0">
                <a:solidFill>
                  <a:srgbClr val="8A1626"/>
                </a:solidFill>
              </a:rPr>
              <a:t>Delta inputs on S3 (reading)</a:t>
            </a:r>
          </a:p>
          <a:p>
            <a:pPr algn="l"/>
            <a:r>
              <a:rPr sz="1050" b="0" i="0">
                <a:solidFill>
                  <a:srgbClr val="4A5058"/>
                </a:solidFill>
              </a:rPr>
              <a:t>the Delta plugin reads s3:// tables</a:t>
            </a:r>
          </a:p>
        </p:txBody>
      </p:sp>
      <p:sp>
        <p:nvSpPr>
          <p:cNvPr id="45" name="Rectangle 44"/>
          <p:cNvSpPr/>
          <p:nvPr/>
        </p:nvSpPr>
        <p:spPr>
          <a:xfrm>
            <a:off x="777240" y="4379976"/>
            <a:ext cx="5989320" cy="34290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6" name="TextBox 45"/>
          <p:cNvSpPr txBox="1"/>
          <p:nvPr/>
        </p:nvSpPr>
        <p:spPr>
          <a:xfrm>
            <a:off x="868680" y="4379976"/>
            <a:ext cx="4800600" cy="342900"/>
          </a:xfrm>
          <a:prstGeom prst="rect">
            <a:avLst/>
          </a:prstGeom>
          <a:noFill/>
        </p:spPr>
        <p:txBody>
          <a:bodyPr wrap="square" lIns="0" rIns="0" tIns="0" bIns="0" anchor="ctr">
            <a:spAutoFit/>
          </a:bodyPr>
          <a:lstStyle/>
          <a:p>
            <a:pPr algn="l"/>
            <a:r>
              <a:rPr sz="1150" b="1" i="0">
                <a:solidFill>
                  <a:srgbClr val="8A1626"/>
                </a:solidFill>
              </a:rPr>
              <a:t>Iceberg for VaR, intraday and exposure</a:t>
            </a:r>
          </a:p>
          <a:p>
            <a:pPr algn="l"/>
            <a:r>
              <a:rPr sz="1050" b="0" i="0">
                <a:solidFill>
                  <a:srgbClr val="4A5058"/>
                </a:solidFill>
              </a:rPr>
              <a:t>equal to Delta to the cent; Delta the default</a:t>
            </a:r>
          </a:p>
        </p:txBody>
      </p:sp>
      <p:sp>
        <p:nvSpPr>
          <p:cNvPr id="47" name="Rectangle 46"/>
          <p:cNvSpPr/>
          <p:nvPr/>
        </p:nvSpPr>
        <p:spPr>
          <a:xfrm>
            <a:off x="777240" y="4750308"/>
            <a:ext cx="5989320" cy="342900"/>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8" name="TextBox 47"/>
          <p:cNvSpPr txBox="1"/>
          <p:nvPr/>
        </p:nvSpPr>
        <p:spPr>
          <a:xfrm>
            <a:off x="868680" y="4750308"/>
            <a:ext cx="4800600" cy="342900"/>
          </a:xfrm>
          <a:prstGeom prst="rect">
            <a:avLst/>
          </a:prstGeom>
          <a:noFill/>
        </p:spPr>
        <p:txBody>
          <a:bodyPr wrap="square" lIns="0" rIns="0" tIns="0" bIns="0" anchor="ctr">
            <a:spAutoFit/>
          </a:bodyPr>
          <a:lstStyle/>
          <a:p>
            <a:pPr algn="l"/>
            <a:r>
              <a:rPr sz="1150" b="1" i="0">
                <a:solidFill>
                  <a:srgbClr val="8A1626"/>
                </a:solidFill>
              </a:rPr>
              <a:t>Official results to Delta or Iceberg, folder or S3</a:t>
            </a:r>
          </a:p>
          <a:p>
            <a:pPr algn="l"/>
            <a:r>
              <a:rPr sz="1050" b="0" i="0">
                <a:solidFill>
                  <a:srgbClr val="4A5058"/>
                </a:solidFill>
              </a:rPr>
              <a:t>append-only; BI's readers follow the format</a:t>
            </a:r>
          </a:p>
        </p:txBody>
      </p:sp>
      <p:sp>
        <p:nvSpPr>
          <p:cNvPr id="49" name="Rectangle 48"/>
          <p:cNvSpPr/>
          <p:nvPr/>
        </p:nvSpPr>
        <p:spPr>
          <a:xfrm>
            <a:off x="8403336" y="1417320"/>
            <a:ext cx="1645920" cy="310896"/>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wrap="square"/>
          <a:lstStyle/>
          <a:p>
            <a:pPr algn="ctr"/>
            <a:r>
              <a:rPr sz="1100" b="1" i="0">
                <a:solidFill>
                  <a:srgbClr val="4A5058"/>
                </a:solidFill>
              </a:rPr>
              <a:t>Load balancer</a:t>
            </a:r>
          </a:p>
        </p:txBody>
      </p:sp>
      <p:cxnSp>
        <p:nvCxnSpPr>
          <p:cNvPr id="50" name="Connector 49"/>
          <p:cNvCxnSpPr/>
          <p:nvPr/>
        </p:nvCxnSpPr>
        <p:spPr>
          <a:xfrm>
            <a:off x="9226296" y="1728216"/>
            <a:ext cx="0" cy="137160"/>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1" name="Rectangle 50"/>
          <p:cNvSpPr/>
          <p:nvPr/>
        </p:nvSpPr>
        <p:spPr>
          <a:xfrm>
            <a:off x="7040879" y="1865376"/>
            <a:ext cx="4370832" cy="640080"/>
          </a:xfrm>
          <a:prstGeom prst="rect">
            <a:avLst/>
          </a:prstGeom>
          <a:solidFill>
            <a:srgbClr val="FFFFFF"/>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2" name="TextBox 51"/>
          <p:cNvSpPr txBox="1"/>
          <p:nvPr/>
        </p:nvSpPr>
        <p:spPr>
          <a:xfrm>
            <a:off x="7132319" y="1883664"/>
            <a:ext cx="4187952" cy="603504"/>
          </a:xfrm>
          <a:prstGeom prst="rect">
            <a:avLst/>
          </a:prstGeom>
          <a:noFill/>
        </p:spPr>
        <p:txBody>
          <a:bodyPr wrap="square" lIns="0" rIns="0" tIns="0" bIns="0" anchor="ctr">
            <a:spAutoFit/>
          </a:bodyPr>
          <a:lstStyle/>
          <a:p>
            <a:pPr algn="l"/>
            <a:r>
              <a:rPr sz="1200" b="1" i="0">
                <a:solidFill>
                  <a:srgbClr val="8A1626"/>
                </a:solidFill>
              </a:rPr>
              <a:t>Consoles × N</a:t>
            </a:r>
          </a:p>
          <a:p>
            <a:pPr algn="l"/>
            <a:r>
              <a:rPr sz="1000" b="0" i="0">
                <a:solidFill>
                  <a:srgbClr val="4A5058"/>
                </a:solidFill>
              </a:rPr>
              <a:t>worker processes relay a tab's channel; sticky sessions across consoles; one DRISHTI_SESSION_SECRET; servers discovered</a:t>
            </a:r>
          </a:p>
        </p:txBody>
      </p:sp>
      <p:cxnSp>
        <p:nvCxnSpPr>
          <p:cNvPr id="53" name="Connector 52"/>
          <p:cNvCxnSpPr/>
          <p:nvPr/>
        </p:nvCxnSpPr>
        <p:spPr>
          <a:xfrm>
            <a:off x="9226296" y="2505456"/>
            <a:ext cx="0" cy="164592"/>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4" name="Rounded Rectangle 53"/>
          <p:cNvSpPr/>
          <p:nvPr/>
        </p:nvSpPr>
        <p:spPr>
          <a:xfrm>
            <a:off x="7040879" y="2670048"/>
            <a:ext cx="4370832" cy="1938528"/>
          </a:xfrm>
          <a:prstGeom prst="roundRect">
            <a:avLst>
              <a:gd name="adj" fmla="val 6000"/>
            </a:avLst>
          </a:prstGeom>
          <a:noFill/>
          <a:ln w="12700">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5" name="TextBox 54"/>
          <p:cNvSpPr txBox="1"/>
          <p:nvPr/>
        </p:nvSpPr>
        <p:spPr>
          <a:xfrm>
            <a:off x="7150607" y="2697480"/>
            <a:ext cx="2194560" cy="237744"/>
          </a:xfrm>
          <a:prstGeom prst="rect">
            <a:avLst/>
          </a:prstGeom>
          <a:noFill/>
        </p:spPr>
        <p:txBody>
          <a:bodyPr wrap="square" lIns="0" rIns="0" tIns="0" bIns="0" anchor="ctr">
            <a:spAutoFit/>
          </a:bodyPr>
          <a:lstStyle/>
          <a:p>
            <a:pPr algn="l"/>
            <a:r>
              <a:rPr sz="1100" b="1" i="0">
                <a:solidFill>
                  <a:srgbClr val="A51C30"/>
                </a:solidFill>
              </a:rPr>
              <a:t>Drishti*net servers</a:t>
            </a:r>
          </a:p>
        </p:txBody>
      </p:sp>
      <p:sp>
        <p:nvSpPr>
          <p:cNvPr id="56" name="Rectangle 55"/>
          <p:cNvSpPr/>
          <p:nvPr/>
        </p:nvSpPr>
        <p:spPr>
          <a:xfrm>
            <a:off x="7150607" y="3017520"/>
            <a:ext cx="1325880" cy="914400"/>
          </a:xfrm>
          <a:prstGeom prst="rect">
            <a:avLst/>
          </a:prstGeom>
          <a:solidFill>
            <a:srgbClr val="F6E6E9"/>
          </a:solidFill>
          <a:ln w="952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7" name="TextBox 56"/>
          <p:cNvSpPr txBox="1"/>
          <p:nvPr/>
        </p:nvSpPr>
        <p:spPr>
          <a:xfrm>
            <a:off x="7205471" y="3035808"/>
            <a:ext cx="1234440" cy="877824"/>
          </a:xfrm>
          <a:prstGeom prst="rect">
            <a:avLst/>
          </a:prstGeom>
          <a:noFill/>
        </p:spPr>
        <p:txBody>
          <a:bodyPr wrap="square" lIns="0" rIns="0" tIns="0" bIns="0" anchor="ctr">
            <a:spAutoFit/>
          </a:bodyPr>
          <a:lstStyle/>
          <a:p>
            <a:pPr algn="l"/>
            <a:r>
              <a:rPr sz="1150" b="1" i="0">
                <a:solidFill>
                  <a:srgbClr val="8A1626"/>
                </a:solidFill>
              </a:rPr>
              <a:t>Coordinator</a:t>
            </a:r>
          </a:p>
          <a:p>
            <a:pPr algn="l"/>
            <a:r>
              <a:rPr sz="1000" b="0" i="0">
                <a:solidFill>
                  <a:srgbClr val="4A5058"/>
                </a:solidFill>
              </a:rPr>
              <a:t>adds partial vectors (4 KB each)¹ in a fixed order</a:t>
            </a:r>
          </a:p>
        </p:txBody>
      </p:sp>
      <p:sp>
        <p:nvSpPr>
          <p:cNvPr id="58" name="Rectangle 57"/>
          <p:cNvSpPr/>
          <p:nvPr/>
        </p:nvSpPr>
        <p:spPr>
          <a:xfrm>
            <a:off x="8732519" y="2990088"/>
            <a:ext cx="1481328" cy="283464"/>
          </a:xfrm>
          <a:prstGeom prst="rect">
            <a:avLst/>
          </a:prstGeom>
          <a:solidFill>
            <a:srgbClr val="F7F5F2"/>
          </a:solidFill>
          <a:ln w="9525">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54864" rIns="36576" tIns="0" bIns="0" wrap="square"/>
          <a:lstStyle/>
          <a:p>
            <a:pPr algn="l"/>
            <a:r>
              <a:rPr sz="1000" b="0" i="0">
                <a:solidFill>
                  <a:srgbClr val="1A1A1A"/>
                </a:solidFill>
              </a:rPr>
              <a:t>Shard · LE / desk range A</a:t>
            </a:r>
          </a:p>
        </p:txBody>
      </p:sp>
      <p:cxnSp>
        <p:nvCxnSpPr>
          <p:cNvPr id="59" name="Connector 58"/>
          <p:cNvCxnSpPr/>
          <p:nvPr/>
        </p:nvCxnSpPr>
        <p:spPr>
          <a:xfrm flipV="1">
            <a:off x="8476488" y="3131820"/>
            <a:ext cx="256031" cy="342900"/>
          </a:xfrm>
          <a:prstGeom prst="line">
            <a:avLst/>
          </a:prstGeom>
          <a:ln w="127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60" name="Rectangle 59"/>
          <p:cNvSpPr/>
          <p:nvPr/>
        </p:nvSpPr>
        <p:spPr>
          <a:xfrm>
            <a:off x="8732519" y="3328416"/>
            <a:ext cx="1481328" cy="283464"/>
          </a:xfrm>
          <a:prstGeom prst="rect">
            <a:avLst/>
          </a:prstGeom>
          <a:solidFill>
            <a:srgbClr val="F7F5F2"/>
          </a:solidFill>
          <a:ln w="9525">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54864" rIns="36576" tIns="0" bIns="0" wrap="square"/>
          <a:lstStyle/>
          <a:p>
            <a:pPr algn="l"/>
            <a:r>
              <a:rPr sz="1000" b="0" i="0">
                <a:solidFill>
                  <a:srgbClr val="1A1A1A"/>
                </a:solidFill>
              </a:rPr>
              <a:t>Shard · range B</a:t>
            </a:r>
          </a:p>
        </p:txBody>
      </p:sp>
      <p:cxnSp>
        <p:nvCxnSpPr>
          <p:cNvPr id="61" name="Connector 60"/>
          <p:cNvCxnSpPr/>
          <p:nvPr/>
        </p:nvCxnSpPr>
        <p:spPr>
          <a:xfrm flipV="1">
            <a:off x="8476488" y="3470148"/>
            <a:ext cx="256031" cy="4572"/>
          </a:xfrm>
          <a:prstGeom prst="line">
            <a:avLst/>
          </a:prstGeom>
          <a:ln w="127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62" name="Rectangle 61"/>
          <p:cNvSpPr/>
          <p:nvPr/>
        </p:nvSpPr>
        <p:spPr>
          <a:xfrm>
            <a:off x="8732519" y="3666744"/>
            <a:ext cx="1481328" cy="283464"/>
          </a:xfrm>
          <a:prstGeom prst="rect">
            <a:avLst/>
          </a:prstGeom>
          <a:solidFill>
            <a:srgbClr val="F7F5F2"/>
          </a:solidFill>
          <a:ln w="9525">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54864" rIns="36576" tIns="0" bIns="0" wrap="square"/>
          <a:lstStyle/>
          <a:p>
            <a:pPr algn="l"/>
            <a:r>
              <a:rPr sz="1000" b="0" i="0">
                <a:solidFill>
                  <a:srgbClr val="1A1A1A"/>
                </a:solidFill>
              </a:rPr>
              <a:t>Shard · range C</a:t>
            </a:r>
          </a:p>
        </p:txBody>
      </p:sp>
      <p:cxnSp>
        <p:nvCxnSpPr>
          <p:cNvPr id="63" name="Connector 62"/>
          <p:cNvCxnSpPr/>
          <p:nvPr/>
        </p:nvCxnSpPr>
        <p:spPr>
          <a:xfrm>
            <a:off x="8476488" y="3474720"/>
            <a:ext cx="256031" cy="333756"/>
          </a:xfrm>
          <a:prstGeom prst="line">
            <a:avLst/>
          </a:prstGeom>
          <a:ln w="127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64" name="TextBox 63"/>
          <p:cNvSpPr txBox="1"/>
          <p:nvPr/>
        </p:nvSpPr>
        <p:spPr>
          <a:xfrm>
            <a:off x="7150607" y="3986784"/>
            <a:ext cx="3108960" cy="237744"/>
          </a:xfrm>
          <a:prstGeom prst="rect">
            <a:avLst/>
          </a:prstGeom>
          <a:noFill/>
        </p:spPr>
        <p:txBody>
          <a:bodyPr wrap="square" lIns="0" rIns="0" tIns="0" bIns="0" anchor="ctr">
            <a:spAutoFit/>
          </a:bodyPr>
          <a:lstStyle/>
          <a:p>
            <a:pPr algn="l"/>
            <a:r>
              <a:rPr sz="1000" b="0" i="1">
                <a:solidFill>
                  <a:srgbClr val="4A5058"/>
                </a:solidFill>
              </a:rPr>
              <a:t>map-reduce over vectors, 2 replicas a shard</a:t>
            </a:r>
          </a:p>
        </p:txBody>
      </p:sp>
      <p:sp>
        <p:nvSpPr>
          <p:cNvPr id="65" name="Rectangle 64"/>
          <p:cNvSpPr/>
          <p:nvPr/>
        </p:nvSpPr>
        <p:spPr>
          <a:xfrm>
            <a:off x="10351008" y="2990088"/>
            <a:ext cx="950976" cy="713232"/>
          </a:xfrm>
          <a:prstGeom prst="rect">
            <a:avLst/>
          </a:prstGeom>
          <a:solidFill>
            <a:srgbClr val="FFFFFF"/>
          </a:solidFill>
          <a:ln w="9525">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6" name="TextBox 65"/>
          <p:cNvSpPr txBox="1"/>
          <p:nvPr/>
        </p:nvSpPr>
        <p:spPr>
          <a:xfrm>
            <a:off x="10415016" y="3017520"/>
            <a:ext cx="859536" cy="457200"/>
          </a:xfrm>
          <a:prstGeom prst="rect">
            <a:avLst/>
          </a:prstGeom>
          <a:noFill/>
        </p:spPr>
        <p:txBody>
          <a:bodyPr wrap="square" lIns="0" rIns="0" tIns="0" bIns="0" anchor="t">
            <a:spAutoFit/>
          </a:bodyPr>
          <a:lstStyle/>
          <a:p>
            <a:pPr algn="l"/>
            <a:r>
              <a:rPr sz="1100" b="1" i="0">
                <a:solidFill>
                  <a:srgbClr val="8A1626"/>
                </a:solidFill>
              </a:rPr>
              <a:t>Read replicas</a:t>
            </a:r>
          </a:p>
          <a:p>
            <a:pPr algn="l"/>
            <a:r>
              <a:rPr sz="1000" b="0" i="0">
                <a:solidFill>
                  <a:srgbClr val="4A5058"/>
                </a:solidFill>
              </a:rPr>
              <a:t>whole dates</a:t>
            </a:r>
          </a:p>
        </p:txBody>
      </p:sp>
      <p:sp>
        <p:nvSpPr>
          <p:cNvPr id="67" name="Rectangle 66"/>
          <p:cNvSpPr/>
          <p:nvPr/>
        </p:nvSpPr>
        <p:spPr>
          <a:xfrm>
            <a:off x="10351008" y="3776472"/>
            <a:ext cx="950976" cy="749808"/>
          </a:xfrm>
          <a:prstGeom prst="rect">
            <a:avLst/>
          </a:prstGeom>
          <a:solidFill>
            <a:srgbClr val="FFFFFF"/>
          </a:solidFill>
          <a:ln w="9525">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8" name="TextBox 67"/>
          <p:cNvSpPr txBox="1"/>
          <p:nvPr/>
        </p:nvSpPr>
        <p:spPr>
          <a:xfrm>
            <a:off x="10415016" y="3803904"/>
            <a:ext cx="859536" cy="457200"/>
          </a:xfrm>
          <a:prstGeom prst="rect">
            <a:avLst/>
          </a:prstGeom>
          <a:noFill/>
        </p:spPr>
        <p:txBody>
          <a:bodyPr wrap="square" lIns="0" rIns="0" tIns="0" bIns="0" anchor="t">
            <a:spAutoFit/>
          </a:bodyPr>
          <a:lstStyle/>
          <a:p>
            <a:pPr algn="l"/>
            <a:r>
              <a:rPr sz="1100" b="1" i="0">
                <a:solidFill>
                  <a:srgbClr val="8A1626"/>
                </a:solidFill>
              </a:rPr>
              <a:t>Official EOD</a:t>
            </a:r>
          </a:p>
          <a:p>
            <a:pPr algn="l"/>
            <a:r>
              <a:rPr sz="1000" b="0" i="0">
                <a:solidFill>
                  <a:srgbClr val="4A5058"/>
                </a:solidFill>
              </a:rPr>
              <a:t>one node writes</a:t>
            </a:r>
          </a:p>
        </p:txBody>
      </p:sp>
      <p:sp>
        <p:nvSpPr>
          <p:cNvPr id="69" name="Rounded Rectangle 68"/>
          <p:cNvSpPr/>
          <p:nvPr/>
        </p:nvSpPr>
        <p:spPr>
          <a:xfrm>
            <a:off x="10415016" y="4279392"/>
            <a:ext cx="667512" cy="201168"/>
          </a:xfrm>
          <a:prstGeom prst="roundRect">
            <a:avLst>
              <a:gd name="adj" fmla="val 50000"/>
            </a:avLst>
          </a:prstGeom>
          <a:solidFill>
            <a:srgbClr val="FFFFFF"/>
          </a:solidFill>
          <a:ln w="12700">
            <a:solidFill>
              <a:srgbClr val="4A505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4A5058"/>
                </a:solidFill>
              </a:rPr>
              <a:t>PROPOSED</a:t>
            </a:r>
          </a:p>
        </p:txBody>
      </p:sp>
      <p:cxnSp>
        <p:nvCxnSpPr>
          <p:cNvPr id="70" name="Connector 69"/>
          <p:cNvCxnSpPr/>
          <p:nvPr/>
        </p:nvCxnSpPr>
        <p:spPr>
          <a:xfrm flipV="1">
            <a:off x="9226296" y="4608576"/>
            <a:ext cx="0" cy="146304"/>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71" name="Rectangle 70"/>
          <p:cNvSpPr/>
          <p:nvPr/>
        </p:nvSpPr>
        <p:spPr>
          <a:xfrm>
            <a:off x="7040879" y="4754880"/>
            <a:ext cx="4370832" cy="384048"/>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wrap="square"/>
          <a:lstStyle/>
          <a:p>
            <a:pPr algn="ctr"/>
            <a:r>
              <a:rPr sz="1150" b="1" i="0">
                <a:solidFill>
                  <a:srgbClr val="FFFFFF"/>
                </a:solidFill>
              </a:rPr>
              <a:t>One lake: Delta or Iceberg (local, EFS or S3) · 7 years</a:t>
            </a:r>
          </a:p>
        </p:txBody>
      </p:sp>
      <p:sp>
        <p:nvSpPr>
          <p:cNvPr id="72" name="Rectangle 71"/>
          <p:cNvSpPr/>
          <p:nvPr/>
        </p:nvSpPr>
        <p:spPr>
          <a:xfrm>
            <a:off x="777240" y="5230368"/>
            <a:ext cx="10634472" cy="1033271"/>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3" name="Rectangle 72"/>
          <p:cNvSpPr/>
          <p:nvPr/>
        </p:nvSpPr>
        <p:spPr>
          <a:xfrm>
            <a:off x="777240" y="5230368"/>
            <a:ext cx="54864" cy="103327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4" name="TextBox 73"/>
          <p:cNvSpPr txBox="1"/>
          <p:nvPr/>
        </p:nvSpPr>
        <p:spPr>
          <a:xfrm>
            <a:off x="978408" y="5248656"/>
            <a:ext cx="10360152" cy="274320"/>
          </a:xfrm>
          <a:prstGeom prst="rect">
            <a:avLst/>
          </a:prstGeom>
          <a:noFill/>
        </p:spPr>
        <p:txBody>
          <a:bodyPr wrap="square" lIns="0" rIns="0" tIns="0" bIns="0" anchor="ctr">
            <a:spAutoFit/>
          </a:bodyPr>
          <a:lstStyle/>
          <a:p>
            <a:pPr algn="l"/>
            <a:r>
              <a:rPr sz="1250" b="1" i="0">
                <a:solidFill>
                  <a:srgbClr val="A51C30"/>
                </a:solidFill>
              </a:rPr>
              <a:t>To reach 2.3M positions and 15,000 portfolios, still to do</a:t>
            </a:r>
          </a:p>
        </p:txBody>
      </p:sp>
      <p:sp>
        <p:nvSpPr>
          <p:cNvPr id="75" name="TextBox 74"/>
          <p:cNvSpPr txBox="1"/>
          <p:nvPr/>
        </p:nvSpPr>
        <p:spPr>
          <a:xfrm>
            <a:off x="978408" y="5486400"/>
            <a:ext cx="5120640" cy="768096"/>
          </a:xfrm>
          <a:prstGeom prst="rect">
            <a:avLst/>
          </a:prstGeom>
          <a:noFill/>
        </p:spPr>
        <p:txBody>
          <a:bodyPr wrap="square" lIns="0" rIns="0" tIns="0" bIns="0" anchor="t">
            <a:spAutoFit/>
          </a:bodyPr>
          <a:lstStyle/>
          <a:p>
            <a:pPr algn="l">
              <a:spcAft>
                <a:spcPts val="0"/>
              </a:spcAft>
            </a:pPr>
            <a:r>
              <a:rPr sz="1100" b="0" i="0">
                <a:solidFill>
                  <a:srgbClr val="1A1A1A"/>
                </a:solidFill>
              </a:rPr>
              <a:t>1  The 200K benchmark, then a 2.3M load on a real server</a:t>
            </a:r>
          </a:p>
          <a:p>
            <a:pPr algn="l">
              <a:spcAft>
                <a:spcPts val="0"/>
              </a:spcAft>
            </a:pPr>
            <a:r>
              <a:rPr sz="1100" b="0" i="0">
                <a:solidFill>
                  <a:srgbClr val="1A1A1A"/>
                </a:solidFill>
              </a:rPr>
              <a:t>2  Clustering by book and portfolio (Z-order)</a:t>
            </a:r>
          </a:p>
          <a:p>
            <a:pPr algn="l">
              <a:spcAft>
                <a:spcPts val="0"/>
              </a:spcAft>
            </a:pPr>
            <a:r>
              <a:rPr sz="1100" b="0" i="0">
                <a:solidFill>
                  <a:srgbClr val="1A1A1A"/>
                </a:solidFill>
              </a:rPr>
              <a:t>3  The 15,000 portfolio vectors built in a batch</a:t>
            </a:r>
          </a:p>
        </p:txBody>
      </p:sp>
      <p:sp>
        <p:nvSpPr>
          <p:cNvPr id="76" name="TextBox 75"/>
          <p:cNvSpPr txBox="1"/>
          <p:nvPr/>
        </p:nvSpPr>
        <p:spPr>
          <a:xfrm>
            <a:off x="6236208" y="5486400"/>
            <a:ext cx="5120640" cy="768096"/>
          </a:xfrm>
          <a:prstGeom prst="rect">
            <a:avLst/>
          </a:prstGeom>
          <a:noFill/>
        </p:spPr>
        <p:txBody>
          <a:bodyPr wrap="square" lIns="0" rIns="0" tIns="0" bIns="0" anchor="t">
            <a:spAutoFit/>
          </a:bodyPr>
          <a:lstStyle/>
          <a:p>
            <a:pPr algn="l">
              <a:spcAft>
                <a:spcPts val="0"/>
              </a:spcAft>
            </a:pPr>
            <a:r>
              <a:rPr sz="1100" b="0" i="0">
                <a:solidFill>
                  <a:srgbClr val="1A1A1A"/>
                </a:solidFill>
              </a:rPr>
              <a:t>4  Several consoles without sticky sessions</a:t>
            </a:r>
          </a:p>
          <a:p>
            <a:pPr algn="l">
              <a:spcAft>
                <a:spcPts val="0"/>
              </a:spcAft>
            </a:pPr>
            <a:r>
              <a:rPr sz="1100" b="0" i="0">
                <a:solidFill>
                  <a:srgbClr val="1A1A1A"/>
                </a:solidFill>
              </a:rPr>
              <a:t>5  The Glue and S3 Tables runs on AWS</a:t>
            </a:r>
          </a:p>
          <a:p>
            <a:pPr algn="l">
              <a:spcAft>
                <a:spcPts val="0"/>
              </a:spcAft>
            </a:pPr>
            <a:r>
              <a:rPr sz="1100" b="0" i="0">
                <a:solidFill>
                  <a:srgbClr val="1A1A1A"/>
                </a:solidFill>
              </a:rPr>
              <a:t>Built: VaR sharding, the sorted parallel loader, Iceberg, results to S3</a:t>
            </a:r>
          </a:p>
        </p:txBody>
      </p:sp>
      <p:sp>
        <p:nvSpPr>
          <p:cNvPr id="77" name="Footnotes"/>
          <p:cNvSpPr txBox="1"/>
          <p:nvPr/>
        </p:nvSpPr>
        <p:spPr>
          <a:xfrm>
            <a:off x="2468880" y="6419088"/>
            <a:ext cx="8503920" cy="237744"/>
          </a:xfrm>
          <a:prstGeom prst="rect">
            <a:avLst/>
          </a:prstGeom>
          <a:noFill/>
        </p:spPr>
        <p:txBody>
          <a:bodyPr wrap="square" lIns="0" rIns="0" tIns="0" bIns="0" anchor="ctr">
            <a:spAutoFit/>
          </a:bodyPr>
          <a:lstStyle/>
          <a:p>
            <a:pPr algn="l"/>
            <a:r>
              <a:rPr sz="900" b="0" i="0">
                <a:solidFill>
                  <a:srgbClr val="4A5058"/>
                </a:solidFill>
              </a:rPr>
              <a:t>¹ A partial vector: 509 scenarios × 8 B = 4,072 B a node a shard (VAR_SHARDING)</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DELTA LAKE OR ICEBERG</a:t>
            </a:r>
          </a:p>
        </p:txBody>
      </p:sp>
      <p:sp>
        <p:nvSpPr>
          <p:cNvPr id="3" name="Title 2"/>
          <p:cNvSpPr>
            <a:spLocks noGrp="1"/>
          </p:cNvSpPr>
          <p:nvPr>
            <p:ph type="title" idx="104"/>
          </p:nvPr>
        </p:nvSpPr>
        <p:spPr/>
        <p:txBody>
          <a:bodyPr/>
          <a:lstStyle/>
          <a:p>
            <a:r>
              <a:t>Delta Lake or Iceberg for VaR: performance and recommendation</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17320"/>
            <a:ext cx="6035040" cy="804672"/>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Rectangle 26"/>
          <p:cNvSpPr/>
          <p:nvPr/>
        </p:nvSpPr>
        <p:spPr>
          <a:xfrm>
            <a:off x="777240" y="1417320"/>
            <a:ext cx="54864" cy="80467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978408" y="1417320"/>
            <a:ext cx="5760720" cy="804672"/>
          </a:xfrm>
          <a:prstGeom prst="rect">
            <a:avLst/>
          </a:prstGeom>
          <a:noFill/>
        </p:spPr>
        <p:txBody>
          <a:bodyPr wrap="square" lIns="0" rIns="0" tIns="0" bIns="0" anchor="ctr">
            <a:spAutoFit/>
          </a:bodyPr>
          <a:lstStyle/>
          <a:p>
            <a:pPr algn="l"/>
            <a:r>
              <a:rPr sz="1250" b="1" i="0">
                <a:solidFill>
                  <a:srgbClr val="A51C30"/>
                </a:solidFill>
              </a:rPr>
              <a:t>VaR answers are format-independent.  </a:t>
            </a:r>
            <a:r>
              <a:rPr sz="1150" b="0" i="0">
                <a:solidFill>
                  <a:srgbClr val="1A1A1A"/>
                </a:solidFill>
              </a:rPr>
              <a:t>Once a date is loaded, the engine computes from its memory-mapped hot files; the lake format matters only for loading, intraday commits, history and other engines.</a:t>
            </a:r>
          </a:p>
        </p:txBody>
      </p:sp>
      <p:sp>
        <p:nvSpPr>
          <p:cNvPr id="29" name="Rectangle 28"/>
          <p:cNvSpPr/>
          <p:nvPr/>
        </p:nvSpPr>
        <p:spPr>
          <a:xfrm>
            <a:off x="6995159" y="1417320"/>
            <a:ext cx="2116836" cy="80467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Rectangle 29"/>
          <p:cNvSpPr/>
          <p:nvPr/>
        </p:nvSpPr>
        <p:spPr>
          <a:xfrm>
            <a:off x="6995159" y="1417320"/>
            <a:ext cx="45720" cy="80467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TextBox 30"/>
          <p:cNvSpPr txBox="1"/>
          <p:nvPr/>
        </p:nvSpPr>
        <p:spPr>
          <a:xfrm>
            <a:off x="7159751" y="1444752"/>
            <a:ext cx="1888236" cy="384048"/>
          </a:xfrm>
          <a:prstGeom prst="rect">
            <a:avLst/>
          </a:prstGeom>
          <a:noFill/>
        </p:spPr>
        <p:txBody>
          <a:bodyPr wrap="square" lIns="0" rIns="0" tIns="0" bIns="0" anchor="ctr">
            <a:spAutoFit/>
          </a:bodyPr>
          <a:lstStyle/>
          <a:p>
            <a:pPr algn="l"/>
            <a:r>
              <a:rPr sz="2000" b="1" i="0">
                <a:solidFill>
                  <a:srgbClr val="8A1626"/>
                </a:solidFill>
              </a:rPr>
              <a:t>≈ 0.5 ms¹</a:t>
            </a:r>
          </a:p>
        </p:txBody>
      </p:sp>
      <p:sp>
        <p:nvSpPr>
          <p:cNvPr id="32" name="TextBox 31"/>
          <p:cNvSpPr txBox="1"/>
          <p:nvPr/>
        </p:nvSpPr>
        <p:spPr>
          <a:xfrm>
            <a:off x="7159751" y="1828800"/>
            <a:ext cx="1888236" cy="365760"/>
          </a:xfrm>
          <a:prstGeom prst="rect">
            <a:avLst/>
          </a:prstGeom>
          <a:noFill/>
        </p:spPr>
        <p:txBody>
          <a:bodyPr wrap="square" lIns="0" rIns="0" tIns="0" bIns="0" anchor="t">
            <a:spAutoFit/>
          </a:bodyPr>
          <a:lstStyle/>
          <a:p>
            <a:pPr algn="l"/>
            <a:r>
              <a:rPr sz="1050" b="0" i="0">
                <a:solidFill>
                  <a:srgbClr val="4A5058"/>
                </a:solidFill>
              </a:rPr>
              <a:t>a node's VaR and ES · measured</a:t>
            </a:r>
          </a:p>
        </p:txBody>
      </p:sp>
      <p:sp>
        <p:nvSpPr>
          <p:cNvPr id="33" name="Rectangle 32"/>
          <p:cNvSpPr/>
          <p:nvPr/>
        </p:nvSpPr>
        <p:spPr>
          <a:xfrm>
            <a:off x="9294876" y="1417320"/>
            <a:ext cx="2116836" cy="80467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Rectangle 33"/>
          <p:cNvSpPr/>
          <p:nvPr/>
        </p:nvSpPr>
        <p:spPr>
          <a:xfrm>
            <a:off x="9294876" y="1417320"/>
            <a:ext cx="45720" cy="80467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TextBox 34"/>
          <p:cNvSpPr txBox="1"/>
          <p:nvPr/>
        </p:nvSpPr>
        <p:spPr>
          <a:xfrm>
            <a:off x="9459467" y="1444752"/>
            <a:ext cx="1888236" cy="384048"/>
          </a:xfrm>
          <a:prstGeom prst="rect">
            <a:avLst/>
          </a:prstGeom>
          <a:noFill/>
        </p:spPr>
        <p:txBody>
          <a:bodyPr wrap="square" lIns="0" rIns="0" tIns="0" bIns="0" anchor="ctr">
            <a:spAutoFit/>
          </a:bodyPr>
          <a:lstStyle/>
          <a:p>
            <a:pPr algn="l"/>
            <a:r>
              <a:rPr sz="2000" b="1" i="0">
                <a:solidFill>
                  <a:srgbClr val="8A1626"/>
                </a:solidFill>
              </a:rPr>
              <a:t>≈ 80 ms²</a:t>
            </a:r>
          </a:p>
        </p:txBody>
      </p:sp>
      <p:sp>
        <p:nvSpPr>
          <p:cNvPr id="36" name="TextBox 35"/>
          <p:cNvSpPr txBox="1"/>
          <p:nvPr/>
        </p:nvSpPr>
        <p:spPr>
          <a:xfrm>
            <a:off x="9459467" y="1828800"/>
            <a:ext cx="1888236" cy="365760"/>
          </a:xfrm>
          <a:prstGeom prst="rect">
            <a:avLst/>
          </a:prstGeom>
          <a:noFill/>
        </p:spPr>
        <p:txBody>
          <a:bodyPr wrap="square" lIns="0" rIns="0" tIns="0" bIns="0" anchor="t">
            <a:spAutoFit/>
          </a:bodyPr>
          <a:lstStyle/>
          <a:p>
            <a:pPr algn="l"/>
            <a:r>
              <a:rPr sz="1050" b="0" i="0">
                <a:solidFill>
                  <a:srgbClr val="4A5058"/>
                </a:solidFill>
              </a:rPr>
              <a:t>the whole bank at 2.3M positions · estimated</a:t>
            </a:r>
          </a:p>
        </p:txBody>
      </p:sp>
      <p:graphicFrame>
        <p:nvGraphicFramePr>
          <p:cNvPr id="37" name="Table 36"/>
          <p:cNvGraphicFramePr>
            <a:graphicFrameLocks noGrp="1"/>
          </p:cNvGraphicFramePr>
          <p:nvPr/>
        </p:nvGraphicFramePr>
        <p:xfrm>
          <a:off x="777240" y="2331720"/>
          <a:ext cx="10634472" cy="2688336"/>
        </p:xfrm>
        <a:graphic>
          <a:graphicData uri="http://schemas.openxmlformats.org/drawingml/2006/table">
            <a:tbl>
              <a:tblPr firstRow="0" bandRow="0">
                <a:tableStyleId>{5940675A-B579-460E-94D1-54222C63F5DA}</a:tableStyleId>
              </a:tblPr>
              <a:tblGrid>
                <a:gridCol w="2788920"/>
                <a:gridCol w="2926080"/>
                <a:gridCol w="3291840"/>
                <a:gridCol w="1627632"/>
              </a:tblGrid>
              <a:tr h="384048">
                <a:tc>
                  <a:txBody>
                    <a:bodyPr wrap="square"/>
                    <a:lstStyle/>
                    <a:p>
                      <a:r>
                        <a:rPr sz="1050" b="1" i="0">
                          <a:solidFill>
                            <a:srgbClr val="FFFFFF"/>
                          </a:solidFill>
                        </a:rPr>
                        <a:t>Where they differ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Delta Lake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Iceberg</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Edge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384048">
                <a:tc>
                  <a:txBody>
                    <a:bodyPr wrap="square"/>
                    <a:lstStyle/>
                    <a:p>
                      <a:r>
                        <a:rPr sz="1050" b="1" i="0">
                          <a:solidFill>
                            <a:srgbClr val="8A1626"/>
                          </a:solidFill>
                        </a:rPr>
                        <a:t>First load of a date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replays its log from the last checkpoint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plans from manifests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4A5058"/>
                          </a:solidFill>
                        </a:rPr>
                        <a:t>about the same: both Parquet, Drishti's own readers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84048">
                <a:tc>
                  <a:txBody>
                    <a:bodyPr wrap="square"/>
                    <a:lstStyle/>
                    <a:p>
                      <a:r>
                        <a:rPr sz="1050" b="1" i="0">
                          <a:solidFill>
                            <a:srgbClr val="8A1626"/>
                          </a:solidFill>
                        </a:rPr>
                        <a:t>Intraday micro-batches (Kafka every 5 min, ≈ 120 commits a day)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a small log entry per commit, then checkpoints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rewrites its metadata file each commit; ≈ 0.2 GB³ by year 7 (estimated): needs snapshot and metadata management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1" i="0">
                          <a:solidFill>
                            <a:srgbClr val="8A1626"/>
                          </a:solidFill>
                        </a:rPr>
                        <a:t>Delta</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84048">
                <a:tc>
                  <a:txBody>
                    <a:bodyPr wrap="square"/>
                    <a:lstStyle/>
                    <a:p>
                      <a:r>
                        <a:rPr sz="1050" b="1" i="0">
                          <a:solidFill>
                            <a:srgbClr val="8A1626"/>
                          </a:solidFill>
                        </a:rPr>
                        <a:t>Time travel and restatements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rebuilds a version from its log and checkpoints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jumps to a snapshot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1" i="0">
                          <a:solidFill>
                            <a:srgbClr val="293352"/>
                          </a:solidFill>
                        </a:rPr>
                        <a:t>Iceberg, slightly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84048">
                <a:tc>
                  <a:txBody>
                    <a:bodyPr wrap="square"/>
                    <a:lstStyle/>
                    <a:p>
                      <a:r>
                        <a:rPr sz="1050" b="1" i="0">
                          <a:solidFill>
                            <a:srgbClr val="8A1626"/>
                          </a:solidFill>
                        </a:rPr>
                        <a:t>Caches after another day's commit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equivalent proposed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built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1" i="0">
                          <a:solidFill>
                            <a:srgbClr val="293352"/>
                          </a:solidFill>
                        </a:rPr>
                        <a:t>Iceberg</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84048">
                <a:tc>
                  <a:txBody>
                    <a:bodyPr wrap="square"/>
                    <a:lstStyle/>
                    <a:p>
                      <a:r>
                        <a:rPr sz="1050" b="1" i="0">
                          <a:solidFill>
                            <a:srgbClr val="8A1626"/>
                          </a:solidFill>
                        </a:rPr>
                        <a:t>Other engines (Spark, Athena, Trino, Snowflake, Databricks)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strongest with Spark and Databricks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broader multi-engine support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4A5058"/>
                          </a:solidFill>
                        </a:rPr>
                        <a:t>depends on the platform</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84048">
                <a:tc>
                  <a:txBody>
                    <a:bodyPr wrap="square"/>
                    <a:lstStyle/>
                    <a:p>
                      <a:r>
                        <a:rPr sz="1050" b="1" i="0">
                          <a:solidFill>
                            <a:srgbClr val="8A1626"/>
                          </a:solidFill>
                        </a:rPr>
                        <a:t>Correctness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identical: the equality tests prove Delta = Iceberg to the cent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4A5058"/>
                          </a:solidFill>
                        </a:rPr>
                        <a:t>same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
        <p:nvSpPr>
          <p:cNvPr id="38" name="Rectangle 37"/>
          <p:cNvSpPr/>
          <p:nvPr/>
        </p:nvSpPr>
        <p:spPr>
          <a:xfrm>
            <a:off x="777240" y="5230368"/>
            <a:ext cx="5989320" cy="1033271"/>
          </a:xfrm>
          <a:prstGeom prst="rect">
            <a:avLst/>
          </a:prstGeom>
          <a:solidFill>
            <a:srgbClr val="F7F5F2"/>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TextBox 38"/>
          <p:cNvSpPr txBox="1"/>
          <p:nvPr/>
        </p:nvSpPr>
        <p:spPr>
          <a:xfrm>
            <a:off x="914400" y="5266944"/>
            <a:ext cx="5760720" cy="969264"/>
          </a:xfrm>
          <a:prstGeom prst="rect">
            <a:avLst/>
          </a:prstGeom>
          <a:noFill/>
        </p:spPr>
        <p:txBody>
          <a:bodyPr wrap="square" lIns="0" rIns="0" tIns="0" bIns="0" anchor="ctr">
            <a:spAutoFit/>
          </a:bodyPr>
          <a:lstStyle/>
          <a:p>
            <a:pPr algn="l">
              <a:spcAft>
                <a:spcPts val="200"/>
              </a:spcAft>
            </a:pPr>
            <a:r>
              <a:rPr sz="1250" b="1" i="0">
                <a:solidFill>
                  <a:srgbClr val="A51C30"/>
                </a:solidFill>
              </a:rPr>
              <a:t>Recommendation</a:t>
            </a:r>
          </a:p>
          <a:p>
            <a:pPr algn="l"/>
            <a:r>
              <a:rPr sz="1150" b="1" i="0">
                <a:solidFill>
                  <a:srgbClr val="8A1626"/>
                </a:solidFill>
              </a:rPr>
              <a:t>Delta is the default (product decision), above all with Kafka intraday. </a:t>
            </a:r>
            <a:r>
              <a:rPr sz="1150" b="0" i="0">
                <a:solidFill>
                  <a:srgbClr val="1A1A1A"/>
                </a:solidFill>
              </a:rPr>
              <a:t>Choose Iceberg where the data platform standardises on it, or for heavy time travel and multi-engine access. Either is a configuration switch.</a:t>
            </a:r>
          </a:p>
        </p:txBody>
      </p:sp>
      <p:sp>
        <p:nvSpPr>
          <p:cNvPr id="40" name="Rectangle 39"/>
          <p:cNvSpPr/>
          <p:nvPr/>
        </p:nvSpPr>
        <p:spPr>
          <a:xfrm>
            <a:off x="6949440" y="5230368"/>
            <a:ext cx="4462272" cy="1033271"/>
          </a:xfrm>
          <a:prstGeom prst="rect">
            <a:avLst/>
          </a:prstGeom>
          <a:solidFill>
            <a:srgbClr val="FFFFFF"/>
          </a:solidFill>
          <a:ln w="12700">
            <a:solidFill>
              <a:srgbClr val="29335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1" name="TextBox 40"/>
          <p:cNvSpPr txBox="1"/>
          <p:nvPr/>
        </p:nvSpPr>
        <p:spPr>
          <a:xfrm>
            <a:off x="7059168" y="5257800"/>
            <a:ext cx="4297680" cy="978408"/>
          </a:xfrm>
          <a:prstGeom prst="rect">
            <a:avLst/>
          </a:prstGeom>
          <a:noFill/>
        </p:spPr>
        <p:txBody>
          <a:bodyPr wrap="square" lIns="0" rIns="0" tIns="0" bIns="0" anchor="ctr">
            <a:spAutoFit/>
          </a:bodyPr>
          <a:lstStyle/>
          <a:p>
            <a:pPr algn="l">
              <a:spcAft>
                <a:spcPts val="200"/>
              </a:spcAft>
            </a:pPr>
            <a:r>
              <a:rPr sz="1050" b="1" i="0">
                <a:solidFill>
                  <a:srgbClr val="A51C30"/>
                </a:solidFill>
              </a:rPr>
              <a:t>Built  </a:t>
            </a:r>
            <a:r>
              <a:rPr sz="1050" b="0" i="0">
                <a:solidFill>
                  <a:srgbClr val="1A1A1A"/>
                </a:solidFill>
              </a:rPr>
              <a:t>VaR, intraday and exposure on Iceberg; official results to Iceberg and S3; equal to Delta to the cent</a:t>
            </a:r>
          </a:p>
          <a:p>
            <a:pPr algn="l">
              <a:spcAft>
                <a:spcPts val="200"/>
              </a:spcAft>
            </a:pPr>
            <a:r>
              <a:rPr sz="1050" b="1" i="0">
                <a:solidFill>
                  <a:srgbClr val="4A5058"/>
                </a:solidFill>
              </a:rPr>
              <a:t>Measured (demo)⁴  </a:t>
            </a:r>
            <a:r>
              <a:rPr sz="1050" b="0" i="0">
                <a:solidFill>
                  <a:srgbClr val="1A1A1A"/>
                </a:solidFill>
              </a:rPr>
              <a:t>14 risk tables, 955,124 rows moved to Iceberg in 579 s</a:t>
            </a:r>
          </a:p>
          <a:p>
            <a:pPr algn="l"/>
            <a:r>
              <a:rPr sz="1050" b="1" i="0">
                <a:solidFill>
                  <a:srgbClr val="293352"/>
                </a:solidFill>
              </a:rPr>
              <a:t>Not built yet  </a:t>
            </a:r>
            <a:r>
              <a:rPr sz="1050" b="0" i="0">
                <a:solidFill>
                  <a:srgbClr val="1A1A1A"/>
                </a:solidFill>
              </a:rPr>
              <a:t>the 200K and 2.3M benchmarks on both formats; Delta↔Iceberg conversion</a:t>
            </a:r>
          </a:p>
        </p:txBody>
      </p:sp>
      <p:sp>
        <p:nvSpPr>
          <p:cNvPr id="42" name="Footnotes"/>
          <p:cNvSpPr txBox="1"/>
          <p:nvPr/>
        </p:nvSpPr>
        <p:spPr>
          <a:xfrm>
            <a:off x="2468880" y="6419088"/>
            <a:ext cx="8503920" cy="237744"/>
          </a:xfrm>
          <a:prstGeom prst="rect">
            <a:avLst/>
          </a:prstGeom>
          <a:noFill/>
        </p:spPr>
        <p:txBody>
          <a:bodyPr wrap="square" lIns="0" rIns="0" tIns="0" bIns="0" anchor="ctr">
            <a:spAutoFit/>
          </a:bodyPr>
          <a:lstStyle/>
          <a:p>
            <a:pPr algn="l"/>
            <a:r>
              <a:rPr sz="900" b="0" i="0">
                <a:solidFill>
                  <a:srgbClr val="4A5058"/>
                </a:solidFill>
              </a:rPr>
              <a:t>¹ VarTierBenchmark (VAR_GUIDE §27.3)   ² 4.68 GB of float32 rows at 2.3M ÷ 60 GB/s = 78 ms   ³ 120 commits a day × 1,764 dates × ≈ 1 KB   ⁴ CHANGELOG, Iceberg</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DEPLOYMENT OPTIONS</a:t>
            </a:r>
          </a:p>
        </p:txBody>
      </p:sp>
      <p:sp>
        <p:nvSpPr>
          <p:cNvPr id="3" name="Title 2"/>
          <p:cNvSpPr>
            <a:spLocks noGrp="1"/>
          </p:cNvSpPr>
          <p:nvPr>
            <p:ph type="title" idx="104"/>
          </p:nvPr>
        </p:nvSpPr>
        <p:spPr/>
        <p:txBody>
          <a:bodyPr/>
          <a:lstStyle/>
          <a:p>
            <a:r>
              <a:t>Delta or Iceberg, on premises or on AWS</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2423160" y="1417320"/>
            <a:ext cx="4448556" cy="384048"/>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wrap="square"/>
          <a:lstStyle/>
          <a:p>
            <a:pPr algn="ctr"/>
            <a:r>
              <a:rPr sz="1300" b="1" i="0">
                <a:solidFill>
                  <a:srgbClr val="FFFFFF"/>
                </a:solidFill>
              </a:rPr>
              <a:t>Delta Lake</a:t>
            </a:r>
          </a:p>
        </p:txBody>
      </p:sp>
      <p:sp>
        <p:nvSpPr>
          <p:cNvPr id="27" name="Rectangle 26"/>
          <p:cNvSpPr/>
          <p:nvPr/>
        </p:nvSpPr>
        <p:spPr>
          <a:xfrm>
            <a:off x="6963156" y="1417320"/>
            <a:ext cx="4448556" cy="384048"/>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wrap="square"/>
          <a:lstStyle/>
          <a:p>
            <a:pPr algn="ctr"/>
            <a:r>
              <a:rPr sz="1300" b="1" i="0">
                <a:solidFill>
                  <a:srgbClr val="FFFFFF"/>
                </a:solidFill>
              </a:rPr>
              <a:t>Iceberg</a:t>
            </a:r>
          </a:p>
        </p:txBody>
      </p:sp>
      <p:sp>
        <p:nvSpPr>
          <p:cNvPr id="28" name="Rectangle 27"/>
          <p:cNvSpPr/>
          <p:nvPr/>
        </p:nvSpPr>
        <p:spPr>
          <a:xfrm>
            <a:off x="777240" y="1874519"/>
            <a:ext cx="1554480" cy="150876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137160" tIns="0" bIns="0" wrap="square"/>
          <a:lstStyle/>
          <a:p>
            <a:pPr algn="l"/>
            <a:r>
              <a:rPr sz="1300" b="1" i="0">
                <a:solidFill>
                  <a:srgbClr val="8A1626"/>
                </a:solidFill>
              </a:rPr>
              <a:t>On premises</a:t>
            </a:r>
          </a:p>
        </p:txBody>
      </p:sp>
      <p:sp>
        <p:nvSpPr>
          <p:cNvPr id="29" name="Rectangle 28"/>
          <p:cNvSpPr/>
          <p:nvPr/>
        </p:nvSpPr>
        <p:spPr>
          <a:xfrm>
            <a:off x="2423160" y="1874519"/>
            <a:ext cx="4448556" cy="150876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xtBox 29"/>
          <p:cNvSpPr txBox="1"/>
          <p:nvPr/>
        </p:nvSpPr>
        <p:spPr>
          <a:xfrm>
            <a:off x="2560320" y="2011679"/>
            <a:ext cx="4174236" cy="292608"/>
          </a:xfrm>
          <a:prstGeom prst="rect">
            <a:avLst/>
          </a:prstGeom>
          <a:noFill/>
        </p:spPr>
        <p:txBody>
          <a:bodyPr wrap="square" lIns="0" rIns="0" tIns="0" bIns="0" anchor="ctr">
            <a:spAutoFit/>
          </a:bodyPr>
          <a:lstStyle/>
          <a:p>
            <a:pPr algn="l"/>
            <a:r>
              <a:rPr sz="1200" b="0" i="0">
                <a:solidFill>
                  <a:srgbClr val="1A1A1A"/>
                </a:solidFill>
              </a:rPr>
              <a:t>VaR inputs from Delta tables</a:t>
            </a:r>
          </a:p>
        </p:txBody>
      </p:sp>
      <p:sp>
        <p:nvSpPr>
          <p:cNvPr id="31" name="TextBox 30"/>
          <p:cNvSpPr txBox="1"/>
          <p:nvPr/>
        </p:nvSpPr>
        <p:spPr>
          <a:xfrm>
            <a:off x="2560320" y="2468879"/>
            <a:ext cx="4174236" cy="292608"/>
          </a:xfrm>
          <a:prstGeom prst="rect">
            <a:avLst/>
          </a:prstGeom>
          <a:noFill/>
        </p:spPr>
        <p:txBody>
          <a:bodyPr wrap="square" lIns="0" rIns="0" tIns="0" bIns="0" anchor="ctr">
            <a:spAutoFit/>
          </a:bodyPr>
          <a:lstStyle/>
          <a:p>
            <a:pPr algn="l"/>
            <a:r>
              <a:rPr sz="1200" b="0" i="0">
                <a:solidFill>
                  <a:srgbClr val="1A1A1A"/>
                </a:solidFill>
              </a:rPr>
              <a:t>Official results: append-only Delta + JSONL</a:t>
            </a:r>
          </a:p>
        </p:txBody>
      </p:sp>
      <p:sp>
        <p:nvSpPr>
          <p:cNvPr id="32" name="TextBox 31"/>
          <p:cNvSpPr txBox="1"/>
          <p:nvPr/>
        </p:nvSpPr>
        <p:spPr>
          <a:xfrm>
            <a:off x="2560320" y="2926079"/>
            <a:ext cx="4174236" cy="292608"/>
          </a:xfrm>
          <a:prstGeom prst="rect">
            <a:avLst/>
          </a:prstGeom>
          <a:noFill/>
        </p:spPr>
        <p:txBody>
          <a:bodyPr wrap="square" lIns="0" rIns="0" tIns="0" bIns="0" anchor="ctr">
            <a:spAutoFit/>
          </a:bodyPr>
          <a:lstStyle/>
          <a:p>
            <a:pPr algn="l"/>
            <a:r>
              <a:rPr sz="1200" b="0" i="0">
                <a:solidFill>
                  <a:srgbClr val="1A1A1A"/>
                </a:solidFill>
              </a:rPr>
              <a:t>Lake maintenance; 7-year floor for risk</a:t>
            </a:r>
          </a:p>
        </p:txBody>
      </p:sp>
      <p:sp>
        <p:nvSpPr>
          <p:cNvPr id="33" name="Rectangle 32"/>
          <p:cNvSpPr/>
          <p:nvPr/>
        </p:nvSpPr>
        <p:spPr>
          <a:xfrm>
            <a:off x="6963156" y="1874519"/>
            <a:ext cx="4448556" cy="150876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TextBox 33"/>
          <p:cNvSpPr txBox="1"/>
          <p:nvPr/>
        </p:nvSpPr>
        <p:spPr>
          <a:xfrm>
            <a:off x="7100316" y="2011679"/>
            <a:ext cx="4174236" cy="292608"/>
          </a:xfrm>
          <a:prstGeom prst="rect">
            <a:avLst/>
          </a:prstGeom>
          <a:noFill/>
        </p:spPr>
        <p:txBody>
          <a:bodyPr wrap="square" lIns="0" rIns="0" tIns="0" bIns="0" anchor="ctr">
            <a:spAutoFit/>
          </a:bodyPr>
          <a:lstStyle/>
          <a:p>
            <a:pPr algn="l"/>
            <a:r>
              <a:rPr sz="1200" b="0" i="0">
                <a:solidFill>
                  <a:srgbClr val="1A1A1A"/>
                </a:solidFill>
              </a:rPr>
              <a:t>VaR, intraday, exposure on Iceberg</a:t>
            </a:r>
          </a:p>
        </p:txBody>
      </p:sp>
      <p:sp>
        <p:nvSpPr>
          <p:cNvPr id="35" name="TextBox 34"/>
          <p:cNvSpPr txBox="1"/>
          <p:nvPr/>
        </p:nvSpPr>
        <p:spPr>
          <a:xfrm>
            <a:off x="7100316" y="2468879"/>
            <a:ext cx="4174236" cy="292608"/>
          </a:xfrm>
          <a:prstGeom prst="rect">
            <a:avLst/>
          </a:prstGeom>
          <a:noFill/>
        </p:spPr>
        <p:txBody>
          <a:bodyPr wrap="square" lIns="0" rIns="0" tIns="0" bIns="0" anchor="ctr">
            <a:spAutoFit/>
          </a:bodyPr>
          <a:lstStyle/>
          <a:p>
            <a:pPr algn="l"/>
            <a:r>
              <a:rPr sz="1200" b="0" i="0">
                <a:solidFill>
                  <a:srgbClr val="1A1A1A"/>
                </a:solidFill>
              </a:rPr>
              <a:t>Official results to Iceberg</a:t>
            </a:r>
          </a:p>
        </p:txBody>
      </p:sp>
      <p:sp>
        <p:nvSpPr>
          <p:cNvPr id="36" name="TextBox 35"/>
          <p:cNvSpPr txBox="1"/>
          <p:nvPr/>
        </p:nvSpPr>
        <p:spPr>
          <a:xfrm>
            <a:off x="7100316" y="2926079"/>
            <a:ext cx="4174236" cy="292608"/>
          </a:xfrm>
          <a:prstGeom prst="rect">
            <a:avLst/>
          </a:prstGeom>
          <a:noFill/>
        </p:spPr>
        <p:txBody>
          <a:bodyPr wrap="square" lIns="0" rIns="0" tIns="0" bIns="0" anchor="ctr">
            <a:spAutoFit/>
          </a:bodyPr>
          <a:lstStyle/>
          <a:p>
            <a:pPr algn="l"/>
            <a:r>
              <a:rPr sz="1200" b="0" i="0">
                <a:solidFill>
                  <a:srgbClr val="1A1A1A"/>
                </a:solidFill>
              </a:rPr>
              <a:t>Maintenance, orphans, 7-year floor</a:t>
            </a:r>
          </a:p>
        </p:txBody>
      </p:sp>
      <p:sp>
        <p:nvSpPr>
          <p:cNvPr id="37" name="Rectangle 36"/>
          <p:cNvSpPr/>
          <p:nvPr/>
        </p:nvSpPr>
        <p:spPr>
          <a:xfrm>
            <a:off x="777240" y="3474720"/>
            <a:ext cx="1554480" cy="150876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137160" tIns="0" bIns="0" wrap="square"/>
          <a:lstStyle/>
          <a:p>
            <a:pPr algn="l"/>
            <a:r>
              <a:rPr sz="1300" b="1" i="0">
                <a:solidFill>
                  <a:srgbClr val="8A1626"/>
                </a:solidFill>
              </a:rPr>
              <a:t>AWS</a:t>
            </a:r>
          </a:p>
        </p:txBody>
      </p:sp>
      <p:sp>
        <p:nvSpPr>
          <p:cNvPr id="38" name="Rectangle 37"/>
          <p:cNvSpPr/>
          <p:nvPr/>
        </p:nvSpPr>
        <p:spPr>
          <a:xfrm>
            <a:off x="2423160" y="3474720"/>
            <a:ext cx="4448556" cy="150876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TextBox 38"/>
          <p:cNvSpPr txBox="1"/>
          <p:nvPr/>
        </p:nvSpPr>
        <p:spPr>
          <a:xfrm>
            <a:off x="2560320" y="3611879"/>
            <a:ext cx="4174236" cy="292608"/>
          </a:xfrm>
          <a:prstGeom prst="rect">
            <a:avLst/>
          </a:prstGeom>
          <a:noFill/>
        </p:spPr>
        <p:txBody>
          <a:bodyPr wrap="square" lIns="0" rIns="0" tIns="0" bIns="0" anchor="ctr">
            <a:spAutoFit/>
          </a:bodyPr>
          <a:lstStyle/>
          <a:p>
            <a:pPr algn="l"/>
            <a:r>
              <a:rPr sz="1200" b="0" i="0">
                <a:solidFill>
                  <a:srgbClr val="1A1A1A"/>
                </a:solidFill>
              </a:rPr>
              <a:t>Reading Delta tables in S3</a:t>
            </a:r>
          </a:p>
        </p:txBody>
      </p:sp>
      <p:sp>
        <p:nvSpPr>
          <p:cNvPr id="40" name="TextBox 39"/>
          <p:cNvSpPr txBox="1"/>
          <p:nvPr/>
        </p:nvSpPr>
        <p:spPr>
          <a:xfrm>
            <a:off x="2560320" y="4069079"/>
            <a:ext cx="4174236" cy="292608"/>
          </a:xfrm>
          <a:prstGeom prst="rect">
            <a:avLst/>
          </a:prstGeom>
          <a:noFill/>
        </p:spPr>
        <p:txBody>
          <a:bodyPr wrap="square" lIns="0" rIns="0" tIns="0" bIns="0" anchor="ctr">
            <a:spAutoFit/>
          </a:bodyPr>
          <a:lstStyle/>
          <a:p>
            <a:pPr algn="l"/>
            <a:r>
              <a:rPr sz="1200" b="0" i="0">
                <a:solidFill>
                  <a:srgbClr val="1A1A1A"/>
                </a:solidFill>
              </a:rPr>
              <a:t>Official publish to an EFS Delta root</a:t>
            </a:r>
          </a:p>
        </p:txBody>
      </p:sp>
      <p:sp>
        <p:nvSpPr>
          <p:cNvPr id="41" name="TextBox 40"/>
          <p:cNvSpPr txBox="1"/>
          <p:nvPr/>
        </p:nvSpPr>
        <p:spPr>
          <a:xfrm>
            <a:off x="2560320" y="4526279"/>
            <a:ext cx="4174236" cy="292608"/>
          </a:xfrm>
          <a:prstGeom prst="rect">
            <a:avLst/>
          </a:prstGeom>
          <a:noFill/>
        </p:spPr>
        <p:txBody>
          <a:bodyPr wrap="square" lIns="0" rIns="0" tIns="0" bIns="0" anchor="ctr">
            <a:spAutoFit/>
          </a:bodyPr>
          <a:lstStyle/>
          <a:p>
            <a:pPr algn="l"/>
            <a:r>
              <a:rPr sz="1200" b="0" i="0">
                <a:solidFill>
                  <a:srgbClr val="1A1A1A"/>
                </a:solidFill>
              </a:rPr>
              <a:t>Official results to s3://</a:t>
            </a:r>
          </a:p>
        </p:txBody>
      </p:sp>
      <p:sp>
        <p:nvSpPr>
          <p:cNvPr id="42" name="Rectangle 41"/>
          <p:cNvSpPr/>
          <p:nvPr/>
        </p:nvSpPr>
        <p:spPr>
          <a:xfrm>
            <a:off x="6963156" y="3474720"/>
            <a:ext cx="4448556" cy="150876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3" name="TextBox 42"/>
          <p:cNvSpPr txBox="1"/>
          <p:nvPr/>
        </p:nvSpPr>
        <p:spPr>
          <a:xfrm>
            <a:off x="7100316" y="3611879"/>
            <a:ext cx="4174236" cy="292608"/>
          </a:xfrm>
          <a:prstGeom prst="rect">
            <a:avLst/>
          </a:prstGeom>
          <a:noFill/>
        </p:spPr>
        <p:txBody>
          <a:bodyPr wrap="square" lIns="0" rIns="0" tIns="0" bIns="0" anchor="ctr">
            <a:spAutoFit/>
          </a:bodyPr>
          <a:lstStyle/>
          <a:p>
            <a:pPr algn="l"/>
            <a:r>
              <a:rPr sz="1200" b="0" i="0">
                <a:solidFill>
                  <a:srgbClr val="1A1A1A"/>
                </a:solidFill>
              </a:rPr>
              <a:t>Iceberg on S3; AWS scripts</a:t>
            </a:r>
          </a:p>
        </p:txBody>
      </p:sp>
      <p:sp>
        <p:nvSpPr>
          <p:cNvPr id="44" name="TextBox 43"/>
          <p:cNvSpPr txBox="1"/>
          <p:nvPr/>
        </p:nvSpPr>
        <p:spPr>
          <a:xfrm>
            <a:off x="7100316" y="4069079"/>
            <a:ext cx="4174236" cy="292608"/>
          </a:xfrm>
          <a:prstGeom prst="rect">
            <a:avLst/>
          </a:prstGeom>
          <a:noFill/>
        </p:spPr>
        <p:txBody>
          <a:bodyPr wrap="square" lIns="0" rIns="0" tIns="0" bIns="0" anchor="ctr">
            <a:spAutoFit/>
          </a:bodyPr>
          <a:lstStyle/>
          <a:p>
            <a:pPr algn="l"/>
            <a:r>
              <a:rPr sz="1200" b="0" i="0">
                <a:solidFill>
                  <a:srgbClr val="1A1A1A"/>
                </a:solidFill>
              </a:rPr>
              <a:t>Admin → Lakes, disk caches</a:t>
            </a:r>
          </a:p>
        </p:txBody>
      </p:sp>
      <p:sp>
        <p:nvSpPr>
          <p:cNvPr id="45" name="Rounded Rectangle 44"/>
          <p:cNvSpPr/>
          <p:nvPr/>
        </p:nvSpPr>
        <p:spPr>
          <a:xfrm>
            <a:off x="10675620" y="4562855"/>
            <a:ext cx="598932" cy="201168"/>
          </a:xfrm>
          <a:prstGeom prst="roundRect">
            <a:avLst>
              <a:gd name="adj" fmla="val 50000"/>
            </a:avLst>
          </a:prstGeom>
          <a:solidFill>
            <a:srgbClr val="E9E6E1"/>
          </a:solidFill>
          <a:ln w="12700">
            <a:solidFill>
              <a:srgbClr val="4A5058"/>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4A5058"/>
                </a:solidFill>
              </a:rPr>
              <a:t>NOT RUN</a:t>
            </a:r>
          </a:p>
        </p:txBody>
      </p:sp>
      <p:sp>
        <p:nvSpPr>
          <p:cNvPr id="46" name="TextBox 45"/>
          <p:cNvSpPr txBox="1"/>
          <p:nvPr/>
        </p:nvSpPr>
        <p:spPr>
          <a:xfrm>
            <a:off x="7100316" y="4526279"/>
            <a:ext cx="3483864" cy="292608"/>
          </a:xfrm>
          <a:prstGeom prst="rect">
            <a:avLst/>
          </a:prstGeom>
          <a:noFill/>
        </p:spPr>
        <p:txBody>
          <a:bodyPr wrap="square" lIns="0" rIns="0" tIns="0" bIns="0" anchor="ctr">
            <a:spAutoFit/>
          </a:bodyPr>
          <a:lstStyle/>
          <a:p>
            <a:pPr algn="l"/>
            <a:r>
              <a:rPr sz="1200" b="0" i="0">
                <a:solidFill>
                  <a:srgbClr val="1A1A1A"/>
                </a:solidFill>
              </a:rPr>
              <a:t>Glue and S3 Tables: first AWS run</a:t>
            </a:r>
          </a:p>
        </p:txBody>
      </p:sp>
      <p:sp>
        <p:nvSpPr>
          <p:cNvPr id="47" name="Rectangle 46"/>
          <p:cNvSpPr/>
          <p:nvPr/>
        </p:nvSpPr>
        <p:spPr>
          <a:xfrm>
            <a:off x="777240" y="5166360"/>
            <a:ext cx="10634472" cy="105156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8" name="Rectangle 47"/>
          <p:cNvSpPr/>
          <p:nvPr/>
        </p:nvSpPr>
        <p:spPr>
          <a:xfrm>
            <a:off x="777240" y="5166360"/>
            <a:ext cx="54864" cy="10515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9" name="TextBox 48"/>
          <p:cNvSpPr txBox="1"/>
          <p:nvPr/>
        </p:nvSpPr>
        <p:spPr>
          <a:xfrm>
            <a:off x="1005840" y="5166360"/>
            <a:ext cx="10314432" cy="1051560"/>
          </a:xfrm>
          <a:prstGeom prst="rect">
            <a:avLst/>
          </a:prstGeom>
          <a:noFill/>
        </p:spPr>
        <p:txBody>
          <a:bodyPr wrap="square" lIns="0" rIns="0" tIns="0" bIns="0" anchor="ctr">
            <a:spAutoFit/>
          </a:bodyPr>
          <a:lstStyle/>
          <a:p>
            <a:pPr algn="l">
              <a:spcAft>
                <a:spcPts val="300"/>
              </a:spcAft>
            </a:pPr>
            <a:r>
              <a:rPr sz="1250" b="1" i="0">
                <a:solidFill>
                  <a:srgbClr val="A51C30"/>
                </a:solidFill>
              </a:rPr>
              <a:t>Above the storage plugins, one product  </a:t>
            </a:r>
            <a:r>
              <a:rPr sz="1200" b="0" i="0">
                <a:solidFill>
                  <a:srgbClr val="1A1A1A"/>
                </a:solidFill>
              </a:rPr>
              <a:t>packs, data contracts, connector names, engines, BI, UI and Drishti*net are the same on Delta and Iceberg; VaR and exposure are equal to the cent on both (VAR BANK USD 112,041,646¹ on the demo data). Delta is the default.</a:t>
            </a:r>
          </a:p>
          <a:p>
            <a:pPr algn="l"/>
            <a:r>
              <a:rPr sz="1150" b="0" i="1">
                <a:solidFill>
                  <a:srgbClr val="4A5058"/>
                </a:solidFill>
              </a:rPr>
              <a:t>The AWS deployment and its cost are in the appendix; the companion deck Drishti on AWS (the lake, Delta or Iceberg) has the detail.</a:t>
            </a:r>
          </a:p>
        </p:txBody>
      </p:sp>
      <p:sp>
        <p:nvSpPr>
          <p:cNvPr id="50" name="Footnotes"/>
          <p:cNvSpPr txBox="1"/>
          <p:nvPr/>
        </p:nvSpPr>
        <p:spPr>
          <a:xfrm>
            <a:off x="2468880" y="6419088"/>
            <a:ext cx="8503920" cy="237744"/>
          </a:xfrm>
          <a:prstGeom prst="rect">
            <a:avLst/>
          </a:prstGeom>
          <a:noFill/>
        </p:spPr>
        <p:txBody>
          <a:bodyPr wrap="square" lIns="0" rIns="0" tIns="0" bIns="0" anchor="ctr">
            <a:spAutoFit/>
          </a:bodyPr>
          <a:lstStyle/>
          <a:p>
            <a:pPr algn="l"/>
            <a:r>
              <a:rPr sz="900" b="0" i="0">
                <a:solidFill>
                  <a:srgbClr val="4A5058"/>
                </a:solidFill>
              </a:rPr>
              <a:t>¹ VarFormatEqualityTest: the same lines written to Delta and to Iceberg give the same VaR, to the cent, on the demo data</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hapter background"/>
          <p:cNvSpPr/>
          <p:nvPr/>
        </p:nvSpPr>
        <p:spPr>
          <a:xfrm>
            <a:off x="0" y="0"/>
            <a:ext cx="12191969"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chapter number"/>
          <p:cNvSpPr txBox="1"/>
          <p:nvPr/>
        </p:nvSpPr>
        <p:spPr>
          <a:xfrm>
            <a:off x="4754880" y="-822960"/>
            <a:ext cx="7223760" cy="7863840"/>
          </a:xfrm>
          <a:prstGeom prst="rect">
            <a:avLst/>
          </a:prstGeom>
          <a:noFill/>
        </p:spPr>
        <p:txBody>
          <a:bodyPr wrap="none" lIns="0" rIns="0" tIns="0" bIns="0" anchor="ctr">
            <a:spAutoFit/>
          </a:bodyPr>
          <a:lstStyle/>
          <a:p>
            <a:pPr algn="r"/>
            <a:r>
              <a:rPr sz="42000" b="1" i="0">
                <a:solidFill>
                  <a:srgbClr val="B8394C"/>
                </a:solidFill>
              </a:rPr>
              <a:t>07</a:t>
            </a:r>
          </a:p>
        </p:txBody>
      </p:sp>
      <p:sp>
        <p:nvSpPr>
          <p:cNvPr id="4" name="chapter name"/>
          <p:cNvSpPr txBox="1"/>
          <p:nvPr/>
        </p:nvSpPr>
        <p:spPr>
          <a:xfrm>
            <a:off x="822960" y="2514600"/>
            <a:ext cx="6949440" cy="1828800"/>
          </a:xfrm>
          <a:prstGeom prst="rect">
            <a:avLst/>
          </a:prstGeom>
          <a:noFill/>
        </p:spPr>
        <p:txBody>
          <a:bodyPr wrap="square" lIns="0" rIns="0" tIns="0" bIns="0" anchor="ctr">
            <a:spAutoFit/>
          </a:bodyPr>
          <a:lstStyle/>
          <a:p>
            <a:pPr algn="l"/>
            <a:r>
              <a:rPr sz="4400" b="1" i="0">
                <a:solidFill>
                  <a:srgbClr val="FFFFFF"/>
                </a:solidFill>
              </a:rPr>
              <a:t>Operations and model risk</a:t>
            </a:r>
          </a:p>
        </p:txBody>
      </p:sp>
      <p:pic>
        <p:nvPicPr>
          <p:cNvPr id="5" name="Drishti mark" descr="Drishti logo: an eye between curly brackets"/>
          <p:cNvPicPr>
            <a:picLocks noChangeAspect="1"/>
          </p:cNvPicPr>
          <p:nvPr/>
        </p:nvPicPr>
        <p:blipFill>
          <a:blip r:embed="rId2"/>
          <a:stretch>
            <a:fillRect/>
          </a:stretch>
        </p:blipFill>
        <p:spPr>
          <a:xfrm>
            <a:off x="822960" y="6236208"/>
            <a:ext cx="430911" cy="237744"/>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OPERATIONS · THE DAILY CYCLE</a:t>
            </a:r>
          </a:p>
        </p:txBody>
      </p:sp>
      <p:sp>
        <p:nvSpPr>
          <p:cNvPr id="3" name="Title 2"/>
          <p:cNvSpPr>
            <a:spLocks noGrp="1"/>
          </p:cNvSpPr>
          <p:nvPr>
            <p:ph type="title" idx="104"/>
          </p:nvPr>
        </p:nvSpPr>
        <p:spPr/>
        <p:txBody>
          <a:bodyPr/>
          <a:lstStyle/>
          <a:p>
            <a:r>
              <a:t>From the full run to intraday, every business date</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17320"/>
            <a:ext cx="2452878" cy="132588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Oval 26"/>
          <p:cNvSpPr/>
          <p:nvPr/>
        </p:nvSpPr>
        <p:spPr>
          <a:xfrm>
            <a:off x="886968" y="1508760"/>
            <a:ext cx="365760" cy="365760"/>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rPr>
              <a:t>1</a:t>
            </a:r>
          </a:p>
        </p:txBody>
      </p:sp>
      <p:sp>
        <p:nvSpPr>
          <p:cNvPr id="28" name="TextBox 27"/>
          <p:cNvSpPr txBox="1"/>
          <p:nvPr/>
        </p:nvSpPr>
        <p:spPr>
          <a:xfrm>
            <a:off x="1344168" y="1508760"/>
            <a:ext cx="1812798" cy="365760"/>
          </a:xfrm>
          <a:prstGeom prst="rect">
            <a:avLst/>
          </a:prstGeom>
          <a:noFill/>
        </p:spPr>
        <p:txBody>
          <a:bodyPr wrap="square" lIns="0" rIns="0" tIns="0" bIns="0" anchor="ctr">
            <a:spAutoFit/>
          </a:bodyPr>
          <a:lstStyle/>
          <a:p>
            <a:pPr algn="l"/>
            <a:r>
              <a:rPr sz="1300" b="1" i="0">
                <a:solidFill>
                  <a:srgbClr val="8A1626"/>
                </a:solidFill>
              </a:rPr>
              <a:t>Full run lands</a:t>
            </a:r>
          </a:p>
        </p:txBody>
      </p:sp>
      <p:sp>
        <p:nvSpPr>
          <p:cNvPr id="29" name="TextBox 28"/>
          <p:cNvSpPr txBox="1"/>
          <p:nvPr/>
        </p:nvSpPr>
        <p:spPr>
          <a:xfrm>
            <a:off x="905256" y="1920240"/>
            <a:ext cx="2233422" cy="804672"/>
          </a:xfrm>
          <a:prstGeom prst="rect">
            <a:avLst/>
          </a:prstGeom>
          <a:noFill/>
        </p:spPr>
        <p:txBody>
          <a:bodyPr wrap="square" lIns="0" rIns="0" tIns="0" bIns="0" anchor="t">
            <a:spAutoFit/>
          </a:bodyPr>
          <a:lstStyle/>
          <a:p>
            <a:pPr algn="l"/>
            <a:r>
              <a:rPr sz="1050" b="0" i="0">
                <a:solidFill>
                  <a:srgbClr val="4A5058"/>
                </a:solidFill>
              </a:rPr>
              <a:t>after the close: scenario set, every live trade, hierarchies, portfolios; JSONL into the lake, then the load signal</a:t>
            </a:r>
          </a:p>
        </p:txBody>
      </p:sp>
      <p:cxnSp>
        <p:nvCxnSpPr>
          <p:cNvPr id="30" name="Connector 29"/>
          <p:cNvCxnSpPr/>
          <p:nvPr/>
        </p:nvCxnSpPr>
        <p:spPr>
          <a:xfrm>
            <a:off x="3257550" y="2075688"/>
            <a:ext cx="219456" cy="0"/>
          </a:xfrm>
          <a:prstGeom prst="line">
            <a:avLst/>
          </a:prstGeom>
          <a:ln w="2222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Rectangle 30"/>
          <p:cNvSpPr/>
          <p:nvPr/>
        </p:nvSpPr>
        <p:spPr>
          <a:xfrm>
            <a:off x="3504438" y="1417320"/>
            <a:ext cx="2452878" cy="132588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Oval 31"/>
          <p:cNvSpPr/>
          <p:nvPr/>
        </p:nvSpPr>
        <p:spPr>
          <a:xfrm>
            <a:off x="3614166" y="1508760"/>
            <a:ext cx="365760" cy="365760"/>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rPr>
              <a:t>2</a:t>
            </a:r>
          </a:p>
        </p:txBody>
      </p:sp>
      <p:sp>
        <p:nvSpPr>
          <p:cNvPr id="33" name="TextBox 32"/>
          <p:cNvSpPr txBox="1"/>
          <p:nvPr/>
        </p:nvSpPr>
        <p:spPr>
          <a:xfrm>
            <a:off x="4071365" y="1508760"/>
            <a:ext cx="1812798" cy="365760"/>
          </a:xfrm>
          <a:prstGeom prst="rect">
            <a:avLst/>
          </a:prstGeom>
          <a:noFill/>
        </p:spPr>
        <p:txBody>
          <a:bodyPr wrap="square" lIns="0" rIns="0" tIns="0" bIns="0" anchor="ctr">
            <a:spAutoFit/>
          </a:bodyPr>
          <a:lstStyle/>
          <a:p>
            <a:pPr algn="l"/>
            <a:r>
              <a:rPr sz="1300" b="1" i="0">
                <a:solidFill>
                  <a:srgbClr val="8A1626"/>
                </a:solidFill>
              </a:rPr>
              <a:t>Date loads</a:t>
            </a:r>
          </a:p>
        </p:txBody>
      </p:sp>
      <p:sp>
        <p:nvSpPr>
          <p:cNvPr id="34" name="TextBox 33"/>
          <p:cNvSpPr txBox="1"/>
          <p:nvPr/>
        </p:nvSpPr>
        <p:spPr>
          <a:xfrm>
            <a:off x="3632454" y="1920240"/>
            <a:ext cx="2233422" cy="804672"/>
          </a:xfrm>
          <a:prstGeom prst="rect">
            <a:avLst/>
          </a:prstGeom>
          <a:noFill/>
        </p:spPr>
        <p:txBody>
          <a:bodyPr wrap="square" lIns="0" rIns="0" tIns="0" bIns="0" anchor="t">
            <a:spAutoFit/>
          </a:bodyPr>
          <a:lstStyle/>
          <a:p>
            <a:pPr algn="l"/>
            <a:r>
              <a:rPr sz="1050" b="0" i="0">
                <a:solidFill>
                  <a:srgbClr val="4A5058"/>
                </a:solidFill>
              </a:rPr>
              <a:t>every row checked; positions derived; nodes summed; the hot file built; currencies built ahead</a:t>
            </a:r>
          </a:p>
        </p:txBody>
      </p:sp>
      <p:cxnSp>
        <p:nvCxnSpPr>
          <p:cNvPr id="35" name="Connector 34"/>
          <p:cNvCxnSpPr/>
          <p:nvPr/>
        </p:nvCxnSpPr>
        <p:spPr>
          <a:xfrm>
            <a:off x="5984748" y="2075688"/>
            <a:ext cx="219456" cy="0"/>
          </a:xfrm>
          <a:prstGeom prst="line">
            <a:avLst/>
          </a:prstGeom>
          <a:ln w="2222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Rectangle 35"/>
          <p:cNvSpPr/>
          <p:nvPr/>
        </p:nvSpPr>
        <p:spPr>
          <a:xfrm>
            <a:off x="6231636" y="1417320"/>
            <a:ext cx="2452878" cy="132588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7" name="Oval 36"/>
          <p:cNvSpPr/>
          <p:nvPr/>
        </p:nvSpPr>
        <p:spPr>
          <a:xfrm>
            <a:off x="6341364" y="1508760"/>
            <a:ext cx="365760" cy="365760"/>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rPr>
              <a:t>3</a:t>
            </a:r>
          </a:p>
        </p:txBody>
      </p:sp>
      <p:sp>
        <p:nvSpPr>
          <p:cNvPr id="38" name="TextBox 37"/>
          <p:cNvSpPr txBox="1"/>
          <p:nvPr/>
        </p:nvSpPr>
        <p:spPr>
          <a:xfrm>
            <a:off x="6798564" y="1508760"/>
            <a:ext cx="1812798" cy="365760"/>
          </a:xfrm>
          <a:prstGeom prst="rect">
            <a:avLst/>
          </a:prstGeom>
          <a:noFill/>
        </p:spPr>
        <p:txBody>
          <a:bodyPr wrap="square" lIns="0" rIns="0" tIns="0" bIns="0" anchor="ctr">
            <a:spAutoFit/>
          </a:bodyPr>
          <a:lstStyle/>
          <a:p>
            <a:pPr algn="l"/>
            <a:r>
              <a:rPr sz="1300" b="1" i="0">
                <a:solidFill>
                  <a:srgbClr val="8A1626"/>
                </a:solidFill>
              </a:rPr>
              <a:t>Official record</a:t>
            </a:r>
          </a:p>
        </p:txBody>
      </p:sp>
      <p:sp>
        <p:nvSpPr>
          <p:cNvPr id="39" name="TextBox 38"/>
          <p:cNvSpPr txBox="1"/>
          <p:nvPr/>
        </p:nvSpPr>
        <p:spPr>
          <a:xfrm>
            <a:off x="6359651" y="1920240"/>
            <a:ext cx="2233422" cy="804672"/>
          </a:xfrm>
          <a:prstGeom prst="rect">
            <a:avLst/>
          </a:prstGeom>
          <a:noFill/>
        </p:spPr>
        <p:txBody>
          <a:bodyPr wrap="square" lIns="0" rIns="0" tIns="0" bIns="0" anchor="t">
            <a:spAutoFit/>
          </a:bodyPr>
          <a:lstStyle/>
          <a:p>
            <a:pPr algn="l"/>
            <a:r>
              <a:rPr sz="1050" b="0" i="0">
                <a:solidFill>
                  <a:srgbClr val="4A5058"/>
                </a:solidFill>
              </a:rPr>
              <a:t>every node of every tree captured from the full run, published append-only, with JSONL</a:t>
            </a:r>
          </a:p>
        </p:txBody>
      </p:sp>
      <p:cxnSp>
        <p:nvCxnSpPr>
          <p:cNvPr id="40" name="Connector 39"/>
          <p:cNvCxnSpPr/>
          <p:nvPr/>
        </p:nvCxnSpPr>
        <p:spPr>
          <a:xfrm>
            <a:off x="8711945" y="2075688"/>
            <a:ext cx="219456" cy="0"/>
          </a:xfrm>
          <a:prstGeom prst="line">
            <a:avLst/>
          </a:prstGeom>
          <a:ln w="2222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1" name="Rectangle 40"/>
          <p:cNvSpPr/>
          <p:nvPr/>
        </p:nvSpPr>
        <p:spPr>
          <a:xfrm>
            <a:off x="8958834" y="1417320"/>
            <a:ext cx="2452878" cy="132588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Oval 41"/>
          <p:cNvSpPr/>
          <p:nvPr/>
        </p:nvSpPr>
        <p:spPr>
          <a:xfrm>
            <a:off x="9068561" y="1508760"/>
            <a:ext cx="365760" cy="365760"/>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rPr>
              <a:t>4</a:t>
            </a:r>
          </a:p>
        </p:txBody>
      </p:sp>
      <p:sp>
        <p:nvSpPr>
          <p:cNvPr id="43" name="TextBox 42"/>
          <p:cNvSpPr txBox="1"/>
          <p:nvPr/>
        </p:nvSpPr>
        <p:spPr>
          <a:xfrm>
            <a:off x="9525761" y="1508760"/>
            <a:ext cx="1812798" cy="365760"/>
          </a:xfrm>
          <a:prstGeom prst="rect">
            <a:avLst/>
          </a:prstGeom>
          <a:noFill/>
        </p:spPr>
        <p:txBody>
          <a:bodyPr wrap="square" lIns="0" rIns="0" tIns="0" bIns="0" anchor="ctr">
            <a:spAutoFit/>
          </a:bodyPr>
          <a:lstStyle/>
          <a:p>
            <a:pPr algn="l"/>
            <a:r>
              <a:rPr sz="1300" b="1" i="0">
                <a:solidFill>
                  <a:srgbClr val="8A1626"/>
                </a:solidFill>
              </a:rPr>
              <a:t>Intraday</a:t>
            </a:r>
          </a:p>
        </p:txBody>
      </p:sp>
      <p:sp>
        <p:nvSpPr>
          <p:cNvPr id="44" name="TextBox 43"/>
          <p:cNvSpPr txBox="1"/>
          <p:nvPr/>
        </p:nvSpPr>
        <p:spPr>
          <a:xfrm>
            <a:off x="9086850" y="1920240"/>
            <a:ext cx="2233422" cy="804672"/>
          </a:xfrm>
          <a:prstGeom prst="rect">
            <a:avLst/>
          </a:prstGeom>
          <a:noFill/>
        </p:spPr>
        <p:txBody>
          <a:bodyPr wrap="square" lIns="0" rIns="0" tIns="0" bIns="0" anchor="t">
            <a:spAutoFit/>
          </a:bodyPr>
          <a:lstStyle/>
          <a:p>
            <a:pPr algn="l"/>
            <a:r>
              <a:rPr sz="1050" b="0" i="0">
                <a:solidFill>
                  <a:srgbClr val="4A5058"/>
                </a:solidFill>
              </a:rPr>
              <a:t>changed trades or positions only, files or 5-minute Kafka windows; answers say intraday; the record stays</a:t>
            </a:r>
          </a:p>
        </p:txBody>
      </p:sp>
      <p:graphicFrame>
        <p:nvGraphicFramePr>
          <p:cNvPr id="45" name="Table 44"/>
          <p:cNvGraphicFramePr>
            <a:graphicFrameLocks noGrp="1"/>
          </p:cNvGraphicFramePr>
          <p:nvPr/>
        </p:nvGraphicFramePr>
        <p:xfrm>
          <a:off x="777240" y="2880360"/>
          <a:ext cx="6309360" cy="2304288"/>
        </p:xfrm>
        <a:graphic>
          <a:graphicData uri="http://schemas.openxmlformats.org/drawingml/2006/table">
            <a:tbl>
              <a:tblPr firstRow="0" bandRow="0">
                <a:tableStyleId>{5940675A-B579-460E-94D1-54222C63F5DA}</a:tableStyleId>
              </a:tblPr>
              <a:tblGrid>
                <a:gridCol w="2103120"/>
                <a:gridCol w="4206240"/>
              </a:tblGrid>
              <a:tr h="384048">
                <a:tc>
                  <a:txBody>
                    <a:bodyPr wrap="square"/>
                    <a:lstStyle/>
                    <a:p>
                      <a:r>
                        <a:rPr sz="1050" b="1" i="0">
                          <a:solidFill>
                            <a:srgbClr val="FFFFFF"/>
                          </a:solidFill>
                        </a:rPr>
                        <a:t>Monitoring, as built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What it shows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384048">
                <a:tc>
                  <a:txBody>
                    <a:bodyPr wrap="square"/>
                    <a:lstStyle/>
                    <a:p>
                      <a:r>
                        <a:rPr sz="1050" b="1" i="0">
                          <a:solidFill>
                            <a:srgbClr val="8A1626"/>
                          </a:solidFill>
                        </a:rPr>
                        <a:t>GET /api/v1/var/status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loaded dates, trades, positions, nodes, load time, rejected, excluded, batch ids, refused dates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84048">
                <a:tc>
                  <a:txBody>
                    <a:bodyPr wrap="square"/>
                    <a:lstStyle/>
                    <a:p>
                      <a:r>
                        <a:rPr sz="1050" b="1" i="0">
                          <a:solidFill>
                            <a:srgbClr val="8A1626"/>
                          </a:solidFill>
                        </a:rPr>
                        <a:t>GET …/var/intraday/streams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topic, state, waiting trades, offsets, last ten windows, newest rejections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84048">
                <a:tc>
                  <a:txBody>
                    <a:bodyPr wrap="square"/>
                    <a:lstStyle/>
                    <a:p>
                      <a:r>
                        <a:rPr sz="1050" b="1" i="0">
                          <a:solidFill>
                            <a:srgbClr val="8A1626"/>
                          </a:solidFill>
                        </a:rPr>
                        <a:t>Provenance on every answer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inputs by system, rejections by code, intraday batches applied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84048">
                <a:tc>
                  <a:txBody>
                    <a:bodyPr wrap="square"/>
                    <a:lstStyle/>
                    <a:p>
                      <a:r>
                        <a:rPr sz="1050" b="1" i="0">
                          <a:solidFill>
                            <a:srgbClr val="8A1626"/>
                          </a:solidFill>
                        </a:rPr>
                        <a:t>Admin pages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Audit, Lakes (maintenance), the connector's Apply now</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84048">
                <a:tc>
                  <a:txBody>
                    <a:bodyPr wrap="square"/>
                    <a:lstStyle/>
                    <a:p>
                      <a:r>
                        <a:rPr sz="1050" b="1" i="0">
                          <a:solidFill>
                            <a:srgbClr val="8A1626"/>
                          </a:solidFill>
                        </a:rPr>
                        <a:t>drishti.py var status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the same status from the command line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bl>
          </a:graphicData>
        </a:graphic>
      </p:graphicFrame>
      <p:sp>
        <p:nvSpPr>
          <p:cNvPr id="46" name="Rectangle 45"/>
          <p:cNvSpPr/>
          <p:nvPr/>
        </p:nvSpPr>
        <p:spPr>
          <a:xfrm>
            <a:off x="7315200" y="2880360"/>
            <a:ext cx="4096512" cy="233172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7" name="Rectangle 46"/>
          <p:cNvSpPr/>
          <p:nvPr/>
        </p:nvSpPr>
        <p:spPr>
          <a:xfrm>
            <a:off x="7315200" y="2880360"/>
            <a:ext cx="45720" cy="2331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8" name="TextBox 47"/>
          <p:cNvSpPr txBox="1"/>
          <p:nvPr/>
        </p:nvSpPr>
        <p:spPr>
          <a:xfrm>
            <a:off x="7479792" y="2953512"/>
            <a:ext cx="3840480" cy="2221991"/>
          </a:xfrm>
          <a:prstGeom prst="rect">
            <a:avLst/>
          </a:prstGeom>
          <a:noFill/>
        </p:spPr>
        <p:txBody>
          <a:bodyPr wrap="square" lIns="0" rIns="0" tIns="0" bIns="0" anchor="t">
            <a:spAutoFit/>
          </a:bodyPr>
          <a:lstStyle/>
          <a:p>
            <a:pPr algn="l">
              <a:spcAft>
                <a:spcPts val="400"/>
              </a:spcAft>
            </a:pPr>
            <a:r>
              <a:rPr sz="1300" b="1" i="0">
                <a:solidFill>
                  <a:srgbClr val="8A1626"/>
                </a:solidFill>
              </a:rPr>
              <a:t>What to check each morning</a:t>
            </a:r>
          </a:p>
          <a:p>
            <a:pPr algn="l" marL="146304" indent="-146304">
              <a:spcAft>
                <a:spcPts val="150"/>
              </a:spcAft>
              <a:buClr>
                <a:srgbClr val="A51C30"/>
              </a:buClr>
              <a:buSzPct val="100000"/>
              <a:buFont typeface="Arial"/>
              <a:buChar char="▪"/>
            </a:pPr>
            <a:r>
              <a:rPr sz="1050" b="0" i="0">
                <a:solidFill>
                  <a:srgbClr val="1A1A1A"/>
                </a:solidFill>
              </a:rPr>
              <a:t>The newest date is loaded, from one run (one BATCH_ID)</a:t>
            </a:r>
          </a:p>
          <a:p>
            <a:pPr algn="l" marL="146304" indent="-146304">
              <a:spcAft>
                <a:spcPts val="150"/>
              </a:spcAft>
              <a:buClr>
                <a:srgbClr val="A51C30"/>
              </a:buClr>
              <a:buSzPct val="100000"/>
              <a:buFont typeface="Arial"/>
              <a:buChar char="▪"/>
            </a:pPr>
            <a:r>
              <a:rPr sz="1050" b="0" i="0">
                <a:solidFill>
                  <a:srgbClr val="1A1A1A"/>
                </a:solidFill>
              </a:rPr>
              <a:t>Refused rows and refused dates are zero, or explained</a:t>
            </a:r>
          </a:p>
          <a:p>
            <a:pPr algn="l" marL="146304" indent="-146304">
              <a:spcAft>
                <a:spcPts val="150"/>
              </a:spcAft>
              <a:buClr>
                <a:srgbClr val="A51C30"/>
              </a:buClr>
              <a:buSzPct val="100000"/>
              <a:buFont typeface="Arial"/>
              <a:buChar char="▪"/>
            </a:pPr>
            <a:r>
              <a:rPr sz="1050" b="0" i="0">
                <a:solidFill>
                  <a:srgbClr val="1A1A1A"/>
                </a:solidFill>
              </a:rPr>
              <a:t>The official record exists; no publishError</a:t>
            </a:r>
          </a:p>
          <a:p>
            <a:pPr algn="l" marL="146304" indent="-146304">
              <a:spcAft>
                <a:spcPts val="150"/>
              </a:spcAft>
              <a:buClr>
                <a:srgbClr val="A51C30"/>
              </a:buClr>
              <a:buSzPct val="100000"/>
              <a:buFont typeface="Arial"/>
              <a:buChar char="▪"/>
            </a:pPr>
            <a:r>
              <a:rPr sz="1050" b="0" i="0">
                <a:solidFill>
                  <a:srgbClr val="1A1A1A"/>
                </a:solidFill>
              </a:rPr>
              <a:t>Each system arrived in its expected form and grain</a:t>
            </a:r>
          </a:p>
          <a:p>
            <a:pPr algn="l" marL="146304" indent="-146304">
              <a:spcAft>
                <a:spcPts val="150"/>
              </a:spcAft>
              <a:buClr>
                <a:srgbClr val="A51C30"/>
              </a:buClr>
              <a:buSzPct val="100000"/>
              <a:buFont typeface="Arial"/>
              <a:buChar char="▪"/>
            </a:pPr>
            <a:r>
              <a:rPr sz="1050" b="0" i="0">
                <a:solidFill>
                  <a:srgbClr val="1A1A1A"/>
                </a:solidFill>
              </a:rPr>
              <a:t>Limit use: amber 75%, red 90%; the backtest light</a:t>
            </a:r>
          </a:p>
          <a:p>
            <a:pPr algn="l" marL="146304" indent="-146304">
              <a:spcAft>
                <a:spcPts val="150"/>
              </a:spcAft>
              <a:buClr>
                <a:srgbClr val="A51C30"/>
              </a:buClr>
              <a:buSzPct val="100000"/>
              <a:buFont typeface="Arial"/>
              <a:buChar char="▪"/>
            </a:pPr>
            <a:r>
              <a:rPr sz="1050" b="0" i="0">
                <a:solidFill>
                  <a:srgbClr val="1A1A1A"/>
                </a:solidFill>
              </a:rPr>
              <a:t>Intraday streams: nothing waiting long; no rejections</a:t>
            </a:r>
          </a:p>
        </p:txBody>
      </p:sp>
      <p:sp>
        <p:nvSpPr>
          <p:cNvPr id="49" name="TextBox 48"/>
          <p:cNvSpPr txBox="1"/>
          <p:nvPr/>
        </p:nvSpPr>
        <p:spPr>
          <a:xfrm>
            <a:off x="777240" y="5440680"/>
            <a:ext cx="10634472" cy="777240"/>
          </a:xfrm>
          <a:prstGeom prst="rect">
            <a:avLst/>
          </a:prstGeom>
          <a:noFill/>
        </p:spPr>
        <p:txBody>
          <a:bodyPr wrap="square" lIns="0" rIns="0" tIns="0" bIns="0" anchor="ctr">
            <a:spAutoFit/>
          </a:bodyPr>
          <a:lstStyle/>
          <a:p>
            <a:pPr algn="l"/>
            <a:r>
              <a:rPr sz="1150" b="1" i="0">
                <a:solidFill>
                  <a:srgbClr val="8A1626"/>
                </a:solidFill>
              </a:rPr>
              <a:t>Not checked by the engine today: </a:t>
            </a:r>
            <a:r>
              <a:rPr sz="1150" b="0" i="0">
                <a:solidFill>
                  <a:srgbClr val="4A5058"/>
                </a:solidFill>
              </a:rPr>
              <a:t>the batch's due time and its completeness against the trades booked (planned in the VaR guide); agree them with the pricing-system teams.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MODEL RISK · REPRODUCIBILITY AND BACKTESTING</a:t>
            </a:r>
          </a:p>
        </p:txBody>
      </p:sp>
      <p:sp>
        <p:nvSpPr>
          <p:cNvPr id="3" name="Title 2"/>
          <p:cNvSpPr>
            <a:spLocks noGrp="1"/>
          </p:cNvSpPr>
          <p:nvPr>
            <p:ph type="title" idx="104"/>
          </p:nvPr>
        </p:nvSpPr>
        <p:spPr/>
        <p:txBody>
          <a:bodyPr/>
          <a:lstStyle/>
          <a:p>
            <a:r>
              <a:t>Every number reproducible, every day backtested</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TextBox 25"/>
          <p:cNvSpPr txBox="1"/>
          <p:nvPr/>
        </p:nvSpPr>
        <p:spPr>
          <a:xfrm>
            <a:off x="777240" y="1371600"/>
            <a:ext cx="5120640" cy="274320"/>
          </a:xfrm>
          <a:prstGeom prst="rect">
            <a:avLst/>
          </a:prstGeom>
          <a:noFill/>
        </p:spPr>
        <p:txBody>
          <a:bodyPr wrap="square" lIns="0" rIns="0" tIns="0" bIns="0" anchor="ctr">
            <a:spAutoFit/>
          </a:bodyPr>
          <a:lstStyle/>
          <a:p>
            <a:pPr algn="l"/>
            <a:r>
              <a:rPr sz="1300" b="1" i="0">
                <a:solidFill>
                  <a:srgbClr val="A51C30"/>
                </a:solidFill>
              </a:rPr>
              <a:t>Reproducibility, as built</a:t>
            </a:r>
          </a:p>
        </p:txBody>
      </p:sp>
      <p:sp>
        <p:nvSpPr>
          <p:cNvPr id="27" name="Rectangle 26"/>
          <p:cNvSpPr/>
          <p:nvPr/>
        </p:nvSpPr>
        <p:spPr>
          <a:xfrm>
            <a:off x="777240" y="1719072"/>
            <a:ext cx="5120640" cy="493776"/>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886968" y="1719072"/>
            <a:ext cx="4937759" cy="493776"/>
          </a:xfrm>
          <a:prstGeom prst="rect">
            <a:avLst/>
          </a:prstGeom>
          <a:noFill/>
        </p:spPr>
        <p:txBody>
          <a:bodyPr wrap="square" lIns="0" rIns="0" tIns="0" bIns="0" anchor="ctr">
            <a:spAutoFit/>
          </a:bodyPr>
          <a:lstStyle/>
          <a:p>
            <a:pPr algn="l"/>
            <a:r>
              <a:rPr sz="1150" b="1" i="0">
                <a:solidFill>
                  <a:srgbClr val="8A1626"/>
                </a:solidFill>
              </a:rPr>
              <a:t>Versions on every answer</a:t>
            </a:r>
          </a:p>
          <a:p>
            <a:pPr algn="l"/>
            <a:r>
              <a:rPr sz="1050" b="0" i="0">
                <a:solidFill>
                  <a:srgbClr val="4A5058"/>
                </a:solidFill>
              </a:rPr>
              <a:t>inputs' data versions, batch ids, scenario set, method, engine version</a:t>
            </a:r>
          </a:p>
        </p:txBody>
      </p:sp>
      <p:sp>
        <p:nvSpPr>
          <p:cNvPr id="29" name="Rectangle 28"/>
          <p:cNvSpPr/>
          <p:nvPr/>
        </p:nvSpPr>
        <p:spPr>
          <a:xfrm>
            <a:off x="777240" y="2267712"/>
            <a:ext cx="5120640" cy="493776"/>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xtBox 29"/>
          <p:cNvSpPr txBox="1"/>
          <p:nvPr/>
        </p:nvSpPr>
        <p:spPr>
          <a:xfrm>
            <a:off x="886968" y="2267712"/>
            <a:ext cx="4937759" cy="493776"/>
          </a:xfrm>
          <a:prstGeom prst="rect">
            <a:avLst/>
          </a:prstGeom>
          <a:noFill/>
        </p:spPr>
        <p:txBody>
          <a:bodyPr wrap="square" lIns="0" rIns="0" tIns="0" bIns="0" anchor="ctr">
            <a:spAutoFit/>
          </a:bodyPr>
          <a:lstStyle/>
          <a:p>
            <a:pPr algn="l"/>
            <a:r>
              <a:rPr sz="1150" b="1" i="0">
                <a:solidFill>
                  <a:srgbClr val="8A1626"/>
                </a:solidFill>
              </a:rPr>
              <a:t>Digests</a:t>
            </a:r>
          </a:p>
          <a:p>
            <a:pPr algn="l"/>
            <a:r>
              <a:rPr sz="1050" b="0" i="0">
                <a:solidFill>
                  <a:srgbClr val="4A5058"/>
                </a:solidFill>
              </a:rPr>
              <a:t>the position rules' text and digest, the membership hash</a:t>
            </a:r>
          </a:p>
        </p:txBody>
      </p:sp>
      <p:sp>
        <p:nvSpPr>
          <p:cNvPr id="31" name="Rectangle 30"/>
          <p:cNvSpPr/>
          <p:nvPr/>
        </p:nvSpPr>
        <p:spPr>
          <a:xfrm>
            <a:off x="777240" y="2816352"/>
            <a:ext cx="5120640" cy="493776"/>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TextBox 31"/>
          <p:cNvSpPr txBox="1"/>
          <p:nvPr/>
        </p:nvSpPr>
        <p:spPr>
          <a:xfrm>
            <a:off x="886968" y="2816352"/>
            <a:ext cx="4937759" cy="493776"/>
          </a:xfrm>
          <a:prstGeom prst="rect">
            <a:avLst/>
          </a:prstGeom>
          <a:noFill/>
        </p:spPr>
        <p:txBody>
          <a:bodyPr wrap="square" lIns="0" rIns="0" tIns="0" bIns="0" anchor="ctr">
            <a:spAutoFit/>
          </a:bodyPr>
          <a:lstStyle/>
          <a:p>
            <a:pPr algn="l"/>
            <a:r>
              <a:rPr sz="1150" b="1" i="0">
                <a:solidFill>
                  <a:srgbClr val="8A1626"/>
                </a:solidFill>
              </a:rPr>
              <a:t>Append-only official records</a:t>
            </a:r>
          </a:p>
          <a:p>
            <a:pPr algn="l"/>
            <a:r>
              <a:rPr sz="1050" b="0" i="0">
                <a:solidFill>
                  <a:srgbClr val="4A5058"/>
                </a:solidFill>
              </a:rPr>
              <a:t>a restatement adds a result version; the earlier is kept</a:t>
            </a:r>
          </a:p>
        </p:txBody>
      </p:sp>
      <p:sp>
        <p:nvSpPr>
          <p:cNvPr id="33" name="Rectangle 32"/>
          <p:cNvSpPr/>
          <p:nvPr/>
        </p:nvSpPr>
        <p:spPr>
          <a:xfrm>
            <a:off x="777240" y="3364991"/>
            <a:ext cx="5120640" cy="493776"/>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TextBox 33"/>
          <p:cNvSpPr txBox="1"/>
          <p:nvPr/>
        </p:nvSpPr>
        <p:spPr>
          <a:xfrm>
            <a:off x="886968" y="3364991"/>
            <a:ext cx="4937759" cy="493776"/>
          </a:xfrm>
          <a:prstGeom prst="rect">
            <a:avLst/>
          </a:prstGeom>
          <a:noFill/>
        </p:spPr>
        <p:txBody>
          <a:bodyPr wrap="square" lIns="0" rIns="0" tIns="0" bIns="0" anchor="ctr">
            <a:spAutoFit/>
          </a:bodyPr>
          <a:lstStyle/>
          <a:p>
            <a:pPr algn="l"/>
            <a:r>
              <a:rPr sz="1150" b="1" i="0">
                <a:solidFill>
                  <a:srgbClr val="8A1626"/>
                </a:solidFill>
              </a:rPr>
              <a:t>7-year retention</a:t>
            </a:r>
          </a:p>
          <a:p>
            <a:pPr algn="l"/>
            <a:r>
              <a:rPr sz="1050" b="0" i="0">
                <a:solidFill>
                  <a:srgbClr val="4A5058"/>
                </a:solidFill>
              </a:rPr>
              <a:t>vectors with time travel, captures and records; maintenance never goes below</a:t>
            </a:r>
          </a:p>
        </p:txBody>
      </p:sp>
      <p:sp>
        <p:nvSpPr>
          <p:cNvPr id="35" name="Rectangle 34"/>
          <p:cNvSpPr/>
          <p:nvPr/>
        </p:nvSpPr>
        <p:spPr>
          <a:xfrm>
            <a:off x="777240" y="3913631"/>
            <a:ext cx="5120640" cy="493776"/>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xtBox 35"/>
          <p:cNvSpPr txBox="1"/>
          <p:nvPr/>
        </p:nvSpPr>
        <p:spPr>
          <a:xfrm>
            <a:off x="886968" y="3913631"/>
            <a:ext cx="4937759" cy="493776"/>
          </a:xfrm>
          <a:prstGeom prst="rect">
            <a:avLst/>
          </a:prstGeom>
          <a:noFill/>
        </p:spPr>
        <p:txBody>
          <a:bodyPr wrap="square" lIns="0" rIns="0" tIns="0" bIns="0" anchor="ctr">
            <a:spAutoFit/>
          </a:bodyPr>
          <a:lstStyle/>
          <a:p>
            <a:pPr algn="l"/>
            <a:r>
              <a:rPr sz="1150" b="1" i="0">
                <a:solidFill>
                  <a:srgbClr val="8A1626"/>
                </a:solidFill>
              </a:rPr>
              <a:t>Recomputable</a:t>
            </a:r>
          </a:p>
          <a:p>
            <a:pPr algn="l"/>
            <a:r>
              <a:rPr sz="1050" b="0" i="0">
                <a:solidFill>
                  <a:srgbClr val="4A5058"/>
                </a:solidFill>
              </a:rPr>
              <a:t>the same vectors and engine version give the same number years later; a capture keeps the vector</a:t>
            </a:r>
          </a:p>
        </p:txBody>
      </p:sp>
      <p:sp>
        <p:nvSpPr>
          <p:cNvPr id="37" name="Rectangle 36"/>
          <p:cNvSpPr/>
          <p:nvPr/>
        </p:nvSpPr>
        <p:spPr>
          <a:xfrm>
            <a:off x="777240" y="4462272"/>
            <a:ext cx="5120640" cy="493776"/>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TextBox 37"/>
          <p:cNvSpPr txBox="1"/>
          <p:nvPr/>
        </p:nvSpPr>
        <p:spPr>
          <a:xfrm>
            <a:off x="886968" y="4462272"/>
            <a:ext cx="4937759" cy="493776"/>
          </a:xfrm>
          <a:prstGeom prst="rect">
            <a:avLst/>
          </a:prstGeom>
          <a:noFill/>
        </p:spPr>
        <p:txBody>
          <a:bodyPr wrap="square" lIns="0" rIns="0" tIns="0" bIns="0" anchor="ctr">
            <a:spAutoFit/>
          </a:bodyPr>
          <a:lstStyle/>
          <a:p>
            <a:pPr algn="l"/>
            <a:r>
              <a:rPr sz="1150" b="1" i="0">
                <a:solidFill>
                  <a:srgbClr val="8A1626"/>
                </a:solidFill>
              </a:rPr>
              <a:t>Exact arithmetic</a:t>
            </a:r>
          </a:p>
          <a:p>
            <a:pPr algn="l"/>
            <a:r>
              <a:rPr sz="1050" b="0" i="0">
                <a:solidFill>
                  <a:srgbClr val="4A5058"/>
                </a:solidFill>
              </a:rPr>
              <a:t>a node's figures equal the lake's to the bit; components add up to VaR</a:t>
            </a:r>
          </a:p>
        </p:txBody>
      </p:sp>
      <p:sp>
        <p:nvSpPr>
          <p:cNvPr id="39" name="TextBox 38"/>
          <p:cNvSpPr txBox="1"/>
          <p:nvPr/>
        </p:nvSpPr>
        <p:spPr>
          <a:xfrm>
            <a:off x="6172199" y="1371600"/>
            <a:ext cx="5239512" cy="274320"/>
          </a:xfrm>
          <a:prstGeom prst="rect">
            <a:avLst/>
          </a:prstGeom>
          <a:noFill/>
        </p:spPr>
        <p:txBody>
          <a:bodyPr wrap="square" lIns="0" rIns="0" tIns="0" bIns="0" anchor="ctr">
            <a:spAutoFit/>
          </a:bodyPr>
          <a:lstStyle/>
          <a:p>
            <a:pPr algn="l"/>
            <a:r>
              <a:rPr sz="1300" b="1" i="0">
                <a:solidFill>
                  <a:srgbClr val="A51C30"/>
                </a:solidFill>
              </a:rPr>
              <a:t>Backtesting at 99%  </a:t>
            </a:r>
            <a:r>
              <a:rPr sz="1100" b="0" i="0">
                <a:solidFill>
                  <a:srgbClr val="4A5058"/>
                </a:solidFill>
              </a:rPr>
              <a:t>losses bigger than VaR are breaches</a:t>
            </a:r>
          </a:p>
        </p:txBody>
      </p:sp>
      <p:sp>
        <p:nvSpPr>
          <p:cNvPr id="40" name="Rectangle 39"/>
          <p:cNvSpPr/>
          <p:nvPr/>
        </p:nvSpPr>
        <p:spPr>
          <a:xfrm>
            <a:off x="6172199" y="1719072"/>
            <a:ext cx="1685544" cy="566928"/>
          </a:xfrm>
          <a:prstGeom prst="rect">
            <a:avLst/>
          </a:prstGeom>
          <a:solidFill>
            <a:srgbClr val="3E8E5A"/>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wrap="square"/>
          <a:lstStyle/>
          <a:p>
            <a:pPr algn="ctr"/>
            <a:r>
              <a:rPr sz="1300" b="1" i="0">
                <a:solidFill>
                  <a:srgbClr val="FFFFFF"/>
                </a:solidFill>
              </a:rPr>
              <a:t>Green  0–4</a:t>
            </a:r>
          </a:p>
        </p:txBody>
      </p:sp>
      <p:sp>
        <p:nvSpPr>
          <p:cNvPr id="41" name="Rectangle 40"/>
          <p:cNvSpPr/>
          <p:nvPr/>
        </p:nvSpPr>
        <p:spPr>
          <a:xfrm>
            <a:off x="7949184" y="1719072"/>
            <a:ext cx="1685544" cy="566928"/>
          </a:xfrm>
          <a:prstGeom prst="rect">
            <a:avLst/>
          </a:prstGeom>
          <a:solidFill>
            <a:srgbClr val="D49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wrap="square"/>
          <a:lstStyle/>
          <a:p>
            <a:pPr algn="ctr"/>
            <a:r>
              <a:rPr sz="1300" b="1" i="0">
                <a:solidFill>
                  <a:srgbClr val="FFFFFF"/>
                </a:solidFill>
              </a:rPr>
              <a:t>Amber  5–9</a:t>
            </a:r>
          </a:p>
        </p:txBody>
      </p:sp>
      <p:sp>
        <p:nvSpPr>
          <p:cNvPr id="42" name="Rectangle 41"/>
          <p:cNvSpPr/>
          <p:nvPr/>
        </p:nvSpPr>
        <p:spPr>
          <a:xfrm>
            <a:off x="9726168" y="1719072"/>
            <a:ext cx="1685544" cy="566928"/>
          </a:xfrm>
          <a:prstGeom prst="rect">
            <a:avLst/>
          </a:prstGeom>
          <a:solidFill>
            <a:srgbClr val="B0302F"/>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wrap="square"/>
          <a:lstStyle/>
          <a:p>
            <a:pPr algn="ctr"/>
            <a:r>
              <a:rPr sz="1300" b="1" i="0">
                <a:solidFill>
                  <a:srgbClr val="FFFFFF"/>
                </a:solidFill>
              </a:rPr>
              <a:t>Red  10+</a:t>
            </a:r>
          </a:p>
        </p:txBody>
      </p:sp>
      <p:sp>
        <p:nvSpPr>
          <p:cNvPr id="43" name="TextBox 42"/>
          <p:cNvSpPr txBox="1"/>
          <p:nvPr/>
        </p:nvSpPr>
        <p:spPr>
          <a:xfrm>
            <a:off x="6172199" y="2395728"/>
            <a:ext cx="5239512" cy="384048"/>
          </a:xfrm>
          <a:prstGeom prst="rect">
            <a:avLst/>
          </a:prstGeom>
          <a:noFill/>
        </p:spPr>
        <p:txBody>
          <a:bodyPr wrap="square" lIns="0" rIns="0" tIns="0" bIns="0" anchor="ctr">
            <a:spAutoFit/>
          </a:bodyPr>
          <a:lstStyle/>
          <a:p>
            <a:pPr algn="l"/>
            <a:r>
              <a:rPr sz="1150" b="1" i="0">
                <a:solidFill>
                  <a:srgbClr val="8A1626"/>
                </a:solidFill>
              </a:rPr>
              <a:t>Kupiec test  </a:t>
            </a:r>
            <a:r>
              <a:rPr sz="1100" b="0" i="0">
                <a:solidFill>
                  <a:srgbClr val="1A1A1A"/>
                </a:solidFill>
              </a:rPr>
              <a:t>too many or too few breaches?</a:t>
            </a:r>
          </a:p>
        </p:txBody>
      </p:sp>
      <p:sp>
        <p:nvSpPr>
          <p:cNvPr id="44" name="TextBox 43"/>
          <p:cNvSpPr txBox="1"/>
          <p:nvPr/>
        </p:nvSpPr>
        <p:spPr>
          <a:xfrm>
            <a:off x="6172199" y="2798064"/>
            <a:ext cx="5239512" cy="384048"/>
          </a:xfrm>
          <a:prstGeom prst="rect">
            <a:avLst/>
          </a:prstGeom>
          <a:noFill/>
        </p:spPr>
        <p:txBody>
          <a:bodyPr wrap="square" lIns="0" rIns="0" tIns="0" bIns="0" anchor="ctr">
            <a:spAutoFit/>
          </a:bodyPr>
          <a:lstStyle/>
          <a:p>
            <a:pPr algn="l"/>
            <a:r>
              <a:rPr sz="1150" b="1" i="0">
                <a:solidFill>
                  <a:srgbClr val="8A1626"/>
                </a:solidFill>
              </a:rPr>
              <a:t>Christoffersen test  </a:t>
            </a:r>
            <a:r>
              <a:rPr sz="1100" b="0" i="0">
                <a:solidFill>
                  <a:srgbClr val="1A1A1A"/>
                </a:solidFill>
              </a:rPr>
              <a:t>do breaches cluster?</a:t>
            </a:r>
          </a:p>
        </p:txBody>
      </p:sp>
      <p:sp>
        <p:nvSpPr>
          <p:cNvPr id="45" name="TextBox 44"/>
          <p:cNvSpPr txBox="1"/>
          <p:nvPr/>
        </p:nvSpPr>
        <p:spPr>
          <a:xfrm>
            <a:off x="6172199" y="3200400"/>
            <a:ext cx="5239512" cy="384048"/>
          </a:xfrm>
          <a:prstGeom prst="rect">
            <a:avLst/>
          </a:prstGeom>
          <a:noFill/>
        </p:spPr>
        <p:txBody>
          <a:bodyPr wrap="square" lIns="0" rIns="0" tIns="0" bIns="0" anchor="ctr">
            <a:spAutoFit/>
          </a:bodyPr>
          <a:lstStyle/>
          <a:p>
            <a:pPr algn="l"/>
            <a:r>
              <a:rPr sz="1150" b="1" i="0">
                <a:solidFill>
                  <a:srgbClr val="8A1626"/>
                </a:solidFill>
              </a:rPr>
              <a:t>Official mode  </a:t>
            </a:r>
            <a:r>
              <a:rPr sz="1100" b="0" i="0">
                <a:solidFill>
                  <a:srgbClr val="1A1A1A"/>
                </a:solidFill>
              </a:rPr>
              <a:t>a node's official history: each day's hypothetical P&amp;L against the day before's VaR</a:t>
            </a:r>
          </a:p>
        </p:txBody>
      </p:sp>
      <p:sp>
        <p:nvSpPr>
          <p:cNvPr id="46" name="TextBox 45"/>
          <p:cNvSpPr txBox="1"/>
          <p:nvPr/>
        </p:nvSpPr>
        <p:spPr>
          <a:xfrm>
            <a:off x="6172199" y="3602736"/>
            <a:ext cx="5239512" cy="384048"/>
          </a:xfrm>
          <a:prstGeom prst="rect">
            <a:avLst/>
          </a:prstGeom>
          <a:noFill/>
        </p:spPr>
        <p:txBody>
          <a:bodyPr wrap="square" lIns="0" rIns="0" tIns="0" bIns="0" anchor="ctr">
            <a:spAutoFit/>
          </a:bodyPr>
          <a:lstStyle/>
          <a:p>
            <a:pPr algn="l"/>
            <a:r>
              <a:rPr sz="1150" b="1" i="0">
                <a:solidFill>
                  <a:srgbClr val="8A1626"/>
                </a:solidFill>
              </a:rPr>
              <a:t>Replay  </a:t>
            </a:r>
            <a:r>
              <a:rPr sz="1100" b="0" i="0">
                <a:solidFill>
                  <a:srgbClr val="1A1A1A"/>
                </a:solidFill>
              </a:rPr>
              <a:t>today's members over past scenario days: in-sample, labelled not a regulatory backtest</a:t>
            </a:r>
          </a:p>
        </p:txBody>
      </p:sp>
      <p:sp>
        <p:nvSpPr>
          <p:cNvPr id="47" name="TextBox 46"/>
          <p:cNvSpPr txBox="1"/>
          <p:nvPr/>
        </p:nvSpPr>
        <p:spPr>
          <a:xfrm>
            <a:off x="6172199" y="4005072"/>
            <a:ext cx="5239512" cy="384048"/>
          </a:xfrm>
          <a:prstGeom prst="rect">
            <a:avLst/>
          </a:prstGeom>
          <a:noFill/>
        </p:spPr>
        <p:txBody>
          <a:bodyPr wrap="square" lIns="0" rIns="0" tIns="0" bIns="0" anchor="ctr">
            <a:spAutoFit/>
          </a:bodyPr>
          <a:lstStyle/>
          <a:p>
            <a:pPr algn="l"/>
            <a:r>
              <a:rPr sz="1150" b="1" i="0">
                <a:solidFill>
                  <a:srgbClr val="8A1626"/>
                </a:solidFill>
              </a:rPr>
              <a:t>Demo, replayed¹  </a:t>
            </a:r>
            <a:r>
              <a:rPr sz="1100" b="0" i="0">
                <a:solidFill>
                  <a:srgbClr val="1A1A1A"/>
                </a:solidFill>
              </a:rPr>
              <a:t>FX desk: 3 breaches in 249 days, green; the bank: 5, amber</a:t>
            </a:r>
          </a:p>
        </p:txBody>
      </p:sp>
      <p:sp>
        <p:nvSpPr>
          <p:cNvPr id="48" name="TextBox 47"/>
          <p:cNvSpPr txBox="1"/>
          <p:nvPr/>
        </p:nvSpPr>
        <p:spPr>
          <a:xfrm>
            <a:off x="6172199" y="4407408"/>
            <a:ext cx="5239512" cy="384048"/>
          </a:xfrm>
          <a:prstGeom prst="rect">
            <a:avLst/>
          </a:prstGeom>
          <a:noFill/>
        </p:spPr>
        <p:txBody>
          <a:bodyPr wrap="square" lIns="0" rIns="0" tIns="0" bIns="0" anchor="ctr">
            <a:spAutoFit/>
          </a:bodyPr>
          <a:lstStyle/>
          <a:p>
            <a:pPr algn="l"/>
            <a:r>
              <a:rPr sz="1150" b="1" i="0">
                <a:solidFill>
                  <a:srgbClr val="8A1626"/>
                </a:solidFill>
              </a:rPr>
              <a:t>Short histories  </a:t>
            </a:r>
            <a:r>
              <a:rPr sz="1100" b="0" i="0">
                <a:solidFill>
                  <a:srgbClr val="1A1A1A"/>
                </a:solidFill>
              </a:rPr>
              <a:t>limits scale with the days; not a regulatory zone before 250</a:t>
            </a:r>
          </a:p>
        </p:txBody>
      </p:sp>
      <p:sp>
        <p:nvSpPr>
          <p:cNvPr id="49" name="Rectangle 48"/>
          <p:cNvSpPr/>
          <p:nvPr/>
        </p:nvSpPr>
        <p:spPr>
          <a:xfrm>
            <a:off x="777240" y="5074920"/>
            <a:ext cx="10634472" cy="713232"/>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0" name="Rectangle 49"/>
          <p:cNvSpPr/>
          <p:nvPr/>
        </p:nvSpPr>
        <p:spPr>
          <a:xfrm>
            <a:off x="777240" y="5074920"/>
            <a:ext cx="54864" cy="71323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1" name="TextBox 50"/>
          <p:cNvSpPr txBox="1"/>
          <p:nvPr/>
        </p:nvSpPr>
        <p:spPr>
          <a:xfrm>
            <a:off x="1005840" y="5074920"/>
            <a:ext cx="10314432" cy="713232"/>
          </a:xfrm>
          <a:prstGeom prst="rect">
            <a:avLst/>
          </a:prstGeom>
          <a:noFill/>
        </p:spPr>
        <p:txBody>
          <a:bodyPr wrap="square" lIns="0" rIns="0" tIns="0" bIns="0" anchor="ctr">
            <a:spAutoFit/>
          </a:bodyPr>
          <a:lstStyle/>
          <a:p>
            <a:pPr algn="l"/>
            <a:r>
              <a:rPr sz="1150" b="1" i="0">
                <a:solidFill>
                  <a:srgbClr val="A51C30"/>
                </a:solidFill>
              </a:rPr>
              <a:t>Not built, to disclose  </a:t>
            </a:r>
            <a:r>
              <a:rPr sz="1100" b="0" i="0">
                <a:solidFill>
                  <a:srgbClr val="1A1A1A"/>
                </a:solidFill>
              </a:rPr>
              <a:t>age-weighted and filtered methods, ES backtests, 10-day and stressed VaR. The hypothetical P&amp;L is the engine's own; a bank's own hypothetical P&amp;L table replacing it is planned.</a:t>
            </a:r>
          </a:p>
        </p:txBody>
      </p:sp>
      <p:sp>
        <p:nvSpPr>
          <p:cNvPr id="52" name="TextBox 51"/>
          <p:cNvSpPr txBox="1"/>
          <p:nvPr/>
        </p:nvSpPr>
        <p:spPr>
          <a:xfrm>
            <a:off x="777240" y="5815584"/>
            <a:ext cx="10634472" cy="512063"/>
          </a:xfrm>
          <a:prstGeom prst="rect">
            <a:avLst/>
          </a:prstGeom>
          <a:noFill/>
        </p:spPr>
        <p:txBody>
          <a:bodyPr wrap="square" lIns="0" rIns="0" tIns="0" bIns="0" anchor="b">
            <a:spAutoFit/>
          </a:bodyPr>
          <a:lstStyle/>
          <a:p>
            <a:pPr algn="l"/>
            <a:r>
              <a:rPr sz="1000" b="0" i="0">
                <a:solidFill>
                  <a:srgbClr val="4A5058"/>
                </a:solidFill>
              </a:rPr>
              <a:t>Kupiec test (Paul Kupiec, 1995): is the number of VaR breaches (losses bigger than VaR) consistent with 99%, about 2–3 in 250 days?</a:t>
            </a:r>
          </a:p>
          <a:p>
            <a:pPr algn="l"/>
            <a:r>
              <a:rPr sz="1000" b="0" i="0">
                <a:solidFill>
                  <a:srgbClr val="4A5058"/>
                </a:solidFill>
              </a:rPr>
              <a:t>Christoffersen test (Peter Christoffersen, 1998): do breaches cluster together, a sign the model reacts too slowly when markets turn?</a:t>
            </a:r>
          </a:p>
          <a:p>
            <a:pPr algn="l"/>
            <a:r>
              <a:rPr sz="1000" b="0" i="0">
                <a:solidFill>
                  <a:srgbClr val="4A5058"/>
                </a:solidFill>
              </a:rPr>
              <a:t>Basel traffic light: breaches in 250 days at 99%: 0–4 green, 5–9 amber, 10+ red.</a:t>
            </a:r>
          </a:p>
        </p:txBody>
      </p:sp>
      <p:sp>
        <p:nvSpPr>
          <p:cNvPr id="53" name="Footnotes"/>
          <p:cNvSpPr txBox="1"/>
          <p:nvPr/>
        </p:nvSpPr>
        <p:spPr>
          <a:xfrm>
            <a:off x="2468880" y="6419088"/>
            <a:ext cx="8503920" cy="237744"/>
          </a:xfrm>
          <a:prstGeom prst="rect">
            <a:avLst/>
          </a:prstGeom>
          <a:noFill/>
        </p:spPr>
        <p:txBody>
          <a:bodyPr wrap="square" lIns="0" rIns="0" tIns="0" bIns="0" anchor="ctr">
            <a:spAutoFit/>
          </a:bodyPr>
          <a:lstStyle/>
          <a:p>
            <a:pPr algn="l"/>
            <a:r>
              <a:rPr sz="900" b="0" i="0">
                <a:solidFill>
                  <a:srgbClr val="4A5058"/>
                </a:solidFill>
              </a:rPr>
              <a:t>¹ Replayed on the demo's synthetic data, 249 days (VAR_GUIDE §7); zones by the Basel traffic light for 250 days at 99%</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MODEL RISK · CONTROLS</a:t>
            </a:r>
          </a:p>
        </p:txBody>
      </p:sp>
      <p:sp>
        <p:nvSpPr>
          <p:cNvPr id="3" name="Title 2"/>
          <p:cNvSpPr>
            <a:spLocks noGrp="1"/>
          </p:cNvSpPr>
          <p:nvPr>
            <p:ph type="title" idx="104"/>
          </p:nvPr>
        </p:nvSpPr>
        <p:spPr/>
        <p:txBody>
          <a:bodyPr/>
          <a:lstStyle/>
          <a:p>
            <a:r>
              <a:t>Independent checks, entitlements, audit, change control</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17320"/>
            <a:ext cx="5202936" cy="210312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Rectangle 26"/>
          <p:cNvSpPr/>
          <p:nvPr/>
        </p:nvSpPr>
        <p:spPr>
          <a:xfrm>
            <a:off x="777240" y="1417320"/>
            <a:ext cx="45720" cy="21031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941832" y="1490472"/>
            <a:ext cx="4946904" cy="1993391"/>
          </a:xfrm>
          <a:prstGeom prst="rect">
            <a:avLst/>
          </a:prstGeom>
          <a:noFill/>
        </p:spPr>
        <p:txBody>
          <a:bodyPr wrap="square" lIns="0" rIns="0" tIns="0" bIns="0" anchor="t">
            <a:spAutoFit/>
          </a:bodyPr>
          <a:lstStyle/>
          <a:p>
            <a:pPr algn="l">
              <a:spcAft>
                <a:spcPts val="400"/>
              </a:spcAft>
            </a:pPr>
            <a:r>
              <a:rPr sz="1300" b="1" i="0">
                <a:solidFill>
                  <a:srgbClr val="8A1626"/>
                </a:solidFill>
              </a:rPr>
              <a:t>Independent recomputation</a:t>
            </a:r>
          </a:p>
          <a:p>
            <a:pPr algn="l" marL="146304" indent="-146304">
              <a:spcAft>
                <a:spcPts val="200"/>
              </a:spcAft>
              <a:buClr>
                <a:srgbClr val="A51C30"/>
              </a:buClr>
              <a:buSzPct val="100000"/>
              <a:buFont typeface="Arial"/>
              <a:buChar char="▪"/>
            </a:pPr>
            <a:r>
              <a:rPr sz="1150" b="0" i="0">
                <a:solidFill>
                  <a:srgbClr val="1A1A1A"/>
                </a:solidFill>
              </a:rPr>
              <a:t>A checker recomputes the VaR and ES of the bank and every desk from the files sent, and compares with the engine</a:t>
            </a:r>
          </a:p>
          <a:p>
            <a:pPr algn="l" marL="146304" indent="-146304">
              <a:spcAft>
                <a:spcPts val="200"/>
              </a:spcAft>
              <a:buClr>
                <a:srgbClr val="A51C30"/>
              </a:buClr>
              <a:buSzPct val="100000"/>
              <a:buFont typeface="Arial"/>
              <a:buChar char="▪"/>
            </a:pPr>
            <a:r>
              <a:rPr sz="1150" b="0" i="0">
                <a:solidFill>
                  <a:srgbClr val="1A1A1A"/>
                </a:solidFill>
              </a:rPr>
              <a:t>Exits non-zero on any difference: fit for a daily job</a:t>
            </a:r>
          </a:p>
          <a:p>
            <a:pPr algn="l" marL="146304" indent="-146304">
              <a:spcAft>
                <a:spcPts val="200"/>
              </a:spcAft>
              <a:buClr>
                <a:srgbClr val="A51C30"/>
              </a:buClr>
              <a:buSzPct val="100000"/>
              <a:buFont typeface="Arial"/>
              <a:buChar char="▪"/>
            </a:pPr>
            <a:r>
              <a:rPr sz="1150" b="0" i="0">
                <a:solidFill>
                  <a:srgbClr val="1A1A1A"/>
                </a:solidFill>
              </a:rPr>
              <a:t>The official record names its inputs' versions and batch ids: a recomputation reads exactly that data</a:t>
            </a:r>
          </a:p>
        </p:txBody>
      </p:sp>
      <p:sp>
        <p:nvSpPr>
          <p:cNvPr id="29" name="Rectangle 28"/>
          <p:cNvSpPr/>
          <p:nvPr/>
        </p:nvSpPr>
        <p:spPr>
          <a:xfrm>
            <a:off x="6208776" y="1417320"/>
            <a:ext cx="5202936" cy="210312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Rectangle 29"/>
          <p:cNvSpPr/>
          <p:nvPr/>
        </p:nvSpPr>
        <p:spPr>
          <a:xfrm>
            <a:off x="6208776" y="1417320"/>
            <a:ext cx="45720" cy="21031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TextBox 30"/>
          <p:cNvSpPr txBox="1"/>
          <p:nvPr/>
        </p:nvSpPr>
        <p:spPr>
          <a:xfrm>
            <a:off x="6373368" y="1490472"/>
            <a:ext cx="4946904" cy="1993391"/>
          </a:xfrm>
          <a:prstGeom prst="rect">
            <a:avLst/>
          </a:prstGeom>
          <a:noFill/>
        </p:spPr>
        <p:txBody>
          <a:bodyPr wrap="square" lIns="0" rIns="0" tIns="0" bIns="0" anchor="t">
            <a:spAutoFit/>
          </a:bodyPr>
          <a:lstStyle/>
          <a:p>
            <a:pPr algn="l">
              <a:spcAft>
                <a:spcPts val="400"/>
              </a:spcAft>
            </a:pPr>
            <a:r>
              <a:rPr sz="1300" b="1" i="0">
                <a:solidFill>
                  <a:srgbClr val="8A1626"/>
                </a:solidFill>
              </a:rPr>
              <a:t>Entitlements</a:t>
            </a:r>
          </a:p>
          <a:p>
            <a:pPr algn="l" marL="146304" indent="-146304">
              <a:spcAft>
                <a:spcPts val="200"/>
              </a:spcAft>
              <a:buClr>
                <a:srgbClr val="A51C30"/>
              </a:buClr>
              <a:buSzPct val="100000"/>
              <a:buFont typeface="Arial"/>
              <a:buChar char="▪"/>
            </a:pPr>
            <a:r>
              <a:rPr sz="1150" b="0" i="0">
                <a:solidFill>
                  <a:srgbClr val="1A1A1A"/>
                </a:solidFill>
              </a:rPr>
              <a:t>Per role and node: positions, or aggregate only (drishti.var.access)</a:t>
            </a:r>
          </a:p>
          <a:p>
            <a:pPr algn="l" marL="146304" indent="-146304">
              <a:spcAft>
                <a:spcPts val="200"/>
              </a:spcAft>
              <a:buClr>
                <a:srgbClr val="A51C30"/>
              </a:buClr>
              <a:buSzPct val="100000"/>
              <a:buFont typeface="Arial"/>
              <a:buChar char="▪"/>
            </a:pPr>
            <a:r>
              <a:rPr sz="1150" b="0" i="0">
                <a:solidFill>
                  <a:srgbClr val="1A1A1A"/>
                </a:solidFill>
              </a:rPr>
              <a:t>A scope is computed over the trades you may see; the rest counted</a:t>
            </a:r>
          </a:p>
          <a:p>
            <a:pPr algn="l" marL="146304" indent="-146304">
              <a:spcAft>
                <a:spcPts val="200"/>
              </a:spcAft>
              <a:buClr>
                <a:srgbClr val="A51C30"/>
              </a:buClr>
              <a:buSzPct val="100000"/>
              <a:buFont typeface="Arial"/>
              <a:buChar char="▪"/>
            </a:pPr>
            <a:r>
              <a:rPr sz="1150" b="0" i="0">
                <a:solidFill>
                  <a:srgbClr val="1A1A1A"/>
                </a:solidFill>
              </a:rPr>
              <a:t>Masks apply; answers cached per view, never shared across rights</a:t>
            </a:r>
          </a:p>
          <a:p>
            <a:pPr algn="l" marL="146304" indent="-146304">
              <a:spcAft>
                <a:spcPts val="200"/>
              </a:spcAft>
              <a:buClr>
                <a:srgbClr val="A51C30"/>
              </a:buClr>
              <a:buSzPct val="100000"/>
              <a:buFont typeface="Arial"/>
              <a:buChar char="▪"/>
            </a:pPr>
            <a:r>
              <a:rPr sz="1150" b="0" i="0">
                <a:solidFill>
                  <a:srgbClr val="1A1A1A"/>
                </a:solidFill>
              </a:rPr>
              <a:t>Saving baskets and captures needs the token scope risk:write</a:t>
            </a:r>
          </a:p>
        </p:txBody>
      </p:sp>
      <p:sp>
        <p:nvSpPr>
          <p:cNvPr id="32" name="Rectangle 31"/>
          <p:cNvSpPr/>
          <p:nvPr/>
        </p:nvSpPr>
        <p:spPr>
          <a:xfrm>
            <a:off x="777240" y="3630168"/>
            <a:ext cx="5202936" cy="210312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Rectangle 32"/>
          <p:cNvSpPr/>
          <p:nvPr/>
        </p:nvSpPr>
        <p:spPr>
          <a:xfrm>
            <a:off x="777240" y="3630168"/>
            <a:ext cx="45720" cy="21031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TextBox 33"/>
          <p:cNvSpPr txBox="1"/>
          <p:nvPr/>
        </p:nvSpPr>
        <p:spPr>
          <a:xfrm>
            <a:off x="941832" y="3703320"/>
            <a:ext cx="4946904" cy="1993391"/>
          </a:xfrm>
          <a:prstGeom prst="rect">
            <a:avLst/>
          </a:prstGeom>
          <a:noFill/>
        </p:spPr>
        <p:txBody>
          <a:bodyPr wrap="square" lIns="0" rIns="0" tIns="0" bIns="0" anchor="t">
            <a:spAutoFit/>
          </a:bodyPr>
          <a:lstStyle/>
          <a:p>
            <a:pPr algn="l">
              <a:spcAft>
                <a:spcPts val="400"/>
              </a:spcAft>
            </a:pPr>
            <a:r>
              <a:rPr sz="1300" b="1" i="0">
                <a:solidFill>
                  <a:srgbClr val="8A1626"/>
                </a:solidFill>
              </a:rPr>
              <a:t>Audit</a:t>
            </a:r>
          </a:p>
          <a:p>
            <a:pPr algn="l" marL="146304" indent="-146304">
              <a:spcAft>
                <a:spcPts val="200"/>
              </a:spcAft>
              <a:buClr>
                <a:srgbClr val="A51C30"/>
              </a:buClr>
              <a:buSzPct val="100000"/>
              <a:buFont typeface="Arial"/>
              <a:buChar char="▪"/>
            </a:pPr>
            <a:r>
              <a:rPr sz="1150" b="0" i="0">
                <a:solidFill>
                  <a:srgbClr val="1A1A1A"/>
                </a:solidFill>
              </a:rPr>
              <a:t>Every headline, capture, basket change, reload and official run (Admin → Audit)</a:t>
            </a:r>
          </a:p>
          <a:p>
            <a:pPr algn="l" marL="146304" indent="-146304">
              <a:spcAft>
                <a:spcPts val="200"/>
              </a:spcAft>
              <a:buClr>
                <a:srgbClr val="A51C30"/>
              </a:buClr>
              <a:buSzPct val="100000"/>
              <a:buFont typeface="Arial"/>
              <a:buChar char="▪"/>
            </a:pPr>
            <a:r>
              <a:rPr sz="1150" b="0" i="0">
                <a:solidFill>
                  <a:srgbClr val="1A1A1A"/>
                </a:solidFill>
              </a:rPr>
              <a:t>A headline's entry: date, data version, view, VaR, ES, trades, hidden, members' digest, time</a:t>
            </a:r>
          </a:p>
          <a:p>
            <a:pPr algn="l" marL="146304" indent="-146304">
              <a:spcAft>
                <a:spcPts val="200"/>
              </a:spcAft>
              <a:buClr>
                <a:srgbClr val="A51C30"/>
              </a:buClr>
              <a:buSzPct val="100000"/>
              <a:buFont typeface="Arial"/>
              <a:buChar char="▪"/>
            </a:pPr>
            <a:r>
              <a:rPr sz="1150" b="0" i="0">
                <a:solidFill>
                  <a:srgbClr val="1A1A1A"/>
                </a:solidFill>
              </a:rPr>
              <a:t>Reloads and official captures: administrators only; official numbers kept 7 years</a:t>
            </a:r>
          </a:p>
        </p:txBody>
      </p:sp>
      <p:sp>
        <p:nvSpPr>
          <p:cNvPr id="35" name="Rectangle 34"/>
          <p:cNvSpPr/>
          <p:nvPr/>
        </p:nvSpPr>
        <p:spPr>
          <a:xfrm>
            <a:off x="6208776" y="3630168"/>
            <a:ext cx="5202936" cy="210312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Rectangle 35"/>
          <p:cNvSpPr/>
          <p:nvPr/>
        </p:nvSpPr>
        <p:spPr>
          <a:xfrm>
            <a:off x="6208776" y="3630168"/>
            <a:ext cx="45720" cy="21031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7" name="TextBox 36"/>
          <p:cNvSpPr txBox="1"/>
          <p:nvPr/>
        </p:nvSpPr>
        <p:spPr>
          <a:xfrm>
            <a:off x="6373368" y="3703320"/>
            <a:ext cx="4946904" cy="1993391"/>
          </a:xfrm>
          <a:prstGeom prst="rect">
            <a:avLst/>
          </a:prstGeom>
          <a:noFill/>
        </p:spPr>
        <p:txBody>
          <a:bodyPr wrap="square" lIns="0" rIns="0" tIns="0" bIns="0" anchor="t">
            <a:spAutoFit/>
          </a:bodyPr>
          <a:lstStyle/>
          <a:p>
            <a:pPr algn="l">
              <a:spcAft>
                <a:spcPts val="400"/>
              </a:spcAft>
            </a:pPr>
            <a:r>
              <a:rPr sz="1300" b="1" i="0">
                <a:solidFill>
                  <a:srgbClr val="8A1626"/>
                </a:solidFill>
              </a:rPr>
              <a:t>Change control of settings</a:t>
            </a:r>
          </a:p>
          <a:p>
            <a:pPr algn="l" marL="146304" indent="-146304">
              <a:spcAft>
                <a:spcPts val="200"/>
              </a:spcAft>
              <a:buClr>
                <a:srgbClr val="A51C30"/>
              </a:buClr>
              <a:buSzPct val="100000"/>
              <a:buFont typeface="Arial"/>
              <a:buChar char="▪"/>
            </a:pPr>
            <a:r>
              <a:rPr sz="1150" b="0" i="0">
                <a:solidFill>
                  <a:srgbClr val="1A1A1A"/>
                </a:solidFill>
              </a:rPr>
              <a:t>Window, confidence, rank rule, currencies, pins: in application.yaml, shown by GET /status</a:t>
            </a:r>
          </a:p>
          <a:p>
            <a:pPr algn="l" marL="146304" indent="-146304">
              <a:spcAft>
                <a:spcPts val="200"/>
              </a:spcAft>
              <a:buClr>
                <a:srgbClr val="A51C30"/>
              </a:buClr>
              <a:buSzPct val="100000"/>
              <a:buFont typeface="Arial"/>
              <a:buChar char="▪"/>
            </a:pPr>
            <a:r>
              <a:rPr sz="1150" b="0" i="0">
                <a:solidFill>
                  <a:srgbClr val="1A1A1A"/>
                </a:solidFill>
              </a:rPr>
              <a:t>Every answer is labelled with its confidence and window; per-request windows are never official</a:t>
            </a:r>
          </a:p>
          <a:p>
            <a:pPr algn="l" marL="146304" indent="-146304">
              <a:spcAft>
                <a:spcPts val="200"/>
              </a:spcAft>
              <a:buClr>
                <a:srgbClr val="A51C30"/>
              </a:buClr>
              <a:buSzPct val="100000"/>
              <a:buFont typeface="Arial"/>
              <a:buChar char="▪"/>
            </a:pPr>
            <a:r>
              <a:rPr sz="1150" b="0" i="0">
                <a:solidFill>
                  <a:srgbClr val="1A1A1A"/>
                </a:solidFill>
              </a:rPr>
              <a:t>Pins read at start: apply from the next date loaded; provenance records them</a:t>
            </a:r>
          </a:p>
        </p:txBody>
      </p:sp>
      <p:sp>
        <p:nvSpPr>
          <p:cNvPr id="38" name="Rounded Rectangle 37"/>
          <p:cNvSpPr/>
          <p:nvPr/>
        </p:nvSpPr>
        <p:spPr>
          <a:xfrm>
            <a:off x="5111496" y="1481328"/>
            <a:ext cx="667512" cy="201168"/>
          </a:xfrm>
          <a:prstGeom prst="roundRect">
            <a:avLst>
              <a:gd name="adj" fmla="val 50000"/>
            </a:avLst>
          </a:prstGeom>
          <a:solidFill>
            <a:srgbClr val="FFFFFF"/>
          </a:solidFill>
          <a:ln w="12700">
            <a:solidFill>
              <a:srgbClr val="4A505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4A5058"/>
                </a:solidFill>
              </a:rPr>
              <a:t>PROPOSED</a:t>
            </a:r>
          </a:p>
        </p:txBody>
      </p:sp>
      <p:sp>
        <p:nvSpPr>
          <p:cNvPr id="39" name="Rounded Rectangle 38"/>
          <p:cNvSpPr/>
          <p:nvPr/>
        </p:nvSpPr>
        <p:spPr>
          <a:xfrm>
            <a:off x="10543032" y="3694176"/>
            <a:ext cx="667512" cy="201168"/>
          </a:xfrm>
          <a:prstGeom prst="roundRect">
            <a:avLst>
              <a:gd name="adj" fmla="val 50000"/>
            </a:avLst>
          </a:prstGeom>
          <a:solidFill>
            <a:srgbClr val="FFFFFF"/>
          </a:solidFill>
          <a:ln w="12700">
            <a:solidFill>
              <a:srgbClr val="4A505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4A5058"/>
                </a:solidFill>
              </a:rPr>
              <a:t>PROPOSED</a:t>
            </a:r>
          </a:p>
        </p:txBody>
      </p:sp>
      <p:sp>
        <p:nvSpPr>
          <p:cNvPr id="40" name="TextBox 39"/>
          <p:cNvSpPr txBox="1"/>
          <p:nvPr/>
        </p:nvSpPr>
        <p:spPr>
          <a:xfrm>
            <a:off x="777240" y="5897880"/>
            <a:ext cx="10634472" cy="347472"/>
          </a:xfrm>
          <a:prstGeom prst="rect">
            <a:avLst/>
          </a:prstGeom>
          <a:noFill/>
        </p:spPr>
        <p:txBody>
          <a:bodyPr wrap="square" lIns="0" rIns="0" tIns="0" bIns="0" anchor="ctr">
            <a:spAutoFit/>
          </a:bodyPr>
          <a:lstStyle/>
          <a:p>
            <a:pPr algn="l"/>
            <a:r>
              <a:rPr sz="1050" b="0" i="1">
                <a:solidFill>
                  <a:srgbClr val="4A5058"/>
                </a:solidFill>
              </a:rPr>
              <a:t>PROPOSED marks the practice: a daily independent job, and comparing a setting change per request before making it; the mechanisms are built.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hapter background"/>
          <p:cNvSpPr/>
          <p:nvPr/>
        </p:nvSpPr>
        <p:spPr>
          <a:xfrm>
            <a:off x="0" y="0"/>
            <a:ext cx="12191969"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chapter number"/>
          <p:cNvSpPr txBox="1"/>
          <p:nvPr/>
        </p:nvSpPr>
        <p:spPr>
          <a:xfrm>
            <a:off x="4754880" y="-822960"/>
            <a:ext cx="7223760" cy="7863840"/>
          </a:xfrm>
          <a:prstGeom prst="rect">
            <a:avLst/>
          </a:prstGeom>
          <a:noFill/>
        </p:spPr>
        <p:txBody>
          <a:bodyPr wrap="none" lIns="0" rIns="0" tIns="0" bIns="0" anchor="ctr">
            <a:spAutoFit/>
          </a:bodyPr>
          <a:lstStyle/>
          <a:p>
            <a:pPr algn="r"/>
            <a:r>
              <a:rPr sz="42000" b="1" i="0">
                <a:solidFill>
                  <a:srgbClr val="B8394C"/>
                </a:solidFill>
              </a:rPr>
              <a:t>08</a:t>
            </a:r>
          </a:p>
        </p:txBody>
      </p:sp>
      <p:sp>
        <p:nvSpPr>
          <p:cNvPr id="4" name="chapter name"/>
          <p:cNvSpPr txBox="1"/>
          <p:nvPr/>
        </p:nvSpPr>
        <p:spPr>
          <a:xfrm>
            <a:off x="822960" y="2514600"/>
            <a:ext cx="6949440" cy="1828800"/>
          </a:xfrm>
          <a:prstGeom prst="rect">
            <a:avLst/>
          </a:prstGeom>
          <a:noFill/>
        </p:spPr>
        <p:txBody>
          <a:bodyPr wrap="square" lIns="0" rIns="0" tIns="0" bIns="0" anchor="ctr">
            <a:spAutoFit/>
          </a:bodyPr>
          <a:lstStyle/>
          <a:p>
            <a:pPr algn="l"/>
            <a:r>
              <a:rPr sz="4400" b="1" i="0">
                <a:solidFill>
                  <a:srgbClr val="FFFFFF"/>
                </a:solidFill>
              </a:rPr>
              <a:t>Editions</a:t>
            </a:r>
          </a:p>
        </p:txBody>
      </p:sp>
      <p:pic>
        <p:nvPicPr>
          <p:cNvPr id="5" name="Drishti mark" descr="Drishti logo: an eye between curly brackets"/>
          <p:cNvPicPr>
            <a:picLocks noChangeAspect="1"/>
          </p:cNvPicPr>
          <p:nvPr/>
        </p:nvPicPr>
        <p:blipFill>
          <a:blip r:embed="rId2"/>
          <a:stretch>
            <a:fillRect/>
          </a:stretch>
        </p:blipFill>
        <p:spPr>
          <a:xfrm>
            <a:off x="822960" y="6236208"/>
            <a:ext cx="430911" cy="237744"/>
          </a:xfrm>
          <a:prstGeom prst="rect">
            <a:avLst/>
          </a:prstGeom>
        </p:spPr>
      </p:pic>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EDITIONS</a:t>
            </a:r>
          </a:p>
        </p:txBody>
      </p:sp>
      <p:sp>
        <p:nvSpPr>
          <p:cNvPr id="3" name="Title 2"/>
          <p:cNvSpPr>
            <a:spLocks noGrp="1"/>
          </p:cNvSpPr>
          <p:nvPr>
            <p:ph type="title" idx="104"/>
          </p:nvPr>
        </p:nvSpPr>
        <p:spPr/>
        <p:txBody>
          <a:bodyPr/>
          <a:lstStyle/>
          <a:p>
            <a:r>
              <a:t>One file makes a focused product: Drishti Risk, Market or World</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371600"/>
            <a:ext cx="5212080" cy="148132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Rectangle 26"/>
          <p:cNvSpPr/>
          <p:nvPr/>
        </p:nvSpPr>
        <p:spPr>
          <a:xfrm>
            <a:off x="777240" y="1371600"/>
            <a:ext cx="45720" cy="148132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932688" y="1435608"/>
            <a:ext cx="4974336" cy="1389888"/>
          </a:xfrm>
          <a:prstGeom prst="rect">
            <a:avLst/>
          </a:prstGeom>
          <a:noFill/>
        </p:spPr>
        <p:txBody>
          <a:bodyPr wrap="square" lIns="0" rIns="0" tIns="0" bIns="0" anchor="t">
            <a:spAutoFit/>
          </a:bodyPr>
          <a:lstStyle/>
          <a:p>
            <a:pPr algn="l">
              <a:spcAft>
                <a:spcPts val="300"/>
              </a:spcAft>
            </a:pPr>
            <a:r>
              <a:rPr sz="1300" b="1" i="0">
                <a:solidFill>
                  <a:srgbClr val="8A1626"/>
                </a:solidFill>
              </a:rPr>
              <a:t>An edition is one configuration file</a:t>
            </a:r>
          </a:p>
          <a:p>
            <a:pPr algn="l">
              <a:spcAft>
                <a:spcPts val="300"/>
              </a:spcAft>
            </a:pPr>
            <a:r>
              <a:rPr sz="1100" b="1" i="0">
                <a:solidFill>
                  <a:srgbClr val="A51C30"/>
                </a:solidFill>
                <a:latin typeface="Courier New"/>
              </a:rPr>
              <a:t>config/editions/&lt;name&gt;.yaml</a:t>
            </a:r>
          </a:p>
          <a:p>
            <a:pPr algn="l"/>
            <a:r>
              <a:rPr sz="1100" b="0" i="0">
                <a:solidFill>
                  <a:srgbClr val="1A1A1A"/>
                </a:solidFill>
              </a:rPr>
              <a:t>It sets the packs, the commands and words people may use, the menus and features, BI's datasets, Home and its landings, help, the Admin pages and the branding. The site's own settings still win, key by key.</a:t>
            </a:r>
          </a:p>
        </p:txBody>
      </p:sp>
      <p:sp>
        <p:nvSpPr>
          <p:cNvPr id="29" name="Rectangle 28"/>
          <p:cNvSpPr/>
          <p:nvPr/>
        </p:nvSpPr>
        <p:spPr>
          <a:xfrm>
            <a:off x="777240" y="2944368"/>
            <a:ext cx="5212080" cy="1755648"/>
          </a:xfrm>
          <a:prstGeom prst="rect">
            <a:avLst/>
          </a:prstGeom>
          <a:solidFill>
            <a:srgbClr val="1E1E2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xtBox 29"/>
          <p:cNvSpPr txBox="1"/>
          <p:nvPr/>
        </p:nvSpPr>
        <p:spPr>
          <a:xfrm>
            <a:off x="914400" y="2999232"/>
            <a:ext cx="4983480" cy="1664208"/>
          </a:xfrm>
          <a:prstGeom prst="rect">
            <a:avLst/>
          </a:prstGeom>
          <a:noFill/>
        </p:spPr>
        <p:txBody>
          <a:bodyPr wrap="square" lIns="0" rIns="0" tIns="0" bIns="0" anchor="t">
            <a:spAutoFit/>
          </a:bodyPr>
          <a:lstStyle/>
          <a:p>
            <a:pPr algn="l">
              <a:spcAft>
                <a:spcPts val="50"/>
              </a:spcAft>
            </a:pPr>
            <a:r>
              <a:rPr sz="1000" b="0" i="0">
                <a:solidFill>
                  <a:srgbClr val="9AA0A8"/>
                </a:solidFill>
                <a:latin typeface="Courier New"/>
              </a:rPr>
              <a:t># config/editions/risk.yaml, abridged</a:t>
            </a:r>
          </a:p>
          <a:p>
            <a:pPr algn="l">
              <a:spcAft>
                <a:spcPts val="50"/>
              </a:spcAft>
            </a:pPr>
            <a:r>
              <a:rPr sz="1000" b="0" i="0">
                <a:solidFill>
                  <a:srgbClr val="F1EEE9"/>
                </a:solidFill>
                <a:latin typeface="Courier New"/>
              </a:rPr>
              <a:t>edition: risk</a:t>
            </a:r>
          </a:p>
          <a:p>
            <a:pPr algn="l">
              <a:spcAft>
                <a:spcPts val="50"/>
              </a:spcAft>
            </a:pPr>
            <a:r>
              <a:rPr sz="1000" b="0" i="0">
                <a:solidFill>
                  <a:srgbClr val="F1EEE9"/>
                </a:solidFill>
                <a:latin typeface="Courier New"/>
              </a:rPr>
              <a:t>title: Drishti Risk</a:t>
            </a:r>
          </a:p>
          <a:p>
            <a:pPr algn="l">
              <a:spcAft>
                <a:spcPts val="50"/>
              </a:spcAft>
            </a:pPr>
            <a:r>
              <a:rPr sz="1000" b="0" i="0">
                <a:solidFill>
                  <a:srgbClr val="E8A0AC"/>
                </a:solidFill>
                <a:latin typeface="Courier New"/>
              </a:rPr>
              <a:t>packs: { enabled: [core, market-data, trading,</a:t>
            </a:r>
          </a:p>
          <a:p>
            <a:pPr algn="l">
              <a:spcAft>
                <a:spcPts val="50"/>
              </a:spcAft>
            </a:pPr>
            <a:r>
              <a:rPr sz="1000" b="0" i="0">
                <a:solidFill>
                  <a:srgbClr val="E8A0AC"/>
                </a:solidFill>
                <a:latin typeface="Courier New"/>
              </a:rPr>
              <a:t>        counterparty-risk, market-risk], allow-only: true }</a:t>
            </a:r>
          </a:p>
          <a:p>
            <a:pPr algn="l">
              <a:spcAft>
                <a:spcPts val="50"/>
              </a:spcAft>
            </a:pPr>
            <a:r>
              <a:rPr sz="1000" b="0" i="0">
                <a:solidFill>
                  <a:srgbClr val="E8A0AC"/>
                </a:solidFill>
                <a:latin typeface="Courier New"/>
              </a:rPr>
              <a:t>commands: { allow: [VAR, VRES, EXP, NSET, NSMTM, …] }</a:t>
            </a:r>
          </a:p>
          <a:p>
            <a:pPr algn="l">
              <a:spcAft>
                <a:spcPts val="50"/>
              </a:spcAft>
            </a:pPr>
            <a:r>
              <a:rPr sz="1000" b="0" i="0">
                <a:solidFill>
                  <a:srgbClr val="E8A0AC"/>
                </a:solidFill>
                <a:latin typeface="Courier New"/>
              </a:rPr>
              <a:t>home: { landing: desk, landings: [desk, command, map],</a:t>
            </a:r>
          </a:p>
          <a:p>
            <a:pPr algn="l">
              <a:spcAft>
                <a:spcPts val="50"/>
              </a:spcAft>
            </a:pPr>
            <a:r>
              <a:rPr sz="1000" b="0" i="0">
                <a:solidFill>
                  <a:srgbClr val="E8A0AC"/>
                </a:solidFill>
                <a:latin typeface="Courier New"/>
              </a:rPr>
              <a:t>        landing-by-role: {} }</a:t>
            </a:r>
          </a:p>
          <a:p>
            <a:pPr algn="l">
              <a:spcAft>
                <a:spcPts val="50"/>
              </a:spcAft>
            </a:pPr>
            <a:r>
              <a:rPr sz="1000" b="0" i="0">
                <a:solidFill>
                  <a:srgbClr val="E8A0AC"/>
                </a:solidFill>
                <a:latin typeface="Courier New"/>
              </a:rPr>
              <a:t>branding: { product: Drishti Risk }</a:t>
            </a:r>
          </a:p>
        </p:txBody>
      </p:sp>
      <p:graphicFrame>
        <p:nvGraphicFramePr>
          <p:cNvPr id="31" name="Table 30"/>
          <p:cNvGraphicFramePr>
            <a:graphicFrameLocks noGrp="1"/>
          </p:cNvGraphicFramePr>
          <p:nvPr/>
        </p:nvGraphicFramePr>
        <p:xfrm>
          <a:off x="6217920" y="1371600"/>
          <a:ext cx="5193792" cy="1975104"/>
        </p:xfrm>
        <a:graphic>
          <a:graphicData uri="http://schemas.openxmlformats.org/drawingml/2006/table">
            <a:tbl>
              <a:tblPr firstRow="0" bandRow="0">
                <a:tableStyleId>{5940675A-B579-460E-94D1-54222C63F5DA}</a:tableStyleId>
              </a:tblPr>
              <a:tblGrid>
                <a:gridCol w="1143000"/>
                <a:gridCol w="2025396"/>
                <a:gridCol w="2025396"/>
              </a:tblGrid>
              <a:tr h="329184">
                <a:tc>
                  <a:txBody>
                    <a:bodyPr wrap="square"/>
                    <a:lstStyle/>
                    <a:p>
                      <a:r>
                        <a:rPr sz="1050" b="1" i="0">
                          <a:solidFill>
                            <a:srgbClr val="FFFFFF"/>
                          </a:solidFill>
                        </a:rPr>
                        <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Edition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Lens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329184">
                <a:tc>
                  <a:txBody>
                    <a:bodyPr wrap="square"/>
                    <a:lstStyle/>
                    <a:p>
                      <a:r>
                        <a:rPr sz="1050" b="1" i="0">
                          <a:solidFill>
                            <a:srgbClr val="8A1626"/>
                          </a:solidFill>
                        </a:rPr>
                        <a:t>Set by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DRISHTI_EDITION, then a restart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a person's link: Open Drishti Risk</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29184">
                <a:tc>
                  <a:txBody>
                    <a:bodyPr wrap="square"/>
                    <a:lstStyle/>
                    <a:p>
                      <a:r>
                        <a:rPr sz="1050" b="1" i="0">
                          <a:solidFill>
                            <a:srgbClr val="8A1626"/>
                          </a:solidFill>
                        </a:rPr>
                        <a:t>Offered by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the administrator, every server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DRISHTI_LENSES on a full instance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29184">
                <a:tc>
                  <a:txBody>
                    <a:bodyPr wrap="square"/>
                    <a:lstStyle/>
                    <a:p>
                      <a:r>
                        <a:rPr sz="1050" b="1" i="0">
                          <a:solidFill>
                            <a:srgbClr val="8A1626"/>
                          </a:solidFill>
                        </a:rPr>
                        <a:t>Scope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the whole instance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one person's session, no restart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29184">
                <a:tc>
                  <a:txBody>
                    <a:bodyPr wrap="square"/>
                    <a:lstStyle/>
                    <a:p>
                      <a:r>
                        <a:rPr sz="1050" b="1" i="0">
                          <a:solidFill>
                            <a:srgbClr val="8A1626"/>
                          </a:solidFill>
                        </a:rPr>
                        <a:t>Packs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only the edition's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all stay loaded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29184">
                <a:tc>
                  <a:txBody>
                    <a:bodyPr wrap="square"/>
                    <a:lstStyle/>
                    <a:p>
                      <a:r>
                        <a:rPr sz="1050" b="1" i="0">
                          <a:solidFill>
                            <a:srgbClr val="8A1626"/>
                          </a:solidFill>
                        </a:rPr>
                        <a:t>Secures?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refuses packs, hides commands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hides; it does not secure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bl>
          </a:graphicData>
        </a:graphic>
      </p:graphicFrame>
      <p:sp>
        <p:nvSpPr>
          <p:cNvPr id="32" name="TextBox 31"/>
          <p:cNvSpPr txBox="1"/>
          <p:nvPr/>
        </p:nvSpPr>
        <p:spPr>
          <a:xfrm>
            <a:off x="6217920" y="3401568"/>
            <a:ext cx="5193792" cy="502920"/>
          </a:xfrm>
          <a:prstGeom prst="rect">
            <a:avLst/>
          </a:prstGeom>
          <a:noFill/>
        </p:spPr>
        <p:txBody>
          <a:bodyPr wrap="square" lIns="0" rIns="0" tIns="0" bIns="0" anchor="ctr">
            <a:spAutoFit/>
          </a:bodyPr>
          <a:lstStyle/>
          <a:p>
            <a:pPr algn="l"/>
            <a:r>
              <a:rPr sz="1100" b="1" i="0">
                <a:solidFill>
                  <a:srgbClr val="8A1626"/>
                </a:solidFill>
              </a:rPr>
              <a:t>In Views and on Home: </a:t>
            </a:r>
            <a:r>
              <a:rPr sz="1100" b="0" i="0">
                <a:solidFill>
                  <a:srgbClr val="1A1A1A"/>
                </a:solidFill>
              </a:rPr>
              <a:t>Open Drishti Risk; inside one, Leave … first, then Switch to … the others.</a:t>
            </a:r>
          </a:p>
        </p:txBody>
      </p:sp>
      <p:sp>
        <p:nvSpPr>
          <p:cNvPr id="33" name="Rectangle 32"/>
          <p:cNvSpPr/>
          <p:nvPr/>
        </p:nvSpPr>
        <p:spPr>
          <a:xfrm>
            <a:off x="6217920" y="3931920"/>
            <a:ext cx="5193792" cy="768096"/>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Rounded Rectangle 33"/>
          <p:cNvSpPr/>
          <p:nvPr/>
        </p:nvSpPr>
        <p:spPr>
          <a:xfrm>
            <a:off x="6327648" y="4005072"/>
            <a:ext cx="598932" cy="201168"/>
          </a:xfrm>
          <a:prstGeom prst="roundRect">
            <a:avLst>
              <a:gd name="adj" fmla="val 50000"/>
            </a:avLst>
          </a:prstGeom>
          <a:solidFill>
            <a:srgbClr val="FFFFFF"/>
          </a:solidFill>
          <a:ln w="12700">
            <a:solidFill>
              <a:srgbClr val="293352"/>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293352"/>
                </a:solidFill>
              </a:rPr>
              <a:t>PLANNED</a:t>
            </a:r>
          </a:p>
        </p:txBody>
      </p:sp>
      <p:sp>
        <p:nvSpPr>
          <p:cNvPr id="35" name="TextBox 34"/>
          <p:cNvSpPr txBox="1"/>
          <p:nvPr/>
        </p:nvSpPr>
        <p:spPr>
          <a:xfrm>
            <a:off x="6327648" y="4224528"/>
            <a:ext cx="4974336" cy="457200"/>
          </a:xfrm>
          <a:prstGeom prst="rect">
            <a:avLst/>
          </a:prstGeom>
          <a:noFill/>
        </p:spPr>
        <p:txBody>
          <a:bodyPr wrap="square" lIns="0" rIns="0" tIns="0" bIns="0" anchor="ctr">
            <a:spAutoFit/>
          </a:bodyPr>
          <a:lstStyle/>
          <a:p>
            <a:pPr algn="l"/>
            <a:r>
              <a:rPr sz="1100" b="1" i="0">
                <a:solidFill>
                  <a:srgbClr val="8A1626"/>
                </a:solidFill>
              </a:rPr>
              <a:t>Role-based access: </a:t>
            </a:r>
            <a:r>
              <a:rPr sz="1100" b="0" i="0">
                <a:solidFill>
                  <a:srgbClr val="1A1A1A"/>
                </a:solidFill>
              </a:rPr>
              <a:t>home.landing-by-role is read and wins when set; who sees a lens (lens.roles) is a hook, not wired.</a:t>
            </a:r>
          </a:p>
        </p:txBody>
      </p:sp>
      <p:sp>
        <p:nvSpPr>
          <p:cNvPr id="36" name="Rectangle 35"/>
          <p:cNvSpPr/>
          <p:nvPr/>
        </p:nvSpPr>
        <p:spPr>
          <a:xfrm>
            <a:off x="777240" y="4828032"/>
            <a:ext cx="3422904" cy="1024128"/>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7" name="TextBox 36"/>
          <p:cNvSpPr txBox="1"/>
          <p:nvPr/>
        </p:nvSpPr>
        <p:spPr>
          <a:xfrm>
            <a:off x="914400" y="4864608"/>
            <a:ext cx="3194304" cy="960120"/>
          </a:xfrm>
          <a:prstGeom prst="rect">
            <a:avLst/>
          </a:prstGeom>
          <a:noFill/>
        </p:spPr>
        <p:txBody>
          <a:bodyPr wrap="square" lIns="0" rIns="0" tIns="0" bIns="0" anchor="ctr">
            <a:spAutoFit/>
          </a:bodyPr>
          <a:lstStyle/>
          <a:p>
            <a:pPr algn="l">
              <a:spcAft>
                <a:spcPts val="100"/>
              </a:spcAft>
            </a:pPr>
            <a:r>
              <a:rPr sz="1350" b="1" i="0">
                <a:solidFill>
                  <a:srgbClr val="FFFFFF"/>
                </a:solidFill>
              </a:rPr>
              <a:t>Drishti Risk</a:t>
            </a:r>
          </a:p>
          <a:p>
            <a:pPr algn="l">
              <a:spcAft>
                <a:spcPts val="200"/>
              </a:spcAft>
            </a:pPr>
            <a:r>
              <a:rPr sz="1100" b="0" i="0">
                <a:solidFill>
                  <a:srgbClr val="F6E6E9"/>
                </a:solidFill>
              </a:rPr>
              <a:t>VaR and exposure from the bank's own data; stress left out</a:t>
            </a:r>
          </a:p>
          <a:p>
            <a:pPr algn="l"/>
            <a:r>
              <a:rPr sz="1100" b="1" i="0">
                <a:solidFill>
                  <a:srgbClr val="FFFFFF"/>
                </a:solidFill>
              </a:rPr>
              <a:t>Landings: </a:t>
            </a:r>
            <a:r>
              <a:rPr sz="1100" b="0" i="0">
                <a:solidFill>
                  <a:srgbClr val="FFFFFF"/>
                </a:solidFill>
              </a:rPr>
              <a:t>desk · command · map</a:t>
            </a:r>
          </a:p>
        </p:txBody>
      </p:sp>
      <p:sp>
        <p:nvSpPr>
          <p:cNvPr id="38" name="Rectangle 37"/>
          <p:cNvSpPr/>
          <p:nvPr/>
        </p:nvSpPr>
        <p:spPr>
          <a:xfrm>
            <a:off x="4383024" y="4828032"/>
            <a:ext cx="3422904" cy="102412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TextBox 38"/>
          <p:cNvSpPr txBox="1"/>
          <p:nvPr/>
        </p:nvSpPr>
        <p:spPr>
          <a:xfrm>
            <a:off x="4520184" y="4864608"/>
            <a:ext cx="3194304" cy="960120"/>
          </a:xfrm>
          <a:prstGeom prst="rect">
            <a:avLst/>
          </a:prstGeom>
          <a:noFill/>
        </p:spPr>
        <p:txBody>
          <a:bodyPr wrap="square" lIns="0" rIns="0" tIns="0" bIns="0" anchor="ctr">
            <a:spAutoFit/>
          </a:bodyPr>
          <a:lstStyle/>
          <a:p>
            <a:pPr algn="l">
              <a:spcAft>
                <a:spcPts val="100"/>
              </a:spcAft>
            </a:pPr>
            <a:r>
              <a:rPr sz="1350" b="1" i="0">
                <a:solidFill>
                  <a:srgbClr val="8A1626"/>
                </a:solidFill>
              </a:rPr>
              <a:t>Drishti Market</a:t>
            </a:r>
          </a:p>
          <a:p>
            <a:pPr algn="l">
              <a:spcAft>
                <a:spcPts val="200"/>
              </a:spcAft>
            </a:pPr>
            <a:r>
              <a:rPr sz="1100" b="0" i="0">
                <a:solidFill>
                  <a:srgbClr val="4A5058"/>
                </a:solidFill>
              </a:rPr>
              <a:t>curves, surfaces and fixings that feed risk and valuations</a:t>
            </a:r>
          </a:p>
          <a:p>
            <a:pPr algn="l"/>
            <a:r>
              <a:rPr sz="1100" b="1" i="0">
                <a:solidFill>
                  <a:srgbClr val="8A1626"/>
                </a:solidFill>
              </a:rPr>
              <a:t>Landings: </a:t>
            </a:r>
            <a:r>
              <a:rPr sz="1100" b="0" i="0">
                <a:solidFill>
                  <a:srgbClr val="8A1626"/>
                </a:solidFill>
              </a:rPr>
              <a:t>desk · explorer · quality</a:t>
            </a:r>
          </a:p>
        </p:txBody>
      </p:sp>
      <p:sp>
        <p:nvSpPr>
          <p:cNvPr id="40" name="Rectangle 39"/>
          <p:cNvSpPr/>
          <p:nvPr/>
        </p:nvSpPr>
        <p:spPr>
          <a:xfrm>
            <a:off x="7988808" y="4828032"/>
            <a:ext cx="3422904" cy="102412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1" name="TextBox 40"/>
          <p:cNvSpPr txBox="1"/>
          <p:nvPr/>
        </p:nvSpPr>
        <p:spPr>
          <a:xfrm>
            <a:off x="8125968" y="4864608"/>
            <a:ext cx="3194304" cy="960120"/>
          </a:xfrm>
          <a:prstGeom prst="rect">
            <a:avLst/>
          </a:prstGeom>
          <a:noFill/>
        </p:spPr>
        <p:txBody>
          <a:bodyPr wrap="square" lIns="0" rIns="0" tIns="0" bIns="0" anchor="ctr">
            <a:spAutoFit/>
          </a:bodyPr>
          <a:lstStyle/>
          <a:p>
            <a:pPr algn="l">
              <a:spcAft>
                <a:spcPts val="100"/>
              </a:spcAft>
            </a:pPr>
            <a:r>
              <a:rPr sz="1350" b="1" i="0">
                <a:solidFill>
                  <a:srgbClr val="8A1626"/>
                </a:solidFill>
              </a:rPr>
              <a:t>Drishti World</a:t>
            </a:r>
          </a:p>
          <a:p>
            <a:pPr algn="l">
              <a:spcAft>
                <a:spcPts val="200"/>
              </a:spcAft>
            </a:pPr>
            <a:r>
              <a:rPr sz="1100" b="0" i="0">
                <a:solidFill>
                  <a:srgbClr val="4A5058"/>
                </a:solidFill>
              </a:rPr>
              <a:t>economies, markets, companies and funds from public data</a:t>
            </a:r>
          </a:p>
          <a:p>
            <a:pPr algn="l"/>
            <a:r>
              <a:rPr sz="1100" b="1" i="0">
                <a:solidFill>
                  <a:srgbClr val="8A1626"/>
                </a:solidFill>
              </a:rPr>
              <a:t>Landings: </a:t>
            </a:r>
            <a:r>
              <a:rPr sz="1100" b="0" i="0">
                <a:solidFill>
                  <a:srgbClr val="8A1626"/>
                </a:solidFill>
              </a:rPr>
              <a:t>desk · explorer · map</a:t>
            </a:r>
          </a:p>
        </p:txBody>
      </p:sp>
      <p:sp>
        <p:nvSpPr>
          <p:cNvPr id="42" name="TextBox 41"/>
          <p:cNvSpPr txBox="1"/>
          <p:nvPr/>
        </p:nvSpPr>
        <p:spPr>
          <a:xfrm>
            <a:off x="777240" y="5897880"/>
            <a:ext cx="10634472" cy="365760"/>
          </a:xfrm>
          <a:prstGeom prst="rect">
            <a:avLst/>
          </a:prstGeom>
          <a:noFill/>
        </p:spPr>
        <p:txBody>
          <a:bodyPr wrap="square" lIns="0" rIns="0" tIns="0" bIns="0" anchor="ctr">
            <a:spAutoFit/>
          </a:bodyPr>
          <a:lstStyle/>
          <a:p>
            <a:pPr algn="l"/>
            <a:r>
              <a:rPr sz="1100" b="0" i="1">
                <a:solidFill>
                  <a:srgbClr val="4A5058"/>
                </a:solidFill>
              </a:rPr>
              <a:t>The engines are unchanged under an edition: VaR and exposure of any scope, sharded or not, equal to the cent (the risk suites run again with the edition on).</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DRISHTI RISK · HOME</a:t>
            </a:r>
          </a:p>
        </p:txBody>
      </p:sp>
      <p:sp>
        <p:nvSpPr>
          <p:cNvPr id="3" name="Title 2"/>
          <p:cNvSpPr>
            <a:spLocks noGrp="1"/>
          </p:cNvSpPr>
          <p:nvPr>
            <p:ph type="title" idx="104"/>
          </p:nvPr>
        </p:nvSpPr>
        <p:spPr/>
        <p:txBody>
          <a:bodyPr/>
          <a:lstStyle/>
          <a:p>
            <a:r>
              <a:t>Drishti Risk's three landings: desk, command and map</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pic>
        <p:nvPicPr>
          <p:cNvPr id="26" name="Picture 25" descr="risk-desk.jpg"/>
          <p:cNvPicPr>
            <a:picLocks noChangeAspect="1"/>
          </p:cNvPicPr>
          <p:nvPr/>
        </p:nvPicPr>
        <p:blipFill>
          <a:blip r:embed="rId2"/>
          <a:stretch>
            <a:fillRect/>
          </a:stretch>
        </p:blipFill>
        <p:spPr>
          <a:xfrm>
            <a:off x="777240" y="1417320"/>
            <a:ext cx="6400800" cy="2744047"/>
          </a:xfrm>
          <a:prstGeom prst="rect">
            <a:avLst/>
          </a:prstGeom>
          <a:ln w="9525">
            <a:solidFill>
              <a:srgbClr val="E3DED7"/>
            </a:solidFill>
          </a:ln>
        </p:spPr>
      </p:pic>
      <p:sp>
        <p:nvSpPr>
          <p:cNvPr id="27" name="TextBox 26"/>
          <p:cNvSpPr txBox="1"/>
          <p:nvPr/>
        </p:nvSpPr>
        <p:spPr>
          <a:xfrm>
            <a:off x="777240" y="4188798"/>
            <a:ext cx="6400800" cy="256032"/>
          </a:xfrm>
          <a:prstGeom prst="rect">
            <a:avLst/>
          </a:prstGeom>
          <a:noFill/>
        </p:spPr>
        <p:txBody>
          <a:bodyPr wrap="square" lIns="0" rIns="0" tIns="0" bIns="0" anchor="ctr">
            <a:spAutoFit/>
          </a:bodyPr>
          <a:lstStyle/>
          <a:p>
            <a:pPr algn="l"/>
            <a:r>
              <a:rPr sz="1100" b="0" i="1">
                <a:solidFill>
                  <a:srgbClr val="4A5058"/>
                </a:solidFill>
              </a:rPr>
              <a:t>A · Risk desk (the default): VaR, backtest, exposure, limits in breach; desks and counterparties</a:t>
            </a:r>
          </a:p>
        </p:txBody>
      </p:sp>
      <p:pic>
        <p:nvPicPr>
          <p:cNvPr id="28" name="Picture 27" descr="risk-command.jpg"/>
          <p:cNvPicPr>
            <a:picLocks noChangeAspect="1"/>
          </p:cNvPicPr>
          <p:nvPr/>
        </p:nvPicPr>
        <p:blipFill>
          <a:blip r:embed="rId3"/>
          <a:stretch>
            <a:fillRect/>
          </a:stretch>
        </p:blipFill>
        <p:spPr>
          <a:xfrm>
            <a:off x="7406640" y="1417320"/>
            <a:ext cx="4005072" cy="1477797"/>
          </a:xfrm>
          <a:prstGeom prst="rect">
            <a:avLst/>
          </a:prstGeom>
          <a:ln w="9525">
            <a:solidFill>
              <a:srgbClr val="E3DED7"/>
            </a:solidFill>
          </a:ln>
        </p:spPr>
      </p:pic>
      <p:sp>
        <p:nvSpPr>
          <p:cNvPr id="29" name="TextBox 28"/>
          <p:cNvSpPr txBox="1"/>
          <p:nvPr/>
        </p:nvSpPr>
        <p:spPr>
          <a:xfrm>
            <a:off x="7406640" y="2922549"/>
            <a:ext cx="4005072" cy="256032"/>
          </a:xfrm>
          <a:prstGeom prst="rect">
            <a:avLst/>
          </a:prstGeom>
          <a:noFill/>
        </p:spPr>
        <p:txBody>
          <a:bodyPr wrap="square" lIns="0" rIns="0" tIns="0" bIns="0" anchor="ctr">
            <a:spAutoFit/>
          </a:bodyPr>
          <a:lstStyle/>
          <a:p>
            <a:pPr algn="l"/>
            <a:r>
              <a:rPr sz="1100" b="0" i="1">
                <a:solidFill>
                  <a:srgbClr val="4A5058"/>
                </a:solidFill>
              </a:rPr>
              <a:t>B · Command first: the command line, chips, baskets</a:t>
            </a:r>
          </a:p>
        </p:txBody>
      </p:sp>
      <p:pic>
        <p:nvPicPr>
          <p:cNvPr id="30" name="Picture 29" descr="risk-map.jpg"/>
          <p:cNvPicPr>
            <a:picLocks noChangeAspect="1"/>
          </p:cNvPicPr>
          <p:nvPr/>
        </p:nvPicPr>
        <p:blipFill>
          <a:blip r:embed="rId4"/>
          <a:stretch>
            <a:fillRect/>
          </a:stretch>
        </p:blipFill>
        <p:spPr>
          <a:xfrm>
            <a:off x="7406640" y="3260877"/>
            <a:ext cx="4005072" cy="1210793"/>
          </a:xfrm>
          <a:prstGeom prst="rect">
            <a:avLst/>
          </a:prstGeom>
          <a:ln w="9525">
            <a:solidFill>
              <a:srgbClr val="E3DED7"/>
            </a:solidFill>
          </a:ln>
        </p:spPr>
      </p:pic>
      <p:sp>
        <p:nvSpPr>
          <p:cNvPr id="31" name="TextBox 30"/>
          <p:cNvSpPr txBox="1"/>
          <p:nvPr/>
        </p:nvSpPr>
        <p:spPr>
          <a:xfrm>
            <a:off x="7406640" y="4499102"/>
            <a:ext cx="4005072" cy="256032"/>
          </a:xfrm>
          <a:prstGeom prst="rect">
            <a:avLst/>
          </a:prstGeom>
          <a:noFill/>
        </p:spPr>
        <p:txBody>
          <a:bodyPr wrap="square" lIns="0" rIns="0" tIns="0" bIns="0" anchor="ctr">
            <a:spAutoFit/>
          </a:bodyPr>
          <a:lstStyle/>
          <a:p>
            <a:pPr algn="l"/>
            <a:r>
              <a:rPr sz="1100" b="0" i="1">
                <a:solidFill>
                  <a:srgbClr val="4A5058"/>
                </a:solidFill>
              </a:rPr>
              <a:t>C · Risk map: a hierarchy with VaR and limit use, a heat map, Today</a:t>
            </a:r>
          </a:p>
        </p:txBody>
      </p:sp>
      <p:sp>
        <p:nvSpPr>
          <p:cNvPr id="32" name="Rectangle 31"/>
          <p:cNvSpPr/>
          <p:nvPr/>
        </p:nvSpPr>
        <p:spPr>
          <a:xfrm>
            <a:off x="777240" y="4837430"/>
            <a:ext cx="10634472" cy="1426209"/>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Rectangle 32"/>
          <p:cNvSpPr/>
          <p:nvPr/>
        </p:nvSpPr>
        <p:spPr>
          <a:xfrm>
            <a:off x="777240" y="4837430"/>
            <a:ext cx="45720" cy="1426209"/>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TextBox 33"/>
          <p:cNvSpPr txBox="1"/>
          <p:nvPr/>
        </p:nvSpPr>
        <p:spPr>
          <a:xfrm>
            <a:off x="932688" y="4901438"/>
            <a:ext cx="10396728" cy="1334769"/>
          </a:xfrm>
          <a:prstGeom prst="rect">
            <a:avLst/>
          </a:prstGeom>
          <a:noFill/>
        </p:spPr>
        <p:txBody>
          <a:bodyPr wrap="square" lIns="0" rIns="0" tIns="0" bIns="0" anchor="t">
            <a:spAutoFit/>
          </a:bodyPr>
          <a:lstStyle/>
          <a:p>
            <a:pPr algn="l">
              <a:spcAft>
                <a:spcPts val="300"/>
              </a:spcAft>
            </a:pPr>
            <a:r>
              <a:rPr sz="1300" b="1" i="0">
                <a:solidFill>
                  <a:srgbClr val="8A1626"/>
                </a:solidFill>
              </a:rPr>
              <a:t>Every figure is the engines' own answer</a:t>
            </a:r>
          </a:p>
          <a:p>
            <a:pPr algn="l" marL="146304" indent="-146304">
              <a:spcAft>
                <a:spcPts val="200"/>
              </a:spcAft>
              <a:buClr>
                <a:srgbClr val="A51C30"/>
              </a:buClr>
              <a:buSzPct val="100000"/>
              <a:buFont typeface="Arial"/>
              <a:buChar char="▪"/>
            </a:pPr>
            <a:r>
              <a:rPr sz="1100" b="0" i="0">
                <a:solidFill>
                  <a:srgbClr val="1A1A1A"/>
                </a:solidFill>
              </a:rPr>
              <a:t>The landings read the console's VaR and exposure routes (scope, tree, intraday streams, official records, baskets); no new store, no copy of a figure</a:t>
            </a:r>
          </a:p>
          <a:p>
            <a:pPr algn="l" marL="146304" indent="-146304">
              <a:spcAft>
                <a:spcPts val="200"/>
              </a:spcAft>
              <a:buClr>
                <a:srgbClr val="A51C30"/>
              </a:buClr>
              <a:buSzPct val="100000"/>
              <a:buFont typeface="Arial"/>
              <a:buChar char="▪"/>
            </a:pPr>
            <a:r>
              <a:rPr sz="1100" b="0" i="0">
                <a:solidFill>
                  <a:srgbClr val="1A1A1A"/>
                </a:solidFill>
              </a:rPr>
              <a:t>The choice of landing is kept per person; a role can be given its landing (home.landing-by-role)</a:t>
            </a:r>
          </a:p>
          <a:p>
            <a:pPr algn="l" marL="146304" indent="-146304">
              <a:spcAft>
                <a:spcPts val="200"/>
              </a:spcAft>
              <a:buClr>
                <a:srgbClr val="A51C30"/>
              </a:buClr>
              <a:buSzPct val="100000"/>
              <a:buFont typeface="Arial"/>
              <a:buChar char="▪"/>
            </a:pPr>
            <a:r>
              <a:rPr sz="1100" b="0" i="0">
                <a:solidFill>
                  <a:srgbClr val="1A1A1A"/>
                </a:solidFill>
              </a:rPr>
              <a:t>Pictures from the browser tests' stand-in server: VaR 112.04m and EPE 947.20m are the demo bank's 2026-09-30 figures; the desk and counterparty rows are stand-ins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DRISHTI MARKET · FOR VAR USERS</a:t>
            </a:r>
          </a:p>
        </p:txBody>
      </p:sp>
      <p:sp>
        <p:nvSpPr>
          <p:cNvPr id="3" name="Title 2"/>
          <p:cNvSpPr>
            <a:spLocks noGrp="1"/>
          </p:cNvSpPr>
          <p:nvPr>
            <p:ph type="title" idx="104"/>
          </p:nvPr>
        </p:nvSpPr>
        <p:spPr/>
        <p:txBody>
          <a:bodyPr/>
          <a:lstStyle/>
          <a:p>
            <a:r>
              <a:t>Drishti Market: the market data that feeds VaR</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371600"/>
            <a:ext cx="10634472" cy="603504"/>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Rectangle 26"/>
          <p:cNvSpPr/>
          <p:nvPr/>
        </p:nvSpPr>
        <p:spPr>
          <a:xfrm>
            <a:off x="777240" y="1371600"/>
            <a:ext cx="54864" cy="60350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1005840" y="1371600"/>
            <a:ext cx="10314432" cy="603504"/>
          </a:xfrm>
          <a:prstGeom prst="rect">
            <a:avLst/>
          </a:prstGeom>
          <a:noFill/>
        </p:spPr>
        <p:txBody>
          <a:bodyPr wrap="square" lIns="0" rIns="0" tIns="0" bIns="0" anchor="ctr">
            <a:spAutoFit/>
          </a:bodyPr>
          <a:lstStyle/>
          <a:p>
            <a:pPr algn="l"/>
            <a:r>
              <a:rPr sz="1200" b="1" i="0">
                <a:solidFill>
                  <a:srgbClr val="A51C30"/>
                </a:solidFill>
              </a:rPr>
              <a:t>Why a VaR user cares.  </a:t>
            </a:r>
            <a:r>
              <a:rPr sz="1150" b="0" i="0">
                <a:solidFill>
                  <a:srgbClr val="1A1A1A"/>
                </a:solidFill>
              </a:rPr>
              <a:t>VaR is read from scenario P&amp;L that the pricing systems build from the bank's curves, vol surfaces and fixings. When that market data is stale or broken, so is the VaR built on it. Drishti Market shows that data, and checks it.</a:t>
            </a:r>
          </a:p>
        </p:txBody>
      </p:sp>
      <p:graphicFrame>
        <p:nvGraphicFramePr>
          <p:cNvPr id="29" name="Table 28"/>
          <p:cNvGraphicFramePr>
            <a:graphicFrameLocks noGrp="1"/>
          </p:cNvGraphicFramePr>
          <p:nvPr/>
        </p:nvGraphicFramePr>
        <p:xfrm>
          <a:off x="777240" y="2121408"/>
          <a:ext cx="6903720" cy="2743200"/>
        </p:xfrm>
        <a:graphic>
          <a:graphicData uri="http://schemas.openxmlformats.org/drawingml/2006/table">
            <a:tbl>
              <a:tblPr firstRow="0" bandRow="0">
                <a:tableStyleId>{5940675A-B579-460E-94D1-54222C63F5DA}</a:tableStyleId>
              </a:tblPr>
              <a:tblGrid>
                <a:gridCol w="1600200"/>
                <a:gridCol w="2377440"/>
                <a:gridCol w="2926080"/>
              </a:tblGrid>
              <a:tr h="457200">
                <a:tc>
                  <a:txBody>
                    <a:bodyPr wrap="square"/>
                    <a:lstStyle/>
                    <a:p>
                      <a:r>
                        <a:rPr sz="1100" b="1" i="0">
                          <a:solidFill>
                            <a:srgbClr val="FFFFFF"/>
                          </a:solidFill>
                        </a:rPr>
                        <a:t>Asset class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Commands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What it holds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457200">
                <a:tc>
                  <a:txBody>
                    <a:bodyPr wrap="square"/>
                    <a:lstStyle/>
                    <a:p>
                      <a:r>
                        <a:rPr sz="1100" b="1" i="0">
                          <a:solidFill>
                            <a:srgbClr val="8A1626"/>
                          </a:solidFill>
                        </a:rPr>
                        <a:t>Rates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1" i="0">
                          <a:solidFill>
                            <a:srgbClr val="A51C30"/>
                          </a:solidFill>
                          <a:latin typeface="Courier New"/>
                        </a:rPr>
                        <a:t>CRV · REPO · IRV · CPV · FIX · INF · INFC</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OIS and projection curves, repo curves, swaption and cap vols, fixings, inflation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457200">
                <a:tc>
                  <a:txBody>
                    <a:bodyPr wrap="square"/>
                    <a:lstStyle/>
                    <a:p>
                      <a:r>
                        <a:rPr sz="1100" b="1" i="0">
                          <a:solidFill>
                            <a:srgbClr val="8A1626"/>
                          </a:solidFill>
                        </a:rPr>
                        <a:t>FX</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1" i="0">
                          <a:solidFill>
                            <a:srgbClr val="A51C30"/>
                          </a:solidFill>
                          <a:latin typeface="Courier New"/>
                        </a:rPr>
                        <a:t>FX · FXF · FXV</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spot, forward curves, vol surfaces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457200">
                <a:tc>
                  <a:txBody>
                    <a:bodyPr wrap="square"/>
                    <a:lstStyle/>
                    <a:p>
                      <a:r>
                        <a:rPr sz="1100" b="1" i="0">
                          <a:solidFill>
                            <a:srgbClr val="8A1626"/>
                          </a:solidFill>
                        </a:rPr>
                        <a:t>Credit and bonds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1" i="0">
                          <a:solidFill>
                            <a:srgbClr val="A51C30"/>
                          </a:solidFill>
                          <a:latin typeface="Courier New"/>
                        </a:rPr>
                        <a:t>CDS · BND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credit curves and spreads, bonds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457200">
                <a:tc>
                  <a:txBody>
                    <a:bodyPr wrap="square"/>
                    <a:lstStyle/>
                    <a:p>
                      <a:r>
                        <a:rPr sz="1100" b="1" i="0">
                          <a:solidFill>
                            <a:srgbClr val="8A1626"/>
                          </a:solidFill>
                        </a:rPr>
                        <a:t>Equity and commodities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1" i="0">
                          <a:solidFill>
                            <a:srgbClr val="A51C30"/>
                          </a:solidFill>
                          <a:latin typeface="Courier New"/>
                        </a:rPr>
                        <a:t>EQ · EQX · DIV · EQV · CMD · CMDC · CMDV</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equities, indices, dividends, equity vols; commodities, their curves and vols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457200">
                <a:tc>
                  <a:txBody>
                    <a:bodyPr wrap="square"/>
                    <a:lstStyle/>
                    <a:p>
                      <a:r>
                        <a:rPr sz="1100" b="1" i="0">
                          <a:solidFill>
                            <a:srgbClr val="8A1626"/>
                          </a:solidFill>
                        </a:rPr>
                        <a:t>Correlation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1" i="0">
                          <a:solidFill>
                            <a:srgbClr val="A51C30"/>
                          </a:solidFill>
                          <a:latin typeface="Courier New"/>
                        </a:rPr>
                        <a:t>CORR · CORRC · EQB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correlations and baskets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bl>
          </a:graphicData>
        </a:graphic>
      </p:graphicFrame>
      <p:sp>
        <p:nvSpPr>
          <p:cNvPr id="30" name="Rectangle 29"/>
          <p:cNvSpPr/>
          <p:nvPr/>
        </p:nvSpPr>
        <p:spPr>
          <a:xfrm>
            <a:off x="7909560" y="2121408"/>
            <a:ext cx="3502152" cy="27432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Rectangle 30"/>
          <p:cNvSpPr/>
          <p:nvPr/>
        </p:nvSpPr>
        <p:spPr>
          <a:xfrm>
            <a:off x="7909560" y="2121408"/>
            <a:ext cx="45720" cy="27432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TextBox 31"/>
          <p:cNvSpPr txBox="1"/>
          <p:nvPr/>
        </p:nvSpPr>
        <p:spPr>
          <a:xfrm>
            <a:off x="8065008" y="2185415"/>
            <a:ext cx="3264408" cy="2651760"/>
          </a:xfrm>
          <a:prstGeom prst="rect">
            <a:avLst/>
          </a:prstGeom>
          <a:noFill/>
        </p:spPr>
        <p:txBody>
          <a:bodyPr wrap="square" lIns="0" rIns="0" tIns="0" bIns="0" anchor="t">
            <a:spAutoFit/>
          </a:bodyPr>
          <a:lstStyle/>
          <a:p>
            <a:pPr algn="l">
              <a:spcAft>
                <a:spcPts val="300"/>
              </a:spcAft>
            </a:pPr>
            <a:r>
              <a:rPr sz="1300" b="1" i="0">
                <a:solidFill>
                  <a:srgbClr val="8A1626"/>
                </a:solidFill>
              </a:rPr>
              <a:t>One file: config/editions/market.yaml</a:t>
            </a:r>
          </a:p>
          <a:p>
            <a:pPr algn="l" marL="146304" indent="-146304">
              <a:spcAft>
                <a:spcPts val="200"/>
              </a:spcAft>
              <a:buClr>
                <a:srgbClr val="A51C30"/>
              </a:buClr>
              <a:buSzPct val="100000"/>
              <a:buFont typeface="Arial"/>
              <a:buChar char="▪"/>
            </a:pPr>
            <a:r>
              <a:rPr sz="1100" b="0" i="0">
                <a:solidFill>
                  <a:srgbClr val="1A1A1A"/>
                </a:solidFill>
              </a:rPr>
              <a:t>the market-data pack and core (issuers, holiday calendars), allow-only: its 22 commands, nothing else</a:t>
            </a:r>
          </a:p>
          <a:p>
            <a:pPr algn="l" marL="146304" indent="-146304">
              <a:spcAft>
                <a:spcPts val="200"/>
              </a:spcAft>
              <a:buClr>
                <a:srgbClr val="A51C30"/>
              </a:buClr>
              <a:buSzPct val="100000"/>
              <a:buFont typeface="Arial"/>
              <a:buChar char="▪"/>
            </a:pPr>
            <a:r>
              <a:rPr sz="1100" b="0" i="0">
                <a:solidFill>
                  <a:srgbClr val="1A1A1A"/>
                </a:solidFill>
              </a:rPr>
              <a:t>no trades and no VaR: VAR, EXP and the risk and trade commands are hidden</a:t>
            </a:r>
          </a:p>
          <a:p>
            <a:pPr algn="l" marL="146304" indent="-146304">
              <a:spcAft>
                <a:spcPts val="200"/>
              </a:spcAft>
              <a:buClr>
                <a:srgbClr val="A51C30"/>
              </a:buClr>
              <a:buSzPct val="100000"/>
              <a:buFont typeface="Arial"/>
              <a:buChar char="▪"/>
            </a:pPr>
            <a:r>
              <a:rPr sz="1100" b="0" i="0">
                <a:solidFill>
                  <a:srgbClr val="1A1A1A"/>
                </a:solidFill>
              </a:rPr>
              <a:t>Home: Market desk (the default), Explorer, Quality</a:t>
            </a:r>
          </a:p>
          <a:p>
            <a:pPr algn="l" marL="146304" indent="-146304">
              <a:spcAft>
                <a:spcPts val="200"/>
              </a:spcAft>
              <a:buClr>
                <a:srgbClr val="A51C30"/>
              </a:buClr>
              <a:buSzPct val="100000"/>
              <a:buFont typeface="Arial"/>
              <a:buChar char="▪"/>
            </a:pPr>
            <a:r>
              <a:rPr sz="1100" b="0" i="0">
                <a:solidFill>
                  <a:srgbClr val="1A1A1A"/>
                </a:solidFill>
              </a:rPr>
              <a:t>the engines are unchanged: nothing in them moved for the edition</a:t>
            </a:r>
          </a:p>
        </p:txBody>
      </p:sp>
      <p:sp>
        <p:nvSpPr>
          <p:cNvPr id="33" name="Rectangle 32"/>
          <p:cNvSpPr/>
          <p:nvPr/>
        </p:nvSpPr>
        <p:spPr>
          <a:xfrm>
            <a:off x="777240" y="5010912"/>
            <a:ext cx="10634472" cy="12527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Rectangle 33"/>
          <p:cNvSpPr/>
          <p:nvPr/>
        </p:nvSpPr>
        <p:spPr>
          <a:xfrm>
            <a:off x="777240" y="5010912"/>
            <a:ext cx="45720" cy="125272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TextBox 34"/>
          <p:cNvSpPr txBox="1"/>
          <p:nvPr/>
        </p:nvSpPr>
        <p:spPr>
          <a:xfrm>
            <a:off x="932688" y="5074920"/>
            <a:ext cx="10396728" cy="1161288"/>
          </a:xfrm>
          <a:prstGeom prst="rect">
            <a:avLst/>
          </a:prstGeom>
          <a:noFill/>
        </p:spPr>
        <p:txBody>
          <a:bodyPr wrap="square" lIns="0" rIns="0" tIns="0" bIns="0" anchor="t">
            <a:spAutoFit/>
          </a:bodyPr>
          <a:lstStyle/>
          <a:p>
            <a:pPr algn="l">
              <a:spcAft>
                <a:spcPts val="300"/>
              </a:spcAft>
            </a:pPr>
            <a:r>
              <a:rPr sz="1300" b="1" i="0">
                <a:solidFill>
                  <a:srgbClr val="8A1626"/>
                </a:solidFill>
              </a:rPr>
              <a:t>For a VaR user: a lens beside Drishti Risk</a:t>
            </a:r>
          </a:p>
          <a:p>
            <a:pPr algn="l" marL="146304" indent="-146304">
              <a:spcAft>
                <a:spcPts val="200"/>
              </a:spcAft>
              <a:buClr>
                <a:srgbClr val="A51C30"/>
              </a:buClr>
              <a:buSzPct val="100000"/>
              <a:buFont typeface="Arial"/>
              <a:buChar char="▪"/>
            </a:pPr>
            <a:r>
              <a:rPr sz="1100" b="0" i="0">
                <a:solidFill>
                  <a:srgbClr val="1A1A1A"/>
                </a:solidFill>
              </a:rPr>
              <a:t>On a full instance, drishti.lenses: risk,world,market offers Open Drishti Market next to Open Drishti Risk; inside one, Switch to … opens the other in one step, no restart</a:t>
            </a:r>
          </a:p>
          <a:p>
            <a:pPr algn="l" marL="146304" indent="-146304">
              <a:spcAft>
                <a:spcPts val="200"/>
              </a:spcAft>
              <a:buClr>
                <a:srgbClr val="A51C30"/>
              </a:buClr>
              <a:buSzPct val="100000"/>
              <a:buFont typeface="Arial"/>
              <a:buChar char="▪"/>
            </a:pPr>
            <a:r>
              <a:rPr sz="1100" b="0" i="0">
                <a:solidFill>
                  <a:srgbClr val="1A1A1A"/>
                </a:solidFill>
              </a:rPr>
              <a:t>A lens hides; it does not secure: what a person may read stays with roles, entitlements and masks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DRISHTI MARKET · QUALITY</a:t>
            </a:r>
          </a:p>
        </p:txBody>
      </p:sp>
      <p:sp>
        <p:nvSpPr>
          <p:cNvPr id="3" name="Title 2"/>
          <p:cNvSpPr>
            <a:spLocks noGrp="1"/>
          </p:cNvSpPr>
          <p:nvPr>
            <p:ph type="title" idx="104"/>
          </p:nvPr>
        </p:nvSpPr>
        <p:spPr/>
        <p:txBody>
          <a:bodyPr/>
          <a:lstStyle/>
          <a:p>
            <a:r>
              <a:t>Market data quality: the checks behind VaR's inputs</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TextBox 25"/>
          <p:cNvSpPr txBox="1"/>
          <p:nvPr/>
        </p:nvSpPr>
        <p:spPr>
          <a:xfrm>
            <a:off x="777240" y="1371600"/>
            <a:ext cx="10634472" cy="365760"/>
          </a:xfrm>
          <a:prstGeom prst="rect">
            <a:avLst/>
          </a:prstGeom>
          <a:noFill/>
        </p:spPr>
        <p:txBody>
          <a:bodyPr wrap="square" lIns="0" rIns="0" tIns="0" bIns="0" anchor="ctr">
            <a:spAutoFit/>
          </a:bodyPr>
          <a:lstStyle/>
          <a:p>
            <a:pPr algn="l"/>
            <a:r>
              <a:rPr sz="1200" b="1" i="0">
                <a:solidFill>
                  <a:srgbClr val="8A1626"/>
                </a:solidFill>
              </a:rPr>
              <a:t>Checked on the business date, worst first; each item opens its command.  </a:t>
            </a:r>
            <a:r>
              <a:rPr sz="1100" b="0" i="0">
                <a:solidFill>
                  <a:srgbClr val="1A1A1A"/>
                </a:solidFill>
              </a:rPr>
              <a:t>Tiles: Critical, Warnings, Clean (the share of items with no exception); a Checks run card gives each check's items and flags.</a:t>
            </a:r>
          </a:p>
        </p:txBody>
      </p:sp>
      <p:sp>
        <p:nvSpPr>
          <p:cNvPr id="27" name="Rectangle 26"/>
          <p:cNvSpPr/>
          <p:nvPr/>
        </p:nvSpPr>
        <p:spPr>
          <a:xfrm>
            <a:off x="777240" y="1828800"/>
            <a:ext cx="5202936" cy="148132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Rectangle 27"/>
          <p:cNvSpPr/>
          <p:nvPr/>
        </p:nvSpPr>
        <p:spPr>
          <a:xfrm>
            <a:off x="777240" y="1828800"/>
            <a:ext cx="45720" cy="148132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TextBox 28"/>
          <p:cNvSpPr txBox="1"/>
          <p:nvPr/>
        </p:nvSpPr>
        <p:spPr>
          <a:xfrm>
            <a:off x="932688" y="1892807"/>
            <a:ext cx="4956048" cy="1389888"/>
          </a:xfrm>
          <a:prstGeom prst="rect">
            <a:avLst/>
          </a:prstGeom>
          <a:noFill/>
        </p:spPr>
        <p:txBody>
          <a:bodyPr wrap="square" lIns="0" rIns="0" tIns="0" bIns="0" anchor="t">
            <a:spAutoFit/>
          </a:bodyPr>
          <a:lstStyle/>
          <a:p>
            <a:pPr algn="l"/>
            <a:r>
              <a:rPr sz="1250" b="1" i="0">
                <a:solidFill>
                  <a:srgbClr val="8A1626"/>
                </a:solidFill>
              </a:rPr>
              <a:t>1 · Stale</a:t>
            </a:r>
            <a:r>
              <a:rPr sz="1100" b="0" i="1">
                <a:solidFill>
                  <a:srgbClr val="4A5058"/>
                </a:solidFill>
              </a:rPr>
              <a:t>   warning</a:t>
            </a:r>
          </a:p>
          <a:p>
            <a:pPr algn="l" marL="146304" indent="-146304">
              <a:spcAft>
                <a:spcPts val="200"/>
              </a:spcAft>
              <a:buClr>
                <a:srgbClr val="A51C30"/>
              </a:buClr>
              <a:buSzPct val="100000"/>
              <a:buFont typeface="Arial"/>
              <a:buChar char="▪"/>
            </a:pPr>
            <a:r>
              <a:rPr sz="1100" b="0" i="0">
                <a:solidFill>
                  <a:srgbClr val="1A1A1A"/>
                </a:solidFill>
              </a:rPr>
              <a:t>a curve's AS_OF, or the date its source holds it for, older than the business date by more than quality.stale-days (2 business days; weekends and holidays skipped)</a:t>
            </a:r>
          </a:p>
          <a:p>
            <a:pPr algn="l" marL="146304" indent="-146304">
              <a:spcAft>
                <a:spcPts val="200"/>
              </a:spcAft>
              <a:buClr>
                <a:srgbClr val="A51C30"/>
              </a:buClr>
              <a:buSzPct val="100000"/>
              <a:buFont typeface="Arial"/>
              <a:buChar char="▪"/>
            </a:pPr>
            <a:r>
              <a:rPr sz="1100" b="0" i="0">
                <a:solidFill>
                  <a:srgbClr val="1A1A1A"/>
                </a:solidFill>
              </a:rPr>
              <a:t>curves and surfaces one by one; every other kind by its latest load</a:t>
            </a:r>
          </a:p>
        </p:txBody>
      </p:sp>
      <p:sp>
        <p:nvSpPr>
          <p:cNvPr id="30" name="Rectangle 29"/>
          <p:cNvSpPr/>
          <p:nvPr/>
        </p:nvSpPr>
        <p:spPr>
          <a:xfrm>
            <a:off x="6208776" y="1828800"/>
            <a:ext cx="5202936" cy="148132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Rectangle 30"/>
          <p:cNvSpPr/>
          <p:nvPr/>
        </p:nvSpPr>
        <p:spPr>
          <a:xfrm>
            <a:off x="6208776" y="1828800"/>
            <a:ext cx="45720" cy="148132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TextBox 31"/>
          <p:cNvSpPr txBox="1"/>
          <p:nvPr/>
        </p:nvSpPr>
        <p:spPr>
          <a:xfrm>
            <a:off x="6364224" y="1892807"/>
            <a:ext cx="4956048" cy="1389888"/>
          </a:xfrm>
          <a:prstGeom prst="rect">
            <a:avLst/>
          </a:prstGeom>
          <a:noFill/>
        </p:spPr>
        <p:txBody>
          <a:bodyPr wrap="square" lIns="0" rIns="0" tIns="0" bIns="0" anchor="t">
            <a:spAutoFit/>
          </a:bodyPr>
          <a:lstStyle/>
          <a:p>
            <a:pPr algn="l"/>
            <a:r>
              <a:rPr sz="1250" b="1" i="0">
                <a:solidFill>
                  <a:srgbClr val="8A1626"/>
                </a:solidFill>
              </a:rPr>
              <a:t>2 · Gaps: missing tenors</a:t>
            </a:r>
            <a:r>
              <a:rPr sz="1100" b="0" i="1">
                <a:solidFill>
                  <a:srgbClr val="4A5058"/>
                </a:solidFill>
              </a:rPr>
              <a:t>   warning</a:t>
            </a:r>
          </a:p>
          <a:p>
            <a:pPr algn="l" marL="146304" indent="-146304">
              <a:spcAft>
                <a:spcPts val="200"/>
              </a:spcAft>
              <a:buClr>
                <a:srgbClr val="A51C30"/>
              </a:buClr>
              <a:buSzPct val="100000"/>
              <a:buFont typeface="Arial"/>
              <a:buChar char="▪"/>
            </a:pPr>
            <a:r>
              <a:rPr sz="1100" b="0" i="0">
                <a:solidFill>
                  <a:srgbClr val="1A1A1A"/>
                </a:solidFill>
              </a:rPr>
              <a:t>a curve missing a tenor that every other curve of its type has (a type of three or more)</a:t>
            </a:r>
          </a:p>
          <a:p>
            <a:pPr algn="l" marL="146304" indent="-146304">
              <a:spcAft>
                <a:spcPts val="200"/>
              </a:spcAft>
              <a:buClr>
                <a:srgbClr val="A51C30"/>
              </a:buClr>
              <a:buSzPct val="100000"/>
              <a:buFont typeface="Arial"/>
              <a:buChar char="▪"/>
            </a:pPr>
            <a:r>
              <a:rPr sz="1100" b="0" i="0">
                <a:solidFill>
                  <a:srgbClr val="1A1A1A"/>
                </a:solidFill>
              </a:rPr>
              <a:t>IR curves by CURVE_TYPE; repo, credit, FX forward and inflation curves by kind</a:t>
            </a:r>
          </a:p>
        </p:txBody>
      </p:sp>
      <p:sp>
        <p:nvSpPr>
          <p:cNvPr id="33" name="Rectangle 32"/>
          <p:cNvSpPr/>
          <p:nvPr/>
        </p:nvSpPr>
        <p:spPr>
          <a:xfrm>
            <a:off x="777240" y="3438144"/>
            <a:ext cx="5202936" cy="148132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Rectangle 33"/>
          <p:cNvSpPr/>
          <p:nvPr/>
        </p:nvSpPr>
        <p:spPr>
          <a:xfrm>
            <a:off x="777240" y="3438144"/>
            <a:ext cx="45720" cy="148132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TextBox 34"/>
          <p:cNvSpPr txBox="1"/>
          <p:nvPr/>
        </p:nvSpPr>
        <p:spPr>
          <a:xfrm>
            <a:off x="932688" y="3502152"/>
            <a:ext cx="4956048" cy="1389888"/>
          </a:xfrm>
          <a:prstGeom prst="rect">
            <a:avLst/>
          </a:prstGeom>
          <a:noFill/>
        </p:spPr>
        <p:txBody>
          <a:bodyPr wrap="square" lIns="0" rIns="0" tIns="0" bIns="0" anchor="t">
            <a:spAutoFit/>
          </a:bodyPr>
          <a:lstStyle/>
          <a:p>
            <a:pPr algn="l"/>
            <a:r>
              <a:rPr sz="1250" b="1" i="0">
                <a:solidFill>
                  <a:srgbClr val="8A1626"/>
                </a:solidFill>
              </a:rPr>
              <a:t>3 · Discount factors and forwards</a:t>
            </a:r>
            <a:r>
              <a:rPr sz="1100" b="0" i="1">
                <a:solidFill>
                  <a:srgbClr val="4A5058"/>
                </a:solidFill>
              </a:rPr>
              <a:t>   critical · warning</a:t>
            </a:r>
          </a:p>
          <a:p>
            <a:pPr algn="l" marL="146304" indent="-146304">
              <a:spcAft>
                <a:spcPts val="200"/>
              </a:spcAft>
              <a:buClr>
                <a:srgbClr val="A51C30"/>
              </a:buClr>
              <a:buSzPct val="100000"/>
              <a:buFont typeface="Arial"/>
              <a:buChar char="▪"/>
            </a:pPr>
            <a:r>
              <a:rPr sz="1100" b="0" i="0">
                <a:solidFill>
                  <a:srgbClr val="1A1A1A"/>
                </a:solidFill>
              </a:rPr>
              <a:t>critical: a discount factor that does not fall with maturity, or is outside (0, 1]</a:t>
            </a:r>
          </a:p>
          <a:p>
            <a:pPr algn="l" marL="146304" indent="-146304">
              <a:spcAft>
                <a:spcPts val="200"/>
              </a:spcAft>
              <a:buClr>
                <a:srgbClr val="A51C30"/>
              </a:buClr>
              <a:buSzPct val="100000"/>
              <a:buFont typeface="Arial"/>
              <a:buChar char="▪"/>
            </a:pPr>
            <a:r>
              <a:rPr sz="1100" b="0" i="0">
                <a:solidFill>
                  <a:srgbClr val="1A1A1A"/>
                </a:solidFill>
              </a:rPr>
              <a:t>warning: a negative forward rate in FORWARDS</a:t>
            </a:r>
          </a:p>
        </p:txBody>
      </p:sp>
      <p:sp>
        <p:nvSpPr>
          <p:cNvPr id="36" name="Rectangle 35"/>
          <p:cNvSpPr/>
          <p:nvPr/>
        </p:nvSpPr>
        <p:spPr>
          <a:xfrm>
            <a:off x="6208776" y="3438144"/>
            <a:ext cx="5202936" cy="148132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7" name="Rectangle 36"/>
          <p:cNvSpPr/>
          <p:nvPr/>
        </p:nvSpPr>
        <p:spPr>
          <a:xfrm>
            <a:off x="6208776" y="3438144"/>
            <a:ext cx="45720" cy="148132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TextBox 37"/>
          <p:cNvSpPr txBox="1"/>
          <p:nvPr/>
        </p:nvSpPr>
        <p:spPr>
          <a:xfrm>
            <a:off x="6364224" y="3502152"/>
            <a:ext cx="4956048" cy="1389888"/>
          </a:xfrm>
          <a:prstGeom prst="rect">
            <a:avLst/>
          </a:prstGeom>
          <a:noFill/>
        </p:spPr>
        <p:txBody>
          <a:bodyPr wrap="square" lIns="0" rIns="0" tIns="0" bIns="0" anchor="t">
            <a:spAutoFit/>
          </a:bodyPr>
          <a:lstStyle/>
          <a:p>
            <a:pPr algn="l"/>
            <a:r>
              <a:rPr sz="1250" b="1" i="0">
                <a:solidFill>
                  <a:srgbClr val="8A1626"/>
                </a:solidFill>
              </a:rPr>
              <a:t>4 · Vol surfaces: sanity</a:t>
            </a:r>
            <a:r>
              <a:rPr sz="1100" b="0" i="1">
                <a:solidFill>
                  <a:srgbClr val="4A5058"/>
                </a:solidFill>
              </a:rPr>
              <a:t>   critical</a:t>
            </a:r>
          </a:p>
          <a:p>
            <a:pPr algn="l" marL="146304" indent="-146304">
              <a:spcAft>
                <a:spcPts val="200"/>
              </a:spcAft>
              <a:buClr>
                <a:srgbClr val="A51C30"/>
              </a:buClr>
              <a:buSzPct val="100000"/>
              <a:buFont typeface="Arial"/>
              <a:buChar char="▪"/>
            </a:pPr>
            <a:r>
              <a:rPr sz="1100" b="0" i="0">
                <a:solidFill>
                  <a:srgbClr val="1A1A1A"/>
                </a:solidFill>
              </a:rPr>
              <a:t>a vol at or below zero (risk reversals and butterflies may be negative)</a:t>
            </a:r>
          </a:p>
          <a:p>
            <a:pPr algn="l" marL="146304" indent="-146304">
              <a:spcAft>
                <a:spcPts val="200"/>
              </a:spcAft>
              <a:buClr>
                <a:srgbClr val="A51C30"/>
              </a:buClr>
              <a:buSzPct val="100000"/>
              <a:buFont typeface="Arial"/>
              <a:buChar char="▪"/>
            </a:pPr>
            <a:r>
              <a:rPr sz="1100" b="0" i="0">
                <a:solidFill>
                  <a:srgbClr val="1A1A1A"/>
                </a:solidFill>
              </a:rPr>
              <a:t>ATM total variance (vol² × T) falling with expiry, on the FX and equity surfaces</a:t>
            </a:r>
          </a:p>
        </p:txBody>
      </p:sp>
      <p:sp>
        <p:nvSpPr>
          <p:cNvPr id="39" name="Rectangle 38"/>
          <p:cNvSpPr/>
          <p:nvPr/>
        </p:nvSpPr>
        <p:spPr>
          <a:xfrm>
            <a:off x="777240" y="5047488"/>
            <a:ext cx="10634472" cy="1216151"/>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0" name="Rounded Rectangle 39"/>
          <p:cNvSpPr/>
          <p:nvPr/>
        </p:nvSpPr>
        <p:spPr>
          <a:xfrm>
            <a:off x="914400" y="5157216"/>
            <a:ext cx="598932" cy="201168"/>
          </a:xfrm>
          <a:prstGeom prst="roundRect">
            <a:avLst>
              <a:gd name="adj" fmla="val 50000"/>
            </a:avLst>
          </a:prstGeom>
          <a:solidFill>
            <a:srgbClr val="FFFFFF"/>
          </a:solidFill>
          <a:ln w="12700">
            <a:solidFill>
              <a:srgbClr val="293352"/>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293352"/>
                </a:solidFill>
              </a:rPr>
              <a:t>PLANNED</a:t>
            </a:r>
          </a:p>
        </p:txBody>
      </p:sp>
      <p:sp>
        <p:nvSpPr>
          <p:cNvPr id="41" name="TextBox 40"/>
          <p:cNvSpPr txBox="1"/>
          <p:nvPr/>
        </p:nvSpPr>
        <p:spPr>
          <a:xfrm>
            <a:off x="1650492" y="5093208"/>
            <a:ext cx="9624060" cy="329184"/>
          </a:xfrm>
          <a:prstGeom prst="rect">
            <a:avLst/>
          </a:prstGeom>
          <a:noFill/>
        </p:spPr>
        <p:txBody>
          <a:bodyPr wrap="square" lIns="0" rIns="0" tIns="0" bIns="0" anchor="ctr">
            <a:spAutoFit/>
          </a:bodyPr>
          <a:lstStyle/>
          <a:p>
            <a:pPr algn="l"/>
            <a:r>
              <a:rPr sz="1250" b="1" i="0">
                <a:solidFill>
                  <a:srgbClr val="8A1626"/>
                </a:solidFill>
              </a:rPr>
              <a:t>Impact on VaR</a:t>
            </a:r>
          </a:p>
        </p:txBody>
      </p:sp>
      <p:sp>
        <p:nvSpPr>
          <p:cNvPr id="42" name="TextBox 41"/>
          <p:cNvSpPr txBox="1"/>
          <p:nvPr/>
        </p:nvSpPr>
        <p:spPr>
          <a:xfrm>
            <a:off x="914400" y="5431536"/>
            <a:ext cx="10360152" cy="804671"/>
          </a:xfrm>
          <a:prstGeom prst="rect">
            <a:avLst/>
          </a:prstGeom>
          <a:noFill/>
        </p:spPr>
        <p:txBody>
          <a:bodyPr wrap="square" lIns="0" rIns="0" tIns="0" bIns="0" anchor="t">
            <a:spAutoFit/>
          </a:bodyPr>
          <a:lstStyle/>
          <a:p>
            <a:pPr algn="l" marL="146304" indent="-146304">
              <a:spcAft>
                <a:spcPts val="200"/>
              </a:spcAft>
              <a:buClr>
                <a:srgbClr val="A51C30"/>
              </a:buClr>
              <a:buSzPct val="100000"/>
              <a:buFont typeface="Arial"/>
              <a:buChar char="▪"/>
            </a:pPr>
            <a:r>
              <a:rPr sz="1100" b="0" i="0">
                <a:solidFill>
                  <a:srgbClr val="1A1A1A"/>
                </a:solidFill>
              </a:rPr>
              <a:t>who uses each flagged point and the VaR at stake; jumps over n σ as a quality check; two sources disagreeing (the lake holds one source per kind today)</a:t>
            </a:r>
          </a:p>
          <a:p>
            <a:pPr algn="l" marL="146304" indent="-146304">
              <a:spcAft>
                <a:spcPts val="200"/>
              </a:spcAft>
              <a:buClr>
                <a:srgbClr val="A51C30"/>
              </a:buClr>
              <a:buSzPct val="100000"/>
              <a:buFont typeface="Arial"/>
              <a:buChar char="▪"/>
            </a:pPr>
            <a:r>
              <a:rPr sz="1100" b="0" i="0">
                <a:solidFill>
                  <a:srgbClr val="1A1A1A"/>
                </a:solidFill>
              </a:rPr>
              <a:t>Today the Quality landing says so in place of the figure: impact on VaR and valuations comes later</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DRISHTI MARKET · HOME</a:t>
            </a:r>
          </a:p>
        </p:txBody>
      </p:sp>
      <p:sp>
        <p:nvSpPr>
          <p:cNvPr id="3" name="Title 2"/>
          <p:cNvSpPr>
            <a:spLocks noGrp="1"/>
          </p:cNvSpPr>
          <p:nvPr>
            <p:ph type="title" idx="104"/>
          </p:nvPr>
        </p:nvSpPr>
        <p:spPr/>
        <p:txBody>
          <a:bodyPr/>
          <a:lstStyle/>
          <a:p>
            <a:r>
              <a:t>Drishti Market's three landings: desk, explorer and quality</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pic>
        <p:nvPicPr>
          <p:cNvPr id="26" name="Picture 25" descr="market-desk.jpg"/>
          <p:cNvPicPr>
            <a:picLocks noChangeAspect="1"/>
          </p:cNvPicPr>
          <p:nvPr/>
        </p:nvPicPr>
        <p:blipFill>
          <a:blip r:embed="rId2"/>
          <a:stretch>
            <a:fillRect/>
          </a:stretch>
        </p:blipFill>
        <p:spPr>
          <a:xfrm>
            <a:off x="777240" y="1417320"/>
            <a:ext cx="3422904" cy="1819210"/>
          </a:xfrm>
          <a:prstGeom prst="rect">
            <a:avLst/>
          </a:prstGeom>
          <a:ln w="9525">
            <a:solidFill>
              <a:srgbClr val="E3DED7"/>
            </a:solidFill>
          </a:ln>
        </p:spPr>
      </p:pic>
      <p:pic>
        <p:nvPicPr>
          <p:cNvPr id="27" name="Picture 26" descr="market-explorer.jpg"/>
          <p:cNvPicPr>
            <a:picLocks noChangeAspect="1"/>
          </p:cNvPicPr>
          <p:nvPr/>
        </p:nvPicPr>
        <p:blipFill>
          <a:blip r:embed="rId3"/>
          <a:srcRect b="596"/>
          <a:stretch>
            <a:fillRect/>
          </a:stretch>
        </p:blipFill>
        <p:spPr>
          <a:xfrm>
            <a:off x="4383024" y="1417320"/>
            <a:ext cx="3422904" cy="1874519"/>
          </a:xfrm>
          <a:prstGeom prst="rect">
            <a:avLst/>
          </a:prstGeom>
          <a:ln w="9525">
            <a:solidFill>
              <a:srgbClr val="E3DED7"/>
            </a:solidFill>
          </a:ln>
        </p:spPr>
      </p:pic>
      <p:pic>
        <p:nvPicPr>
          <p:cNvPr id="28" name="Picture 27" descr="market-quality.jpg"/>
          <p:cNvPicPr>
            <a:picLocks noChangeAspect="1"/>
          </p:cNvPicPr>
          <p:nvPr/>
        </p:nvPicPr>
        <p:blipFill>
          <a:blip r:embed="rId4"/>
          <a:srcRect b="1425"/>
          <a:stretch>
            <a:fillRect/>
          </a:stretch>
        </p:blipFill>
        <p:spPr>
          <a:xfrm>
            <a:off x="7988808" y="1417320"/>
            <a:ext cx="3422904" cy="1874519"/>
          </a:xfrm>
          <a:prstGeom prst="rect">
            <a:avLst/>
          </a:prstGeom>
          <a:ln w="9525">
            <a:solidFill>
              <a:srgbClr val="E3DED7"/>
            </a:solidFill>
          </a:ln>
        </p:spPr>
      </p:pic>
      <p:sp>
        <p:nvSpPr>
          <p:cNvPr id="29" name="Rectangle 28"/>
          <p:cNvSpPr/>
          <p:nvPr/>
        </p:nvSpPr>
        <p:spPr>
          <a:xfrm>
            <a:off x="777240" y="3401568"/>
            <a:ext cx="3422904" cy="13716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Rectangle 29"/>
          <p:cNvSpPr/>
          <p:nvPr/>
        </p:nvSpPr>
        <p:spPr>
          <a:xfrm>
            <a:off x="777240" y="3401568"/>
            <a:ext cx="45720" cy="13716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TextBox 30"/>
          <p:cNvSpPr txBox="1"/>
          <p:nvPr/>
        </p:nvSpPr>
        <p:spPr>
          <a:xfrm>
            <a:off x="932688" y="3474720"/>
            <a:ext cx="3176016" cy="1261872"/>
          </a:xfrm>
          <a:prstGeom prst="rect">
            <a:avLst/>
          </a:prstGeom>
          <a:noFill/>
        </p:spPr>
        <p:txBody>
          <a:bodyPr wrap="square" lIns="0" rIns="0" tIns="0" bIns="0" anchor="t">
            <a:spAutoFit/>
          </a:bodyPr>
          <a:lstStyle/>
          <a:p>
            <a:pPr algn="l">
              <a:spcAft>
                <a:spcPts val="300"/>
              </a:spcAft>
            </a:pPr>
            <a:r>
              <a:rPr sz="1250" b="1" i="0">
                <a:solidFill>
                  <a:srgbClr val="8A1626"/>
                </a:solidFill>
              </a:rPr>
              <a:t>A · Market desk (the default)</a:t>
            </a:r>
          </a:p>
          <a:p>
            <a:pPr algn="l" marL="146304" indent="-146304">
              <a:spcAft>
                <a:spcPts val="200"/>
              </a:spcAft>
              <a:buClr>
                <a:srgbClr val="A51C30"/>
              </a:buClr>
              <a:buSzPct val="100000"/>
              <a:buFont typeface="Arial"/>
              <a:buChar char="▪"/>
            </a:pPr>
            <a:r>
              <a:rPr sz="1100" b="0" i="0">
                <a:solidFill>
                  <a:srgbClr val="1A1A1A"/>
                </a:solidFill>
              </a:rPr>
              <a:t>tiles: USD OIS 10Y, USD 2s10s, EUR/USD 1M ATM vol, CDS 5Y median, data exceptions</a:t>
            </a:r>
          </a:p>
          <a:p>
            <a:pPr algn="l" marL="146304" indent="-146304">
              <a:spcAft>
                <a:spcPts val="200"/>
              </a:spcAft>
              <a:buClr>
                <a:srgbClr val="A51C30"/>
              </a:buClr>
              <a:buSzPct val="100000"/>
              <a:buFont typeface="Arial"/>
              <a:buChar char="▪"/>
            </a:pPr>
            <a:r>
              <a:rPr sz="1100" b="0" i="0">
                <a:solidFill>
                  <a:srgbClr val="1A1A1A"/>
                </a:solidFill>
              </a:rPr>
              <a:t>USD curves, today against a week before</a:t>
            </a:r>
          </a:p>
          <a:p>
            <a:pPr algn="l" marL="146304" indent="-146304">
              <a:spcAft>
                <a:spcPts val="200"/>
              </a:spcAft>
              <a:buClr>
                <a:srgbClr val="A51C30"/>
              </a:buClr>
              <a:buSzPct val="100000"/>
              <a:buFont typeface="Arial"/>
              <a:buChar char="▪"/>
            </a:pPr>
            <a:r>
              <a:rPr sz="1100" b="0" i="0">
                <a:solidFill>
                  <a:srgbClr val="1A1A1A"/>
                </a:solidFill>
              </a:rPr>
              <a:t>biggest moves over 21 business days, in σ of each item's own moves</a:t>
            </a:r>
          </a:p>
        </p:txBody>
      </p:sp>
      <p:sp>
        <p:nvSpPr>
          <p:cNvPr id="32" name="Rectangle 31"/>
          <p:cNvSpPr/>
          <p:nvPr/>
        </p:nvSpPr>
        <p:spPr>
          <a:xfrm>
            <a:off x="4383024" y="3401568"/>
            <a:ext cx="3422904" cy="13716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Rectangle 32"/>
          <p:cNvSpPr/>
          <p:nvPr/>
        </p:nvSpPr>
        <p:spPr>
          <a:xfrm>
            <a:off x="4383024" y="3401568"/>
            <a:ext cx="45720" cy="13716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TextBox 33"/>
          <p:cNvSpPr txBox="1"/>
          <p:nvPr/>
        </p:nvSpPr>
        <p:spPr>
          <a:xfrm>
            <a:off x="4538472" y="3474720"/>
            <a:ext cx="3176016" cy="1261872"/>
          </a:xfrm>
          <a:prstGeom prst="rect">
            <a:avLst/>
          </a:prstGeom>
          <a:noFill/>
        </p:spPr>
        <p:txBody>
          <a:bodyPr wrap="square" lIns="0" rIns="0" tIns="0" bIns="0" anchor="t">
            <a:spAutoFit/>
          </a:bodyPr>
          <a:lstStyle/>
          <a:p>
            <a:pPr algn="l">
              <a:spcAft>
                <a:spcPts val="300"/>
              </a:spcAft>
            </a:pPr>
            <a:r>
              <a:rPr sz="1250" b="1" i="0">
                <a:solidFill>
                  <a:srgbClr val="8A1626"/>
                </a:solidFill>
              </a:rPr>
              <a:t>B · Explorer</a:t>
            </a:r>
          </a:p>
          <a:p>
            <a:pPr algn="l" marL="146304" indent="-146304">
              <a:spcAft>
                <a:spcPts val="200"/>
              </a:spcAft>
              <a:buClr>
                <a:srgbClr val="A51C30"/>
              </a:buClr>
              <a:buSzPct val="100000"/>
              <a:buFont typeface="Arial"/>
              <a:buChar char="▪"/>
            </a:pPr>
            <a:r>
              <a:rPr sz="1100" b="0" i="0">
                <a:solidFill>
                  <a:srgbClr val="1A1A1A"/>
                </a:solidFill>
              </a:rPr>
              <a:t>a big command line and the edition's chips</a:t>
            </a:r>
          </a:p>
          <a:p>
            <a:pPr algn="l" marL="146304" indent="-146304">
              <a:spcAft>
                <a:spcPts val="200"/>
              </a:spcAft>
              <a:buClr>
                <a:srgbClr val="A51C30"/>
              </a:buClr>
              <a:buSzPct val="100000"/>
              <a:buFont typeface="Arial"/>
              <a:buChar char="▪"/>
            </a:pPr>
            <a:r>
              <a:rPr sz="1100" b="0" i="0">
                <a:solidFill>
                  <a:srgbClr val="1A1A1A"/>
                </a:solidFill>
              </a:rPr>
              <a:t>counts by asset class: rates, FX, credit and bonds, equity and commodities</a:t>
            </a:r>
          </a:p>
          <a:p>
            <a:pPr algn="l" marL="146304" indent="-146304">
              <a:spcAft>
                <a:spcPts val="200"/>
              </a:spcAft>
              <a:buClr>
                <a:srgbClr val="A51C30"/>
              </a:buClr>
              <a:buSzPct val="100000"/>
              <a:buFont typeface="Arial"/>
              <a:buChar char="▪"/>
            </a:pPr>
            <a:r>
              <a:rPr sz="1100" b="0" i="0">
                <a:solidFill>
                  <a:srgbClr val="1A1A1A"/>
                </a:solidFill>
              </a:rPr>
              <a:t>the commands by asset class; recently opened; Knowledge, Data map, Learn</a:t>
            </a:r>
          </a:p>
        </p:txBody>
      </p:sp>
      <p:sp>
        <p:nvSpPr>
          <p:cNvPr id="35" name="Rectangle 34"/>
          <p:cNvSpPr/>
          <p:nvPr/>
        </p:nvSpPr>
        <p:spPr>
          <a:xfrm>
            <a:off x="7988808" y="3401568"/>
            <a:ext cx="3422904" cy="13716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Rectangle 35"/>
          <p:cNvSpPr/>
          <p:nvPr/>
        </p:nvSpPr>
        <p:spPr>
          <a:xfrm>
            <a:off x="7988808" y="3401568"/>
            <a:ext cx="45720" cy="13716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7" name="TextBox 36"/>
          <p:cNvSpPr txBox="1"/>
          <p:nvPr/>
        </p:nvSpPr>
        <p:spPr>
          <a:xfrm>
            <a:off x="8144256" y="3474720"/>
            <a:ext cx="3176016" cy="1261872"/>
          </a:xfrm>
          <a:prstGeom prst="rect">
            <a:avLst/>
          </a:prstGeom>
          <a:noFill/>
        </p:spPr>
        <p:txBody>
          <a:bodyPr wrap="square" lIns="0" rIns="0" tIns="0" bIns="0" anchor="t">
            <a:spAutoFit/>
          </a:bodyPr>
          <a:lstStyle/>
          <a:p>
            <a:pPr algn="l">
              <a:spcAft>
                <a:spcPts val="300"/>
              </a:spcAft>
            </a:pPr>
            <a:r>
              <a:rPr sz="1250" b="1" i="0">
                <a:solidFill>
                  <a:srgbClr val="8A1626"/>
                </a:solidFill>
              </a:rPr>
              <a:t>C · Quality</a:t>
            </a:r>
          </a:p>
          <a:p>
            <a:pPr algn="l" marL="146304" indent="-146304">
              <a:spcAft>
                <a:spcPts val="200"/>
              </a:spcAft>
              <a:buClr>
                <a:srgbClr val="A51C30"/>
              </a:buClr>
              <a:buSzPct val="100000"/>
              <a:buFont typeface="Arial"/>
              <a:buChar char="▪"/>
            </a:pPr>
            <a:r>
              <a:rPr sz="1100" b="0" i="0">
                <a:solidFill>
                  <a:srgbClr val="1A1A1A"/>
                </a:solidFill>
              </a:rPr>
              <a:t>the four checks, worst first: stale, gaps, discount factors and forwards, vol surfaces</a:t>
            </a:r>
          </a:p>
          <a:p>
            <a:pPr algn="l" marL="146304" indent="-146304">
              <a:spcAft>
                <a:spcPts val="200"/>
              </a:spcAft>
              <a:buClr>
                <a:srgbClr val="A51C30"/>
              </a:buClr>
              <a:buSzPct val="100000"/>
              <a:buFont typeface="Arial"/>
              <a:buChar char="▪"/>
            </a:pPr>
            <a:r>
              <a:rPr sz="1100" b="0" i="0">
                <a:solidFill>
                  <a:srgbClr val="1A1A1A"/>
                </a:solidFill>
              </a:rPr>
              <a:t>Critical, Warnings, Clean; the Checks run card</a:t>
            </a:r>
          </a:p>
          <a:p>
            <a:pPr algn="l" marL="146304" indent="-146304">
              <a:spcAft>
                <a:spcPts val="200"/>
              </a:spcAft>
              <a:buClr>
                <a:srgbClr val="A51C30"/>
              </a:buClr>
              <a:buSzPct val="100000"/>
              <a:buFont typeface="Arial"/>
              <a:buChar char="▪"/>
            </a:pPr>
            <a:r>
              <a:rPr sz="1100" b="0" i="0">
                <a:solidFill>
                  <a:srgbClr val="1A1A1A"/>
                </a:solidFill>
              </a:rPr>
              <a:t>the impact on VaR: a note, not a figure (planned)</a:t>
            </a:r>
          </a:p>
        </p:txBody>
      </p:sp>
      <p:sp>
        <p:nvSpPr>
          <p:cNvPr id="38" name="Rectangle 37"/>
          <p:cNvSpPr/>
          <p:nvPr/>
        </p:nvSpPr>
        <p:spPr>
          <a:xfrm>
            <a:off x="777240" y="4910328"/>
            <a:ext cx="10634472" cy="941832"/>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Rectangle 38"/>
          <p:cNvSpPr/>
          <p:nvPr/>
        </p:nvSpPr>
        <p:spPr>
          <a:xfrm>
            <a:off x="777240" y="4910328"/>
            <a:ext cx="54864" cy="94183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0" name="TextBox 39"/>
          <p:cNvSpPr txBox="1"/>
          <p:nvPr/>
        </p:nvSpPr>
        <p:spPr>
          <a:xfrm>
            <a:off x="1005840" y="4910328"/>
            <a:ext cx="10314432" cy="941832"/>
          </a:xfrm>
          <a:prstGeom prst="rect">
            <a:avLst/>
          </a:prstGeom>
          <a:noFill/>
        </p:spPr>
        <p:txBody>
          <a:bodyPr wrap="square" lIns="0" rIns="0" tIns="0" bIns="0" anchor="ctr">
            <a:spAutoFit/>
          </a:bodyPr>
          <a:lstStyle/>
          <a:p>
            <a:pPr algn="l"/>
            <a:r>
              <a:rPr sz="1150" b="1" i="0">
                <a:solidFill>
                  <a:srgbClr val="A51C30"/>
                </a:solidFill>
              </a:rPr>
              <a:t>Every figure is the pack's own answer.  </a:t>
            </a:r>
            <a:r>
              <a:rPr sz="1100" b="0" i="0">
                <a:solidFill>
                  <a:srgbClr val="1A1A1A"/>
                </a:solidFill>
              </a:rPr>
              <a:t>Worked out in the console from the market data's search, documents and history; read-only, cached two minutes per person. A day-over-day change only from real data on both days; otherwise the tile says so.</a:t>
            </a:r>
          </a:p>
        </p:txBody>
      </p:sp>
      <p:sp>
        <p:nvSpPr>
          <p:cNvPr id="41" name="TextBox 40"/>
          <p:cNvSpPr txBox="1"/>
          <p:nvPr/>
        </p:nvSpPr>
        <p:spPr>
          <a:xfrm>
            <a:off x="777240" y="5897880"/>
            <a:ext cx="10634472" cy="365760"/>
          </a:xfrm>
          <a:prstGeom prst="rect">
            <a:avLst/>
          </a:prstGeom>
          <a:noFill/>
        </p:spPr>
        <p:txBody>
          <a:bodyPr wrap="square" lIns="0" rIns="0" tIns="0" bIns="0" anchor="ctr">
            <a:spAutoFit/>
          </a:bodyPr>
          <a:lstStyle/>
          <a:p>
            <a:pPr algn="l"/>
            <a:r>
              <a:rPr sz="1100" b="0" i="1">
                <a:solidFill>
                  <a:srgbClr val="4A5058"/>
                </a:solidFill>
              </a:rPr>
              <a:t>Pictures from the browser tests' stand-in server, with known problems seeded on purpose; the demo data's checks are all clean.</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DRISHTI WORLD · CONTEXT FOR RISK</a:t>
            </a:r>
          </a:p>
        </p:txBody>
      </p:sp>
      <p:sp>
        <p:nvSpPr>
          <p:cNvPr id="3" name="Title 2"/>
          <p:cNvSpPr>
            <a:spLocks noGrp="1"/>
          </p:cNvSpPr>
          <p:nvPr>
            <p:ph type="title" idx="104"/>
          </p:nvPr>
        </p:nvSpPr>
        <p:spPr/>
        <p:txBody>
          <a:bodyPr/>
          <a:lstStyle/>
          <a:p>
            <a:r>
              <a:t>Drishti World: the macro context for risk</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371600"/>
            <a:ext cx="10634472" cy="603504"/>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Rectangle 26"/>
          <p:cNvSpPr/>
          <p:nvPr/>
        </p:nvSpPr>
        <p:spPr>
          <a:xfrm>
            <a:off x="777240" y="1371600"/>
            <a:ext cx="54864" cy="60350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1005840" y="1371600"/>
            <a:ext cx="10314432" cy="603504"/>
          </a:xfrm>
          <a:prstGeom prst="rect">
            <a:avLst/>
          </a:prstGeom>
          <a:noFill/>
        </p:spPr>
        <p:txBody>
          <a:bodyPr wrap="square" lIns="0" rIns="0" tIns="0" bIns="0" anchor="ctr">
            <a:spAutoFit/>
          </a:bodyPr>
          <a:lstStyle/>
          <a:p>
            <a:pPr algn="l"/>
            <a:r>
              <a:rPr sz="1200" b="1" i="0">
                <a:solidFill>
                  <a:srgbClr val="A51C30"/>
                </a:solidFill>
              </a:rPr>
              <a:t>Why a risk user cares.  </a:t>
            </a:r>
            <a:r>
              <a:rPr sz="1150" b="0" i="0">
                <a:solidFill>
                  <a:srgbClr val="1A1A1A"/>
                </a:solidFill>
              </a:rPr>
              <a:t>A VaR or exposure move has a story outside the bank: an economy's growth, inflation or debt, the day's news, a company's filings, an entity's owners, a fund's holdings. Drishti World puts that public context one command away.</a:t>
            </a:r>
          </a:p>
        </p:txBody>
      </p:sp>
      <p:graphicFrame>
        <p:nvGraphicFramePr>
          <p:cNvPr id="29" name="Table 28"/>
          <p:cNvGraphicFramePr>
            <a:graphicFrameLocks noGrp="1"/>
          </p:cNvGraphicFramePr>
          <p:nvPr/>
        </p:nvGraphicFramePr>
        <p:xfrm>
          <a:off x="777240" y="2121408"/>
          <a:ext cx="7315200" cy="3072384"/>
        </p:xfrm>
        <a:graphic>
          <a:graphicData uri="http://schemas.openxmlformats.org/drawingml/2006/table">
            <a:tbl>
              <a:tblPr firstRow="0" bandRow="0">
                <a:tableStyleId>{5940675A-B579-460E-94D1-54222C63F5DA}</a:tableStyleId>
              </a:tblPr>
              <a:tblGrid>
                <a:gridCol w="1417320"/>
                <a:gridCol w="3017520"/>
                <a:gridCol w="2880360"/>
              </a:tblGrid>
              <a:tr h="512064">
                <a:tc>
                  <a:txBody>
                    <a:bodyPr wrap="square"/>
                    <a:lstStyle/>
                    <a:p>
                      <a:r>
                        <a:rPr sz="1100" b="1" i="0">
                          <a:solidFill>
                            <a:srgbClr val="FFFFFF"/>
                          </a:solidFill>
                        </a:rPr>
                        <a:t>Pack</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Commands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The context it gives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512064">
                <a:tc>
                  <a:txBody>
                    <a:bodyPr wrap="square"/>
                    <a:lstStyle/>
                    <a:p>
                      <a:r>
                        <a:rPr sz="1100" b="1" i="0">
                          <a:solidFill>
                            <a:srgbClr val="8A1626"/>
                          </a:solidFill>
                        </a:rPr>
                        <a:t>Economies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00" b="1" i="0">
                          <a:solidFill>
                            <a:srgbClr val="A51C30"/>
                          </a:solidFill>
                          <a:latin typeface="Courier New"/>
                        </a:rPr>
                        <a:t>ECON · MACRO · FCST · LABR · FISC · ECG · REGE · JUR · PARTY · OFFC · ELEC · REGN · SOCI</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economies and regions: growth, inflation, debt, labour, fiscal; jurisdictions, parties, elections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512064">
                <a:tc>
                  <a:txBody>
                    <a:bodyPr wrap="square"/>
                    <a:lstStyle/>
                    <a:p>
                      <a:r>
                        <a:rPr sz="1100" b="1" i="0">
                          <a:solidFill>
                            <a:srgbClr val="8A1626"/>
                          </a:solidFill>
                        </a:rPr>
                        <a:t>News and markets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00" b="1" i="0">
                          <a:solidFill>
                            <a:srgbClr val="A51C30"/>
                          </a:solidFill>
                          <a:latin typeface="Courier New"/>
                        </a:rPr>
                        <a:t>TOPIC · NEWS · CO · QUOTE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news by topic; companies; a market snapshot of quotes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512064">
                <a:tc>
                  <a:txBody>
                    <a:bodyPr wrap="square"/>
                    <a:lstStyle/>
                    <a:p>
                      <a:r>
                        <a:rPr sz="1100" b="1" i="0">
                          <a:solidFill>
                            <a:srgbClr val="8A1626"/>
                          </a:solidFill>
                        </a:rPr>
                        <a:t>Companies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00" b="1" i="0">
                          <a:solidFill>
                            <a:srgbClr val="A51C30"/>
                          </a:solidFill>
                          <a:latin typeface="Courier New"/>
                        </a:rPr>
                        <a:t>USEQ · IDX · SIC · EDGAR · FILING · FACT · PXH</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US companies, indices, sectors, SEC filings and facts, price history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512064">
                <a:tc>
                  <a:txBody>
                    <a:bodyPr wrap="square"/>
                    <a:lstStyle/>
                    <a:p>
                      <a:r>
                        <a:rPr sz="1100" b="1" i="0">
                          <a:solidFill>
                            <a:srgbClr val="8A1626"/>
                          </a:solidFill>
                        </a:rPr>
                        <a:t>Legal entities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00" b="1" i="0">
                          <a:solidFill>
                            <a:srgbClr val="A51C30"/>
                          </a:solidFill>
                          <a:latin typeface="Courier New"/>
                        </a:rPr>
                        <a:t>LEI · LEIG · LEIR · LEIC · LEIM</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GLEIF: entities, groups, parents and children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512064">
                <a:tc>
                  <a:txBody>
                    <a:bodyPr wrap="square"/>
                    <a:lstStyle/>
                    <a:p>
                      <a:r>
                        <a:rPr sz="1100" b="1" i="0">
                          <a:solidFill>
                            <a:srgbClr val="8A1626"/>
                          </a:solidFill>
                        </a:rPr>
                        <a:t>Funds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00" b="1" i="0">
                          <a:solidFill>
                            <a:srgbClr val="A51C30"/>
                          </a:solidFill>
                          <a:latin typeface="Courier New"/>
                        </a:rPr>
                        <a:t>FUND · HELD · TRACK</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funds and ETFs, what they hold, the index each tracks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bl>
          </a:graphicData>
        </a:graphic>
      </p:graphicFrame>
      <p:sp>
        <p:nvSpPr>
          <p:cNvPr id="30" name="Rectangle 29"/>
          <p:cNvSpPr/>
          <p:nvPr/>
        </p:nvSpPr>
        <p:spPr>
          <a:xfrm>
            <a:off x="8321040" y="2121408"/>
            <a:ext cx="3090672" cy="283464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Rectangle 30"/>
          <p:cNvSpPr/>
          <p:nvPr/>
        </p:nvSpPr>
        <p:spPr>
          <a:xfrm>
            <a:off x="8321040" y="2121408"/>
            <a:ext cx="45720" cy="2834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TextBox 31"/>
          <p:cNvSpPr txBox="1"/>
          <p:nvPr/>
        </p:nvSpPr>
        <p:spPr>
          <a:xfrm>
            <a:off x="8476488" y="2185415"/>
            <a:ext cx="2852928" cy="2743200"/>
          </a:xfrm>
          <a:prstGeom prst="rect">
            <a:avLst/>
          </a:prstGeom>
          <a:noFill/>
        </p:spPr>
        <p:txBody>
          <a:bodyPr wrap="square" lIns="0" rIns="0" tIns="0" bIns="0" anchor="t">
            <a:spAutoFit/>
          </a:bodyPr>
          <a:lstStyle/>
          <a:p>
            <a:pPr algn="l">
              <a:spcAft>
                <a:spcPts val="300"/>
              </a:spcAft>
            </a:pPr>
            <a:r>
              <a:rPr sz="1300" b="1" i="0">
                <a:solidFill>
                  <a:srgbClr val="8A1626"/>
                </a:solidFill>
              </a:rPr>
              <a:t>One file: config/editions/world.yaml</a:t>
            </a:r>
          </a:p>
          <a:p>
            <a:pPr algn="l" marL="146304" indent="-146304">
              <a:spcAft>
                <a:spcPts val="200"/>
              </a:spcAft>
              <a:buClr>
                <a:srgbClr val="A51C30"/>
              </a:buClr>
              <a:buSzPct val="100000"/>
              <a:buFont typeface="Arial"/>
              <a:buChar char="▪"/>
            </a:pPr>
            <a:r>
              <a:rPr sz="1100" b="0" i="0">
                <a:solidFill>
                  <a:srgbClr val="1A1A1A"/>
                </a:solidFill>
              </a:rPr>
              <a:t>the public-data packs, allow-only: world-economy, news-and-markets, us-equities, gleif, funds</a:t>
            </a:r>
          </a:p>
          <a:p>
            <a:pPr algn="l" marL="146304" indent="-146304">
              <a:spcAft>
                <a:spcPts val="200"/>
              </a:spcAft>
              <a:buClr>
                <a:srgbClr val="A51C30"/>
              </a:buClr>
              <a:buSzPct val="100000"/>
              <a:buFont typeface="Arial"/>
              <a:buChar char="▪"/>
            </a:pPr>
            <a:r>
              <a:rPr sz="1100" b="0" i="0">
                <a:solidFill>
                  <a:srgbClr val="1A1A1A"/>
                </a:solidFill>
              </a:rPr>
              <a:t>their 32 commands; VAR, EXP and every risk command hidden</a:t>
            </a:r>
          </a:p>
          <a:p>
            <a:pPr algn="l" marL="146304" indent="-146304">
              <a:spcAft>
                <a:spcPts val="200"/>
              </a:spcAft>
              <a:buClr>
                <a:srgbClr val="A51C30"/>
              </a:buClr>
              <a:buSzPct val="100000"/>
              <a:buFont typeface="Arial"/>
              <a:buChar char="▪"/>
            </a:pPr>
            <a:r>
              <a:rPr sz="1100" b="0" i="0">
                <a:solidFill>
                  <a:srgbClr val="1A1A1A"/>
                </a:solidFill>
              </a:rPr>
              <a:t>Home: World desk (the default), Explorer, World map</a:t>
            </a:r>
          </a:p>
          <a:p>
            <a:pPr algn="l" marL="146304" indent="-146304">
              <a:spcAft>
                <a:spcPts val="200"/>
              </a:spcAft>
              <a:buClr>
                <a:srgbClr val="A51C30"/>
              </a:buClr>
              <a:buSzPct val="100000"/>
              <a:buFont typeface="Arial"/>
              <a:buChar char="▪"/>
            </a:pPr>
            <a:r>
              <a:rPr sz="1100" b="0" i="0">
                <a:solidFill>
                  <a:srgbClr val="1A1A1A"/>
                </a:solidFill>
              </a:rPr>
              <a:t>a lens beside Drishti Risk: Switch to … in one step</a:t>
            </a:r>
          </a:p>
        </p:txBody>
      </p:sp>
      <p:sp>
        <p:nvSpPr>
          <p:cNvPr id="33" name="Rectangle 32"/>
          <p:cNvSpPr/>
          <p:nvPr/>
        </p:nvSpPr>
        <p:spPr>
          <a:xfrm>
            <a:off x="777240" y="5257800"/>
            <a:ext cx="10634472" cy="10058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Rectangle 33"/>
          <p:cNvSpPr/>
          <p:nvPr/>
        </p:nvSpPr>
        <p:spPr>
          <a:xfrm>
            <a:off x="777240" y="5257800"/>
            <a:ext cx="45720" cy="10058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TextBox 34"/>
          <p:cNvSpPr txBox="1"/>
          <p:nvPr/>
        </p:nvSpPr>
        <p:spPr>
          <a:xfrm>
            <a:off x="932688" y="5321808"/>
            <a:ext cx="10396728" cy="914400"/>
          </a:xfrm>
          <a:prstGeom prst="rect">
            <a:avLst/>
          </a:prstGeom>
          <a:noFill/>
        </p:spPr>
        <p:txBody>
          <a:bodyPr wrap="square" lIns="0" rIns="0" tIns="0" bIns="0" anchor="t">
            <a:spAutoFit/>
          </a:bodyPr>
          <a:lstStyle/>
          <a:p>
            <a:pPr algn="l">
              <a:spcAft>
                <a:spcPts val="300"/>
              </a:spcAft>
            </a:pPr>
            <a:r>
              <a:rPr sz="1300" b="1" i="0">
                <a:solidFill>
                  <a:srgbClr val="8A1626"/>
                </a:solidFill>
              </a:rPr>
              <a:t>Public data, inside the bank</a:t>
            </a:r>
          </a:p>
          <a:p>
            <a:pPr algn="l" marL="146304" indent="-146304">
              <a:spcAft>
                <a:spcPts val="200"/>
              </a:spcAft>
              <a:buClr>
                <a:srgbClr val="A51C30"/>
              </a:buClr>
              <a:buSzPct val="100000"/>
              <a:buFont typeface="Arial"/>
              <a:buChar char="▪"/>
            </a:pPr>
            <a:r>
              <a:rPr sz="1100" b="0" i="0">
                <a:solidFill>
                  <a:srgbClr val="1A1A1A"/>
                </a:solidFill>
              </a:rPr>
              <a:t>The IMF figures and the market prices in these packs are shown inside the bank; showing Drishti World outside it needs the product owner's decision first</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DRISHTI WORLD · HOME</a:t>
            </a:r>
          </a:p>
        </p:txBody>
      </p:sp>
      <p:sp>
        <p:nvSpPr>
          <p:cNvPr id="3" name="Title 2"/>
          <p:cNvSpPr>
            <a:spLocks noGrp="1"/>
          </p:cNvSpPr>
          <p:nvPr>
            <p:ph type="title" idx="104"/>
          </p:nvPr>
        </p:nvSpPr>
        <p:spPr/>
        <p:txBody>
          <a:bodyPr/>
          <a:lstStyle/>
          <a:p>
            <a:r>
              <a:t>Drishti World's three landings: desk, explorer and map</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pic>
        <p:nvPicPr>
          <p:cNvPr id="26" name="Picture 25" descr="world-desk.jpg"/>
          <p:cNvPicPr>
            <a:picLocks noChangeAspect="1"/>
          </p:cNvPicPr>
          <p:nvPr/>
        </p:nvPicPr>
        <p:blipFill>
          <a:blip r:embed="rId2"/>
          <a:stretch>
            <a:fillRect/>
          </a:stretch>
        </p:blipFill>
        <p:spPr>
          <a:xfrm>
            <a:off x="777240" y="1417320"/>
            <a:ext cx="3422904" cy="1701944"/>
          </a:xfrm>
          <a:prstGeom prst="rect">
            <a:avLst/>
          </a:prstGeom>
          <a:ln w="9525">
            <a:solidFill>
              <a:srgbClr val="E3DED7"/>
            </a:solidFill>
          </a:ln>
        </p:spPr>
      </p:pic>
      <p:pic>
        <p:nvPicPr>
          <p:cNvPr id="27" name="Picture 26" descr="world-explorer.jpg"/>
          <p:cNvPicPr>
            <a:picLocks noChangeAspect="1"/>
          </p:cNvPicPr>
          <p:nvPr/>
        </p:nvPicPr>
        <p:blipFill>
          <a:blip r:embed="rId3"/>
          <a:stretch>
            <a:fillRect/>
          </a:stretch>
        </p:blipFill>
        <p:spPr>
          <a:xfrm>
            <a:off x="4383024" y="1417320"/>
            <a:ext cx="3422904" cy="1226541"/>
          </a:xfrm>
          <a:prstGeom prst="rect">
            <a:avLst/>
          </a:prstGeom>
          <a:ln w="9525">
            <a:solidFill>
              <a:srgbClr val="E3DED7"/>
            </a:solidFill>
          </a:ln>
        </p:spPr>
      </p:pic>
      <p:pic>
        <p:nvPicPr>
          <p:cNvPr id="28" name="Picture 27" descr="world-map.jpg"/>
          <p:cNvPicPr>
            <a:picLocks noChangeAspect="1"/>
          </p:cNvPicPr>
          <p:nvPr/>
        </p:nvPicPr>
        <p:blipFill>
          <a:blip r:embed="rId4"/>
          <a:stretch>
            <a:fillRect/>
          </a:stretch>
        </p:blipFill>
        <p:spPr>
          <a:xfrm>
            <a:off x="7988808" y="1417320"/>
            <a:ext cx="3422904" cy="1619541"/>
          </a:xfrm>
          <a:prstGeom prst="rect">
            <a:avLst/>
          </a:prstGeom>
          <a:ln w="9525">
            <a:solidFill>
              <a:srgbClr val="E3DED7"/>
            </a:solidFill>
          </a:ln>
        </p:spPr>
      </p:pic>
      <p:sp>
        <p:nvSpPr>
          <p:cNvPr id="29" name="Rectangle 28"/>
          <p:cNvSpPr/>
          <p:nvPr/>
        </p:nvSpPr>
        <p:spPr>
          <a:xfrm>
            <a:off x="777240" y="3401568"/>
            <a:ext cx="3422904" cy="13716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Rectangle 29"/>
          <p:cNvSpPr/>
          <p:nvPr/>
        </p:nvSpPr>
        <p:spPr>
          <a:xfrm>
            <a:off x="777240" y="3401568"/>
            <a:ext cx="45720" cy="13716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TextBox 30"/>
          <p:cNvSpPr txBox="1"/>
          <p:nvPr/>
        </p:nvSpPr>
        <p:spPr>
          <a:xfrm>
            <a:off x="932688" y="3474720"/>
            <a:ext cx="3176016" cy="1261872"/>
          </a:xfrm>
          <a:prstGeom prst="rect">
            <a:avLst/>
          </a:prstGeom>
          <a:noFill/>
        </p:spPr>
        <p:txBody>
          <a:bodyPr wrap="square" lIns="0" rIns="0" tIns="0" bIns="0" anchor="t">
            <a:spAutoFit/>
          </a:bodyPr>
          <a:lstStyle/>
          <a:p>
            <a:pPr algn="l">
              <a:spcAft>
                <a:spcPts val="300"/>
              </a:spcAft>
            </a:pPr>
            <a:r>
              <a:rPr sz="1250" b="1" i="0">
                <a:solidFill>
                  <a:srgbClr val="8A1626"/>
                </a:solidFill>
              </a:rPr>
              <a:t>A · World desk (the default)</a:t>
            </a:r>
          </a:p>
          <a:p>
            <a:pPr algn="l" marL="146304" indent="-146304">
              <a:spcAft>
                <a:spcPts val="200"/>
              </a:spcAft>
              <a:buClr>
                <a:srgbClr val="A51C30"/>
              </a:buClr>
              <a:buSzPct val="100000"/>
              <a:buFont typeface="Arial"/>
              <a:buChar char="▪"/>
            </a:pPr>
            <a:r>
              <a:rPr sz="1100" b="0" i="0">
                <a:solidFill>
                  <a:srgbClr val="1A1A1A"/>
                </a:solidFill>
              </a:rPr>
              <a:t>tiles: World GDP growth, quotes up and down, the biggest mover, new SEC filings, funds and ETFs</a:t>
            </a:r>
          </a:p>
          <a:p>
            <a:pPr algn="l" marL="146304" indent="-146304">
              <a:spcAft>
                <a:spcPts val="200"/>
              </a:spcAft>
              <a:buClr>
                <a:srgbClr val="A51C30"/>
              </a:buClr>
              <a:buSzPct val="100000"/>
              <a:buFont typeface="Arial"/>
              <a:buChar char="▪"/>
            </a:pPr>
            <a:r>
              <a:rPr sz="1100" b="0" i="0">
                <a:solidFill>
                  <a:srgbClr val="1A1A1A"/>
                </a:solidFill>
              </a:rPr>
              <a:t>economies that moved: the twelve largest</a:t>
            </a:r>
          </a:p>
          <a:p>
            <a:pPr algn="l" marL="146304" indent="-146304">
              <a:spcAft>
                <a:spcPts val="200"/>
              </a:spcAft>
              <a:buClr>
                <a:srgbClr val="A51C30"/>
              </a:buClr>
              <a:buSzPct val="100000"/>
              <a:buFont typeface="Arial"/>
              <a:buChar char="▪"/>
            </a:pPr>
            <a:r>
              <a:rPr sz="1100" b="0" i="0">
                <a:solidFill>
                  <a:srgbClr val="1A1A1A"/>
                </a:solidFill>
              </a:rPr>
              <a:t>today's news by topic</a:t>
            </a:r>
          </a:p>
        </p:txBody>
      </p:sp>
      <p:sp>
        <p:nvSpPr>
          <p:cNvPr id="32" name="Rectangle 31"/>
          <p:cNvSpPr/>
          <p:nvPr/>
        </p:nvSpPr>
        <p:spPr>
          <a:xfrm>
            <a:off x="4383024" y="3401568"/>
            <a:ext cx="3422904" cy="13716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Rectangle 32"/>
          <p:cNvSpPr/>
          <p:nvPr/>
        </p:nvSpPr>
        <p:spPr>
          <a:xfrm>
            <a:off x="4383024" y="3401568"/>
            <a:ext cx="45720" cy="13716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TextBox 33"/>
          <p:cNvSpPr txBox="1"/>
          <p:nvPr/>
        </p:nvSpPr>
        <p:spPr>
          <a:xfrm>
            <a:off x="4538472" y="3474720"/>
            <a:ext cx="3176016" cy="1261872"/>
          </a:xfrm>
          <a:prstGeom prst="rect">
            <a:avLst/>
          </a:prstGeom>
          <a:noFill/>
        </p:spPr>
        <p:txBody>
          <a:bodyPr wrap="square" lIns="0" rIns="0" tIns="0" bIns="0" anchor="t">
            <a:spAutoFit/>
          </a:bodyPr>
          <a:lstStyle/>
          <a:p>
            <a:pPr algn="l">
              <a:spcAft>
                <a:spcPts val="300"/>
              </a:spcAft>
            </a:pPr>
            <a:r>
              <a:rPr sz="1250" b="1" i="0">
                <a:solidFill>
                  <a:srgbClr val="8A1626"/>
                </a:solidFill>
              </a:rPr>
              <a:t>B · Explorer</a:t>
            </a:r>
          </a:p>
          <a:p>
            <a:pPr algn="l" marL="146304" indent="-146304">
              <a:spcAft>
                <a:spcPts val="200"/>
              </a:spcAft>
              <a:buClr>
                <a:srgbClr val="A51C30"/>
              </a:buClr>
              <a:buSzPct val="100000"/>
              <a:buFont typeface="Arial"/>
              <a:buChar char="▪"/>
            </a:pPr>
            <a:r>
              <a:rPr sz="1100" b="0" i="0">
                <a:solidFill>
                  <a:srgbClr val="1A1A1A"/>
                </a:solidFill>
              </a:rPr>
              <a:t>a big command line and the edition's chips</a:t>
            </a:r>
          </a:p>
          <a:p>
            <a:pPr algn="l" marL="146304" indent="-146304">
              <a:spcAft>
                <a:spcPts val="200"/>
              </a:spcAft>
              <a:buClr>
                <a:srgbClr val="A51C30"/>
              </a:buClr>
              <a:buSzPct val="100000"/>
              <a:buFont typeface="Arial"/>
              <a:buChar char="▪"/>
            </a:pPr>
            <a:r>
              <a:rPr sz="1100" b="0" i="0">
                <a:solidFill>
                  <a:srgbClr val="1A1A1A"/>
                </a:solidFill>
              </a:rPr>
              <a:t>counts: economies, US companies, legal entities, funds and ETFs, filings, news topics</a:t>
            </a:r>
          </a:p>
          <a:p>
            <a:pPr algn="l" marL="146304" indent="-146304">
              <a:spcAft>
                <a:spcPts val="200"/>
              </a:spcAft>
              <a:buClr>
                <a:srgbClr val="A51C30"/>
              </a:buClr>
              <a:buSzPct val="100000"/>
              <a:buFont typeface="Arial"/>
              <a:buChar char="▪"/>
            </a:pPr>
            <a:r>
              <a:rPr sz="1100" b="0" i="0">
                <a:solidFill>
                  <a:srgbClr val="1A1A1A"/>
                </a:solidFill>
              </a:rPr>
              <a:t>recently opened; Knowledge, Data map, Learn</a:t>
            </a:r>
          </a:p>
        </p:txBody>
      </p:sp>
      <p:sp>
        <p:nvSpPr>
          <p:cNvPr id="35" name="Rectangle 34"/>
          <p:cNvSpPr/>
          <p:nvPr/>
        </p:nvSpPr>
        <p:spPr>
          <a:xfrm>
            <a:off x="7988808" y="3401568"/>
            <a:ext cx="3422904" cy="13716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Rectangle 35"/>
          <p:cNvSpPr/>
          <p:nvPr/>
        </p:nvSpPr>
        <p:spPr>
          <a:xfrm>
            <a:off x="7988808" y="3401568"/>
            <a:ext cx="45720" cy="13716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7" name="TextBox 36"/>
          <p:cNvSpPr txBox="1"/>
          <p:nvPr/>
        </p:nvSpPr>
        <p:spPr>
          <a:xfrm>
            <a:off x="8144256" y="3474720"/>
            <a:ext cx="3176016" cy="1261872"/>
          </a:xfrm>
          <a:prstGeom prst="rect">
            <a:avLst/>
          </a:prstGeom>
          <a:noFill/>
        </p:spPr>
        <p:txBody>
          <a:bodyPr wrap="square" lIns="0" rIns="0" tIns="0" bIns="0" anchor="t">
            <a:spAutoFit/>
          </a:bodyPr>
          <a:lstStyle/>
          <a:p>
            <a:pPr algn="l">
              <a:spcAft>
                <a:spcPts val="300"/>
              </a:spcAft>
            </a:pPr>
            <a:r>
              <a:rPr sz="1250" b="1" i="0">
                <a:solidFill>
                  <a:srgbClr val="8A1626"/>
                </a:solidFill>
              </a:rPr>
              <a:t>C · World map</a:t>
            </a:r>
          </a:p>
          <a:p>
            <a:pPr algn="l" marL="146304" indent="-146304">
              <a:spcAft>
                <a:spcPts val="200"/>
              </a:spcAft>
              <a:buClr>
                <a:srgbClr val="A51C30"/>
              </a:buClr>
              <a:buSzPct val="100000"/>
              <a:buFont typeface="Arial"/>
              <a:buChar char="▪"/>
            </a:pPr>
            <a:r>
              <a:rPr sz="1100" b="0" i="0">
                <a:solidFill>
                  <a:srgbClr val="1A1A1A"/>
                </a:solidFill>
              </a:rPr>
              <a:t>by region, income group, G7 or G20; by growth, inflation or debt to GDP, GDP-weighted</a:t>
            </a:r>
          </a:p>
          <a:p>
            <a:pPr algn="l" marL="146304" indent="-146304">
              <a:spcAft>
                <a:spcPts val="200"/>
              </a:spcAft>
              <a:buClr>
                <a:srgbClr val="A51C30"/>
              </a:buClr>
              <a:buSzPct val="100000"/>
              <a:buFont typeface="Arial"/>
              <a:buChar char="▪"/>
            </a:pPr>
            <a:r>
              <a:rPr sz="1100" b="0" i="0">
                <a:solidFill>
                  <a:srgbClr val="1A1A1A"/>
                </a:solidFill>
              </a:rPr>
              <a:t>US sectors; the largest funds</a:t>
            </a:r>
          </a:p>
          <a:p>
            <a:pPr algn="l" marL="146304" indent="-146304">
              <a:spcAft>
                <a:spcPts val="200"/>
              </a:spcAft>
              <a:buClr>
                <a:srgbClr val="A51C30"/>
              </a:buClr>
              <a:buSzPct val="100000"/>
              <a:buFont typeface="Arial"/>
              <a:buChar char="▪"/>
            </a:pPr>
            <a:r>
              <a:rPr sz="1100" b="0" i="0">
                <a:solidFill>
                  <a:srgbClr val="1A1A1A"/>
                </a:solidFill>
              </a:rPr>
              <a:t>what changed: each source's latest</a:t>
            </a:r>
          </a:p>
        </p:txBody>
      </p:sp>
      <p:sp>
        <p:nvSpPr>
          <p:cNvPr id="38" name="Rectangle 37"/>
          <p:cNvSpPr/>
          <p:nvPr/>
        </p:nvSpPr>
        <p:spPr>
          <a:xfrm>
            <a:off x="777240" y="4910328"/>
            <a:ext cx="10634472" cy="941832"/>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Rectangle 38"/>
          <p:cNvSpPr/>
          <p:nvPr/>
        </p:nvSpPr>
        <p:spPr>
          <a:xfrm>
            <a:off x="777240" y="4910328"/>
            <a:ext cx="54864" cy="94183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0" name="TextBox 39"/>
          <p:cNvSpPr txBox="1"/>
          <p:nvPr/>
        </p:nvSpPr>
        <p:spPr>
          <a:xfrm>
            <a:off x="1005840" y="4910328"/>
            <a:ext cx="10314432" cy="941832"/>
          </a:xfrm>
          <a:prstGeom prst="rect">
            <a:avLst/>
          </a:prstGeom>
          <a:noFill/>
        </p:spPr>
        <p:txBody>
          <a:bodyPr wrap="square" lIns="0" rIns="0" tIns="0" bIns="0" anchor="ctr">
            <a:spAutoFit/>
          </a:bodyPr>
          <a:lstStyle/>
          <a:p>
            <a:pPr algn="l"/>
            <a:r>
              <a:rPr sz="1150" b="1" i="0">
                <a:solidFill>
                  <a:srgbClr val="A51C30"/>
                </a:solidFill>
              </a:rPr>
              <a:t>How it reads.  </a:t>
            </a:r>
            <a:r>
              <a:rPr sz="1100" b="0" i="0">
                <a:solidFill>
                  <a:srgbClr val="1A1A1A"/>
                </a:solidFill>
              </a:rPr>
              <a:t>One thin read-only route and the server's own search grammar (ECON where GDP_USD_BN &gt; 0 order by GDP_USD_BN desc limit 12); a command the person's edition or lens does not show is refused (DRS-4023). Each panel paints when its answer arrives.</a:t>
            </a:r>
          </a:p>
        </p:txBody>
      </p:sp>
      <p:sp>
        <p:nvSpPr>
          <p:cNvPr id="41" name="TextBox 40"/>
          <p:cNvSpPr txBox="1"/>
          <p:nvPr/>
        </p:nvSpPr>
        <p:spPr>
          <a:xfrm>
            <a:off x="777240" y="5897880"/>
            <a:ext cx="10634472" cy="365760"/>
          </a:xfrm>
          <a:prstGeom prst="rect">
            <a:avLst/>
          </a:prstGeom>
          <a:noFill/>
        </p:spPr>
        <p:txBody>
          <a:bodyPr wrap="square" lIns="0" rIns="0" tIns="0" bIns="0" anchor="ctr">
            <a:spAutoFit/>
          </a:bodyPr>
          <a:lstStyle/>
          <a:p>
            <a:pPr algn="l"/>
            <a:r>
              <a:rPr sz="1100" b="0" i="1">
                <a:solidFill>
                  <a:srgbClr val="4A5058"/>
                </a:solidFill>
              </a:rPr>
              <a:t>A teal accent, so World reads apart from Risk at a glance. Pictures from the browser tests' stand-in server.</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hapter background"/>
          <p:cNvSpPr/>
          <p:nvPr/>
        </p:nvSpPr>
        <p:spPr>
          <a:xfrm>
            <a:off x="0" y="0"/>
            <a:ext cx="12191969"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chapter number"/>
          <p:cNvSpPr txBox="1"/>
          <p:nvPr/>
        </p:nvSpPr>
        <p:spPr>
          <a:xfrm>
            <a:off x="4754880" y="-822960"/>
            <a:ext cx="7223760" cy="7863840"/>
          </a:xfrm>
          <a:prstGeom prst="rect">
            <a:avLst/>
          </a:prstGeom>
          <a:noFill/>
        </p:spPr>
        <p:txBody>
          <a:bodyPr wrap="none" lIns="0" rIns="0" tIns="0" bIns="0" anchor="ctr">
            <a:spAutoFit/>
          </a:bodyPr>
          <a:lstStyle/>
          <a:p>
            <a:pPr algn="r"/>
            <a:r>
              <a:rPr sz="42000" b="1" i="0">
                <a:solidFill>
                  <a:srgbClr val="B8394C"/>
                </a:solidFill>
              </a:rPr>
              <a:t>09</a:t>
            </a:r>
          </a:p>
        </p:txBody>
      </p:sp>
      <p:sp>
        <p:nvSpPr>
          <p:cNvPr id="4" name="chapter name"/>
          <p:cNvSpPr txBox="1"/>
          <p:nvPr/>
        </p:nvSpPr>
        <p:spPr>
          <a:xfrm>
            <a:off x="822960" y="2514600"/>
            <a:ext cx="6949440" cy="1828800"/>
          </a:xfrm>
          <a:prstGeom prst="rect">
            <a:avLst/>
          </a:prstGeom>
          <a:noFill/>
        </p:spPr>
        <p:txBody>
          <a:bodyPr wrap="square" lIns="0" rIns="0" tIns="0" bIns="0" anchor="ctr">
            <a:spAutoFit/>
          </a:bodyPr>
          <a:lstStyle/>
          <a:p>
            <a:pPr algn="l"/>
            <a:r>
              <a:rPr sz="4400" b="1" i="0">
                <a:solidFill>
                  <a:srgbClr val="FFFFFF"/>
                </a:solidFill>
              </a:rPr>
              <a:t>Regulatory reporting</a:t>
            </a:r>
          </a:p>
        </p:txBody>
      </p:sp>
      <p:pic>
        <p:nvPicPr>
          <p:cNvPr id="5" name="Drishti mark" descr="Drishti logo: an eye between curly brackets"/>
          <p:cNvPicPr>
            <a:picLocks noChangeAspect="1"/>
          </p:cNvPicPr>
          <p:nvPr/>
        </p:nvPicPr>
        <p:blipFill>
          <a:blip r:embed="rId2"/>
          <a:stretch>
            <a:fillRect/>
          </a:stretch>
        </p:blipFill>
        <p:spPr>
          <a:xfrm>
            <a:off x="822960" y="6236208"/>
            <a:ext cx="430911" cy="237744"/>
          </a:xfrm>
          <a:prstGeom prst="rect">
            <a:avLst/>
          </a:prstGeom>
        </p:spPr>
      </p:pic>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REGULATORY REPORTING · THE LANDSCAPE</a:t>
            </a:r>
          </a:p>
        </p:txBody>
      </p:sp>
      <p:sp>
        <p:nvSpPr>
          <p:cNvPr id="3" name="Title 2"/>
          <p:cNvSpPr>
            <a:spLocks noGrp="1"/>
          </p:cNvSpPr>
          <p:nvPr>
            <p:ph type="title" idx="104"/>
          </p:nvPr>
        </p:nvSpPr>
        <p:spPr/>
        <p:txBody>
          <a:bodyPr/>
          <a:lstStyle/>
          <a:p>
            <a:r>
              <a:t>Canada and the US: the reports that need VaR or ES</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371600"/>
            <a:ext cx="10634472" cy="566928"/>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Rectangle 26"/>
          <p:cNvSpPr/>
          <p:nvPr/>
        </p:nvSpPr>
        <p:spPr>
          <a:xfrm>
            <a:off x="777240" y="1371600"/>
            <a:ext cx="54864" cy="56692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1005840" y="1371600"/>
            <a:ext cx="10314432" cy="566928"/>
          </a:xfrm>
          <a:prstGeom prst="rect">
            <a:avLst/>
          </a:prstGeom>
          <a:noFill/>
        </p:spPr>
        <p:txBody>
          <a:bodyPr wrap="square" lIns="0" rIns="0" tIns="0" bIns="0" anchor="ctr">
            <a:spAutoFit/>
          </a:bodyPr>
          <a:lstStyle/>
          <a:p>
            <a:pPr algn="l"/>
            <a:r>
              <a:rPr sz="1150" b="1" i="0">
                <a:solidFill>
                  <a:srgbClr val="A51C30"/>
                </a:solidFill>
              </a:rPr>
              <a:t>Today.  </a:t>
            </a:r>
            <a:r>
              <a:rPr sz="1100" b="0" i="0">
                <a:solidFill>
                  <a:srgbClr val="1A1A1A"/>
                </a:solidFill>
              </a:rPr>
              <a:t>Canada: FRTB since November 2023; every bank reports the standardised approach, internal models need OSFI's approval. US: VaR and stressed VaR (Basel 2.5) in force; an ES-based re-proposal of March 2026 is not final.</a:t>
            </a:r>
          </a:p>
        </p:txBody>
      </p:sp>
      <p:graphicFrame>
        <p:nvGraphicFramePr>
          <p:cNvPr id="29" name="Table 28"/>
          <p:cNvGraphicFramePr>
            <a:graphicFrameLocks noGrp="1"/>
          </p:cNvGraphicFramePr>
          <p:nvPr/>
        </p:nvGraphicFramePr>
        <p:xfrm>
          <a:off x="777240" y="2075688"/>
          <a:ext cx="5202936" cy="3291840"/>
        </p:xfrm>
        <a:graphic>
          <a:graphicData uri="http://schemas.openxmlformats.org/drawingml/2006/table">
            <a:tbl>
              <a:tblPr firstRow="0" bandRow="0">
                <a:tableStyleId>{5940675A-B579-460E-94D1-54222C63F5DA}</a:tableStyleId>
              </a:tblPr>
              <a:tblGrid>
                <a:gridCol w="1325880"/>
                <a:gridCol w="868680"/>
                <a:gridCol w="3008376"/>
              </a:tblGrid>
              <a:tr h="548640">
                <a:tc>
                  <a:txBody>
                    <a:bodyPr wrap="square"/>
                    <a:lstStyle/>
                    <a:p>
                      <a:r>
                        <a:rPr sz="1100" b="1" i="0">
                          <a:solidFill>
                            <a:srgbClr val="FFFFFF"/>
                          </a:solidFill>
                        </a:rPr>
                        <a:t>Canada (OSFI)</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How often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VaR or ES it needs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548640">
                <a:tc>
                  <a:txBody>
                    <a:bodyPr wrap="square"/>
                    <a:lstStyle/>
                    <a:p>
                      <a:r>
                        <a:rPr sz="1100" b="1" i="0">
                          <a:solidFill>
                            <a:srgbClr val="8A1626"/>
                          </a:solidFill>
                        </a:rPr>
                        <a:t>BCAR 90.010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Quarterly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standardised for all; ES 97.5% and SES, latest and 60-day, on internal models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548640">
                <a:tc>
                  <a:txBody>
                    <a:bodyPr wrap="square"/>
                    <a:lstStyle/>
                    <a:p>
                      <a:r>
                        <a:rPr sz="1100" b="1" i="0">
                          <a:solidFill>
                            <a:srgbClr val="8A1626"/>
                          </a:solidFill>
                        </a:rPr>
                        <a:t>Pillar 3 MR1, MR2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Quarterly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MR2: ES, SES, DRC, latest, average, high, low; exceptions against 99% VaR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548640">
                <a:tc>
                  <a:txBody>
                    <a:bodyPr wrap="square"/>
                    <a:lstStyle/>
                    <a:p>
                      <a:r>
                        <a:rPr sz="1100" b="1" i="0">
                          <a:solidFill>
                            <a:srgbClr val="8A1626"/>
                          </a:solidFill>
                        </a:rPr>
                        <a:t>Internal-model tests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Daily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1-day VaR 99% and 97.5% against actual and hypothetical P&amp;L; the PLA test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548640">
                <a:tc>
                  <a:txBody>
                    <a:bodyPr wrap="square"/>
                    <a:lstStyle/>
                    <a:p>
                      <a:r>
                        <a:rPr sz="1100" b="1" i="0">
                          <a:solidFill>
                            <a:srgbClr val="8A1626"/>
                          </a:solidFill>
                        </a:rPr>
                        <a:t>Annual report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Yearly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trading VaR, 1 day 99%, by risk type: year-end, average, high, low</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548640">
                <a:tc>
                  <a:txBody>
                    <a:bodyPr wrap="square"/>
                    <a:lstStyle/>
                    <a:p>
                      <a:r>
                        <a:rPr sz="1100" b="1" i="0">
                          <a:solidFill>
                            <a:srgbClr val="8A1626"/>
                          </a:solidFill>
                        </a:rPr>
                        <a:t>ICAAP, stress tests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Yearly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no prescribed VaR or 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bl>
          </a:graphicData>
        </a:graphic>
      </p:graphicFrame>
      <p:graphicFrame>
        <p:nvGraphicFramePr>
          <p:cNvPr id="30" name="Table 29"/>
          <p:cNvGraphicFramePr>
            <a:graphicFrameLocks noGrp="1"/>
          </p:cNvGraphicFramePr>
          <p:nvPr/>
        </p:nvGraphicFramePr>
        <p:xfrm>
          <a:off x="6208776" y="2075688"/>
          <a:ext cx="5202936" cy="3291840"/>
        </p:xfrm>
        <a:graphic>
          <a:graphicData uri="http://schemas.openxmlformats.org/drawingml/2006/table">
            <a:tbl>
              <a:tblPr firstRow="0" bandRow="0">
                <a:tableStyleId>{5940675A-B579-460E-94D1-54222C63F5DA}</a:tableStyleId>
              </a:tblPr>
              <a:tblGrid>
                <a:gridCol w="1325880"/>
                <a:gridCol w="868680"/>
                <a:gridCol w="3008376"/>
              </a:tblGrid>
              <a:tr h="548640">
                <a:tc>
                  <a:txBody>
                    <a:bodyPr wrap="square"/>
                    <a:lstStyle/>
                    <a:p>
                      <a:r>
                        <a:rPr sz="1100" b="1" i="0">
                          <a:solidFill>
                            <a:srgbClr val="FFFFFF"/>
                          </a:solidFill>
                        </a:rPr>
                        <a:t>US (Fed, OCC, FDIC)</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293352"/>
                    </a:solidFill>
                  </a:tcPr>
                </a:tc>
                <a:tc>
                  <a:txBody>
                    <a:bodyPr wrap="square"/>
                    <a:lstStyle/>
                    <a:p>
                      <a:r>
                        <a:rPr sz="1100" b="1" i="0">
                          <a:solidFill>
                            <a:srgbClr val="FFFFFF"/>
                          </a:solidFill>
                        </a:rPr>
                        <a:t>How often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293352"/>
                    </a:solidFill>
                  </a:tcPr>
                </a:tc>
                <a:tc>
                  <a:txBody>
                    <a:bodyPr wrap="square"/>
                    <a:lstStyle/>
                    <a:p>
                      <a:r>
                        <a:rPr sz="1100" b="1" i="0">
                          <a:solidFill>
                            <a:srgbClr val="FFFFFF"/>
                          </a:solidFill>
                        </a:rPr>
                        <a:t>VaR or ES it needs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293352"/>
                    </a:solidFill>
                  </a:tcPr>
                </a:tc>
              </a:tr>
              <a:tr h="548640">
                <a:tc>
                  <a:txBody>
                    <a:bodyPr wrap="square"/>
                    <a:lstStyle/>
                    <a:p>
                      <a:r>
                        <a:rPr sz="1100" b="1" i="0">
                          <a:solidFill>
                            <a:srgbClr val="8A1626"/>
                          </a:solidFill>
                        </a:rPr>
                        <a:t>Market risk rule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Daily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VaR 99% 10-day and stressed VaR; 60-day and 12-week averages × 3 to 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548640">
                <a:tc>
                  <a:txBody>
                    <a:bodyPr wrap="square"/>
                    <a:lstStyle/>
                    <a:p>
                      <a:r>
                        <a:rPr sz="1100" b="1" i="0">
                          <a:solidFill>
                            <a:srgbClr val="8A1626"/>
                          </a:solidFill>
                        </a:rPr>
                        <a:t>FFIEC 102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Quarterly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VaR and stressed VaR, latest and averages; public</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548640">
                <a:tc>
                  <a:txBody>
                    <a:bodyPr wrap="square"/>
                    <a:lstStyle/>
                    <a:p>
                      <a:r>
                        <a:rPr sz="1100" b="1" i="0">
                          <a:solidFill>
                            <a:srgbClr val="8A1626"/>
                          </a:solidFill>
                        </a:rPr>
                        <a:t>§217.212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Quarterly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high, low, mean, period-end VaR and stressed VaR; by risk type; backtest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548640">
                <a:tc>
                  <a:txBody>
                    <a:bodyPr wrap="square"/>
                    <a:lstStyle/>
                    <a:p>
                      <a:r>
                        <a:rPr sz="1100" b="1" i="0">
                          <a:solidFill>
                            <a:srgbClr val="8A1626"/>
                          </a:solidFill>
                        </a:rPr>
                        <a:t>Volcker metrics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Quarterly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per desk, daily: limits and use, VaR 1-day 99%, P&amp;L attribution, positions, volumes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548640">
                <a:tc>
                  <a:txBody>
                    <a:bodyPr wrap="square"/>
                    <a:lstStyle/>
                    <a:p>
                      <a:r>
                        <a:rPr sz="1100" b="1" i="0">
                          <a:solidFill>
                            <a:srgbClr val="8A1626"/>
                          </a:solidFill>
                        </a:rPr>
                        <a:t>FR Y-9C, FR Y-14Q</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Quarterly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market-risk RWA (HC-R item 27); the market shock: not VaR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bl>
          </a:graphicData>
        </a:graphic>
      </p:graphicFrame>
      <p:sp>
        <p:nvSpPr>
          <p:cNvPr id="31" name="Rectangle 30"/>
          <p:cNvSpPr/>
          <p:nvPr/>
        </p:nvSpPr>
        <p:spPr>
          <a:xfrm>
            <a:off x="777240" y="5486400"/>
            <a:ext cx="10634472" cy="77724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Rectangle 31"/>
          <p:cNvSpPr/>
          <p:nvPr/>
        </p:nvSpPr>
        <p:spPr>
          <a:xfrm>
            <a:off x="777240" y="5486400"/>
            <a:ext cx="54864" cy="7772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TextBox 32"/>
          <p:cNvSpPr txBox="1"/>
          <p:nvPr/>
        </p:nvSpPr>
        <p:spPr>
          <a:xfrm>
            <a:off x="1005840" y="5486400"/>
            <a:ext cx="10314432" cy="777240"/>
          </a:xfrm>
          <a:prstGeom prst="rect">
            <a:avLst/>
          </a:prstGeom>
          <a:noFill/>
        </p:spPr>
        <p:txBody>
          <a:bodyPr wrap="square" lIns="0" rIns="0" tIns="0" bIns="0" anchor="ctr">
            <a:spAutoFit/>
          </a:bodyPr>
          <a:lstStyle/>
          <a:p>
            <a:pPr algn="l"/>
            <a:r>
              <a:rPr sz="1150" b="1" i="0">
                <a:solidFill>
                  <a:srgbClr val="A51C30"/>
                </a:solidFill>
              </a:rPr>
              <a:t>A Canadian bank with a US holding company.  </a:t>
            </a:r>
            <a:r>
              <a:rPr sz="1100" b="0" i="0">
                <a:solidFill>
                  <a:srgbClr val="1A1A1A"/>
                </a:solidFill>
              </a:rPr>
              <a:t>It files both sides: the US holding company follows the US capital rule like a US bank holding company; FFIEC 102 applies at $1 billion of trading assets and liabilities, Volcker at $20 billion across the bank's US operations.</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REGULATORY REPORTING · WHAT EVERY REPORT NEEDS</a:t>
            </a:r>
          </a:p>
        </p:txBody>
      </p:sp>
      <p:sp>
        <p:nvSpPr>
          <p:cNvPr id="3" name="Title 2"/>
          <p:cNvSpPr>
            <a:spLocks noGrp="1"/>
          </p:cNvSpPr>
          <p:nvPr>
            <p:ph type="title" idx="104"/>
          </p:nvPr>
        </p:nvSpPr>
        <p:spPr/>
        <p:txBody>
          <a:bodyPr/>
          <a:lstStyle/>
          <a:p>
            <a:r>
              <a:t>The building blocks, and what Drishti has today</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graphicFrame>
        <p:nvGraphicFramePr>
          <p:cNvPr id="26" name="Table 25"/>
          <p:cNvGraphicFramePr>
            <a:graphicFrameLocks noGrp="1"/>
          </p:cNvGraphicFramePr>
          <p:nvPr/>
        </p:nvGraphicFramePr>
        <p:xfrm>
          <a:off x="777240" y="1371600"/>
          <a:ext cx="10634472" cy="4219956"/>
        </p:xfrm>
        <a:graphic>
          <a:graphicData uri="http://schemas.openxmlformats.org/drawingml/2006/table">
            <a:tbl>
              <a:tblPr firstRow="0" bandRow="0">
                <a:tableStyleId>{5940675A-B579-460E-94D1-54222C63F5DA}</a:tableStyleId>
              </a:tblPr>
              <a:tblGrid>
                <a:gridCol w="2788920"/>
                <a:gridCol w="3063240"/>
                <a:gridCol w="1005840"/>
                <a:gridCol w="3776472"/>
              </a:tblGrid>
              <a:tr h="324612">
                <a:tc>
                  <a:txBody>
                    <a:bodyPr wrap="square"/>
                    <a:lstStyle/>
                    <a:p>
                      <a:r>
                        <a:rPr sz="1100" b="1" i="0">
                          <a:solidFill>
                            <a:srgbClr val="FFFFFF"/>
                          </a:solidFill>
                        </a:rPr>
                        <a:t>Building block</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Needed by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Status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Drishti today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324612">
                <a:tc>
                  <a:txBody>
                    <a:bodyPr wrap="square"/>
                    <a:lstStyle/>
                    <a:p>
                      <a:r>
                        <a:rPr sz="1100" b="1" i="0">
                          <a:solidFill>
                            <a:srgbClr val="8A1626"/>
                          </a:solidFill>
                        </a:rPr>
                        <a:t>VaR 99% and ES 97.5%, 1 day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MD&amp;A, Volcker, every backtest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the bank to a trade; any node or trade set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24612">
                <a:tc>
                  <a:txBody>
                    <a:bodyPr wrap="square"/>
                    <a:lstStyle/>
                    <a:p>
                      <a:r>
                        <a:rPr sz="1100" b="1" i="0">
                          <a:solidFill>
                            <a:srgbClr val="8A1626"/>
                          </a:solidFill>
                        </a:rPr>
                        <a:t>By desk and legal entity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all; diversification in most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every hierarchy node, with diversification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24612">
                <a:tc>
                  <a:txBody>
                    <a:bodyPr wrap="square"/>
                    <a:lstStyle/>
                    <a:p>
                      <a:r>
                        <a:rPr sz="1100" b="1" i="0">
                          <a:solidFill>
                            <a:srgbClr val="8A1626"/>
                          </a:solidFill>
                        </a:rPr>
                        <a:t>VaR limits and their use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Volcker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a limit per node; use in every official record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24612">
                <a:tc>
                  <a:txBody>
                    <a:bodyPr wrap="square"/>
                    <a:lstStyle/>
                    <a:p>
                      <a:r>
                        <a:rPr sz="1100" b="1" i="0">
                          <a:solidFill>
                            <a:srgbClr val="8A1626"/>
                          </a:solidFill>
                        </a:rPr>
                        <a:t>Kept and reproducible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all</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official runs of every node, 7 years, versions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24612">
                <a:tc>
                  <a:txBody>
                    <a:bodyPr wrap="square"/>
                    <a:lstStyle/>
                    <a:p>
                      <a:r>
                        <a:rPr sz="1100" b="1" i="0">
                          <a:solidFill>
                            <a:srgbClr val="8A1626"/>
                          </a:solidFill>
                        </a:rPr>
                        <a:t>Backtest: hypothetical P&amp;L</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all</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every node: exceptions, traffic light, tests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24612">
                <a:tc>
                  <a:txBody>
                    <a:bodyPr wrap="square"/>
                    <a:lstStyle/>
                    <a:p>
                      <a:r>
                        <a:rPr sz="1100" b="1" i="0">
                          <a:solidFill>
                            <a:srgbClr val="8A1626"/>
                          </a:solidFill>
                        </a:rPr>
                        <a:t>Backtest: actual P&amp;L, 97.5%</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US rule, OSFI internal models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needs the bank's daily P&amp;L feed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24612">
                <a:tc>
                  <a:txBody>
                    <a:bodyPr wrap="square"/>
                    <a:lstStyle/>
                    <a:p>
                      <a:r>
                        <a:rPr sz="1100" b="1" i="0">
                          <a:solidFill>
                            <a:srgbClr val="8A1626"/>
                          </a:solidFill>
                        </a:rPr>
                        <a:t>10-day VaR, stressed VaR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US rule, FFIEC 102, §217.212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in the plan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24612">
                <a:tc>
                  <a:txBody>
                    <a:bodyPr wrap="square"/>
                    <a:lstStyle/>
                    <a:p>
                      <a:r>
                        <a:rPr sz="1100" b="1" i="0">
                          <a:solidFill>
                            <a:srgbClr val="8A1626"/>
                          </a:solidFill>
                        </a:rPr>
                        <a:t>High, low, average, 60-day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MD&amp;A, FFIEC 102, §217.212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from the official history Drishti keeps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24612">
                <a:tc>
                  <a:txBody>
                    <a:bodyPr wrap="square"/>
                    <a:lstStyle/>
                    <a:p>
                      <a:r>
                        <a:rPr sz="1100" b="1" i="0">
                          <a:solidFill>
                            <a:srgbClr val="8A1626"/>
                          </a:solidFill>
                        </a:rPr>
                        <a:t>VaR by risk type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MD&amp;A, §217.212, FFIEC 102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needs P&amp;L vectors by risk class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24612">
                <a:tc>
                  <a:txBody>
                    <a:bodyPr wrap="square"/>
                    <a:lstStyle/>
                    <a:p>
                      <a:r>
                        <a:rPr sz="1100" b="1" i="0">
                          <a:solidFill>
                            <a:srgbClr val="8A1626"/>
                          </a:solidFill>
                        </a:rPr>
                        <a:t>Other limits, P&amp;L attribution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Volcker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P&amp;L explain designed, not built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24612">
                <a:tc>
                  <a:txBody>
                    <a:bodyPr wrap="square"/>
                    <a:lstStyle/>
                    <a:p>
                      <a:r>
                        <a:rPr sz="1100" b="1" i="0">
                          <a:solidFill>
                            <a:srgbClr val="8A1626"/>
                          </a:solidFill>
                        </a:rPr>
                        <a:t>Standardised approach</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BCAR 90.010, Pillar 3 MR1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contract designed (FRTB SA)</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24612">
                <a:tc>
                  <a:txBody>
                    <a:bodyPr wrap="square"/>
                    <a:lstStyle/>
                    <a:p>
                      <a:r>
                        <a:rPr sz="1100" b="1" i="0">
                          <a:solidFill>
                            <a:srgbClr val="8A1626"/>
                          </a:solidFill>
                        </a:rPr>
                        <a:t>ES by liquidity horizon, PLA</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banks on internal models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with NMRF and DRC</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
        <p:nvSpPr>
          <p:cNvPr id="27" name="Rounded Rectangle 26"/>
          <p:cNvSpPr/>
          <p:nvPr/>
        </p:nvSpPr>
        <p:spPr>
          <a:xfrm>
            <a:off x="6702552" y="3380994"/>
            <a:ext cx="736092" cy="201168"/>
          </a:xfrm>
          <a:prstGeom prst="roundRect">
            <a:avLst>
              <a:gd name="adj" fmla="val 50000"/>
            </a:avLst>
          </a:prstGeom>
          <a:solidFill>
            <a:srgbClr val="E9E6E1"/>
          </a:solidFill>
          <a:ln w="12700">
            <a:solidFill>
              <a:srgbClr val="4A5058"/>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4A5058"/>
                </a:solidFill>
              </a:rPr>
              <a:t>NOT BUILT</a:t>
            </a:r>
          </a:p>
        </p:txBody>
      </p:sp>
      <p:sp>
        <p:nvSpPr>
          <p:cNvPr id="28" name="Rounded Rectangle 27"/>
          <p:cNvSpPr/>
          <p:nvPr/>
        </p:nvSpPr>
        <p:spPr>
          <a:xfrm>
            <a:off x="6702552" y="3705606"/>
            <a:ext cx="598932" cy="201168"/>
          </a:xfrm>
          <a:prstGeom prst="roundRect">
            <a:avLst>
              <a:gd name="adj" fmla="val 50000"/>
            </a:avLst>
          </a:prstGeom>
          <a:solidFill>
            <a:srgbClr val="FFFFFF"/>
          </a:solidFill>
          <a:ln w="12700">
            <a:solidFill>
              <a:srgbClr val="293352"/>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293352"/>
                </a:solidFill>
              </a:rPr>
              <a:t>PLANNED</a:t>
            </a:r>
          </a:p>
        </p:txBody>
      </p:sp>
      <p:sp>
        <p:nvSpPr>
          <p:cNvPr id="29" name="Rounded Rectangle 28"/>
          <p:cNvSpPr/>
          <p:nvPr/>
        </p:nvSpPr>
        <p:spPr>
          <a:xfrm>
            <a:off x="6702552" y="4030218"/>
            <a:ext cx="736092" cy="201168"/>
          </a:xfrm>
          <a:prstGeom prst="roundRect">
            <a:avLst>
              <a:gd name="adj" fmla="val 50000"/>
            </a:avLst>
          </a:prstGeom>
          <a:solidFill>
            <a:srgbClr val="E9E6E1"/>
          </a:solidFill>
          <a:ln w="12700">
            <a:solidFill>
              <a:srgbClr val="4A5058"/>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4A5058"/>
                </a:solidFill>
              </a:rPr>
              <a:t>NOT BUILT</a:t>
            </a:r>
          </a:p>
        </p:txBody>
      </p:sp>
      <p:sp>
        <p:nvSpPr>
          <p:cNvPr id="30" name="Rounded Rectangle 29"/>
          <p:cNvSpPr/>
          <p:nvPr/>
        </p:nvSpPr>
        <p:spPr>
          <a:xfrm>
            <a:off x="6702552" y="4354830"/>
            <a:ext cx="736092" cy="201168"/>
          </a:xfrm>
          <a:prstGeom prst="roundRect">
            <a:avLst>
              <a:gd name="adj" fmla="val 50000"/>
            </a:avLst>
          </a:prstGeom>
          <a:solidFill>
            <a:srgbClr val="E9E6E1"/>
          </a:solidFill>
          <a:ln w="12700">
            <a:solidFill>
              <a:srgbClr val="4A5058"/>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4A5058"/>
                </a:solidFill>
              </a:rPr>
              <a:t>NOT BUILT</a:t>
            </a:r>
          </a:p>
        </p:txBody>
      </p:sp>
      <p:sp>
        <p:nvSpPr>
          <p:cNvPr id="31" name="Rounded Rectangle 30"/>
          <p:cNvSpPr/>
          <p:nvPr/>
        </p:nvSpPr>
        <p:spPr>
          <a:xfrm>
            <a:off x="6702552" y="4679442"/>
            <a:ext cx="736092" cy="201168"/>
          </a:xfrm>
          <a:prstGeom prst="roundRect">
            <a:avLst>
              <a:gd name="adj" fmla="val 50000"/>
            </a:avLst>
          </a:prstGeom>
          <a:solidFill>
            <a:srgbClr val="E9E6E1"/>
          </a:solidFill>
          <a:ln w="12700">
            <a:solidFill>
              <a:srgbClr val="4A5058"/>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4A5058"/>
                </a:solidFill>
              </a:rPr>
              <a:t>NOT BUILT</a:t>
            </a:r>
          </a:p>
        </p:txBody>
      </p:sp>
      <p:sp>
        <p:nvSpPr>
          <p:cNvPr id="32" name="Rounded Rectangle 31"/>
          <p:cNvSpPr/>
          <p:nvPr/>
        </p:nvSpPr>
        <p:spPr>
          <a:xfrm>
            <a:off x="6702552" y="5004053"/>
            <a:ext cx="736092" cy="201168"/>
          </a:xfrm>
          <a:prstGeom prst="roundRect">
            <a:avLst>
              <a:gd name="adj" fmla="val 50000"/>
            </a:avLst>
          </a:prstGeom>
          <a:solidFill>
            <a:srgbClr val="E9E6E1"/>
          </a:solidFill>
          <a:ln w="12700">
            <a:solidFill>
              <a:srgbClr val="4A5058"/>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4A5058"/>
                </a:solidFill>
              </a:rPr>
              <a:t>NOT BUILT</a:t>
            </a:r>
          </a:p>
        </p:txBody>
      </p:sp>
      <p:sp>
        <p:nvSpPr>
          <p:cNvPr id="33" name="Rounded Rectangle 32"/>
          <p:cNvSpPr/>
          <p:nvPr/>
        </p:nvSpPr>
        <p:spPr>
          <a:xfrm>
            <a:off x="6702552" y="5328666"/>
            <a:ext cx="736092" cy="201168"/>
          </a:xfrm>
          <a:prstGeom prst="roundRect">
            <a:avLst>
              <a:gd name="adj" fmla="val 50000"/>
            </a:avLst>
          </a:prstGeom>
          <a:solidFill>
            <a:srgbClr val="E9E6E1"/>
          </a:solidFill>
          <a:ln w="12700">
            <a:solidFill>
              <a:srgbClr val="4A5058"/>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4A5058"/>
                </a:solidFill>
              </a:rPr>
              <a:t>NOT BUILT</a:t>
            </a:r>
          </a:p>
        </p:txBody>
      </p:sp>
      <p:sp>
        <p:nvSpPr>
          <p:cNvPr id="34" name="Rectangle 33"/>
          <p:cNvSpPr/>
          <p:nvPr/>
        </p:nvSpPr>
        <p:spPr>
          <a:xfrm>
            <a:off x="777240" y="5728716"/>
            <a:ext cx="10634472" cy="566928"/>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Rectangle 34"/>
          <p:cNvSpPr/>
          <p:nvPr/>
        </p:nvSpPr>
        <p:spPr>
          <a:xfrm>
            <a:off x="777240" y="5728716"/>
            <a:ext cx="54864" cy="56692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xtBox 35"/>
          <p:cNvSpPr txBox="1"/>
          <p:nvPr/>
        </p:nvSpPr>
        <p:spPr>
          <a:xfrm>
            <a:off x="1005840" y="5728716"/>
            <a:ext cx="10314432" cy="566928"/>
          </a:xfrm>
          <a:prstGeom prst="rect">
            <a:avLst/>
          </a:prstGeom>
          <a:noFill/>
        </p:spPr>
        <p:txBody>
          <a:bodyPr wrap="square" lIns="0" rIns="0" tIns="0" bIns="0" anchor="ctr">
            <a:spAutoFit/>
          </a:bodyPr>
          <a:lstStyle/>
          <a:p>
            <a:pPr algn="l"/>
            <a:r>
              <a:rPr sz="1150" b="1" i="0">
                <a:solidFill>
                  <a:srgbClr val="A51C30"/>
                </a:solidFill>
              </a:rPr>
              <a:t>Reading it.  </a:t>
            </a:r>
            <a:r>
              <a:rPr sz="1100" b="0" i="0">
                <a:solidFill>
                  <a:srgbClr val="1A1A1A"/>
                </a:solidFill>
              </a:rPr>
              <a:t>A Canadian bank on the standardised approach reports VaR in its annual report; its US holding company needs the full VaR and stressed VaR set. Built rows carry no pill.</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REGULATORY REPORTING · HOW A REPORT IS MADE</a:t>
            </a:r>
          </a:p>
        </p:txBody>
      </p:sp>
      <p:sp>
        <p:nvSpPr>
          <p:cNvPr id="3" name="Title 2"/>
          <p:cNvSpPr>
            <a:spLocks noGrp="1"/>
          </p:cNvSpPr>
          <p:nvPr>
            <p:ph type="title" idx="104"/>
          </p:nvPr>
        </p:nvSpPr>
        <p:spPr/>
        <p:txBody>
          <a:bodyPr/>
          <a:lstStyle/>
          <a:p>
            <a:r>
              <a:t>From the official run to the filing, reproducible as of a date</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17320"/>
            <a:ext cx="1907438" cy="457200"/>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TextBox 26"/>
          <p:cNvSpPr txBox="1"/>
          <p:nvPr/>
        </p:nvSpPr>
        <p:spPr>
          <a:xfrm>
            <a:off x="777240" y="1417320"/>
            <a:ext cx="1907438" cy="457200"/>
          </a:xfrm>
          <a:prstGeom prst="rect">
            <a:avLst/>
          </a:prstGeom>
          <a:noFill/>
        </p:spPr>
        <p:txBody>
          <a:bodyPr wrap="square" lIns="0" rIns="0" tIns="0" bIns="0" anchor="ctr">
            <a:spAutoFit/>
          </a:bodyPr>
          <a:lstStyle/>
          <a:p>
            <a:pPr algn="ctr"/>
            <a:r>
              <a:rPr sz="1300" b="1" i="0">
                <a:solidFill>
                  <a:srgbClr val="FFFFFF"/>
                </a:solidFill>
              </a:rPr>
              <a:t>Inputs</a:t>
            </a:r>
          </a:p>
        </p:txBody>
      </p:sp>
      <p:sp>
        <p:nvSpPr>
          <p:cNvPr id="28" name="Rectangle 27"/>
          <p:cNvSpPr/>
          <p:nvPr/>
        </p:nvSpPr>
        <p:spPr>
          <a:xfrm>
            <a:off x="777240" y="1874519"/>
            <a:ext cx="1907438" cy="2029967"/>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TextBox 28"/>
          <p:cNvSpPr txBox="1"/>
          <p:nvPr/>
        </p:nvSpPr>
        <p:spPr>
          <a:xfrm>
            <a:off x="868680" y="1984248"/>
            <a:ext cx="1742846" cy="384048"/>
          </a:xfrm>
          <a:prstGeom prst="rect">
            <a:avLst/>
          </a:prstGeom>
          <a:noFill/>
        </p:spPr>
        <p:txBody>
          <a:bodyPr wrap="square" lIns="0" rIns="0" tIns="0" bIns="0" anchor="t">
            <a:spAutoFit/>
          </a:bodyPr>
          <a:lstStyle/>
          <a:p>
            <a:pPr algn="l" marL="146304" indent="-146304">
              <a:buClr>
                <a:srgbClr val="A51C30"/>
              </a:buClr>
              <a:buSzPct val="100000"/>
              <a:buFont typeface="Arial"/>
              <a:buChar char="▪"/>
            </a:pPr>
            <a:r>
              <a:rPr sz="1100" b="0" i="0">
                <a:solidFill>
                  <a:srgbClr val="1A1A1A"/>
                </a:solidFill>
              </a:rPr>
              <a:t>trades, P&amp;L vectors, scenario sets</a:t>
            </a:r>
          </a:p>
        </p:txBody>
      </p:sp>
      <p:sp>
        <p:nvSpPr>
          <p:cNvPr id="30" name="TextBox 29"/>
          <p:cNvSpPr txBox="1"/>
          <p:nvPr/>
        </p:nvSpPr>
        <p:spPr>
          <a:xfrm>
            <a:off x="868680" y="2624328"/>
            <a:ext cx="1742846" cy="384048"/>
          </a:xfrm>
          <a:prstGeom prst="rect">
            <a:avLst/>
          </a:prstGeom>
          <a:noFill/>
        </p:spPr>
        <p:txBody>
          <a:bodyPr wrap="square" lIns="0" rIns="0" tIns="0" bIns="0" anchor="t">
            <a:spAutoFit/>
          </a:bodyPr>
          <a:lstStyle/>
          <a:p>
            <a:pPr algn="l" marL="146304" indent="-146304">
              <a:buClr>
                <a:srgbClr val="A51C30"/>
              </a:buClr>
              <a:buSzPct val="100000"/>
              <a:buFont typeface="Arial"/>
              <a:buChar char="▪"/>
            </a:pPr>
            <a:r>
              <a:rPr sz="1100" b="0" i="0">
                <a:solidFill>
                  <a:srgbClr val="1A1A1A"/>
                </a:solidFill>
              </a:rPr>
              <a:t>hierarchies, limits</a:t>
            </a:r>
          </a:p>
        </p:txBody>
      </p:sp>
      <p:sp>
        <p:nvSpPr>
          <p:cNvPr id="31" name="TextBox 30"/>
          <p:cNvSpPr txBox="1"/>
          <p:nvPr/>
        </p:nvSpPr>
        <p:spPr>
          <a:xfrm>
            <a:off x="868680" y="3264408"/>
            <a:ext cx="1742846" cy="384048"/>
          </a:xfrm>
          <a:prstGeom prst="rect">
            <a:avLst/>
          </a:prstGeom>
          <a:noFill/>
        </p:spPr>
        <p:txBody>
          <a:bodyPr wrap="square" lIns="0" rIns="0" tIns="0" bIns="0" anchor="t">
            <a:spAutoFit/>
          </a:bodyPr>
          <a:lstStyle/>
          <a:p>
            <a:pPr algn="l" marL="146304" indent="-146304">
              <a:buClr>
                <a:srgbClr val="A51C30"/>
              </a:buClr>
              <a:buSzPct val="100000"/>
              <a:buFont typeface="Arial"/>
              <a:buChar char="▪"/>
            </a:pPr>
            <a:r>
              <a:rPr sz="1100" b="0" i="0">
                <a:solidFill>
                  <a:srgbClr val="1A1A1A"/>
                </a:solidFill>
              </a:rPr>
              <a:t>daily P&amp;L from product control</a:t>
            </a:r>
          </a:p>
        </p:txBody>
      </p:sp>
      <p:sp>
        <p:nvSpPr>
          <p:cNvPr id="32" name="Rounded Rectangle 31"/>
          <p:cNvSpPr/>
          <p:nvPr/>
        </p:nvSpPr>
        <p:spPr>
          <a:xfrm>
            <a:off x="1014983" y="3657600"/>
            <a:ext cx="736092" cy="201168"/>
          </a:xfrm>
          <a:prstGeom prst="roundRect">
            <a:avLst>
              <a:gd name="adj" fmla="val 50000"/>
            </a:avLst>
          </a:prstGeom>
          <a:solidFill>
            <a:srgbClr val="E9E6E1"/>
          </a:solidFill>
          <a:ln w="12700">
            <a:solidFill>
              <a:srgbClr val="4A5058"/>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4A5058"/>
                </a:solidFill>
              </a:rPr>
              <a:t>NOT BUILT</a:t>
            </a:r>
          </a:p>
        </p:txBody>
      </p:sp>
      <p:cxnSp>
        <p:nvCxnSpPr>
          <p:cNvPr id="33" name="Connector 32"/>
          <p:cNvCxnSpPr/>
          <p:nvPr/>
        </p:nvCxnSpPr>
        <p:spPr>
          <a:xfrm>
            <a:off x="2712110" y="1645920"/>
            <a:ext cx="219456"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Rectangle 33"/>
          <p:cNvSpPr/>
          <p:nvPr/>
        </p:nvSpPr>
        <p:spPr>
          <a:xfrm>
            <a:off x="2958998" y="1417320"/>
            <a:ext cx="1907438" cy="457200"/>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TextBox 34"/>
          <p:cNvSpPr txBox="1"/>
          <p:nvPr/>
        </p:nvSpPr>
        <p:spPr>
          <a:xfrm>
            <a:off x="2958998" y="1417320"/>
            <a:ext cx="1907438" cy="457200"/>
          </a:xfrm>
          <a:prstGeom prst="rect">
            <a:avLst/>
          </a:prstGeom>
          <a:noFill/>
        </p:spPr>
        <p:txBody>
          <a:bodyPr wrap="square" lIns="0" rIns="0" tIns="0" bIns="0" anchor="ctr">
            <a:spAutoFit/>
          </a:bodyPr>
          <a:lstStyle/>
          <a:p>
            <a:pPr algn="ctr"/>
            <a:r>
              <a:rPr sz="1300" b="1" i="0">
                <a:solidFill>
                  <a:srgbClr val="FFFFFF"/>
                </a:solidFill>
              </a:rPr>
              <a:t>Official run</a:t>
            </a:r>
          </a:p>
        </p:txBody>
      </p:sp>
      <p:sp>
        <p:nvSpPr>
          <p:cNvPr id="36" name="Rectangle 35"/>
          <p:cNvSpPr/>
          <p:nvPr/>
        </p:nvSpPr>
        <p:spPr>
          <a:xfrm>
            <a:off x="2958998" y="1874519"/>
            <a:ext cx="1907438" cy="2029967"/>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7" name="TextBox 36"/>
          <p:cNvSpPr txBox="1"/>
          <p:nvPr/>
        </p:nvSpPr>
        <p:spPr>
          <a:xfrm>
            <a:off x="3050438" y="1984248"/>
            <a:ext cx="1742846" cy="384048"/>
          </a:xfrm>
          <a:prstGeom prst="rect">
            <a:avLst/>
          </a:prstGeom>
          <a:noFill/>
        </p:spPr>
        <p:txBody>
          <a:bodyPr wrap="square" lIns="0" rIns="0" tIns="0" bIns="0" anchor="t">
            <a:spAutoFit/>
          </a:bodyPr>
          <a:lstStyle/>
          <a:p>
            <a:pPr algn="l" marL="146304" indent="-146304">
              <a:buClr>
                <a:srgbClr val="A51C30"/>
              </a:buClr>
              <a:buSzPct val="100000"/>
              <a:buFont typeface="Arial"/>
              <a:buChar char="▪"/>
            </a:pPr>
            <a:r>
              <a:rPr sz="1100" b="0" i="0">
                <a:solidFill>
                  <a:srgbClr val="1A1A1A"/>
                </a:solidFill>
              </a:rPr>
              <a:t>end of day, every node</a:t>
            </a:r>
          </a:p>
        </p:txBody>
      </p:sp>
      <p:sp>
        <p:nvSpPr>
          <p:cNvPr id="38" name="TextBox 37"/>
          <p:cNvSpPr txBox="1"/>
          <p:nvPr/>
        </p:nvSpPr>
        <p:spPr>
          <a:xfrm>
            <a:off x="3050438" y="2624328"/>
            <a:ext cx="1742846" cy="384048"/>
          </a:xfrm>
          <a:prstGeom prst="rect">
            <a:avLst/>
          </a:prstGeom>
          <a:noFill/>
        </p:spPr>
        <p:txBody>
          <a:bodyPr wrap="square" lIns="0" rIns="0" tIns="0" bIns="0" anchor="t">
            <a:spAutoFit/>
          </a:bodyPr>
          <a:lstStyle/>
          <a:p>
            <a:pPr algn="l" marL="146304" indent="-146304">
              <a:buClr>
                <a:srgbClr val="A51C30"/>
              </a:buClr>
              <a:buSzPct val="100000"/>
              <a:buFont typeface="Arial"/>
              <a:buChar char="▪"/>
            </a:pPr>
            <a:r>
              <a:rPr sz="1100" b="0" i="0">
                <a:solidFill>
                  <a:srgbClr val="1A1A1A"/>
                </a:solidFill>
              </a:rPr>
              <a:t>inputs' versions and batch ids</a:t>
            </a:r>
          </a:p>
        </p:txBody>
      </p:sp>
      <p:sp>
        <p:nvSpPr>
          <p:cNvPr id="39" name="TextBox 38"/>
          <p:cNvSpPr txBox="1"/>
          <p:nvPr/>
        </p:nvSpPr>
        <p:spPr>
          <a:xfrm>
            <a:off x="3050438" y="3264408"/>
            <a:ext cx="1742846" cy="384048"/>
          </a:xfrm>
          <a:prstGeom prst="rect">
            <a:avLst/>
          </a:prstGeom>
          <a:noFill/>
        </p:spPr>
        <p:txBody>
          <a:bodyPr wrap="square" lIns="0" rIns="0" tIns="0" bIns="0" anchor="t">
            <a:spAutoFit/>
          </a:bodyPr>
          <a:lstStyle/>
          <a:p>
            <a:pPr algn="l" marL="146304" indent="-146304">
              <a:buClr>
                <a:srgbClr val="A51C30"/>
              </a:buClr>
              <a:buSzPct val="100000"/>
              <a:buFont typeface="Arial"/>
              <a:buChar char="▪"/>
            </a:pPr>
            <a:r>
              <a:rPr sz="1100" b="0" i="0">
                <a:solidFill>
                  <a:srgbClr val="1A1A1A"/>
                </a:solidFill>
              </a:rPr>
              <a:t>a restatement is a new version</a:t>
            </a:r>
          </a:p>
        </p:txBody>
      </p:sp>
      <p:cxnSp>
        <p:nvCxnSpPr>
          <p:cNvPr id="40" name="Connector 39"/>
          <p:cNvCxnSpPr/>
          <p:nvPr/>
        </p:nvCxnSpPr>
        <p:spPr>
          <a:xfrm>
            <a:off x="4893868" y="1645920"/>
            <a:ext cx="219456"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1" name="Rectangle 40"/>
          <p:cNvSpPr/>
          <p:nvPr/>
        </p:nvSpPr>
        <p:spPr>
          <a:xfrm>
            <a:off x="5140756" y="1417320"/>
            <a:ext cx="1907438" cy="457200"/>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TextBox 41"/>
          <p:cNvSpPr txBox="1"/>
          <p:nvPr/>
        </p:nvSpPr>
        <p:spPr>
          <a:xfrm>
            <a:off x="5140756" y="1417320"/>
            <a:ext cx="1907438" cy="457200"/>
          </a:xfrm>
          <a:prstGeom prst="rect">
            <a:avLst/>
          </a:prstGeom>
          <a:noFill/>
        </p:spPr>
        <p:txBody>
          <a:bodyPr wrap="square" lIns="0" rIns="0" tIns="0" bIns="0" anchor="ctr">
            <a:spAutoFit/>
          </a:bodyPr>
          <a:lstStyle/>
          <a:p>
            <a:pPr algn="ctr"/>
            <a:r>
              <a:rPr sz="1300" b="1" i="0">
                <a:solidFill>
                  <a:srgbClr val="FFFFFF"/>
                </a:solidFill>
              </a:rPr>
              <a:t>Computed measures</a:t>
            </a:r>
          </a:p>
        </p:txBody>
      </p:sp>
      <p:sp>
        <p:nvSpPr>
          <p:cNvPr id="43" name="Rectangle 42"/>
          <p:cNvSpPr/>
          <p:nvPr/>
        </p:nvSpPr>
        <p:spPr>
          <a:xfrm>
            <a:off x="5140756" y="1874519"/>
            <a:ext cx="1907438" cy="2029967"/>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4" name="TextBox 43"/>
          <p:cNvSpPr txBox="1"/>
          <p:nvPr/>
        </p:nvSpPr>
        <p:spPr>
          <a:xfrm>
            <a:off x="5232196" y="1984248"/>
            <a:ext cx="1742846" cy="384048"/>
          </a:xfrm>
          <a:prstGeom prst="rect">
            <a:avLst/>
          </a:prstGeom>
          <a:noFill/>
        </p:spPr>
        <p:txBody>
          <a:bodyPr wrap="square" lIns="0" rIns="0" tIns="0" bIns="0" anchor="t">
            <a:spAutoFit/>
          </a:bodyPr>
          <a:lstStyle/>
          <a:p>
            <a:pPr algn="l" marL="146304" indent="-146304">
              <a:buClr>
                <a:srgbClr val="A51C30"/>
              </a:buClr>
              <a:buSzPct val="100000"/>
              <a:buFont typeface="Arial"/>
              <a:buChar char="▪"/>
            </a:pPr>
            <a:r>
              <a:rPr sz="1100" b="0" i="0">
                <a:solidFill>
                  <a:srgbClr val="1A1A1A"/>
                </a:solidFill>
              </a:rPr>
              <a:t>VaR, ES, backtest, diversification</a:t>
            </a:r>
          </a:p>
        </p:txBody>
      </p:sp>
      <p:sp>
        <p:nvSpPr>
          <p:cNvPr id="45" name="TextBox 44"/>
          <p:cNvSpPr txBox="1"/>
          <p:nvPr/>
        </p:nvSpPr>
        <p:spPr>
          <a:xfrm>
            <a:off x="5232196" y="2624328"/>
            <a:ext cx="1742846" cy="384048"/>
          </a:xfrm>
          <a:prstGeom prst="rect">
            <a:avLst/>
          </a:prstGeom>
          <a:noFill/>
        </p:spPr>
        <p:txBody>
          <a:bodyPr wrap="square" lIns="0" rIns="0" tIns="0" bIns="0" anchor="t">
            <a:spAutoFit/>
          </a:bodyPr>
          <a:lstStyle/>
          <a:p>
            <a:pPr algn="l" marL="146304" indent="-146304">
              <a:buClr>
                <a:srgbClr val="A51C30"/>
              </a:buClr>
              <a:buSzPct val="100000"/>
              <a:buFont typeface="Arial"/>
              <a:buChar char="▪"/>
            </a:pPr>
            <a:r>
              <a:rPr sz="1100" b="0" i="0">
                <a:solidFill>
                  <a:srgbClr val="1A1A1A"/>
                </a:solidFill>
              </a:rPr>
              <a:t>10-day and stressed VaR</a:t>
            </a:r>
          </a:p>
        </p:txBody>
      </p:sp>
      <p:sp>
        <p:nvSpPr>
          <p:cNvPr id="46" name="Rounded Rectangle 45"/>
          <p:cNvSpPr/>
          <p:nvPr/>
        </p:nvSpPr>
        <p:spPr>
          <a:xfrm>
            <a:off x="5378500" y="3017520"/>
            <a:ext cx="598932" cy="201168"/>
          </a:xfrm>
          <a:prstGeom prst="roundRect">
            <a:avLst>
              <a:gd name="adj" fmla="val 50000"/>
            </a:avLst>
          </a:prstGeom>
          <a:solidFill>
            <a:srgbClr val="FFFFFF"/>
          </a:solidFill>
          <a:ln w="12700">
            <a:solidFill>
              <a:srgbClr val="293352"/>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293352"/>
                </a:solidFill>
              </a:rPr>
              <a:t>PLANNED</a:t>
            </a:r>
          </a:p>
        </p:txBody>
      </p:sp>
      <p:sp>
        <p:nvSpPr>
          <p:cNvPr id="47" name="TextBox 46"/>
          <p:cNvSpPr txBox="1"/>
          <p:nvPr/>
        </p:nvSpPr>
        <p:spPr>
          <a:xfrm>
            <a:off x="5232196" y="3264408"/>
            <a:ext cx="1742846" cy="384048"/>
          </a:xfrm>
          <a:prstGeom prst="rect">
            <a:avLst/>
          </a:prstGeom>
          <a:noFill/>
        </p:spPr>
        <p:txBody>
          <a:bodyPr wrap="square" lIns="0" rIns="0" tIns="0" bIns="0" anchor="t">
            <a:spAutoFit/>
          </a:bodyPr>
          <a:lstStyle/>
          <a:p>
            <a:pPr algn="l" marL="146304" indent="-146304">
              <a:buClr>
                <a:srgbClr val="A51C30"/>
              </a:buClr>
              <a:buSzPct val="100000"/>
              <a:buFont typeface="Arial"/>
              <a:buChar char="▪"/>
            </a:pPr>
            <a:r>
              <a:rPr sz="1100" b="0" i="0">
                <a:solidFill>
                  <a:srgbClr val="1A1A1A"/>
                </a:solidFill>
              </a:rPr>
              <a:t>period statistics, averages</a:t>
            </a:r>
          </a:p>
        </p:txBody>
      </p:sp>
      <p:sp>
        <p:nvSpPr>
          <p:cNvPr id="48" name="Rounded Rectangle 47"/>
          <p:cNvSpPr/>
          <p:nvPr/>
        </p:nvSpPr>
        <p:spPr>
          <a:xfrm>
            <a:off x="5378500" y="3657600"/>
            <a:ext cx="736092" cy="201168"/>
          </a:xfrm>
          <a:prstGeom prst="roundRect">
            <a:avLst>
              <a:gd name="adj" fmla="val 50000"/>
            </a:avLst>
          </a:prstGeom>
          <a:solidFill>
            <a:srgbClr val="E9E6E1"/>
          </a:solidFill>
          <a:ln w="12700">
            <a:solidFill>
              <a:srgbClr val="4A5058"/>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4A5058"/>
                </a:solidFill>
              </a:rPr>
              <a:t>NOT BUILT</a:t>
            </a:r>
          </a:p>
        </p:txBody>
      </p:sp>
      <p:cxnSp>
        <p:nvCxnSpPr>
          <p:cNvPr id="49" name="Connector 48"/>
          <p:cNvCxnSpPr/>
          <p:nvPr/>
        </p:nvCxnSpPr>
        <p:spPr>
          <a:xfrm>
            <a:off x="7075627" y="1645920"/>
            <a:ext cx="219456"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0" name="Rectangle 49"/>
          <p:cNvSpPr/>
          <p:nvPr/>
        </p:nvSpPr>
        <p:spPr>
          <a:xfrm>
            <a:off x="7322515" y="1417320"/>
            <a:ext cx="1907438" cy="457200"/>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1" name="TextBox 50"/>
          <p:cNvSpPr txBox="1"/>
          <p:nvPr/>
        </p:nvSpPr>
        <p:spPr>
          <a:xfrm>
            <a:off x="7322515" y="1417320"/>
            <a:ext cx="1907438" cy="457200"/>
          </a:xfrm>
          <a:prstGeom prst="rect">
            <a:avLst/>
          </a:prstGeom>
          <a:noFill/>
        </p:spPr>
        <p:txBody>
          <a:bodyPr wrap="square" lIns="0" rIns="0" tIns="0" bIns="0" anchor="ctr">
            <a:spAutoFit/>
          </a:bodyPr>
          <a:lstStyle/>
          <a:p>
            <a:pPr algn="ctr"/>
            <a:r>
              <a:rPr sz="1300" b="1" i="0">
                <a:solidFill>
                  <a:srgbClr val="FFFFFF"/>
                </a:solidFill>
              </a:rPr>
              <a:t>Report layer</a:t>
            </a:r>
          </a:p>
        </p:txBody>
      </p:sp>
      <p:sp>
        <p:nvSpPr>
          <p:cNvPr id="52" name="Rectangle 51"/>
          <p:cNvSpPr/>
          <p:nvPr/>
        </p:nvSpPr>
        <p:spPr>
          <a:xfrm>
            <a:off x="7322515" y="1874519"/>
            <a:ext cx="1907438" cy="2029967"/>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3" name="TextBox 52"/>
          <p:cNvSpPr txBox="1"/>
          <p:nvPr/>
        </p:nvSpPr>
        <p:spPr>
          <a:xfrm>
            <a:off x="7413955" y="1984248"/>
            <a:ext cx="1742846" cy="384048"/>
          </a:xfrm>
          <a:prstGeom prst="rect">
            <a:avLst/>
          </a:prstGeom>
          <a:noFill/>
        </p:spPr>
        <p:txBody>
          <a:bodyPr wrap="square" lIns="0" rIns="0" tIns="0" bIns="0" anchor="t">
            <a:spAutoFit/>
          </a:bodyPr>
          <a:lstStyle/>
          <a:p>
            <a:pPr algn="l" marL="146304" indent="-146304">
              <a:buClr>
                <a:srgbClr val="A51C30"/>
              </a:buClr>
              <a:buSzPct val="100000"/>
              <a:buFont typeface="Arial"/>
              <a:buChar char="▪"/>
            </a:pPr>
            <a:r>
              <a:rPr sz="1100" b="0" i="0">
                <a:solidFill>
                  <a:srgbClr val="1A1A1A"/>
                </a:solidFill>
              </a:rPr>
              <a:t>BI reports and paginated reports</a:t>
            </a:r>
          </a:p>
        </p:txBody>
      </p:sp>
      <p:sp>
        <p:nvSpPr>
          <p:cNvPr id="54" name="TextBox 53"/>
          <p:cNvSpPr txBox="1"/>
          <p:nvPr/>
        </p:nvSpPr>
        <p:spPr>
          <a:xfrm>
            <a:off x="7413955" y="2624328"/>
            <a:ext cx="1742846" cy="384048"/>
          </a:xfrm>
          <a:prstGeom prst="rect">
            <a:avLst/>
          </a:prstGeom>
          <a:noFill/>
        </p:spPr>
        <p:txBody>
          <a:bodyPr wrap="square" lIns="0" rIns="0" tIns="0" bIns="0" anchor="t">
            <a:spAutoFit/>
          </a:bodyPr>
          <a:lstStyle/>
          <a:p>
            <a:pPr algn="l" marL="146304" indent="-146304">
              <a:buClr>
                <a:srgbClr val="A51C30"/>
              </a:buClr>
              <a:buSzPct val="100000"/>
              <a:buFont typeface="Arial"/>
              <a:buChar char="▪"/>
            </a:pPr>
            <a:r>
              <a:rPr sz="1100" b="0" i="0">
                <a:solidFill>
                  <a:srgbClr val="1A1A1A"/>
                </a:solidFill>
              </a:rPr>
              <a:t>extracts: Excel, CSV, PDF</a:t>
            </a:r>
          </a:p>
        </p:txBody>
      </p:sp>
      <p:sp>
        <p:nvSpPr>
          <p:cNvPr id="55" name="TextBox 54"/>
          <p:cNvSpPr txBox="1"/>
          <p:nvPr/>
        </p:nvSpPr>
        <p:spPr>
          <a:xfrm>
            <a:off x="7413955" y="3264408"/>
            <a:ext cx="1742846" cy="384048"/>
          </a:xfrm>
          <a:prstGeom prst="rect">
            <a:avLst/>
          </a:prstGeom>
          <a:noFill/>
        </p:spPr>
        <p:txBody>
          <a:bodyPr wrap="square" lIns="0" rIns="0" tIns="0" bIns="0" anchor="t">
            <a:spAutoFit/>
          </a:bodyPr>
          <a:lstStyle/>
          <a:p>
            <a:pPr algn="l" marL="146304" indent="-146304">
              <a:buClr>
                <a:srgbClr val="A51C30"/>
              </a:buClr>
              <a:buSzPct val="100000"/>
              <a:buFont typeface="Arial"/>
              <a:buChar char="▪"/>
            </a:pPr>
            <a:r>
              <a:rPr sz="1100" b="0" i="0">
                <a:solidFill>
                  <a:srgbClr val="1A1A1A"/>
                </a:solidFill>
              </a:rPr>
              <a:t>the published official table</a:t>
            </a:r>
          </a:p>
        </p:txBody>
      </p:sp>
      <p:cxnSp>
        <p:nvCxnSpPr>
          <p:cNvPr id="56" name="Connector 55"/>
          <p:cNvCxnSpPr/>
          <p:nvPr/>
        </p:nvCxnSpPr>
        <p:spPr>
          <a:xfrm>
            <a:off x="9257385" y="1645920"/>
            <a:ext cx="219456"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7" name="Rectangle 56"/>
          <p:cNvSpPr/>
          <p:nvPr/>
        </p:nvSpPr>
        <p:spPr>
          <a:xfrm>
            <a:off x="9504273" y="1417320"/>
            <a:ext cx="1907438" cy="457200"/>
          </a:xfrm>
          <a:prstGeom prst="rect">
            <a:avLst/>
          </a:prstGeom>
          <a:solidFill>
            <a:srgbClr val="4A505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8" name="TextBox 57"/>
          <p:cNvSpPr txBox="1"/>
          <p:nvPr/>
        </p:nvSpPr>
        <p:spPr>
          <a:xfrm>
            <a:off x="9504273" y="1417320"/>
            <a:ext cx="1907438" cy="457200"/>
          </a:xfrm>
          <a:prstGeom prst="rect">
            <a:avLst/>
          </a:prstGeom>
          <a:noFill/>
        </p:spPr>
        <p:txBody>
          <a:bodyPr wrap="square" lIns="0" rIns="0" tIns="0" bIns="0" anchor="ctr">
            <a:spAutoFit/>
          </a:bodyPr>
          <a:lstStyle/>
          <a:p>
            <a:pPr algn="ctr"/>
            <a:r>
              <a:rPr sz="1300" b="1" i="0">
                <a:solidFill>
                  <a:srgbClr val="FFFFFF"/>
                </a:solidFill>
              </a:rPr>
              <a:t>Filing</a:t>
            </a:r>
          </a:p>
        </p:txBody>
      </p:sp>
      <p:sp>
        <p:nvSpPr>
          <p:cNvPr id="59" name="Rectangle 58"/>
          <p:cNvSpPr/>
          <p:nvPr/>
        </p:nvSpPr>
        <p:spPr>
          <a:xfrm>
            <a:off x="9504273" y="1874519"/>
            <a:ext cx="1907438" cy="2029967"/>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0" name="TextBox 59"/>
          <p:cNvSpPr txBox="1"/>
          <p:nvPr/>
        </p:nvSpPr>
        <p:spPr>
          <a:xfrm>
            <a:off x="9595713" y="1984248"/>
            <a:ext cx="1742846" cy="384048"/>
          </a:xfrm>
          <a:prstGeom prst="rect">
            <a:avLst/>
          </a:prstGeom>
          <a:noFill/>
        </p:spPr>
        <p:txBody>
          <a:bodyPr wrap="square" lIns="0" rIns="0" tIns="0" bIns="0" anchor="t">
            <a:spAutoFit/>
          </a:bodyPr>
          <a:lstStyle/>
          <a:p>
            <a:pPr algn="l" marL="146304" indent="-146304">
              <a:buClr>
                <a:srgbClr val="A51C30"/>
              </a:buClr>
              <a:buSzPct val="100000"/>
              <a:buFont typeface="Arial"/>
              <a:buChar char="▪"/>
            </a:pPr>
            <a:r>
              <a:rPr sz="1100" b="0" i="0">
                <a:solidFill>
                  <a:srgbClr val="1A1A1A"/>
                </a:solidFill>
              </a:rPr>
              <a:t>the bank's own filing channels</a:t>
            </a:r>
          </a:p>
        </p:txBody>
      </p:sp>
      <p:sp>
        <p:nvSpPr>
          <p:cNvPr id="61" name="TextBox 60"/>
          <p:cNvSpPr txBox="1"/>
          <p:nvPr/>
        </p:nvSpPr>
        <p:spPr>
          <a:xfrm>
            <a:off x="9595713" y="2624328"/>
            <a:ext cx="1742846" cy="384048"/>
          </a:xfrm>
          <a:prstGeom prst="rect">
            <a:avLst/>
          </a:prstGeom>
          <a:noFill/>
        </p:spPr>
        <p:txBody>
          <a:bodyPr wrap="square" lIns="0" rIns="0" tIns="0" bIns="0" anchor="t">
            <a:spAutoFit/>
          </a:bodyPr>
          <a:lstStyle/>
          <a:p>
            <a:pPr algn="l" marL="146304" indent="-146304">
              <a:buClr>
                <a:srgbClr val="A51C30"/>
              </a:buClr>
              <a:buSzPct val="100000"/>
              <a:buFont typeface="Arial"/>
              <a:buChar char="▪"/>
            </a:pPr>
            <a:r>
              <a:rPr sz="1100" b="0" i="0">
                <a:solidFill>
                  <a:srgbClr val="1A1A1A"/>
                </a:solidFill>
              </a:rPr>
              <a:t>the bank's review and approval</a:t>
            </a:r>
          </a:p>
        </p:txBody>
      </p:sp>
      <p:sp>
        <p:nvSpPr>
          <p:cNvPr id="62" name="TextBox 61"/>
          <p:cNvSpPr txBox="1"/>
          <p:nvPr/>
        </p:nvSpPr>
        <p:spPr>
          <a:xfrm>
            <a:off x="9595713" y="3264408"/>
            <a:ext cx="1742846" cy="384048"/>
          </a:xfrm>
          <a:prstGeom prst="rect">
            <a:avLst/>
          </a:prstGeom>
          <a:noFill/>
        </p:spPr>
        <p:txBody>
          <a:bodyPr wrap="square" lIns="0" rIns="0" tIns="0" bIns="0" anchor="t">
            <a:spAutoFit/>
          </a:bodyPr>
          <a:lstStyle/>
          <a:p>
            <a:pPr algn="l" marL="146304" indent="-146304">
              <a:buClr>
                <a:srgbClr val="A51C30"/>
              </a:buClr>
              <a:buSzPct val="100000"/>
              <a:buFont typeface="Arial"/>
              <a:buChar char="▪"/>
            </a:pPr>
            <a:r>
              <a:rPr sz="1100" b="0" i="0">
                <a:solidFill>
                  <a:srgbClr val="1A1A1A"/>
                </a:solidFill>
              </a:rPr>
              <a:t>Drishti does not file</a:t>
            </a:r>
          </a:p>
        </p:txBody>
      </p:sp>
      <p:sp>
        <p:nvSpPr>
          <p:cNvPr id="63" name="Rectangle 62"/>
          <p:cNvSpPr/>
          <p:nvPr/>
        </p:nvSpPr>
        <p:spPr>
          <a:xfrm>
            <a:off x="777240" y="4133087"/>
            <a:ext cx="5955304" cy="1691640"/>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4" name="Rectangle 63"/>
          <p:cNvSpPr/>
          <p:nvPr/>
        </p:nvSpPr>
        <p:spPr>
          <a:xfrm>
            <a:off x="777240" y="4133087"/>
            <a:ext cx="45720" cy="1691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5" name="TextBox 64"/>
          <p:cNvSpPr txBox="1"/>
          <p:nvPr/>
        </p:nvSpPr>
        <p:spPr>
          <a:xfrm>
            <a:off x="960120" y="4224527"/>
            <a:ext cx="5680984" cy="1554480"/>
          </a:xfrm>
          <a:prstGeom prst="rect">
            <a:avLst/>
          </a:prstGeom>
          <a:noFill/>
        </p:spPr>
        <p:txBody>
          <a:bodyPr wrap="square" lIns="0" rIns="0" tIns="0" bIns="0" anchor="t">
            <a:spAutoFit/>
          </a:bodyPr>
          <a:lstStyle/>
          <a:p>
            <a:pPr algn="l">
              <a:spcAft>
                <a:spcPts val="400"/>
              </a:spcAft>
            </a:pPr>
            <a:r>
              <a:rPr sz="1300" b="1" i="0">
                <a:solidFill>
                  <a:srgbClr val="8A1626"/>
                </a:solidFill>
              </a:rPr>
              <a:t>Example: a quarter's US VaR figures</a:t>
            </a:r>
          </a:p>
          <a:p>
            <a:pPr algn="l" marL="146304" indent="-146304">
              <a:spcAft>
                <a:spcPts val="400"/>
              </a:spcAft>
              <a:buClr>
                <a:srgbClr val="A51C30"/>
              </a:buClr>
              <a:buSzPct val="100000"/>
              <a:buFont typeface="Arial"/>
              <a:buChar char="▪"/>
            </a:pPr>
            <a:r>
              <a:rPr sz="1150" b="0" i="0">
                <a:solidFill>
                  <a:srgbClr val="1A1A1A"/>
                </a:solidFill>
              </a:rPr>
              <a:t>the official records of the quarter's business days, each node's VaR at its own result version</a:t>
            </a:r>
          </a:p>
          <a:p>
            <a:pPr algn="l" marL="146304" indent="-146304">
              <a:spcAft>
                <a:spcPts val="400"/>
              </a:spcAft>
              <a:buClr>
                <a:srgbClr val="A51C30"/>
              </a:buClr>
              <a:buSzPct val="100000"/>
              <a:buFont typeface="Arial"/>
              <a:buChar char="▪"/>
            </a:pPr>
            <a:r>
              <a:rPr sz="1150" b="0" i="0">
                <a:solidFill>
                  <a:srgbClr val="1A1A1A"/>
                </a:solidFill>
              </a:rPr>
              <a:t>10-day VaR: the latest and the 60-day average × the multiplier from 250 days of exceptions</a:t>
            </a:r>
          </a:p>
          <a:p>
            <a:pPr algn="l" marL="146304" indent="-146304">
              <a:spcAft>
                <a:spcPts val="400"/>
              </a:spcAft>
              <a:buClr>
                <a:srgbClr val="A51C30"/>
              </a:buClr>
              <a:buSzPct val="100000"/>
              <a:buFont typeface="Arial"/>
              <a:buChar char="▪"/>
            </a:pPr>
            <a:r>
              <a:rPr sz="1150" b="0" i="0">
                <a:solidFill>
                  <a:srgbClr val="1A1A1A"/>
                </a:solidFill>
              </a:rPr>
              <a:t>stressed VaR: the latest and the 12-week average; high, low, mean and period end by risk type</a:t>
            </a:r>
          </a:p>
          <a:p>
            <a:pPr algn="l" marL="146304" indent="-146304">
              <a:spcAft>
                <a:spcPts val="400"/>
              </a:spcAft>
              <a:buClr>
                <a:srgbClr val="A51C30"/>
              </a:buClr>
              <a:buSzPct val="100000"/>
              <a:buFont typeface="Arial"/>
              <a:buChar char="▪"/>
            </a:pPr>
            <a:r>
              <a:rPr sz="1150" b="0" i="0">
                <a:solidFill>
                  <a:srgbClr val="1A1A1A"/>
                </a:solidFill>
              </a:rPr>
              <a:t>laid out as the report's table; exported for the bank's filing</a:t>
            </a:r>
          </a:p>
        </p:txBody>
      </p:sp>
      <p:sp>
        <p:nvSpPr>
          <p:cNvPr id="66" name="Rectangle 65"/>
          <p:cNvSpPr/>
          <p:nvPr/>
        </p:nvSpPr>
        <p:spPr>
          <a:xfrm>
            <a:off x="6961144" y="4133087"/>
            <a:ext cx="4450567" cy="169164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7" name="Rectangle 66"/>
          <p:cNvSpPr/>
          <p:nvPr/>
        </p:nvSpPr>
        <p:spPr>
          <a:xfrm>
            <a:off x="6961144" y="4133087"/>
            <a:ext cx="45720" cy="1691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8" name="TextBox 67"/>
          <p:cNvSpPr txBox="1"/>
          <p:nvPr/>
        </p:nvSpPr>
        <p:spPr>
          <a:xfrm>
            <a:off x="7144024" y="4224527"/>
            <a:ext cx="4176247" cy="1554480"/>
          </a:xfrm>
          <a:prstGeom prst="rect">
            <a:avLst/>
          </a:prstGeom>
          <a:noFill/>
        </p:spPr>
        <p:txBody>
          <a:bodyPr wrap="square" lIns="0" rIns="0" tIns="0" bIns="0" anchor="t">
            <a:spAutoFit/>
          </a:bodyPr>
          <a:lstStyle/>
          <a:p>
            <a:pPr algn="l">
              <a:spcAft>
                <a:spcPts val="400"/>
              </a:spcAft>
            </a:pPr>
            <a:r>
              <a:rPr sz="1300" b="1" i="0">
                <a:solidFill>
                  <a:srgbClr val="8A1626"/>
                </a:solidFill>
              </a:rPr>
              <a:t>Reproducible as of a date</a:t>
            </a:r>
          </a:p>
          <a:p>
            <a:pPr algn="l" marL="146304" indent="-146304">
              <a:spcAft>
                <a:spcPts val="400"/>
              </a:spcAft>
              <a:buClr>
                <a:srgbClr val="A51C30"/>
              </a:buClr>
              <a:buSzPct val="100000"/>
              <a:buFont typeface="Arial"/>
              <a:buChar char="▪"/>
            </a:pPr>
            <a:r>
              <a:rPr sz="1150" b="0" i="0">
                <a:solidFill>
                  <a:srgbClr val="1A1A1A"/>
                </a:solidFill>
              </a:rPr>
              <a:t>each record names its inputs' versions, batch ids and position rules</a:t>
            </a:r>
          </a:p>
          <a:p>
            <a:pPr algn="l" marL="146304" indent="-146304">
              <a:spcAft>
                <a:spcPts val="400"/>
              </a:spcAft>
              <a:buClr>
                <a:srgbClr val="A51C30"/>
              </a:buClr>
              <a:buSzPct val="100000"/>
              <a:buFont typeface="Arial"/>
              <a:buChar char="▪"/>
            </a:pPr>
            <a:r>
              <a:rPr sz="1150" b="0" i="0">
                <a:solidFill>
                  <a:srgbClr val="1A1A1A"/>
                </a:solidFill>
              </a:rPr>
              <a:t>the members of every node kept with the record</a:t>
            </a:r>
          </a:p>
          <a:p>
            <a:pPr algn="l" marL="146304" indent="-146304">
              <a:spcAft>
                <a:spcPts val="400"/>
              </a:spcAft>
              <a:buClr>
                <a:srgbClr val="A51C30"/>
              </a:buClr>
              <a:buSzPct val="100000"/>
              <a:buFont typeface="Arial"/>
              <a:buChar char="▪"/>
            </a:pPr>
            <a:r>
              <a:rPr sz="1150" b="0" i="0">
                <a:solidFill>
                  <a:srgbClr val="1A1A1A"/>
                </a:solidFill>
              </a:rPr>
              <a:t>append-only, 7 years, Delta or Iceberg</a:t>
            </a:r>
          </a:p>
          <a:p>
            <a:pPr algn="l" marL="146304" indent="-146304">
              <a:spcAft>
                <a:spcPts val="400"/>
              </a:spcAft>
              <a:buClr>
                <a:srgbClr val="A51C30"/>
              </a:buClr>
              <a:buSzPct val="100000"/>
              <a:buFont typeface="Arial"/>
              <a:buChar char="▪"/>
            </a:pPr>
            <a:r>
              <a:rPr sz="1150" b="0" i="0">
                <a:solidFill>
                  <a:srgbClr val="1A1A1A"/>
                </a:solidFill>
              </a:rPr>
              <a:t>recomputed from the same vectors and engine: the same number</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hapter background"/>
          <p:cNvSpPr/>
          <p:nvPr/>
        </p:nvSpPr>
        <p:spPr>
          <a:xfrm>
            <a:off x="0" y="0"/>
            <a:ext cx="12191969"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chapter number"/>
          <p:cNvSpPr txBox="1"/>
          <p:nvPr/>
        </p:nvSpPr>
        <p:spPr>
          <a:xfrm>
            <a:off x="4754880" y="-822960"/>
            <a:ext cx="7223760" cy="7863840"/>
          </a:xfrm>
          <a:prstGeom prst="rect">
            <a:avLst/>
          </a:prstGeom>
          <a:noFill/>
        </p:spPr>
        <p:txBody>
          <a:bodyPr wrap="none" lIns="0" rIns="0" tIns="0" bIns="0" anchor="ctr">
            <a:spAutoFit/>
          </a:bodyPr>
          <a:lstStyle/>
          <a:p>
            <a:pPr algn="r"/>
            <a:r>
              <a:rPr sz="42000" b="1" i="0">
                <a:solidFill>
                  <a:srgbClr val="B8394C"/>
                </a:solidFill>
              </a:rPr>
              <a:t>10</a:t>
            </a:r>
          </a:p>
        </p:txBody>
      </p:sp>
      <p:sp>
        <p:nvSpPr>
          <p:cNvPr id="4" name="chapter name"/>
          <p:cNvSpPr txBox="1"/>
          <p:nvPr/>
        </p:nvSpPr>
        <p:spPr>
          <a:xfrm>
            <a:off x="822960" y="2514600"/>
            <a:ext cx="6949440" cy="1828800"/>
          </a:xfrm>
          <a:prstGeom prst="rect">
            <a:avLst/>
          </a:prstGeom>
          <a:noFill/>
        </p:spPr>
        <p:txBody>
          <a:bodyPr wrap="square" lIns="0" rIns="0" tIns="0" bIns="0" anchor="ctr">
            <a:spAutoFit/>
          </a:bodyPr>
          <a:lstStyle/>
          <a:p>
            <a:pPr algn="l"/>
            <a:r>
              <a:rPr sz="4400" b="1" i="0">
                <a:solidFill>
                  <a:srgbClr val="FFFFFF"/>
                </a:solidFill>
              </a:rPr>
              <a:t>Roadmap and rollout</a:t>
            </a:r>
          </a:p>
        </p:txBody>
      </p:sp>
      <p:pic>
        <p:nvPicPr>
          <p:cNvPr id="5" name="Drishti mark" descr="Drishti logo: an eye between curly brackets"/>
          <p:cNvPicPr>
            <a:picLocks noChangeAspect="1"/>
          </p:cNvPicPr>
          <p:nvPr/>
        </p:nvPicPr>
        <p:blipFill>
          <a:blip r:embed="rId2"/>
          <a:stretch>
            <a:fillRect/>
          </a:stretch>
        </p:blipFill>
        <p:spPr>
          <a:xfrm>
            <a:off x="822960" y="6236208"/>
            <a:ext cx="430911" cy="237744"/>
          </a:xfrm>
          <a:prstGeom prst="rect">
            <a:avLst/>
          </a:prstGeom>
        </p:spPr>
      </p:pic>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ROADMAP</a:t>
            </a:r>
          </a:p>
        </p:txBody>
      </p:sp>
      <p:sp>
        <p:nvSpPr>
          <p:cNvPr id="3" name="Title 2"/>
          <p:cNvSpPr>
            <a:spLocks noGrp="1"/>
          </p:cNvSpPr>
          <p:nvPr>
            <p:ph type="title" idx="104"/>
          </p:nvPr>
        </p:nvSpPr>
        <p:spPr/>
        <p:txBody>
          <a:bodyPr/>
          <a:lstStyle/>
          <a:p>
            <a:r>
              <a:t>What is built, and what comes next</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371600"/>
            <a:ext cx="5180076" cy="274320"/>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TextBox 26"/>
          <p:cNvSpPr txBox="1"/>
          <p:nvPr/>
        </p:nvSpPr>
        <p:spPr>
          <a:xfrm>
            <a:off x="886968" y="1371600"/>
            <a:ext cx="4997196" cy="274320"/>
          </a:xfrm>
          <a:prstGeom prst="rect">
            <a:avLst/>
          </a:prstGeom>
          <a:noFill/>
        </p:spPr>
        <p:txBody>
          <a:bodyPr wrap="square" lIns="0" rIns="0" tIns="0" bIns="0" anchor="ctr">
            <a:spAutoFit/>
          </a:bodyPr>
          <a:lstStyle/>
          <a:p>
            <a:pPr algn="l"/>
            <a:r>
              <a:rPr sz="1200" b="1" i="0">
                <a:solidFill>
                  <a:srgbClr val="FFFFFF"/>
                </a:solidFill>
              </a:rPr>
              <a:t>Built  ·  unlabelled</a:t>
            </a:r>
          </a:p>
        </p:txBody>
      </p:sp>
      <p:sp>
        <p:nvSpPr>
          <p:cNvPr id="28" name="Rectangle 27"/>
          <p:cNvSpPr/>
          <p:nvPr/>
        </p:nvSpPr>
        <p:spPr>
          <a:xfrm>
            <a:off x="777240" y="1700784"/>
            <a:ext cx="5180076" cy="393192"/>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TextBox 28"/>
          <p:cNvSpPr txBox="1"/>
          <p:nvPr/>
        </p:nvSpPr>
        <p:spPr>
          <a:xfrm>
            <a:off x="886968" y="1700784"/>
            <a:ext cx="4951476" cy="393192"/>
          </a:xfrm>
          <a:prstGeom prst="rect">
            <a:avLst/>
          </a:prstGeom>
          <a:noFill/>
        </p:spPr>
        <p:txBody>
          <a:bodyPr wrap="square" lIns="0" rIns="0" tIns="0" bIns="0" anchor="ctr">
            <a:spAutoFit/>
          </a:bodyPr>
          <a:lstStyle/>
          <a:p>
            <a:pPr algn="l"/>
            <a:r>
              <a:rPr sz="1200" b="1" i="0">
                <a:solidFill>
                  <a:srgbClr val="8A1626"/>
                </a:solidFill>
              </a:rPr>
              <a:t>Any input: PVs or P&amp;L, trade or position </a:t>
            </a:r>
          </a:p>
          <a:p>
            <a:pPr algn="l"/>
            <a:r>
              <a:rPr sz="1100" b="0" i="0">
                <a:solidFill>
                  <a:srgbClr val="4A5058"/>
                </a:solidFill>
              </a:rPr>
              <a:t>files and Kafka; mixed per system</a:t>
            </a:r>
          </a:p>
        </p:txBody>
      </p:sp>
      <p:sp>
        <p:nvSpPr>
          <p:cNvPr id="30" name="Rectangle 29"/>
          <p:cNvSpPr/>
          <p:nvPr/>
        </p:nvSpPr>
        <p:spPr>
          <a:xfrm>
            <a:off x="777240" y="2130552"/>
            <a:ext cx="5180076" cy="393192"/>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TextBox 30"/>
          <p:cNvSpPr txBox="1"/>
          <p:nvPr/>
        </p:nvSpPr>
        <p:spPr>
          <a:xfrm>
            <a:off x="886968" y="2130552"/>
            <a:ext cx="4951476" cy="393192"/>
          </a:xfrm>
          <a:prstGeom prst="rect">
            <a:avLst/>
          </a:prstGeom>
          <a:noFill/>
        </p:spPr>
        <p:txBody>
          <a:bodyPr wrap="square" lIns="0" rIns="0" tIns="0" bIns="0" anchor="ctr">
            <a:spAutoFit/>
          </a:bodyPr>
          <a:lstStyle/>
          <a:p>
            <a:pPr algn="l"/>
            <a:r>
              <a:rPr sz="1200" b="1" i="0">
                <a:solidFill>
                  <a:srgbClr val="8A1626"/>
                </a:solidFill>
              </a:rPr>
              <a:t>Intraday: files and Kafka micro-batches </a:t>
            </a:r>
          </a:p>
          <a:p>
            <a:pPr algn="l"/>
            <a:r>
              <a:rPr sz="1100" b="0" i="0">
                <a:solidFill>
                  <a:srgbClr val="4A5058"/>
                </a:solidFill>
              </a:rPr>
              <a:t>new − old; equal to one run to the cent</a:t>
            </a:r>
          </a:p>
        </p:txBody>
      </p:sp>
      <p:sp>
        <p:nvSpPr>
          <p:cNvPr id="32" name="Rectangle 31"/>
          <p:cNvSpPr/>
          <p:nvPr/>
        </p:nvSpPr>
        <p:spPr>
          <a:xfrm>
            <a:off x="777240" y="2560320"/>
            <a:ext cx="5180076" cy="393192"/>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TextBox 32"/>
          <p:cNvSpPr txBox="1"/>
          <p:nvPr/>
        </p:nvSpPr>
        <p:spPr>
          <a:xfrm>
            <a:off x="886968" y="2560320"/>
            <a:ext cx="4951476" cy="393192"/>
          </a:xfrm>
          <a:prstGeom prst="rect">
            <a:avLst/>
          </a:prstGeom>
          <a:noFill/>
        </p:spPr>
        <p:txBody>
          <a:bodyPr wrap="square" lIns="0" rIns="0" tIns="0" bIns="0" anchor="ctr">
            <a:spAutoFit/>
          </a:bodyPr>
          <a:lstStyle/>
          <a:p>
            <a:pPr algn="l"/>
            <a:r>
              <a:rPr sz="1200" b="1" i="0">
                <a:solidFill>
                  <a:srgbClr val="8A1626"/>
                </a:solidFill>
              </a:rPr>
              <a:t>Any reporting currency; five built ahead </a:t>
            </a:r>
          </a:p>
          <a:p>
            <a:pPr algn="l"/>
            <a:r>
              <a:rPr sz="1100" b="0" i="0">
                <a:solidFill>
                  <a:srgbClr val="4A5058"/>
                </a:solidFill>
              </a:rPr>
              <a:t>scenario FX; exact per-currency totals</a:t>
            </a:r>
          </a:p>
        </p:txBody>
      </p:sp>
      <p:sp>
        <p:nvSpPr>
          <p:cNvPr id="34" name="Rectangle 33"/>
          <p:cNvSpPr/>
          <p:nvPr/>
        </p:nvSpPr>
        <p:spPr>
          <a:xfrm>
            <a:off x="777240" y="2990088"/>
            <a:ext cx="5180076" cy="393192"/>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TextBox 34"/>
          <p:cNvSpPr txBox="1"/>
          <p:nvPr/>
        </p:nvSpPr>
        <p:spPr>
          <a:xfrm>
            <a:off x="886968" y="2990088"/>
            <a:ext cx="4951476" cy="393192"/>
          </a:xfrm>
          <a:prstGeom prst="rect">
            <a:avLst/>
          </a:prstGeom>
          <a:noFill/>
        </p:spPr>
        <p:txBody>
          <a:bodyPr wrap="square" lIns="0" rIns="0" tIns="0" bIns="0" anchor="ctr">
            <a:spAutoFit/>
          </a:bodyPr>
          <a:lstStyle/>
          <a:p>
            <a:pPr algn="l"/>
            <a:r>
              <a:rPr sz="1200" b="1" i="0">
                <a:solidFill>
                  <a:srgbClr val="8A1626"/>
                </a:solidFill>
              </a:rPr>
              <a:t>Official records, append-only, 7 years </a:t>
            </a:r>
          </a:p>
          <a:p>
            <a:pPr algn="l"/>
            <a:r>
              <a:rPr sz="1100" b="0" i="0">
                <a:solidFill>
                  <a:srgbClr val="4A5058"/>
                </a:solidFill>
              </a:rPr>
              <a:t>every hierarchy; Delta or Iceberg, folder or S3</a:t>
            </a:r>
          </a:p>
        </p:txBody>
      </p:sp>
      <p:sp>
        <p:nvSpPr>
          <p:cNvPr id="36" name="Rectangle 35"/>
          <p:cNvSpPr/>
          <p:nvPr/>
        </p:nvSpPr>
        <p:spPr>
          <a:xfrm>
            <a:off x="777240" y="3419856"/>
            <a:ext cx="5180076" cy="393192"/>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7" name="TextBox 36"/>
          <p:cNvSpPr txBox="1"/>
          <p:nvPr/>
        </p:nvSpPr>
        <p:spPr>
          <a:xfrm>
            <a:off x="886968" y="3419856"/>
            <a:ext cx="4951476" cy="393192"/>
          </a:xfrm>
          <a:prstGeom prst="rect">
            <a:avLst/>
          </a:prstGeom>
          <a:noFill/>
        </p:spPr>
        <p:txBody>
          <a:bodyPr wrap="square" lIns="0" rIns="0" tIns="0" bIns="0" anchor="ctr">
            <a:spAutoFit/>
          </a:bodyPr>
          <a:lstStyle/>
          <a:p>
            <a:pPr algn="l"/>
            <a:r>
              <a:rPr sz="1200" b="1" i="0">
                <a:solidFill>
                  <a:srgbClr val="8A1626"/>
                </a:solidFill>
              </a:rPr>
              <a:t>Iceberg, a full alternative to Delta </a:t>
            </a:r>
          </a:p>
          <a:p>
            <a:pPr algn="l"/>
            <a:r>
              <a:rPr sz="1100" b="0" i="0">
                <a:solidFill>
                  <a:srgbClr val="4A5058"/>
                </a:solidFill>
              </a:rPr>
              <a:t>VaR, intraday and exposure equal to the cent</a:t>
            </a:r>
          </a:p>
        </p:txBody>
      </p:sp>
      <p:sp>
        <p:nvSpPr>
          <p:cNvPr id="38" name="Rectangle 37"/>
          <p:cNvSpPr/>
          <p:nvPr/>
        </p:nvSpPr>
        <p:spPr>
          <a:xfrm>
            <a:off x="777240" y="3849624"/>
            <a:ext cx="5180076" cy="393192"/>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TextBox 38"/>
          <p:cNvSpPr txBox="1"/>
          <p:nvPr/>
        </p:nvSpPr>
        <p:spPr>
          <a:xfrm>
            <a:off x="886968" y="3849624"/>
            <a:ext cx="4951476" cy="393192"/>
          </a:xfrm>
          <a:prstGeom prst="rect">
            <a:avLst/>
          </a:prstGeom>
          <a:noFill/>
        </p:spPr>
        <p:txBody>
          <a:bodyPr wrap="square" lIns="0" rIns="0" tIns="0" bIns="0" anchor="ctr">
            <a:spAutoFit/>
          </a:bodyPr>
          <a:lstStyle/>
          <a:p>
            <a:pPr algn="l"/>
            <a:r>
              <a:rPr sz="1200" b="1" i="0">
                <a:solidFill>
                  <a:srgbClr val="8A1626"/>
                </a:solidFill>
              </a:rPr>
              <a:t>Hierarchies configured by columns </a:t>
            </a:r>
          </a:p>
          <a:p>
            <a:pPr algn="l"/>
            <a:r>
              <a:rPr sz="1100" b="0" i="0">
                <a:solidFill>
                  <a:srgbClr val="4A5058"/>
                </a:solidFill>
              </a:rPr>
              <a:t>limit letters, var-limit, the picker</a:t>
            </a:r>
          </a:p>
        </p:txBody>
      </p:sp>
      <p:sp>
        <p:nvSpPr>
          <p:cNvPr id="40" name="Rectangle 39"/>
          <p:cNvSpPr/>
          <p:nvPr/>
        </p:nvSpPr>
        <p:spPr>
          <a:xfrm>
            <a:off x="777240" y="4279392"/>
            <a:ext cx="5180076" cy="393192"/>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1" name="TextBox 40"/>
          <p:cNvSpPr txBox="1"/>
          <p:nvPr/>
        </p:nvSpPr>
        <p:spPr>
          <a:xfrm>
            <a:off x="886968" y="4279392"/>
            <a:ext cx="4951476" cy="393192"/>
          </a:xfrm>
          <a:prstGeom prst="rect">
            <a:avLst/>
          </a:prstGeom>
          <a:noFill/>
        </p:spPr>
        <p:txBody>
          <a:bodyPr wrap="square" lIns="0" rIns="0" tIns="0" bIns="0" anchor="ctr">
            <a:spAutoFit/>
          </a:bodyPr>
          <a:lstStyle/>
          <a:p>
            <a:pPr algn="l"/>
            <a:r>
              <a:rPr sz="1200" b="1" i="0">
                <a:solidFill>
                  <a:srgbClr val="8A1626"/>
                </a:solidFill>
              </a:rPr>
              <a:t>VaR sharded across a cluster; the Java loader </a:t>
            </a:r>
          </a:p>
          <a:p>
            <a:pPr algn="l"/>
            <a:r>
              <a:rPr sz="1100" b="0" i="0">
                <a:solidFill>
                  <a:srgbClr val="4A5058"/>
                </a:solidFill>
              </a:rPr>
              <a:t>two replicas a shard; JSONL to Delta or Iceberg, shard-aligned</a:t>
            </a:r>
          </a:p>
        </p:txBody>
      </p:sp>
      <p:sp>
        <p:nvSpPr>
          <p:cNvPr id="42" name="Rectangle 41"/>
          <p:cNvSpPr/>
          <p:nvPr/>
        </p:nvSpPr>
        <p:spPr>
          <a:xfrm>
            <a:off x="777240" y="4709160"/>
            <a:ext cx="5180076" cy="393192"/>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3" name="TextBox 42"/>
          <p:cNvSpPr txBox="1"/>
          <p:nvPr/>
        </p:nvSpPr>
        <p:spPr>
          <a:xfrm>
            <a:off x="886968" y="4709160"/>
            <a:ext cx="4951476" cy="393192"/>
          </a:xfrm>
          <a:prstGeom prst="rect">
            <a:avLst/>
          </a:prstGeom>
          <a:noFill/>
        </p:spPr>
        <p:txBody>
          <a:bodyPr wrap="square" lIns="0" rIns="0" tIns="0" bIns="0" anchor="ctr">
            <a:spAutoFit/>
          </a:bodyPr>
          <a:lstStyle/>
          <a:p>
            <a:pPr algn="l"/>
            <a:r>
              <a:rPr sz="1200" b="1" i="0">
                <a:solidFill>
                  <a:srgbClr val="8A1626"/>
                </a:solidFill>
              </a:rPr>
              <a:t>Editions: Drishti Risk, Market and World </a:t>
            </a:r>
          </a:p>
          <a:p>
            <a:pPr algn="l"/>
            <a:r>
              <a:rPr sz="1100" b="0" i="0">
                <a:solidFill>
                  <a:srgbClr val="4A5058"/>
                </a:solidFill>
              </a:rPr>
              <a:t>one file each; lenses on a full instance</a:t>
            </a:r>
          </a:p>
        </p:txBody>
      </p:sp>
      <p:sp>
        <p:nvSpPr>
          <p:cNvPr id="44" name="Rectangle 43"/>
          <p:cNvSpPr/>
          <p:nvPr/>
        </p:nvSpPr>
        <p:spPr>
          <a:xfrm>
            <a:off x="777240" y="5138928"/>
            <a:ext cx="5180076" cy="393192"/>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5" name="TextBox 44"/>
          <p:cNvSpPr txBox="1"/>
          <p:nvPr/>
        </p:nvSpPr>
        <p:spPr>
          <a:xfrm>
            <a:off x="886968" y="5138928"/>
            <a:ext cx="4951476" cy="393192"/>
          </a:xfrm>
          <a:prstGeom prst="rect">
            <a:avLst/>
          </a:prstGeom>
          <a:noFill/>
        </p:spPr>
        <p:txBody>
          <a:bodyPr wrap="square" lIns="0" rIns="0" tIns="0" bIns="0" anchor="ctr">
            <a:spAutoFit/>
          </a:bodyPr>
          <a:lstStyle/>
          <a:p>
            <a:pPr algn="l"/>
            <a:r>
              <a:rPr sz="1200" b="1" i="0">
                <a:solidFill>
                  <a:srgbClr val="8A1626"/>
                </a:solidFill>
              </a:rPr>
              <a:t>Computed attributes </a:t>
            </a:r>
          </a:p>
          <a:p>
            <a:pPr algn="l"/>
            <a:r>
              <a:rPr sz="1100" b="0" i="0">
                <a:solidFill>
                  <a:srgbClr val="4A5058"/>
                </a:solidFill>
              </a:rPr>
              <a:t>derived MtM and checks, never stored</a:t>
            </a:r>
          </a:p>
        </p:txBody>
      </p:sp>
      <p:sp>
        <p:nvSpPr>
          <p:cNvPr id="46" name="Rectangle 45"/>
          <p:cNvSpPr/>
          <p:nvPr/>
        </p:nvSpPr>
        <p:spPr>
          <a:xfrm>
            <a:off x="6231636" y="1371600"/>
            <a:ext cx="5180076" cy="274320"/>
          </a:xfrm>
          <a:prstGeom prst="rect">
            <a:avLst/>
          </a:prstGeom>
          <a:solidFill>
            <a:srgbClr val="29335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7" name="TextBox 46"/>
          <p:cNvSpPr txBox="1"/>
          <p:nvPr/>
        </p:nvSpPr>
        <p:spPr>
          <a:xfrm>
            <a:off x="6341364" y="1371600"/>
            <a:ext cx="4997196" cy="274320"/>
          </a:xfrm>
          <a:prstGeom prst="rect">
            <a:avLst/>
          </a:prstGeom>
          <a:noFill/>
        </p:spPr>
        <p:txBody>
          <a:bodyPr wrap="square" lIns="0" rIns="0" tIns="0" bIns="0" anchor="ctr">
            <a:spAutoFit/>
          </a:bodyPr>
          <a:lstStyle/>
          <a:p>
            <a:pPr algn="l"/>
            <a:r>
              <a:rPr sz="1200" b="1" i="0">
                <a:solidFill>
                  <a:srgbClr val="FFFFFF"/>
                </a:solidFill>
              </a:rPr>
              <a:t>Not built yet</a:t>
            </a:r>
          </a:p>
        </p:txBody>
      </p:sp>
      <p:sp>
        <p:nvSpPr>
          <p:cNvPr id="48" name="Rectangle 47"/>
          <p:cNvSpPr/>
          <p:nvPr/>
        </p:nvSpPr>
        <p:spPr>
          <a:xfrm>
            <a:off x="6231636" y="1700784"/>
            <a:ext cx="5180076" cy="393192"/>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9" name="TextBox 48"/>
          <p:cNvSpPr txBox="1"/>
          <p:nvPr/>
        </p:nvSpPr>
        <p:spPr>
          <a:xfrm>
            <a:off x="6341364" y="1700784"/>
            <a:ext cx="4261104" cy="393192"/>
          </a:xfrm>
          <a:prstGeom prst="rect">
            <a:avLst/>
          </a:prstGeom>
          <a:noFill/>
        </p:spPr>
        <p:txBody>
          <a:bodyPr wrap="square" lIns="0" rIns="0" tIns="0" bIns="0" anchor="ctr">
            <a:spAutoFit/>
          </a:bodyPr>
          <a:lstStyle/>
          <a:p>
            <a:pPr algn="l"/>
            <a:r>
              <a:rPr sz="1200" b="1" i="0">
                <a:solidFill>
                  <a:srgbClr val="8A1626"/>
                </a:solidFill>
              </a:rPr>
              <a:t>10-day and stressed VaR </a:t>
            </a:r>
          </a:p>
          <a:p>
            <a:pPr algn="l"/>
            <a:r>
              <a:rPr sz="1100" b="0" i="0">
                <a:solidFill>
                  <a:srgbClr val="4A5058"/>
                </a:solidFill>
              </a:rPr>
              <a:t>sized in the capacity chapter; regulatory phase 1</a:t>
            </a:r>
          </a:p>
        </p:txBody>
      </p:sp>
      <p:sp>
        <p:nvSpPr>
          <p:cNvPr id="50" name="Rounded Rectangle 49"/>
          <p:cNvSpPr/>
          <p:nvPr/>
        </p:nvSpPr>
        <p:spPr>
          <a:xfrm>
            <a:off x="10703052" y="1796796"/>
            <a:ext cx="598932" cy="201168"/>
          </a:xfrm>
          <a:prstGeom prst="roundRect">
            <a:avLst>
              <a:gd name="adj" fmla="val 50000"/>
            </a:avLst>
          </a:prstGeom>
          <a:solidFill>
            <a:srgbClr val="FFFFFF"/>
          </a:solidFill>
          <a:ln w="12700">
            <a:solidFill>
              <a:srgbClr val="293352"/>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293352"/>
                </a:solidFill>
              </a:rPr>
              <a:t>PLANNED</a:t>
            </a:r>
          </a:p>
        </p:txBody>
      </p:sp>
      <p:sp>
        <p:nvSpPr>
          <p:cNvPr id="51" name="Rectangle 50"/>
          <p:cNvSpPr/>
          <p:nvPr/>
        </p:nvSpPr>
        <p:spPr>
          <a:xfrm>
            <a:off x="6231636" y="2130552"/>
            <a:ext cx="5180076" cy="393192"/>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2" name="TextBox 51"/>
          <p:cNvSpPr txBox="1"/>
          <p:nvPr/>
        </p:nvSpPr>
        <p:spPr>
          <a:xfrm>
            <a:off x="6341364" y="2130552"/>
            <a:ext cx="4261104" cy="393192"/>
          </a:xfrm>
          <a:prstGeom prst="rect">
            <a:avLst/>
          </a:prstGeom>
          <a:noFill/>
        </p:spPr>
        <p:txBody>
          <a:bodyPr wrap="square" lIns="0" rIns="0" tIns="0" bIns="0" anchor="ctr">
            <a:spAutoFit/>
          </a:bodyPr>
          <a:lstStyle/>
          <a:p>
            <a:pPr algn="l"/>
            <a:r>
              <a:rPr sz="1200" b="1" i="0">
                <a:solidFill>
                  <a:srgbClr val="8A1626"/>
                </a:solidFill>
              </a:rPr>
              <a:t>ES backtests </a:t>
            </a:r>
          </a:p>
          <a:p>
            <a:pPr algn="l"/>
            <a:r>
              <a:rPr sz="1100" b="0" i="0">
                <a:solidFill>
                  <a:srgbClr val="4A5058"/>
                </a:solidFill>
              </a:rPr>
              <a:t>VaR backtests are built</a:t>
            </a:r>
          </a:p>
        </p:txBody>
      </p:sp>
      <p:sp>
        <p:nvSpPr>
          <p:cNvPr id="53" name="Rounded Rectangle 52"/>
          <p:cNvSpPr/>
          <p:nvPr/>
        </p:nvSpPr>
        <p:spPr>
          <a:xfrm>
            <a:off x="10703052" y="2226564"/>
            <a:ext cx="598932" cy="201168"/>
          </a:xfrm>
          <a:prstGeom prst="roundRect">
            <a:avLst>
              <a:gd name="adj" fmla="val 50000"/>
            </a:avLst>
          </a:prstGeom>
          <a:solidFill>
            <a:srgbClr val="FFFFFF"/>
          </a:solidFill>
          <a:ln w="12700">
            <a:solidFill>
              <a:srgbClr val="293352"/>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293352"/>
                </a:solidFill>
              </a:rPr>
              <a:t>PLANNED</a:t>
            </a:r>
          </a:p>
        </p:txBody>
      </p:sp>
      <p:sp>
        <p:nvSpPr>
          <p:cNvPr id="54" name="Rectangle 53"/>
          <p:cNvSpPr/>
          <p:nvPr/>
        </p:nvSpPr>
        <p:spPr>
          <a:xfrm>
            <a:off x="6231636" y="2560320"/>
            <a:ext cx="5180076" cy="393192"/>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5" name="TextBox 54"/>
          <p:cNvSpPr txBox="1"/>
          <p:nvPr/>
        </p:nvSpPr>
        <p:spPr>
          <a:xfrm>
            <a:off x="6341364" y="2560320"/>
            <a:ext cx="4261104" cy="393192"/>
          </a:xfrm>
          <a:prstGeom prst="rect">
            <a:avLst/>
          </a:prstGeom>
          <a:noFill/>
        </p:spPr>
        <p:txBody>
          <a:bodyPr wrap="square" lIns="0" rIns="0" tIns="0" bIns="0" anchor="ctr">
            <a:spAutoFit/>
          </a:bodyPr>
          <a:lstStyle/>
          <a:p>
            <a:pPr algn="l"/>
            <a:r>
              <a:rPr sz="1200" b="1" i="0">
                <a:solidFill>
                  <a:srgbClr val="8A1626"/>
                </a:solidFill>
              </a:rPr>
              <a:t>The 200K benchmark, then 2.3M on a real server </a:t>
            </a:r>
          </a:p>
          <a:p>
            <a:pPr algn="l"/>
            <a:r>
              <a:rPr sz="1100" b="0" i="0">
                <a:solidFill>
                  <a:srgbClr val="4A5058"/>
                </a:solidFill>
              </a:rPr>
              <a:t>single server against a sharded cluster</a:t>
            </a:r>
          </a:p>
        </p:txBody>
      </p:sp>
      <p:sp>
        <p:nvSpPr>
          <p:cNvPr id="56" name="Rounded Rectangle 55"/>
          <p:cNvSpPr/>
          <p:nvPr/>
        </p:nvSpPr>
        <p:spPr>
          <a:xfrm>
            <a:off x="10703052" y="2656332"/>
            <a:ext cx="598932" cy="201168"/>
          </a:xfrm>
          <a:prstGeom prst="roundRect">
            <a:avLst>
              <a:gd name="adj" fmla="val 50000"/>
            </a:avLst>
          </a:prstGeom>
          <a:solidFill>
            <a:srgbClr val="FFFFFF"/>
          </a:solidFill>
          <a:ln w="12700">
            <a:solidFill>
              <a:srgbClr val="293352"/>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293352"/>
                </a:solidFill>
              </a:rPr>
              <a:t>PLANNED</a:t>
            </a:r>
          </a:p>
        </p:txBody>
      </p:sp>
      <p:sp>
        <p:nvSpPr>
          <p:cNvPr id="57" name="Rectangle 56"/>
          <p:cNvSpPr/>
          <p:nvPr/>
        </p:nvSpPr>
        <p:spPr>
          <a:xfrm>
            <a:off x="6231636" y="2990088"/>
            <a:ext cx="5180076" cy="393192"/>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8" name="TextBox 57"/>
          <p:cNvSpPr txBox="1"/>
          <p:nvPr/>
        </p:nvSpPr>
        <p:spPr>
          <a:xfrm>
            <a:off x="6341364" y="2990088"/>
            <a:ext cx="4261104" cy="393192"/>
          </a:xfrm>
          <a:prstGeom prst="rect">
            <a:avLst/>
          </a:prstGeom>
          <a:noFill/>
        </p:spPr>
        <p:txBody>
          <a:bodyPr wrap="square" lIns="0" rIns="0" tIns="0" bIns="0" anchor="ctr">
            <a:spAutoFit/>
          </a:bodyPr>
          <a:lstStyle/>
          <a:p>
            <a:pPr algn="l"/>
            <a:r>
              <a:rPr sz="1200" b="1" i="0">
                <a:solidFill>
                  <a:srgbClr val="8A1626"/>
                </a:solidFill>
              </a:rPr>
              <a:t>Arrow to the browser </a:t>
            </a:r>
          </a:p>
          <a:p>
            <a:pPr algn="l"/>
            <a:r>
              <a:rPr sz="1100" b="0" i="0">
                <a:solidFill>
                  <a:srgbClr val="4A5058"/>
                </a:solidFill>
              </a:rPr>
              <a:t>large tables and charts, server to console to browser</a:t>
            </a:r>
          </a:p>
        </p:txBody>
      </p:sp>
      <p:sp>
        <p:nvSpPr>
          <p:cNvPr id="59" name="Rounded Rectangle 58"/>
          <p:cNvSpPr/>
          <p:nvPr/>
        </p:nvSpPr>
        <p:spPr>
          <a:xfrm>
            <a:off x="10703052" y="3086100"/>
            <a:ext cx="598932" cy="201168"/>
          </a:xfrm>
          <a:prstGeom prst="roundRect">
            <a:avLst>
              <a:gd name="adj" fmla="val 50000"/>
            </a:avLst>
          </a:prstGeom>
          <a:solidFill>
            <a:srgbClr val="FFFFFF"/>
          </a:solidFill>
          <a:ln w="12700">
            <a:solidFill>
              <a:srgbClr val="293352"/>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293352"/>
                </a:solidFill>
              </a:rPr>
              <a:t>PLANNED</a:t>
            </a:r>
          </a:p>
        </p:txBody>
      </p:sp>
      <p:sp>
        <p:nvSpPr>
          <p:cNvPr id="60" name="Rectangle 59"/>
          <p:cNvSpPr/>
          <p:nvPr/>
        </p:nvSpPr>
        <p:spPr>
          <a:xfrm>
            <a:off x="6231636" y="3419856"/>
            <a:ext cx="5180076" cy="393192"/>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1" name="TextBox 60"/>
          <p:cNvSpPr txBox="1"/>
          <p:nvPr/>
        </p:nvSpPr>
        <p:spPr>
          <a:xfrm>
            <a:off x="6341364" y="3419856"/>
            <a:ext cx="4261104" cy="393192"/>
          </a:xfrm>
          <a:prstGeom prst="rect">
            <a:avLst/>
          </a:prstGeom>
          <a:noFill/>
        </p:spPr>
        <p:txBody>
          <a:bodyPr wrap="square" lIns="0" rIns="0" tIns="0" bIns="0" anchor="ctr">
            <a:spAutoFit/>
          </a:bodyPr>
          <a:lstStyle/>
          <a:p>
            <a:pPr algn="l"/>
            <a:r>
              <a:rPr sz="1200" b="1" i="0">
                <a:solidFill>
                  <a:srgbClr val="8A1626"/>
                </a:solidFill>
              </a:rPr>
              <a:t>A client-side renderer </a:t>
            </a:r>
          </a:p>
          <a:p>
            <a:pPr algn="l"/>
            <a:r>
              <a:rPr sz="1100" b="0" i="0">
                <a:solidFill>
                  <a:srgbClr val="4A5058"/>
                </a:solidFill>
              </a:rPr>
              <a:t>other applications paint Drishti screens from its view JSON</a:t>
            </a:r>
          </a:p>
        </p:txBody>
      </p:sp>
      <p:sp>
        <p:nvSpPr>
          <p:cNvPr id="62" name="Rounded Rectangle 61"/>
          <p:cNvSpPr/>
          <p:nvPr/>
        </p:nvSpPr>
        <p:spPr>
          <a:xfrm>
            <a:off x="10703052" y="3515868"/>
            <a:ext cx="598932" cy="201168"/>
          </a:xfrm>
          <a:prstGeom prst="roundRect">
            <a:avLst>
              <a:gd name="adj" fmla="val 50000"/>
            </a:avLst>
          </a:prstGeom>
          <a:solidFill>
            <a:srgbClr val="FFFFFF"/>
          </a:solidFill>
          <a:ln w="12700">
            <a:solidFill>
              <a:srgbClr val="293352"/>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293352"/>
                </a:solidFill>
              </a:rPr>
              <a:t>PLANNED</a:t>
            </a:r>
          </a:p>
        </p:txBody>
      </p:sp>
      <p:sp>
        <p:nvSpPr>
          <p:cNvPr id="63" name="Rectangle 62"/>
          <p:cNvSpPr/>
          <p:nvPr/>
        </p:nvSpPr>
        <p:spPr>
          <a:xfrm>
            <a:off x="6231636" y="3849624"/>
            <a:ext cx="5180076" cy="393192"/>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4" name="TextBox 63"/>
          <p:cNvSpPr txBox="1"/>
          <p:nvPr/>
        </p:nvSpPr>
        <p:spPr>
          <a:xfrm>
            <a:off x="6341364" y="3849624"/>
            <a:ext cx="4261104" cy="393192"/>
          </a:xfrm>
          <a:prstGeom prst="rect">
            <a:avLst/>
          </a:prstGeom>
          <a:noFill/>
        </p:spPr>
        <p:txBody>
          <a:bodyPr wrap="square" lIns="0" rIns="0" tIns="0" bIns="0" anchor="ctr">
            <a:spAutoFit/>
          </a:bodyPr>
          <a:lstStyle/>
          <a:p>
            <a:pPr algn="l"/>
            <a:r>
              <a:rPr sz="1200" b="1" i="0">
                <a:solidFill>
                  <a:srgbClr val="8A1626"/>
                </a:solidFill>
              </a:rPr>
              <a:t>Delta ↔ Iceberg table conversion </a:t>
            </a:r>
          </a:p>
          <a:p>
            <a:pPr algn="l"/>
            <a:r>
              <a:rPr sz="1100" b="0" i="0">
                <a:solidFill>
                  <a:srgbClr val="4A5058"/>
                </a:solidFill>
              </a:rPr>
              <a:t>today a lake is built in either format</a:t>
            </a:r>
          </a:p>
        </p:txBody>
      </p:sp>
      <p:sp>
        <p:nvSpPr>
          <p:cNvPr id="65" name="Rounded Rectangle 64"/>
          <p:cNvSpPr/>
          <p:nvPr/>
        </p:nvSpPr>
        <p:spPr>
          <a:xfrm>
            <a:off x="10703052" y="3945636"/>
            <a:ext cx="598932" cy="201168"/>
          </a:xfrm>
          <a:prstGeom prst="roundRect">
            <a:avLst>
              <a:gd name="adj" fmla="val 50000"/>
            </a:avLst>
          </a:prstGeom>
          <a:solidFill>
            <a:srgbClr val="FFFFFF"/>
          </a:solidFill>
          <a:ln w="12700">
            <a:solidFill>
              <a:srgbClr val="293352"/>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293352"/>
                </a:solidFill>
              </a:rPr>
              <a:t>PLANNED</a:t>
            </a:r>
          </a:p>
        </p:txBody>
      </p:sp>
      <p:sp>
        <p:nvSpPr>
          <p:cNvPr id="66" name="Rectangle 65"/>
          <p:cNvSpPr/>
          <p:nvPr/>
        </p:nvSpPr>
        <p:spPr>
          <a:xfrm>
            <a:off x="6231636" y="4279392"/>
            <a:ext cx="5180076" cy="393192"/>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7" name="TextBox 66"/>
          <p:cNvSpPr txBox="1"/>
          <p:nvPr/>
        </p:nvSpPr>
        <p:spPr>
          <a:xfrm>
            <a:off x="6341364" y="4279392"/>
            <a:ext cx="4261104" cy="393192"/>
          </a:xfrm>
          <a:prstGeom prst="rect">
            <a:avLst/>
          </a:prstGeom>
          <a:noFill/>
        </p:spPr>
        <p:txBody>
          <a:bodyPr wrap="square" lIns="0" rIns="0" tIns="0" bIns="0" anchor="ctr">
            <a:spAutoFit/>
          </a:bodyPr>
          <a:lstStyle/>
          <a:p>
            <a:pPr algn="l"/>
            <a:r>
              <a:rPr sz="1200" b="1" i="0">
                <a:solidFill>
                  <a:srgbClr val="8A1626"/>
                </a:solidFill>
              </a:rPr>
              <a:t>Delta in-place schema evolution </a:t>
            </a:r>
          </a:p>
          <a:p>
            <a:pPr algn="l"/>
            <a:r>
              <a:rPr sz="1100" b="0" i="0">
                <a:solidFill>
                  <a:srgbClr val="4A5058"/>
                </a:solidFill>
              </a:rPr>
              <a:t>Iceberg evolves in place today</a:t>
            </a:r>
          </a:p>
        </p:txBody>
      </p:sp>
      <p:sp>
        <p:nvSpPr>
          <p:cNvPr id="68" name="Rounded Rectangle 67"/>
          <p:cNvSpPr/>
          <p:nvPr/>
        </p:nvSpPr>
        <p:spPr>
          <a:xfrm>
            <a:off x="10703052" y="4375404"/>
            <a:ext cx="598932" cy="201168"/>
          </a:xfrm>
          <a:prstGeom prst="roundRect">
            <a:avLst>
              <a:gd name="adj" fmla="val 50000"/>
            </a:avLst>
          </a:prstGeom>
          <a:solidFill>
            <a:srgbClr val="FFFFFF"/>
          </a:solidFill>
          <a:ln w="12700">
            <a:solidFill>
              <a:srgbClr val="293352"/>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293352"/>
                </a:solidFill>
              </a:rPr>
              <a:t>PLANNED</a:t>
            </a:r>
          </a:p>
        </p:txBody>
      </p:sp>
      <p:sp>
        <p:nvSpPr>
          <p:cNvPr id="69" name="Rectangle 68"/>
          <p:cNvSpPr/>
          <p:nvPr/>
        </p:nvSpPr>
        <p:spPr>
          <a:xfrm>
            <a:off x="6231636" y="4709160"/>
            <a:ext cx="5180076" cy="393192"/>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0" name="TextBox 69"/>
          <p:cNvSpPr txBox="1"/>
          <p:nvPr/>
        </p:nvSpPr>
        <p:spPr>
          <a:xfrm>
            <a:off x="6341364" y="4709160"/>
            <a:ext cx="4261104" cy="393192"/>
          </a:xfrm>
          <a:prstGeom prst="rect">
            <a:avLst/>
          </a:prstGeom>
          <a:noFill/>
        </p:spPr>
        <p:txBody>
          <a:bodyPr wrap="square" lIns="0" rIns="0" tIns="0" bIns="0" anchor="ctr">
            <a:spAutoFit/>
          </a:bodyPr>
          <a:lstStyle/>
          <a:p>
            <a:pPr algn="l"/>
            <a:r>
              <a:rPr sz="1200" b="1" i="0">
                <a:solidFill>
                  <a:srgbClr val="8A1626"/>
                </a:solidFill>
              </a:rPr>
              <a:t>Unity Catalog; plain tables </a:t>
            </a:r>
          </a:p>
          <a:p>
            <a:pPr algn="l"/>
            <a:r>
              <a:rPr sz="1100" b="0" i="0">
                <a:solidFill>
                  <a:srgbClr val="4A5058"/>
                </a:solidFill>
              </a:rPr>
              <a:t>Delta through Unity Catalog, opt-in per connector</a:t>
            </a:r>
          </a:p>
        </p:txBody>
      </p:sp>
      <p:sp>
        <p:nvSpPr>
          <p:cNvPr id="71" name="Rounded Rectangle 70"/>
          <p:cNvSpPr/>
          <p:nvPr/>
        </p:nvSpPr>
        <p:spPr>
          <a:xfrm>
            <a:off x="10703052" y="4805172"/>
            <a:ext cx="598932" cy="201168"/>
          </a:xfrm>
          <a:prstGeom prst="roundRect">
            <a:avLst>
              <a:gd name="adj" fmla="val 50000"/>
            </a:avLst>
          </a:prstGeom>
          <a:solidFill>
            <a:srgbClr val="FFFFFF"/>
          </a:solidFill>
          <a:ln w="12700">
            <a:solidFill>
              <a:srgbClr val="293352"/>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293352"/>
                </a:solidFill>
              </a:rPr>
              <a:t>PLANNED</a:t>
            </a:r>
          </a:p>
        </p:txBody>
      </p:sp>
      <p:sp>
        <p:nvSpPr>
          <p:cNvPr id="72" name="Rectangle 71"/>
          <p:cNvSpPr/>
          <p:nvPr/>
        </p:nvSpPr>
        <p:spPr>
          <a:xfrm>
            <a:off x="6231636" y="5138928"/>
            <a:ext cx="5180076" cy="393192"/>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3" name="TextBox 72"/>
          <p:cNvSpPr txBox="1"/>
          <p:nvPr/>
        </p:nvSpPr>
        <p:spPr>
          <a:xfrm>
            <a:off x="6341364" y="5138928"/>
            <a:ext cx="4261104" cy="393192"/>
          </a:xfrm>
          <a:prstGeom prst="rect">
            <a:avLst/>
          </a:prstGeom>
          <a:noFill/>
        </p:spPr>
        <p:txBody>
          <a:bodyPr wrap="square" lIns="0" rIns="0" tIns="0" bIns="0" anchor="ctr">
            <a:spAutoFit/>
          </a:bodyPr>
          <a:lstStyle/>
          <a:p>
            <a:pPr algn="l"/>
            <a:r>
              <a:rPr sz="1200" b="1" i="0">
                <a:solidFill>
                  <a:srgbClr val="8A1626"/>
                </a:solidFill>
              </a:rPr>
              <a:t>Glue and S3 Tables on AWS </a:t>
            </a:r>
          </a:p>
          <a:p>
            <a:pPr algn="l"/>
            <a:r>
              <a:rPr sz="1100" b="0" i="0">
                <a:solidFill>
                  <a:srgbClr val="4A5058"/>
                </a:solidFill>
              </a:rPr>
              <a:t>code written; first live run on an account</a:t>
            </a:r>
          </a:p>
        </p:txBody>
      </p:sp>
      <p:sp>
        <p:nvSpPr>
          <p:cNvPr id="74" name="Rounded Rectangle 73"/>
          <p:cNvSpPr/>
          <p:nvPr/>
        </p:nvSpPr>
        <p:spPr>
          <a:xfrm>
            <a:off x="10703052" y="5234940"/>
            <a:ext cx="598932" cy="201168"/>
          </a:xfrm>
          <a:prstGeom prst="roundRect">
            <a:avLst>
              <a:gd name="adj" fmla="val 50000"/>
            </a:avLst>
          </a:prstGeom>
          <a:solidFill>
            <a:srgbClr val="E9E6E1"/>
          </a:solidFill>
          <a:ln w="12700">
            <a:solidFill>
              <a:srgbClr val="4A5058"/>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4A5058"/>
                </a:solidFill>
              </a:rPr>
              <a:t>NOT RUN</a:t>
            </a:r>
          </a:p>
        </p:txBody>
      </p:sp>
      <p:sp>
        <p:nvSpPr>
          <p:cNvPr id="75" name="Rectangle 74"/>
          <p:cNvSpPr/>
          <p:nvPr/>
        </p:nvSpPr>
        <p:spPr>
          <a:xfrm>
            <a:off x="777240" y="5623559"/>
            <a:ext cx="10634472" cy="640080"/>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6" name="Rounded Rectangle 75"/>
          <p:cNvSpPr/>
          <p:nvPr/>
        </p:nvSpPr>
        <p:spPr>
          <a:xfrm>
            <a:off x="886968" y="5705855"/>
            <a:ext cx="667512" cy="201168"/>
          </a:xfrm>
          <a:prstGeom prst="roundRect">
            <a:avLst>
              <a:gd name="adj" fmla="val 50000"/>
            </a:avLst>
          </a:prstGeom>
          <a:solidFill>
            <a:srgbClr val="FFFFFF"/>
          </a:solidFill>
          <a:ln w="12700">
            <a:solidFill>
              <a:srgbClr val="4A505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4A5058"/>
                </a:solidFill>
              </a:rPr>
              <a:t>PROPOSED</a:t>
            </a:r>
          </a:p>
        </p:txBody>
      </p:sp>
      <p:sp>
        <p:nvSpPr>
          <p:cNvPr id="77" name="TextBox 76"/>
          <p:cNvSpPr txBox="1"/>
          <p:nvPr/>
        </p:nvSpPr>
        <p:spPr>
          <a:xfrm>
            <a:off x="1664207" y="5660136"/>
            <a:ext cx="9637776" cy="292608"/>
          </a:xfrm>
          <a:prstGeom prst="rect">
            <a:avLst/>
          </a:prstGeom>
          <a:noFill/>
        </p:spPr>
        <p:txBody>
          <a:bodyPr wrap="square" lIns="0" rIns="0" tIns="0" bIns="0" anchor="ctr">
            <a:spAutoFit/>
          </a:bodyPr>
          <a:lstStyle/>
          <a:p>
            <a:pPr algn="l"/>
            <a:r>
              <a:rPr sz="1100" b="1" i="0">
                <a:solidFill>
                  <a:srgbClr val="8A1626"/>
                </a:solidFill>
              </a:rPr>
              <a:t>At scale: </a:t>
            </a:r>
            <a:r>
              <a:rPr sz="1100" b="0" i="0">
                <a:solidFill>
                  <a:srgbClr val="1A1A1A"/>
                </a:solidFill>
              </a:rPr>
              <a:t>lake clustering by book and portfolio (Z-order or liquid clustering); a published table of node and portfolio vectors, built in an overnight batch.</a:t>
            </a:r>
          </a:p>
        </p:txBody>
      </p:sp>
      <p:sp>
        <p:nvSpPr>
          <p:cNvPr id="78" name="TextBox 77"/>
          <p:cNvSpPr txBox="1"/>
          <p:nvPr/>
        </p:nvSpPr>
        <p:spPr>
          <a:xfrm>
            <a:off x="886968" y="5971031"/>
            <a:ext cx="10415016" cy="292608"/>
          </a:xfrm>
          <a:prstGeom prst="rect">
            <a:avLst/>
          </a:prstGeom>
          <a:noFill/>
        </p:spPr>
        <p:txBody>
          <a:bodyPr wrap="square" lIns="0" rIns="0" tIns="0" bIns="0" anchor="ctr">
            <a:spAutoFit/>
          </a:bodyPr>
          <a:lstStyle/>
          <a:p>
            <a:pPr algn="l"/>
            <a:r>
              <a:rPr sz="1100" b="1" i="0">
                <a:solidFill>
                  <a:srgbClr val="8A1626"/>
                </a:solidFill>
              </a:rPr>
              <a:t>Later: </a:t>
            </a:r>
            <a:r>
              <a:rPr sz="1100" b="0" i="0">
                <a:solidFill>
                  <a:srgbClr val="1A1A1A"/>
                </a:solidFill>
              </a:rPr>
              <a:t>QLRisk what-if pricing; age-weighted methods; cubes.  </a:t>
            </a:r>
            <a:r>
              <a:rPr sz="1100" b="1" i="0">
                <a:solidFill>
                  <a:srgbClr val="8A1626"/>
                </a:solidFill>
              </a:rPr>
              <a:t>Known gap: </a:t>
            </a:r>
            <a:r>
              <a:rPr sz="1100" b="0" i="0">
                <a:solidFill>
                  <a:srgbClr val="1A1A1A"/>
                </a:solidFill>
              </a:rPr>
              <a:t>live tabs across consoles need sticky sessions.  Regulatory phases: next slide.</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ROADMAP · REGULATORY REPORTING</a:t>
            </a:r>
          </a:p>
        </p:txBody>
      </p:sp>
      <p:sp>
        <p:nvSpPr>
          <p:cNvPr id="3" name="Title 2"/>
          <p:cNvSpPr>
            <a:spLocks noGrp="1"/>
          </p:cNvSpPr>
          <p:nvPr>
            <p:ph type="title" idx="104"/>
          </p:nvPr>
        </p:nvSpPr>
        <p:spPr/>
        <p:txBody>
          <a:bodyPr/>
          <a:lstStyle/>
          <a:p>
            <a:r>
              <a:t>Regulatory reporting in three phases: next, later, after that</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371600"/>
            <a:ext cx="2507742" cy="566928"/>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TextBox 26"/>
          <p:cNvSpPr txBox="1"/>
          <p:nvPr/>
        </p:nvSpPr>
        <p:spPr>
          <a:xfrm>
            <a:off x="905256" y="1371600"/>
            <a:ext cx="2324862" cy="566928"/>
          </a:xfrm>
          <a:prstGeom prst="rect">
            <a:avLst/>
          </a:prstGeom>
          <a:noFill/>
        </p:spPr>
        <p:txBody>
          <a:bodyPr wrap="square" lIns="0" rIns="0" tIns="0" bIns="0" anchor="ctr">
            <a:spAutoFit/>
          </a:bodyPr>
          <a:lstStyle/>
          <a:p>
            <a:pPr algn="l"/>
            <a:r>
              <a:rPr sz="1300" b="1" i="0">
                <a:solidFill>
                  <a:srgbClr val="FFFFFF"/>
                </a:solidFill>
              </a:rPr>
              <a:t>1 · The measures</a:t>
            </a:r>
          </a:p>
          <a:p>
            <a:pPr algn="l"/>
            <a:r>
              <a:rPr sz="1100" b="0" i="0">
                <a:solidFill>
                  <a:srgbClr val="FFFFFF"/>
                </a:solidFill>
              </a:rPr>
              <a:t>next</a:t>
            </a:r>
          </a:p>
        </p:txBody>
      </p:sp>
      <p:sp>
        <p:nvSpPr>
          <p:cNvPr id="28" name="Rectangle 27"/>
          <p:cNvSpPr/>
          <p:nvPr/>
        </p:nvSpPr>
        <p:spPr>
          <a:xfrm>
            <a:off x="777240" y="1938528"/>
            <a:ext cx="2507742" cy="304495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Rounded Rectangle 28"/>
          <p:cNvSpPr/>
          <p:nvPr/>
        </p:nvSpPr>
        <p:spPr>
          <a:xfrm>
            <a:off x="905256" y="2048256"/>
            <a:ext cx="736092" cy="201168"/>
          </a:xfrm>
          <a:prstGeom prst="roundRect">
            <a:avLst>
              <a:gd name="adj" fmla="val 50000"/>
            </a:avLst>
          </a:prstGeom>
          <a:solidFill>
            <a:srgbClr val="E9E6E1"/>
          </a:solidFill>
          <a:ln w="12700">
            <a:solidFill>
              <a:srgbClr val="4A5058"/>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4A5058"/>
                </a:solidFill>
              </a:rPr>
              <a:t>NOT BUILT</a:t>
            </a:r>
          </a:p>
        </p:txBody>
      </p:sp>
      <p:sp>
        <p:nvSpPr>
          <p:cNvPr id="30" name="TextBox 29"/>
          <p:cNvSpPr txBox="1"/>
          <p:nvPr/>
        </p:nvSpPr>
        <p:spPr>
          <a:xfrm>
            <a:off x="905256" y="2322576"/>
            <a:ext cx="2288286" cy="1600200"/>
          </a:xfrm>
          <a:prstGeom prst="rect">
            <a:avLst/>
          </a:prstGeom>
          <a:noFill/>
        </p:spPr>
        <p:txBody>
          <a:bodyPr wrap="square" lIns="0" rIns="0" tIns="0" bIns="0" anchor="t">
            <a:spAutoFit/>
          </a:bodyPr>
          <a:lstStyle/>
          <a:p>
            <a:pPr algn="l">
              <a:spcAft>
                <a:spcPts val="200"/>
              </a:spcAft>
            </a:pPr>
            <a:r>
              <a:rPr sz="1150" b="1" i="0">
                <a:solidFill>
                  <a:srgbClr val="8A1626"/>
                </a:solidFill>
              </a:rPr>
              <a:t>Builds</a:t>
            </a:r>
          </a:p>
          <a:p>
            <a:pPr algn="l" marL="146304" indent="-146304">
              <a:spcAft>
                <a:spcPts val="200"/>
              </a:spcAft>
              <a:buClr>
                <a:srgbClr val="A51C30"/>
              </a:buClr>
              <a:buSzPct val="100000"/>
              <a:buFont typeface="Arial"/>
              <a:buChar char="▪"/>
            </a:pPr>
            <a:r>
              <a:rPr sz="1100" b="0" i="0">
                <a:solidFill>
                  <a:srgbClr val="1A1A1A"/>
                </a:solidFill>
              </a:rPr>
              <a:t>10-day and stressed VaR</a:t>
            </a:r>
          </a:p>
          <a:p>
            <a:pPr algn="l" marL="146304" indent="-146304">
              <a:spcAft>
                <a:spcPts val="200"/>
              </a:spcAft>
              <a:buClr>
                <a:srgbClr val="A51C30"/>
              </a:buClr>
              <a:buSzPct val="100000"/>
              <a:buFont typeface="Arial"/>
              <a:buChar char="▪"/>
            </a:pPr>
            <a:r>
              <a:rPr sz="1100" b="0" i="0">
                <a:solidFill>
                  <a:srgbClr val="1A1A1A"/>
                </a:solidFill>
              </a:rPr>
              <a:t>a daily actual and hypothetical P&amp;L feed</a:t>
            </a:r>
          </a:p>
          <a:p>
            <a:pPr algn="l" marL="146304" indent="-146304">
              <a:spcAft>
                <a:spcPts val="200"/>
              </a:spcAft>
              <a:buClr>
                <a:srgbClr val="A51C30"/>
              </a:buClr>
              <a:buSzPct val="100000"/>
              <a:buFont typeface="Arial"/>
              <a:buChar char="▪"/>
            </a:pPr>
            <a:r>
              <a:rPr sz="1100" b="0" i="0">
                <a:solidFill>
                  <a:srgbClr val="1A1A1A"/>
                </a:solidFill>
              </a:rPr>
              <a:t>backtests: 99% and 97.5%, both P&amp;Ls, multiplier</a:t>
            </a:r>
          </a:p>
          <a:p>
            <a:pPr algn="l" marL="146304" indent="-146304">
              <a:spcAft>
                <a:spcPts val="200"/>
              </a:spcAft>
              <a:buClr>
                <a:srgbClr val="A51C30"/>
              </a:buClr>
              <a:buSzPct val="100000"/>
              <a:buFont typeface="Arial"/>
              <a:buChar char="▪"/>
            </a:pPr>
            <a:r>
              <a:rPr sz="1100" b="0" i="0">
                <a:solidFill>
                  <a:srgbClr val="1A1A1A"/>
                </a:solidFill>
              </a:rPr>
              <a:t>high, low, average, 60-day; CAD records</a:t>
            </a:r>
          </a:p>
        </p:txBody>
      </p:sp>
      <p:sp>
        <p:nvSpPr>
          <p:cNvPr id="31" name="Rectangle 30"/>
          <p:cNvSpPr/>
          <p:nvPr/>
        </p:nvSpPr>
        <p:spPr>
          <a:xfrm>
            <a:off x="905256" y="3950208"/>
            <a:ext cx="2251710" cy="9144"/>
          </a:xfrm>
          <a:prstGeom prst="rect">
            <a:avLst/>
          </a:prstGeom>
          <a:solidFill>
            <a:srgbClr val="CFC8B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TextBox 31"/>
          <p:cNvSpPr txBox="1"/>
          <p:nvPr/>
        </p:nvSpPr>
        <p:spPr>
          <a:xfrm>
            <a:off x="905256" y="4005072"/>
            <a:ext cx="2288286" cy="914400"/>
          </a:xfrm>
          <a:prstGeom prst="rect">
            <a:avLst/>
          </a:prstGeom>
          <a:noFill/>
        </p:spPr>
        <p:txBody>
          <a:bodyPr wrap="square" lIns="0" rIns="0" tIns="0" bIns="0" anchor="t">
            <a:spAutoFit/>
          </a:bodyPr>
          <a:lstStyle/>
          <a:p>
            <a:pPr algn="l">
              <a:spcAft>
                <a:spcPts val="200"/>
              </a:spcAft>
            </a:pPr>
            <a:r>
              <a:rPr sz="1150" b="1" i="0">
                <a:solidFill>
                  <a:srgbClr val="8A1626"/>
                </a:solidFill>
              </a:rPr>
              <a:t>Unlocks</a:t>
            </a:r>
          </a:p>
          <a:p>
            <a:pPr algn="l"/>
            <a:r>
              <a:rPr sz="1100" b="0" i="0">
                <a:solidFill>
                  <a:srgbClr val="1A1A1A"/>
                </a:solidFill>
              </a:rPr>
              <a:t>US rule figures; FFIEC 102 and §217.212 inputs; the annual report's statistics</a:t>
            </a:r>
          </a:p>
        </p:txBody>
      </p:sp>
      <p:cxnSp>
        <p:nvCxnSpPr>
          <p:cNvPr id="33" name="Connector 32"/>
          <p:cNvCxnSpPr/>
          <p:nvPr/>
        </p:nvCxnSpPr>
        <p:spPr>
          <a:xfrm>
            <a:off x="3303270" y="1655064"/>
            <a:ext cx="164592"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Rectangle 33"/>
          <p:cNvSpPr/>
          <p:nvPr/>
        </p:nvSpPr>
        <p:spPr>
          <a:xfrm>
            <a:off x="3486150" y="1371600"/>
            <a:ext cx="2507742" cy="566928"/>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TextBox 34"/>
          <p:cNvSpPr txBox="1"/>
          <p:nvPr/>
        </p:nvSpPr>
        <p:spPr>
          <a:xfrm>
            <a:off x="3614166" y="1371600"/>
            <a:ext cx="2324862" cy="566928"/>
          </a:xfrm>
          <a:prstGeom prst="rect">
            <a:avLst/>
          </a:prstGeom>
          <a:noFill/>
        </p:spPr>
        <p:txBody>
          <a:bodyPr wrap="square" lIns="0" rIns="0" tIns="0" bIns="0" anchor="ctr">
            <a:spAutoFit/>
          </a:bodyPr>
          <a:lstStyle/>
          <a:p>
            <a:pPr algn="l"/>
            <a:r>
              <a:rPr sz="1300" b="1" i="0">
                <a:solidFill>
                  <a:srgbClr val="FFFFFF"/>
                </a:solidFill>
              </a:rPr>
              <a:t>2 · The report packs</a:t>
            </a:r>
          </a:p>
          <a:p>
            <a:pPr algn="l"/>
            <a:r>
              <a:rPr sz="1100" b="0" i="0">
                <a:solidFill>
                  <a:srgbClr val="FFFFFF"/>
                </a:solidFill>
              </a:rPr>
              <a:t>later</a:t>
            </a:r>
          </a:p>
        </p:txBody>
      </p:sp>
      <p:sp>
        <p:nvSpPr>
          <p:cNvPr id="36" name="Rectangle 35"/>
          <p:cNvSpPr/>
          <p:nvPr/>
        </p:nvSpPr>
        <p:spPr>
          <a:xfrm>
            <a:off x="3486150" y="1938528"/>
            <a:ext cx="2507742" cy="304495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7" name="Rounded Rectangle 36"/>
          <p:cNvSpPr/>
          <p:nvPr/>
        </p:nvSpPr>
        <p:spPr>
          <a:xfrm>
            <a:off x="3614166" y="2048256"/>
            <a:ext cx="736092" cy="201168"/>
          </a:xfrm>
          <a:prstGeom prst="roundRect">
            <a:avLst>
              <a:gd name="adj" fmla="val 50000"/>
            </a:avLst>
          </a:prstGeom>
          <a:solidFill>
            <a:srgbClr val="E9E6E1"/>
          </a:solidFill>
          <a:ln w="12700">
            <a:solidFill>
              <a:srgbClr val="4A5058"/>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4A5058"/>
                </a:solidFill>
              </a:rPr>
              <a:t>NOT BUILT</a:t>
            </a:r>
          </a:p>
        </p:txBody>
      </p:sp>
      <p:sp>
        <p:nvSpPr>
          <p:cNvPr id="38" name="TextBox 37"/>
          <p:cNvSpPr txBox="1"/>
          <p:nvPr/>
        </p:nvSpPr>
        <p:spPr>
          <a:xfrm>
            <a:off x="3614166" y="2322576"/>
            <a:ext cx="2288286" cy="1600200"/>
          </a:xfrm>
          <a:prstGeom prst="rect">
            <a:avLst/>
          </a:prstGeom>
          <a:noFill/>
        </p:spPr>
        <p:txBody>
          <a:bodyPr wrap="square" lIns="0" rIns="0" tIns="0" bIns="0" anchor="t">
            <a:spAutoFit/>
          </a:bodyPr>
          <a:lstStyle/>
          <a:p>
            <a:pPr algn="l">
              <a:spcAft>
                <a:spcPts val="200"/>
              </a:spcAft>
            </a:pPr>
            <a:r>
              <a:rPr sz="1150" b="1" i="0">
                <a:solidFill>
                  <a:srgbClr val="8A1626"/>
                </a:solidFill>
              </a:rPr>
              <a:t>Builds</a:t>
            </a:r>
          </a:p>
          <a:p>
            <a:pPr algn="l" marL="146304" indent="-146304">
              <a:spcAft>
                <a:spcPts val="200"/>
              </a:spcAft>
              <a:buClr>
                <a:srgbClr val="A51C30"/>
              </a:buClr>
              <a:buSzPct val="100000"/>
              <a:buFont typeface="Arial"/>
              <a:buChar char="▪"/>
            </a:pPr>
            <a:r>
              <a:rPr sz="1100" b="0" i="0">
                <a:solidFill>
                  <a:srgbClr val="1A1A1A"/>
                </a:solidFill>
              </a:rPr>
              <a:t>VaR by risk type</a:t>
            </a:r>
          </a:p>
          <a:p>
            <a:pPr algn="l" marL="146304" indent="-146304">
              <a:spcAft>
                <a:spcPts val="200"/>
              </a:spcAft>
              <a:buClr>
                <a:srgbClr val="A51C30"/>
              </a:buClr>
              <a:buSzPct val="100000"/>
              <a:buFont typeface="Arial"/>
              <a:buChar char="▪"/>
            </a:pPr>
            <a:r>
              <a:rPr sz="1100" b="0" i="0">
                <a:solidFill>
                  <a:srgbClr val="1A1A1A"/>
                </a:solidFill>
              </a:rPr>
              <a:t>BI reports and extracts in each report's layout</a:t>
            </a:r>
          </a:p>
          <a:p>
            <a:pPr algn="l" marL="146304" indent="-146304">
              <a:spcAft>
                <a:spcPts val="200"/>
              </a:spcAft>
              <a:buClr>
                <a:srgbClr val="A51C30"/>
              </a:buClr>
              <a:buSzPct val="100000"/>
              <a:buFont typeface="Arial"/>
              <a:buChar char="▪"/>
            </a:pPr>
            <a:r>
              <a:rPr sz="1100" b="0" i="0">
                <a:solidFill>
                  <a:srgbClr val="1A1A1A"/>
                </a:solidFill>
              </a:rPr>
              <a:t>Volcker metrics per desk</a:t>
            </a:r>
          </a:p>
        </p:txBody>
      </p:sp>
      <p:sp>
        <p:nvSpPr>
          <p:cNvPr id="39" name="Rectangle 38"/>
          <p:cNvSpPr/>
          <p:nvPr/>
        </p:nvSpPr>
        <p:spPr>
          <a:xfrm>
            <a:off x="3614166" y="3950208"/>
            <a:ext cx="2251710" cy="9144"/>
          </a:xfrm>
          <a:prstGeom prst="rect">
            <a:avLst/>
          </a:prstGeom>
          <a:solidFill>
            <a:srgbClr val="CFC8B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0" name="TextBox 39"/>
          <p:cNvSpPr txBox="1"/>
          <p:nvPr/>
        </p:nvSpPr>
        <p:spPr>
          <a:xfrm>
            <a:off x="3614166" y="4005072"/>
            <a:ext cx="2288286" cy="914400"/>
          </a:xfrm>
          <a:prstGeom prst="rect">
            <a:avLst/>
          </a:prstGeom>
          <a:noFill/>
        </p:spPr>
        <p:txBody>
          <a:bodyPr wrap="square" lIns="0" rIns="0" tIns="0" bIns="0" anchor="t">
            <a:spAutoFit/>
          </a:bodyPr>
          <a:lstStyle/>
          <a:p>
            <a:pPr algn="l">
              <a:spcAft>
                <a:spcPts val="200"/>
              </a:spcAft>
            </a:pPr>
            <a:r>
              <a:rPr sz="1150" b="1" i="0">
                <a:solidFill>
                  <a:srgbClr val="8A1626"/>
                </a:solidFill>
              </a:rPr>
              <a:t>Unlocks</a:t>
            </a:r>
          </a:p>
          <a:p>
            <a:pPr algn="l"/>
            <a:r>
              <a:rPr sz="1100" b="0" i="0">
                <a:solidFill>
                  <a:srgbClr val="1A1A1A"/>
                </a:solidFill>
              </a:rPr>
              <a:t>annual report VaR table, Pillar 3 tables, FFIEC 102, §217.212, Volcker</a:t>
            </a:r>
          </a:p>
        </p:txBody>
      </p:sp>
      <p:cxnSp>
        <p:nvCxnSpPr>
          <p:cNvPr id="41" name="Connector 40"/>
          <p:cNvCxnSpPr/>
          <p:nvPr/>
        </p:nvCxnSpPr>
        <p:spPr>
          <a:xfrm>
            <a:off x="6012180" y="1655064"/>
            <a:ext cx="164592"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2" name="Rectangle 41"/>
          <p:cNvSpPr/>
          <p:nvPr/>
        </p:nvSpPr>
        <p:spPr>
          <a:xfrm>
            <a:off x="6195060" y="1371600"/>
            <a:ext cx="2507742" cy="566928"/>
          </a:xfrm>
          <a:prstGeom prst="rect">
            <a:avLst/>
          </a:prstGeom>
          <a:solidFill>
            <a:srgbClr val="29335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3" name="TextBox 42"/>
          <p:cNvSpPr txBox="1"/>
          <p:nvPr/>
        </p:nvSpPr>
        <p:spPr>
          <a:xfrm>
            <a:off x="6323076" y="1371600"/>
            <a:ext cx="2324862" cy="566928"/>
          </a:xfrm>
          <a:prstGeom prst="rect">
            <a:avLst/>
          </a:prstGeom>
          <a:noFill/>
        </p:spPr>
        <p:txBody>
          <a:bodyPr wrap="square" lIns="0" rIns="0" tIns="0" bIns="0" anchor="ctr">
            <a:spAutoFit/>
          </a:bodyPr>
          <a:lstStyle/>
          <a:p>
            <a:pPr algn="l"/>
            <a:r>
              <a:rPr sz="1300" b="1" i="0">
                <a:solidFill>
                  <a:srgbClr val="FFFFFF"/>
                </a:solidFill>
              </a:rPr>
              <a:t>3a · FRTB standardised</a:t>
            </a:r>
          </a:p>
          <a:p>
            <a:pPr algn="l"/>
            <a:r>
              <a:rPr sz="1100" b="0" i="0">
                <a:solidFill>
                  <a:srgbClr val="FFFFFF"/>
                </a:solidFill>
              </a:rPr>
              <a:t>after that</a:t>
            </a:r>
          </a:p>
        </p:txBody>
      </p:sp>
      <p:sp>
        <p:nvSpPr>
          <p:cNvPr id="44" name="Rectangle 43"/>
          <p:cNvSpPr/>
          <p:nvPr/>
        </p:nvSpPr>
        <p:spPr>
          <a:xfrm>
            <a:off x="6195060" y="1938528"/>
            <a:ext cx="2507742" cy="304495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5" name="Rounded Rectangle 44"/>
          <p:cNvSpPr/>
          <p:nvPr/>
        </p:nvSpPr>
        <p:spPr>
          <a:xfrm>
            <a:off x="6323076" y="2048256"/>
            <a:ext cx="736092" cy="201168"/>
          </a:xfrm>
          <a:prstGeom prst="roundRect">
            <a:avLst>
              <a:gd name="adj" fmla="val 50000"/>
            </a:avLst>
          </a:prstGeom>
          <a:solidFill>
            <a:srgbClr val="E9E6E1"/>
          </a:solidFill>
          <a:ln w="12700">
            <a:solidFill>
              <a:srgbClr val="4A5058"/>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4A5058"/>
                </a:solidFill>
              </a:rPr>
              <a:t>NOT BUILT</a:t>
            </a:r>
          </a:p>
        </p:txBody>
      </p:sp>
      <p:sp>
        <p:nvSpPr>
          <p:cNvPr id="46" name="TextBox 45"/>
          <p:cNvSpPr txBox="1"/>
          <p:nvPr/>
        </p:nvSpPr>
        <p:spPr>
          <a:xfrm>
            <a:off x="6323076" y="2322576"/>
            <a:ext cx="2288286" cy="1600200"/>
          </a:xfrm>
          <a:prstGeom prst="rect">
            <a:avLst/>
          </a:prstGeom>
          <a:noFill/>
        </p:spPr>
        <p:txBody>
          <a:bodyPr wrap="square" lIns="0" rIns="0" tIns="0" bIns="0" anchor="t">
            <a:spAutoFit/>
          </a:bodyPr>
          <a:lstStyle/>
          <a:p>
            <a:pPr algn="l">
              <a:spcAft>
                <a:spcPts val="200"/>
              </a:spcAft>
            </a:pPr>
            <a:r>
              <a:rPr sz="1150" b="1" i="0">
                <a:solidFill>
                  <a:srgbClr val="8A1626"/>
                </a:solidFill>
              </a:rPr>
              <a:t>Builds</a:t>
            </a:r>
          </a:p>
          <a:p>
            <a:pPr algn="l" marL="146304" indent="-146304">
              <a:spcAft>
                <a:spcPts val="200"/>
              </a:spcAft>
              <a:buClr>
                <a:srgbClr val="A51C30"/>
              </a:buClr>
              <a:buSzPct val="100000"/>
              <a:buFont typeface="Arial"/>
              <a:buChar char="▪"/>
            </a:pPr>
            <a:r>
              <a:rPr sz="1100" b="0" i="0">
                <a:solidFill>
                  <a:srgbClr val="1A1A1A"/>
                </a:solidFill>
              </a:rPr>
              <a:t>sensitivities-based method</a:t>
            </a:r>
          </a:p>
          <a:p>
            <a:pPr algn="l" marL="146304" indent="-146304">
              <a:spcAft>
                <a:spcPts val="200"/>
              </a:spcAft>
              <a:buClr>
                <a:srgbClr val="A51C30"/>
              </a:buClr>
              <a:buSzPct val="100000"/>
              <a:buFont typeface="Arial"/>
              <a:buChar char="▪"/>
            </a:pPr>
            <a:r>
              <a:rPr sz="1100" b="0" i="0">
                <a:solidFill>
                  <a:srgbClr val="1A1A1A"/>
                </a:solidFill>
              </a:rPr>
              <a:t>default risk charge, residual risk add-on</a:t>
            </a:r>
          </a:p>
        </p:txBody>
      </p:sp>
      <p:sp>
        <p:nvSpPr>
          <p:cNvPr id="47" name="Rectangle 46"/>
          <p:cNvSpPr/>
          <p:nvPr/>
        </p:nvSpPr>
        <p:spPr>
          <a:xfrm>
            <a:off x="6323076" y="3950208"/>
            <a:ext cx="2251710" cy="9144"/>
          </a:xfrm>
          <a:prstGeom prst="rect">
            <a:avLst/>
          </a:prstGeom>
          <a:solidFill>
            <a:srgbClr val="CFC8B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8" name="TextBox 47"/>
          <p:cNvSpPr txBox="1"/>
          <p:nvPr/>
        </p:nvSpPr>
        <p:spPr>
          <a:xfrm>
            <a:off x="6323076" y="4005072"/>
            <a:ext cx="2288286" cy="914400"/>
          </a:xfrm>
          <a:prstGeom prst="rect">
            <a:avLst/>
          </a:prstGeom>
          <a:noFill/>
        </p:spPr>
        <p:txBody>
          <a:bodyPr wrap="square" lIns="0" rIns="0" tIns="0" bIns="0" anchor="t">
            <a:spAutoFit/>
          </a:bodyPr>
          <a:lstStyle/>
          <a:p>
            <a:pPr algn="l">
              <a:spcAft>
                <a:spcPts val="200"/>
              </a:spcAft>
            </a:pPr>
            <a:r>
              <a:rPr sz="1150" b="1" i="0">
                <a:solidFill>
                  <a:srgbClr val="8A1626"/>
                </a:solidFill>
              </a:rPr>
              <a:t>Unlocks</a:t>
            </a:r>
          </a:p>
          <a:p>
            <a:pPr algn="l"/>
            <a:r>
              <a:rPr sz="1100" b="0" i="0">
                <a:solidFill>
                  <a:srgbClr val="1A1A1A"/>
                </a:solidFill>
              </a:rPr>
              <a:t>BCAR 90.010, Pillar 3 MR1; the US standardised approach if adopted</a:t>
            </a:r>
          </a:p>
        </p:txBody>
      </p:sp>
      <p:cxnSp>
        <p:nvCxnSpPr>
          <p:cNvPr id="49" name="Connector 48"/>
          <p:cNvCxnSpPr/>
          <p:nvPr/>
        </p:nvCxnSpPr>
        <p:spPr>
          <a:xfrm>
            <a:off x="8721090" y="1655064"/>
            <a:ext cx="164592"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0" name="Rectangle 49"/>
          <p:cNvSpPr/>
          <p:nvPr/>
        </p:nvSpPr>
        <p:spPr>
          <a:xfrm>
            <a:off x="8903970" y="1371600"/>
            <a:ext cx="2507742" cy="566928"/>
          </a:xfrm>
          <a:prstGeom prst="rect">
            <a:avLst/>
          </a:prstGeom>
          <a:solidFill>
            <a:srgbClr val="29335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1" name="TextBox 50"/>
          <p:cNvSpPr txBox="1"/>
          <p:nvPr/>
        </p:nvSpPr>
        <p:spPr>
          <a:xfrm>
            <a:off x="9031986" y="1371600"/>
            <a:ext cx="2324862" cy="566928"/>
          </a:xfrm>
          <a:prstGeom prst="rect">
            <a:avLst/>
          </a:prstGeom>
          <a:noFill/>
        </p:spPr>
        <p:txBody>
          <a:bodyPr wrap="square" lIns="0" rIns="0" tIns="0" bIns="0" anchor="ctr">
            <a:spAutoFit/>
          </a:bodyPr>
          <a:lstStyle/>
          <a:p>
            <a:pPr algn="l"/>
            <a:r>
              <a:rPr sz="1300" b="1" i="0">
                <a:solidFill>
                  <a:srgbClr val="FFFFFF"/>
                </a:solidFill>
              </a:rPr>
              <a:t>3b · FRTB internal models</a:t>
            </a:r>
          </a:p>
          <a:p>
            <a:pPr algn="l"/>
            <a:r>
              <a:rPr sz="1100" b="0" i="0">
                <a:solidFill>
                  <a:srgbClr val="FFFFFF"/>
                </a:solidFill>
              </a:rPr>
              <a:t>after that, only on approval</a:t>
            </a:r>
          </a:p>
        </p:txBody>
      </p:sp>
      <p:sp>
        <p:nvSpPr>
          <p:cNvPr id="52" name="Rectangle 51"/>
          <p:cNvSpPr/>
          <p:nvPr/>
        </p:nvSpPr>
        <p:spPr>
          <a:xfrm>
            <a:off x="8903970" y="1938528"/>
            <a:ext cx="2507742" cy="304495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3" name="Rounded Rectangle 52"/>
          <p:cNvSpPr/>
          <p:nvPr/>
        </p:nvSpPr>
        <p:spPr>
          <a:xfrm>
            <a:off x="9031986" y="2048256"/>
            <a:ext cx="736092" cy="201168"/>
          </a:xfrm>
          <a:prstGeom prst="roundRect">
            <a:avLst>
              <a:gd name="adj" fmla="val 50000"/>
            </a:avLst>
          </a:prstGeom>
          <a:solidFill>
            <a:srgbClr val="E9E6E1"/>
          </a:solidFill>
          <a:ln w="12700">
            <a:solidFill>
              <a:srgbClr val="4A5058"/>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4A5058"/>
                </a:solidFill>
              </a:rPr>
              <a:t>NOT BUILT</a:t>
            </a:r>
          </a:p>
        </p:txBody>
      </p:sp>
      <p:sp>
        <p:nvSpPr>
          <p:cNvPr id="54" name="TextBox 53"/>
          <p:cNvSpPr txBox="1"/>
          <p:nvPr/>
        </p:nvSpPr>
        <p:spPr>
          <a:xfrm>
            <a:off x="9031986" y="2322576"/>
            <a:ext cx="2288286" cy="1600200"/>
          </a:xfrm>
          <a:prstGeom prst="rect">
            <a:avLst/>
          </a:prstGeom>
          <a:noFill/>
        </p:spPr>
        <p:txBody>
          <a:bodyPr wrap="square" lIns="0" rIns="0" tIns="0" bIns="0" anchor="t">
            <a:spAutoFit/>
          </a:bodyPr>
          <a:lstStyle/>
          <a:p>
            <a:pPr algn="l">
              <a:spcAft>
                <a:spcPts val="200"/>
              </a:spcAft>
            </a:pPr>
            <a:r>
              <a:rPr sz="1150" b="1" i="0">
                <a:solidFill>
                  <a:srgbClr val="8A1626"/>
                </a:solidFill>
              </a:rPr>
              <a:t>Builds</a:t>
            </a:r>
          </a:p>
          <a:p>
            <a:pPr algn="l" marL="146304" indent="-146304">
              <a:spcAft>
                <a:spcPts val="200"/>
              </a:spcAft>
              <a:buClr>
                <a:srgbClr val="A51C30"/>
              </a:buClr>
              <a:buSzPct val="100000"/>
              <a:buFont typeface="Arial"/>
              <a:buChar char="▪"/>
            </a:pPr>
            <a:r>
              <a:rPr sz="1100" b="0" i="0">
                <a:solidFill>
                  <a:srgbClr val="1A1A1A"/>
                </a:solidFill>
              </a:rPr>
              <a:t>ES by liquidity horizon, stressed calibration</a:t>
            </a:r>
          </a:p>
          <a:p>
            <a:pPr algn="l" marL="146304" indent="-146304">
              <a:spcAft>
                <a:spcPts val="200"/>
              </a:spcAft>
              <a:buClr>
                <a:srgbClr val="A51C30"/>
              </a:buClr>
              <a:buSzPct val="100000"/>
              <a:buFont typeface="Arial"/>
              <a:buChar char="▪"/>
            </a:pPr>
            <a:r>
              <a:rPr sz="1100" b="0" i="0">
                <a:solidFill>
                  <a:srgbClr val="1A1A1A"/>
                </a:solidFill>
              </a:rPr>
              <a:t>PLA test; NMRF and SES; DRC</a:t>
            </a:r>
          </a:p>
        </p:txBody>
      </p:sp>
      <p:sp>
        <p:nvSpPr>
          <p:cNvPr id="55" name="Rectangle 54"/>
          <p:cNvSpPr/>
          <p:nvPr/>
        </p:nvSpPr>
        <p:spPr>
          <a:xfrm>
            <a:off x="9031986" y="3950208"/>
            <a:ext cx="2251710" cy="9144"/>
          </a:xfrm>
          <a:prstGeom prst="rect">
            <a:avLst/>
          </a:prstGeom>
          <a:solidFill>
            <a:srgbClr val="CFC8B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6" name="TextBox 55"/>
          <p:cNvSpPr txBox="1"/>
          <p:nvPr/>
        </p:nvSpPr>
        <p:spPr>
          <a:xfrm>
            <a:off x="9031986" y="4005072"/>
            <a:ext cx="2288286" cy="914400"/>
          </a:xfrm>
          <a:prstGeom prst="rect">
            <a:avLst/>
          </a:prstGeom>
          <a:noFill/>
        </p:spPr>
        <p:txBody>
          <a:bodyPr wrap="square" lIns="0" rIns="0" tIns="0" bIns="0" anchor="t">
            <a:spAutoFit/>
          </a:bodyPr>
          <a:lstStyle/>
          <a:p>
            <a:pPr algn="l">
              <a:spcAft>
                <a:spcPts val="200"/>
              </a:spcAft>
            </a:pPr>
            <a:r>
              <a:rPr sz="1150" b="1" i="0">
                <a:solidFill>
                  <a:srgbClr val="8A1626"/>
                </a:solidFill>
              </a:rPr>
              <a:t>Unlocks</a:t>
            </a:r>
          </a:p>
          <a:p>
            <a:pPr algn="l"/>
            <a:r>
              <a:rPr sz="1100" b="0" i="0">
                <a:solidFill>
                  <a:srgbClr val="1A1A1A"/>
                </a:solidFill>
              </a:rPr>
              <a:t>BCAR 90.010 section A; Pillar 3 MR2; model approval</a:t>
            </a:r>
          </a:p>
        </p:txBody>
      </p:sp>
      <p:sp>
        <p:nvSpPr>
          <p:cNvPr id="57" name="Rectangle 56"/>
          <p:cNvSpPr/>
          <p:nvPr/>
        </p:nvSpPr>
        <p:spPr>
          <a:xfrm>
            <a:off x="777240" y="5120640"/>
            <a:ext cx="10634472" cy="566928"/>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8" name="Rectangle 57"/>
          <p:cNvSpPr/>
          <p:nvPr/>
        </p:nvSpPr>
        <p:spPr>
          <a:xfrm>
            <a:off x="777240" y="5120640"/>
            <a:ext cx="54864" cy="56692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9" name="TextBox 58"/>
          <p:cNvSpPr txBox="1"/>
          <p:nvPr/>
        </p:nvSpPr>
        <p:spPr>
          <a:xfrm>
            <a:off x="1005840" y="5120640"/>
            <a:ext cx="10314432" cy="566928"/>
          </a:xfrm>
          <a:prstGeom prst="rect">
            <a:avLst/>
          </a:prstGeom>
          <a:noFill/>
        </p:spPr>
        <p:txBody>
          <a:bodyPr wrap="square" lIns="0" rIns="0" tIns="0" bIns="0" anchor="ctr">
            <a:spAutoFit/>
          </a:bodyPr>
          <a:lstStyle/>
          <a:p>
            <a:pPr algn="l"/>
            <a:r>
              <a:rPr sz="1150" b="1" i="0">
                <a:solidFill>
                  <a:srgbClr val="A51C30"/>
                </a:solidFill>
              </a:rPr>
              <a:t>Why 3a before 3b.  </a:t>
            </a:r>
            <a:r>
              <a:rPr sz="1100" b="0" i="0">
                <a:solidFill>
                  <a:srgbClr val="1A1A1A"/>
                </a:solidFill>
              </a:rPr>
              <a:t>Every Canadian bank reports the standardised approach, modelled or not; internal models serve only a bank that applies.</a:t>
            </a:r>
          </a:p>
        </p:txBody>
      </p:sp>
      <p:sp>
        <p:nvSpPr>
          <p:cNvPr id="60" name="TextBox 59"/>
          <p:cNvSpPr txBox="1"/>
          <p:nvPr/>
        </p:nvSpPr>
        <p:spPr>
          <a:xfrm>
            <a:off x="777240" y="5760720"/>
            <a:ext cx="10634472" cy="502920"/>
          </a:xfrm>
          <a:prstGeom prst="rect">
            <a:avLst/>
          </a:prstGeom>
          <a:noFill/>
        </p:spPr>
        <p:txBody>
          <a:bodyPr wrap="square" lIns="0" rIns="0" tIns="0" bIns="0" anchor="ctr">
            <a:spAutoFit/>
          </a:bodyPr>
          <a:lstStyle/>
          <a:p>
            <a:pPr algn="l"/>
            <a:r>
              <a:rPr sz="1100" b="1" i="0">
                <a:solidFill>
                  <a:srgbClr val="8A1626"/>
                </a:solidFill>
              </a:rPr>
              <a:t>The bank supplies: </a:t>
            </a:r>
            <a:r>
              <a:rPr sz="1100" b="0" i="0">
                <a:solidFill>
                  <a:srgbClr val="1A1A1A"/>
                </a:solidFill>
              </a:rPr>
              <a:t>daily actual and hypothetical P&amp;L; 10-day and stress-window P&amp;L vectors; P&amp;L by risk class; desk definitions and its limit catalogue; sensitivities; real-price observations for 3b.</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IMPLEMENTATION AND ROLLOUT</a:t>
            </a:r>
          </a:p>
        </p:txBody>
      </p:sp>
      <p:sp>
        <p:nvSpPr>
          <p:cNvPr id="3" name="Title 2"/>
          <p:cNvSpPr>
            <a:spLocks noGrp="1"/>
          </p:cNvSpPr>
          <p:nvPr>
            <p:ph type="title" idx="104"/>
          </p:nvPr>
        </p:nvSpPr>
        <p:spPr/>
        <p:txBody>
          <a:bodyPr/>
          <a:lstStyle/>
          <a:p>
            <a:r>
              <a:t>A phased rollout with a parallel run</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17320"/>
            <a:ext cx="1995220" cy="1874519"/>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Oval 26"/>
          <p:cNvSpPr/>
          <p:nvPr/>
        </p:nvSpPr>
        <p:spPr>
          <a:xfrm>
            <a:off x="886968" y="1508760"/>
            <a:ext cx="365760" cy="365760"/>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rPr>
              <a:t>0</a:t>
            </a:r>
          </a:p>
        </p:txBody>
      </p:sp>
      <p:sp>
        <p:nvSpPr>
          <p:cNvPr id="28" name="TextBox 27"/>
          <p:cNvSpPr txBox="1"/>
          <p:nvPr/>
        </p:nvSpPr>
        <p:spPr>
          <a:xfrm>
            <a:off x="1325880" y="1508760"/>
            <a:ext cx="1400860" cy="365760"/>
          </a:xfrm>
          <a:prstGeom prst="rect">
            <a:avLst/>
          </a:prstGeom>
          <a:noFill/>
        </p:spPr>
        <p:txBody>
          <a:bodyPr wrap="square" lIns="0" rIns="0" tIns="0" bIns="0" anchor="ctr">
            <a:spAutoFit/>
          </a:bodyPr>
          <a:lstStyle/>
          <a:p>
            <a:pPr algn="l"/>
            <a:r>
              <a:rPr sz="1300" b="1" i="0">
                <a:solidFill>
                  <a:srgbClr val="8A1626"/>
                </a:solidFill>
              </a:rPr>
              <a:t>Prepare</a:t>
            </a:r>
          </a:p>
        </p:txBody>
      </p:sp>
      <p:sp>
        <p:nvSpPr>
          <p:cNvPr id="29" name="TextBox 28"/>
          <p:cNvSpPr txBox="1"/>
          <p:nvPr/>
        </p:nvSpPr>
        <p:spPr>
          <a:xfrm>
            <a:off x="886968" y="1938528"/>
            <a:ext cx="1812340" cy="1325880"/>
          </a:xfrm>
          <a:prstGeom prst="rect">
            <a:avLst/>
          </a:prstGeom>
          <a:noFill/>
        </p:spPr>
        <p:txBody>
          <a:bodyPr wrap="square" lIns="0" rIns="0" tIns="0" bIns="0" anchor="t">
            <a:spAutoFit/>
          </a:bodyPr>
          <a:lstStyle/>
          <a:p>
            <a:pPr algn="l" marL="146304" indent="-146304">
              <a:spcAft>
                <a:spcPts val="200"/>
              </a:spcAft>
              <a:buClr>
                <a:srgbClr val="A51C30"/>
              </a:buClr>
              <a:buSzPct val="100000"/>
              <a:buFont typeface="Arial"/>
              <a:buChar char="▪"/>
            </a:pPr>
            <a:r>
              <a:rPr sz="1050" b="0" i="0">
                <a:solidFill>
                  <a:srgbClr val="1A1A1A"/>
                </a:solidFill>
              </a:rPr>
              <a:t>Environment: Delta or Iceberg, on premises or AWS</a:t>
            </a:r>
          </a:p>
          <a:p>
            <a:pPr algn="l" marL="146304" indent="-146304">
              <a:spcAft>
                <a:spcPts val="200"/>
              </a:spcAft>
              <a:buClr>
                <a:srgbClr val="A51C30"/>
              </a:buClr>
              <a:buSzPct val="100000"/>
              <a:buFont typeface="Arial"/>
              <a:buChar char="▪"/>
            </a:pPr>
            <a:r>
              <a:rPr sz="1050" b="0" i="0">
                <a:solidFill>
                  <a:srgbClr val="1A1A1A"/>
                </a:solidFill>
              </a:rPr>
              <a:t>Settings and entitlements agreed</a:t>
            </a:r>
          </a:p>
          <a:p>
            <a:pPr algn="l" marL="146304" indent="-146304">
              <a:spcAft>
                <a:spcPts val="200"/>
              </a:spcAft>
              <a:buClr>
                <a:srgbClr val="A51C30"/>
              </a:buClr>
              <a:buSzPct val="100000"/>
              <a:buFont typeface="Arial"/>
              <a:buChar char="▪"/>
            </a:pPr>
            <a:r>
              <a:rPr sz="1050" b="0" i="0">
                <a:solidFill>
                  <a:srgbClr val="1A1A1A"/>
                </a:solidFill>
              </a:rPr>
              <a:t>The 200K benchmark, then 2.3M on the target server</a:t>
            </a:r>
          </a:p>
        </p:txBody>
      </p:sp>
      <p:sp>
        <p:nvSpPr>
          <p:cNvPr id="30" name="Rectangle 29"/>
          <p:cNvSpPr/>
          <p:nvPr/>
        </p:nvSpPr>
        <p:spPr>
          <a:xfrm>
            <a:off x="2937052" y="1417320"/>
            <a:ext cx="1995220" cy="1874519"/>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Oval 30"/>
          <p:cNvSpPr/>
          <p:nvPr/>
        </p:nvSpPr>
        <p:spPr>
          <a:xfrm>
            <a:off x="3046780" y="1508760"/>
            <a:ext cx="365760" cy="365760"/>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rPr>
              <a:t>1</a:t>
            </a:r>
          </a:p>
        </p:txBody>
      </p:sp>
      <p:sp>
        <p:nvSpPr>
          <p:cNvPr id="32" name="TextBox 31"/>
          <p:cNvSpPr txBox="1"/>
          <p:nvPr/>
        </p:nvSpPr>
        <p:spPr>
          <a:xfrm>
            <a:off x="3485692" y="1508760"/>
            <a:ext cx="1400860" cy="365760"/>
          </a:xfrm>
          <a:prstGeom prst="rect">
            <a:avLst/>
          </a:prstGeom>
          <a:noFill/>
        </p:spPr>
        <p:txBody>
          <a:bodyPr wrap="square" lIns="0" rIns="0" tIns="0" bIns="0" anchor="ctr">
            <a:spAutoFit/>
          </a:bodyPr>
          <a:lstStyle/>
          <a:p>
            <a:pPr algn="l"/>
            <a:r>
              <a:rPr sz="1300" b="1" i="0">
                <a:solidFill>
                  <a:srgbClr val="8A1626"/>
                </a:solidFill>
              </a:rPr>
              <a:t>Pilot desk</a:t>
            </a:r>
          </a:p>
        </p:txBody>
      </p:sp>
      <p:sp>
        <p:nvSpPr>
          <p:cNvPr id="33" name="TextBox 32"/>
          <p:cNvSpPr txBox="1"/>
          <p:nvPr/>
        </p:nvSpPr>
        <p:spPr>
          <a:xfrm>
            <a:off x="3046780" y="1938528"/>
            <a:ext cx="1812340" cy="1325880"/>
          </a:xfrm>
          <a:prstGeom prst="rect">
            <a:avLst/>
          </a:prstGeom>
          <a:noFill/>
        </p:spPr>
        <p:txBody>
          <a:bodyPr wrap="square" lIns="0" rIns="0" tIns="0" bIns="0" anchor="t">
            <a:spAutoFit/>
          </a:bodyPr>
          <a:lstStyle/>
          <a:p>
            <a:pPr algn="l" marL="146304" indent="-146304">
              <a:spcAft>
                <a:spcPts val="200"/>
              </a:spcAft>
              <a:buClr>
                <a:srgbClr val="A51C30"/>
              </a:buClr>
              <a:buSzPct val="100000"/>
              <a:buFont typeface="Arial"/>
              <a:buChar char="▪"/>
            </a:pPr>
            <a:r>
              <a:rPr sz="1050" b="0" i="0">
                <a:solidFill>
                  <a:srgbClr val="1A1A1A"/>
                </a:solidFill>
              </a:rPr>
              <a:t>The desk's systems onboarded</a:t>
            </a:r>
          </a:p>
          <a:p>
            <a:pPr algn="l" marL="146304" indent="-146304">
              <a:spcAft>
                <a:spcPts val="200"/>
              </a:spcAft>
              <a:buClr>
                <a:srgbClr val="A51C30"/>
              </a:buClr>
              <a:buSzPct val="100000"/>
              <a:buFont typeface="Arial"/>
              <a:buChar char="▪"/>
            </a:pPr>
            <a:r>
              <a:rPr sz="1050" b="0" i="0">
                <a:solidFill>
                  <a:srgbClr val="1A1A1A"/>
                </a:solidFill>
              </a:rPr>
              <a:t>Daily full runs and official records</a:t>
            </a:r>
          </a:p>
          <a:p>
            <a:pPr algn="l" marL="146304" indent="-146304">
              <a:spcAft>
                <a:spcPts val="200"/>
              </a:spcAft>
              <a:buClr>
                <a:srgbClr val="A51C30"/>
              </a:buClr>
              <a:buSzPct val="100000"/>
              <a:buFont typeface="Arial"/>
              <a:buChar char="▪"/>
            </a:pPr>
            <a:r>
              <a:rPr sz="1050" b="0" i="0">
                <a:solidFill>
                  <a:srgbClr val="1A1A1A"/>
                </a:solidFill>
              </a:rPr>
              <a:t>Parallel run against the existing VaR</a:t>
            </a:r>
          </a:p>
        </p:txBody>
      </p:sp>
      <p:sp>
        <p:nvSpPr>
          <p:cNvPr id="34" name="Rectangle 33"/>
          <p:cNvSpPr/>
          <p:nvPr/>
        </p:nvSpPr>
        <p:spPr>
          <a:xfrm>
            <a:off x="5096865" y="1417320"/>
            <a:ext cx="1995220" cy="1874519"/>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Oval 34"/>
          <p:cNvSpPr/>
          <p:nvPr/>
        </p:nvSpPr>
        <p:spPr>
          <a:xfrm>
            <a:off x="5206593" y="1508760"/>
            <a:ext cx="365760" cy="365760"/>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rPr>
              <a:t>2</a:t>
            </a:r>
          </a:p>
        </p:txBody>
      </p:sp>
      <p:sp>
        <p:nvSpPr>
          <p:cNvPr id="36" name="TextBox 35"/>
          <p:cNvSpPr txBox="1"/>
          <p:nvPr/>
        </p:nvSpPr>
        <p:spPr>
          <a:xfrm>
            <a:off x="5645505" y="1508760"/>
            <a:ext cx="1400860" cy="365760"/>
          </a:xfrm>
          <a:prstGeom prst="rect">
            <a:avLst/>
          </a:prstGeom>
          <a:noFill/>
        </p:spPr>
        <p:txBody>
          <a:bodyPr wrap="square" lIns="0" rIns="0" tIns="0" bIns="0" anchor="ctr">
            <a:spAutoFit/>
          </a:bodyPr>
          <a:lstStyle/>
          <a:p>
            <a:pPr algn="l"/>
            <a:r>
              <a:rPr sz="1300" b="1" i="0">
                <a:solidFill>
                  <a:srgbClr val="8A1626"/>
                </a:solidFill>
              </a:rPr>
              <a:t>A legal entity</a:t>
            </a:r>
          </a:p>
        </p:txBody>
      </p:sp>
      <p:sp>
        <p:nvSpPr>
          <p:cNvPr id="37" name="TextBox 36"/>
          <p:cNvSpPr txBox="1"/>
          <p:nvPr/>
        </p:nvSpPr>
        <p:spPr>
          <a:xfrm>
            <a:off x="5206593" y="1938528"/>
            <a:ext cx="1812340" cy="1325880"/>
          </a:xfrm>
          <a:prstGeom prst="rect">
            <a:avLst/>
          </a:prstGeom>
          <a:noFill/>
        </p:spPr>
        <p:txBody>
          <a:bodyPr wrap="square" lIns="0" rIns="0" tIns="0" bIns="0" anchor="t">
            <a:spAutoFit/>
          </a:bodyPr>
          <a:lstStyle/>
          <a:p>
            <a:pPr algn="l" marL="146304" indent="-146304">
              <a:spcAft>
                <a:spcPts val="200"/>
              </a:spcAft>
              <a:buClr>
                <a:srgbClr val="A51C30"/>
              </a:buClr>
              <a:buSzPct val="100000"/>
              <a:buFont typeface="Arial"/>
              <a:buChar char="▪"/>
            </a:pPr>
            <a:r>
              <a:rPr sz="1050" b="0" i="0">
                <a:solidFill>
                  <a:srgbClr val="1A1A1A"/>
                </a:solidFill>
              </a:rPr>
              <a:t>All its desks and systems</a:t>
            </a:r>
          </a:p>
          <a:p>
            <a:pPr algn="l" marL="146304" indent="-146304">
              <a:spcAft>
                <a:spcPts val="200"/>
              </a:spcAft>
              <a:buClr>
                <a:srgbClr val="A51C30"/>
              </a:buClr>
              <a:buSzPct val="100000"/>
              <a:buFont typeface="Arial"/>
              <a:buChar char="▪"/>
            </a:pPr>
            <a:r>
              <a:rPr sz="1050" b="0" i="0">
                <a:solidFill>
                  <a:srgbClr val="1A1A1A"/>
                </a:solidFill>
              </a:rPr>
              <a:t>LEGAL tree and limits</a:t>
            </a:r>
          </a:p>
          <a:p>
            <a:pPr algn="l" marL="146304" indent="-146304">
              <a:spcAft>
                <a:spcPts val="200"/>
              </a:spcAft>
              <a:buClr>
                <a:srgbClr val="A51C30"/>
              </a:buClr>
              <a:buSzPct val="100000"/>
              <a:buFont typeface="Arial"/>
              <a:buChar char="▪"/>
            </a:pPr>
            <a:r>
              <a:rPr sz="1050" b="0" i="0">
                <a:solidFill>
                  <a:srgbClr val="1A1A1A"/>
                </a:solidFill>
              </a:rPr>
              <a:t>Intraday switched on</a:t>
            </a:r>
          </a:p>
        </p:txBody>
      </p:sp>
      <p:sp>
        <p:nvSpPr>
          <p:cNvPr id="38" name="Rectangle 37"/>
          <p:cNvSpPr/>
          <p:nvPr/>
        </p:nvSpPr>
        <p:spPr>
          <a:xfrm>
            <a:off x="7256678" y="1417320"/>
            <a:ext cx="1995220" cy="1874519"/>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Oval 38"/>
          <p:cNvSpPr/>
          <p:nvPr/>
        </p:nvSpPr>
        <p:spPr>
          <a:xfrm>
            <a:off x="7366406" y="1508760"/>
            <a:ext cx="365760" cy="365760"/>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rPr>
              <a:t>3</a:t>
            </a:r>
          </a:p>
        </p:txBody>
      </p:sp>
      <p:sp>
        <p:nvSpPr>
          <p:cNvPr id="40" name="TextBox 39"/>
          <p:cNvSpPr txBox="1"/>
          <p:nvPr/>
        </p:nvSpPr>
        <p:spPr>
          <a:xfrm>
            <a:off x="7805318" y="1508760"/>
            <a:ext cx="1400860" cy="365760"/>
          </a:xfrm>
          <a:prstGeom prst="rect">
            <a:avLst/>
          </a:prstGeom>
          <a:noFill/>
        </p:spPr>
        <p:txBody>
          <a:bodyPr wrap="square" lIns="0" rIns="0" tIns="0" bIns="0" anchor="ctr">
            <a:spAutoFit/>
          </a:bodyPr>
          <a:lstStyle/>
          <a:p>
            <a:pPr algn="l"/>
            <a:r>
              <a:rPr sz="1300" b="1" i="0">
                <a:solidFill>
                  <a:srgbClr val="8A1626"/>
                </a:solidFill>
              </a:rPr>
              <a:t>The bank</a:t>
            </a:r>
          </a:p>
        </p:txBody>
      </p:sp>
      <p:sp>
        <p:nvSpPr>
          <p:cNvPr id="41" name="TextBox 40"/>
          <p:cNvSpPr txBox="1"/>
          <p:nvPr/>
        </p:nvSpPr>
        <p:spPr>
          <a:xfrm>
            <a:off x="7366406" y="1938528"/>
            <a:ext cx="1812340" cy="1325880"/>
          </a:xfrm>
          <a:prstGeom prst="rect">
            <a:avLst/>
          </a:prstGeom>
          <a:noFill/>
        </p:spPr>
        <p:txBody>
          <a:bodyPr wrap="square" lIns="0" rIns="0" tIns="0" bIns="0" anchor="t">
            <a:spAutoFit/>
          </a:bodyPr>
          <a:lstStyle/>
          <a:p>
            <a:pPr algn="l" marL="146304" indent="-146304">
              <a:spcAft>
                <a:spcPts val="200"/>
              </a:spcAft>
              <a:buClr>
                <a:srgbClr val="A51C30"/>
              </a:buClr>
              <a:buSzPct val="100000"/>
              <a:buFont typeface="Arial"/>
              <a:buChar char="▪"/>
            </a:pPr>
            <a:r>
              <a:rPr sz="1050" b="0" i="0">
                <a:solidFill>
                  <a:srgbClr val="1A1A1A"/>
                </a:solidFill>
              </a:rPr>
              <a:t>Every system, every tree</a:t>
            </a:r>
          </a:p>
          <a:p>
            <a:pPr algn="l" marL="146304" indent="-146304">
              <a:spcAft>
                <a:spcPts val="200"/>
              </a:spcAft>
              <a:buClr>
                <a:srgbClr val="A51C30"/>
              </a:buClr>
              <a:buSzPct val="100000"/>
              <a:buFont typeface="Arial"/>
              <a:buChar char="▪"/>
            </a:pPr>
            <a:r>
              <a:rPr sz="1050" b="0" i="0">
                <a:solidFill>
                  <a:srgbClr val="1A1A1A"/>
                </a:solidFill>
              </a:rPr>
              <a:t>≈ 15,000 portfolios; ≈ 700 limit letters</a:t>
            </a:r>
          </a:p>
          <a:p>
            <a:pPr algn="l" marL="146304" indent="-146304">
              <a:spcAft>
                <a:spcPts val="200"/>
              </a:spcAft>
              <a:buClr>
                <a:srgbClr val="A51C30"/>
              </a:buClr>
              <a:buSzPct val="100000"/>
              <a:buFont typeface="Arial"/>
              <a:buChar char="▪"/>
            </a:pPr>
            <a:r>
              <a:rPr sz="1050" b="0" i="0">
                <a:solidFill>
                  <a:srgbClr val="1A1A1A"/>
                </a:solidFill>
              </a:rPr>
              <a:t>BI reads the official results</a:t>
            </a:r>
          </a:p>
        </p:txBody>
      </p:sp>
      <p:sp>
        <p:nvSpPr>
          <p:cNvPr id="42" name="Rectangle 41"/>
          <p:cNvSpPr/>
          <p:nvPr/>
        </p:nvSpPr>
        <p:spPr>
          <a:xfrm>
            <a:off x="9416491" y="1417320"/>
            <a:ext cx="1995220" cy="1874519"/>
          </a:xfrm>
          <a:prstGeom prst="rect">
            <a:avLst/>
          </a:prstGeom>
          <a:solidFill>
            <a:srgbClr val="F6E6E9"/>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3" name="Oval 42"/>
          <p:cNvSpPr/>
          <p:nvPr/>
        </p:nvSpPr>
        <p:spPr>
          <a:xfrm>
            <a:off x="9526219" y="1508760"/>
            <a:ext cx="365760" cy="365760"/>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rPr>
              <a:t>4</a:t>
            </a:r>
          </a:p>
        </p:txBody>
      </p:sp>
      <p:sp>
        <p:nvSpPr>
          <p:cNvPr id="44" name="TextBox 43"/>
          <p:cNvSpPr txBox="1"/>
          <p:nvPr/>
        </p:nvSpPr>
        <p:spPr>
          <a:xfrm>
            <a:off x="9965131" y="1508760"/>
            <a:ext cx="1400860" cy="365760"/>
          </a:xfrm>
          <a:prstGeom prst="rect">
            <a:avLst/>
          </a:prstGeom>
          <a:noFill/>
        </p:spPr>
        <p:txBody>
          <a:bodyPr wrap="square" lIns="0" rIns="0" tIns="0" bIns="0" anchor="ctr">
            <a:spAutoFit/>
          </a:bodyPr>
          <a:lstStyle/>
          <a:p>
            <a:pPr algn="l"/>
            <a:r>
              <a:rPr sz="1300" b="1" i="0">
                <a:solidFill>
                  <a:srgbClr val="8A1626"/>
                </a:solidFill>
              </a:rPr>
              <a:t>Cutover</a:t>
            </a:r>
          </a:p>
        </p:txBody>
      </p:sp>
      <p:sp>
        <p:nvSpPr>
          <p:cNvPr id="45" name="TextBox 44"/>
          <p:cNvSpPr txBox="1"/>
          <p:nvPr/>
        </p:nvSpPr>
        <p:spPr>
          <a:xfrm>
            <a:off x="9526219" y="1938528"/>
            <a:ext cx="1812340" cy="1325880"/>
          </a:xfrm>
          <a:prstGeom prst="rect">
            <a:avLst/>
          </a:prstGeom>
          <a:noFill/>
        </p:spPr>
        <p:txBody>
          <a:bodyPr wrap="square" lIns="0" rIns="0" tIns="0" bIns="0" anchor="t">
            <a:spAutoFit/>
          </a:bodyPr>
          <a:lstStyle/>
          <a:p>
            <a:pPr algn="l" marL="146304" indent="-146304">
              <a:spcAft>
                <a:spcPts val="200"/>
              </a:spcAft>
              <a:buClr>
                <a:srgbClr val="A51C30"/>
              </a:buClr>
              <a:buSzPct val="100000"/>
              <a:buFont typeface="Arial"/>
              <a:buChar char="▪"/>
            </a:pPr>
            <a:r>
              <a:rPr sz="1050" b="0" i="0">
                <a:solidFill>
                  <a:srgbClr val="1A1A1A"/>
                </a:solidFill>
              </a:rPr>
              <a:t>Sign-off</a:t>
            </a:r>
          </a:p>
          <a:p>
            <a:pPr algn="l" marL="146304" indent="-146304">
              <a:spcAft>
                <a:spcPts val="200"/>
              </a:spcAft>
              <a:buClr>
                <a:srgbClr val="A51C30"/>
              </a:buClr>
              <a:buSzPct val="100000"/>
              <a:buFont typeface="Arial"/>
              <a:buChar char="▪"/>
            </a:pPr>
            <a:r>
              <a:rPr sz="1050" b="0" i="0">
                <a:solidFill>
                  <a:srgbClr val="1A1A1A"/>
                </a:solidFill>
              </a:rPr>
              <a:t>Drishti's records become the numbers of record</a:t>
            </a:r>
          </a:p>
          <a:p>
            <a:pPr algn="l" marL="146304" indent="-146304">
              <a:spcAft>
                <a:spcPts val="200"/>
              </a:spcAft>
              <a:buClr>
                <a:srgbClr val="A51C30"/>
              </a:buClr>
              <a:buSzPct val="100000"/>
              <a:buFont typeface="Arial"/>
              <a:buChar char="▪"/>
            </a:pPr>
            <a:r>
              <a:rPr sz="1050" b="0" i="0">
                <a:solidFill>
                  <a:srgbClr val="1A1A1A"/>
                </a:solidFill>
              </a:rPr>
              <a:t>The existing VaR retired</a:t>
            </a:r>
          </a:p>
        </p:txBody>
      </p:sp>
      <p:sp>
        <p:nvSpPr>
          <p:cNvPr id="46" name="Rectangle 45"/>
          <p:cNvSpPr/>
          <p:nvPr/>
        </p:nvSpPr>
        <p:spPr>
          <a:xfrm>
            <a:off x="777240" y="3429000"/>
            <a:ext cx="5669280" cy="219456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7" name="Rectangle 46"/>
          <p:cNvSpPr/>
          <p:nvPr/>
        </p:nvSpPr>
        <p:spPr>
          <a:xfrm>
            <a:off x="777240" y="3429000"/>
            <a:ext cx="45720" cy="21945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8" name="TextBox 47"/>
          <p:cNvSpPr txBox="1"/>
          <p:nvPr/>
        </p:nvSpPr>
        <p:spPr>
          <a:xfrm>
            <a:off x="941832" y="3502152"/>
            <a:ext cx="5413248" cy="2084831"/>
          </a:xfrm>
          <a:prstGeom prst="rect">
            <a:avLst/>
          </a:prstGeom>
          <a:noFill/>
        </p:spPr>
        <p:txBody>
          <a:bodyPr wrap="square" lIns="0" rIns="0" tIns="0" bIns="0" anchor="t">
            <a:spAutoFit/>
          </a:bodyPr>
          <a:lstStyle/>
          <a:p>
            <a:pPr algn="l">
              <a:spcAft>
                <a:spcPts val="400"/>
              </a:spcAft>
            </a:pPr>
            <a:r>
              <a:rPr sz="1300" b="1" i="0">
                <a:solidFill>
                  <a:srgbClr val="8A1626"/>
                </a:solidFill>
              </a:rPr>
              <a:t>Parallel run and reconciliation</a:t>
            </a:r>
          </a:p>
          <a:p>
            <a:pPr algn="l" marL="146304" indent="-146304">
              <a:spcAft>
                <a:spcPts val="300"/>
              </a:spcAft>
              <a:buClr>
                <a:srgbClr val="A51C30"/>
              </a:buClr>
              <a:buSzPct val="100000"/>
              <a:buFont typeface="Arial"/>
              <a:buChar char="▪"/>
            </a:pPr>
            <a:r>
              <a:rPr sz="1100" b="0" i="0">
                <a:solidFill>
                  <a:srgbClr val="1A1A1A"/>
                </a:solidFill>
              </a:rPr>
              <a:t>Each node, each date: the existing VaR beside Drishti's official record (the var-official table)</a:t>
            </a:r>
          </a:p>
          <a:p>
            <a:pPr algn="l" marL="146304" indent="-146304">
              <a:spcAft>
                <a:spcPts val="300"/>
              </a:spcAft>
              <a:buClr>
                <a:srgbClr val="A51C30"/>
              </a:buClr>
              <a:buSzPct val="100000"/>
              <a:buFont typeface="Arial"/>
              <a:buChar char="▪"/>
            </a:pPr>
            <a:r>
              <a:rPr sz="1100" b="0" i="0">
                <a:solidFill>
                  <a:srgbClr val="1A1A1A"/>
                </a:solidFill>
              </a:rPr>
              <a:t>Explain every difference by its cause: inputs (refused, excluded, unknown ids), method (window, confidence, rank rule), FX (scenario FX, not today's rate), membership (overlaps counted once), model</a:t>
            </a:r>
          </a:p>
          <a:p>
            <a:pPr algn="l" marL="146304" indent="-146304">
              <a:spcAft>
                <a:spcPts val="300"/>
              </a:spcAft>
              <a:buClr>
                <a:srgbClr val="A51C30"/>
              </a:buClr>
              <a:buSzPct val="100000"/>
              <a:buFont typeface="Arial"/>
              <a:buChar char="▪"/>
            </a:pPr>
            <a:r>
              <a:rPr sz="1100" b="0" i="0">
                <a:solidFill>
                  <a:srgbClr val="1A1A1A"/>
                </a:solidFill>
              </a:rPr>
              <a:t>Track the backtest light on the official history as it builds up</a:t>
            </a:r>
          </a:p>
        </p:txBody>
      </p:sp>
      <p:sp>
        <p:nvSpPr>
          <p:cNvPr id="49" name="Rectangle 48"/>
          <p:cNvSpPr/>
          <p:nvPr/>
        </p:nvSpPr>
        <p:spPr>
          <a:xfrm>
            <a:off x="6675120" y="3429000"/>
            <a:ext cx="4736592" cy="219456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0" name="Rectangle 49"/>
          <p:cNvSpPr/>
          <p:nvPr/>
        </p:nvSpPr>
        <p:spPr>
          <a:xfrm>
            <a:off x="6675120" y="3429000"/>
            <a:ext cx="45720" cy="21945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1" name="TextBox 50"/>
          <p:cNvSpPr txBox="1"/>
          <p:nvPr/>
        </p:nvSpPr>
        <p:spPr>
          <a:xfrm>
            <a:off x="6839712" y="3502152"/>
            <a:ext cx="4480560" cy="2084831"/>
          </a:xfrm>
          <a:prstGeom prst="rect">
            <a:avLst/>
          </a:prstGeom>
          <a:noFill/>
        </p:spPr>
        <p:txBody>
          <a:bodyPr wrap="square" lIns="0" rIns="0" tIns="0" bIns="0" anchor="t">
            <a:spAutoFit/>
          </a:bodyPr>
          <a:lstStyle/>
          <a:p>
            <a:pPr algn="l">
              <a:spcAft>
                <a:spcPts val="400"/>
              </a:spcAft>
            </a:pPr>
            <a:r>
              <a:rPr sz="1300" b="1" i="0">
                <a:solidFill>
                  <a:srgbClr val="8A1626"/>
                </a:solidFill>
              </a:rPr>
              <a:t>Sign-off criteria</a:t>
            </a:r>
          </a:p>
          <a:p>
            <a:pPr algn="l" marL="146304" indent="-146304">
              <a:spcAft>
                <a:spcPts val="150"/>
              </a:spcAft>
              <a:buClr>
                <a:srgbClr val="A51C30"/>
              </a:buClr>
              <a:buSzPct val="100000"/>
              <a:buFont typeface="Arial"/>
              <a:buChar char="▪"/>
            </a:pPr>
            <a:r>
              <a:rPr sz="1100" b="0" i="0">
                <a:solidFill>
                  <a:srgbClr val="1A1A1A"/>
                </a:solidFill>
              </a:rPr>
              <a:t>Agreed tolerance per node; every difference explained</a:t>
            </a:r>
          </a:p>
          <a:p>
            <a:pPr algn="l" marL="146304" indent="-146304">
              <a:spcAft>
                <a:spcPts val="150"/>
              </a:spcAft>
              <a:buClr>
                <a:srgbClr val="A51C30"/>
              </a:buClr>
              <a:buSzPct val="100000"/>
              <a:buFont typeface="Arial"/>
              <a:buChar char="▪"/>
            </a:pPr>
            <a:r>
              <a:rPr sz="1100" b="0" i="0">
                <a:solidFill>
                  <a:srgbClr val="1A1A1A"/>
                </a:solidFill>
              </a:rPr>
              <a:t>No unexplained refusals over an agreed run of days</a:t>
            </a:r>
          </a:p>
          <a:p>
            <a:pPr algn="l" marL="146304" indent="-146304">
              <a:spcAft>
                <a:spcPts val="150"/>
              </a:spcAft>
              <a:buClr>
                <a:srgbClr val="A51C30"/>
              </a:buClr>
              <a:buSzPct val="100000"/>
              <a:buFont typeface="Arial"/>
              <a:buChar char="▪"/>
            </a:pPr>
            <a:r>
              <a:rPr sz="1100" b="0" i="0">
                <a:solidFill>
                  <a:srgbClr val="1A1A1A"/>
                </a:solidFill>
              </a:rPr>
              <a:t>Model validation of the method settings and the controls</a:t>
            </a:r>
          </a:p>
          <a:p>
            <a:pPr algn="l" marL="146304" indent="-146304">
              <a:spcAft>
                <a:spcPts val="150"/>
              </a:spcAft>
              <a:buClr>
                <a:srgbClr val="A51C30"/>
              </a:buClr>
              <a:buSzPct val="100000"/>
              <a:buFont typeface="Arial"/>
              <a:buChar char="▪"/>
            </a:pPr>
            <a:r>
              <a:rPr sz="1100" b="0" i="0">
                <a:solidFill>
                  <a:srgbClr val="1A1A1A"/>
                </a:solidFill>
              </a:rPr>
              <a:t>Runbook rehearsed: a restatement, a failed publish, a restart</a:t>
            </a:r>
          </a:p>
          <a:p>
            <a:pPr algn="l" marL="146304" indent="-146304">
              <a:spcAft>
                <a:spcPts val="150"/>
              </a:spcAft>
              <a:buClr>
                <a:srgbClr val="A51C30"/>
              </a:buClr>
              <a:buSzPct val="100000"/>
              <a:buFont typeface="Arial"/>
              <a:buChar char="▪"/>
            </a:pPr>
            <a:r>
              <a:rPr sz="1100" b="0" i="0">
                <a:solidFill>
                  <a:srgbClr val="1A1A1A"/>
                </a:solidFill>
              </a:rPr>
              <a:t>Backtest light not red; entitlements and audit reviewed</a:t>
            </a:r>
          </a:p>
        </p:txBody>
      </p:sp>
      <p:sp>
        <p:nvSpPr>
          <p:cNvPr id="52" name="Rounded Rectangle 51"/>
          <p:cNvSpPr/>
          <p:nvPr/>
        </p:nvSpPr>
        <p:spPr>
          <a:xfrm>
            <a:off x="10543032" y="3493008"/>
            <a:ext cx="667512" cy="201168"/>
          </a:xfrm>
          <a:prstGeom prst="roundRect">
            <a:avLst>
              <a:gd name="adj" fmla="val 50000"/>
            </a:avLst>
          </a:prstGeom>
          <a:solidFill>
            <a:srgbClr val="FFFFFF"/>
          </a:solidFill>
          <a:ln w="12700">
            <a:solidFill>
              <a:srgbClr val="4A505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4A5058"/>
                </a:solidFill>
              </a:rPr>
              <a:t>PROPOSED</a:t>
            </a:r>
          </a:p>
        </p:txBody>
      </p:sp>
      <p:sp>
        <p:nvSpPr>
          <p:cNvPr id="53" name="TextBox 52"/>
          <p:cNvSpPr txBox="1"/>
          <p:nvPr/>
        </p:nvSpPr>
        <p:spPr>
          <a:xfrm>
            <a:off x="777240" y="5760720"/>
            <a:ext cx="10634472" cy="457200"/>
          </a:xfrm>
          <a:prstGeom prst="rect">
            <a:avLst/>
          </a:prstGeom>
          <a:noFill/>
        </p:spPr>
        <p:txBody>
          <a:bodyPr wrap="square" lIns="0" rIns="0" tIns="0" bIns="0" anchor="ctr">
            <a:spAutoFit/>
          </a:bodyPr>
          <a:lstStyle/>
          <a:p>
            <a:pPr algn="l"/>
            <a:r>
              <a:rPr sz="1100" b="0" i="1">
                <a:solidFill>
                  <a:srgbClr val="4A5058"/>
                </a:solidFill>
              </a:rPr>
              <a:t>A proposed plan: generic, no dates. Each phase uses built capabilities; the 10-day and stressed measures are not built yet.</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hapter background"/>
          <p:cNvSpPr/>
          <p:nvPr/>
        </p:nvSpPr>
        <p:spPr>
          <a:xfrm>
            <a:off x="0" y="0"/>
            <a:ext cx="12191969"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chapter number"/>
          <p:cNvSpPr txBox="1"/>
          <p:nvPr/>
        </p:nvSpPr>
        <p:spPr>
          <a:xfrm>
            <a:off x="4754880" y="-822960"/>
            <a:ext cx="7223760" cy="7863840"/>
          </a:xfrm>
          <a:prstGeom prst="rect">
            <a:avLst/>
          </a:prstGeom>
          <a:noFill/>
        </p:spPr>
        <p:txBody>
          <a:bodyPr wrap="none" lIns="0" rIns="0" tIns="0" bIns="0" anchor="ctr">
            <a:spAutoFit/>
          </a:bodyPr>
          <a:lstStyle/>
          <a:p>
            <a:pPr algn="r"/>
            <a:r>
              <a:rPr sz="42000" b="1" i="0">
                <a:solidFill>
                  <a:srgbClr val="B8394C"/>
                </a:solidFill>
              </a:rPr>
              <a:t>A</a:t>
            </a:r>
          </a:p>
        </p:txBody>
      </p:sp>
      <p:sp>
        <p:nvSpPr>
          <p:cNvPr id="4" name="chapter name"/>
          <p:cNvSpPr txBox="1"/>
          <p:nvPr/>
        </p:nvSpPr>
        <p:spPr>
          <a:xfrm>
            <a:off x="822960" y="2514600"/>
            <a:ext cx="6949440" cy="1828800"/>
          </a:xfrm>
          <a:prstGeom prst="rect">
            <a:avLst/>
          </a:prstGeom>
          <a:noFill/>
        </p:spPr>
        <p:txBody>
          <a:bodyPr wrap="square" lIns="0" rIns="0" tIns="0" bIns="0" anchor="ctr">
            <a:spAutoFit/>
          </a:bodyPr>
          <a:lstStyle/>
          <a:p>
            <a:pPr algn="l"/>
            <a:r>
              <a:rPr sz="4400" b="1" i="0">
                <a:solidFill>
                  <a:srgbClr val="FFFFFF"/>
                </a:solidFill>
              </a:rPr>
              <a:t>Appendix</a:t>
            </a:r>
          </a:p>
        </p:txBody>
      </p:sp>
      <p:pic>
        <p:nvPicPr>
          <p:cNvPr id="5" name="Drishti mark" descr="Drishti logo: an eye between curly brackets"/>
          <p:cNvPicPr>
            <a:picLocks noChangeAspect="1"/>
          </p:cNvPicPr>
          <p:nvPr/>
        </p:nvPicPr>
        <p:blipFill>
          <a:blip r:embed="rId2"/>
          <a:stretch>
            <a:fillRect/>
          </a:stretch>
        </p:blipFill>
        <p:spPr>
          <a:xfrm>
            <a:off x="822960" y="6236208"/>
            <a:ext cx="430911" cy="237744"/>
          </a:xfrm>
          <a:prstGeom prst="rect">
            <a:avLst/>
          </a:prstGeom>
        </p:spPr>
      </p:pic>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THE RECORD CONTRACT ON ONE PAGE</a:t>
            </a:r>
          </a:p>
        </p:txBody>
      </p:sp>
      <p:sp>
        <p:nvSpPr>
          <p:cNvPr id="3" name="Title 2"/>
          <p:cNvSpPr>
            <a:spLocks noGrp="1"/>
          </p:cNvSpPr>
          <p:nvPr>
            <p:ph type="title" idx="104"/>
          </p:nvPr>
        </p:nvSpPr>
        <p:spPr/>
        <p:txBody>
          <a:bodyPr/>
          <a:lstStyle/>
          <a:p>
            <a:r>
              <a:t>What a pricing system sends</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TextBox 25"/>
          <p:cNvSpPr txBox="1"/>
          <p:nvPr/>
        </p:nvSpPr>
        <p:spPr>
          <a:xfrm>
            <a:off x="777240" y="1371600"/>
            <a:ext cx="6583680" cy="274320"/>
          </a:xfrm>
          <a:prstGeom prst="rect">
            <a:avLst/>
          </a:prstGeom>
          <a:noFill/>
        </p:spPr>
        <p:txBody>
          <a:bodyPr wrap="square" lIns="0" rIns="0" tIns="0" bIns="0" anchor="ctr">
            <a:spAutoFit/>
          </a:bodyPr>
          <a:lstStyle/>
          <a:p>
            <a:pPr algn="l"/>
            <a:r>
              <a:rPr sz="1250" b="1" i="0">
                <a:solidFill>
                  <a:srgbClr val="A51C30"/>
                </a:solidFill>
              </a:rPr>
              <a:t>Every record  </a:t>
            </a:r>
            <a:r>
              <a:rPr sz="1150" b="0" i="0">
                <a:solidFill>
                  <a:srgbClr val="4A5058"/>
                </a:solidFill>
              </a:rPr>
              <a:t>JSONL: one JSON object a line, UTF-8, .jsonl or .jsonl.gz; files or Kafka</a:t>
            </a:r>
          </a:p>
        </p:txBody>
      </p:sp>
      <p:graphicFrame>
        <p:nvGraphicFramePr>
          <p:cNvPr id="27" name="Table 26"/>
          <p:cNvGraphicFramePr>
            <a:graphicFrameLocks noGrp="1"/>
          </p:cNvGraphicFramePr>
          <p:nvPr/>
        </p:nvGraphicFramePr>
        <p:xfrm>
          <a:off x="777240" y="1691640"/>
          <a:ext cx="6583680" cy="3803904"/>
        </p:xfrm>
        <a:graphic>
          <a:graphicData uri="http://schemas.openxmlformats.org/drawingml/2006/table">
            <a:tbl>
              <a:tblPr firstRow="0" bandRow="0">
                <a:tableStyleId>{5940675A-B579-460E-94D1-54222C63F5DA}</a:tableStyleId>
              </a:tblPr>
              <a:tblGrid>
                <a:gridCol w="2514600"/>
                <a:gridCol w="2514600"/>
                <a:gridCol w="1554480"/>
              </a:tblGrid>
              <a:tr h="292608">
                <a:tc>
                  <a:txBody>
                    <a:bodyPr wrap="square"/>
                    <a:lstStyle/>
                    <a:p>
                      <a:r>
                        <a:rPr sz="1100" b="1" i="0">
                          <a:solidFill>
                            <a:srgbClr val="FFFFFF"/>
                          </a:solidFill>
                        </a:rPr>
                        <a:t>Field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Values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Rule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292608">
                <a:tc>
                  <a:txBody>
                    <a:bodyPr wrap="square"/>
                    <a:lstStyle/>
                    <a:p>
                      <a:r>
                        <a:rPr sz="950" b="1" i="0">
                          <a:solidFill>
                            <a:srgbClr val="8A1626"/>
                          </a:solidFill>
                          <a:latin typeface="Courier New"/>
                        </a:rPr>
                        <a:t>VALUE_TYPE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PV or PNL</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required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92608">
                <a:tc>
                  <a:txBody>
                    <a:bodyPr wrap="square"/>
                    <a:lstStyle/>
                    <a:p>
                      <a:r>
                        <a:rPr sz="950" b="1" i="0">
                          <a:solidFill>
                            <a:srgbClr val="8A1626"/>
                          </a:solidFill>
                          <a:latin typeface="Courier New"/>
                        </a:rPr>
                        <a:t>GRAIN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TRADE or POSITION, with its id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required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92608">
                <a:tc>
                  <a:txBody>
                    <a:bodyPr wrap="square"/>
                    <a:lstStyle/>
                    <a:p>
                      <a:r>
                        <a:rPr sz="950" b="1" i="0">
                          <a:solidFill>
                            <a:srgbClr val="8A1626"/>
                          </a:solidFill>
                          <a:latin typeface="Courier New"/>
                        </a:rPr>
                        <a:t>CURRENCY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ISO code; PVs in their own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required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92608">
                <a:tc>
                  <a:txBody>
                    <a:bodyPr wrap="square"/>
                    <a:lstStyle/>
                    <a:p>
                      <a:r>
                        <a:rPr sz="950" b="1" i="0">
                          <a:solidFill>
                            <a:srgbClr val="8A1626"/>
                          </a:solidFill>
                          <a:latin typeface="Courier New"/>
                        </a:rPr>
                        <a:t>SOURCE_SYSTEM</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the pricing system that sent it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required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92608">
                <a:tc>
                  <a:txBody>
                    <a:bodyPr wrap="square"/>
                    <a:lstStyle/>
                    <a:p>
                      <a:r>
                        <a:rPr sz="950" b="1" i="0">
                          <a:solidFill>
                            <a:srgbClr val="8A1626"/>
                          </a:solidFill>
                          <a:latin typeface="Courier New"/>
                        </a:rPr>
                        <a:t>SCENARIO_SET_ID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the date's set (demo: HS-509)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all, in order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92608">
                <a:tc>
                  <a:txBody>
                    <a:bodyPr wrap="square"/>
                    <a:lstStyle/>
                    <a:p>
                      <a:r>
                        <a:rPr sz="950" b="1" i="0">
                          <a:solidFill>
                            <a:srgbClr val="8A1626"/>
                          </a:solidFill>
                          <a:latin typeface="Courier New"/>
                        </a:rPr>
                        <a:t>BATCH_ID · RUN_KIND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FULL or INTRADAY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one full run a date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92608">
                <a:tc>
                  <a:txBody>
                    <a:bodyPr wrap="square"/>
                    <a:lstStyle/>
                    <a:p>
                      <a:r>
                        <a:rPr sz="950" b="1" i="0">
                          <a:solidFill>
                            <a:srgbClr val="8A1626"/>
                          </a:solidFill>
                          <a:latin typeface="Courier New"/>
                        </a:rPr>
                        <a:t>COMPUTED_AT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UTC instant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the latest wins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92608">
                <a:tc>
                  <a:txBody>
                    <a:bodyPr wrap="square"/>
                    <a:lstStyle/>
                    <a:p>
                      <a:r>
                        <a:rPr sz="950" b="1" i="0">
                          <a:solidFill>
                            <a:srgbClr val="8A1626"/>
                          </a:solidFill>
                          <a:latin typeface="Courier New"/>
                        </a:rPr>
                        <a:t>LEGAL_ENTITY · DESK · TT_BOOK</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where it sits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needed to load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92608">
                <a:tc>
                  <a:txBody>
                    <a:bodyPr wrap="square"/>
                    <a:lstStyle/>
                    <a:p>
                      <a:r>
                        <a:rPr sz="950" b="1" i="0">
                          <a:solidFill>
                            <a:srgbClr val="8A1626"/>
                          </a:solidFill>
                          <a:latin typeface="Courier New"/>
                        </a:rPr>
                        <a:t>LIMIT_LETTER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a level column of a hierarchy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absent: tree skipped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92608">
                <a:tc>
                  <a:txBody>
                    <a:bodyPr wrap="square"/>
                    <a:lstStyle/>
                    <a:p>
                      <a:r>
                        <a:rPr sz="950" b="1" i="0">
                          <a:solidFill>
                            <a:srgbClr val="8A1626"/>
                          </a:solidFill>
                          <a:latin typeface="Courier New"/>
                        </a:rPr>
                        <a:t>BASE_PV · SCENARIO_PV</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the PV form</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failed: null</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92608">
                <a:tc>
                  <a:txBody>
                    <a:bodyPr wrap="square"/>
                    <a:lstStyle/>
                    <a:p>
                      <a:r>
                        <a:rPr sz="950" b="1" i="0">
                          <a:solidFill>
                            <a:srgbClr val="8A1626"/>
                          </a:solidFill>
                          <a:latin typeface="Courier New"/>
                        </a:rPr>
                        <a:t>PNL (+ PV)</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the P&amp;L form, USD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PV makes FX exact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92608">
                <a:tc>
                  <a:txBody>
                    <a:bodyPr wrap="square"/>
                    <a:lstStyle/>
                    <a:p>
                      <a:r>
                        <a:rPr sz="950" b="1" i="0">
                          <a:solidFill>
                            <a:srgbClr val="8A1626"/>
                          </a:solidFill>
                          <a:latin typeface="Courier New"/>
                        </a:rPr>
                        <a:t>TRADE_STATUS · MATURITY_DATE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live trades count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CANCELLED: cancel</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
        <p:nvSpPr>
          <p:cNvPr id="28" name="Rectangle 27"/>
          <p:cNvSpPr/>
          <p:nvPr/>
        </p:nvSpPr>
        <p:spPr>
          <a:xfrm>
            <a:off x="7589520" y="1417320"/>
            <a:ext cx="3822191" cy="74980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TextBox 28"/>
          <p:cNvSpPr txBox="1"/>
          <p:nvPr/>
        </p:nvSpPr>
        <p:spPr>
          <a:xfrm>
            <a:off x="7726680" y="1463040"/>
            <a:ext cx="3547872" cy="685800"/>
          </a:xfrm>
          <a:prstGeom prst="rect">
            <a:avLst/>
          </a:prstGeom>
          <a:noFill/>
        </p:spPr>
        <p:txBody>
          <a:bodyPr wrap="square" lIns="0" rIns="0" tIns="0" bIns="0" anchor="ctr">
            <a:spAutoFit/>
          </a:bodyPr>
          <a:lstStyle/>
          <a:p>
            <a:pPr algn="l">
              <a:spcAft>
                <a:spcPts val="200"/>
              </a:spcAft>
            </a:pPr>
            <a:r>
              <a:rPr sz="1250" b="1" i="0">
                <a:solidFill>
                  <a:srgbClr val="8A1626"/>
                </a:solidFill>
              </a:rPr>
              <a:t>Files</a:t>
            </a:r>
          </a:p>
          <a:p>
            <a:pPr algn="l"/>
            <a:r>
              <a:rPr sz="1100" b="0" i="0">
                <a:solidFill>
                  <a:srgbClr val="4A5058"/>
                </a:solidFill>
              </a:rPr>
              <a:t>the full run, and small intraday batches; lake build, then the load signal</a:t>
            </a:r>
          </a:p>
        </p:txBody>
      </p:sp>
      <p:sp>
        <p:nvSpPr>
          <p:cNvPr id="30" name="Rectangle 29"/>
          <p:cNvSpPr/>
          <p:nvPr/>
        </p:nvSpPr>
        <p:spPr>
          <a:xfrm>
            <a:off x="7589520" y="2258568"/>
            <a:ext cx="3822191" cy="74980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TextBox 30"/>
          <p:cNvSpPr txBox="1"/>
          <p:nvPr/>
        </p:nvSpPr>
        <p:spPr>
          <a:xfrm>
            <a:off x="7726680" y="2304288"/>
            <a:ext cx="3547872" cy="685800"/>
          </a:xfrm>
          <a:prstGeom prst="rect">
            <a:avLst/>
          </a:prstGeom>
          <a:noFill/>
        </p:spPr>
        <p:txBody>
          <a:bodyPr wrap="square" lIns="0" rIns="0" tIns="0" bIns="0" anchor="ctr">
            <a:spAutoFit/>
          </a:bodyPr>
          <a:lstStyle/>
          <a:p>
            <a:pPr algn="l">
              <a:spcAft>
                <a:spcPts val="200"/>
              </a:spcAft>
            </a:pPr>
            <a:r>
              <a:rPr sz="1250" b="1" i="0">
                <a:solidFill>
                  <a:srgbClr val="8A1626"/>
                </a:solidFill>
              </a:rPr>
              <a:t>Kafka</a:t>
            </a:r>
          </a:p>
          <a:p>
            <a:pPr algn="l"/>
            <a:r>
              <a:rPr sz="1100" b="0" i="0">
                <a:solidFill>
                  <a:srgbClr val="4A5058"/>
                </a:solidFill>
              </a:rPr>
              <a:t>JSONL text per message, one or more records; one lake batch per 5-minute window</a:t>
            </a:r>
          </a:p>
        </p:txBody>
      </p:sp>
      <p:sp>
        <p:nvSpPr>
          <p:cNvPr id="32" name="Rectangle 31"/>
          <p:cNvSpPr/>
          <p:nvPr/>
        </p:nvSpPr>
        <p:spPr>
          <a:xfrm>
            <a:off x="7589520" y="3136392"/>
            <a:ext cx="3822191" cy="132588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Rectangle 32"/>
          <p:cNvSpPr/>
          <p:nvPr/>
        </p:nvSpPr>
        <p:spPr>
          <a:xfrm>
            <a:off x="7589520" y="3136392"/>
            <a:ext cx="45720" cy="13258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TextBox 33"/>
          <p:cNvSpPr txBox="1"/>
          <p:nvPr/>
        </p:nvSpPr>
        <p:spPr>
          <a:xfrm>
            <a:off x="7754112" y="3209544"/>
            <a:ext cx="3566159" cy="1216152"/>
          </a:xfrm>
          <a:prstGeom prst="rect">
            <a:avLst/>
          </a:prstGeom>
          <a:noFill/>
        </p:spPr>
        <p:txBody>
          <a:bodyPr wrap="square" lIns="0" rIns="0" tIns="0" bIns="0" anchor="t">
            <a:spAutoFit/>
          </a:bodyPr>
          <a:lstStyle/>
          <a:p>
            <a:pPr algn="l">
              <a:spcAft>
                <a:spcPts val="400"/>
              </a:spcAft>
            </a:pPr>
            <a:r>
              <a:rPr sz="1300" b="1" i="0">
                <a:solidFill>
                  <a:srgbClr val="8A1626"/>
                </a:solidFill>
              </a:rPr>
              <a:t>Intraday and cancels</a:t>
            </a:r>
          </a:p>
          <a:p>
            <a:pPr algn="l" marL="146304" indent="-146304">
              <a:spcAft>
                <a:spcPts val="300"/>
              </a:spcAft>
              <a:buClr>
                <a:srgbClr val="A51C30"/>
              </a:buClr>
              <a:buSzPct val="100000"/>
              <a:buFont typeface="Arial"/>
              <a:buChar char="▪"/>
            </a:pPr>
            <a:r>
              <a:rPr sz="1100" b="0" i="0">
                <a:solidFill>
                  <a:srgbClr val="1A1A1A"/>
                </a:solidFill>
              </a:rPr>
              <a:t>RUN_KIND INTRADAY, its own BATCH_ID, a later COMPUTED_AT, the morning's scenario set</a:t>
            </a:r>
          </a:p>
          <a:p>
            <a:pPr algn="l" marL="146304" indent="-146304">
              <a:spcAft>
                <a:spcPts val="300"/>
              </a:spcAft>
              <a:buClr>
                <a:srgbClr val="A51C30"/>
              </a:buClr>
              <a:buSzPct val="100000"/>
              <a:buFont typeface="Arial"/>
              <a:buChar char="▪"/>
            </a:pPr>
            <a:r>
              <a:rPr sz="1100" b="0" i="0">
                <a:solidFill>
                  <a:srgbClr val="1A1A1A"/>
                </a:solidFill>
              </a:rPr>
              <a:t>A cancel: TRADE_STATUS CANCELLED, the vector null</a:t>
            </a:r>
          </a:p>
          <a:p>
            <a:pPr algn="l" marL="146304" indent="-146304">
              <a:spcAft>
                <a:spcPts val="300"/>
              </a:spcAft>
              <a:buClr>
                <a:srgbClr val="A51C30"/>
              </a:buClr>
              <a:buSzPct val="100000"/>
              <a:buFont typeface="Arial"/>
              <a:buChar char="▪"/>
            </a:pPr>
            <a:r>
              <a:rPr sz="1100" b="0" i="0">
                <a:solidFill>
                  <a:srgbClr val="1A1A1A"/>
                </a:solidFill>
              </a:rPr>
              <a:t>Same form and grain as the system's full run</a:t>
            </a:r>
          </a:p>
        </p:txBody>
      </p:sp>
      <p:sp>
        <p:nvSpPr>
          <p:cNvPr id="35" name="Rectangle 34"/>
          <p:cNvSpPr/>
          <p:nvPr/>
        </p:nvSpPr>
        <p:spPr>
          <a:xfrm>
            <a:off x="7589520" y="4572000"/>
            <a:ext cx="3822191" cy="1097280"/>
          </a:xfrm>
          <a:prstGeom prst="rect">
            <a:avLst/>
          </a:prstGeom>
          <a:solidFill>
            <a:srgbClr val="1E1E2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xtBox 35"/>
          <p:cNvSpPr txBox="1"/>
          <p:nvPr/>
        </p:nvSpPr>
        <p:spPr>
          <a:xfrm>
            <a:off x="7699248" y="4617720"/>
            <a:ext cx="3657599" cy="1005840"/>
          </a:xfrm>
          <a:prstGeom prst="rect">
            <a:avLst/>
          </a:prstGeom>
          <a:noFill/>
        </p:spPr>
        <p:txBody>
          <a:bodyPr wrap="square" lIns="0" rIns="0" tIns="0" bIns="0" anchor="ctr">
            <a:spAutoFit/>
          </a:bodyPr>
          <a:lstStyle/>
          <a:p>
            <a:pPr algn="l">
              <a:spcAft>
                <a:spcPts val="100"/>
              </a:spcAft>
            </a:pPr>
            <a:r>
              <a:rPr sz="1000" b="0" i="0">
                <a:solidFill>
                  <a:srgbClr val="9AA0A8"/>
                </a:solidFill>
                <a:latin typeface="Courier New"/>
              </a:rPr>
              <a:t># optional per-system pin (read at start)</a:t>
            </a:r>
          </a:p>
          <a:p>
            <a:pPr algn="l">
              <a:spcAft>
                <a:spcPts val="100"/>
              </a:spcAft>
            </a:pPr>
            <a:r>
              <a:rPr sz="1000" b="0" i="0">
                <a:solidFill>
                  <a:srgbClr val="F1EEE9"/>
                </a:solidFill>
                <a:latin typeface="Courier New"/>
              </a:rPr>
              <a:t>drishti.var.inputs:</a:t>
            </a:r>
          </a:p>
          <a:p>
            <a:pPr algn="l">
              <a:spcAft>
                <a:spcPts val="100"/>
              </a:spcAft>
            </a:pPr>
            <a:r>
              <a:rPr sz="1000" b="0" i="0">
                <a:solidFill>
                  <a:srgbClr val="E8A0AC"/>
                </a:solidFill>
                <a:latin typeface="Courier New"/>
              </a:rPr>
              <a:t>  SYS_A:   {form: pv,  grain: position}</a:t>
            </a:r>
          </a:p>
          <a:p>
            <a:pPr algn="l">
              <a:spcAft>
                <a:spcPts val="100"/>
              </a:spcAft>
            </a:pPr>
            <a:r>
              <a:rPr sz="1000" b="0" i="0">
                <a:solidFill>
                  <a:srgbClr val="E8A0AC"/>
                </a:solidFill>
                <a:latin typeface="Courier New"/>
              </a:rPr>
              <a:t>  SYS_B:   {form: pnl, grain: trade}</a:t>
            </a:r>
          </a:p>
          <a:p>
            <a:pPr algn="l">
              <a:spcAft>
                <a:spcPts val="100"/>
              </a:spcAft>
            </a:pPr>
            <a:r>
              <a:rPr sz="1000" b="0" i="0">
                <a:solidFill>
                  <a:srgbClr val="F1EEE9"/>
                </a:solidFill>
                <a:latin typeface="Courier New"/>
              </a:rPr>
              <a:t>  default: {form: any, grain: any}</a:t>
            </a:r>
          </a:p>
        </p:txBody>
      </p:sp>
      <p:sp>
        <p:nvSpPr>
          <p:cNvPr id="37" name="TextBox 36"/>
          <p:cNvSpPr txBox="1"/>
          <p:nvPr/>
        </p:nvSpPr>
        <p:spPr>
          <a:xfrm>
            <a:off x="777240" y="5760720"/>
            <a:ext cx="10634472" cy="457200"/>
          </a:xfrm>
          <a:prstGeom prst="rect">
            <a:avLst/>
          </a:prstGeom>
          <a:noFill/>
        </p:spPr>
        <p:txBody>
          <a:bodyPr wrap="square" lIns="0" rIns="0" tIns="0" bIns="0" anchor="ctr">
            <a:spAutoFit/>
          </a:bodyPr>
          <a:lstStyle/>
          <a:p>
            <a:pPr algn="l"/>
            <a:r>
              <a:rPr sz="1100" b="0" i="1">
                <a:solidFill>
                  <a:srgbClr val="4A5058"/>
                </a:solidFill>
              </a:rPr>
              <a:t>A null scenario PV refuses the whole trade (DRS-5206), never zero-filled. Field names are the as-built contracts'; older files are brought to the record with drishti.py convert --set ….</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ONBOARDING A PRICING SYSTEM</a:t>
            </a:r>
          </a:p>
        </p:txBody>
      </p:sp>
      <p:sp>
        <p:nvSpPr>
          <p:cNvPr id="3" name="Title 2"/>
          <p:cNvSpPr>
            <a:spLocks noGrp="1"/>
          </p:cNvSpPr>
          <p:nvPr>
            <p:ph type="title" idx="104"/>
          </p:nvPr>
        </p:nvSpPr>
        <p:spPr/>
        <p:txBody>
          <a:bodyPr/>
          <a:lstStyle/>
          <a:p>
            <a:r>
              <a:t>A checklist for each pricing system</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44752"/>
            <a:ext cx="5180076" cy="86868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Oval 26"/>
          <p:cNvSpPr/>
          <p:nvPr/>
        </p:nvSpPr>
        <p:spPr>
          <a:xfrm>
            <a:off x="914400" y="1664208"/>
            <a:ext cx="420624" cy="420624"/>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400" b="1" i="0">
                <a:solidFill>
                  <a:srgbClr val="FFFFFF"/>
                </a:solidFill>
              </a:rPr>
              <a:t>1</a:t>
            </a:r>
          </a:p>
        </p:txBody>
      </p:sp>
      <p:sp>
        <p:nvSpPr>
          <p:cNvPr id="28" name="TextBox 27"/>
          <p:cNvSpPr txBox="1"/>
          <p:nvPr/>
        </p:nvSpPr>
        <p:spPr>
          <a:xfrm>
            <a:off x="1490472" y="1499616"/>
            <a:ext cx="4357116" cy="777240"/>
          </a:xfrm>
          <a:prstGeom prst="rect">
            <a:avLst/>
          </a:prstGeom>
          <a:noFill/>
        </p:spPr>
        <p:txBody>
          <a:bodyPr wrap="square" lIns="0" rIns="0" tIns="0" bIns="0" anchor="ctr">
            <a:spAutoFit/>
          </a:bodyPr>
          <a:lstStyle/>
          <a:p>
            <a:pPr algn="l">
              <a:spcAft>
                <a:spcPts val="200"/>
              </a:spcAft>
            </a:pPr>
            <a:r>
              <a:rPr sz="1300" b="1" i="0">
                <a:solidFill>
                  <a:srgbClr val="8A1626"/>
                </a:solidFill>
              </a:rPr>
              <a:t>Choose form and grain</a:t>
            </a:r>
          </a:p>
          <a:p>
            <a:pPr algn="l"/>
            <a:r>
              <a:rPr sz="1150" b="0" i="0">
                <a:solidFill>
                  <a:srgbClr val="4A5058"/>
                </a:solidFill>
              </a:rPr>
              <a:t>PVs or P&amp;L, by trade or by position: one form and one grain per system per date</a:t>
            </a:r>
          </a:p>
        </p:txBody>
      </p:sp>
      <p:sp>
        <p:nvSpPr>
          <p:cNvPr id="29" name="Rectangle 28"/>
          <p:cNvSpPr/>
          <p:nvPr/>
        </p:nvSpPr>
        <p:spPr>
          <a:xfrm>
            <a:off x="777240" y="2432304"/>
            <a:ext cx="5180076" cy="86868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Oval 29"/>
          <p:cNvSpPr/>
          <p:nvPr/>
        </p:nvSpPr>
        <p:spPr>
          <a:xfrm>
            <a:off x="914400" y="2651760"/>
            <a:ext cx="420624" cy="420624"/>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400" b="1" i="0">
                <a:solidFill>
                  <a:srgbClr val="FFFFFF"/>
                </a:solidFill>
              </a:rPr>
              <a:t>2</a:t>
            </a:r>
          </a:p>
        </p:txBody>
      </p:sp>
      <p:sp>
        <p:nvSpPr>
          <p:cNvPr id="31" name="TextBox 30"/>
          <p:cNvSpPr txBox="1"/>
          <p:nvPr/>
        </p:nvSpPr>
        <p:spPr>
          <a:xfrm>
            <a:off x="1490472" y="2487168"/>
            <a:ext cx="4357116" cy="777240"/>
          </a:xfrm>
          <a:prstGeom prst="rect">
            <a:avLst/>
          </a:prstGeom>
          <a:noFill/>
        </p:spPr>
        <p:txBody>
          <a:bodyPr wrap="square" lIns="0" rIns="0" tIns="0" bIns="0" anchor="ctr">
            <a:spAutoFit/>
          </a:bodyPr>
          <a:lstStyle/>
          <a:p>
            <a:pPr algn="l">
              <a:spcAft>
                <a:spcPts val="200"/>
              </a:spcAft>
            </a:pPr>
            <a:r>
              <a:rPr sz="1300" b="1" i="0">
                <a:solidFill>
                  <a:srgbClr val="8A1626"/>
                </a:solidFill>
              </a:rPr>
              <a:t>Map the record's fields</a:t>
            </a:r>
          </a:p>
          <a:p>
            <a:pPr algn="l"/>
            <a:r>
              <a:rPr sz="1150" b="0" i="0">
                <a:solidFill>
                  <a:srgbClr val="4A5058"/>
                </a:solidFill>
              </a:rPr>
              <a:t>VALUE_TYPE, GRAIN + id, CURRENCY, SOURCE_SYSTEM; LEGAL_ENTITY, DESK, TT_BOOK; status, maturity</a:t>
            </a:r>
          </a:p>
        </p:txBody>
      </p:sp>
      <p:sp>
        <p:nvSpPr>
          <p:cNvPr id="32" name="Rectangle 31"/>
          <p:cNvSpPr/>
          <p:nvPr/>
        </p:nvSpPr>
        <p:spPr>
          <a:xfrm>
            <a:off x="777240" y="3419856"/>
            <a:ext cx="5180076" cy="86868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Oval 32"/>
          <p:cNvSpPr/>
          <p:nvPr/>
        </p:nvSpPr>
        <p:spPr>
          <a:xfrm>
            <a:off x="914400" y="3639312"/>
            <a:ext cx="420624" cy="420624"/>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400" b="1" i="0">
                <a:solidFill>
                  <a:srgbClr val="FFFFFF"/>
                </a:solidFill>
              </a:rPr>
              <a:t>3</a:t>
            </a:r>
          </a:p>
        </p:txBody>
      </p:sp>
      <p:sp>
        <p:nvSpPr>
          <p:cNvPr id="34" name="TextBox 33"/>
          <p:cNvSpPr txBox="1"/>
          <p:nvPr/>
        </p:nvSpPr>
        <p:spPr>
          <a:xfrm>
            <a:off x="1490472" y="3474720"/>
            <a:ext cx="4357116" cy="777240"/>
          </a:xfrm>
          <a:prstGeom prst="rect">
            <a:avLst/>
          </a:prstGeom>
          <a:noFill/>
        </p:spPr>
        <p:txBody>
          <a:bodyPr wrap="square" lIns="0" rIns="0" tIns="0" bIns="0" anchor="ctr">
            <a:spAutoFit/>
          </a:bodyPr>
          <a:lstStyle/>
          <a:p>
            <a:pPr algn="l">
              <a:spcAft>
                <a:spcPts val="200"/>
              </a:spcAft>
            </a:pPr>
            <a:r>
              <a:rPr sz="1300" b="1" i="0">
                <a:solidFill>
                  <a:srgbClr val="8A1626"/>
                </a:solidFill>
              </a:rPr>
              <a:t>Price over the date's scenario set</a:t>
            </a:r>
          </a:p>
          <a:p>
            <a:pPr algn="l"/>
            <a:r>
              <a:rPr sz="1150" b="0" i="0">
                <a:solidFill>
                  <a:srgbClr val="4A5058"/>
                </a:solidFill>
              </a:rPr>
              <a:t>every scenario in the set's order; a failed one null, never zero</a:t>
            </a:r>
          </a:p>
        </p:txBody>
      </p:sp>
      <p:sp>
        <p:nvSpPr>
          <p:cNvPr id="35" name="Rectangle 34"/>
          <p:cNvSpPr/>
          <p:nvPr/>
        </p:nvSpPr>
        <p:spPr>
          <a:xfrm>
            <a:off x="777240" y="4407408"/>
            <a:ext cx="5180076" cy="86868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Oval 35"/>
          <p:cNvSpPr/>
          <p:nvPr/>
        </p:nvSpPr>
        <p:spPr>
          <a:xfrm>
            <a:off x="914400" y="4626864"/>
            <a:ext cx="420624" cy="420624"/>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400" b="1" i="0">
                <a:solidFill>
                  <a:srgbClr val="FFFFFF"/>
                </a:solidFill>
              </a:rPr>
              <a:t>4</a:t>
            </a:r>
          </a:p>
        </p:txBody>
      </p:sp>
      <p:sp>
        <p:nvSpPr>
          <p:cNvPr id="37" name="TextBox 36"/>
          <p:cNvSpPr txBox="1"/>
          <p:nvPr/>
        </p:nvSpPr>
        <p:spPr>
          <a:xfrm>
            <a:off x="1490472" y="4462272"/>
            <a:ext cx="4357116" cy="777240"/>
          </a:xfrm>
          <a:prstGeom prst="rect">
            <a:avLst/>
          </a:prstGeom>
          <a:noFill/>
        </p:spPr>
        <p:txBody>
          <a:bodyPr wrap="square" lIns="0" rIns="0" tIns="0" bIns="0" anchor="ctr">
            <a:spAutoFit/>
          </a:bodyPr>
          <a:lstStyle/>
          <a:p>
            <a:pPr algn="l">
              <a:spcAft>
                <a:spcPts val="200"/>
              </a:spcAft>
            </a:pPr>
            <a:r>
              <a:rPr sz="1300" b="1" i="0">
                <a:solidFill>
                  <a:srgbClr val="8A1626"/>
                </a:solidFill>
              </a:rPr>
              <a:t>Scenario FX for its currencies</a:t>
            </a:r>
          </a:p>
          <a:p>
            <a:pPr algn="l"/>
            <a:r>
              <a:rPr sz="1150" b="0" i="0">
                <a:solidFill>
                  <a:srgbClr val="4A5058"/>
                </a:solidFill>
              </a:rPr>
              <a:t>send fx-scenario, or let Drishti derive it from the FX history</a:t>
            </a:r>
          </a:p>
        </p:txBody>
      </p:sp>
      <p:sp>
        <p:nvSpPr>
          <p:cNvPr id="38" name="Rectangle 37"/>
          <p:cNvSpPr/>
          <p:nvPr/>
        </p:nvSpPr>
        <p:spPr>
          <a:xfrm>
            <a:off x="6231636" y="1444752"/>
            <a:ext cx="5180076" cy="86868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Oval 38"/>
          <p:cNvSpPr/>
          <p:nvPr/>
        </p:nvSpPr>
        <p:spPr>
          <a:xfrm>
            <a:off x="6368796" y="1664208"/>
            <a:ext cx="420624" cy="420624"/>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400" b="1" i="0">
                <a:solidFill>
                  <a:srgbClr val="FFFFFF"/>
                </a:solidFill>
              </a:rPr>
              <a:t>5</a:t>
            </a:r>
          </a:p>
        </p:txBody>
      </p:sp>
      <p:sp>
        <p:nvSpPr>
          <p:cNvPr id="40" name="TextBox 39"/>
          <p:cNvSpPr txBox="1"/>
          <p:nvPr/>
        </p:nvSpPr>
        <p:spPr>
          <a:xfrm>
            <a:off x="6944868" y="1499616"/>
            <a:ext cx="4357116" cy="777240"/>
          </a:xfrm>
          <a:prstGeom prst="rect">
            <a:avLst/>
          </a:prstGeom>
          <a:noFill/>
        </p:spPr>
        <p:txBody>
          <a:bodyPr wrap="square" lIns="0" rIns="0" tIns="0" bIns="0" anchor="ctr">
            <a:spAutoFit/>
          </a:bodyPr>
          <a:lstStyle/>
          <a:p>
            <a:pPr algn="l">
              <a:spcAft>
                <a:spcPts val="200"/>
              </a:spcAft>
            </a:pPr>
            <a:r>
              <a:rPr sz="1300" b="1" i="0">
                <a:solidFill>
                  <a:srgbClr val="8A1626"/>
                </a:solidFill>
              </a:rPr>
              <a:t>Pick the route</a:t>
            </a:r>
          </a:p>
          <a:p>
            <a:pPr algn="l"/>
            <a:r>
              <a:rPr sz="1150" b="0" i="0">
                <a:solidFill>
                  <a:srgbClr val="4A5058"/>
                </a:solidFill>
              </a:rPr>
              <a:t>JSONL files for the full run; files or a Kafka topic for intraday</a:t>
            </a:r>
          </a:p>
        </p:txBody>
      </p:sp>
      <p:sp>
        <p:nvSpPr>
          <p:cNvPr id="41" name="Rectangle 40"/>
          <p:cNvSpPr/>
          <p:nvPr/>
        </p:nvSpPr>
        <p:spPr>
          <a:xfrm>
            <a:off x="6231636" y="2432304"/>
            <a:ext cx="5180076" cy="86868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Oval 41"/>
          <p:cNvSpPr/>
          <p:nvPr/>
        </p:nvSpPr>
        <p:spPr>
          <a:xfrm>
            <a:off x="6368796" y="2651760"/>
            <a:ext cx="420624" cy="420624"/>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400" b="1" i="0">
                <a:solidFill>
                  <a:srgbClr val="FFFFFF"/>
                </a:solidFill>
              </a:rPr>
              <a:t>6</a:t>
            </a:r>
          </a:p>
        </p:txBody>
      </p:sp>
      <p:sp>
        <p:nvSpPr>
          <p:cNvPr id="43" name="TextBox 42"/>
          <p:cNvSpPr txBox="1"/>
          <p:nvPr/>
        </p:nvSpPr>
        <p:spPr>
          <a:xfrm>
            <a:off x="6944868" y="2487168"/>
            <a:ext cx="4357116" cy="777240"/>
          </a:xfrm>
          <a:prstGeom prst="rect">
            <a:avLst/>
          </a:prstGeom>
          <a:noFill/>
        </p:spPr>
        <p:txBody>
          <a:bodyPr wrap="square" lIns="0" rIns="0" tIns="0" bIns="0" anchor="ctr">
            <a:spAutoFit/>
          </a:bodyPr>
          <a:lstStyle/>
          <a:p>
            <a:pPr algn="l">
              <a:spcAft>
                <a:spcPts val="200"/>
              </a:spcAft>
            </a:pPr>
            <a:r>
              <a:rPr sz="1300" b="1" i="0">
                <a:solidFill>
                  <a:srgbClr val="8A1626"/>
                </a:solidFill>
              </a:rPr>
              <a:t>Set the optional pin</a:t>
            </a:r>
          </a:p>
          <a:p>
            <a:pPr algn="l"/>
            <a:r>
              <a:rPr sz="1150" b="0" i="0">
                <a:solidFill>
                  <a:srgbClr val="4A5058"/>
                </a:solidFill>
              </a:rPr>
              <a:t>drishti.var.inputs: a record that disagrees is refused (DRS-5209)</a:t>
            </a:r>
          </a:p>
        </p:txBody>
      </p:sp>
      <p:sp>
        <p:nvSpPr>
          <p:cNvPr id="44" name="Rectangle 43"/>
          <p:cNvSpPr/>
          <p:nvPr/>
        </p:nvSpPr>
        <p:spPr>
          <a:xfrm>
            <a:off x="6231636" y="3419856"/>
            <a:ext cx="5180076" cy="86868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5" name="Oval 44"/>
          <p:cNvSpPr/>
          <p:nvPr/>
        </p:nvSpPr>
        <p:spPr>
          <a:xfrm>
            <a:off x="6368796" y="3639312"/>
            <a:ext cx="420624" cy="420624"/>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400" b="1" i="0">
                <a:solidFill>
                  <a:srgbClr val="FFFFFF"/>
                </a:solidFill>
              </a:rPr>
              <a:t>7</a:t>
            </a:r>
          </a:p>
        </p:txBody>
      </p:sp>
      <p:sp>
        <p:nvSpPr>
          <p:cNvPr id="46" name="TextBox 45"/>
          <p:cNvSpPr txBox="1"/>
          <p:nvPr/>
        </p:nvSpPr>
        <p:spPr>
          <a:xfrm>
            <a:off x="6944868" y="3474720"/>
            <a:ext cx="4357116" cy="777240"/>
          </a:xfrm>
          <a:prstGeom prst="rect">
            <a:avLst/>
          </a:prstGeom>
          <a:noFill/>
        </p:spPr>
        <p:txBody>
          <a:bodyPr wrap="square" lIns="0" rIns="0" tIns="0" bIns="0" anchor="ctr">
            <a:spAutoFit/>
          </a:bodyPr>
          <a:lstStyle/>
          <a:p>
            <a:pPr algn="l">
              <a:spcAft>
                <a:spcPts val="200"/>
              </a:spcAft>
            </a:pPr>
            <a:r>
              <a:rPr sz="1300" b="1" i="0">
                <a:solidFill>
                  <a:srgbClr val="8A1626"/>
                </a:solidFill>
              </a:rPr>
              <a:t>Recompute independently</a:t>
            </a:r>
          </a:p>
          <a:p>
            <a:pPr algn="l"/>
            <a:r>
              <a:rPr sz="1150" b="0" i="0">
                <a:solidFill>
                  <a:srgbClr val="4A5058"/>
                </a:solidFill>
              </a:rPr>
              <a:t>from the sent files, compare bank and desk VaR and ES with the engine</a:t>
            </a:r>
          </a:p>
        </p:txBody>
      </p:sp>
      <p:sp>
        <p:nvSpPr>
          <p:cNvPr id="47" name="Rectangle 46"/>
          <p:cNvSpPr/>
          <p:nvPr/>
        </p:nvSpPr>
        <p:spPr>
          <a:xfrm>
            <a:off x="6231636" y="4407408"/>
            <a:ext cx="5180076" cy="86868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8" name="Oval 47"/>
          <p:cNvSpPr/>
          <p:nvPr/>
        </p:nvSpPr>
        <p:spPr>
          <a:xfrm>
            <a:off x="6368796" y="4626864"/>
            <a:ext cx="420624" cy="420624"/>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400" b="1" i="0">
                <a:solidFill>
                  <a:srgbClr val="FFFFFF"/>
                </a:solidFill>
              </a:rPr>
              <a:t>8</a:t>
            </a:r>
          </a:p>
        </p:txBody>
      </p:sp>
      <p:sp>
        <p:nvSpPr>
          <p:cNvPr id="49" name="TextBox 48"/>
          <p:cNvSpPr txBox="1"/>
          <p:nvPr/>
        </p:nvSpPr>
        <p:spPr>
          <a:xfrm>
            <a:off x="6944868" y="4462272"/>
            <a:ext cx="4357116" cy="777240"/>
          </a:xfrm>
          <a:prstGeom prst="rect">
            <a:avLst/>
          </a:prstGeom>
          <a:noFill/>
        </p:spPr>
        <p:txBody>
          <a:bodyPr wrap="square" lIns="0" rIns="0" tIns="0" bIns="0" anchor="ctr">
            <a:spAutoFit/>
          </a:bodyPr>
          <a:lstStyle/>
          <a:p>
            <a:pPr algn="l">
              <a:spcAft>
                <a:spcPts val="200"/>
              </a:spcAft>
            </a:pPr>
            <a:r>
              <a:rPr sz="1300" b="1" i="0">
                <a:solidFill>
                  <a:srgbClr val="8A1626"/>
                </a:solidFill>
              </a:rPr>
              <a:t>Clear the refusals</a:t>
            </a:r>
          </a:p>
          <a:p>
            <a:pPr algn="l"/>
            <a:r>
              <a:rPr sz="1150" b="0" i="0">
                <a:solidFill>
                  <a:srgbClr val="4A5058"/>
                </a:solidFill>
              </a:rPr>
              <a:t>provenance lists every refused row by code; aim for none before go-live</a:t>
            </a:r>
          </a:p>
        </p:txBody>
      </p:sp>
      <p:sp>
        <p:nvSpPr>
          <p:cNvPr id="50" name="Rectangle 49"/>
          <p:cNvSpPr/>
          <p:nvPr/>
        </p:nvSpPr>
        <p:spPr>
          <a:xfrm>
            <a:off x="777240" y="5486400"/>
            <a:ext cx="10634472" cy="73152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1" name="Rectangle 50"/>
          <p:cNvSpPr/>
          <p:nvPr/>
        </p:nvSpPr>
        <p:spPr>
          <a:xfrm>
            <a:off x="777240" y="5486400"/>
            <a:ext cx="54864" cy="7315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2" name="Rounded Rectangle 51"/>
          <p:cNvSpPr/>
          <p:nvPr/>
        </p:nvSpPr>
        <p:spPr>
          <a:xfrm>
            <a:off x="1005840" y="5751576"/>
            <a:ext cx="667512" cy="201168"/>
          </a:xfrm>
          <a:prstGeom prst="roundRect">
            <a:avLst>
              <a:gd name="adj" fmla="val 50000"/>
            </a:avLst>
          </a:prstGeom>
          <a:solidFill>
            <a:srgbClr val="FFFFFF"/>
          </a:solidFill>
          <a:ln w="12700">
            <a:solidFill>
              <a:srgbClr val="4A505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4A5058"/>
                </a:solidFill>
              </a:rPr>
              <a:t>PROPOSED</a:t>
            </a:r>
          </a:p>
        </p:txBody>
      </p:sp>
      <p:sp>
        <p:nvSpPr>
          <p:cNvPr id="53" name="TextBox 52"/>
          <p:cNvSpPr txBox="1"/>
          <p:nvPr/>
        </p:nvSpPr>
        <p:spPr>
          <a:xfrm>
            <a:off x="1810512" y="5486400"/>
            <a:ext cx="9464040" cy="731520"/>
          </a:xfrm>
          <a:prstGeom prst="rect">
            <a:avLst/>
          </a:prstGeom>
          <a:noFill/>
        </p:spPr>
        <p:txBody>
          <a:bodyPr wrap="square" lIns="0" rIns="0" tIns="0" bIns="0" anchor="ctr">
            <a:spAutoFit/>
          </a:bodyPr>
          <a:lstStyle/>
          <a:p>
            <a:pPr algn="l"/>
            <a:r>
              <a:rPr sz="1250" b="1" i="0">
                <a:solidFill>
                  <a:srgbClr val="A51C30"/>
                </a:solidFill>
              </a:rPr>
              <a:t>Ready when  </a:t>
            </a:r>
            <a:r>
              <a:rPr sz="1200" b="0" i="0">
                <a:solidFill>
                  <a:srgbClr val="8A1626"/>
                </a:solidFill>
              </a:rPr>
              <a:t>the system's records load with no refusals, the independent recomputation agrees to the cent, and How this number was built shows the system with its form and grain.</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SCHEMA CHANGES</a:t>
            </a:r>
          </a:p>
        </p:txBody>
      </p:sp>
      <p:sp>
        <p:nvSpPr>
          <p:cNvPr id="3" name="Title 2"/>
          <p:cNvSpPr>
            <a:spLocks noGrp="1"/>
          </p:cNvSpPr>
          <p:nvPr>
            <p:ph type="title" idx="104"/>
          </p:nvPr>
        </p:nvSpPr>
        <p:spPr/>
        <p:txBody>
          <a:bodyPr/>
          <a:lstStyle/>
          <a:p>
            <a:r>
              <a:t>When the data's structure changes</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44752"/>
            <a:ext cx="3422904" cy="32004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Rectangle 26"/>
          <p:cNvSpPr/>
          <p:nvPr/>
        </p:nvSpPr>
        <p:spPr>
          <a:xfrm>
            <a:off x="777240" y="1444752"/>
            <a:ext cx="45720" cy="32004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960120" y="1536192"/>
            <a:ext cx="3148584" cy="3063240"/>
          </a:xfrm>
          <a:prstGeom prst="rect">
            <a:avLst/>
          </a:prstGeom>
          <a:noFill/>
        </p:spPr>
        <p:txBody>
          <a:bodyPr wrap="square" lIns="0" rIns="0" tIns="0" bIns="0" anchor="t">
            <a:spAutoFit/>
          </a:bodyPr>
          <a:lstStyle/>
          <a:p>
            <a:pPr algn="l">
              <a:spcAft>
                <a:spcPts val="600"/>
              </a:spcAft>
            </a:pPr>
            <a:r>
              <a:rPr sz="1400" b="1" i="0">
                <a:solidFill>
                  <a:srgbClr val="8A1626"/>
                </a:solidFill>
              </a:rPr>
              <a:t>A new field in the source data</a:t>
            </a:r>
          </a:p>
          <a:p>
            <a:pPr algn="l">
              <a:spcAft>
                <a:spcPts val="600"/>
              </a:spcAft>
            </a:pPr>
            <a:r>
              <a:rPr sz="1200" b="0" i="0">
                <a:solidFill>
                  <a:srgbClr val="1A1A1A"/>
                </a:solidFill>
              </a:rPr>
              <a:t>No schema change. Each record's full JSON document is kept in the </a:t>
            </a:r>
            <a:r>
              <a:rPr sz="1100" b="0" i="0">
                <a:solidFill>
                  <a:srgbClr val="1A1A1A"/>
                </a:solidFill>
                <a:latin typeface="Courier New"/>
              </a:rPr>
              <a:t>doc</a:t>
            </a:r>
            <a:r>
              <a:rPr sz="1200" b="0" i="0">
                <a:solidFill>
                  <a:srgbClr val="1A1A1A"/>
                </a:solidFill>
              </a:rPr>
              <a:t> column, so a new field is readable at once; older rows simply lack it.</a:t>
            </a:r>
          </a:p>
        </p:txBody>
      </p:sp>
      <p:sp>
        <p:nvSpPr>
          <p:cNvPr id="29" name="Rectangle 28"/>
          <p:cNvSpPr/>
          <p:nvPr/>
        </p:nvSpPr>
        <p:spPr>
          <a:xfrm>
            <a:off x="4383024" y="1444752"/>
            <a:ext cx="3422904" cy="32004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Rectangle 29"/>
          <p:cNvSpPr/>
          <p:nvPr/>
        </p:nvSpPr>
        <p:spPr>
          <a:xfrm>
            <a:off x="4383024" y="1444752"/>
            <a:ext cx="45720" cy="32004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TextBox 30"/>
          <p:cNvSpPr txBox="1"/>
          <p:nvPr/>
        </p:nvSpPr>
        <p:spPr>
          <a:xfrm>
            <a:off x="4565904" y="1536192"/>
            <a:ext cx="3148584" cy="3063240"/>
          </a:xfrm>
          <a:prstGeom prst="rect">
            <a:avLst/>
          </a:prstGeom>
          <a:noFill/>
        </p:spPr>
        <p:txBody>
          <a:bodyPr wrap="square" lIns="0" rIns="0" tIns="0" bIns="0" anchor="t">
            <a:spAutoFit/>
          </a:bodyPr>
          <a:lstStyle/>
          <a:p>
            <a:pPr algn="l">
              <a:spcAft>
                <a:spcPts val="600"/>
              </a:spcAft>
            </a:pPr>
            <a:r>
              <a:rPr sz="1400" b="1" i="0">
                <a:solidFill>
                  <a:srgbClr val="8A1626"/>
                </a:solidFill>
              </a:rPr>
              <a:t>A new promoted column</a:t>
            </a:r>
          </a:p>
          <a:p>
            <a:pPr algn="l">
              <a:spcAft>
                <a:spcPts val="500"/>
              </a:spcAft>
            </a:pPr>
            <a:r>
              <a:rPr sz="1200" b="1" i="0">
                <a:solidFill>
                  <a:srgbClr val="293352"/>
                </a:solidFill>
              </a:rPr>
              <a:t>Iceberg: </a:t>
            </a:r>
            <a:r>
              <a:rPr sz="1200" b="0" i="0">
                <a:solidFill>
                  <a:srgbClr val="1A1A1A"/>
                </a:solidFill>
              </a:rPr>
              <a:t>in-place schema evolution by field id: add, rename, reorder, widen.</a:t>
            </a:r>
          </a:p>
          <a:p>
            <a:pPr algn="l">
              <a:spcAft>
                <a:spcPts val="500"/>
              </a:spcAft>
            </a:pPr>
            <a:r>
              <a:rPr sz="1200" b="1" i="0">
                <a:solidFill>
                  <a:srgbClr val="8A1626"/>
                </a:solidFill>
              </a:rPr>
              <a:t>Delta: </a:t>
            </a:r>
            <a:r>
              <a:rPr sz="1200" b="0" i="0">
                <a:solidFill>
                  <a:srgbClr val="1A1A1A"/>
                </a:solidFill>
              </a:rPr>
              <a:t>in-place add of a nullable column, old files read as empty, optional backfill from the documents. Until then, adding one to an existing table rewrites the affected dates.</a:t>
            </a:r>
          </a:p>
          <a:p>
            <a:pPr algn="l"/>
            <a:r>
              <a:rPr sz="1150" b="0" i="0">
                <a:solidFill>
                  <a:srgbClr val="4A5058"/>
                </a:solidFill>
              </a:rPr>
              <a:t>On upgrade: unedited connector files follow the pack; edited ones gain its new keys and columns, edits kept.</a:t>
            </a:r>
          </a:p>
        </p:txBody>
      </p:sp>
      <p:sp>
        <p:nvSpPr>
          <p:cNvPr id="32" name="Rounded Rectangle 31"/>
          <p:cNvSpPr/>
          <p:nvPr/>
        </p:nvSpPr>
        <p:spPr>
          <a:xfrm>
            <a:off x="4565904" y="4279392"/>
            <a:ext cx="598932" cy="201168"/>
          </a:xfrm>
          <a:prstGeom prst="roundRect">
            <a:avLst>
              <a:gd name="adj" fmla="val 50000"/>
            </a:avLst>
          </a:prstGeom>
          <a:solidFill>
            <a:srgbClr val="FFFFFF"/>
          </a:solidFill>
          <a:ln w="12700">
            <a:solidFill>
              <a:srgbClr val="293352"/>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293352"/>
                </a:solidFill>
              </a:rPr>
              <a:t>PLANNED</a:t>
            </a:r>
          </a:p>
        </p:txBody>
      </p:sp>
      <p:sp>
        <p:nvSpPr>
          <p:cNvPr id="33" name="TextBox 32"/>
          <p:cNvSpPr txBox="1"/>
          <p:nvPr/>
        </p:nvSpPr>
        <p:spPr>
          <a:xfrm>
            <a:off x="5237988" y="4261104"/>
            <a:ext cx="1280160" cy="237744"/>
          </a:xfrm>
          <a:prstGeom prst="rect">
            <a:avLst/>
          </a:prstGeom>
          <a:noFill/>
        </p:spPr>
        <p:txBody>
          <a:bodyPr wrap="square" lIns="0" rIns="0" tIns="0" bIns="0" anchor="ctr">
            <a:spAutoFit/>
          </a:bodyPr>
          <a:lstStyle/>
          <a:p>
            <a:pPr algn="l"/>
            <a:r>
              <a:rPr sz="1050" b="0" i="0">
                <a:solidFill>
                  <a:srgbClr val="4A5058"/>
                </a:solidFill>
              </a:rPr>
              <a:t>Delta in-place add</a:t>
            </a:r>
          </a:p>
        </p:txBody>
      </p:sp>
      <p:sp>
        <p:nvSpPr>
          <p:cNvPr id="34" name="Rectangle 33"/>
          <p:cNvSpPr/>
          <p:nvPr/>
        </p:nvSpPr>
        <p:spPr>
          <a:xfrm>
            <a:off x="7988808" y="1444752"/>
            <a:ext cx="3422904" cy="32004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Rectangle 34"/>
          <p:cNvSpPr/>
          <p:nvPr/>
        </p:nvSpPr>
        <p:spPr>
          <a:xfrm>
            <a:off x="7988808" y="1444752"/>
            <a:ext cx="45720" cy="32004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xtBox 35"/>
          <p:cNvSpPr txBox="1"/>
          <p:nvPr/>
        </p:nvSpPr>
        <p:spPr>
          <a:xfrm>
            <a:off x="8171688" y="1536192"/>
            <a:ext cx="3148584" cy="3063240"/>
          </a:xfrm>
          <a:prstGeom prst="rect">
            <a:avLst/>
          </a:prstGeom>
          <a:noFill/>
        </p:spPr>
        <p:txBody>
          <a:bodyPr wrap="square" lIns="0" rIns="0" tIns="0" bIns="0" anchor="t">
            <a:spAutoFit/>
          </a:bodyPr>
          <a:lstStyle/>
          <a:p>
            <a:pPr algn="l">
              <a:spcAft>
                <a:spcPts val="600"/>
              </a:spcAft>
            </a:pPr>
            <a:r>
              <a:rPr sz="1400" b="1" i="0">
                <a:solidFill>
                  <a:srgbClr val="8A1626"/>
                </a:solidFill>
              </a:rPr>
              <a:t>History is never rewritten</a:t>
            </a:r>
          </a:p>
          <a:p>
            <a:pPr algn="l"/>
            <a:r>
              <a:rPr sz="1200" b="0" i="0">
                <a:solidFill>
                  <a:srgbClr val="1A1A1A"/>
                </a:solidFill>
              </a:rPr>
              <a:t>Time travel shows each version as it was; official records are append-only. Adding a field never invalidates the lake, and a figure of record can still be recomputed from its inputs.</a:t>
            </a:r>
          </a:p>
        </p:txBody>
      </p:sp>
      <p:sp>
        <p:nvSpPr>
          <p:cNvPr id="37" name="Rectangle 36"/>
          <p:cNvSpPr/>
          <p:nvPr/>
        </p:nvSpPr>
        <p:spPr>
          <a:xfrm>
            <a:off x="777240" y="4828032"/>
            <a:ext cx="10634472" cy="1435607"/>
          </a:xfrm>
          <a:prstGeom prst="rect">
            <a:avLst/>
          </a:prstGeom>
          <a:solidFill>
            <a:srgbClr val="1E1E2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TextBox 37"/>
          <p:cNvSpPr txBox="1"/>
          <p:nvPr/>
        </p:nvSpPr>
        <p:spPr>
          <a:xfrm>
            <a:off x="941832" y="4901184"/>
            <a:ext cx="10360152" cy="1344167"/>
          </a:xfrm>
          <a:prstGeom prst="rect">
            <a:avLst/>
          </a:prstGeom>
          <a:noFill/>
        </p:spPr>
        <p:txBody>
          <a:bodyPr wrap="square" lIns="0" rIns="0" tIns="0" bIns="0" anchor="ctr">
            <a:spAutoFit/>
          </a:bodyPr>
          <a:lstStyle/>
          <a:p>
            <a:pPr algn="l">
              <a:spcAft>
                <a:spcPts val="100"/>
              </a:spcAft>
            </a:pPr>
            <a:r>
              <a:rPr sz="1100" b="0" i="0">
                <a:solidFill>
                  <a:srgbClr val="9AA0A8"/>
                </a:solidFill>
                <a:latin typeface="Courier New"/>
              </a:rPr>
              <a:t># before: the source sends A and B</a:t>
            </a:r>
          </a:p>
          <a:p>
            <a:pPr algn="l">
              <a:spcAft>
                <a:spcPts val="100"/>
              </a:spcAft>
            </a:pPr>
            <a:r>
              <a:rPr sz="1100" b="0" i="0">
                <a:solidFill>
                  <a:srgbClr val="F1EEE9"/>
                </a:solidFill>
                <a:latin typeface="Courier New"/>
              </a:rPr>
              <a:t>{"id":"T1", "doc":{"A":1,"B":2}, "A":1}</a:t>
            </a:r>
          </a:p>
          <a:p>
            <a:pPr algn="l">
              <a:spcAft>
                <a:spcPts val="100"/>
              </a:spcAft>
            </a:pPr>
            <a:r>
              <a:rPr sz="1100" b="0" i="0">
                <a:solidFill>
                  <a:srgbClr val="9AA0A8"/>
                </a:solidFill>
                <a:latin typeface="Courier New"/>
              </a:rPr>
              <a:t># after: the source adds C; nothing to migrate, C is in doc at once</a:t>
            </a:r>
          </a:p>
          <a:p>
            <a:pPr algn="l">
              <a:spcAft>
                <a:spcPts val="100"/>
              </a:spcAft>
            </a:pPr>
            <a:r>
              <a:rPr sz="1100" b="0" i="0">
                <a:solidFill>
                  <a:srgbClr val="F1EEE9"/>
                </a:solidFill>
                <a:latin typeface="Courier New"/>
              </a:rPr>
              <a:t>{"id":"T2", "doc":{"A":3,"B":4,"C":5}, "A":3}</a:t>
            </a:r>
          </a:p>
          <a:p>
            <a:pPr algn="l">
              <a:spcAft>
                <a:spcPts val="100"/>
              </a:spcAft>
            </a:pPr>
            <a:r>
              <a:rPr sz="1100" b="0" i="0">
                <a:solidFill>
                  <a:srgbClr val="9AA0A8"/>
                </a:solidFill>
                <a:latin typeface="Courier New"/>
              </a:rPr>
              <a:t># C promoted to a column: new rows carry it, old files read it as empty (null)</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CAPACITY · TO HAND TO INFRASTRUCTURE</a:t>
            </a:r>
          </a:p>
        </p:txBody>
      </p:sp>
      <p:sp>
        <p:nvSpPr>
          <p:cNvPr id="3" name="Title 2"/>
          <p:cNvSpPr>
            <a:spLocks noGrp="1"/>
          </p:cNvSpPr>
          <p:nvPr>
            <p:ph type="title" idx="104"/>
          </p:nvPr>
        </p:nvSpPr>
        <p:spPr/>
        <p:txBody>
          <a:bodyPr/>
          <a:lstStyle/>
          <a:p>
            <a:r>
              <a:t>Hardware plan with 39% headroom</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TextBox 25"/>
          <p:cNvSpPr txBox="1"/>
          <p:nvPr/>
        </p:nvSpPr>
        <p:spPr>
          <a:xfrm>
            <a:off x="777240" y="1371600"/>
            <a:ext cx="7498079" cy="274320"/>
          </a:xfrm>
          <a:prstGeom prst="rect">
            <a:avLst/>
          </a:prstGeom>
          <a:noFill/>
        </p:spPr>
        <p:txBody>
          <a:bodyPr wrap="square" lIns="0" rIns="0" tIns="0" bIns="0" anchor="ctr">
            <a:spAutoFit/>
          </a:bodyPr>
          <a:lstStyle/>
          <a:p>
            <a:pPr algn="l"/>
            <a:r>
              <a:rPr sz="1200" b="1" i="0">
                <a:solidFill>
                  <a:srgbClr val="A51C30"/>
                </a:solidFill>
              </a:rPr>
              <a:t>1-day, 10-day and stressed VaR at 2.3M positions  </a:t>
            </a:r>
            <a:r>
              <a:rPr sz="1100" b="0" i="0">
                <a:solidFill>
                  <a:srgbClr val="4A5058"/>
                </a:solidFill>
              </a:rPr>
              <a:t>provisioned = need ÷ 0.61</a:t>
            </a:r>
          </a:p>
        </p:txBody>
      </p:sp>
      <p:graphicFrame>
        <p:nvGraphicFramePr>
          <p:cNvPr id="27" name="Table 26"/>
          <p:cNvGraphicFramePr>
            <a:graphicFrameLocks noGrp="1"/>
          </p:cNvGraphicFramePr>
          <p:nvPr/>
        </p:nvGraphicFramePr>
        <p:xfrm>
          <a:off x="777240" y="1691640"/>
          <a:ext cx="7498080" cy="3447288"/>
        </p:xfrm>
        <a:graphic>
          <a:graphicData uri="http://schemas.openxmlformats.org/drawingml/2006/table">
            <a:tbl>
              <a:tblPr firstRow="0" bandRow="0">
                <a:tableStyleId>{5940675A-B579-460E-94D1-54222C63F5DA}</a:tableStyleId>
              </a:tblPr>
              <a:tblGrid>
                <a:gridCol w="2331720"/>
                <a:gridCol w="457200"/>
                <a:gridCol w="1508760"/>
                <a:gridCol w="1783080"/>
                <a:gridCol w="1417320"/>
              </a:tblGrid>
              <a:tr h="265176">
                <a:tc>
                  <a:txBody>
                    <a:bodyPr wrap="square"/>
                    <a:lstStyle/>
                    <a:p>
                      <a:r>
                        <a:rPr sz="1000" b="1" i="0">
                          <a:solidFill>
                            <a:srgbClr val="FFFFFF"/>
                          </a:solidFill>
                        </a:rPr>
                        <a:t>Item</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00" b="1" i="0">
                          <a:solidFill>
                            <a:srgbClr val="FFFFFF"/>
                          </a:solidFill>
                        </a:rPr>
                        <a:t>No.</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00" b="1" i="0">
                          <a:solidFill>
                            <a:srgbClr val="FFFFFF"/>
                          </a:solidFill>
                        </a:rPr>
                        <a:t>Need, each</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00" b="1" i="0">
                          <a:solidFill>
                            <a:srgbClr val="FFFFFF"/>
                          </a:solidFill>
                        </a:rPr>
                        <a:t>Provisioned, each</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00" b="1" i="0">
                          <a:solidFill>
                            <a:srgbClr val="FFFFFF"/>
                          </a:solidFill>
                        </a:rPr>
                        <a:t>Large (2×)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265176">
                <a:tc>
                  <a:txBody>
                    <a:bodyPr wrap="square"/>
                    <a:lstStyle/>
                    <a:p>
                      <a:r>
                        <a:rPr sz="1000" b="1" i="0">
                          <a:solidFill>
                            <a:srgbClr val="8A1626"/>
                          </a:solidFill>
                        </a:rPr>
                        <a:t>VaR servers (EOD, intraday, 2 UI)¹</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00" b="0" i="0">
                          <a:solidFill>
                            <a:srgbClr val="1A1A1A"/>
                          </a:solidFill>
                        </a:rPr>
                        <a:t>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00" b="0" i="0">
                          <a:solidFill>
                            <a:srgbClr val="1A1A1A"/>
                          </a:solidFill>
                        </a:rPr>
                        <a:t>one machine type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00" b="0" i="0">
                          <a:solidFill>
                            <a:srgbClr val="1A1A1A"/>
                          </a:solidFill>
                        </a:rPr>
                        <a:t>identical, any role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00" b="0" i="0">
                          <a:solidFill>
                            <a:srgbClr val="1A1A1A"/>
                          </a:solidFill>
                        </a:rPr>
                        <a:t>5 (+ history)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65176">
                <a:tc>
                  <a:txBody>
                    <a:bodyPr wrap="square"/>
                    <a:lstStyle/>
                    <a:p>
                      <a:r>
                        <a:rPr sz="1000" b="1" i="0">
                          <a:solidFill>
                            <a:srgbClr val="8A1626"/>
                          </a:solidFill>
                        </a:rPr>
                        <a:t>vCPU</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00" b="0" i="0">
                          <a:solidFill>
                            <a:srgbClr val="1A1A1A"/>
                          </a:solidFill>
                        </a:rPr>
                        <a: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00" b="0" i="0">
                          <a:solidFill>
                            <a:srgbClr val="1A1A1A"/>
                          </a:solidFill>
                        </a:rPr>
                        <a:t>32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00" b="0" i="0">
                          <a:solidFill>
                            <a:srgbClr val="1A1A1A"/>
                          </a:solidFill>
                        </a:rPr>
                        <a:t>64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00" b="0" i="0">
                          <a:solidFill>
                            <a:srgbClr val="1A1A1A"/>
                          </a:solidFill>
                        </a:rPr>
                        <a:t>96</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65176">
                <a:tc>
                  <a:txBody>
                    <a:bodyPr wrap="square"/>
                    <a:lstStyle/>
                    <a:p>
                      <a:r>
                        <a:rPr sz="1000" b="1" i="0">
                          <a:solidFill>
                            <a:srgbClr val="8A1626"/>
                          </a:solidFill>
                        </a:rPr>
                        <a:t>RAM</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00" b="0" i="0">
                          <a:solidFill>
                            <a:srgbClr val="1A1A1A"/>
                          </a:solidFill>
                        </a:rPr>
                        <a: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00" b="0" i="0">
                          <a:solidFill>
                            <a:srgbClr val="1A1A1A"/>
                          </a:solidFill>
                        </a:rPr>
                        <a:t>151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00" b="0" i="0">
                          <a:solidFill>
                            <a:srgbClr val="1A1A1A"/>
                          </a:solidFill>
                        </a:rPr>
                        <a:t>256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00" b="0" i="0">
                          <a:solidFill>
                            <a:srgbClr val="1A1A1A"/>
                          </a:solidFill>
                        </a:rPr>
                        <a:t>512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65176">
                <a:tc>
                  <a:txBody>
                    <a:bodyPr wrap="square"/>
                    <a:lstStyle/>
                    <a:p>
                      <a:r>
                        <a:rPr sz="1000" b="1" i="0">
                          <a:solidFill>
                            <a:srgbClr val="8A1626"/>
                          </a:solidFill>
                        </a:rPr>
                        <a:t>Heap (-Xmx)</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00" b="0" i="0">
                          <a:solidFill>
                            <a:srgbClr val="1A1A1A"/>
                          </a:solidFill>
                        </a:rPr>
                        <a: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00" b="0" i="0">
                          <a:solidFill>
                            <a:srgbClr val="1A1A1A"/>
                          </a:solidFill>
                        </a:rPr>
                        <a:t>21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00" b="0" i="0">
                          <a:solidFill>
                            <a:srgbClr val="1A1A1A"/>
                          </a:solidFill>
                        </a:rPr>
                        <a:t>36g</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00" b="0" i="0">
                          <a:solidFill>
                            <a:srgbClr val="1A1A1A"/>
                          </a:solidFill>
                        </a:rPr>
                        <a:t>60g</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65176">
                <a:tc>
                  <a:txBody>
                    <a:bodyPr wrap="square"/>
                    <a:lstStyle/>
                    <a:p>
                      <a:r>
                        <a:rPr sz="1000" b="1" i="0">
                          <a:solidFill>
                            <a:srgbClr val="8A1626"/>
                          </a:solidFill>
                        </a:rPr>
                        <a:t>VaR memory budget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00" b="0" i="0">
                          <a:solidFill>
                            <a:srgbClr val="1A1A1A"/>
                          </a:solidFill>
                        </a:rPr>
                        <a: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00" b="0" i="0">
                          <a:solidFill>
                            <a:srgbClr val="1A1A1A"/>
                          </a:solidFill>
                        </a:rPr>
                        <a:t>14,000 MB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00" b="0" i="0">
                          <a:solidFill>
                            <a:srgbClr val="1A1A1A"/>
                          </a:solidFill>
                        </a:rPr>
                        <a:t>23,000 MB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00" b="0" i="0">
                          <a:solidFill>
                            <a:srgbClr val="1A1A1A"/>
                          </a:solidFill>
                        </a:rPr>
                        <a:t>46,000 MB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65176">
                <a:tc>
                  <a:txBody>
                    <a:bodyPr wrap="square"/>
                    <a:lstStyle/>
                    <a:p>
                      <a:r>
                        <a:rPr sz="1000" b="1" i="0">
                          <a:solidFill>
                            <a:srgbClr val="8A1626"/>
                          </a:solidFill>
                        </a:rPr>
                        <a:t>Local NVMe (tier.dir)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00" b="0" i="0">
                          <a:solidFill>
                            <a:srgbClr val="1A1A1A"/>
                          </a:solidFill>
                        </a:rPr>
                        <a: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00" b="0" i="0">
                          <a:solidFill>
                            <a:srgbClr val="1A1A1A"/>
                          </a:solidFill>
                        </a:rPr>
                        <a:t>1.18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00" b="0" i="0">
                          <a:solidFill>
                            <a:srgbClr val="1A1A1A"/>
                          </a:solidFill>
                        </a:rPr>
                        <a:t>2 × 1.9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00" b="0" i="0">
                          <a:solidFill>
                            <a:srgbClr val="1A1A1A"/>
                          </a:solidFill>
                        </a:rPr>
                        <a:t>4 × 1.425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65176">
                <a:tc>
                  <a:txBody>
                    <a:bodyPr wrap="square"/>
                    <a:lstStyle/>
                    <a:p>
                      <a:r>
                        <a:rPr sz="1000" b="1" i="0">
                          <a:solidFill>
                            <a:srgbClr val="8A1626"/>
                          </a:solidFill>
                        </a:rPr>
                        <a:t>Console hosts²</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00" b="0" i="0">
                          <a:solidFill>
                            <a:srgbClr val="1A1A1A"/>
                          </a:solidFill>
                        </a:rPr>
                        <a:t>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00" b="0" i="0">
                          <a:solidFill>
                            <a:srgbClr val="1A1A1A"/>
                          </a:solidFill>
                        </a:rPr>
                        <a:t>25 pages/s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00" b="0" i="0">
                          <a:solidFill>
                            <a:srgbClr val="1A1A1A"/>
                          </a:solidFill>
                        </a:rPr>
                        <a:t>4 vCPU, 8 GB, 4 workers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00" b="0" i="0">
                          <a:solidFill>
                            <a:srgbClr val="1A1A1A"/>
                          </a:solidFill>
                        </a:rPr>
                        <a:t>the same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65176">
                <a:tc>
                  <a:txBody>
                    <a:bodyPr wrap="square"/>
                    <a:lstStyle/>
                    <a:p>
                      <a:r>
                        <a:rPr sz="1000" b="1" i="0">
                          <a:solidFill>
                            <a:srgbClr val="8A1626"/>
                          </a:solidFill>
                        </a:rPr>
                        <a:t>Lake, 7 years (object store)³</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00" b="0" i="0">
                          <a:solidFill>
                            <a:srgbClr val="1A1A1A"/>
                          </a:solidFill>
                        </a:rPr>
                        <a:t>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00" b="0" i="0">
                          <a:solidFill>
                            <a:srgbClr val="1A1A1A"/>
                          </a:solidFill>
                        </a:rPr>
                        <a:t>48.2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00" b="0" i="0">
                          <a:solidFill>
                            <a:srgbClr val="1A1A1A"/>
                          </a:solidFill>
                        </a:rPr>
                        <a:t>79 TB; 158 with DR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00" b="0" i="0">
                          <a:solidFill>
                            <a:srgbClr val="1A1A1A"/>
                          </a:solidFill>
                        </a:rPr>
                        <a:t>158; 316 with DR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65176">
                <a:tc>
                  <a:txBody>
                    <a:bodyPr wrap="square"/>
                    <a:lstStyle/>
                    <a:p>
                      <a:r>
                        <a:rPr sz="1000" b="1" i="0">
                          <a:solidFill>
                            <a:srgbClr val="8A1626"/>
                          </a:solidFill>
                        </a:rPr>
                        <a:t>Shared state (EFS or NFS)³</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00" b="0" i="0">
                          <a:solidFill>
                            <a:srgbClr val="1A1A1A"/>
                          </a:solidFill>
                        </a:rPr>
                        <a:t>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00" b="0" i="0">
                          <a:solidFill>
                            <a:srgbClr val="1A1A1A"/>
                          </a:solidFill>
                        </a:rPr>
                        <a:t>0.3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00" b="0" i="0">
                          <a:solidFill>
                            <a:srgbClr val="1A1A1A"/>
                          </a:solidFill>
                        </a:rPr>
                        <a:t>0.5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00" b="0" i="0">
                          <a:solidFill>
                            <a:srgbClr val="1A1A1A"/>
                          </a:solidFill>
                        </a:rPr>
                        <a:t>0.5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65176">
                <a:tc>
                  <a:txBody>
                    <a:bodyPr wrap="square"/>
                    <a:lstStyle/>
                    <a:p>
                      <a:r>
                        <a:rPr sz="1000" b="1" i="0">
                          <a:solidFill>
                            <a:srgbClr val="8A1626"/>
                          </a:solidFill>
                        </a:rPr>
                        <a:t>Network, a date's first open⁴</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00" b="0" i="0">
                          <a:solidFill>
                            <a:srgbClr val="1A1A1A"/>
                          </a:solidFill>
                        </a:rPr>
                        <a: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00" b="0" i="0">
                          <a:solidFill>
                            <a:srgbClr val="1A1A1A"/>
                          </a:solidFill>
                        </a:rPr>
                        <a:t>20.9 GB, ≤ 0.4 GB/s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00" b="0" i="0">
                          <a:solidFill>
                            <a:srgbClr val="1A1A1A"/>
                          </a:solidFill>
                        </a:rPr>
                        <a:t>≥ 10 Gbit/s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00" b="0" i="0">
                          <a:solidFill>
                            <a:srgbClr val="1A1A1A"/>
                          </a:solidFill>
                        </a:rPr>
                        <a:t>25 Gbit/s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65176">
                <a:tc>
                  <a:txBody>
                    <a:bodyPr wrap="square"/>
                    <a:lstStyle/>
                    <a:p>
                      <a:r>
                        <a:rPr sz="1000" b="1" i="0">
                          <a:solidFill>
                            <a:srgbClr val="8A1626"/>
                          </a:solidFill>
                        </a:rPr>
                        <a:t>Intraday traffic⁵</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00" b="0" i="0">
                          <a:solidFill>
                            <a:srgbClr val="1A1A1A"/>
                          </a:solidFill>
                        </a:rPr>
                        <a: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00" b="0" i="0">
                          <a:solidFill>
                            <a:srgbClr val="1A1A1A"/>
                          </a:solidFill>
                        </a:rPr>
                        <a:t>17.5 MB a window</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00" b="0" i="0">
                          <a:solidFill>
                            <a:srgbClr val="1A1A1A"/>
                          </a:solidFill>
                        </a:rPr>
                        <a:t>&lt; 1 MB/s a server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00" b="0" i="0">
                          <a:solidFill>
                            <a:srgbClr val="1A1A1A"/>
                          </a:solidFill>
                        </a:rPr>
                        <a:t>&lt; 2 MB/s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65176">
                <a:tc>
                  <a:txBody>
                    <a:bodyPr wrap="square"/>
                    <a:lstStyle/>
                    <a:p>
                      <a:r>
                        <a:rPr sz="1000" b="1" i="0">
                          <a:solidFill>
                            <a:srgbClr val="8A1626"/>
                          </a:solidFill>
                        </a:rPr>
                        <a:t>Kafka PV topic, 7 days⁶</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00" b="0" i="0">
                          <a:solidFill>
                            <a:srgbClr val="1A1A1A"/>
                          </a:solidFill>
                        </a:rPr>
                        <a: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00" b="0" i="0">
                          <a:solidFill>
                            <a:srgbClr val="1A1A1A"/>
                          </a:solidFill>
                        </a:rPr>
                        <a:t>5.5 GB a day; 39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00" b="0" i="0">
                          <a:solidFill>
                            <a:srgbClr val="1A1A1A"/>
                          </a:solidFill>
                        </a:rPr>
                        <a:t>64 GB a replica</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00" b="0" i="0">
                          <a:solidFill>
                            <a:srgbClr val="1A1A1A"/>
                          </a:solidFill>
                        </a:rPr>
                        <a:t>128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
        <p:nvSpPr>
          <p:cNvPr id="28" name="Rectangle 27"/>
          <p:cNvSpPr/>
          <p:nvPr/>
        </p:nvSpPr>
        <p:spPr>
          <a:xfrm>
            <a:off x="8503919" y="1417320"/>
            <a:ext cx="2907792" cy="18288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Rectangle 28"/>
          <p:cNvSpPr/>
          <p:nvPr/>
        </p:nvSpPr>
        <p:spPr>
          <a:xfrm>
            <a:off x="8503919" y="1417320"/>
            <a:ext cx="45720" cy="18288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xtBox 29"/>
          <p:cNvSpPr txBox="1"/>
          <p:nvPr/>
        </p:nvSpPr>
        <p:spPr>
          <a:xfrm>
            <a:off x="8668511" y="1490472"/>
            <a:ext cx="2651760" cy="1719072"/>
          </a:xfrm>
          <a:prstGeom prst="rect">
            <a:avLst/>
          </a:prstGeom>
          <a:noFill/>
        </p:spPr>
        <p:txBody>
          <a:bodyPr wrap="square" lIns="0" rIns="0" tIns="0" bIns="0" anchor="t">
            <a:spAutoFit/>
          </a:bodyPr>
          <a:lstStyle/>
          <a:p>
            <a:pPr algn="l">
              <a:spcAft>
                <a:spcPts val="400"/>
              </a:spcAft>
            </a:pPr>
            <a:r>
              <a:rPr sz="1300" b="1" i="0">
                <a:solidFill>
                  <a:srgbClr val="8A1626"/>
                </a:solidFill>
              </a:rPr>
              <a:t>Does one server hold a date?⁷</a:t>
            </a:r>
          </a:p>
          <a:p>
            <a:pPr algn="l">
              <a:spcAft>
                <a:spcPts val="400"/>
              </a:spcAft>
            </a:pPr>
            <a:r>
              <a:rPr sz="1100" b="0" i="0">
                <a:solidFill>
                  <a:srgbClr val="1A1A1A"/>
                </a:solidFill>
              </a:rPr>
              <a:t>Yes. All four sets need 151 GB: one 256 GB server per role, 512 GB at 2×.</a:t>
            </a:r>
          </a:p>
          <a:p>
            <a:pPr algn="l"/>
            <a:r>
              <a:rPr sz="1100" b="0" i="0">
                <a:solidFill>
                  <a:srgbClr val="1A1A1A"/>
                </a:solidFill>
              </a:rPr>
              <a:t>Sharding is needed beyond ≈ 5M positions (a date takes 4–10 min to open) or ≈ 10M (over 1 TB of RAM).</a:t>
            </a:r>
          </a:p>
        </p:txBody>
      </p:sp>
      <p:sp>
        <p:nvSpPr>
          <p:cNvPr id="31" name="Rectangle 30"/>
          <p:cNvSpPr/>
          <p:nvPr/>
        </p:nvSpPr>
        <p:spPr>
          <a:xfrm>
            <a:off x="8503919" y="3337560"/>
            <a:ext cx="2907792" cy="18288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Rectangle 31"/>
          <p:cNvSpPr/>
          <p:nvPr/>
        </p:nvSpPr>
        <p:spPr>
          <a:xfrm>
            <a:off x="8503919" y="3337560"/>
            <a:ext cx="45720" cy="18288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TextBox 32"/>
          <p:cNvSpPr txBox="1"/>
          <p:nvPr/>
        </p:nvSpPr>
        <p:spPr>
          <a:xfrm>
            <a:off x="8668511" y="3410712"/>
            <a:ext cx="2651760" cy="1719072"/>
          </a:xfrm>
          <a:prstGeom prst="rect">
            <a:avLst/>
          </a:prstGeom>
          <a:noFill/>
        </p:spPr>
        <p:txBody>
          <a:bodyPr wrap="square" lIns="0" rIns="0" tIns="0" bIns="0" anchor="t">
            <a:spAutoFit/>
          </a:bodyPr>
          <a:lstStyle/>
          <a:p>
            <a:pPr algn="l">
              <a:spcAft>
                <a:spcPts val="400"/>
              </a:spcAft>
            </a:pPr>
            <a:r>
              <a:rPr sz="1300" b="1" i="0">
                <a:solidFill>
                  <a:srgbClr val="8A1626"/>
                </a:solidFill>
              </a:rPr>
              <a:t>Assumptions to confirm</a:t>
            </a:r>
          </a:p>
          <a:p>
            <a:pPr algn="l" marL="146304" indent="-146304">
              <a:spcAft>
                <a:spcPts val="100"/>
              </a:spcAft>
              <a:buClr>
                <a:srgbClr val="A51C30"/>
              </a:buClr>
              <a:buSzPct val="100000"/>
              <a:buFont typeface="Arial"/>
              <a:buChar char="▪"/>
            </a:pPr>
            <a:r>
              <a:rPr sz="1050" b="0" i="0">
                <a:solidFill>
                  <a:srgbClr val="1A1A1A"/>
                </a:solidFill>
              </a:rPr>
              <a:t>50 of 200 users at once; peaks 5×</a:t>
            </a:r>
          </a:p>
          <a:p>
            <a:pPr algn="l" marL="146304" indent="-146304">
              <a:spcAft>
                <a:spcPts val="100"/>
              </a:spcAft>
              <a:buClr>
                <a:srgbClr val="A51C30"/>
              </a:buClr>
              <a:buSzPct val="100000"/>
              <a:buFont typeface="Arial"/>
              <a:buChar char="▪"/>
            </a:pPr>
            <a:r>
              <a:rPr sz="1050" b="0" i="0">
                <a:solidFill>
                  <a:srgbClr val="1A1A1A"/>
                </a:solidFill>
              </a:rPr>
              <a:t>10-day by overlapping returns; stressed 1- and 10-day</a:t>
            </a:r>
          </a:p>
          <a:p>
            <a:pPr algn="l" marL="146304" indent="-146304">
              <a:spcAft>
                <a:spcPts val="100"/>
              </a:spcAft>
              <a:buClr>
                <a:srgbClr val="A51C30"/>
              </a:buClr>
              <a:buSzPct val="100000"/>
              <a:buFont typeface="Arial"/>
              <a:buChar char="▪"/>
            </a:pPr>
            <a:r>
              <a:rPr sz="1050" b="0" i="0">
                <a:solidFill>
                  <a:srgbClr val="1A1A1A"/>
                </a:solidFill>
              </a:rPr>
              <a:t>Intraday 230k rows a day, 120 windows</a:t>
            </a:r>
          </a:p>
          <a:p>
            <a:pPr algn="l" marL="146304" indent="-146304">
              <a:spcAft>
                <a:spcPts val="100"/>
              </a:spcAft>
              <a:buClr>
                <a:srgbClr val="A51C30"/>
              </a:buClr>
              <a:buSzPct val="100000"/>
              <a:buFont typeface="Arial"/>
              <a:buChar char="▪"/>
            </a:pPr>
            <a:r>
              <a:rPr sz="1050" b="0" i="0">
                <a:solidFill>
                  <a:srgbClr val="1A1A1A"/>
                </a:solidFill>
              </a:rPr>
              <a:t>5,700 nodes; 2% restated; a DR copy</a:t>
            </a:r>
          </a:p>
          <a:p>
            <a:pPr algn="l" marL="146304" indent="-146304">
              <a:spcAft>
                <a:spcPts val="100"/>
              </a:spcAft>
              <a:buClr>
                <a:srgbClr val="A51C30"/>
              </a:buClr>
              <a:buSzPct val="100000"/>
              <a:buFont typeface="Arial"/>
              <a:buChar char="▪"/>
            </a:pPr>
            <a:r>
              <a:rPr sz="1050" b="0" i="0">
                <a:solidFill>
                  <a:srgbClr val="1A1A1A"/>
                </a:solidFill>
              </a:rPr>
              <a:t>Kafka 24 KB a record, kept 7 days</a:t>
            </a:r>
          </a:p>
        </p:txBody>
      </p:sp>
      <p:sp>
        <p:nvSpPr>
          <p:cNvPr id="34" name="Rounded Rectangle 33"/>
          <p:cNvSpPr/>
          <p:nvPr/>
        </p:nvSpPr>
        <p:spPr>
          <a:xfrm>
            <a:off x="10451592" y="3401568"/>
            <a:ext cx="804672" cy="201168"/>
          </a:xfrm>
          <a:prstGeom prst="roundRect">
            <a:avLst>
              <a:gd name="adj" fmla="val 50000"/>
            </a:avLst>
          </a:prstGeom>
          <a:solidFill>
            <a:srgbClr val="F3EBD9"/>
          </a:solidFill>
          <a:ln w="12700">
            <a:solidFill>
              <a:srgbClr val="C9A55A"/>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800" b="1" i="0">
                <a:solidFill>
                  <a:srgbClr val="7A5A12"/>
                </a:solidFill>
              </a:rPr>
              <a:t>ASSUMPTION</a:t>
            </a:r>
          </a:p>
        </p:txBody>
      </p:sp>
      <p:sp>
        <p:nvSpPr>
          <p:cNvPr id="35" name="Rectangle 34"/>
          <p:cNvSpPr/>
          <p:nvPr/>
        </p:nvSpPr>
        <p:spPr>
          <a:xfrm>
            <a:off x="777240" y="5532120"/>
            <a:ext cx="10634472" cy="713232"/>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Rectangle 35"/>
          <p:cNvSpPr/>
          <p:nvPr/>
        </p:nvSpPr>
        <p:spPr>
          <a:xfrm>
            <a:off x="777240" y="5532120"/>
            <a:ext cx="54864" cy="71323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7" name="TextBox 36"/>
          <p:cNvSpPr txBox="1"/>
          <p:nvPr/>
        </p:nvSpPr>
        <p:spPr>
          <a:xfrm>
            <a:off x="1005840" y="5532120"/>
            <a:ext cx="10314432" cy="713232"/>
          </a:xfrm>
          <a:prstGeom prst="rect">
            <a:avLst/>
          </a:prstGeom>
          <a:noFill/>
        </p:spPr>
        <p:txBody>
          <a:bodyPr wrap="square" lIns="0" rIns="0" tIns="0" bIns="0" anchor="ctr">
            <a:spAutoFit/>
          </a:bodyPr>
          <a:lstStyle/>
          <a:p>
            <a:pPr algn="l">
              <a:spcAft>
                <a:spcPts val="200"/>
              </a:spcAft>
            </a:pPr>
            <a:r>
              <a:rPr sz="1150" b="1" i="0">
                <a:solidFill>
                  <a:srgbClr val="A51C30"/>
                </a:solidFill>
              </a:rPr>
              <a:t>AWS example: </a:t>
            </a:r>
            <a:r>
              <a:rPr sz="1150" b="0" i="0">
                <a:solidFill>
                  <a:srgbClr val="1A1A1A"/>
                </a:solidFill>
              </a:rPr>
              <a:t>m6id.16xlarge (64 vCPU, 256 GiB, 2 × 1.9 TB NVMe, 25 Gbit/s); large r6id.24xlarge; Fargate consoles; S3.</a:t>
            </a:r>
          </a:p>
          <a:p>
            <a:pPr algn="l"/>
            <a:r>
              <a:rPr sz="1150" b="1" i="0">
                <a:solidFill>
                  <a:srgbClr val="A51C30"/>
                </a:solidFill>
              </a:rPr>
              <a:t>On premises: </a:t>
            </a:r>
            <a:r>
              <a:rPr sz="1150" b="0" i="0">
                <a:solidFill>
                  <a:srgbClr val="1A1A1A"/>
                </a:solidFill>
              </a:rPr>
              <a:t>2 × 16 cores (64 threads), 256 GB on every memory channel, 2 × 1.92 TB NVMe, 25 GbE; an S3-compatible object store.</a:t>
            </a:r>
          </a:p>
        </p:txBody>
      </p:sp>
      <p:sp>
        <p:nvSpPr>
          <p:cNvPr id="38" name="Footnotes"/>
          <p:cNvSpPr txBox="1"/>
          <p:nvPr/>
        </p:nvSpPr>
        <p:spPr>
          <a:xfrm>
            <a:off x="2468880" y="6419088"/>
            <a:ext cx="8503920" cy="237744"/>
          </a:xfrm>
          <a:prstGeom prst="rect">
            <a:avLst/>
          </a:prstGeom>
          <a:noFill/>
        </p:spPr>
        <p:txBody>
          <a:bodyPr wrap="square" lIns="0" rIns="0" tIns="0" bIns="0" anchor="ctr">
            <a:spAutoFit/>
          </a:bodyPr>
          <a:lstStyle/>
          <a:p>
            <a:pPr algn="l"/>
            <a:r>
              <a:rPr sz="900" b="0" i="0">
                <a:solidFill>
                  <a:srgbClr val="4A5058"/>
                </a:solidFill>
              </a:rPr>
              <a:t>¹–⁷ How these figures were derived: A-4, in the appendix (Hardware plan)</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AWS · EXAMPLE REGION CA-CENTRAL-1</a:t>
            </a:r>
          </a:p>
        </p:txBody>
      </p:sp>
      <p:sp>
        <p:nvSpPr>
          <p:cNvPr id="3" name="Title 2"/>
          <p:cNvSpPr>
            <a:spLocks noGrp="1"/>
          </p:cNvSpPr>
          <p:nvPr>
            <p:ph type="title" idx="104"/>
          </p:nvPr>
        </p:nvSpPr>
        <p:spPr/>
        <p:txBody>
          <a:bodyPr/>
          <a:lstStyle/>
          <a:p>
            <a:r>
              <a:t>Drishti on AWS: ECS, Fargate, S3 first, as little EFS as possible</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ounded Rectangle 25"/>
          <p:cNvSpPr/>
          <p:nvPr/>
        </p:nvSpPr>
        <p:spPr>
          <a:xfrm>
            <a:off x="777240" y="1600200"/>
            <a:ext cx="1188720" cy="566928"/>
          </a:xfrm>
          <a:prstGeom prst="roundRect">
            <a:avLst>
              <a:gd name="adj" fmla="val 10000"/>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r>
              <a:rPr sz="1050" b="1" i="0">
                <a:solidFill>
                  <a:srgbClr val="FFFFFF"/>
                </a:solidFill>
              </a:rPr>
              <a:t>Users</a:t>
            </a:r>
          </a:p>
          <a:p>
            <a:pPr algn="ctr"/>
            <a:r>
              <a:rPr sz="950" b="0" i="0">
                <a:solidFill>
                  <a:srgbClr val="FFFFFF"/>
                </a:solidFill>
              </a:rPr>
              <a:t>bank network</a:t>
            </a:r>
          </a:p>
        </p:txBody>
      </p:sp>
      <p:sp>
        <p:nvSpPr>
          <p:cNvPr id="27" name="Rounded Rectangle 26"/>
          <p:cNvSpPr/>
          <p:nvPr/>
        </p:nvSpPr>
        <p:spPr>
          <a:xfrm>
            <a:off x="777240" y="3154680"/>
            <a:ext cx="1188720" cy="640080"/>
          </a:xfrm>
          <a:prstGeom prst="roundRect">
            <a:avLst>
              <a:gd name="adj" fmla="val 10000"/>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r>
              <a:rPr sz="1050" b="1" i="0">
                <a:solidFill>
                  <a:srgbClr val="FFFFFF"/>
                </a:solidFill>
              </a:rPr>
              <a:t>Pricing systems</a:t>
            </a:r>
          </a:p>
          <a:p>
            <a:pPr algn="ctr"/>
            <a:r>
              <a:rPr sz="950" b="0" i="0">
                <a:solidFill>
                  <a:srgbClr val="FFFFFF"/>
                </a:solidFill>
              </a:rPr>
              <a:t>PVs, P&amp;L</a:t>
            </a:r>
          </a:p>
        </p:txBody>
      </p:sp>
      <p:sp>
        <p:nvSpPr>
          <p:cNvPr id="28" name="Rounded Rectangle 27"/>
          <p:cNvSpPr/>
          <p:nvPr/>
        </p:nvSpPr>
        <p:spPr>
          <a:xfrm>
            <a:off x="2148840" y="1389888"/>
            <a:ext cx="9262872" cy="2944368"/>
          </a:xfrm>
          <a:prstGeom prst="roundRect">
            <a:avLst>
              <a:gd name="adj" fmla="val 3000"/>
            </a:avLst>
          </a:prstGeom>
          <a:no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TextBox 28"/>
          <p:cNvSpPr txBox="1"/>
          <p:nvPr/>
        </p:nvSpPr>
        <p:spPr>
          <a:xfrm>
            <a:off x="2258568" y="1399032"/>
            <a:ext cx="4572000" cy="219456"/>
          </a:xfrm>
          <a:prstGeom prst="rect">
            <a:avLst/>
          </a:prstGeom>
          <a:noFill/>
        </p:spPr>
        <p:txBody>
          <a:bodyPr wrap="square" lIns="0" rIns="0" tIns="0" bIns="0" anchor="ctr">
            <a:spAutoFit/>
          </a:bodyPr>
          <a:lstStyle/>
          <a:p>
            <a:pPr algn="l"/>
            <a:r>
              <a:rPr sz="1000" b="1" i="0">
                <a:solidFill>
                  <a:srgbClr val="A51C30"/>
                </a:solidFill>
              </a:rPr>
              <a:t>Region (example): ca-central-1 · VPC, private subnets in two AZs</a:t>
            </a:r>
          </a:p>
        </p:txBody>
      </p:sp>
      <p:sp>
        <p:nvSpPr>
          <p:cNvPr id="30" name="Rounded Rectangle 29"/>
          <p:cNvSpPr/>
          <p:nvPr/>
        </p:nvSpPr>
        <p:spPr>
          <a:xfrm>
            <a:off x="2286000" y="1691640"/>
            <a:ext cx="914400" cy="502920"/>
          </a:xfrm>
          <a:prstGeom prst="roundRect">
            <a:avLst>
              <a:gd name="adj" fmla="val 10000"/>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r>
              <a:rPr sz="1050" b="1" i="0">
                <a:solidFill>
                  <a:srgbClr val="8A1626"/>
                </a:solidFill>
              </a:rPr>
              <a:t>ALB</a:t>
            </a:r>
          </a:p>
          <a:p>
            <a:pPr algn="ctr"/>
            <a:r>
              <a:rPr sz="950" b="0" i="0">
                <a:solidFill>
                  <a:srgbClr val="4A5058"/>
                </a:solidFill>
              </a:rPr>
              <a:t>HTTPS</a:t>
            </a:r>
          </a:p>
        </p:txBody>
      </p:sp>
      <p:sp>
        <p:nvSpPr>
          <p:cNvPr id="31" name="Rounded Rectangle 30"/>
          <p:cNvSpPr/>
          <p:nvPr/>
        </p:nvSpPr>
        <p:spPr>
          <a:xfrm>
            <a:off x="3383280" y="1664208"/>
            <a:ext cx="1463040" cy="566928"/>
          </a:xfrm>
          <a:prstGeom prst="roundRect">
            <a:avLst>
              <a:gd name="adj" fmla="val 10000"/>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r>
              <a:rPr sz="1050" b="1" i="0">
                <a:solidFill>
                  <a:srgbClr val="8A1626"/>
                </a:solidFill>
              </a:rPr>
              <a:t>Consoles · 2+</a:t>
            </a:r>
          </a:p>
          <a:p>
            <a:pPr algn="ctr"/>
            <a:r>
              <a:rPr sz="950" b="0" i="0">
                <a:solidFill>
                  <a:srgbClr val="4A5058"/>
                </a:solidFill>
              </a:rPr>
              <a:t>ECS Fargate</a:t>
            </a:r>
          </a:p>
        </p:txBody>
      </p:sp>
      <p:sp>
        <p:nvSpPr>
          <p:cNvPr id="32" name="Rounded Rectangle 31"/>
          <p:cNvSpPr/>
          <p:nvPr/>
        </p:nvSpPr>
        <p:spPr>
          <a:xfrm>
            <a:off x="3383280" y="2514600"/>
            <a:ext cx="1463040" cy="566928"/>
          </a:xfrm>
          <a:prstGeom prst="roundRect">
            <a:avLst>
              <a:gd name="adj" fmla="val 10000"/>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r>
              <a:rPr sz="1050" b="1" i="0">
                <a:solidFill>
                  <a:srgbClr val="8A1626"/>
                </a:solidFill>
              </a:rPr>
              <a:t>Kafka</a:t>
            </a:r>
          </a:p>
          <a:p>
            <a:pPr algn="ctr"/>
            <a:r>
              <a:rPr sz="950" b="0" i="0">
                <a:solidFill>
                  <a:srgbClr val="4A5058"/>
                </a:solidFill>
              </a:rPr>
              <a:t>MSK or the bank's own</a:t>
            </a:r>
          </a:p>
        </p:txBody>
      </p:sp>
      <p:sp>
        <p:nvSpPr>
          <p:cNvPr id="33" name="Rounded Rectangle 32"/>
          <p:cNvSpPr/>
          <p:nvPr/>
        </p:nvSpPr>
        <p:spPr>
          <a:xfrm>
            <a:off x="2286000" y="3383280"/>
            <a:ext cx="2560320" cy="749808"/>
          </a:xfrm>
          <a:prstGeom prst="roundRect">
            <a:avLst>
              <a:gd name="adj" fmla="val 10000"/>
            </a:avLst>
          </a:prstGeom>
          <a:solidFill>
            <a:srgbClr val="EEF0F2"/>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r>
              <a:rPr sz="1050" b="1" i="0">
                <a:solidFill>
                  <a:srgbClr val="8A1626"/>
                </a:solidFill>
              </a:rPr>
              <a:t>EFS, small (≈ 0.5 TB)</a:t>
            </a:r>
          </a:p>
          <a:p>
            <a:pPr algn="ctr"/>
            <a:r>
              <a:rPr sz="950" b="0" i="0">
                <a:solidFill>
                  <a:srgbClr val="4A5058"/>
                </a:solidFill>
              </a:rPr>
              <a:t>config, Sutras, each node's data folder</a:t>
            </a:r>
          </a:p>
        </p:txBody>
      </p:sp>
      <p:sp>
        <p:nvSpPr>
          <p:cNvPr id="34" name="Rounded Rectangle 33"/>
          <p:cNvSpPr/>
          <p:nvPr/>
        </p:nvSpPr>
        <p:spPr>
          <a:xfrm>
            <a:off x="5029200" y="1664208"/>
            <a:ext cx="3520440" cy="2514600"/>
          </a:xfrm>
          <a:prstGeom prst="roundRect">
            <a:avLst>
              <a:gd name="adj" fmla="val 5000"/>
            </a:avLst>
          </a:prstGeom>
          <a:solidFill>
            <a:srgbClr val="FFFFFF"/>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TextBox 34"/>
          <p:cNvSpPr txBox="1"/>
          <p:nvPr/>
        </p:nvSpPr>
        <p:spPr>
          <a:xfrm>
            <a:off x="5102352" y="1682496"/>
            <a:ext cx="3374136" cy="384048"/>
          </a:xfrm>
          <a:prstGeom prst="rect">
            <a:avLst/>
          </a:prstGeom>
          <a:noFill/>
        </p:spPr>
        <p:txBody>
          <a:bodyPr wrap="square" lIns="0" rIns="0" tIns="0" bIns="0" anchor="t">
            <a:spAutoFit/>
          </a:bodyPr>
          <a:lstStyle/>
          <a:p>
            <a:pPr algn="ctr"/>
            <a:r>
              <a:rPr sz="1050" b="1" i="0">
                <a:solidFill>
                  <a:srgbClr val="8A1626"/>
                </a:solidFill>
              </a:rPr>
              <a:t>A: VaR server tasks · ECS on EC2 capacity</a:t>
            </a:r>
          </a:p>
          <a:p>
            <a:pPr algn="ctr"/>
            <a:r>
              <a:rPr sz="950" b="0" i="0">
                <a:solidFill>
                  <a:srgbClr val="4A5058"/>
                </a:solidFill>
              </a:rPr>
              <a:t>(or ECS Managed Instances) to start</a:t>
            </a:r>
          </a:p>
        </p:txBody>
      </p:sp>
      <p:sp>
        <p:nvSpPr>
          <p:cNvPr id="36" name="Rounded Rectangle 35"/>
          <p:cNvSpPr/>
          <p:nvPr/>
        </p:nvSpPr>
        <p:spPr>
          <a:xfrm>
            <a:off x="5138928" y="2121408"/>
            <a:ext cx="1143000" cy="566928"/>
          </a:xfrm>
          <a:prstGeom prst="roundRect">
            <a:avLst>
              <a:gd name="adj" fmla="val 10000"/>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r>
              <a:rPr sz="1000" b="1" i="0">
                <a:solidFill>
                  <a:srgbClr val="8A1626"/>
                </a:solidFill>
              </a:rPr>
              <a:t>Intraday writer</a:t>
            </a:r>
          </a:p>
          <a:p>
            <a:pPr algn="ctr"/>
            <a:r>
              <a:rPr sz="950" b="0" i="0">
                <a:solidFill>
                  <a:srgbClr val="4A5058"/>
                </a:solidFill>
              </a:rPr>
              <a:t>AZ a</a:t>
            </a:r>
          </a:p>
        </p:txBody>
      </p:sp>
      <p:sp>
        <p:nvSpPr>
          <p:cNvPr id="37" name="Can 36"/>
          <p:cNvSpPr/>
          <p:nvPr/>
        </p:nvSpPr>
        <p:spPr>
          <a:xfrm>
            <a:off x="6327648" y="2212848"/>
            <a:ext cx="384048" cy="411480"/>
          </a:xfrm>
          <a:prstGeom prst="can">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54864" bIns="0" wrap="square"/>
          <a:lstStyle/>
          <a:p>
            <a:pPr algn="ctr"/>
            <a:r>
              <a:rPr sz="850" b="1" i="0">
                <a:solidFill>
                  <a:srgbClr val="FFFFFF"/>
                </a:solidFill>
              </a:rPr>
              <a:t>EBS</a:t>
            </a:r>
          </a:p>
        </p:txBody>
      </p:sp>
      <p:sp>
        <p:nvSpPr>
          <p:cNvPr id="38" name="Rounded Rectangle 37"/>
          <p:cNvSpPr/>
          <p:nvPr/>
        </p:nvSpPr>
        <p:spPr>
          <a:xfrm>
            <a:off x="6858000" y="2121408"/>
            <a:ext cx="1143000" cy="566928"/>
          </a:xfrm>
          <a:prstGeom prst="roundRect">
            <a:avLst>
              <a:gd name="adj" fmla="val 10000"/>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r>
              <a:rPr sz="1000" b="1" i="0">
                <a:solidFill>
                  <a:srgbClr val="8A1626"/>
                </a:solidFill>
              </a:rPr>
              <a:t>Official EOD</a:t>
            </a:r>
          </a:p>
          <a:p>
            <a:pPr algn="ctr"/>
            <a:r>
              <a:rPr sz="950" b="0" i="0">
                <a:solidFill>
                  <a:srgbClr val="4A5058"/>
                </a:solidFill>
              </a:rPr>
              <a:t>AZ b</a:t>
            </a:r>
          </a:p>
        </p:txBody>
      </p:sp>
      <p:sp>
        <p:nvSpPr>
          <p:cNvPr id="39" name="Can 38"/>
          <p:cNvSpPr/>
          <p:nvPr/>
        </p:nvSpPr>
        <p:spPr>
          <a:xfrm>
            <a:off x="8046720" y="2212848"/>
            <a:ext cx="384048" cy="411480"/>
          </a:xfrm>
          <a:prstGeom prst="can">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54864" bIns="0" wrap="square"/>
          <a:lstStyle/>
          <a:p>
            <a:pPr algn="ctr"/>
            <a:r>
              <a:rPr sz="850" b="1" i="0">
                <a:solidFill>
                  <a:srgbClr val="FFFFFF"/>
                </a:solidFill>
              </a:rPr>
              <a:t>EBS</a:t>
            </a:r>
          </a:p>
        </p:txBody>
      </p:sp>
      <p:sp>
        <p:nvSpPr>
          <p:cNvPr id="40" name="Rounded Rectangle 39"/>
          <p:cNvSpPr/>
          <p:nvPr/>
        </p:nvSpPr>
        <p:spPr>
          <a:xfrm>
            <a:off x="5138928" y="2779776"/>
            <a:ext cx="1143000" cy="566928"/>
          </a:xfrm>
          <a:prstGeom prst="roundRect">
            <a:avLst>
              <a:gd name="adj" fmla="val 10000"/>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r>
              <a:rPr sz="1000" b="1" i="0">
                <a:solidFill>
                  <a:srgbClr val="8A1626"/>
                </a:solidFill>
              </a:rPr>
              <a:t>UI/API replica</a:t>
            </a:r>
          </a:p>
          <a:p>
            <a:pPr algn="ctr"/>
            <a:r>
              <a:rPr sz="950" b="0" i="0">
                <a:solidFill>
                  <a:srgbClr val="4A5058"/>
                </a:solidFill>
              </a:rPr>
              <a:t>AZ a</a:t>
            </a:r>
          </a:p>
        </p:txBody>
      </p:sp>
      <p:sp>
        <p:nvSpPr>
          <p:cNvPr id="41" name="Can 40"/>
          <p:cNvSpPr/>
          <p:nvPr/>
        </p:nvSpPr>
        <p:spPr>
          <a:xfrm>
            <a:off x="6327648" y="2871216"/>
            <a:ext cx="384048" cy="411480"/>
          </a:xfrm>
          <a:prstGeom prst="can">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54864" bIns="0" wrap="square"/>
          <a:lstStyle/>
          <a:p>
            <a:pPr algn="ctr"/>
            <a:r>
              <a:rPr sz="850" b="1" i="0">
                <a:solidFill>
                  <a:srgbClr val="FFFFFF"/>
                </a:solidFill>
              </a:rPr>
              <a:t>EBS</a:t>
            </a:r>
          </a:p>
        </p:txBody>
      </p:sp>
      <p:sp>
        <p:nvSpPr>
          <p:cNvPr id="42" name="Rounded Rectangle 41"/>
          <p:cNvSpPr/>
          <p:nvPr/>
        </p:nvSpPr>
        <p:spPr>
          <a:xfrm>
            <a:off x="6858000" y="2779776"/>
            <a:ext cx="1143000" cy="566928"/>
          </a:xfrm>
          <a:prstGeom prst="roundRect">
            <a:avLst>
              <a:gd name="adj" fmla="val 10000"/>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r>
              <a:rPr sz="1000" b="1" i="0">
                <a:solidFill>
                  <a:srgbClr val="8A1626"/>
                </a:solidFill>
              </a:rPr>
              <a:t>UI/API replica</a:t>
            </a:r>
          </a:p>
          <a:p>
            <a:pPr algn="ctr"/>
            <a:r>
              <a:rPr sz="950" b="0" i="0">
                <a:solidFill>
                  <a:srgbClr val="4A5058"/>
                </a:solidFill>
              </a:rPr>
              <a:t>AZ b</a:t>
            </a:r>
          </a:p>
        </p:txBody>
      </p:sp>
      <p:sp>
        <p:nvSpPr>
          <p:cNvPr id="43" name="Can 42"/>
          <p:cNvSpPr/>
          <p:nvPr/>
        </p:nvSpPr>
        <p:spPr>
          <a:xfrm>
            <a:off x="8046720" y="2871216"/>
            <a:ext cx="384048" cy="411480"/>
          </a:xfrm>
          <a:prstGeom prst="can">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54864" bIns="0" wrap="square"/>
          <a:lstStyle/>
          <a:p>
            <a:pPr algn="ctr"/>
            <a:r>
              <a:rPr sz="850" b="1" i="0">
                <a:solidFill>
                  <a:srgbClr val="FFFFFF"/>
                </a:solidFill>
              </a:rPr>
              <a:t>EBS</a:t>
            </a:r>
          </a:p>
        </p:txBody>
      </p:sp>
      <p:sp>
        <p:nvSpPr>
          <p:cNvPr id="44" name="Rounded Rectangle 43"/>
          <p:cNvSpPr/>
          <p:nvPr/>
        </p:nvSpPr>
        <p:spPr>
          <a:xfrm>
            <a:off x="5120640" y="3493008"/>
            <a:ext cx="3337560" cy="594360"/>
          </a:xfrm>
          <a:prstGeom prst="roundRect">
            <a:avLst>
              <a:gd name="adj" fmla="val 10000"/>
            </a:avLst>
          </a:prstGeom>
          <a:solidFill>
            <a:srgbClr val="EEF0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5" name="TextBox 44"/>
          <p:cNvSpPr txBox="1"/>
          <p:nvPr/>
        </p:nvSpPr>
        <p:spPr>
          <a:xfrm>
            <a:off x="5193792" y="3493008"/>
            <a:ext cx="3246120" cy="594360"/>
          </a:xfrm>
          <a:prstGeom prst="rect">
            <a:avLst/>
          </a:prstGeom>
          <a:noFill/>
        </p:spPr>
        <p:txBody>
          <a:bodyPr wrap="square" lIns="0" rIns="0" tIns="0" bIns="0" anchor="ctr">
            <a:spAutoFit/>
          </a:bodyPr>
          <a:lstStyle/>
          <a:p>
            <a:pPr algn="l"/>
            <a:r>
              <a:rPr sz="950" b="1" i="0">
                <a:solidFill>
                  <a:srgbClr val="8A1626"/>
                </a:solidFill>
              </a:rPr>
              <a:t>C: 8 shards × 2 Fargate tasks, each with its own EBS; any task coordinates</a:t>
            </a:r>
          </a:p>
        </p:txBody>
      </p:sp>
      <p:sp>
        <p:nvSpPr>
          <p:cNvPr id="46" name="Rounded Rectangle 45"/>
          <p:cNvSpPr/>
          <p:nvPr/>
        </p:nvSpPr>
        <p:spPr>
          <a:xfrm>
            <a:off x="8714232" y="1664208"/>
            <a:ext cx="2587752" cy="2514600"/>
          </a:xfrm>
          <a:prstGeom prst="roundRect">
            <a:avLst>
              <a:gd name="adj" fmla="val 5000"/>
            </a:avLst>
          </a:prstGeom>
          <a:solidFill>
            <a:srgbClr val="FFFFFF"/>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7" name="TextBox 46"/>
          <p:cNvSpPr txBox="1"/>
          <p:nvPr/>
        </p:nvSpPr>
        <p:spPr>
          <a:xfrm>
            <a:off x="8759952" y="1682496"/>
            <a:ext cx="2496312" cy="365760"/>
          </a:xfrm>
          <a:prstGeom prst="rect">
            <a:avLst/>
          </a:prstGeom>
          <a:noFill/>
        </p:spPr>
        <p:txBody>
          <a:bodyPr wrap="square" lIns="0" rIns="0" tIns="0" bIns="0" anchor="t">
            <a:spAutoFit/>
          </a:bodyPr>
          <a:lstStyle/>
          <a:p>
            <a:pPr algn="ctr"/>
            <a:r>
              <a:rPr sz="1050" b="1" i="0">
                <a:solidFill>
                  <a:srgbClr val="8A1626"/>
                </a:solidFill>
              </a:rPr>
              <a:t>Amazon S3</a:t>
            </a:r>
          </a:p>
          <a:p>
            <a:pPr algn="ctr"/>
            <a:r>
              <a:rPr sz="950" b="0" i="0">
                <a:solidFill>
                  <a:srgbClr val="4A5058"/>
                </a:solidFill>
              </a:rPr>
              <a:t>gateway endpoint</a:t>
            </a:r>
          </a:p>
        </p:txBody>
      </p:sp>
      <p:sp>
        <p:nvSpPr>
          <p:cNvPr id="48" name="Rounded Rectangle 47"/>
          <p:cNvSpPr/>
          <p:nvPr/>
        </p:nvSpPr>
        <p:spPr>
          <a:xfrm>
            <a:off x="8787384" y="2103120"/>
            <a:ext cx="2441448" cy="457200"/>
          </a:xfrm>
          <a:prstGeom prst="roundRect">
            <a:avLst>
              <a:gd name="adj" fmla="val 10000"/>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r>
              <a:rPr sz="950" b="1" i="0">
                <a:solidFill>
                  <a:srgbClr val="8A1626"/>
                </a:solidFill>
              </a:rPr>
              <a:t>Lake</a:t>
            </a:r>
          </a:p>
          <a:p>
            <a:pPr algn="ctr"/>
            <a:r>
              <a:rPr sz="950" b="0" i="0">
                <a:solidFill>
                  <a:srgbClr val="4A5058"/>
                </a:solidFill>
              </a:rPr>
              <a:t>Delta or Iceberg; 7 years</a:t>
            </a:r>
          </a:p>
        </p:txBody>
      </p:sp>
      <p:sp>
        <p:nvSpPr>
          <p:cNvPr id="49" name="Rounded Rectangle 48"/>
          <p:cNvSpPr/>
          <p:nvPr/>
        </p:nvSpPr>
        <p:spPr>
          <a:xfrm>
            <a:off x="8787384" y="2615184"/>
            <a:ext cx="2441448" cy="457200"/>
          </a:xfrm>
          <a:prstGeom prst="roundRect">
            <a:avLst>
              <a:gd name="adj" fmla="val 10000"/>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r>
              <a:rPr sz="950" b="1" i="0">
                <a:solidFill>
                  <a:srgbClr val="8A1626"/>
                </a:solidFill>
              </a:rPr>
              <a:t>Official results</a:t>
            </a:r>
          </a:p>
          <a:p>
            <a:pPr algn="ctr"/>
            <a:r>
              <a:rPr sz="950" b="0" i="0">
                <a:solidFill>
                  <a:srgbClr val="4A5058"/>
                </a:solidFill>
              </a:rPr>
              <a:t>Delta or Iceberg; JSONL</a:t>
            </a:r>
          </a:p>
        </p:txBody>
      </p:sp>
      <p:sp>
        <p:nvSpPr>
          <p:cNvPr id="50" name="Rounded Rectangle 49"/>
          <p:cNvSpPr/>
          <p:nvPr/>
        </p:nvSpPr>
        <p:spPr>
          <a:xfrm>
            <a:off x="8787384" y="3127248"/>
            <a:ext cx="2441448" cy="457200"/>
          </a:xfrm>
          <a:prstGeom prst="roundRect">
            <a:avLst>
              <a:gd name="adj" fmla="val 10000"/>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r>
              <a:rPr sz="950" b="1" i="0">
                <a:solidFill>
                  <a:srgbClr val="8A1626"/>
                </a:solidFill>
              </a:rPr>
              <a:t>Content store</a:t>
            </a:r>
          </a:p>
          <a:p>
            <a:pPr algn="ctr"/>
            <a:r>
              <a:rPr sz="950" b="0" i="0">
                <a:solidFill>
                  <a:srgbClr val="4A5058"/>
                </a:solidFill>
              </a:rPr>
              <a:t>S3 backend</a:t>
            </a:r>
          </a:p>
        </p:txBody>
      </p:sp>
      <p:sp>
        <p:nvSpPr>
          <p:cNvPr id="51" name="Rounded Rectangle 50"/>
          <p:cNvSpPr/>
          <p:nvPr/>
        </p:nvSpPr>
        <p:spPr>
          <a:xfrm>
            <a:off x="8787384" y="3639312"/>
            <a:ext cx="2441448" cy="457200"/>
          </a:xfrm>
          <a:prstGeom prst="roundRect">
            <a:avLst>
              <a:gd name="adj" fmla="val 10000"/>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r>
              <a:rPr sz="950" b="1" i="0">
                <a:solidFill>
                  <a:srgbClr val="8A1626"/>
                </a:solidFill>
              </a:rPr>
              <a:t>Landing, backups, DR</a:t>
            </a:r>
          </a:p>
          <a:p>
            <a:pPr algn="ctr"/>
            <a:r>
              <a:rPr sz="950" b="0" i="0">
                <a:solidFill>
                  <a:srgbClr val="4A5058"/>
                </a:solidFill>
              </a:rPr>
              <a:t>JSONL; replicated</a:t>
            </a:r>
          </a:p>
        </p:txBody>
      </p:sp>
      <p:cxnSp>
        <p:nvCxnSpPr>
          <p:cNvPr id="52" name="Connector 51"/>
          <p:cNvCxnSpPr/>
          <p:nvPr/>
        </p:nvCxnSpPr>
        <p:spPr>
          <a:xfrm>
            <a:off x="1965960" y="1883664"/>
            <a:ext cx="320040" cy="54864"/>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3200400" y="1938528"/>
            <a:ext cx="182880" cy="0"/>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4846320" y="1938528"/>
            <a:ext cx="182880" cy="0"/>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V="1">
            <a:off x="1965960" y="2834640"/>
            <a:ext cx="1417320" cy="594360"/>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V="1">
            <a:off x="4846320" y="2560320"/>
            <a:ext cx="292608" cy="237744"/>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8549640" y="2926080"/>
            <a:ext cx="164592" cy="0"/>
          </a:xfrm>
          <a:prstGeom prst="line">
            <a:avLst/>
          </a:prstGeom>
          <a:ln w="15875">
            <a:solidFill>
              <a:srgbClr val="A51C30"/>
            </a:solidFill>
            <a:tailEnd type="triangle" w="med" len="med"/>
            <a:headEnd type="triangle" w="med" len="med"/>
          </a:ln>
        </p:spPr>
        <p:style>
          <a:lnRef idx="2">
            <a:schemeClr val="accent1"/>
          </a:lnRef>
          <a:fillRef idx="0">
            <a:schemeClr val="accent1"/>
          </a:fillRef>
          <a:effectRef idx="1">
            <a:schemeClr val="accent1"/>
          </a:effectRef>
          <a:fontRef idx="minor">
            <a:schemeClr val="tx1"/>
          </a:fontRef>
        </p:style>
      </p:cxnSp>
      <p:graphicFrame>
        <p:nvGraphicFramePr>
          <p:cNvPr id="58" name="Table 57"/>
          <p:cNvGraphicFramePr>
            <a:graphicFrameLocks noGrp="1"/>
          </p:cNvGraphicFramePr>
          <p:nvPr/>
        </p:nvGraphicFramePr>
        <p:xfrm>
          <a:off x="777240" y="4443984"/>
          <a:ext cx="10634472" cy="1097280"/>
        </p:xfrm>
        <a:graphic>
          <a:graphicData uri="http://schemas.openxmlformats.org/drawingml/2006/table">
            <a:tbl>
              <a:tblPr firstRow="0" bandRow="0">
                <a:tableStyleId>{5940675A-B579-460E-94D1-54222C63F5DA}</a:tableStyleId>
              </a:tblPr>
              <a:tblGrid>
                <a:gridCol w="2103120"/>
                <a:gridCol w="4434840"/>
                <a:gridCol w="2834640"/>
                <a:gridCol w="1261872"/>
              </a:tblGrid>
              <a:tr h="274320">
                <a:tc>
                  <a:txBody>
                    <a:bodyPr wrap="square"/>
                    <a:lstStyle/>
                    <a:p>
                      <a:r>
                        <a:rPr sz="1050" b="1" i="0">
                          <a:solidFill>
                            <a:srgbClr val="FFFFFF"/>
                          </a:solidFill>
                        </a:rPr>
                        <a:t>VaR tier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Shape (full case: 1-day, 10-day, stressed)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Fits, with 39% headroom²</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Status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274320">
                <a:tc>
                  <a:txBody>
                    <a:bodyPr wrap="square"/>
                    <a:lstStyle/>
                    <a:p>
                      <a:r>
                        <a:rPr sz="1050" b="1" i="0">
                          <a:solidFill>
                            <a:srgbClr val="8A1626"/>
                          </a:solidFill>
                        </a:rPr>
                        <a:t>A · ECS on EC2 capacity¹</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4 × m7i.16xlarge (64 vCPU, 256 GiB), 2 TB EBS gp3 each; the rest on Fargate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151 GB need → 256 GB machine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74320">
                <a:tc>
                  <a:txBody>
                    <a:bodyPr wrap="square"/>
                    <a:lstStyle/>
                    <a:p>
                      <a:r>
                        <a:rPr sz="1050" b="1" i="0">
                          <a:solidFill>
                            <a:srgbClr val="8A1626"/>
                          </a:solidFill>
                        </a:rPr>
                        <a:t>B · √10 10-day on Fargate³,⁵</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4 Fargate tasks of 32 vCPU · 244 GB (the largest), 1.1 TB gp3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94 GB → 155 GB: memory yes; CPU to measure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1" i="0">
                          <a:solidFill>
                            <a:srgbClr val="293352"/>
                          </a:solidFill>
                        </a:rPr>
                        <a:t>PLANNED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74320">
                <a:tc>
                  <a:txBody>
                    <a:bodyPr wrap="square"/>
                    <a:lstStyle/>
                    <a:p>
                      <a:r>
                        <a:rPr sz="1050" b="1" i="0">
                          <a:solidFill>
                            <a:srgbClr val="8A1626"/>
                          </a:solidFill>
                        </a:rPr>
                        <a:t>C · sharded on Fargate⁴</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8 shards × 2 tasks of 8 vCPU · 44 GB, 250 GB gp3 each, one S3 lake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26 GB a task → 43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bl>
          </a:graphicData>
        </a:graphic>
      </p:graphicFrame>
      <p:sp>
        <p:nvSpPr>
          <p:cNvPr id="59" name="TextBox 58"/>
          <p:cNvSpPr txBox="1"/>
          <p:nvPr/>
        </p:nvSpPr>
        <p:spPr>
          <a:xfrm>
            <a:off x="777240" y="5715000"/>
            <a:ext cx="9582912" cy="548640"/>
          </a:xfrm>
          <a:prstGeom prst="rect">
            <a:avLst/>
          </a:prstGeom>
          <a:noFill/>
        </p:spPr>
        <p:txBody>
          <a:bodyPr wrap="square" lIns="0" rIns="0" tIns="0" bIns="0" anchor="ctr">
            <a:spAutoFit/>
          </a:bodyPr>
          <a:lstStyle/>
          <a:p>
            <a:pPr algn="l"/>
            <a:r>
              <a:rPr sz="1150" b="1" i="0">
                <a:solidFill>
                  <a:srgbClr val="A51C30"/>
                </a:solidFill>
              </a:rPr>
              <a:t>Recommendation: </a:t>
            </a:r>
            <a:r>
              <a:rPr sz="1150" b="0" i="0">
                <a:solidFill>
                  <a:srgbClr val="1A1A1A"/>
                </a:solidFill>
              </a:rPr>
              <a:t>Fargate for the consoles and lake tasks; A for the VaR servers to start (buildable today on Delta or Iceberg); C, Fargate everywhere, with VaR sharding (built; to run on Fargate). Hot files on an EBS gp3 volume per task: disposable, rebuilt from the lake. EFS only for what must be shared.</a:t>
            </a:r>
          </a:p>
        </p:txBody>
      </p:sp>
      <p:sp>
        <p:nvSpPr>
          <p:cNvPr id="60" name="Rounded Rectangle 59"/>
          <p:cNvSpPr/>
          <p:nvPr/>
        </p:nvSpPr>
        <p:spPr>
          <a:xfrm>
            <a:off x="10543032" y="5870448"/>
            <a:ext cx="667512" cy="201168"/>
          </a:xfrm>
          <a:prstGeom prst="roundRect">
            <a:avLst>
              <a:gd name="adj" fmla="val 50000"/>
            </a:avLst>
          </a:prstGeom>
          <a:solidFill>
            <a:srgbClr val="FFFFFF"/>
          </a:solidFill>
          <a:ln w="12700">
            <a:solidFill>
              <a:srgbClr val="4A505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800" b="1" i="0">
                <a:solidFill>
                  <a:srgbClr val="4A5058"/>
                </a:solidFill>
              </a:rPr>
              <a:t>PROPOSED</a:t>
            </a:r>
          </a:p>
        </p:txBody>
      </p:sp>
      <p:sp>
        <p:nvSpPr>
          <p:cNvPr id="61" name="Footnotes"/>
          <p:cNvSpPr txBox="1"/>
          <p:nvPr/>
        </p:nvSpPr>
        <p:spPr>
          <a:xfrm>
            <a:off x="2468880" y="6419088"/>
            <a:ext cx="8503920" cy="237744"/>
          </a:xfrm>
          <a:prstGeom prst="rect">
            <a:avLst/>
          </a:prstGeom>
          <a:noFill/>
        </p:spPr>
        <p:txBody>
          <a:bodyPr wrap="square" lIns="0" rIns="0" tIns="0" bIns="0" anchor="ctr">
            <a:spAutoFit/>
          </a:bodyPr>
          <a:lstStyle/>
          <a:p>
            <a:pPr algn="l"/>
            <a:r>
              <a:rPr sz="900" b="0" i="0">
                <a:solidFill>
                  <a:srgbClr val="4A5058"/>
                </a:solidFill>
              </a:rPr>
              <a:t>¹–⁵ How these figures were derived: A-4, in the appendix (AWS: the VaR tier)</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AWS · EXAMPLE REGION CA-CENTRAL-1 · ON-DEMAND, USD</a:t>
            </a:r>
          </a:p>
        </p:txBody>
      </p:sp>
      <p:sp>
        <p:nvSpPr>
          <p:cNvPr id="3" name="Title 2"/>
          <p:cNvSpPr>
            <a:spLocks noGrp="1"/>
          </p:cNvSpPr>
          <p:nvPr>
            <p:ph type="title" idx="104"/>
          </p:nvPr>
        </p:nvSpPr>
        <p:spPr/>
        <p:txBody>
          <a:bodyPr/>
          <a:lstStyle/>
          <a:p>
            <a:r>
              <a:t>AWS cost estimate for a large bank</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ounded Rectangle 25"/>
          <p:cNvSpPr/>
          <p:nvPr/>
        </p:nvSpPr>
        <p:spPr>
          <a:xfrm>
            <a:off x="10451592" y="941832"/>
            <a:ext cx="804672" cy="201168"/>
          </a:xfrm>
          <a:prstGeom prst="roundRect">
            <a:avLst>
              <a:gd name="adj" fmla="val 50000"/>
            </a:avLst>
          </a:prstGeom>
          <a:solidFill>
            <a:srgbClr val="F3EBD9"/>
          </a:solidFill>
          <a:ln w="12700">
            <a:solidFill>
              <a:srgbClr val="C9A55A"/>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7A5A12"/>
                </a:solidFill>
              </a:rPr>
              <a:t>ASSUMPTION</a:t>
            </a:r>
          </a:p>
        </p:txBody>
      </p:sp>
      <p:graphicFrame>
        <p:nvGraphicFramePr>
          <p:cNvPr id="27" name="Table 26"/>
          <p:cNvGraphicFramePr>
            <a:graphicFrameLocks noGrp="1"/>
          </p:cNvGraphicFramePr>
          <p:nvPr/>
        </p:nvGraphicFramePr>
        <p:xfrm>
          <a:off x="777240" y="1417320"/>
          <a:ext cx="6400800" cy="4462272"/>
        </p:xfrm>
        <a:graphic>
          <a:graphicData uri="http://schemas.openxmlformats.org/drawingml/2006/table">
            <a:tbl>
              <a:tblPr firstRow="0" bandRow="0">
                <a:tableStyleId>{5940675A-B579-460E-94D1-54222C63F5DA}</a:tableStyleId>
              </a:tblPr>
              <a:tblGrid>
                <a:gridCol w="2834640"/>
                <a:gridCol w="1097280"/>
                <a:gridCol w="1097280"/>
                <a:gridCol w="1371600"/>
              </a:tblGrid>
              <a:tr h="278892">
                <a:tc>
                  <a:txBody>
                    <a:bodyPr wrap="square"/>
                    <a:lstStyle/>
                    <a:p>
                      <a:r>
                        <a:rPr sz="1050" b="1" i="0">
                          <a:solidFill>
                            <a:srgbClr val="FFFFFF"/>
                          </a:solidFill>
                        </a:rPr>
                        <a:t>Monthly, year 7, 39% headroom¹</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1-day only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Full</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Full, a year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278892">
                <a:tc>
                  <a:txBody>
                    <a:bodyPr wrap="square"/>
                    <a:lstStyle/>
                    <a:p>
                      <a:r>
                        <a:rPr sz="1050" b="0" i="0">
                          <a:solidFill>
                            <a:srgbClr val="1A1A1A"/>
                          </a:solidFill>
                        </a:rPr>
                        <a:t>VaR servers (4, EC2 capacity)²</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$9,124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$10,498</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$125,976</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78892">
                <a:tc>
                  <a:txBody>
                    <a:bodyPr wrap="square"/>
                    <a:lstStyle/>
                    <a:p>
                      <a:r>
                        <a:rPr sz="1050" b="0" i="0">
                          <a:solidFill>
                            <a:srgbClr val="1A1A1A"/>
                          </a:solidFill>
                        </a:rPr>
                        <a:t>EBS gp3 for hot files (4)²</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$898</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$1,320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$15,840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78892">
                <a:tc>
                  <a:txBody>
                    <a:bodyPr wrap="square"/>
                    <a:lstStyle/>
                    <a:p>
                      <a:r>
                        <a:rPr sz="1050" b="0" i="0">
                          <a:solidFill>
                            <a:srgbClr val="1A1A1A"/>
                          </a:solidFill>
                        </a:rPr>
                        <a:t>Consoles (2, Fargate)³</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$317</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$317</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$3,805</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78892">
                <a:tc>
                  <a:txBody>
                    <a:bodyPr wrap="square"/>
                    <a:lstStyle/>
                    <a:p>
                      <a:r>
                        <a:rPr sz="1050" b="0" i="0">
                          <a:solidFill>
                            <a:srgbClr val="1A1A1A"/>
                          </a:solidFill>
                        </a:rPr>
                        <a:t>Lake loads, maintenance (Fargate)³</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$31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$31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$369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78892">
                <a:tc>
                  <a:txBody>
                    <a:bodyPr wrap="square"/>
                    <a:lstStyle/>
                    <a:p>
                      <a:r>
                        <a:rPr sz="1050" b="0" i="0">
                          <a:solidFill>
                            <a:srgbClr val="1A1A1A"/>
                          </a:solidFill>
                        </a:rPr>
                        <a:t>S3: lake, results, content store⁴</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$258</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$752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$9,021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78892">
                <a:tc>
                  <a:txBody>
                    <a:bodyPr wrap="square"/>
                    <a:lstStyle/>
                    <a:p>
                      <a:r>
                        <a:rPr sz="1050" b="0" i="0">
                          <a:solidFill>
                            <a:srgbClr val="1A1A1A"/>
                          </a:solidFill>
                        </a:rPr>
                        <a:t>DR copy (S3 replication)⁴</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$252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$753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$9,038</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78892">
                <a:tc>
                  <a:txBody>
                    <a:bodyPr wrap="square"/>
                    <a:lstStyle/>
                    <a:p>
                      <a:r>
                        <a:rPr sz="1050" b="0" i="0">
                          <a:solidFill>
                            <a:srgbClr val="1A1A1A"/>
                          </a:solidFill>
                        </a:rPr>
                        <a:t>EFS and its backup⁵</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$190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$190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$2,280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78892">
                <a:tc>
                  <a:txBody>
                    <a:bodyPr wrap="square"/>
                    <a:lstStyle/>
                    <a:p>
                      <a:r>
                        <a:rPr sz="1050" b="0" i="0">
                          <a:solidFill>
                            <a:srgbClr val="1A1A1A"/>
                          </a:solidFill>
                        </a:rPr>
                        <a:t>Amazon MSK (3 brokers)⁵</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$531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$531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$6,375</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78892">
                <a:tc>
                  <a:txBody>
                    <a:bodyPr wrap="square"/>
                    <a:lstStyle/>
                    <a:p>
                      <a:r>
                        <a:rPr sz="1050" b="0" i="0">
                          <a:solidFill>
                            <a:srgbClr val="1A1A1A"/>
                          </a:solidFill>
                        </a:rPr>
                        <a:t>Load balancer (ALB)⁵</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$31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$31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$371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78892">
                <a:tc>
                  <a:txBody>
                    <a:bodyPr wrap="square"/>
                    <a:lstStyle/>
                    <a:p>
                      <a:r>
                        <a:rPr sz="1050" b="0" i="0">
                          <a:solidFill>
                            <a:srgbClr val="1A1A1A"/>
                          </a:solidFill>
                        </a:rPr>
                        <a:t>NAT and interface endpoints⁵</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$173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$173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$2,074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78892">
                <a:tc>
                  <a:txBody>
                    <a:bodyPr wrap="square"/>
                    <a:lstStyle/>
                    <a:p>
                      <a:r>
                        <a:rPr sz="1050" b="0" i="0">
                          <a:solidFill>
                            <a:srgbClr val="1A1A1A"/>
                          </a:solidFill>
                        </a:rPr>
                        <a:t>Data transfer⁵</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$92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$92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$1,104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78892">
                <a:tc>
                  <a:txBody>
                    <a:bodyPr wrap="square"/>
                    <a:lstStyle/>
                    <a:p>
                      <a:r>
                        <a:rPr sz="1050" b="0" i="0">
                          <a:solidFill>
                            <a:srgbClr val="1A1A1A"/>
                          </a:solidFill>
                        </a:rPr>
                        <a:t>CloudWatch logs and metrics⁵</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$217</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$217</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$2,609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78892">
                <a:tc>
                  <a:txBody>
                    <a:bodyPr wrap="square"/>
                    <a:lstStyle/>
                    <a:p>
                      <a:r>
                        <a:rPr sz="1050" b="1" i="0">
                          <a:solidFill>
                            <a:srgbClr val="8A1626"/>
                          </a:solidFill>
                        </a:rPr>
                        <a:t>Total, on-demand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$12,119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1" i="0">
                          <a:solidFill>
                            <a:srgbClr val="A51C30"/>
                          </a:solidFill>
                        </a:rPr>
                        <a:t>$14,910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1" i="0">
                          <a:solidFill>
                            <a:srgbClr val="A51C30"/>
                          </a:solidFill>
                        </a:rPr>
                        <a:t>$178,914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78892">
                <a:tc>
                  <a:txBody>
                    <a:bodyPr wrap="square"/>
                    <a:lstStyle/>
                    <a:p>
                      <a:r>
                        <a:rPr sz="1050" b="0" i="0">
                          <a:solidFill>
                            <a:srgbClr val="1A1A1A"/>
                          </a:solidFill>
                        </a:rPr>
                        <a:t>  with a 1-year Savings Plan⁶</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$9,596</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$12,017</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$144,201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78892">
                <a:tc>
                  <a:txBody>
                    <a:bodyPr wrap="square"/>
                    <a:lstStyle/>
                    <a:p>
                      <a:r>
                        <a:rPr sz="1050" b="0" i="0">
                          <a:solidFill>
                            <a:srgbClr val="1A1A1A"/>
                          </a:solidFill>
                        </a:rPr>
                        <a:t>  with a 3-year Savings Plan⁶</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$7,443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$9,553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$114,637</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bl>
          </a:graphicData>
        </a:graphic>
      </p:graphicFrame>
      <p:sp>
        <p:nvSpPr>
          <p:cNvPr id="28" name="TextBox 27"/>
          <p:cNvSpPr txBox="1"/>
          <p:nvPr/>
        </p:nvSpPr>
        <p:spPr>
          <a:xfrm>
            <a:off x="7406640" y="1371600"/>
            <a:ext cx="4005072" cy="274320"/>
          </a:xfrm>
          <a:prstGeom prst="rect">
            <a:avLst/>
          </a:prstGeom>
          <a:noFill/>
        </p:spPr>
        <p:txBody>
          <a:bodyPr wrap="square" lIns="0" rIns="0" tIns="0" bIns="0" anchor="ctr">
            <a:spAutoFit/>
          </a:bodyPr>
          <a:lstStyle/>
          <a:p>
            <a:pPr algn="l"/>
            <a:r>
              <a:rPr sz="1250" b="1" i="0">
                <a:solidFill>
                  <a:srgbClr val="A51C30"/>
                </a:solidFill>
              </a:rPr>
              <a:t>The VaR tier: A, B or C⁷  </a:t>
            </a:r>
            <a:r>
              <a:rPr sz="1050" b="0" i="0">
                <a:solidFill>
                  <a:srgbClr val="4A5058"/>
                </a:solidFill>
              </a:rPr>
              <a:t>servers and EBS, $ a month</a:t>
            </a:r>
          </a:p>
        </p:txBody>
      </p:sp>
      <p:graphicFrame>
        <p:nvGraphicFramePr>
          <p:cNvPr id="29" name="Table 28"/>
          <p:cNvGraphicFramePr>
            <a:graphicFrameLocks noGrp="1"/>
          </p:cNvGraphicFramePr>
          <p:nvPr/>
        </p:nvGraphicFramePr>
        <p:xfrm>
          <a:off x="7406640" y="1691640"/>
          <a:ext cx="4005072" cy="1463040"/>
        </p:xfrm>
        <a:graphic>
          <a:graphicData uri="http://schemas.openxmlformats.org/drawingml/2006/table">
            <a:tbl>
              <a:tblPr firstRow="0" bandRow="0">
                <a:tableStyleId>{5940675A-B579-460E-94D1-54222C63F5DA}</a:tableStyleId>
              </a:tblPr>
              <a:tblGrid>
                <a:gridCol w="1691640"/>
                <a:gridCol w="868680"/>
                <a:gridCol w="777240"/>
                <a:gridCol w="667512"/>
              </a:tblGrid>
              <a:tr h="292608">
                <a:tc>
                  <a:txBody>
                    <a:bodyPr wrap="square"/>
                    <a:lstStyle/>
                    <a:p>
                      <a:r>
                        <a:rPr sz="1050" b="1" i="0">
                          <a:solidFill>
                            <a:srgbClr val="FFFFFF"/>
                          </a:solidFill>
                        </a:rPr>
                        <a:t>Option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On-demand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3-yr plan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 Spot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292608">
                <a:tc>
                  <a:txBody>
                    <a:bodyPr wrap="square"/>
                    <a:lstStyle/>
                    <a:p>
                      <a:r>
                        <a:rPr sz="1050" b="0" i="0">
                          <a:solidFill>
                            <a:srgbClr val="1A1A1A"/>
                          </a:solidFill>
                        </a:rPr>
                        <a:t>A: EC2 capacity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$11,818</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$6,618</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92608">
                <a:tc>
                  <a:txBody>
                    <a:bodyPr wrap="square"/>
                    <a:lstStyle/>
                    <a:p>
                      <a:r>
                        <a:rPr sz="1050" b="0" i="0">
                          <a:solidFill>
                            <a:srgbClr val="1A1A1A"/>
                          </a:solidFill>
                        </a:rPr>
                        <a:t>B: √10 on Fargate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$8,633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$5,200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92608">
                <a:tc>
                  <a:txBody>
                    <a:bodyPr wrap="square"/>
                    <a:lstStyle/>
                    <a:p>
                      <a:r>
                        <a:rPr sz="1050" b="0" i="0">
                          <a:solidFill>
                            <a:srgbClr val="1A1A1A"/>
                          </a:solidFill>
                        </a:rPr>
                        <a:t>C: sharded, 24 × 7</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$7,373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92608">
                <a:tc>
                  <a:txBody>
                    <a:bodyPr wrap="square"/>
                    <a:lstStyle/>
                    <a:p>
                      <a:r>
                        <a:rPr sz="1050" b="1" i="0">
                          <a:solidFill>
                            <a:srgbClr val="8A1626"/>
                          </a:solidFill>
                        </a:rPr>
                        <a:t>C: scale-in off-hours⁸</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$5,050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$2,966</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1" i="0">
                          <a:solidFill>
                            <a:srgbClr val="A51C30"/>
                          </a:solidFill>
                        </a:rPr>
                        <a:t>$2,785</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
        <p:nvSpPr>
          <p:cNvPr id="30" name="Rectangle 29"/>
          <p:cNvSpPr/>
          <p:nvPr/>
        </p:nvSpPr>
        <p:spPr>
          <a:xfrm>
            <a:off x="7406640" y="3291840"/>
            <a:ext cx="4005072" cy="16002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Rectangle 30"/>
          <p:cNvSpPr/>
          <p:nvPr/>
        </p:nvSpPr>
        <p:spPr>
          <a:xfrm>
            <a:off x="7406640" y="3291840"/>
            <a:ext cx="45720" cy="16002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TextBox 31"/>
          <p:cNvSpPr txBox="1"/>
          <p:nvPr/>
        </p:nvSpPr>
        <p:spPr>
          <a:xfrm>
            <a:off x="7571231" y="3364992"/>
            <a:ext cx="3749040" cy="1490472"/>
          </a:xfrm>
          <a:prstGeom prst="rect">
            <a:avLst/>
          </a:prstGeom>
          <a:noFill/>
        </p:spPr>
        <p:txBody>
          <a:bodyPr wrap="square" lIns="0" rIns="0" tIns="0" bIns="0" anchor="t">
            <a:spAutoFit/>
          </a:bodyPr>
          <a:lstStyle/>
          <a:p>
            <a:pPr algn="l">
              <a:spcAft>
                <a:spcPts val="400"/>
              </a:spcAft>
            </a:pPr>
            <a:r>
              <a:rPr sz="1300" b="1" i="0">
                <a:solidFill>
                  <a:srgbClr val="8A1626"/>
                </a:solidFill>
              </a:rPr>
              <a:t>Honest on both sides⁸</a:t>
            </a:r>
          </a:p>
          <a:p>
            <a:pPr algn="l" marL="146304" indent="-146304">
              <a:spcAft>
                <a:spcPts val="200"/>
              </a:spcAft>
              <a:buClr>
                <a:srgbClr val="A51C30"/>
              </a:buClr>
              <a:buSzPct val="100000"/>
              <a:buFont typeface="Arial"/>
              <a:buChar char="▪"/>
            </a:pPr>
            <a:r>
              <a:rPr sz="1050" b="0" i="0">
                <a:solidFill>
                  <a:srgbClr val="1A1A1A"/>
                </a:solidFill>
              </a:rPr>
              <a:t>One full copy costs more on Fargate: 8 tasks $3,640 against one EC2 server $2,954 a month</a:t>
            </a:r>
          </a:p>
          <a:p>
            <a:pPr algn="l" marL="146304" indent="-146304">
              <a:spcAft>
                <a:spcPts val="200"/>
              </a:spcAft>
              <a:buClr>
                <a:srgbClr val="A51C30"/>
              </a:buClr>
              <a:buSzPct val="100000"/>
              <a:buFont typeface="Arial"/>
              <a:buChar char="▪"/>
            </a:pPr>
            <a:r>
              <a:rPr sz="1050" b="0" i="0">
                <a:solidFill>
                  <a:srgbClr val="1A1A1A"/>
                </a:solidFill>
              </a:rPr>
              <a:t>C wins by needing 2 copies, not 4, scaling replicas in off-hours, Spot for second replicas, growing by adding tasks</a:t>
            </a:r>
          </a:p>
          <a:p>
            <a:pPr algn="l" marL="146304" indent="-146304">
              <a:spcAft>
                <a:spcPts val="200"/>
              </a:spcAft>
              <a:buClr>
                <a:srgbClr val="A51C30"/>
              </a:buClr>
              <a:buSzPct val="100000"/>
              <a:buFont typeface="Arial"/>
              <a:buChar char="▪"/>
            </a:pPr>
            <a:r>
              <a:rPr sz="1050" b="0" i="0">
                <a:solidFill>
                  <a:srgbClr val="1A1A1A"/>
                </a:solidFill>
              </a:rPr>
              <a:t>C beats A once A needs more than 2.5 full copies; A needs 4</a:t>
            </a:r>
          </a:p>
        </p:txBody>
      </p:sp>
      <p:sp>
        <p:nvSpPr>
          <p:cNvPr id="33" name="Rectangle 32"/>
          <p:cNvSpPr/>
          <p:nvPr/>
        </p:nvSpPr>
        <p:spPr>
          <a:xfrm>
            <a:off x="7406640" y="4983480"/>
            <a:ext cx="4005072" cy="1261872"/>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Rectangle 33"/>
          <p:cNvSpPr/>
          <p:nvPr/>
        </p:nvSpPr>
        <p:spPr>
          <a:xfrm>
            <a:off x="7406640" y="4983480"/>
            <a:ext cx="45720" cy="126187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TextBox 34"/>
          <p:cNvSpPr txBox="1"/>
          <p:nvPr/>
        </p:nvSpPr>
        <p:spPr>
          <a:xfrm>
            <a:off x="7571231" y="5056632"/>
            <a:ext cx="3749040" cy="1152143"/>
          </a:xfrm>
          <a:prstGeom prst="rect">
            <a:avLst/>
          </a:prstGeom>
          <a:noFill/>
        </p:spPr>
        <p:txBody>
          <a:bodyPr wrap="square" lIns="0" rIns="0" tIns="0" bIns="0" anchor="t">
            <a:spAutoFit/>
          </a:bodyPr>
          <a:lstStyle/>
          <a:p>
            <a:pPr algn="l">
              <a:spcAft>
                <a:spcPts val="400"/>
              </a:spcAft>
            </a:pPr>
            <a:r>
              <a:rPr sz="1300" b="1" i="0">
                <a:solidFill>
                  <a:srgbClr val="8A1626"/>
                </a:solidFill>
              </a:rPr>
              <a:t>Recommendation</a:t>
            </a:r>
          </a:p>
          <a:p>
            <a:pPr algn="l"/>
            <a:r>
              <a:rPr sz="1100" b="1" i="0">
                <a:solidFill>
                  <a:srgbClr val="8A1626"/>
                </a:solidFill>
              </a:rPr>
              <a:t>A to start; C once sharding runs on Fargate: </a:t>
            </a:r>
            <a:r>
              <a:rPr sz="1100" b="0" i="0">
                <a:solidFill>
                  <a:srgbClr val="1A1A1A"/>
                </a:solidFill>
              </a:rPr>
              <a:t>the cheapest ($2,785 against $6,618 a month with 3-year plans) and fully ECS-native.</a:t>
            </a:r>
          </a:p>
        </p:txBody>
      </p:sp>
      <p:sp>
        <p:nvSpPr>
          <p:cNvPr id="36" name="TextBox 35"/>
          <p:cNvSpPr txBox="1"/>
          <p:nvPr/>
        </p:nvSpPr>
        <p:spPr>
          <a:xfrm>
            <a:off x="777240" y="5897880"/>
            <a:ext cx="6400800" cy="365760"/>
          </a:xfrm>
          <a:prstGeom prst="rect">
            <a:avLst/>
          </a:prstGeom>
          <a:noFill/>
        </p:spPr>
        <p:txBody>
          <a:bodyPr wrap="square" lIns="0" rIns="0" tIns="0" bIns="0" anchor="ctr">
            <a:spAutoFit/>
          </a:bodyPr>
          <a:lstStyle/>
          <a:p>
            <a:pPr algn="l"/>
            <a:r>
              <a:rPr sz="1000" b="0" i="1">
                <a:solidFill>
                  <a:srgbClr val="4A5058"/>
                </a:solidFill>
              </a:rPr>
              <a:t>Prices: AWS public on-demand list prices for the example Region, read 2026-10-27 (ASSUMPTION); quantities from the capacity slides (ESTIMATED). Verify before quoting.</a:t>
            </a:r>
          </a:p>
        </p:txBody>
      </p:sp>
      <p:sp>
        <p:nvSpPr>
          <p:cNvPr id="37" name="Footnotes"/>
          <p:cNvSpPr txBox="1"/>
          <p:nvPr/>
        </p:nvSpPr>
        <p:spPr>
          <a:xfrm>
            <a:off x="2468880" y="6419088"/>
            <a:ext cx="8503920" cy="237744"/>
          </a:xfrm>
          <a:prstGeom prst="rect">
            <a:avLst/>
          </a:prstGeom>
          <a:noFill/>
        </p:spPr>
        <p:txBody>
          <a:bodyPr wrap="square" lIns="0" rIns="0" tIns="0" bIns="0" anchor="ctr">
            <a:spAutoFit/>
          </a:bodyPr>
          <a:lstStyle/>
          <a:p>
            <a:pPr algn="l"/>
            <a:r>
              <a:rPr sz="900" b="0" i="0">
                <a:solidFill>
                  <a:srgbClr val="4A5058"/>
                </a:solidFill>
              </a:rPr>
              <a:t>¹–⁸ How these figures were derived: A-5, in the appendix (AWS cost)</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OPERATIONS · FAILURE HANDLING</a:t>
            </a:r>
          </a:p>
        </p:txBody>
      </p:sp>
      <p:sp>
        <p:nvSpPr>
          <p:cNvPr id="3" name="Title 2"/>
          <p:cNvSpPr>
            <a:spLocks noGrp="1"/>
          </p:cNvSpPr>
          <p:nvPr>
            <p:ph type="title" idx="104"/>
          </p:nvPr>
        </p:nvSpPr>
        <p:spPr/>
        <p:txBody>
          <a:bodyPr/>
          <a:lstStyle/>
          <a:p>
            <a:r>
              <a:t>When something goes wrong, and the runbook</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graphicFrame>
        <p:nvGraphicFramePr>
          <p:cNvPr id="26" name="Table 25"/>
          <p:cNvGraphicFramePr>
            <a:graphicFrameLocks noGrp="1"/>
          </p:cNvGraphicFramePr>
          <p:nvPr/>
        </p:nvGraphicFramePr>
        <p:xfrm>
          <a:off x="777240" y="1417320"/>
          <a:ext cx="10634472" cy="3474720"/>
        </p:xfrm>
        <a:graphic>
          <a:graphicData uri="http://schemas.openxmlformats.org/drawingml/2006/table">
            <a:tbl>
              <a:tblPr firstRow="0" bandRow="0">
                <a:tableStyleId>{5940675A-B579-460E-94D1-54222C63F5DA}</a:tableStyleId>
              </a:tblPr>
              <a:tblGrid>
                <a:gridCol w="3657600"/>
                <a:gridCol w="3566160"/>
                <a:gridCol w="3410712"/>
              </a:tblGrid>
              <a:tr h="347472">
                <a:tc>
                  <a:txBody>
                    <a:bodyPr wrap="square"/>
                    <a:lstStyle/>
                    <a:p>
                      <a:r>
                        <a:rPr sz="1100" b="1" i="0">
                          <a:solidFill>
                            <a:srgbClr val="FFFFFF"/>
                          </a:solidFill>
                        </a:rPr>
                        <a:t>Situation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What the engine does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What the operator does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347472">
                <a:tc>
                  <a:txBody>
                    <a:bodyPr wrap="square"/>
                    <a:lstStyle/>
                    <a:p>
                      <a:r>
                        <a:rPr sz="1100" b="1" i="0">
                          <a:solidFill>
                            <a:srgbClr val="8A1626"/>
                          </a:solidFill>
                        </a:rPr>
                        <a:t>Bad rows (DRS-5201, 5206, 5207, 5208, 5209)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refuses each row, names it; never zero-fills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fix the rows, restate the date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47472">
                <a:tc>
                  <a:txBody>
                    <a:bodyPr wrap="square"/>
                    <a:lstStyle/>
                    <a:p>
                      <a:r>
                        <a:rPr sz="1100" b="1" i="0">
                          <a:solidFill>
                            <a:srgbClr val="8A1626"/>
                          </a:solidFill>
                        </a:rPr>
                        <a:t>A trade twice on a date (DRS-5202)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does not load the date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restate with one row per trade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47472">
                <a:tc>
                  <a:txBody>
                    <a:bodyPr wrap="square"/>
                    <a:lstStyle/>
                    <a:p>
                      <a:r>
                        <a:rPr sz="1100" b="1" i="0">
                          <a:solidFill>
                            <a:srgbClr val="8A1626"/>
                          </a:solidFill>
                        </a:rPr>
                        <a:t>Two runs or sets on a date (DRS-5203)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answers the date before, with a warning</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restate as one run; signal</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47472">
                <a:tc>
                  <a:txBody>
                    <a:bodyPr wrap="square"/>
                    <a:lstStyle/>
                    <a:p>
                      <a:r>
                        <a:rPr sz="1100" b="1" i="0">
                          <a:solidFill>
                            <a:srgbClr val="8A1626"/>
                          </a:solidFill>
                        </a:rPr>
                        <a:t>Second form or grain from a system (DRS-5210)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refuses: never a double count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fix the system's output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47472">
                <a:tc>
                  <a:txBody>
                    <a:bodyPr wrap="square"/>
                    <a:lstStyle/>
                    <a:p>
                      <a:r>
                        <a:rPr sz="1100" b="1" i="0">
                          <a:solidFill>
                            <a:srgbClr val="8A1626"/>
                          </a:solidFill>
                        </a:rPr>
                        <a:t>A date over the memory budget (DRS-5204)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503; never loads part of a date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raise memory-budget-mb or heap</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47472">
                <a:tc>
                  <a:txBody>
                    <a:bodyPr wrap="square"/>
                    <a:lstStyle/>
                    <a:p>
                      <a:r>
                        <a:rPr sz="1100" b="1" i="0">
                          <a:solidFill>
                            <a:srgbClr val="8A1626"/>
                          </a:solidFill>
                        </a:rPr>
                        <a:t>Restatement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reloads; next result version; old kept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rewrite the whole date, new BATCH_ID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47472">
                <a:tc>
                  <a:txBody>
                    <a:bodyPr wrap="square"/>
                    <a:lstStyle/>
                    <a:p>
                      <a:r>
                        <a:rPr sz="1100" b="1" i="0">
                          <a:solidFill>
                            <a:srgbClr val="8A1626"/>
                          </a:solidFill>
                        </a:rPr>
                        <a:t>Publish fails (disk, root)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records publishError; capture stands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fix the root; capture again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47472">
                <a:tc>
                  <a:txBody>
                    <a:bodyPr wrap="square"/>
                    <a:lstStyle/>
                    <a:p>
                      <a:r>
                        <a:rPr sz="1100" b="1" i="0">
                          <a:solidFill>
                            <a:srgbClr val="8A1626"/>
                          </a:solidFill>
                        </a:rPr>
                        <a:t>Damaged or old hot file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reads the lake, rebuilds the file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nothing</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47472">
                <a:tc>
                  <a:txBody>
                    <a:bodyPr wrap="square"/>
                    <a:lstStyle/>
                    <a:p>
                      <a:r>
                        <a:rPr sz="1100" b="1" i="0">
                          <a:solidFill>
                            <a:srgbClr val="8A1626"/>
                          </a:solidFill>
                        </a:rPr>
                        <a:t>Restart, or a Kafka replay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rebuilds from the lake; writes nothing twice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nothing</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bl>
          </a:graphicData>
        </a:graphic>
      </p:graphicFrame>
      <p:sp>
        <p:nvSpPr>
          <p:cNvPr id="27" name="TextBox 26"/>
          <p:cNvSpPr txBox="1"/>
          <p:nvPr/>
        </p:nvSpPr>
        <p:spPr>
          <a:xfrm>
            <a:off x="777240" y="5230368"/>
            <a:ext cx="1280160" cy="365760"/>
          </a:xfrm>
          <a:prstGeom prst="rect">
            <a:avLst/>
          </a:prstGeom>
          <a:noFill/>
        </p:spPr>
        <p:txBody>
          <a:bodyPr wrap="square" lIns="0" rIns="0" tIns="0" bIns="0" anchor="ctr">
            <a:spAutoFit/>
          </a:bodyPr>
          <a:lstStyle/>
          <a:p>
            <a:pPr algn="l"/>
            <a:r>
              <a:rPr sz="1300" b="1" i="0">
                <a:solidFill>
                  <a:srgbClr val="A51C30"/>
                </a:solidFill>
              </a:rPr>
              <a:t>Runbook</a:t>
            </a:r>
          </a:p>
        </p:txBody>
      </p:sp>
      <p:sp>
        <p:nvSpPr>
          <p:cNvPr id="28" name="Rectangle 27"/>
          <p:cNvSpPr/>
          <p:nvPr/>
        </p:nvSpPr>
        <p:spPr>
          <a:xfrm>
            <a:off x="2057400" y="5193792"/>
            <a:ext cx="1687982" cy="45720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100" b="1" i="0">
                <a:solidFill>
                  <a:srgbClr val="8A1626"/>
                </a:solidFill>
              </a:rPr>
              <a:t>1  Check status and provenance</a:t>
            </a:r>
          </a:p>
        </p:txBody>
      </p:sp>
      <p:cxnSp>
        <p:nvCxnSpPr>
          <p:cNvPr id="29" name="Connector 28"/>
          <p:cNvCxnSpPr/>
          <p:nvPr/>
        </p:nvCxnSpPr>
        <p:spPr>
          <a:xfrm>
            <a:off x="3763670" y="5422392"/>
            <a:ext cx="192024" cy="0"/>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Rectangle 29"/>
          <p:cNvSpPr/>
          <p:nvPr/>
        </p:nvSpPr>
        <p:spPr>
          <a:xfrm>
            <a:off x="3973982" y="5193792"/>
            <a:ext cx="1687982" cy="457200"/>
          </a:xfrm>
          <a:prstGeom prst="rect">
            <a:avLst/>
          </a:prstGeom>
          <a:solidFill>
            <a:srgbClr val="F6E6E9"/>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100" b="1" i="0">
                <a:solidFill>
                  <a:srgbClr val="8A1626"/>
                </a:solidFill>
              </a:rPr>
              <a:t>2  Name the code</a:t>
            </a:r>
          </a:p>
        </p:txBody>
      </p:sp>
      <p:cxnSp>
        <p:nvCxnSpPr>
          <p:cNvPr id="31" name="Connector 30"/>
          <p:cNvCxnSpPr/>
          <p:nvPr/>
        </p:nvCxnSpPr>
        <p:spPr>
          <a:xfrm>
            <a:off x="5680252" y="5422392"/>
            <a:ext cx="192024" cy="0"/>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Rectangle 31"/>
          <p:cNvSpPr/>
          <p:nvPr/>
        </p:nvSpPr>
        <p:spPr>
          <a:xfrm>
            <a:off x="5890564" y="5193792"/>
            <a:ext cx="1687982" cy="45720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100" b="1" i="0">
                <a:solidFill>
                  <a:srgbClr val="8A1626"/>
                </a:solidFill>
              </a:rPr>
              <a:t>3  Fix at source</a:t>
            </a:r>
          </a:p>
        </p:txBody>
      </p:sp>
      <p:cxnSp>
        <p:nvCxnSpPr>
          <p:cNvPr id="33" name="Connector 32"/>
          <p:cNvCxnSpPr/>
          <p:nvPr/>
        </p:nvCxnSpPr>
        <p:spPr>
          <a:xfrm>
            <a:off x="7596835" y="5422392"/>
            <a:ext cx="192024" cy="0"/>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Rectangle 33"/>
          <p:cNvSpPr/>
          <p:nvPr/>
        </p:nvSpPr>
        <p:spPr>
          <a:xfrm>
            <a:off x="7807147" y="5193792"/>
            <a:ext cx="1687982" cy="457200"/>
          </a:xfrm>
          <a:prstGeom prst="rect">
            <a:avLst/>
          </a:prstGeom>
          <a:solidFill>
            <a:srgbClr val="F6E6E9"/>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100" b="1" i="0">
                <a:solidFill>
                  <a:srgbClr val="8A1626"/>
                </a:solidFill>
              </a:rPr>
              <a:t>4  Restate the whole date</a:t>
            </a:r>
          </a:p>
        </p:txBody>
      </p:sp>
      <p:cxnSp>
        <p:nvCxnSpPr>
          <p:cNvPr id="35" name="Connector 34"/>
          <p:cNvCxnSpPr/>
          <p:nvPr/>
        </p:nvCxnSpPr>
        <p:spPr>
          <a:xfrm>
            <a:off x="9513417" y="5422392"/>
            <a:ext cx="192024" cy="0"/>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Rectangle 35"/>
          <p:cNvSpPr/>
          <p:nvPr/>
        </p:nvSpPr>
        <p:spPr>
          <a:xfrm>
            <a:off x="9723729" y="5193792"/>
            <a:ext cx="1687982" cy="45720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100" b="1" i="0">
                <a:solidFill>
                  <a:srgbClr val="8A1626"/>
                </a:solidFill>
              </a:rPr>
              <a:t>5  Signal; verify the version</a:t>
            </a:r>
          </a:p>
        </p:txBody>
      </p:sp>
      <p:sp>
        <p:nvSpPr>
          <p:cNvPr id="37" name="TextBox 36"/>
          <p:cNvSpPr txBox="1"/>
          <p:nvPr/>
        </p:nvSpPr>
        <p:spPr>
          <a:xfrm>
            <a:off x="777240" y="5760720"/>
            <a:ext cx="10634472" cy="457200"/>
          </a:xfrm>
          <a:prstGeom prst="rect">
            <a:avLst/>
          </a:prstGeom>
          <a:noFill/>
        </p:spPr>
        <p:txBody>
          <a:bodyPr wrap="square" lIns="0" rIns="0" tIns="0" bIns="0" anchor="ctr">
            <a:spAutoFit/>
          </a:bodyPr>
          <a:lstStyle/>
          <a:p>
            <a:pPr algn="l"/>
            <a:r>
              <a:rPr sz="1150" b="0" i="1">
                <a:solidFill>
                  <a:srgbClr val="4A5058"/>
                </a:solidFill>
              </a:rPr>
              <a:t>The engine never guesses: a bad row is refused and named; a date that cannot load as one run is not loaded, and the day before is answered with a warning rather than a wrong number.</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GLOSSARY</a:t>
            </a:r>
          </a:p>
        </p:txBody>
      </p:sp>
      <p:sp>
        <p:nvSpPr>
          <p:cNvPr id="3" name="Title 2"/>
          <p:cNvSpPr>
            <a:spLocks noGrp="1"/>
          </p:cNvSpPr>
          <p:nvPr>
            <p:ph type="title" idx="104"/>
          </p:nvPr>
        </p:nvSpPr>
        <p:spPr/>
        <p:txBody>
          <a:bodyPr/>
          <a:lstStyle/>
          <a:p>
            <a:r>
              <a:t>The terms used in this deck</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graphicFrame>
        <p:nvGraphicFramePr>
          <p:cNvPr id="26" name="Table 25"/>
          <p:cNvGraphicFramePr>
            <a:graphicFrameLocks noGrp="1"/>
          </p:cNvGraphicFramePr>
          <p:nvPr/>
        </p:nvGraphicFramePr>
        <p:xfrm>
          <a:off x="777240" y="1417320"/>
          <a:ext cx="5180075" cy="4636008"/>
        </p:xfrm>
        <a:graphic>
          <a:graphicData uri="http://schemas.openxmlformats.org/drawingml/2006/table">
            <a:tbl>
              <a:tblPr firstRow="0" bandRow="0">
                <a:tableStyleId>{5940675A-B579-460E-94D1-54222C63F5DA}</a:tableStyleId>
              </a:tblPr>
              <a:tblGrid>
                <a:gridCol w="1463040"/>
                <a:gridCol w="3717035"/>
              </a:tblGrid>
              <a:tr h="356616">
                <a:tc>
                  <a:txBody>
                    <a:bodyPr wrap="square"/>
                    <a:lstStyle/>
                    <a:p>
                      <a:r>
                        <a:rPr sz="1100" b="1" i="0">
                          <a:solidFill>
                            <a:srgbClr val="FFFFFF"/>
                          </a:solidFill>
                        </a:rPr>
                        <a:t>Term</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Meaning</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356616">
                <a:tc>
                  <a:txBody>
                    <a:bodyPr wrap="square"/>
                    <a:lstStyle/>
                    <a:p>
                      <a:r>
                        <a:rPr sz="1100" b="1" i="0">
                          <a:solidFill>
                            <a:srgbClr val="8A1626"/>
                          </a:solidFill>
                        </a:rPr>
                        <a:t>VaR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the loss not exceeded at the confidence: 99% = minus the 6th worst of 509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56616">
                <a:tc>
                  <a:txBody>
                    <a:bodyPr wrap="square"/>
                    <a:lstStyle/>
                    <a:p>
                      <a:r>
                        <a:rPr sz="1100" b="1" i="0">
                          <a:solidFill>
                            <a:srgbClr val="8A1626"/>
                          </a:solidFill>
                        </a:rPr>
                        <a:t>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expected shortfall: minus the mean of the 13 worst P&amp;Ls at 97.5%</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56616">
                <a:tc>
                  <a:txBody>
                    <a:bodyPr wrap="square"/>
                    <a:lstStyle/>
                    <a:p>
                      <a:r>
                        <a:rPr sz="1100" b="1" i="0">
                          <a:solidFill>
                            <a:srgbClr val="8A1626"/>
                          </a:solidFill>
                        </a:rPr>
                        <a:t>Scenario</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a historical day's market move, applied to today's trades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56616">
                <a:tc>
                  <a:txBody>
                    <a:bodyPr wrap="square"/>
                    <a:lstStyle/>
                    <a:p>
                      <a:r>
                        <a:rPr sz="1100" b="1" i="0">
                          <a:solidFill>
                            <a:srgbClr val="8A1626"/>
                          </a:solidFill>
                        </a:rPr>
                        <a:t>Scenario set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the scenario days of a date (HS-509), oldest first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56616">
                <a:tc>
                  <a:txBody>
                    <a:bodyPr wrap="square"/>
                    <a:lstStyle/>
                    <a:p>
                      <a:r>
                        <a:rPr sz="1100" b="1" i="0">
                          <a:solidFill>
                            <a:srgbClr val="8A1626"/>
                          </a:solidFill>
                        </a:rPr>
                        <a:t>Scenario PV</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a trade's or position's value under one scenario, in its own currency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56616">
                <a:tc>
                  <a:txBody>
                    <a:bodyPr wrap="square"/>
                    <a:lstStyle/>
                    <a:p>
                      <a:r>
                        <a:rPr sz="1100" b="1" i="0">
                          <a:solidFill>
                            <a:srgbClr val="8A1626"/>
                          </a:solidFill>
                        </a:rPr>
                        <a:t>Path P&amp;L</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the P&amp;L vector: one P&amp;L per scenario (509 numbers)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56616">
                <a:tc>
                  <a:txBody>
                    <a:bodyPr wrap="square"/>
                    <a:lstStyle/>
                    <a:p>
                      <a:r>
                        <a:rPr sz="1100" b="1" i="0">
                          <a:solidFill>
                            <a:srgbClr val="8A1626"/>
                          </a:solidFill>
                        </a:rPr>
                        <a:t>Form · grain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PV or P&amp;L · one record a trade, or one a position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56616">
                <a:tc>
                  <a:txBody>
                    <a:bodyPr wrap="square"/>
                    <a:lstStyle/>
                    <a:p>
                      <a:r>
                        <a:rPr sz="1100" b="1" i="0">
                          <a:solidFill>
                            <a:srgbClr val="8A1626"/>
                          </a:solidFill>
                        </a:rPr>
                        <a:t>Scope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any set of trades or positions: bank, LE, desk, book, portfolio, rule, basket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56616">
                <a:tc>
                  <a:txBody>
                    <a:bodyPr wrap="square"/>
                    <a:lstStyle/>
                    <a:p>
                      <a:r>
                        <a:rPr sz="1100" b="1" i="0">
                          <a:solidFill>
                            <a:srgbClr val="8A1626"/>
                          </a:solidFill>
                        </a:rPr>
                        <a:t>Node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a point of a hierarchy; its vector precomputed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56616">
                <a:tc>
                  <a:txBody>
                    <a:bodyPr wrap="square"/>
                    <a:lstStyle/>
                    <a:p>
                      <a:r>
                        <a:rPr sz="1100" b="1" i="0">
                          <a:solidFill>
                            <a:srgbClr val="8A1626"/>
                          </a:solidFill>
                        </a:rPr>
                        <a:t>Limit letter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a node of LL, a hierarchy by columns; limit from var-limit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56616">
                <a:tc>
                  <a:txBody>
                    <a:bodyPr wrap="square"/>
                    <a:lstStyle/>
                    <a:p>
                      <a:r>
                        <a:rPr sz="1100" b="1" i="0">
                          <a:solidFill>
                            <a:srgbClr val="8A1626"/>
                          </a:solidFill>
                        </a:rPr>
                        <a:t>Position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trades grouped by the pack's rules, or sent whole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56616">
                <a:tc>
                  <a:txBody>
                    <a:bodyPr wrap="square"/>
                    <a:lstStyle/>
                    <a:p>
                      <a:r>
                        <a:rPr sz="1100" b="1" i="0">
                          <a:solidFill>
                            <a:srgbClr val="8A1626"/>
                          </a:solidFill>
                        </a:rPr>
                        <a:t>Portfolio</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a stored scope: HIERARCHY, RULE or BASKET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graphicFrame>
        <p:nvGraphicFramePr>
          <p:cNvPr id="27" name="Table 26"/>
          <p:cNvGraphicFramePr>
            <a:graphicFrameLocks noGrp="1"/>
          </p:cNvGraphicFramePr>
          <p:nvPr/>
        </p:nvGraphicFramePr>
        <p:xfrm>
          <a:off x="6231636" y="1417320"/>
          <a:ext cx="5180076" cy="4636008"/>
        </p:xfrm>
        <a:graphic>
          <a:graphicData uri="http://schemas.openxmlformats.org/drawingml/2006/table">
            <a:tbl>
              <a:tblPr firstRow="0" bandRow="0">
                <a:tableStyleId>{5940675A-B579-460E-94D1-54222C63F5DA}</a:tableStyleId>
              </a:tblPr>
              <a:tblGrid>
                <a:gridCol w="1600200"/>
                <a:gridCol w="3579876"/>
              </a:tblGrid>
              <a:tr h="356616">
                <a:tc>
                  <a:txBody>
                    <a:bodyPr wrap="square"/>
                    <a:lstStyle/>
                    <a:p>
                      <a:r>
                        <a:rPr sz="1100" b="1" i="0">
                          <a:solidFill>
                            <a:srgbClr val="FFFFFF"/>
                          </a:solidFill>
                        </a:rPr>
                        <a:t>Term</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Meaning</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356616">
                <a:tc>
                  <a:txBody>
                    <a:bodyPr wrap="square"/>
                    <a:lstStyle/>
                    <a:p>
                      <a:r>
                        <a:rPr sz="1100" b="1" i="0">
                          <a:solidFill>
                            <a:srgbClr val="8A1626"/>
                          </a:solidFill>
                        </a:rPr>
                        <a:t>Component VaR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a part's share of VaR (Euler); parts add up to it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56616">
                <a:tc>
                  <a:txBody>
                    <a:bodyPr wrap="square"/>
                    <a:lstStyle/>
                    <a:p>
                      <a:r>
                        <a:rPr sz="1100" b="1" i="0">
                          <a:solidFill>
                            <a:srgbClr val="8A1626"/>
                          </a:solidFill>
                        </a:rPr>
                        <a:t>Incremental VaR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VaR(scope) − VaR(scope without the part)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56616">
                <a:tc>
                  <a:txBody>
                    <a:bodyPr wrap="square"/>
                    <a:lstStyle/>
                    <a:p>
                      <a:r>
                        <a:rPr sz="1100" b="1" i="0">
                          <a:solidFill>
                            <a:srgbClr val="8A1626"/>
                          </a:solidFill>
                        </a:rPr>
                        <a:t>Marginal VaR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component VaR per million of size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56616">
                <a:tc>
                  <a:txBody>
                    <a:bodyPr wrap="square"/>
                    <a:lstStyle/>
                    <a:p>
                      <a:r>
                        <a:rPr sz="1100" b="1" i="0">
                          <a:solidFill>
                            <a:srgbClr val="8A1626"/>
                          </a:solidFill>
                        </a:rPr>
                        <a:t>Diversification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the sum of standalone VaRs minus the VaR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56616">
                <a:tc>
                  <a:txBody>
                    <a:bodyPr wrap="square"/>
                    <a:lstStyle/>
                    <a:p>
                      <a:r>
                        <a:rPr sz="1100" b="1" i="0">
                          <a:solidFill>
                            <a:srgbClr val="8A1626"/>
                          </a:solidFill>
                        </a:rPr>
                        <a:t>Scenario FX</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each scenario's exchange rates, used to convert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56616">
                <a:tc>
                  <a:txBody>
                    <a:bodyPr wrap="square"/>
                    <a:lstStyle/>
                    <a:p>
                      <a:r>
                        <a:rPr sz="1100" b="1" i="0">
                          <a:solidFill>
                            <a:srgbClr val="8A1626"/>
                          </a:solidFill>
                        </a:rPr>
                        <a:t>Reporting currency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the currency an answer is in; five built ahead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56616">
                <a:tc>
                  <a:txBody>
                    <a:bodyPr wrap="square"/>
                    <a:lstStyle/>
                    <a:p>
                      <a:r>
                        <a:rPr sz="1100" b="1" i="0">
                          <a:solidFill>
                            <a:srgbClr val="8A1626"/>
                          </a:solidFill>
                        </a:rPr>
                        <a:t>Hot file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a date's vectors, memory-mapped from local disk</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56616">
                <a:tc>
                  <a:txBody>
                    <a:bodyPr wrap="square"/>
                    <a:lstStyle/>
                    <a:p>
                      <a:r>
                        <a:rPr sz="1100" b="1" i="0">
                          <a:solidFill>
                            <a:srgbClr val="8A1626"/>
                          </a:solidFill>
                        </a:rPr>
                        <a:t>Official record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a node's end-of-day VaR and ES, append-only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56616">
                <a:tc>
                  <a:txBody>
                    <a:bodyPr wrap="square"/>
                    <a:lstStyle/>
                    <a:p>
                      <a:r>
                        <a:rPr sz="1100" b="1" i="0">
                          <a:solidFill>
                            <a:srgbClr val="8A1626"/>
                          </a:solidFill>
                        </a:rPr>
                        <a:t>Result version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1, 2, 3 … as a date is restated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56616">
                <a:tc>
                  <a:txBody>
                    <a:bodyPr wrap="square"/>
                    <a:lstStyle/>
                    <a:p>
                      <a:r>
                        <a:rPr sz="1100" b="1" i="0">
                          <a:solidFill>
                            <a:srgbClr val="8A1626"/>
                          </a:solidFill>
                        </a:rPr>
                        <a:t>Provenance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how a number was built: inputs, versions, refusals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56616">
                <a:tc>
                  <a:txBody>
                    <a:bodyPr wrap="square"/>
                    <a:lstStyle/>
                    <a:p>
                      <a:r>
                        <a:rPr sz="1100" b="1" i="0">
                          <a:solidFill>
                            <a:srgbClr val="8A1626"/>
                          </a:solidFill>
                        </a:rPr>
                        <a:t>Breach (exception)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a day whose loss exceeds the VaR tested against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56616">
                <a:tc>
                  <a:txBody>
                    <a:bodyPr wrap="square"/>
                    <a:lstStyle/>
                    <a:p>
                      <a:r>
                        <a:rPr sz="1100" b="1" i="0">
                          <a:solidFill>
                            <a:srgbClr val="8A1626"/>
                          </a:solidFill>
                        </a:rPr>
                        <a:t>Headroom 39%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provisioned = need ÷ 0.61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DERIVATION A-1</a:t>
            </a:r>
          </a:p>
        </p:txBody>
      </p:sp>
      <p:sp>
        <p:nvSpPr>
          <p:cNvPr id="3" name="Title 2"/>
          <p:cNvSpPr>
            <a:spLocks noGrp="1"/>
          </p:cNvSpPr>
          <p:nvPr>
            <p:ph type="title" idx="104"/>
          </p:nvPr>
        </p:nvSpPr>
        <p:spPr/>
        <p:txBody>
          <a:bodyPr/>
          <a:lstStyle/>
          <a:p>
            <a:r>
              <a:t>How the numbers were derived</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371600"/>
            <a:ext cx="45720" cy="146852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TextBox 26"/>
          <p:cNvSpPr txBox="1"/>
          <p:nvPr/>
        </p:nvSpPr>
        <p:spPr>
          <a:xfrm>
            <a:off x="932688" y="1371600"/>
            <a:ext cx="4974336" cy="1468526"/>
          </a:xfrm>
          <a:prstGeom prst="rect">
            <a:avLst/>
          </a:prstGeom>
          <a:noFill/>
        </p:spPr>
        <p:txBody>
          <a:bodyPr wrap="square" lIns="0" rIns="0" tIns="0" bIns="0" anchor="t">
            <a:spAutoFit/>
          </a:bodyPr>
          <a:lstStyle/>
          <a:p>
            <a:pPr algn="l">
              <a:spcAft>
                <a:spcPts val="200"/>
              </a:spcAft>
            </a:pPr>
            <a:r>
              <a:rPr sz="1150" b="1" i="0">
                <a:solidFill>
                  <a:srgbClr val="8A1626"/>
                </a:solidFill>
              </a:rPr>
              <a:t>How it scales</a:t>
            </a:r>
          </a:p>
          <a:p>
            <a:pPr algn="l">
              <a:spcAft>
                <a:spcPts val="200"/>
              </a:spcAft>
            </a:pPr>
            <a:r>
              <a:rPr sz="1000" b="1" i="0">
                <a:solidFill>
                  <a:srgbClr val="A51C30"/>
                </a:solidFill>
              </a:rPr>
              <a:t>¹ </a:t>
            </a:r>
            <a:r>
              <a:rPr sz="1000" b="0" i="0">
                <a:solidFill>
                  <a:srgbClr val="1A1A1A"/>
                </a:solidFill>
              </a:rPr>
              <a:t>A row of 509 scenarios: 509 × 8 B = 4,072 B in float64 (the lake, the sums), 509 × 4 B = 2,036 B in float32 (the hot file's rows) (VAR_GUIDE §27.1).</a:t>
            </a:r>
          </a:p>
          <a:p>
            <a:pPr algn="l">
              <a:spcAft>
                <a:spcPts val="200"/>
              </a:spcAft>
            </a:pPr>
            <a:r>
              <a:rPr sz="1000" b="1" i="0">
                <a:solidFill>
                  <a:srgbClr val="A51C30"/>
                </a:solidFill>
              </a:rPr>
              <a:t>² </a:t>
            </a:r>
            <a:r>
              <a:rPr sz="1000" b="0" i="0">
                <a:solidFill>
                  <a:srgbClr val="1A1A1A"/>
                </a:solidFill>
              </a:rPr>
              <a:t>21.4 MB a reporting currency a date: measured on the demo lake, 8,566 trades (VAR_GUIDE §15.11).</a:t>
            </a:r>
          </a:p>
          <a:p>
            <a:pPr algn="l">
              <a:spcAft>
                <a:spcPts val="200"/>
              </a:spcAft>
            </a:pPr>
            <a:r>
              <a:rPr sz="1000" b="1" i="0">
                <a:solidFill>
                  <a:srgbClr val="A51C30"/>
                </a:solidFill>
              </a:rPr>
              <a:t>³ </a:t>
            </a:r>
            <a:r>
              <a:rPr sz="1000" b="0" i="0">
                <a:solidFill>
                  <a:srgbClr val="1A1A1A"/>
                </a:solidFill>
              </a:rPr>
              <a:t>Measured on one workstation (24 threads, 61 GB, NVMe): VarTierBenchmark, 100,000 trades × 5 dates (VAR_GUIDE §27.3); VarScaleBenchmark, 1,000,000 trades in memory (§27.2); the demo date's load, 9,572 trades, on the server (§26.7). 60 GB/s = 203.6 MB of float32 rows in 3.4 ms; 70 GB/s = 1M × 509 × 8 B in 58 ms.</a:t>
            </a:r>
          </a:p>
        </p:txBody>
      </p:sp>
      <p:sp>
        <p:nvSpPr>
          <p:cNvPr id="28" name="Rectangle 27"/>
          <p:cNvSpPr/>
          <p:nvPr/>
        </p:nvSpPr>
        <p:spPr>
          <a:xfrm>
            <a:off x="6254496" y="1371600"/>
            <a:ext cx="45720" cy="327355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TextBox 28"/>
          <p:cNvSpPr txBox="1"/>
          <p:nvPr/>
        </p:nvSpPr>
        <p:spPr>
          <a:xfrm>
            <a:off x="6409944" y="1371600"/>
            <a:ext cx="4974336" cy="3273552"/>
          </a:xfrm>
          <a:prstGeom prst="rect">
            <a:avLst/>
          </a:prstGeom>
          <a:noFill/>
        </p:spPr>
        <p:txBody>
          <a:bodyPr wrap="square" lIns="0" rIns="0" tIns="0" bIns="0" anchor="t">
            <a:spAutoFit/>
          </a:bodyPr>
          <a:lstStyle/>
          <a:p>
            <a:pPr algn="l">
              <a:spcAft>
                <a:spcPts val="200"/>
              </a:spcAft>
            </a:pPr>
            <a:r>
              <a:rPr sz="1150" b="1" i="0">
                <a:solidFill>
                  <a:srgbClr val="8A1626"/>
                </a:solidFill>
              </a:rPr>
              <a:t>Sizing</a:t>
            </a:r>
          </a:p>
          <a:p>
            <a:pPr algn="l">
              <a:spcAft>
                <a:spcPts val="200"/>
              </a:spcAft>
            </a:pPr>
            <a:r>
              <a:rPr sz="1000" b="1" i="0">
                <a:solidFill>
                  <a:srgbClr val="A51C30"/>
                </a:solidFill>
              </a:rPr>
              <a:t>¹ </a:t>
            </a:r>
            <a:r>
              <a:rPr sz="1000" b="0" i="0">
                <a:solidFill>
                  <a:srgbClr val="1A1A1A"/>
                </a:solidFill>
              </a:rPr>
              <a:t>Vectors: 2.3M positions (ASSUMPTION, the bank's volumes) × 509 scenarios × 8 B = 9.37 GB a date in float64; × 4 B = 4.68 GB in float32 (VAR_GUIDE §27.1).</a:t>
            </a:r>
          </a:p>
          <a:p>
            <a:pPr algn="l">
              <a:spcAft>
                <a:spcPts val="200"/>
              </a:spcAft>
            </a:pPr>
            <a:r>
              <a:rPr sz="1000" b="1" i="0">
                <a:solidFill>
                  <a:srgbClr val="A51C30"/>
                </a:solidFill>
              </a:rPr>
              <a:t>² </a:t>
            </a:r>
            <a:r>
              <a:rPr sz="1000" b="0" i="0">
                <a:solidFill>
                  <a:srgbClr val="1A1A1A"/>
                </a:solidFill>
              </a:rPr>
              <a:t>Measured per 100,000 trades by VarTierBenchmark (VAR_GUIDE §27.3) and scaled linearly × 23 (2.3M ÷ 100,000): hot file 237.7 MB → 5.47 GB; heap 80 MB an open date → 1.84 GB; first load 0.8–1.2 s → 18–28 s; reopen 23 ms → 0.5 s.</a:t>
            </a:r>
          </a:p>
          <a:p>
            <a:pPr algn="l">
              <a:spcAft>
                <a:spcPts val="200"/>
              </a:spcAft>
            </a:pPr>
            <a:r>
              <a:rPr sz="1000" b="1" i="0">
                <a:solidFill>
                  <a:srgbClr val="A51C30"/>
                </a:solidFill>
              </a:rPr>
              <a:t>³ </a:t>
            </a:r>
            <a:r>
              <a:rPr sz="1000" b="0" i="0">
                <a:solidFill>
                  <a:srgbClr val="1A1A1A"/>
                </a:solidFill>
              </a:rPr>
              <a:t>Whole bank: 4.68 GB of float32 rows ÷ 60 GB/s (measured, VAR_GUIDE §27.3) = 78 ms; cold ÷ 3 GB/s (NVMe, the guide's basis) = 1.6 s. A node: 0.48 ms, measured, from its aggregate, whatever its size.</a:t>
            </a:r>
          </a:p>
          <a:p>
            <a:pPr algn="l">
              <a:spcAft>
                <a:spcPts val="200"/>
              </a:spcAft>
            </a:pPr>
            <a:r>
              <a:rPr sz="1000" b="1" i="0">
                <a:solidFill>
                  <a:srgbClr val="A51C30"/>
                </a:solidFill>
              </a:rPr>
              <a:t>⁴ </a:t>
            </a:r>
            <a:r>
              <a:rPr sz="1000" b="0" i="0">
                <a:solidFill>
                  <a:srgbClr val="1A1A1A"/>
                </a:solidFill>
              </a:rPr>
              <a:t>Currencies: 250 MB a currency per 100,000 trades (the guide's extrapolation of 21.4 MB measured on 8,566, VAR_GUIDE §15.11) × 23 × 4 = 23 GB a date; × 5 retained dates = 115 GB; build 4.3 s × 23 = 99 s.</a:t>
            </a:r>
          </a:p>
          <a:p>
            <a:pPr algn="l">
              <a:spcAft>
                <a:spcPts val="200"/>
              </a:spcAft>
            </a:pPr>
            <a:r>
              <a:rPr sz="1000" b="1" i="0">
                <a:solidFill>
                  <a:srgbClr val="A51C30"/>
                </a:solidFill>
              </a:rPr>
              <a:t>⁵ </a:t>
            </a:r>
            <a:r>
              <a:rPr sz="1000" b="0" i="0">
                <a:solidFill>
                  <a:srgbClr val="1A1A1A"/>
                </a:solidFill>
              </a:rPr>
              <a:t>USD hot files: 5.47 GB × 60 dates kept (drishti.var.tier.disk-dates) = 328 GB of local disk.</a:t>
            </a:r>
          </a:p>
          <a:p>
            <a:pPr algn="l">
              <a:spcAft>
                <a:spcPts val="200"/>
              </a:spcAft>
            </a:pPr>
            <a:r>
              <a:rPr sz="1000" b="1" i="0">
                <a:solidFill>
                  <a:srgbClr val="A51C30"/>
                </a:solidFill>
              </a:rPr>
              <a:t>⁶ </a:t>
            </a:r>
            <a:r>
              <a:rPr sz="1000" b="0" i="0">
                <a:solidFill>
                  <a:srgbClr val="1A1A1A"/>
                </a:solidFill>
              </a:rPr>
              <a:t>Lake: 9.37 GB × 0.75 (Parquet, the design's estimate) × 252 business dates = 1.77 TB a year; × 7 years = 12.4 TB.</a:t>
            </a:r>
          </a:p>
          <a:p>
            <a:pPr algn="l">
              <a:spcAft>
                <a:spcPts val="200"/>
              </a:spcAft>
            </a:pPr>
            <a:r>
              <a:rPr sz="1000" b="1" i="0">
                <a:solidFill>
                  <a:srgbClr val="A51C30"/>
                </a:solidFill>
              </a:rPr>
              <a:t>⁷ </a:t>
            </a:r>
            <a:r>
              <a:rPr sz="1000" b="0" i="0">
                <a:solidFill>
                  <a:srgbClr val="1A1A1A"/>
                </a:solidFill>
              </a:rPr>
              <a:t>Portfolios: 15,000 × 130 positions each (ASSUMPTION) = 1.95M rows × 2,036 B = 3.97 GB; ÷ 60 GB/s = 0.07 s, ÷ 5 GB/s scattered (the design's figure) = 0.8 s; stored: 15,000 × 509 × 8 B = 61 MB.</a:t>
            </a:r>
          </a:p>
          <a:p>
            <a:pPr algn="l">
              <a:spcAft>
                <a:spcPts val="200"/>
              </a:spcAft>
            </a:pPr>
            <a:r>
              <a:rPr sz="1000" b="1" i="0">
                <a:solidFill>
                  <a:srgbClr val="A51C30"/>
                </a:solidFill>
              </a:rPr>
              <a:t>⁸ </a:t>
            </a:r>
            <a:r>
              <a:rPr sz="1000" b="0" i="0">
                <a:solidFill>
                  <a:srgbClr val="1A1A1A"/>
                </a:solidFill>
              </a:rPr>
              <a:t>Currency totals: 510 × 8 B × 5,700 nodes (5,000 MGMT and LEGAL, ASSUMPTION, + 700 limit letters) × 10 trade currencies (ASSUMPTION) = 233 MB; a changed position touches ≈ 11 nodes (three trees) × 5 books = 55 additions.</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DERIVATION A-2</a:t>
            </a:r>
          </a:p>
        </p:txBody>
      </p:sp>
      <p:sp>
        <p:nvSpPr>
          <p:cNvPr id="3" name="Title 2"/>
          <p:cNvSpPr>
            <a:spLocks noGrp="1"/>
          </p:cNvSpPr>
          <p:nvPr>
            <p:ph type="title" idx="104"/>
          </p:nvPr>
        </p:nvSpPr>
        <p:spPr/>
        <p:txBody>
          <a:bodyPr/>
          <a:lstStyle/>
          <a:p>
            <a:r>
              <a:t>How the numbers were derived (continued)</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371600"/>
            <a:ext cx="45720" cy="2578607"/>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TextBox 26"/>
          <p:cNvSpPr txBox="1"/>
          <p:nvPr/>
        </p:nvSpPr>
        <p:spPr>
          <a:xfrm>
            <a:off x="932688" y="1371600"/>
            <a:ext cx="4974336" cy="2578607"/>
          </a:xfrm>
          <a:prstGeom prst="rect">
            <a:avLst/>
          </a:prstGeom>
          <a:noFill/>
        </p:spPr>
        <p:txBody>
          <a:bodyPr wrap="square" lIns="0" rIns="0" tIns="0" bIns="0" anchor="t">
            <a:spAutoFit/>
          </a:bodyPr>
          <a:lstStyle/>
          <a:p>
            <a:pPr algn="l">
              <a:spcAft>
                <a:spcPts val="200"/>
              </a:spcAft>
            </a:pPr>
            <a:r>
              <a:rPr sz="1150" b="1" i="0">
                <a:solidFill>
                  <a:srgbClr val="8A1626"/>
                </a:solidFill>
              </a:rPr>
              <a:t>10-day and stressed VaR</a:t>
            </a:r>
          </a:p>
          <a:p>
            <a:pPr algn="l">
              <a:spcAft>
                <a:spcPts val="200"/>
              </a:spcAft>
            </a:pPr>
            <a:r>
              <a:rPr sz="1000" b="1" i="0">
                <a:solidFill>
                  <a:srgbClr val="A51C30"/>
                </a:solidFill>
              </a:rPr>
              <a:t>¹ </a:t>
            </a:r>
            <a:r>
              <a:rPr sz="1000" b="0" i="0">
                <a:solidFill>
                  <a:srgbClr val="1A1A1A"/>
                </a:solidFill>
              </a:rPr>
              <a:t>Width: 509 (1-day, 2 years) + 509 (10-day overlapping: 509 − 9 = 500, sized as 509) + 250 + 250 (stressed 1-day and 10-day over 12 months, ASSUMPTION) = 1,518 values a position; ÷ 509 = × 2.98. Method (b) is the bank's to confirm.</a:t>
            </a:r>
          </a:p>
          <a:p>
            <a:pPr algn="l">
              <a:spcAft>
                <a:spcPts val="200"/>
              </a:spcAft>
            </a:pPr>
            <a:r>
              <a:rPr sz="1000" b="1" i="0">
                <a:solidFill>
                  <a:srgbClr val="A51C30"/>
                </a:solidFill>
              </a:rPr>
              <a:t>² </a:t>
            </a:r>
            <a:r>
              <a:rPr sz="1000" b="0" i="0">
                <a:solidFill>
                  <a:srgbClr val="1A1A1A"/>
                </a:solidFill>
              </a:rPr>
              <a:t>Vectors: 2.3M × 1,518 × 8 B = 27.93 GB a date (1-day 9.37); float32 half: 13.97 GB (4.68).</a:t>
            </a:r>
          </a:p>
          <a:p>
            <a:pPr algn="l">
              <a:spcAft>
                <a:spcPts val="200"/>
              </a:spcAft>
            </a:pPr>
            <a:r>
              <a:rPr sz="1000" b="1" i="0">
                <a:solidFill>
                  <a:srgbClr val="A51C30"/>
                </a:solidFill>
              </a:rPr>
              <a:t>³ </a:t>
            </a:r>
            <a:r>
              <a:rPr sz="1000" b="0" i="0">
                <a:solidFill>
                  <a:srgbClr val="1A1A1A"/>
                </a:solidFill>
              </a:rPr>
              <a:t>USD hot file: 5.47 GB (237.7 MB per 100,000 measured × 23) × 2.98 = 16.30 GB.</a:t>
            </a:r>
          </a:p>
          <a:p>
            <a:pPr algn="l">
              <a:spcAft>
                <a:spcPts val="200"/>
              </a:spcAft>
            </a:pPr>
            <a:r>
              <a:rPr sz="1000" b="1" i="0">
                <a:solidFill>
                  <a:srgbClr val="A51C30"/>
                </a:solidFill>
              </a:rPr>
              <a:t>⁴ </a:t>
            </a:r>
            <a:r>
              <a:rPr sz="1000" b="0" i="0">
                <a:solidFill>
                  <a:srgbClr val="1A1A1A"/>
                </a:solidFill>
              </a:rPr>
              <a:t>Heap of an open date: 1.84 GB (80 MB per 100,000 × 23) + its aggregates 0.20 GB (8.6 MB per 100,000 × 23, VAR_GUIDE §27.3) × (2.98 − 1) = 2.23 GB.</a:t>
            </a:r>
          </a:p>
          <a:p>
            <a:pPr algn="l">
              <a:spcAft>
                <a:spcPts val="200"/>
              </a:spcAft>
            </a:pPr>
            <a:r>
              <a:rPr sz="1000" b="1" i="0">
                <a:solidFill>
                  <a:srgbClr val="A51C30"/>
                </a:solidFill>
              </a:rPr>
              <a:t>⁵ </a:t>
            </a:r>
            <a:r>
              <a:rPr sz="1000" b="0" i="0">
                <a:solidFill>
                  <a:srgbClr val="1A1A1A"/>
                </a:solidFill>
              </a:rPr>
              <a:t>First open: lake read 18–70 s (the guide's 10–40 s for ≈ 4 GB of Parquet, scaled to 7 GB) × 2.98 = 54–209 s; build 0.8–1.2 s per 100,000 × 23 = 18–28 s × 2.98 = 54–84 s.</a:t>
            </a:r>
          </a:p>
          <a:p>
            <a:pPr algn="l">
              <a:spcAft>
                <a:spcPts val="200"/>
              </a:spcAft>
            </a:pPr>
            <a:r>
              <a:rPr sz="1000" b="1" i="0">
                <a:solidFill>
                  <a:srgbClr val="A51C30"/>
                </a:solidFill>
              </a:rPr>
              <a:t>⁶ </a:t>
            </a:r>
            <a:r>
              <a:rPr sz="1000" b="0" i="0">
                <a:solidFill>
                  <a:srgbClr val="1A1A1A"/>
                </a:solidFill>
              </a:rPr>
              <a:t>Other currency: 1-day built ahead 5.75 GB (250 MB per 100,000 × 23); its 10-day and stressed books on first ask (ASSUMPTION): 5.75 × (2.98 − 1) = 11.4 GB.</a:t>
            </a:r>
          </a:p>
          <a:p>
            <a:pPr algn="l">
              <a:spcAft>
                <a:spcPts val="200"/>
              </a:spcAft>
            </a:pPr>
            <a:r>
              <a:rPr sz="1000" b="1" i="0">
                <a:solidFill>
                  <a:srgbClr val="A51C30"/>
                </a:solidFill>
              </a:rPr>
              <a:t>⁷ </a:t>
            </a:r>
            <a:r>
              <a:rPr sz="1000" b="0" i="0">
                <a:solidFill>
                  <a:srgbClr val="1A1A1A"/>
                </a:solidFill>
              </a:rPr>
              <a:t>Per server: NVMe and RAM as on the processes-and-memory derivations (458 and 1,183 GB; 76 and 151 GB); lake over 7 years as on the storage derivations (16.1 and 48.2 TB).</a:t>
            </a:r>
          </a:p>
          <a:p>
            <a:pPr algn="l">
              <a:spcAft>
                <a:spcPts val="200"/>
              </a:spcAft>
            </a:pPr>
            <a:r>
              <a:rPr sz="1000" b="1" i="0">
                <a:solidFill>
                  <a:srgbClr val="A51C30"/>
                </a:solidFill>
              </a:rPr>
              <a:t>⁸ </a:t>
            </a:r>
            <a:r>
              <a:rPr sz="1000" b="0" i="0">
                <a:solidFill>
                  <a:srgbClr val="1A1A1A"/>
                </a:solidFill>
              </a:rPr>
              <a:t>Option (a), √10 × 1-day: width 509 + 250 = 759 (× 1.49); vectors over 7 years 12.39 TB × 1.49 = 18.5 TB. Sums: a 509-wide set 4.68 GB ÷ 60 GB/s = 78 ms; a 250-wide set 2.3 GB → 38 ms.</a:t>
            </a:r>
          </a:p>
        </p:txBody>
      </p:sp>
      <p:sp>
        <p:nvSpPr>
          <p:cNvPr id="28" name="Rectangle 27"/>
          <p:cNvSpPr/>
          <p:nvPr/>
        </p:nvSpPr>
        <p:spPr>
          <a:xfrm>
            <a:off x="6254496" y="1371600"/>
            <a:ext cx="45720" cy="327355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TextBox 28"/>
          <p:cNvSpPr txBox="1"/>
          <p:nvPr/>
        </p:nvSpPr>
        <p:spPr>
          <a:xfrm>
            <a:off x="6409944" y="1371600"/>
            <a:ext cx="4974336" cy="3273552"/>
          </a:xfrm>
          <a:prstGeom prst="rect">
            <a:avLst/>
          </a:prstGeom>
          <a:noFill/>
        </p:spPr>
        <p:txBody>
          <a:bodyPr wrap="square" lIns="0" rIns="0" tIns="0" bIns="0" anchor="t">
            <a:spAutoFit/>
          </a:bodyPr>
          <a:lstStyle/>
          <a:p>
            <a:pPr algn="l">
              <a:spcAft>
                <a:spcPts val="200"/>
              </a:spcAft>
            </a:pPr>
            <a:r>
              <a:rPr sz="1150" b="1" i="0">
                <a:solidFill>
                  <a:srgbClr val="8A1626"/>
                </a:solidFill>
              </a:rPr>
              <a:t>Processes and memory</a:t>
            </a:r>
          </a:p>
          <a:p>
            <a:pPr algn="l">
              <a:spcAft>
                <a:spcPts val="200"/>
              </a:spcAft>
            </a:pPr>
            <a:r>
              <a:rPr sz="1000" b="1" i="0">
                <a:solidFill>
                  <a:srgbClr val="A51C30"/>
                </a:solidFill>
              </a:rPr>
              <a:t>¹ </a:t>
            </a:r>
            <a:r>
              <a:rPr sz="1000" b="0" i="0">
                <a:solidFill>
                  <a:srgbClr val="1A1A1A"/>
                </a:solidFill>
              </a:rPr>
              <a:t>Heap: two USD dates with all four sets 2 × 2.23 + two other-currency 1-day books 2 × 1.84 (ASSUMPTION) + a load's sort 2 + the rest of the server 4 (ASSUMPTION) = 14.14 GB × 1.5 (generational ZGC) = 21.2 GB need; ÷ 0.61 = 34.8 → -Xmx36g. 1-day: 13.36 × 1.5 = 20.0 GB.</a:t>
            </a:r>
          </a:p>
          <a:p>
            <a:pPr algn="l">
              <a:spcAft>
                <a:spcPts val="200"/>
              </a:spcAft>
            </a:pPr>
            <a:r>
              <a:rPr sz="1000" b="1" i="0">
                <a:solidFill>
                  <a:srgbClr val="A51C30"/>
                </a:solidFill>
              </a:rPr>
              <a:t>² </a:t>
            </a:r>
            <a:r>
              <a:rPr sz="1000" b="0" i="0">
                <a:solidFill>
                  <a:srgbClr val="1A1A1A"/>
                </a:solidFill>
              </a:rPr>
              <a:t>Memory budget (drishti.var.memory-budget-mb, the float32 copy of one date): 2.3M × 1,518 × 4 B = 13,966 MB → 14,000 need; ÷ 0.61 = 22,894 → 23,000 MB; large 2× → 46,000.</a:t>
            </a:r>
          </a:p>
          <a:p>
            <a:pPr algn="l">
              <a:spcAft>
                <a:spcPts val="200"/>
              </a:spcAft>
            </a:pPr>
            <a:r>
              <a:rPr sz="1000" b="1" i="0">
                <a:solidFill>
                  <a:srgbClr val="A51C30"/>
                </a:solidFill>
              </a:rPr>
              <a:t>³ </a:t>
            </a:r>
            <a:r>
              <a:rPr sz="1000" b="0" i="0">
                <a:solidFill>
                  <a:srgbClr val="1A1A1A"/>
                </a:solidFill>
              </a:rPr>
              <a:t>Page cache: two USD dates 2 × 16.30 + four 1-day currency books 23 + two currencies' 10-day and stressed books 2 × 11.4 (ASSUMPTION) = 78.4 GB (1-day 33.9). A load: spill 27.93 + new hot file 16.30 = 44.2 GB (1-day 14.8). OS and native 7 GB (ASSUMPTION).</a:t>
            </a:r>
          </a:p>
          <a:p>
            <a:pPr algn="l">
              <a:spcAft>
                <a:spcPts val="200"/>
              </a:spcAft>
            </a:pPr>
            <a:r>
              <a:rPr sz="1000" b="1" i="0">
                <a:solidFill>
                  <a:srgbClr val="A51C30"/>
                </a:solidFill>
              </a:rPr>
              <a:t>⁴ </a:t>
            </a:r>
            <a:r>
              <a:rPr sz="1000" b="0" i="0">
                <a:solidFill>
                  <a:srgbClr val="1A1A1A"/>
                </a:solidFill>
              </a:rPr>
              <a:t>RAM: 21.2 + 78.4 + 44.2 + 7 = 150.9 GB need (1-day 75.8); ÷ 0.61 = 247 → 256 GB. Headroom (39%) is the deck's rule: the projected peak uses at most 61% of what is provisioned.</a:t>
            </a:r>
          </a:p>
          <a:p>
            <a:pPr algn="l">
              <a:spcAft>
                <a:spcPts val="200"/>
              </a:spcAft>
            </a:pPr>
            <a:r>
              <a:rPr sz="1000" b="1" i="0">
                <a:solidFill>
                  <a:srgbClr val="A51C30"/>
                </a:solidFill>
              </a:rPr>
              <a:t>⁵ </a:t>
            </a:r>
            <a:r>
              <a:rPr sz="1000" b="0" i="0">
                <a:solidFill>
                  <a:srgbClr val="1A1A1A"/>
                </a:solidFill>
              </a:rPr>
              <a:t>Local NVMe: USD hot files 16.30 × 60 + 1-day currency books 23 × 5 dates + 4 × 11.4 + a load 44.2 = 1,183 GB; ÷ 0.61 = 1,940 → 2 × 1.9 TB; large 2× → 4 × 1.425 TB.</a:t>
            </a:r>
          </a:p>
          <a:p>
            <a:pPr algn="l">
              <a:spcAft>
                <a:spcPts val="200"/>
              </a:spcAft>
            </a:pPr>
            <a:r>
              <a:rPr sz="1000" b="1" i="0">
                <a:solidFill>
                  <a:srgbClr val="A51C30"/>
                </a:solidFill>
              </a:rPr>
              <a:t>⁶ </a:t>
            </a:r>
            <a:r>
              <a:rPr sz="1000" b="0" i="0">
                <a:solidFill>
                  <a:srgbClr val="1A1A1A"/>
                </a:solidFill>
              </a:rPr>
              <a:t>CPU: 24 threads reached ≈ 60 GB/s (measured, VAR_GUIDE §27.2) + 8 for a load, currency builds, intraday and requests (ASSUMPTION) = 32; ÷ 0.61 = 52 → 64. All four sets of the bank: 78 + 78 + 38 + 38 ≈ 233 ms.</a:t>
            </a:r>
          </a:p>
          <a:p>
            <a:pPr algn="l">
              <a:spcAft>
                <a:spcPts val="200"/>
              </a:spcAft>
            </a:pPr>
            <a:r>
              <a:rPr sz="1000" b="1" i="0">
                <a:solidFill>
                  <a:srgbClr val="A51C30"/>
                </a:solidFill>
              </a:rPr>
              <a:t>⁷ </a:t>
            </a:r>
            <a:r>
              <a:rPr sz="1000" b="0" i="0">
                <a:solidFill>
                  <a:srgbClr val="1A1A1A"/>
                </a:solidFill>
              </a:rPr>
              <a:t>Consoles: 40 pages/s a worker (measured, SCALE_BENCHMARK §8); 50 of 200 users at once, a page every 10 s, peaks 5× (ASSUMPTION) = 25 pages/s ÷ 0.61 = 41 against one host's 4 × 40 = 160.</a:t>
            </a:r>
          </a:p>
          <a:p>
            <a:pPr algn="l">
              <a:spcAft>
                <a:spcPts val="200"/>
              </a:spcAft>
            </a:pPr>
            <a:r>
              <a:rPr sz="1000" b="1" i="0">
                <a:solidFill>
                  <a:srgbClr val="A51C30"/>
                </a:solidFill>
              </a:rPr>
              <a:t>⁸ </a:t>
            </a:r>
            <a:r>
              <a:rPr sz="1000" b="0" i="0">
                <a:solidFill>
                  <a:srgbClr val="1A1A1A"/>
                </a:solidFill>
              </a:rPr>
              <a:t>Large (2× positions): heap 36.4 ÷ 0.61 → 60g; RAM 291 ÷ 0.61 = 477 → 512 GB; vCPU 48 ÷ 0.61 → 96.</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DERIVATION A-3</a:t>
            </a:r>
          </a:p>
        </p:txBody>
      </p:sp>
      <p:sp>
        <p:nvSpPr>
          <p:cNvPr id="3" name="Title 2"/>
          <p:cNvSpPr>
            <a:spLocks noGrp="1"/>
          </p:cNvSpPr>
          <p:nvPr>
            <p:ph type="title" idx="104"/>
          </p:nvPr>
        </p:nvSpPr>
        <p:spPr/>
        <p:txBody>
          <a:bodyPr/>
          <a:lstStyle/>
          <a:p>
            <a:r>
              <a:t>How the numbers were derived (continued)</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371600"/>
            <a:ext cx="45720" cy="357896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TextBox 26"/>
          <p:cNvSpPr txBox="1"/>
          <p:nvPr/>
        </p:nvSpPr>
        <p:spPr>
          <a:xfrm>
            <a:off x="932688" y="1371600"/>
            <a:ext cx="4974336" cy="3578961"/>
          </a:xfrm>
          <a:prstGeom prst="rect">
            <a:avLst/>
          </a:prstGeom>
          <a:noFill/>
        </p:spPr>
        <p:txBody>
          <a:bodyPr wrap="square" lIns="0" rIns="0" tIns="0" bIns="0" anchor="t">
            <a:spAutoFit/>
          </a:bodyPr>
          <a:lstStyle/>
          <a:p>
            <a:pPr algn="l">
              <a:spcAft>
                <a:spcPts val="200"/>
              </a:spcAft>
            </a:pPr>
            <a:r>
              <a:rPr sz="1150" b="1" i="0">
                <a:solidFill>
                  <a:srgbClr val="8A1626"/>
                </a:solidFill>
              </a:rPr>
              <a:t>Storage over 7 years</a:t>
            </a:r>
          </a:p>
          <a:p>
            <a:pPr algn="l">
              <a:spcAft>
                <a:spcPts val="200"/>
              </a:spcAft>
            </a:pPr>
            <a:r>
              <a:rPr sz="1000" b="1" i="0">
                <a:solidFill>
                  <a:srgbClr val="A51C30"/>
                </a:solidFill>
              </a:rPr>
              <a:t>¹ </a:t>
            </a:r>
            <a:r>
              <a:rPr sz="1000" b="0" i="0">
                <a:solidFill>
                  <a:srgbClr val="1A1A1A"/>
                </a:solidFill>
              </a:rPr>
              <a:t>Vectors: 27.93 GB a date × 0.75 (Parquet, the design's estimate) × 1,764 dates (7 × 252) = 36.95 TB (1-day 12.39); all four = 1-day × 2.98.</a:t>
            </a:r>
          </a:p>
          <a:p>
            <a:pPr algn="l">
              <a:spcAft>
                <a:spcPts val="200"/>
              </a:spcAft>
            </a:pPr>
            <a:r>
              <a:rPr sz="1000" b="1" i="0">
                <a:solidFill>
                  <a:srgbClr val="A51C30"/>
                </a:solidFill>
              </a:rPr>
              <a:t>² </a:t>
            </a:r>
            <a:r>
              <a:rPr sz="1000" b="0" i="0">
                <a:solidFill>
                  <a:srgbClr val="1A1A1A"/>
                </a:solidFill>
              </a:rPr>
              <a:t>Row columns: ≈ 100 B a row (ASSUMPTION) × 2.3M × 1,764 = 0.41 TB a set × 4 = 1.62 TB. Scenario PVs kept as well (ASSUMPTION, upper case): the vectors again, + 37.0 TB.</a:t>
            </a:r>
          </a:p>
          <a:p>
            <a:pPr algn="l">
              <a:spcAft>
                <a:spcPts val="200"/>
              </a:spcAft>
            </a:pPr>
            <a:r>
              <a:rPr sz="1000" b="1" i="0">
                <a:solidFill>
                  <a:srgbClr val="A51C30"/>
                </a:solidFill>
              </a:rPr>
              <a:t>³ </a:t>
            </a:r>
            <a:r>
              <a:rPr sz="1000" b="0" i="0">
                <a:solidFill>
                  <a:srgbClr val="1A1A1A"/>
                </a:solidFill>
              </a:rPr>
              <a:t>Trades: 1.5 KB a trade a day (measured, SCALE_BENCHMARK §8) × 2.3M × 1,764 = 6.09 TB. Membership: 40.8 B a position (measured on the demo: 349,855 B ÷ 8,566) × 2.3M × 1,764 = 0.17 TB.</a:t>
            </a:r>
          </a:p>
          <a:p>
            <a:pPr algn="l">
              <a:spcAft>
                <a:spcPts val="200"/>
              </a:spcAft>
            </a:pPr>
            <a:r>
              <a:rPr sz="1000" b="1" i="0">
                <a:solidFill>
                  <a:srgbClr val="A51C30"/>
                </a:solidFill>
              </a:rPr>
              <a:t>⁴ </a:t>
            </a:r>
            <a:r>
              <a:rPr sz="1000" b="0" i="0">
                <a:solidFill>
                  <a:srgbClr val="1A1A1A"/>
                </a:solidFill>
              </a:rPr>
              <a:t>Official results: 27,527 B capture + 352 B record + 321 B published row (measured on the demo) + ≈ 1 KB JSONL (ASSUMPTION) = 29.2 KB × 5,700 nodes (ASSUMPTION) × 1,764 = 0.29 TB; × 2.98 = 0.88 TB.</a:t>
            </a:r>
          </a:p>
          <a:p>
            <a:pPr algn="l">
              <a:spcAft>
                <a:spcPts val="200"/>
              </a:spcAft>
            </a:pPr>
            <a:r>
              <a:rPr sz="1000" b="1" i="0">
                <a:solidFill>
                  <a:srgbClr val="A51C30"/>
                </a:solidFill>
              </a:rPr>
              <a:t>⁵ </a:t>
            </a:r>
            <a:r>
              <a:rPr sz="1000" b="0" i="0">
                <a:solidFill>
                  <a:srgbClr val="1A1A1A"/>
                </a:solidFill>
              </a:rPr>
              <a:t>Intraday: 230,000 positions changed a day (10%, ASSUMPTION) × 1,518 × 8 B × 0.75 = 9.1 KB → 2.09 GB a day × 1,764 × 2 (compaction keeps the old files) = 7.39 TB (1-day 2.48). Restatements: 2% of dates (ASSUMPTION) × 20.9 GB × 1,764 = 0.74 TB.</a:t>
            </a:r>
          </a:p>
          <a:p>
            <a:pPr algn="l">
              <a:spcAft>
                <a:spcPts val="200"/>
              </a:spcAft>
            </a:pPr>
            <a:r>
              <a:rPr sz="1000" b="1" i="0">
                <a:solidFill>
                  <a:srgbClr val="A51C30"/>
                </a:solidFill>
              </a:rPr>
              <a:t>⁶ </a:t>
            </a:r>
            <a:r>
              <a:rPr sz="1000" b="0" i="0">
                <a:solidFill>
                  <a:srgbClr val="1A1A1A"/>
                </a:solidFill>
              </a:rPr>
              <a:t>Delta checkpoints: one a day ≈ 0.14 TB over 7 years (the design's estimate) × 2.98 = 0.42 TB; one every 10 commits at 120 commits a day: 4.9 TB (upper case). Scenario FX under 1 GB; Iceberg metadata, if chosen, ≈ 12 GB (the product owner's estimate).</a:t>
            </a:r>
          </a:p>
          <a:p>
            <a:pPr algn="l">
              <a:spcAft>
                <a:spcPts val="200"/>
              </a:spcAft>
            </a:pPr>
            <a:r>
              <a:rPr sz="1000" b="1" i="0">
                <a:solidFill>
                  <a:srgbClr val="A51C30"/>
                </a:solidFill>
              </a:rPr>
              <a:t>⁷ </a:t>
            </a:r>
            <a:r>
              <a:rPr sz="1000" b="0" i="0">
                <a:solidFill>
                  <a:srgbClr val="1A1A1A"/>
                </a:solidFill>
              </a:rPr>
              <a:t>Need, base: the rows above = 48.2 TB (1-day 16.1); ÷ 0.61 = 79 TB; a DR copy doubles it: 158 TB. Upper: + PVs 37.0 + trades 6.1 + frequent checkpoints 4.5 = 95.7 TB; ÷ 0.61 = 157; DR 314.</a:t>
            </a:r>
          </a:p>
          <a:p>
            <a:pPr algn="l">
              <a:spcAft>
                <a:spcPts val="200"/>
              </a:spcAft>
            </a:pPr>
            <a:r>
              <a:rPr sz="1000" b="1" i="0">
                <a:solidFill>
                  <a:srgbClr val="A51C30"/>
                </a:solidFill>
              </a:rPr>
              <a:t>⁸ </a:t>
            </a:r>
            <a:r>
              <a:rPr sz="1000" b="0" i="0">
                <a:solidFill>
                  <a:srgbClr val="1A1A1A"/>
                </a:solidFill>
              </a:rPr>
              <a:t>250-day window: 0.66 × the 1,518 values (1,000 kept): float32 14.0 → 9.2 GB; vectors over 7 years 37.0 → 24.3 TB, only if the bank sends 250-day sets.</a:t>
            </a:r>
          </a:p>
          <a:p>
            <a:pPr algn="l">
              <a:spcAft>
                <a:spcPts val="200"/>
              </a:spcAft>
            </a:pPr>
            <a:r>
              <a:rPr sz="1000" b="1" i="0">
                <a:solidFill>
                  <a:srgbClr val="A51C30"/>
                </a:solidFill>
              </a:rPr>
              <a:t>⁹ </a:t>
            </a:r>
            <a:r>
              <a:rPr sz="1000" b="0" i="0">
                <a:solidFill>
                  <a:srgbClr val="1A1A1A"/>
                </a:solidFill>
              </a:rPr>
              <a:t>Local NVMe a server: USD hot files 16.3 × 60 = 978 + currency books 161 + a load 44 = 1,183 GB; ÷ 0.61 = 1,940 → 2 × 1.9 TB. Rebuilt from the lake.</a:t>
            </a:r>
          </a:p>
        </p:txBody>
      </p:sp>
      <p:sp>
        <p:nvSpPr>
          <p:cNvPr id="28" name="Rectangle 27"/>
          <p:cNvSpPr/>
          <p:nvPr/>
        </p:nvSpPr>
        <p:spPr>
          <a:xfrm>
            <a:off x="6254496" y="1371600"/>
            <a:ext cx="45720" cy="269016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TextBox 28"/>
          <p:cNvSpPr txBox="1"/>
          <p:nvPr/>
        </p:nvSpPr>
        <p:spPr>
          <a:xfrm>
            <a:off x="6409944" y="1371600"/>
            <a:ext cx="4974336" cy="2690164"/>
          </a:xfrm>
          <a:prstGeom prst="rect">
            <a:avLst/>
          </a:prstGeom>
          <a:noFill/>
        </p:spPr>
        <p:txBody>
          <a:bodyPr wrap="square" lIns="0" rIns="0" tIns="0" bIns="0" anchor="t">
            <a:spAutoFit/>
          </a:bodyPr>
          <a:lstStyle/>
          <a:p>
            <a:pPr algn="l">
              <a:spcAft>
                <a:spcPts val="200"/>
              </a:spcAft>
            </a:pPr>
            <a:r>
              <a:rPr sz="1150" b="1" i="0">
                <a:solidFill>
                  <a:srgbClr val="8A1626"/>
                </a:solidFill>
              </a:rPr>
              <a:t>A sharded cluster</a:t>
            </a:r>
          </a:p>
          <a:p>
            <a:pPr algn="l">
              <a:spcAft>
                <a:spcPts val="200"/>
              </a:spcAft>
            </a:pPr>
            <a:r>
              <a:rPr sz="1000" b="1" i="0">
                <a:solidFill>
                  <a:srgbClr val="A51C30"/>
                </a:solidFill>
              </a:rPr>
              <a:t>¹ </a:t>
            </a:r>
            <a:r>
              <a:rPr sz="1000" b="0" i="0">
                <a:solidFill>
                  <a:srgbClr val="1A1A1A"/>
                </a:solidFill>
              </a:rPr>
              <a:t>Six owners, two replicas: each owner holds 2 ÷ 6 = 1/3 of what divides: page cache 78.4 × 1/3 = 26.1 GB; a load 44.2 × 1/3 = 14.7 GB; NVMe 1,183 × 1/3 = 394 GB, ÷ 0.61 = 647 → ~650 GB.</a:t>
            </a:r>
          </a:p>
          <a:p>
            <a:pPr algn="l">
              <a:spcAft>
                <a:spcPts val="200"/>
              </a:spcAft>
            </a:pPr>
            <a:r>
              <a:rPr sz="1000" b="1" i="0">
                <a:solidFill>
                  <a:srgbClr val="A51C30"/>
                </a:solidFill>
              </a:rPr>
              <a:t>² </a:t>
            </a:r>
            <a:r>
              <a:rPr sz="1000" b="0" i="0">
                <a:solidFill>
                  <a:srgbClr val="1A1A1A"/>
                </a:solidFill>
              </a:rPr>
              <a:t>The heap does not divide: every member keeps the date's skeleton for all 2.3M positions (VAR_SHARDING §13): 21.2 GB, the single server's; ÷ 0.61 = 34.8 → -Xmx36g.</a:t>
            </a:r>
          </a:p>
          <a:p>
            <a:pPr algn="l">
              <a:spcAft>
                <a:spcPts val="200"/>
              </a:spcAft>
            </a:pPr>
            <a:r>
              <a:rPr sz="1000" b="1" i="0">
                <a:solidFill>
                  <a:srgbClr val="A51C30"/>
                </a:solidFill>
              </a:rPr>
              <a:t>³ </a:t>
            </a:r>
            <a:r>
              <a:rPr sz="1000" b="0" i="0">
                <a:solidFill>
                  <a:srgbClr val="1A1A1A"/>
                </a:solidFill>
              </a:rPr>
              <a:t>An owner's RAM: 21.2 + 26.1 + 14.7 + 7 = 69.1 GB need; ÷ 0.61 = 113 → 128 GB. vCPU 16 an owner (ASSUMPTION; 96 in all).</a:t>
            </a:r>
          </a:p>
          <a:p>
            <a:pPr algn="l">
              <a:spcAft>
                <a:spcPts val="200"/>
              </a:spcAft>
            </a:pPr>
            <a:r>
              <a:rPr sz="1000" b="1" i="0">
                <a:solidFill>
                  <a:srgbClr val="A51C30"/>
                </a:solidFill>
              </a:rPr>
              <a:t>⁴ </a:t>
            </a:r>
            <a:r>
              <a:rPr sz="1000" b="0" i="0">
                <a:solidFill>
                  <a:srgbClr val="1A1A1A"/>
                </a:solidFill>
              </a:rPr>
              <a:t>Coordinators (coordinator-only) and consoles: ASSUMPTION; a coordinator keeps the skeleton without the rows (16–20 GB heap).</a:t>
            </a:r>
          </a:p>
          <a:p>
            <a:pPr algn="l">
              <a:spcAft>
                <a:spcPts val="200"/>
              </a:spcAft>
            </a:pPr>
            <a:r>
              <a:rPr sz="1000" b="1" i="0">
                <a:solidFill>
                  <a:srgbClr val="A51C30"/>
                </a:solidFill>
              </a:rPr>
              <a:t>⁵ </a:t>
            </a:r>
            <a:r>
              <a:rPr sz="1000" b="0" i="0">
                <a:solidFill>
                  <a:srgbClr val="1A1A1A"/>
                </a:solidFill>
              </a:rPr>
              <a:t>1-day only, 4 owners: heap (2 × 1.84 + 2 + 4) × 1.5 = 14.5 → 16 GB; cache 33.9 × 2/4 = 17.0; load 14.8 × 2/4 = 7.4; OS 7: 47.4 GB; ÷ 0.61 = 78 → 96 GB; heap ÷ 0.61 → 24g. Six owners, 1-day: 16 + 33.9/3 + 14.8/3 + 7 = 39 GB.</a:t>
            </a:r>
          </a:p>
          <a:p>
            <a:pPr algn="l">
              <a:spcAft>
                <a:spcPts val="200"/>
              </a:spcAft>
            </a:pPr>
            <a:r>
              <a:rPr sz="1000" b="1" i="0">
                <a:solidFill>
                  <a:srgbClr val="A51C30"/>
                </a:solidFill>
              </a:rPr>
              <a:t>⁶ </a:t>
            </a:r>
            <a:r>
              <a:rPr sz="1000" b="0" i="0">
                <a:solidFill>
                  <a:srgbClr val="1A1A1A"/>
                </a:solidFill>
              </a:rPr>
              <a:t>Minimum start, 3 owners × 2 replicas (2/3 each): 21.2 + (78.4 + 44.2) × 2/3 + 7 = 110 GB; ÷ 0.61 = 180 → 192 GB; with 1 replica a third each: 69 → 128 GB.</a:t>
            </a:r>
          </a:p>
          <a:p>
            <a:pPr algn="l">
              <a:spcAft>
                <a:spcPts val="200"/>
              </a:spcAft>
            </a:pPr>
            <a:r>
              <a:rPr sz="1000" b="1" i="0">
                <a:solidFill>
                  <a:srgbClr val="A51C30"/>
                </a:solidFill>
              </a:rPr>
              <a:t>⁷ </a:t>
            </a:r>
            <a:r>
              <a:rPr sz="1000" b="0" i="0">
                <a:solidFill>
                  <a:srgbClr val="1A1A1A"/>
                </a:solidFill>
              </a:rPr>
              <a:t>Portfolios: 15,000 × 130 positions (ASSUMPTION) = 1.95M ids × 16 B = 31 MB. The nightly official run over them, "minutes", is a judgement, not computed: the 200K benchmark will measure it.</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DERIVATION A-4</a:t>
            </a:r>
          </a:p>
        </p:txBody>
      </p:sp>
      <p:sp>
        <p:nvSpPr>
          <p:cNvPr id="3" name="Title 2"/>
          <p:cNvSpPr>
            <a:spLocks noGrp="1"/>
          </p:cNvSpPr>
          <p:nvPr>
            <p:ph type="title" idx="104"/>
          </p:nvPr>
        </p:nvSpPr>
        <p:spPr/>
        <p:txBody>
          <a:bodyPr/>
          <a:lstStyle/>
          <a:p>
            <a:r>
              <a:t>How the numbers were derived (continued)</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371600"/>
            <a:ext cx="45720" cy="252374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TextBox 26"/>
          <p:cNvSpPr txBox="1"/>
          <p:nvPr/>
        </p:nvSpPr>
        <p:spPr>
          <a:xfrm>
            <a:off x="932688" y="1371600"/>
            <a:ext cx="4974336" cy="2523744"/>
          </a:xfrm>
          <a:prstGeom prst="rect">
            <a:avLst/>
          </a:prstGeom>
          <a:noFill/>
        </p:spPr>
        <p:txBody>
          <a:bodyPr wrap="square" lIns="0" rIns="0" tIns="0" bIns="0" anchor="t">
            <a:spAutoFit/>
          </a:bodyPr>
          <a:lstStyle/>
          <a:p>
            <a:pPr algn="l">
              <a:spcAft>
                <a:spcPts val="200"/>
              </a:spcAft>
            </a:pPr>
            <a:r>
              <a:rPr sz="1150" b="1" i="0">
                <a:solidFill>
                  <a:srgbClr val="8A1626"/>
                </a:solidFill>
              </a:rPr>
              <a:t>Concurrency and throughput</a:t>
            </a:r>
          </a:p>
          <a:p>
            <a:pPr algn="l">
              <a:spcAft>
                <a:spcPts val="200"/>
              </a:spcAft>
            </a:pPr>
            <a:r>
              <a:rPr sz="1000" b="1" i="0">
                <a:solidFill>
                  <a:srgbClr val="A51C30"/>
                </a:solidFill>
              </a:rPr>
              <a:t>¹ </a:t>
            </a:r>
            <a:r>
              <a:rPr sz="1000" b="0" i="0">
                <a:solidFill>
                  <a:srgbClr val="1A1A1A"/>
                </a:solidFill>
              </a:rPr>
              <a:t>Measured: SCALE_STRATEGY §4.4, round 3 (24 cores, -Xmx8g, 1.16M trades a day): 133 / 141 / 122 req/s at 10 / 50 / 100 users, 0 failures, single trade p95 0.08 s at 10 users; §12: one console 69 req/s at 50 users; VAR_GUIDE §27.2: a node under 1 ms, 2.6 ms, 52 ms, 58 ms.</a:t>
            </a:r>
          </a:p>
          <a:p>
            <a:pPr algn="l">
              <a:spcAft>
                <a:spcPts val="200"/>
              </a:spcAft>
            </a:pPr>
            <a:r>
              <a:rPr sz="1000" b="1" i="0">
                <a:solidFill>
                  <a:srgbClr val="A51C30"/>
                </a:solidFill>
              </a:rPr>
              <a:t>² </a:t>
            </a:r>
            <a:r>
              <a:rPr sz="1000" b="0" i="0">
                <a:solidFill>
                  <a:srgbClr val="1A1A1A"/>
                </a:solidFill>
              </a:rPr>
              <a:t>Servers: 140 req/s on 24 cores, scaled by vCPU: × 16/24 = 93 an owner, × 8/24 = 47 a coordinator; 6 × 93 + 2 × 47 = 653 → ~650 peak; half kept free (ASSUMPTION) = 327 → ~330 sustained.</a:t>
            </a:r>
          </a:p>
          <a:p>
            <a:pPr algn="l">
              <a:spcAft>
                <a:spcPts val="200"/>
              </a:spcAft>
            </a:pPr>
            <a:r>
              <a:rPr sz="1000" b="1" i="0">
                <a:solidFill>
                  <a:srgbClr val="A51C30"/>
                </a:solidFill>
              </a:rPr>
              <a:t>³ </a:t>
            </a:r>
            <a:r>
              <a:rPr sz="1000" b="0" i="0">
                <a:solidFill>
                  <a:srgbClr val="1A1A1A"/>
                </a:solidFill>
              </a:rPr>
              <a:t>Whole-bank filters: 4.68 GB of float32 rows each (1-day); 6 owners × 60 × 16/24 = 40 GB/s = 240 GB/s → 51 a second at most; 10–25 quoted (20–50% of it, the rest of the load sharing memory bandwidth: ASSUMPTION). Nodes come from totals: thousands a second.</a:t>
            </a:r>
          </a:p>
          <a:p>
            <a:pPr algn="l">
              <a:spcAft>
                <a:spcPts val="200"/>
              </a:spcAft>
            </a:pPr>
            <a:r>
              <a:rPr sz="1000" b="1" i="0">
                <a:solidFill>
                  <a:srgbClr val="A51C30"/>
                </a:solidFill>
              </a:rPr>
              <a:t>⁴ </a:t>
            </a:r>
            <a:r>
              <a:rPr sz="1000" b="0" i="0">
                <a:solidFill>
                  <a:srgbClr val="1A1A1A"/>
                </a:solidFill>
              </a:rPr>
              <a:t>Consoles: 2 × 69 req/s (measured) = 138 → ~100–140 page loads a second.</a:t>
            </a:r>
          </a:p>
          <a:p>
            <a:pPr algn="l">
              <a:spcAft>
                <a:spcPts val="200"/>
              </a:spcAft>
            </a:pPr>
            <a:r>
              <a:rPr sz="1000" b="1" i="0">
                <a:solidFill>
                  <a:srgbClr val="A51C30"/>
                </a:solidFill>
              </a:rPr>
              <a:t>⁵ </a:t>
            </a:r>
            <a:r>
              <a:rPr sz="1000" b="0" i="0">
                <a:solidFill>
                  <a:srgbClr val="1A1A1A"/>
                </a:solidFill>
              </a:rPr>
              <a:t>Active people: the consoles bind first: 138 req/s ÷ 0.3–0.5 req/s a busy person (a page every 10 s, 3–5 calls, ASSUMPTION) = 276–460 → ~300–500. The servers' ~330 sustained would carry more.</a:t>
            </a:r>
          </a:p>
          <a:p>
            <a:pPr algn="l">
              <a:spcAft>
                <a:spcPts val="200"/>
              </a:spcAft>
            </a:pPr>
            <a:r>
              <a:rPr sz="1000" b="1" i="0">
                <a:solidFill>
                  <a:srgbClr val="A51C30"/>
                </a:solidFill>
              </a:rPr>
              <a:t>⁶ </a:t>
            </a:r>
            <a:r>
              <a:rPr sz="1000" b="0" i="0">
                <a:solidFill>
                  <a:srgbClr val="1A1A1A"/>
                </a:solidFill>
              </a:rPr>
              <a:t>Named users: active ÷ 10–20% active at once (ASSUMPTION): 300 ÷ 0.2 = 1,500 to 500 ÷ 0.1 = 5,000.</a:t>
            </a:r>
          </a:p>
        </p:txBody>
      </p:sp>
      <p:sp>
        <p:nvSpPr>
          <p:cNvPr id="28" name="Rectangle 27"/>
          <p:cNvSpPr/>
          <p:nvPr/>
        </p:nvSpPr>
        <p:spPr>
          <a:xfrm>
            <a:off x="6254496" y="1371600"/>
            <a:ext cx="45720" cy="2551175"/>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TextBox 28"/>
          <p:cNvSpPr txBox="1"/>
          <p:nvPr/>
        </p:nvSpPr>
        <p:spPr>
          <a:xfrm>
            <a:off x="6409944" y="1371600"/>
            <a:ext cx="4974336" cy="2551175"/>
          </a:xfrm>
          <a:prstGeom prst="rect">
            <a:avLst/>
          </a:prstGeom>
          <a:noFill/>
        </p:spPr>
        <p:txBody>
          <a:bodyPr wrap="square" lIns="0" rIns="0" tIns="0" bIns="0" anchor="t">
            <a:spAutoFit/>
          </a:bodyPr>
          <a:lstStyle/>
          <a:p>
            <a:pPr algn="l">
              <a:spcAft>
                <a:spcPts val="200"/>
              </a:spcAft>
            </a:pPr>
            <a:r>
              <a:rPr sz="1150" b="1" i="0">
                <a:solidFill>
                  <a:srgbClr val="8A1626"/>
                </a:solidFill>
              </a:rPr>
              <a:t>Hardware plan</a:t>
            </a:r>
          </a:p>
          <a:p>
            <a:pPr algn="l">
              <a:spcAft>
                <a:spcPts val="200"/>
              </a:spcAft>
            </a:pPr>
            <a:r>
              <a:rPr sz="1000" b="1" i="0">
                <a:solidFill>
                  <a:srgbClr val="A51C30"/>
                </a:solidFill>
              </a:rPr>
              <a:t>¹ </a:t>
            </a:r>
            <a:r>
              <a:rPr sz="1000" b="0" i="0">
                <a:solidFill>
                  <a:srgbClr val="1A1A1A"/>
                </a:solidFill>
              </a:rPr>
              <a:t>VaR servers: 4, one machine type (official EOD, intraday writer, two UI/API replicas); vCPU, RAM, heap, memory budget and NVMe as on the processes-and-memory derivations: provisioned = need ÷ 0.61, up to the next size; large = 2× positions.</a:t>
            </a:r>
          </a:p>
          <a:p>
            <a:pPr algn="l">
              <a:spcAft>
                <a:spcPts val="200"/>
              </a:spcAft>
            </a:pPr>
            <a:r>
              <a:rPr sz="1000" b="1" i="0">
                <a:solidFill>
                  <a:srgbClr val="A51C30"/>
                </a:solidFill>
              </a:rPr>
              <a:t>² </a:t>
            </a:r>
            <a:r>
              <a:rPr sz="1000" b="0" i="0">
                <a:solidFill>
                  <a:srgbClr val="1A1A1A"/>
                </a:solidFill>
              </a:rPr>
              <a:t>Consoles: 25 pages/s at peak (ASSUMPTION: 50 of 200 users, a page every 10 s, peaks 5×) ÷ 0.61 = 41 against 160 a host.</a:t>
            </a:r>
          </a:p>
          <a:p>
            <a:pPr algn="l">
              <a:spcAft>
                <a:spcPts val="200"/>
              </a:spcAft>
            </a:pPr>
            <a:r>
              <a:rPr sz="1000" b="1" i="0">
                <a:solidFill>
                  <a:srgbClr val="A51C30"/>
                </a:solidFill>
              </a:rPr>
              <a:t>³ </a:t>
            </a:r>
            <a:r>
              <a:rPr sz="1000" b="0" i="0">
                <a:solidFill>
                  <a:srgbClr val="1A1A1A"/>
                </a:solidFill>
              </a:rPr>
              <a:t>Lake: 48.2 TB need ÷ 0.61 = 79 TB; × 2 with a DR copy; large × 2. Shared state: ≈ 300 GB as built (config, Sutras, each node's data folder; ASSUMPTION) ÷ 0.61 = 0.49 → 0.5 TB.</a:t>
            </a:r>
          </a:p>
          <a:p>
            <a:pPr algn="l">
              <a:spcAft>
                <a:spcPts val="200"/>
              </a:spcAft>
            </a:pPr>
            <a:r>
              <a:rPr sz="1000" b="1" i="0">
                <a:solidFill>
                  <a:srgbClr val="A51C30"/>
                </a:solidFill>
              </a:rPr>
              <a:t>⁴ </a:t>
            </a:r>
            <a:r>
              <a:rPr sz="1000" b="0" i="0">
                <a:solidFill>
                  <a:srgbClr val="1A1A1A"/>
                </a:solidFill>
              </a:rPr>
              <a:t>Network: a first open reads 27.93 × 0.75 = 20.9 GB of Parquet at ≤ 0.4 GB/s (decoding, the guide's 10–40 s for 4 GB) = 3.2 Gbit/s ÷ 0.61 = 5.2 → ≥ 10 Gbit/s.</a:t>
            </a:r>
          </a:p>
          <a:p>
            <a:pPr algn="l">
              <a:spcAft>
                <a:spcPts val="200"/>
              </a:spcAft>
            </a:pPr>
            <a:r>
              <a:rPr sz="1000" b="1" i="0">
                <a:solidFill>
                  <a:srgbClr val="A51C30"/>
                </a:solidFill>
              </a:rPr>
              <a:t>⁵ </a:t>
            </a:r>
            <a:r>
              <a:rPr sz="1000" b="0" i="0">
                <a:solidFill>
                  <a:srgbClr val="1A1A1A"/>
                </a:solidFill>
              </a:rPr>
              <a:t>Intraday: 2.09 GB a day (storage derivations) ÷ 120 five-minute windows = 17.5 MB a window, &lt; 1 MB/s a server.</a:t>
            </a:r>
          </a:p>
          <a:p>
            <a:pPr algn="l">
              <a:spcAft>
                <a:spcPts val="200"/>
              </a:spcAft>
            </a:pPr>
            <a:r>
              <a:rPr sz="1000" b="1" i="0">
                <a:solidFill>
                  <a:srgbClr val="A51C30"/>
                </a:solidFill>
              </a:rPr>
              <a:t>⁶ </a:t>
            </a:r>
            <a:r>
              <a:rPr sz="1000" b="0" i="0">
                <a:solidFill>
                  <a:srgbClr val="1A1A1A"/>
                </a:solidFill>
              </a:rPr>
              <a:t>Kafka: 230,000 records a day × 24 KB (1,518 numbers as JSON, ASSUMPTION; the guide: 4–8 KB for 509) = 5.5 GB a day × 7 days = 38.6 GB ÷ 0.61 = 63 → 64 GB a replica.</a:t>
            </a:r>
          </a:p>
          <a:p>
            <a:pPr algn="l">
              <a:spcAft>
                <a:spcPts val="200"/>
              </a:spcAft>
            </a:pPr>
            <a:r>
              <a:rPr sz="1000" b="1" i="0">
                <a:solidFill>
                  <a:srgbClr val="A51C30"/>
                </a:solidFill>
              </a:rPr>
              <a:t>⁷ </a:t>
            </a:r>
            <a:r>
              <a:rPr sz="1000" b="0" i="0">
                <a:solidFill>
                  <a:srgbClr val="1A1A1A"/>
                </a:solidFill>
              </a:rPr>
              <a:t>Sharding beyond ≈ 5M positions: (151 − 13 fixed) GB ÷ 2.3M ÷ 0.61 = 98 GB of RAM a million positions, so 512 GB holds ≈ 5.2M; a first open of 2–5 min at 2.3M takes 4–10 min at 5M.</a:t>
            </a:r>
          </a:p>
        </p:txBody>
      </p:sp>
      <p:sp>
        <p:nvSpPr>
          <p:cNvPr id="30" name="Rectangle 29"/>
          <p:cNvSpPr/>
          <p:nvPr/>
        </p:nvSpPr>
        <p:spPr>
          <a:xfrm>
            <a:off x="6254496" y="4032504"/>
            <a:ext cx="45720" cy="194035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TextBox 30"/>
          <p:cNvSpPr txBox="1"/>
          <p:nvPr/>
        </p:nvSpPr>
        <p:spPr>
          <a:xfrm>
            <a:off x="6409944" y="4032504"/>
            <a:ext cx="4974336" cy="1940356"/>
          </a:xfrm>
          <a:prstGeom prst="rect">
            <a:avLst/>
          </a:prstGeom>
          <a:noFill/>
        </p:spPr>
        <p:txBody>
          <a:bodyPr wrap="square" lIns="0" rIns="0" tIns="0" bIns="0" anchor="t">
            <a:spAutoFit/>
          </a:bodyPr>
          <a:lstStyle/>
          <a:p>
            <a:pPr algn="l">
              <a:spcAft>
                <a:spcPts val="200"/>
              </a:spcAft>
            </a:pPr>
            <a:r>
              <a:rPr sz="1150" b="1" i="0">
                <a:solidFill>
                  <a:srgbClr val="8A1626"/>
                </a:solidFill>
              </a:rPr>
              <a:t>AWS: the VaR tier</a:t>
            </a:r>
          </a:p>
          <a:p>
            <a:pPr algn="l">
              <a:spcAft>
                <a:spcPts val="200"/>
              </a:spcAft>
            </a:pPr>
            <a:r>
              <a:rPr sz="1000" b="1" i="0">
                <a:solidFill>
                  <a:srgbClr val="A51C30"/>
                </a:solidFill>
              </a:rPr>
              <a:t>¹ </a:t>
            </a:r>
            <a:r>
              <a:rPr sz="1000" b="0" i="0">
                <a:solidFill>
                  <a:srgbClr val="1A1A1A"/>
                </a:solidFill>
              </a:rPr>
              <a:t>A, ECS on EC2 capacity: 151 GB need ÷ 0.61 = 247 → m7i.16xlarge (64 vCPU, 256 GiB); EBS gp3 2 TB (1,183 ÷ 0.61 = 1,940 GB).</a:t>
            </a:r>
          </a:p>
          <a:p>
            <a:pPr algn="l">
              <a:spcAft>
                <a:spcPts val="200"/>
              </a:spcAft>
            </a:pPr>
            <a:r>
              <a:rPr sz="1000" b="1" i="0">
                <a:solidFill>
                  <a:srgbClr val="A51C30"/>
                </a:solidFill>
              </a:rPr>
              <a:t>² </a:t>
            </a:r>
            <a:r>
              <a:rPr sz="1000" b="0" i="0">
                <a:solidFill>
                  <a:srgbClr val="1A1A1A"/>
                </a:solidFill>
              </a:rPr>
              <a:t>1-day only on one Fargate task: 75.8 GB, 32 vCPU need; ÷ 0.61 = 124 GB, 52 vCPU: the 32 vCPU · 244 GB task holds the memory (31%) but keeps the CPU headroom only if the peak is ≤ 32 × 0.61 = 19.5 vCPU. Full case: 151 ÷ 244 = 62%, over 61%.</a:t>
            </a:r>
          </a:p>
          <a:p>
            <a:pPr algn="l">
              <a:spcAft>
                <a:spcPts val="200"/>
              </a:spcAft>
            </a:pPr>
            <a:r>
              <a:rPr sz="1000" b="1" i="0">
                <a:solidFill>
                  <a:srgbClr val="A51C30"/>
                </a:solidFill>
              </a:rPr>
              <a:t>³ </a:t>
            </a:r>
            <a:r>
              <a:rPr sz="1000" b="0" i="0">
                <a:solidFill>
                  <a:srgbClr val="1A1A1A"/>
                </a:solidFill>
              </a:rPr>
              <a:t>B, √10 for 10-day: width 759 (× 1.49): heap, page cache, load and OS = 94 GB; ÷ 0.61 = 155 GB ≤ 244 GB; 1.1 TB gp3.</a:t>
            </a:r>
          </a:p>
          <a:p>
            <a:pPr algn="l">
              <a:spcAft>
                <a:spcPts val="200"/>
              </a:spcAft>
            </a:pPr>
            <a:r>
              <a:rPr sz="1000" b="1" i="0">
                <a:solidFill>
                  <a:srgbClr val="A51C30"/>
                </a:solidFill>
              </a:rPr>
              <a:t>⁴ </a:t>
            </a:r>
            <a:r>
              <a:rPr sz="1000" b="0" i="0">
                <a:solidFill>
                  <a:srgbClr val="1A1A1A"/>
                </a:solidFill>
              </a:rPr>
              <a:t>C, 8 shards: (151 − 6 heap base − 7 OS) ÷ 8 + 6 + 3 = 26 GB ÷ 0.61 = 43 → an 8 vCPU, 44 GB task; CPU 32 ÷ 8 + 1 = 5 ÷ 0.61 = 8.2 → 8; gp3 1,183 ÷ 8 ÷ 0.61 = 242 → 250 GB.</a:t>
            </a:r>
          </a:p>
          <a:p>
            <a:pPr algn="l">
              <a:spcAft>
                <a:spcPts val="200"/>
              </a:spcAft>
            </a:pPr>
            <a:r>
              <a:rPr sz="1000" b="1" i="0">
                <a:solidFill>
                  <a:srgbClr val="A51C30"/>
                </a:solidFill>
              </a:rPr>
              <a:t>⁵ </a:t>
            </a:r>
            <a:r>
              <a:rPr sz="1000" b="0" i="0">
                <a:solidFill>
                  <a:srgbClr val="1A1A1A"/>
                </a:solidFill>
              </a:rPr>
              <a:t>Fargate and EBS limits: AWS documentation, read 2026-10-27 (32 vCPU with up to 244 GB; one EBS volume a task; gp3 up to 64 TiB, 80,000 IOPS, 2,000 MiB/s).</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DERIVATION A-5</a:t>
            </a:r>
          </a:p>
        </p:txBody>
      </p:sp>
      <p:sp>
        <p:nvSpPr>
          <p:cNvPr id="3" name="Title 2"/>
          <p:cNvSpPr>
            <a:spLocks noGrp="1"/>
          </p:cNvSpPr>
          <p:nvPr>
            <p:ph type="title" idx="104"/>
          </p:nvPr>
        </p:nvSpPr>
        <p:spPr/>
        <p:txBody>
          <a:bodyPr/>
          <a:lstStyle/>
          <a:p>
            <a:r>
              <a:t>How the numbers were derived (continued)</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371600"/>
            <a:ext cx="45720" cy="3551529"/>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TextBox 26"/>
          <p:cNvSpPr txBox="1"/>
          <p:nvPr/>
        </p:nvSpPr>
        <p:spPr>
          <a:xfrm>
            <a:off x="932688" y="1371600"/>
            <a:ext cx="4974336" cy="3551529"/>
          </a:xfrm>
          <a:prstGeom prst="rect">
            <a:avLst/>
          </a:prstGeom>
          <a:noFill/>
        </p:spPr>
        <p:txBody>
          <a:bodyPr wrap="square" lIns="0" rIns="0" tIns="0" bIns="0" anchor="t">
            <a:spAutoFit/>
          </a:bodyPr>
          <a:lstStyle/>
          <a:p>
            <a:pPr algn="l">
              <a:spcAft>
                <a:spcPts val="200"/>
              </a:spcAft>
            </a:pPr>
            <a:r>
              <a:rPr sz="1150" b="1" i="0">
                <a:solidFill>
                  <a:srgbClr val="8A1626"/>
                </a:solidFill>
              </a:rPr>
              <a:t>AWS cost</a:t>
            </a:r>
          </a:p>
          <a:p>
            <a:pPr algn="l">
              <a:spcAft>
                <a:spcPts val="200"/>
              </a:spcAft>
            </a:pPr>
            <a:r>
              <a:rPr sz="1000" b="1" i="0">
                <a:solidFill>
                  <a:srgbClr val="A51C30"/>
                </a:solidFill>
              </a:rPr>
              <a:t>¹ </a:t>
            </a:r>
            <a:r>
              <a:rPr sz="1000" b="0" i="0">
                <a:solidFill>
                  <a:srgbClr val="1A1A1A"/>
                </a:solidFill>
              </a:rPr>
              <a:t>Prices: AWS public on-demand list prices, example Region ca-central-1, read 2026-10-27 from the Price List files (ASSUMPTION: verify before quoting); 730 hours a month; quantities from the capacity derivations (ESTIMATED).</a:t>
            </a:r>
          </a:p>
          <a:p>
            <a:pPr algn="l">
              <a:spcAft>
                <a:spcPts val="200"/>
              </a:spcAft>
            </a:pPr>
            <a:r>
              <a:rPr sz="1000" b="1" i="0">
                <a:solidFill>
                  <a:srgbClr val="A51C30"/>
                </a:solidFill>
              </a:rPr>
              <a:t>² </a:t>
            </a:r>
            <a:r>
              <a:rPr sz="1000" b="0" i="0">
                <a:solidFill>
                  <a:srgbClr val="1A1A1A"/>
                </a:solidFill>
              </a:rPr>
              <a:t>VaR servers: 4 × m7i.16xlarge $3.5952 an hour × 730 = $10,498 (1-day: c7i.16xlarge $3.1248 → $9,124). EBS gp3 a server: 2,000 GB × $0.088 + 13,000 IOPS × $0.0055 + 1,875 MiB/s × $0.044 = $330 × 4 (1-day 800 GB: $224 × 4).</a:t>
            </a:r>
          </a:p>
          <a:p>
            <a:pPr algn="l">
              <a:spcAft>
                <a:spcPts val="200"/>
              </a:spcAft>
            </a:pPr>
            <a:r>
              <a:rPr sz="1000" b="1" i="0">
                <a:solidFill>
                  <a:srgbClr val="A51C30"/>
                </a:solidFill>
              </a:rPr>
              <a:t>³ </a:t>
            </a:r>
            <a:r>
              <a:rPr sz="1000" b="0" i="0">
                <a:solidFill>
                  <a:srgbClr val="1A1A1A"/>
                </a:solidFill>
              </a:rPr>
              <a:t>Consoles: 2 × (4 vCPU × $0.04456 + 8 GB × $0.004865) × 730 = $317; lake tasks 60 h × (8 × $0.04456 + 32 × $0.004865) = $31.</a:t>
            </a:r>
          </a:p>
          <a:p>
            <a:pPr algn="l">
              <a:spcAft>
                <a:spcPts val="200"/>
              </a:spcAft>
            </a:pPr>
            <a:r>
              <a:rPr sz="1000" b="1" i="0">
                <a:solidFill>
                  <a:srgbClr val="A51C30"/>
                </a:solidFill>
              </a:rPr>
              <a:t>⁴ </a:t>
            </a:r>
            <a:r>
              <a:rPr sz="1000" b="0" i="0">
                <a:solidFill>
                  <a:srgbClr val="1A1A1A"/>
                </a:solidFill>
              </a:rPr>
              <a:t>S3: the lake grows 6.9 TB a year (1-day 2.3); year 7: newest year Standard $0.025 + six older years Standard-IA $0.0138 per GB-month (a lifecycle rule, ASSUMPTION) = $752; DR: the same + $0.02/GB replication = $753.</a:t>
            </a:r>
          </a:p>
          <a:p>
            <a:pPr algn="l">
              <a:spcAft>
                <a:spcPts val="200"/>
              </a:spcAft>
            </a:pPr>
            <a:r>
              <a:rPr sz="1000" b="1" i="0">
                <a:solidFill>
                  <a:srgbClr val="A51C30"/>
                </a:solidFill>
              </a:rPr>
              <a:t>⁵ </a:t>
            </a:r>
            <a:r>
              <a:rPr sz="1000" b="0" i="0">
                <a:solidFill>
                  <a:srgbClr val="1A1A1A"/>
                </a:solidFill>
              </a:rPr>
              <a:t>EFS 500 GB × $0.33 + $25 backup = $190; MSK 3 × $0.2275 × 730 + 300 GB × $0.11 = $531; ALB, NAT and endpoints, transfer, CloudWatch as listed; Secrets Manager and KMS $4, in the total.</a:t>
            </a:r>
          </a:p>
          <a:p>
            <a:pPr algn="l">
              <a:spcAft>
                <a:spcPts val="200"/>
              </a:spcAft>
            </a:pPr>
            <a:r>
              <a:rPr sz="1000" b="1" i="0">
                <a:solidFill>
                  <a:srgbClr val="A51C30"/>
                </a:solidFill>
              </a:rPr>
              <a:t>⁶ </a:t>
            </a:r>
            <a:r>
              <a:rPr sz="1000" b="0" i="0">
                <a:solidFill>
                  <a:srgbClr val="1A1A1A"/>
                </a:solidFill>
              </a:rPr>
              <a:t>Savings Plans (Compute, no upfront, the same price files): 1 year −26.9% EC2, −20.0% Fargate; 3 years −49.5%, −45.0%; applied to EC2 and Fargate only.</a:t>
            </a:r>
          </a:p>
          <a:p>
            <a:pPr algn="l">
              <a:spcAft>
                <a:spcPts val="200"/>
              </a:spcAft>
            </a:pPr>
            <a:r>
              <a:rPr sz="1000" b="1" i="0">
                <a:solidFill>
                  <a:srgbClr val="A51C30"/>
                </a:solidFill>
              </a:rPr>
              <a:t>⁷ </a:t>
            </a:r>
            <a:r>
              <a:rPr sz="1000" b="0" i="0">
                <a:solidFill>
                  <a:srgbClr val="1A1A1A"/>
                </a:solidFill>
              </a:rPr>
              <a:t>VaR tier: A as above $11,818; B 4 × (32 × $0.04456 + 244 × $0.004865 = $2.613 an hour) × 730 + 4 × 1.1 TB gp3 = $8,633; C 16 tasks × $0.5705 × 730 + 16 × $38.50 gp3 + the intraday task $93 = $7,373.</a:t>
            </a:r>
          </a:p>
          <a:p>
            <a:pPr algn="l">
              <a:spcAft>
                <a:spcPts val="200"/>
              </a:spcAft>
            </a:pPr>
            <a:r>
              <a:rPr sz="1000" b="1" i="0">
                <a:solidFill>
                  <a:srgbClr val="A51C30"/>
                </a:solidFill>
              </a:rPr>
              <a:t>⁸ </a:t>
            </a:r>
            <a:r>
              <a:rPr sz="1000" b="0" i="0">
                <a:solidFill>
                  <a:srgbClr val="1A1A1A"/>
                </a:solidFill>
              </a:rPr>
              <a:t>C scale-in: second replicas 12 h × 22 days = 264 of 730 hours (ASSUMPTION) = $5,050; 3-year $2,966; second replicas on Spot at 60% off (ASSUMPTION) = $2,785. One full copy: Fargate 8 × ($416 + $38.50) = $3,640 against EC2 $2,954.</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RELATED DOCUMENTS</a:t>
            </a:r>
          </a:p>
        </p:txBody>
      </p:sp>
      <p:sp>
        <p:nvSpPr>
          <p:cNvPr id="3" name="Title 2"/>
          <p:cNvSpPr>
            <a:spLocks noGrp="1"/>
          </p:cNvSpPr>
          <p:nvPr>
            <p:ph type="title" idx="104"/>
          </p:nvPr>
        </p:nvSpPr>
        <p:spPr/>
        <p:txBody>
          <a:bodyPr/>
          <a:lstStyle/>
          <a:p>
            <a:r>
              <a:t>Where to read more</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371600"/>
            <a:ext cx="4206240" cy="489204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Rectangle 26"/>
          <p:cNvSpPr/>
          <p:nvPr/>
        </p:nvSpPr>
        <p:spPr>
          <a:xfrm>
            <a:off x="777240" y="1371600"/>
            <a:ext cx="45720" cy="48920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978408" y="1481328"/>
            <a:ext cx="3886200" cy="4663440"/>
          </a:xfrm>
          <a:prstGeom prst="rect">
            <a:avLst/>
          </a:prstGeom>
          <a:noFill/>
        </p:spPr>
        <p:txBody>
          <a:bodyPr wrap="square" lIns="0" rIns="0" tIns="0" bIns="0" anchor="t">
            <a:spAutoFit/>
          </a:bodyPr>
          <a:lstStyle/>
          <a:p>
            <a:pPr algn="l">
              <a:spcAft>
                <a:spcPts val="600"/>
              </a:spcAft>
            </a:pPr>
            <a:r>
              <a:rPr sz="1400" b="1" i="0">
                <a:solidFill>
                  <a:srgbClr val="8A1626"/>
                </a:solidFill>
              </a:rPr>
              <a:t>Companion decks</a:t>
            </a:r>
          </a:p>
          <a:p>
            <a:pPr algn="l"/>
            <a:r>
              <a:rPr sz="1250" b="1" i="0">
                <a:solidFill>
                  <a:srgbClr val="A51C30"/>
                </a:solidFill>
              </a:rPr>
              <a:t>Drishti: Design and Evidence</a:t>
            </a:r>
          </a:p>
          <a:p>
            <a:pPr algn="l">
              <a:spcAft>
                <a:spcPts val="800"/>
              </a:spcAft>
            </a:pPr>
            <a:r>
              <a:rPr sz="1150" b="0" i="0">
                <a:solidFill>
                  <a:srgbClr val="1A1A1A"/>
                </a:solidFill>
              </a:rPr>
              <a:t>what Drishti is, its design, editions, BI, AI, security and the evidence</a:t>
            </a:r>
          </a:p>
          <a:p>
            <a:pPr algn="l"/>
            <a:r>
              <a:rPr sz="1250" b="1" i="0">
                <a:solidFill>
                  <a:srgbClr val="A51C30"/>
                </a:solidFill>
              </a:rPr>
              <a:t>Drishti on AWS: the lake, Delta or Iceberg</a:t>
            </a:r>
          </a:p>
          <a:p>
            <a:pPr algn="l">
              <a:spcAft>
                <a:spcPts val="800"/>
              </a:spcAft>
            </a:pPr>
            <a:r>
              <a:rPr sz="1150" b="0" i="0">
                <a:solidFill>
                  <a:srgbClr val="1A1A1A"/>
                </a:solidFill>
              </a:rPr>
              <a:t>the AWS architecture in detail: setup, storage, caching, maintenance, cost and runbooks, for either format</a:t>
            </a:r>
          </a:p>
          <a:p>
            <a:pPr algn="l"/>
            <a:r>
              <a:rPr sz="1250" b="1" i="0">
                <a:solidFill>
                  <a:srgbClr val="A51C30"/>
                </a:solidFill>
              </a:rPr>
              <a:t>Drishti VaR engine</a:t>
            </a:r>
          </a:p>
          <a:p>
            <a:pPr algn="l">
              <a:spcAft>
                <a:spcPts val="800"/>
              </a:spcAft>
            </a:pPr>
            <a:r>
              <a:rPr sz="1150" b="0" i="0">
                <a:solidFill>
                  <a:srgbClr val="1A1A1A"/>
                </a:solidFill>
              </a:rPr>
              <a:t>this deck: method, inputs, runs, capacity, editions, regulatory reporting, roadmap</a:t>
            </a:r>
          </a:p>
        </p:txBody>
      </p:sp>
      <p:graphicFrame>
        <p:nvGraphicFramePr>
          <p:cNvPr id="29" name="Table 28"/>
          <p:cNvGraphicFramePr>
            <a:graphicFrameLocks noGrp="1"/>
          </p:cNvGraphicFramePr>
          <p:nvPr/>
        </p:nvGraphicFramePr>
        <p:xfrm>
          <a:off x="5212079" y="1371600"/>
          <a:ext cx="6199632" cy="4754880"/>
        </p:xfrm>
        <a:graphic>
          <a:graphicData uri="http://schemas.openxmlformats.org/drawingml/2006/table">
            <a:tbl>
              <a:tblPr firstRow="0" bandRow="0">
                <a:tableStyleId>{5940675A-B579-460E-94D1-54222C63F5DA}</a:tableStyleId>
              </a:tblPr>
              <a:tblGrid>
                <a:gridCol w="3429000"/>
                <a:gridCol w="2770632"/>
              </a:tblGrid>
              <a:tr h="475488">
                <a:tc>
                  <a:txBody>
                    <a:bodyPr wrap="square"/>
                    <a:lstStyle/>
                    <a:p>
                      <a:r>
                        <a:rPr sz="1100" b="1" i="0">
                          <a:solidFill>
                            <a:srgbClr val="FFFFFF"/>
                          </a:solidFill>
                        </a:rPr>
                        <a:t>Document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What it holds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475488">
                <a:tc>
                  <a:txBody>
                    <a:bodyPr wrap="square"/>
                    <a:lstStyle/>
                    <a:p>
                      <a:r>
                        <a:rPr sz="1000" b="1" i="0">
                          <a:solidFill>
                            <a:srgbClr val="A51C30"/>
                          </a:solidFill>
                          <a:latin typeface="Courier New"/>
                        </a:rPr>
                        <a:t>docs/guides/VAR_GUIDE.md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the complete guide: using VaR, the data contract, how the engine stores data</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475488">
                <a:tc>
                  <a:txBody>
                    <a:bodyPr wrap="square"/>
                    <a:lstStyle/>
                    <a:p>
                      <a:r>
                        <a:rPr sz="1000" b="1" i="0">
                          <a:solidFill>
                            <a:srgbClr val="A51C30"/>
                          </a:solidFill>
                          <a:latin typeface="Courier New"/>
                        </a:rPr>
                        <a:t>docs/tutorials/25-var-from-the-bank-to-a-trade.md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VaR from the bank to a trade, in twelve hands-on steps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475488">
                <a:tc>
                  <a:txBody>
                    <a:bodyPr wrap="square"/>
                    <a:lstStyle/>
                    <a:p>
                      <a:r>
                        <a:rPr sz="1000" b="1" i="0">
                          <a:solidFill>
                            <a:srgbClr val="A51C30"/>
                          </a:solidFill>
                          <a:latin typeface="Courier New"/>
                        </a:rPr>
                        <a:t>docs/knowledge/market-risk.md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the Market risk Knowledge page in the console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475488">
                <a:tc>
                  <a:txBody>
                    <a:bodyPr wrap="square"/>
                    <a:lstStyle/>
                    <a:p>
                      <a:r>
                        <a:rPr sz="1000" b="1" i="0">
                          <a:solidFill>
                            <a:srgbClr val="A51C30"/>
                          </a:solidFill>
                          <a:latin typeface="Courier New"/>
                        </a:rPr>
                        <a:t>docs/architecture/VAR_SHARDING.md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VaR sharded across servers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475488">
                <a:tc>
                  <a:txBody>
                    <a:bodyPr wrap="square"/>
                    <a:lstStyle/>
                    <a:p>
                      <a:r>
                        <a:rPr sz="1000" b="1" i="0">
                          <a:solidFill>
                            <a:srgbClr val="A51C30"/>
                          </a:solidFill>
                          <a:latin typeface="Courier New"/>
                        </a:rPr>
                        <a:t>docs/architecture/EDITIONS.md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editions and lenses; Risk, Market, World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475488">
                <a:tc>
                  <a:txBody>
                    <a:bodyPr wrap="square"/>
                    <a:lstStyle/>
                    <a:p>
                      <a:r>
                        <a:rPr sz="1000" b="1" i="0">
                          <a:solidFill>
                            <a:srgbClr val="A51C30"/>
                          </a:solidFill>
                          <a:latin typeface="Courier New"/>
                        </a:rPr>
                        <a:t>docs/admin/EDITIONS_GUIDE.md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running an edition or a lens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475488">
                <a:tc>
                  <a:txBody>
                    <a:bodyPr wrap="square"/>
                    <a:lstStyle/>
                    <a:p>
                      <a:r>
                        <a:rPr sz="1000" b="1" i="0">
                          <a:solidFill>
                            <a:srgbClr val="A51C30"/>
                          </a:solidFill>
                          <a:latin typeface="Courier New"/>
                        </a:rPr>
                        <a:t>docs/architecture/COMPUTED_ATTRIBUTES.md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computed on demand, never stored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475488">
                <a:tc>
                  <a:txBody>
                    <a:bodyPr wrap="square"/>
                    <a:lstStyle/>
                    <a:p>
                      <a:r>
                        <a:rPr sz="1000" b="1" i="0">
                          <a:solidFill>
                            <a:srgbClr val="A51C30"/>
                          </a:solidFill>
                          <a:latin typeface="Courier New"/>
                        </a:rPr>
                        <a:t>docs/architecture/REGULATORY_VAR_REPORTING.md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the Canadian and US reports that need VaR or 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475488">
                <a:tc>
                  <a:txBody>
                    <a:bodyPr wrap="square"/>
                    <a:lstStyle/>
                    <a:p>
                      <a:r>
                        <a:rPr sz="1000" b="1" i="0">
                          <a:solidFill>
                            <a:srgbClr val="A51C30"/>
                          </a:solidFill>
                          <a:latin typeface="Courier New"/>
                        </a:rPr>
                        <a:t>docs/architecture/IMPLEMENTATION_PLAN.md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what is built, and what comes next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bl>
          </a:graphicData>
        </a:graphic>
      </p:graphicFrame>
    </p:spTree>
  </p:cSld>
  <p:clrMapOvr>
    <a:masterClrMapping/>
  </p:clrMapOvr>
</p:sld>
</file>

<file path=ppt/slides/slide900.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2191695" cy="3931920"/>
          </a:xfrm>
          <a:prstGeom prst="rect">
            <a:avLst/>
          </a:prstGeom>
          <a:solidFill>
            <a:srgbClr val="8A1626"/>
          </a:solidFill>
          <a:ln/>
        </p:spPr>
        <p:txBody>
          <a:bodyPr/>
          <a:p/>
        </p:txBody>
      </p:sp>
      <p:sp>
        <p:nvSpPr>
          <p:cNvPr id="3" name="Shape 1"/>
          <p:cNvSpPr/>
          <p:nvPr/>
        </p:nvSpPr>
        <p:spPr>
          <a:xfrm>
            <a:off x="0" y="3931920"/>
            <a:ext cx="12191695" cy="54864"/>
          </a:xfrm>
          <a:prstGeom prst="rect">
            <a:avLst/>
          </a:prstGeom>
          <a:solidFill>
            <a:srgbClr val="C4384B"/>
          </a:solidFill>
          <a:ln/>
        </p:spPr>
        <p:txBody>
          <a:bodyPr/>
          <a:p/>
        </p:txBody>
      </p:sp>
      <p:sp>
        <p:nvSpPr>
          <p:cNvPr id="4" name="Shape 2"/>
          <p:cNvSpPr/>
          <p:nvPr/>
        </p:nvSpPr>
        <p:spPr>
          <a:xfrm>
            <a:off x="0" y="0"/>
            <a:ext cx="182880" cy="3931920"/>
          </a:xfrm>
          <a:prstGeom prst="rect">
            <a:avLst/>
          </a:prstGeom>
          <a:solidFill>
            <a:srgbClr val="6E1120"/>
          </a:solidFill>
          <a:ln/>
        </p:spPr>
        <p:txBody>
          <a:bodyPr/>
          <a:p/>
        </p:txBody>
      </p:sp>
      <p:sp>
        <p:nvSpPr>
          <p:cNvPr id="9" name="Text 7"/>
          <p:cNvSpPr txBox="1"/>
          <p:nvPr/>
        </p:nvSpPr>
        <p:spPr>
          <a:xfrm>
            <a:off x="1051560" y="1207008"/>
            <a:ext cx="8595360" cy="1133856"/>
          </a:xfrm>
          <a:prstGeom prst="rect">
            <a:avLst/>
          </a:prstGeom>
          <a:noFill/>
          <a:ln/>
        </p:spPr>
        <p:txBody>
          <a:bodyPr wrap="square" lIns="0" tIns="0" rIns="0" bIns="0" rtlCol="0" anchor="t"/>
          <a:lstStyle/>
          <a:p>
            <a:pPr indent="0" marL="0">
              <a:buNone/>
            </a:pPr>
            <a:r>
              <a:rPr lang="en-US" sz="3400" b="1" dirty="0">
                <a:solidFill>
                  <a:srgbClr val="FFFFFF"/>
                </a:solidFill>
              </a:rPr>
              <a:t>Drishti VaR engine</a:t>
            </a:r>
            <a:endParaRPr lang="en-US" sz="3400" dirty="0"/>
          </a:p>
          <a:p>
            <a:pPr indent="0" marL="0">
              <a:buNone/>
            </a:pPr>
            <a:r>
              <a:rPr lang="en-US" sz="3400" b="1" dirty="0">
                <a:solidFill>
                  <a:srgbClr val="FFFFFF"/>
                </a:solidFill>
              </a:rPr>
              <a:t>Architecture, data contract and how VaR works</a:t>
            </a:r>
            <a:endParaRPr lang="en-US" sz="3400" dirty="0"/>
          </a:p>
        </p:txBody>
      </p:sp>
      <p:sp>
        <p:nvSpPr>
          <p:cNvPr id="10" name="Shape 8"/>
          <p:cNvSpPr/>
          <p:nvPr/>
        </p:nvSpPr>
        <p:spPr>
          <a:xfrm>
            <a:off x="1051560" y="2889504"/>
            <a:ext cx="1554480" cy="36576"/>
          </a:xfrm>
          <a:prstGeom prst="rect">
            <a:avLst/>
          </a:prstGeom>
          <a:solidFill>
            <a:srgbClr val="C4384B"/>
          </a:solidFill>
          <a:ln/>
        </p:spPr>
        <p:txBody>
          <a:bodyPr/>
          <a:p/>
        </p:txBody>
      </p:sp>
      <p:sp>
        <p:nvSpPr>
          <p:cNvPr id="12" name="Text 10"/>
          <p:cNvSpPr txBox="1"/>
          <p:nvPr/>
        </p:nvSpPr>
        <p:spPr>
          <a:xfrm>
            <a:off x="1051560" y="4343400"/>
            <a:ext cx="4251960" cy="1188720"/>
          </a:xfrm>
          <a:prstGeom prst="rect">
            <a:avLst/>
          </a:prstGeom>
          <a:noFill/>
          <a:ln/>
        </p:spPr>
        <p:txBody>
          <a:bodyPr wrap="square" lIns="0" tIns="0" rIns="0" bIns="0" rtlCol="0" anchor="t"/>
          <a:lstStyle/>
          <a:p>
            <a:pPr indent="0" marL="0">
              <a:buNone/>
            </a:pPr>
            <a:r>
              <a:rPr lang="en-US" sz="2000" b="1" dirty="0">
                <a:solidFill>
                  <a:srgbClr val="1A1A1A"/>
                </a:solidFill>
              </a:rPr>
              <a:t>Ashutosh Sinha</a:t>
            </a:r>
            <a:endParaRPr lang="en-US" sz="2000" dirty="0"/>
          </a:p>
          <a:p>
            <a:pPr indent="0" marL="0">
              <a:buNone/>
            </a:pPr>
            <a:r>
              <a:rPr lang="en-US" sz="1400" dirty="0">
                <a:solidFill>
                  <a:srgbClr val="4A5058"/>
                </a:solidFill>
              </a:rPr>
              <a:t>October 2026</a:t>
            </a:r>
            <a:endParaRPr lang="en-US" sz="2000" dirty="0"/>
          </a:p>
          <a:p>
            <a:pPr indent="0" marL="0">
              <a:buNone/>
            </a:pPr>
            <a:r>
              <a:rPr lang="en-US" sz="1200" dirty="0">
                <a:solidFill>
                  <a:srgbClr val="61666E"/>
                </a:solidFill>
              </a:rPr>
              <a:t>Historical simulation over 509 scenario days, window and confidence configurable</a:t>
            </a:r>
            <a:endParaRPr lang="en-US" sz="2000" dirty="0"/>
          </a:p>
        </p:txBody>
      </p:sp>
      <p:sp>
        <p:nvSpPr>
          <p:cNvPr id="13" name="Text 11"/>
          <p:cNvSpPr txBox="1"/>
          <p:nvPr/>
        </p:nvSpPr>
        <p:spPr>
          <a:xfrm>
            <a:off x="5559552" y="4224528"/>
            <a:ext cx="5303520" cy="219456"/>
          </a:xfrm>
          <a:prstGeom prst="rect">
            <a:avLst/>
          </a:prstGeom>
          <a:noFill/>
          <a:ln/>
        </p:spPr>
        <p:txBody>
          <a:bodyPr wrap="square" lIns="0" tIns="0" rIns="0" bIns="0" rtlCol="0" anchor="ctr"/>
          <a:lstStyle/>
          <a:p>
            <a:pPr indent="0" marL="0">
              <a:buNone/>
            </a:pPr>
            <a:r>
              <a:rPr lang="en-US" sz="950" b="1" spc="200" kern="0" dirty="0">
                <a:solidFill>
                  <a:srgbClr val="A51C30"/>
                </a:solidFill>
              </a:rPr>
              <a:t>IN THIS DECK</a:t>
            </a:r>
            <a:endParaRPr lang="en-US" sz="950" dirty="0"/>
          </a:p>
        </p:txBody>
      </p:sp>
      <p:sp>
        <p:nvSpPr>
          <p:cNvPr id="14" name="Text 12"/>
          <p:cNvSpPr txBox="1"/>
          <p:nvPr/>
        </p:nvSpPr>
        <p:spPr>
          <a:xfrm>
            <a:off x="5559552" y="4498848"/>
            <a:ext cx="2926080" cy="1463040"/>
          </a:xfrm>
          <a:prstGeom prst="rect">
            <a:avLst/>
          </a:prstGeom>
          <a:noFill/>
          <a:ln/>
        </p:spPr>
        <p:txBody>
          <a:bodyPr wrap="square" lIns="0" tIns="0" rIns="0" bIns="0" rtlCol="0" anchor="t"/>
          <a:lstStyle/>
          <a:p>
            <a:pPr indent="0" marL="0">
              <a:spcAft>
                <a:spcPts val="600"/>
              </a:spcAft>
              <a:buNone/>
            </a:pPr>
            <a:r>
              <a:rPr lang="en-US" sz="1200" b="1" dirty="0">
                <a:solidFill>
                  <a:srgbClr val="A51C30"/>
                </a:solidFill>
              </a:rPr>
              <a:t>1–4  Why, how it works, data in, computed</a:t>
            </a:r>
            <a:endParaRPr lang="en-US" sz="1200" dirty="0"/>
          </a:p>
          <a:p>
            <a:pPr indent="0" marL="0">
              <a:spcAft>
                <a:spcPts val="600"/>
              </a:spcAft>
              <a:buNone/>
            </a:pPr>
            <a:r>
              <a:rPr lang="en-US" sz="1200" b="1" dirty="0">
                <a:solidFill>
                  <a:srgbClr val="A51C30"/>
                </a:solidFill>
              </a:rPr>
              <a:t>5  Scale, capacity, concurrency</a:t>
            </a:r>
            <a:endParaRPr lang="en-US" sz="1200" dirty="0"/>
          </a:p>
          <a:p>
            <a:pPr indent="0" marL="0">
              <a:spcAft>
                <a:spcPts val="600"/>
              </a:spcAft>
              <a:buNone/>
            </a:pPr>
            <a:r>
              <a:rPr lang="en-US" sz="1200" b="1" dirty="0">
                <a:solidFill>
                  <a:srgbClr val="A51C30"/>
                </a:solidFill>
              </a:rPr>
              <a:t>6–7  Storage, operations, model risk</a:t>
            </a:r>
            <a:endParaRPr lang="en-US" sz="1200" dirty="0"/>
          </a:p>
        </p:txBody>
      </p:sp>
      <p:sp>
        <p:nvSpPr>
          <p:cNvPr id="15" name="Text 13"/>
          <p:cNvSpPr txBox="1"/>
          <p:nvPr/>
        </p:nvSpPr>
        <p:spPr>
          <a:xfrm>
            <a:off x="8577072" y="4498848"/>
            <a:ext cx="2834640" cy="1463040"/>
          </a:xfrm>
          <a:prstGeom prst="rect">
            <a:avLst/>
          </a:prstGeom>
          <a:noFill/>
          <a:ln/>
        </p:spPr>
        <p:txBody>
          <a:bodyPr wrap="square" lIns="0" tIns="0" rIns="0" bIns="0" rtlCol="0" anchor="t"/>
          <a:lstStyle/>
          <a:p>
            <a:pPr indent="0" marL="0">
              <a:spcAft>
                <a:spcPts val="600"/>
              </a:spcAft>
              <a:buNone/>
            </a:pPr>
            <a:r>
              <a:rPr lang="en-US" sz="1200" b="1" dirty="0">
                <a:solidFill>
                  <a:srgbClr val="A51C30"/>
                </a:solidFill>
              </a:rPr>
              <a:t>8  Editions: Risk, Market, World</a:t>
            </a:r>
            <a:endParaRPr lang="en-US" sz="1200" dirty="0"/>
          </a:p>
          <a:p>
            <a:pPr indent="0" marL="0">
              <a:spcAft>
                <a:spcPts val="600"/>
              </a:spcAft>
              <a:buNone/>
            </a:pPr>
            <a:r>
              <a:rPr lang="en-US" sz="1200" b="1" dirty="0">
                <a:solidFill>
                  <a:srgbClr val="A51C30"/>
                </a:solidFill>
              </a:rPr>
              <a:t>9–10  Regulatory reporting, roadmap</a:t>
            </a:r>
            <a:endParaRPr lang="en-US" sz="1200" dirty="0"/>
          </a:p>
          <a:p>
            <a:pPr indent="0" marL="0">
              <a:spcAft>
                <a:spcPts val="600"/>
              </a:spcAft>
              <a:buNone/>
            </a:pPr>
            <a:r>
              <a:rPr lang="en-US" sz="1200" b="1" dirty="0">
                <a:solidFill>
                  <a:srgbClr val="A51C30"/>
                </a:solidFill>
              </a:rPr>
              <a:t>A  Appendix: reference</a:t>
            </a:r>
            <a:endParaRPr lang="en-US" sz="1200" dirty="0"/>
          </a:p>
        </p:txBody>
      </p:sp>
      <p:pic>
        <p:nvPicPr>
          <p:cNvPr id="16" name="Drishti logo" descr="Drishti logo: an eye between curly brackets"/>
          <p:cNvPicPr>
            <a:picLocks noChangeAspect="1"/>
          </p:cNvPicPr>
          <p:nvPr/>
        </p:nvPicPr>
        <p:blipFill>
          <a:blip r:embed="rId3"/>
          <a:stretch>
            <a:fillRect/>
          </a:stretch>
        </p:blipFill>
        <p:spPr>
          <a:xfrm>
            <a:off x="8503920" y="603504"/>
            <a:ext cx="2633472" cy="457200"/>
          </a:xfrm>
          <a:prstGeom prst="rect">
            <a:avLst/>
          </a:prstGeom>
        </p:spPr>
      </p:pic>
      <p:sp>
        <p:nvSpPr>
          <p:cNvPr id="17" name="Subtitle"/>
          <p:cNvSpPr txBox="1"/>
          <p:nvPr/>
        </p:nvSpPr>
        <p:spPr>
          <a:xfrm>
            <a:off x="1051560" y="2350008"/>
            <a:ext cx="9692640" cy="365760"/>
          </a:xfrm>
          <a:prstGeom prst="rect">
            <a:avLst/>
          </a:prstGeom>
          <a:noFill/>
        </p:spPr>
        <p:txBody>
          <a:bodyPr wrap="square" lIns="0" rIns="0" tIns="0" bIns="0" anchor="ctr">
            <a:spAutoFit/>
          </a:bodyPr>
          <a:lstStyle/>
          <a:p>
            <a:pPr algn="l"/>
            <a:r>
              <a:rPr sz="1900" b="0" i="0">
                <a:solidFill>
                  <a:srgbClr val="F2C9D0"/>
                </a:solidFill>
              </a:rPr>
              <a:t>Any set of trades or positions, in any reporting currency</a:t>
            </a:r>
          </a:p>
        </p:txBody>
      </p:sp>
      <p:sp>
        <p:nvSpPr>
          <p:cNvPr id="18" name="Slogan"/>
          <p:cNvSpPr txBox="1"/>
          <p:nvPr/>
        </p:nvSpPr>
        <p:spPr>
          <a:xfrm>
            <a:off x="1051560" y="2999232"/>
            <a:ext cx="9692640" cy="457200"/>
          </a:xfrm>
          <a:prstGeom prst="rect">
            <a:avLst/>
          </a:prstGeom>
          <a:noFill/>
        </p:spPr>
        <p:txBody>
          <a:bodyPr wrap="square" lIns="0" rIns="0" tIns="0" bIns="0" anchor="ctr">
            <a:spAutoFit/>
          </a:bodyPr>
          <a:lstStyle/>
          <a:p>
            <a:pPr algn="l"/>
            <a:r>
              <a:rPr sz="2400" b="0" i="1">
                <a:solidFill>
                  <a:srgbClr val="FFFFFF"/>
                </a:solidFill>
              </a:rPr>
              <a:t>See what your data </a:t>
            </a:r>
            <a:r>
              <a:rPr sz="2400" b="0" i="1">
                <a:solidFill>
                  <a:srgbClr val="E39B2D"/>
                </a:solidFill>
              </a:rPr>
              <a:t>hasn't told you yet.</a:t>
            </a:r>
          </a:p>
        </p:txBody>
      </p:sp>
      <p:sp>
        <p:nvSpPr>
          <p:cNvPr id="19" name="Tagline"/>
          <p:cNvSpPr txBox="1"/>
          <p:nvPr/>
        </p:nvSpPr>
        <p:spPr>
          <a:xfrm>
            <a:off x="1051560" y="3502152"/>
            <a:ext cx="9692640" cy="274320"/>
          </a:xfrm>
          <a:prstGeom prst="rect">
            <a:avLst/>
          </a:prstGeom>
          <a:noFill/>
        </p:spPr>
        <p:txBody>
          <a:bodyPr wrap="square" lIns="0" rIns="0" tIns="0" bIns="0" anchor="ctr">
            <a:spAutoFit/>
          </a:bodyPr>
          <a:lstStyle/>
          <a:p>
            <a:pPr algn="l"/>
            <a:r>
              <a:rPr sz="1100" b="1" i="0" spc="300">
                <a:solidFill>
                  <a:srgbClr val="E39B2D"/>
                </a:solidFill>
              </a:rPr>
              <a:t>ANY DATA. ANY DOMAIN. ONE GRAMMAR.</a:t>
            </a:r>
          </a:p>
        </p:txBody>
      </p:sp>
    </p:spTree>
  </p:cSld>
  <p:clrMapOvr>
    <a:masterClrMapping/>
  </p:clrMapOvr>
</p:sld>
</file>

<file path=ppt/slides/slide901.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5" name="Text 3"/>
          <p:cNvSpPr txBox="1"/>
          <p:nvPr/>
        </p:nvSpPr>
        <p:spPr>
          <a:xfrm>
            <a:off x="1234440" y="2514600"/>
            <a:ext cx="9720072" cy="914400"/>
          </a:xfrm>
          <a:prstGeom prst="rect">
            <a:avLst/>
          </a:prstGeom>
          <a:noFill/>
          <a:ln/>
        </p:spPr>
        <p:txBody>
          <a:bodyPr wrap="square" lIns="0" tIns="0" rIns="0" bIns="0" rtlCol="0" anchor="ctr"/>
          <a:lstStyle/>
          <a:p>
            <a:pPr algn="ctr" indent="0" marL="0">
              <a:buNone/>
            </a:pPr>
            <a:r>
              <a:rPr lang="en-US" sz="4400" b="1" dirty="0">
                <a:solidFill>
                  <a:srgbClr val="FFFFFF"/>
                </a:solidFill>
              </a:rPr>
              <a:t>Thank you</a:t>
            </a:r>
            <a:endParaRPr lang="en-US" sz="4400" dirty="0"/>
          </a:p>
        </p:txBody>
      </p:sp>
      <p:sp>
        <p:nvSpPr>
          <p:cNvPr id="6" name="Shape 4"/>
          <p:cNvSpPr/>
          <p:nvPr/>
        </p:nvSpPr>
        <p:spPr>
          <a:xfrm>
            <a:off x="5413248" y="3611880"/>
            <a:ext cx="1371600" cy="36576"/>
          </a:xfrm>
          <a:prstGeom prst="rect">
            <a:avLst/>
          </a:prstGeom>
          <a:solidFill>
            <a:srgbClr val="C4384B"/>
          </a:solidFill>
          <a:ln/>
        </p:spPr>
        <p:txBody>
          <a:bodyPr/>
          <a:p/>
        </p:txBody>
      </p:sp>
      <p:sp>
        <p:nvSpPr>
          <p:cNvPr id="8" name="Text 6"/>
          <p:cNvSpPr txBox="1"/>
          <p:nvPr/>
        </p:nvSpPr>
        <p:spPr>
          <a:xfrm>
            <a:off x="1234440" y="5394960"/>
            <a:ext cx="9720072" cy="365760"/>
          </a:xfrm>
          <a:prstGeom prst="rect">
            <a:avLst/>
          </a:prstGeom>
          <a:noFill/>
          <a:ln/>
        </p:spPr>
        <p:txBody>
          <a:bodyPr wrap="square" lIns="0" tIns="0" rIns="0" bIns="0" rtlCol="0" anchor="ctr"/>
          <a:lstStyle/>
          <a:p>
            <a:pPr algn="ctr" indent="0" marL="0">
              <a:buNone/>
            </a:pPr>
            <a:r>
              <a:rPr lang="en-US" sz="1300" dirty="0">
                <a:solidFill>
                  <a:srgbClr val="F6E6E9"/>
                </a:solidFill>
              </a:rPr>
              <a:t>Ashutosh Sinha • October 2026 • VaR engine</a:t>
            </a:r>
            <a:endParaRPr lang="en-US" sz="1300" dirty="0"/>
          </a:p>
        </p:txBody>
      </p:sp>
      <p:sp>
        <p:nvSpPr>
          <p:cNvPr id="25" name="Slide Number Placeholder 0"/>
          <p:cNvSpPr>
            <a:spLocks noGrp="1"/>
          </p:cNvSpPr>
          <p:nvPr>
            <p:ph type="sldNum" sz="quarter" idx="4294967295"/>
          </p:nvPr>
        </p:nvSpPr>
        <p:spPr>
          <a:xfrm>
            <a:off x="777240" y="6437376"/>
            <a:ext cx="10634472"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F6E6E9"/>
                </a:solidFill>
              </a:defRPr>
            </a:lvl1pPr>
          </a:lstStyle>
          <a:p>
            <a:pPr algn="r"/>
            <a:fld id="{F7021451-1387-4CA6-816F-3879F97B5CBC}" type="slidenum">
              <a:rPr b="1" lang="en-US"/>
              <a:t>48</a:t>
            </a:fld>
            <a:endParaRPr lang="en-US"/>
          </a:p>
        </p:txBody>
      </p:sp>
      <p:pic>
        <p:nvPicPr>
          <p:cNvPr id="26" name="Drishti logo" descr="Drishti logo: an eye between curly brackets"/>
          <p:cNvPicPr>
            <a:picLocks noChangeAspect="1"/>
          </p:cNvPicPr>
          <p:nvPr/>
        </p:nvPicPr>
        <p:blipFill>
          <a:blip r:embed="rId3"/>
          <a:stretch>
            <a:fillRect/>
          </a:stretch>
        </p:blipFill>
        <p:spPr>
          <a:xfrm>
            <a:off x="4647575" y="1325880"/>
            <a:ext cx="2896819" cy="502920"/>
          </a:xfrm>
          <a:prstGeom prst="rect">
            <a:avLst/>
          </a:prstGeom>
        </p:spPr>
      </p:pic>
      <p:sp>
        <p:nvSpPr>
          <p:cNvPr id="27" name="Slogan"/>
          <p:cNvSpPr txBox="1"/>
          <p:nvPr/>
        </p:nvSpPr>
        <p:spPr>
          <a:xfrm>
            <a:off x="1234440" y="3822191"/>
            <a:ext cx="9720072" cy="502920"/>
          </a:xfrm>
          <a:prstGeom prst="rect">
            <a:avLst/>
          </a:prstGeom>
          <a:noFill/>
        </p:spPr>
        <p:txBody>
          <a:bodyPr wrap="square" lIns="0" rIns="0" tIns="0" bIns="0" anchor="ctr">
            <a:spAutoFit/>
          </a:bodyPr>
          <a:lstStyle/>
          <a:p>
            <a:pPr algn="ctr"/>
            <a:r>
              <a:rPr sz="2400" b="0" i="1">
                <a:solidFill>
                  <a:srgbClr val="F6E6E9"/>
                </a:solidFill>
              </a:rPr>
              <a:t>See what your data </a:t>
            </a:r>
            <a:r>
              <a:rPr sz="2400" b="0" i="1">
                <a:solidFill>
                  <a:srgbClr val="E39B2D"/>
                </a:solidFill>
              </a:rPr>
              <a:t>hasn't told you yet.</a:t>
            </a:r>
          </a:p>
        </p:txBody>
      </p:sp>
      <p:sp>
        <p:nvSpPr>
          <p:cNvPr id="28" name="Tagline"/>
          <p:cNvSpPr txBox="1"/>
          <p:nvPr/>
        </p:nvSpPr>
        <p:spPr>
          <a:xfrm>
            <a:off x="1234440" y="4389120"/>
            <a:ext cx="9720072" cy="274320"/>
          </a:xfrm>
          <a:prstGeom prst="rect">
            <a:avLst/>
          </a:prstGeom>
          <a:noFill/>
        </p:spPr>
        <p:txBody>
          <a:bodyPr wrap="square" lIns="0" rIns="0" tIns="0" bIns="0" anchor="ctr">
            <a:spAutoFit/>
          </a:bodyPr>
          <a:lstStyle/>
          <a:p>
            <a:pPr algn="ctr"/>
            <a:r>
              <a:rPr sz="1100" b="1" i="0" spc="300">
                <a:solidFill>
                  <a:srgbClr val="E39B2D"/>
                </a:solidFill>
              </a:rPr>
              <a:t>ANY DATA. ANY DOMAIN. ONE GRAMMAR.</a:t>
            </a:r>
          </a:p>
        </p:txBody>
      </p:sp>
      <p:sp>
        <p:nvSpPr>
          <p:cNvPr id="29" name="Closing line"/>
          <p:cNvSpPr txBox="1"/>
          <p:nvPr/>
        </p:nvSpPr>
        <p:spPr>
          <a:xfrm>
            <a:off x="1234440" y="4937760"/>
            <a:ext cx="9720072" cy="329184"/>
          </a:xfrm>
          <a:prstGeom prst="rect">
            <a:avLst/>
          </a:prstGeom>
          <a:noFill/>
        </p:spPr>
        <p:txBody>
          <a:bodyPr wrap="square" lIns="0" rIns="0" tIns="0" bIns="0" anchor="ctr">
            <a:spAutoFit/>
          </a:bodyPr>
          <a:lstStyle/>
          <a:p>
            <a:pPr algn="ctr"/>
            <a:r>
              <a:rPr sz="1400" b="0" i="0">
                <a:solidFill>
                  <a:srgbClr val="F6E6E9"/>
                </a:solidFill>
              </a:rPr>
              <a:t>One engine, every input: PVs or P&amp;L, by trade or by position, any currency, files or Kafka.</a:t>
            </a:r>
          </a:p>
        </p:txBody>
      </p:sp>
    </p:spTree>
  </p:cSld>
  <p:clrMapOvr>
    <a:masterClrMapping/>
  </p:clrMapOvr>
</p:sld>
</file>

<file path=ppt/theme/theme1.xml><?xml version="1.0" encoding="utf-8"?>
<a:theme xmlns:a="http://schemas.openxmlformats.org/drawingml/2006/main" name="Drishti Crimson">
  <a:themeElements>
    <a:clrScheme name="Drishti Crimson">
      <a:dk1>
        <a:srgbClr val="1A1A1A"/>
      </a:dk1>
      <a:lt1>
        <a:srgbClr val="FFFFFF"/>
      </a:lt1>
      <a:dk2>
        <a:srgbClr val="8A1626"/>
      </a:dk2>
      <a:lt2>
        <a:srgbClr val="F7F5F2"/>
      </a:lt2>
      <a:accent1>
        <a:srgbClr val="A51C30"/>
      </a:accent1>
      <a:accent2>
        <a:srgbClr val="6E1120"/>
      </a:accent2>
      <a:accent3>
        <a:srgbClr val="C4384B"/>
      </a:accent3>
      <a:accent4>
        <a:srgbClr val="293352"/>
      </a:accent4>
      <a:accent5>
        <a:srgbClr val="4A5058"/>
      </a:accent5>
      <a:accent6>
        <a:srgbClr val="E3DED7"/>
      </a:accent6>
      <a:hlink>
        <a:srgbClr val="A51C30"/>
      </a:hlink>
      <a:folHlink>
        <a:srgbClr val="6E1120"/>
      </a:folHlink>
    </a:clrScheme>
    <a:fontScheme name="Drishti Crimson">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43</Slides>
  <Notes>43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43</vt:i4>
      </vt:variant>
    </vt:vector>
  </HeadingPairs>
  <TitlesOfParts>
    <vt:vector size="4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vector>
  </TitlesOfParts>
  <Company>Drishti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Drishti VaR engine: architecture, data contract and how VaR works</dc:title>
  <dc:subject>Drishti VaR engine and VaR UI</dc:subject>
  <dc:creator>Ashutosh Sinha</dc:creator>
  <cp:lastModifiedBy>Ashutosh Sinha</cp:lastModifiedBy>
  <cp:revision>1</cp:revision>
  <dcterms:created xsi:type="dcterms:W3CDTF">2026-10-07T03:43:45Z</dcterms:created>
  <dcterms:modified xsi:type="dcterms:W3CDTF">2026-10-07T03:43:45Z</dcterms:modified>
</cp:coreProperties>
</file>